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1" r:id="rId35"/>
    <p:sldId id="292" r:id="rId36"/>
    <p:sldId id="293" r:id="rId37"/>
    <p:sldId id="290" r:id="rId38"/>
    <p:sldId id="289" r:id="rId39"/>
    <p:sldId id="295" r:id="rId40"/>
    <p:sldId id="294"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94660"/>
  </p:normalViewPr>
  <p:slideViewPr>
    <p:cSldViewPr snapToGrid="0">
      <p:cViewPr varScale="1">
        <p:scale>
          <a:sx n="78" d="100"/>
          <a:sy n="78" d="100"/>
        </p:scale>
        <p:origin x="14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EECFA715-1DA7-4465-A28C-94C3938B0CEC}" type="datetimeFigureOut">
              <a:rPr lang="en-IN" smtClean="0"/>
              <a:t>20-11-2025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00506DD-D465-4F93-8B3E-2599CD6B67A8}" type="slidenum">
              <a:rPr lang="en-IN" smtClean="0"/>
              <a:t>‹#›</a:t>
            </a:fld>
            <a:endParaRPr lang="en-IN"/>
          </a:p>
        </p:txBody>
      </p:sp>
    </p:spTree>
    <p:extLst>
      <p:ext uri="{BB962C8B-B14F-4D97-AF65-F5344CB8AC3E}">
        <p14:creationId xmlns:p14="http://schemas.microsoft.com/office/powerpoint/2010/main" val="34757137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CFA715-1DA7-4465-A28C-94C3938B0CEC}"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821475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EECFA715-1DA7-4465-A28C-94C3938B0CEC}" type="datetimeFigureOut">
              <a:rPr lang="en-IN" smtClean="0"/>
              <a:t>20-11-2025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146935905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CFA715-1DA7-4465-A28C-94C3938B0CEC}"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89866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CFA715-1DA7-4465-A28C-94C3938B0CEC}"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2452328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CFA715-1DA7-4465-A28C-94C3938B0CEC}"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956736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CFA715-1DA7-4465-A28C-94C3938B0CEC}"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281559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ECFA715-1DA7-4465-A28C-94C3938B0CEC}"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B00506DD-D465-4F93-8B3E-2599CD6B67A8}"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4833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EECFA715-1DA7-4465-A28C-94C3938B0CEC}"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B00506DD-D465-4F93-8B3E-2599CD6B67A8}"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68835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CFA715-1DA7-4465-A28C-94C3938B0CEC}"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3916889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CFA715-1DA7-4465-A28C-94C3938B0CEC}"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0506DD-D465-4F93-8B3E-2599CD6B67A8}" type="slidenum">
              <a:rPr lang="en-IN" smtClean="0"/>
              <a:t>‹#›</a:t>
            </a:fld>
            <a:endParaRPr lang="en-IN"/>
          </a:p>
        </p:txBody>
      </p:sp>
    </p:spTree>
    <p:extLst>
      <p:ext uri="{BB962C8B-B14F-4D97-AF65-F5344CB8AC3E}">
        <p14:creationId xmlns:p14="http://schemas.microsoft.com/office/powerpoint/2010/main" val="2458806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EECFA715-1DA7-4465-A28C-94C3938B0CEC}" type="datetimeFigureOut">
              <a:rPr lang="en-IN" smtClean="0"/>
              <a:t>20-11-2025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00506DD-D465-4F93-8B3E-2599CD6B67A8}"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0029465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5A1C4-A90B-F15C-EAEF-9B5999218DEA}"/>
              </a:ext>
            </a:extLst>
          </p:cNvPr>
          <p:cNvSpPr>
            <a:spLocks noGrp="1"/>
          </p:cNvSpPr>
          <p:nvPr>
            <p:ph type="ctrTitle"/>
          </p:nvPr>
        </p:nvSpPr>
        <p:spPr/>
        <p:txBody>
          <a:bodyPr/>
          <a:lstStyle/>
          <a:p>
            <a:r>
              <a:rPr lang="en-US" dirty="0"/>
              <a:t>Medical terminologies -4</a:t>
            </a:r>
            <a:endParaRPr lang="en-IN" dirty="0"/>
          </a:p>
        </p:txBody>
      </p:sp>
      <p:sp>
        <p:nvSpPr>
          <p:cNvPr id="3" name="Subtitle 2">
            <a:extLst>
              <a:ext uri="{FF2B5EF4-FFF2-40B4-BE49-F238E27FC236}">
                <a16:creationId xmlns:a16="http://schemas.microsoft.com/office/drawing/2014/main" id="{DAC6D024-48B2-33D1-2169-77BA1C51C42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4715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5C324-997B-A904-DFBD-212735E4E440}"/>
              </a:ext>
            </a:extLst>
          </p:cNvPr>
          <p:cNvSpPr>
            <a:spLocks noGrp="1"/>
          </p:cNvSpPr>
          <p:nvPr>
            <p:ph type="title"/>
          </p:nvPr>
        </p:nvSpPr>
        <p:spPr/>
        <p:txBody>
          <a:bodyPr/>
          <a:lstStyle/>
          <a:p>
            <a:r>
              <a:rPr lang="en-US" dirty="0"/>
              <a:t>BPH </a:t>
            </a:r>
            <a:endParaRPr lang="en-IN" dirty="0"/>
          </a:p>
        </p:txBody>
      </p:sp>
      <p:sp>
        <p:nvSpPr>
          <p:cNvPr id="3" name="Content Placeholder 2">
            <a:extLst>
              <a:ext uri="{FF2B5EF4-FFF2-40B4-BE49-F238E27FC236}">
                <a16:creationId xmlns:a16="http://schemas.microsoft.com/office/drawing/2014/main" id="{0C257CBA-C5C9-E8A0-6205-36B7DA4D7D3E}"/>
              </a:ext>
            </a:extLst>
          </p:cNvPr>
          <p:cNvSpPr>
            <a:spLocks noGrp="1"/>
          </p:cNvSpPr>
          <p:nvPr>
            <p:ph idx="1"/>
          </p:nvPr>
        </p:nvSpPr>
        <p:spPr/>
        <p:txBody>
          <a:bodyPr/>
          <a:lstStyle/>
          <a:p>
            <a:r>
              <a:rPr lang="en-GB" dirty="0">
                <a:solidFill>
                  <a:srgbClr val="002060"/>
                </a:solidFill>
              </a:rPr>
              <a:t>Benign Prostatic Hyperplasia is the non-cancerous enlargement of the prostate gland, a walnut-sized organ located beneath the bladder in men. The prostate surrounds the urethra, the tube that carries urine out of the body. As the gland grows, it can squeeze the urethra and block the flow of urine, leading to bothersome urinary symptoms.</a:t>
            </a:r>
            <a:endParaRPr lang="en-US" dirty="0">
              <a:solidFill>
                <a:srgbClr val="002060"/>
              </a:solidFill>
            </a:endParaRPr>
          </a:p>
          <a:p>
            <a:endParaRPr lang="en-IN" dirty="0"/>
          </a:p>
        </p:txBody>
      </p:sp>
    </p:spTree>
    <p:extLst>
      <p:ext uri="{BB962C8B-B14F-4D97-AF65-F5344CB8AC3E}">
        <p14:creationId xmlns:p14="http://schemas.microsoft.com/office/powerpoint/2010/main" val="3852441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9AF3D-BB51-708E-64CE-15CE5130AC87}"/>
              </a:ext>
            </a:extLst>
          </p:cNvPr>
          <p:cNvSpPr>
            <a:spLocks noGrp="1"/>
          </p:cNvSpPr>
          <p:nvPr>
            <p:ph type="title"/>
          </p:nvPr>
        </p:nvSpPr>
        <p:spPr/>
        <p:txBody>
          <a:bodyPr/>
          <a:lstStyle/>
          <a:p>
            <a:r>
              <a:rPr lang="en-US" dirty="0"/>
              <a:t>UTI</a:t>
            </a:r>
            <a:endParaRPr lang="en-IN" dirty="0"/>
          </a:p>
        </p:txBody>
      </p:sp>
      <p:sp>
        <p:nvSpPr>
          <p:cNvPr id="3" name="Content Placeholder 2">
            <a:extLst>
              <a:ext uri="{FF2B5EF4-FFF2-40B4-BE49-F238E27FC236}">
                <a16:creationId xmlns:a16="http://schemas.microsoft.com/office/drawing/2014/main" id="{455E13AA-5347-14BF-0D86-5EB0EFC0A118}"/>
              </a:ext>
            </a:extLst>
          </p:cNvPr>
          <p:cNvSpPr>
            <a:spLocks noGrp="1"/>
          </p:cNvSpPr>
          <p:nvPr>
            <p:ph idx="1"/>
          </p:nvPr>
        </p:nvSpPr>
        <p:spPr/>
        <p:txBody>
          <a:bodyPr/>
          <a:lstStyle/>
          <a:p>
            <a:r>
              <a:rPr lang="en-GB" dirty="0">
                <a:solidFill>
                  <a:srgbClr val="002060"/>
                </a:solidFill>
              </a:rPr>
              <a:t>UTIs are most often caused by bacteria from the digestive tract, especially </a:t>
            </a:r>
            <a:r>
              <a:rPr lang="en-GB" i="1" dirty="0">
                <a:solidFill>
                  <a:srgbClr val="002060"/>
                </a:solidFill>
              </a:rPr>
              <a:t>Escherichia coli (E. coli)</a:t>
            </a:r>
            <a:r>
              <a:rPr lang="en-GB" dirty="0">
                <a:solidFill>
                  <a:srgbClr val="002060"/>
                </a:solidFill>
              </a:rPr>
              <a:t>, which enters the urinary tract through the urethra. This can lead to an infection when the bacteria multiply and overwhelm the body's natural </a:t>
            </a:r>
            <a:r>
              <a:rPr lang="en-GB" dirty="0" err="1">
                <a:solidFill>
                  <a:srgbClr val="002060"/>
                </a:solidFill>
              </a:rPr>
              <a:t>defenses</a:t>
            </a:r>
            <a:r>
              <a:rPr lang="en-GB" dirty="0">
                <a:solidFill>
                  <a:srgbClr val="002060"/>
                </a:solidFill>
              </a:rPr>
              <a:t>.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29758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FD0B-9188-6246-DCCC-E6E28CC258E1}"/>
              </a:ext>
            </a:extLst>
          </p:cNvPr>
          <p:cNvSpPr>
            <a:spLocks noGrp="1"/>
          </p:cNvSpPr>
          <p:nvPr>
            <p:ph type="title"/>
          </p:nvPr>
        </p:nvSpPr>
        <p:spPr/>
        <p:txBody>
          <a:bodyPr/>
          <a:lstStyle/>
          <a:p>
            <a:r>
              <a:rPr lang="en-US" dirty="0"/>
              <a:t>CKD</a:t>
            </a:r>
            <a:endParaRPr lang="en-IN" dirty="0"/>
          </a:p>
        </p:txBody>
      </p:sp>
      <p:sp>
        <p:nvSpPr>
          <p:cNvPr id="3" name="Content Placeholder 2">
            <a:extLst>
              <a:ext uri="{FF2B5EF4-FFF2-40B4-BE49-F238E27FC236}">
                <a16:creationId xmlns:a16="http://schemas.microsoft.com/office/drawing/2014/main" id="{3834D54F-D81F-EA26-59D3-E4EABFE2EEA5}"/>
              </a:ext>
            </a:extLst>
          </p:cNvPr>
          <p:cNvSpPr>
            <a:spLocks noGrp="1"/>
          </p:cNvSpPr>
          <p:nvPr>
            <p:ph idx="1"/>
          </p:nvPr>
        </p:nvSpPr>
        <p:spPr/>
        <p:txBody>
          <a:bodyPr/>
          <a:lstStyle/>
          <a:p>
            <a:r>
              <a:rPr lang="en-GB">
                <a:solidFill>
                  <a:srgbClr val="002060"/>
                </a:solidFill>
              </a:rPr>
              <a:t>Chronic Kidney Disease is a long-term condition where the kidneys are damaged and gradually lose their ability to filter blood properly. This leads to the buildup of waste products and excess fluid in the body, which can cause a variety of health problems. </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6529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2E95B-8071-68A2-2664-F1D821E568FF}"/>
              </a:ext>
            </a:extLst>
          </p:cNvPr>
          <p:cNvSpPr>
            <a:spLocks noGrp="1"/>
          </p:cNvSpPr>
          <p:nvPr>
            <p:ph type="title"/>
          </p:nvPr>
        </p:nvSpPr>
        <p:spPr/>
        <p:txBody>
          <a:bodyPr/>
          <a:lstStyle/>
          <a:p>
            <a:r>
              <a:rPr lang="en-US" dirty="0"/>
              <a:t>AKI</a:t>
            </a:r>
            <a:endParaRPr lang="en-IN" dirty="0"/>
          </a:p>
        </p:txBody>
      </p:sp>
      <p:sp>
        <p:nvSpPr>
          <p:cNvPr id="3" name="Content Placeholder 2">
            <a:extLst>
              <a:ext uri="{FF2B5EF4-FFF2-40B4-BE49-F238E27FC236}">
                <a16:creationId xmlns:a16="http://schemas.microsoft.com/office/drawing/2014/main" id="{E644670F-90DE-B758-3332-6A546DE8DE33}"/>
              </a:ext>
            </a:extLst>
          </p:cNvPr>
          <p:cNvSpPr>
            <a:spLocks noGrp="1"/>
          </p:cNvSpPr>
          <p:nvPr>
            <p:ph idx="1"/>
          </p:nvPr>
        </p:nvSpPr>
        <p:spPr/>
        <p:txBody>
          <a:bodyPr/>
          <a:lstStyle/>
          <a:p>
            <a:r>
              <a:rPr lang="en-GB" dirty="0">
                <a:solidFill>
                  <a:srgbClr val="002060"/>
                </a:solidFill>
              </a:rPr>
              <a:t>Acute Kidney Injury (AKI) is a sudden and significant decrease in kidney function that occurs over a period of hours or days. This can range from a mild, reversible loss of function to complete kidney failure. The condition is most often a complication of another serious illness, and its causes are categorized into three main types based on where the problem occurs:</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26079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ACCA-8828-4269-731F-AA3A8F0AA7DD}"/>
              </a:ext>
            </a:extLst>
          </p:cNvPr>
          <p:cNvSpPr>
            <a:spLocks noGrp="1"/>
          </p:cNvSpPr>
          <p:nvPr>
            <p:ph type="title"/>
          </p:nvPr>
        </p:nvSpPr>
        <p:spPr/>
        <p:txBody>
          <a:bodyPr/>
          <a:lstStyle/>
          <a:p>
            <a:r>
              <a:rPr lang="en-US" dirty="0"/>
              <a:t>ADPKD</a:t>
            </a:r>
            <a:endParaRPr lang="en-IN" dirty="0"/>
          </a:p>
        </p:txBody>
      </p:sp>
      <p:sp>
        <p:nvSpPr>
          <p:cNvPr id="3" name="Content Placeholder 2">
            <a:extLst>
              <a:ext uri="{FF2B5EF4-FFF2-40B4-BE49-F238E27FC236}">
                <a16:creationId xmlns:a16="http://schemas.microsoft.com/office/drawing/2014/main" id="{0C314B98-5930-9023-083B-B4B0D985151E}"/>
              </a:ext>
            </a:extLst>
          </p:cNvPr>
          <p:cNvSpPr>
            <a:spLocks noGrp="1"/>
          </p:cNvSpPr>
          <p:nvPr>
            <p:ph idx="1"/>
          </p:nvPr>
        </p:nvSpPr>
        <p:spPr/>
        <p:txBody>
          <a:bodyPr/>
          <a:lstStyle/>
          <a:p>
            <a:r>
              <a:rPr lang="en-GB" dirty="0">
                <a:solidFill>
                  <a:srgbClr val="002060"/>
                </a:solidFill>
              </a:rPr>
              <a:t>ADPKD is a genetic, progressive, multi-system disorder characterized by the development and growth of numerous fluid-filled cysts in both kidneys. These cysts can significantly enlarge the kidneys and, over time, interfere with their ability to filter waste from the blood, eventually leading to chronic kidney disease (CKD) and often to kidney failure. Though a person is born with the genetic mutation, symptoms typically do not appear until adulthood.</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1391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9A703-A131-D5C2-3FE3-9BCE65411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A31DB-9C96-A740-F323-2FD6570CFA03}"/>
              </a:ext>
            </a:extLst>
          </p:cNvPr>
          <p:cNvSpPr>
            <a:spLocks noGrp="1"/>
          </p:cNvSpPr>
          <p:nvPr>
            <p:ph type="title"/>
          </p:nvPr>
        </p:nvSpPr>
        <p:spPr/>
        <p:txBody>
          <a:bodyPr/>
          <a:lstStyle/>
          <a:p>
            <a:r>
              <a:rPr lang="en-US" dirty="0"/>
              <a:t>RCC</a:t>
            </a:r>
            <a:endParaRPr lang="en-IN" dirty="0"/>
          </a:p>
        </p:txBody>
      </p:sp>
      <p:sp>
        <p:nvSpPr>
          <p:cNvPr id="3" name="Content Placeholder 2">
            <a:extLst>
              <a:ext uri="{FF2B5EF4-FFF2-40B4-BE49-F238E27FC236}">
                <a16:creationId xmlns:a16="http://schemas.microsoft.com/office/drawing/2014/main" id="{3AD69A98-9839-C8EA-A088-5639EE925BF3}"/>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Renal Cell Carcinoma is the most common type of kidney cancer in adults, originating in the lining of the kidney's renal tubules. These tiny tubes are responsible for filtering blood and producing urine. RCC is a malignant </a:t>
            </a:r>
            <a:r>
              <a:rPr lang="en-GB" dirty="0" err="1">
                <a:solidFill>
                  <a:srgbClr val="002060"/>
                </a:solidFill>
                <a:latin typeface="Times New Roman" panose="02020603050405020304" pitchFamily="18" charset="0"/>
                <a:cs typeface="Times New Roman" panose="02020603050405020304" pitchFamily="18" charset="0"/>
              </a:rPr>
              <a:t>tumor</a:t>
            </a:r>
            <a:r>
              <a:rPr lang="en-GB" dirty="0">
                <a:solidFill>
                  <a:srgbClr val="002060"/>
                </a:solidFill>
                <a:latin typeface="Times New Roman" panose="02020603050405020304" pitchFamily="18" charset="0"/>
                <a:cs typeface="Times New Roman" panose="02020603050405020304" pitchFamily="18" charset="0"/>
              </a:rPr>
              <a:t>, meaning it is cancerous and can potentially spread to other parts of the body, though it is treatable if detected early.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63615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E742-A831-EE21-73EB-361BBA6DC42D}"/>
              </a:ext>
            </a:extLst>
          </p:cNvPr>
          <p:cNvSpPr>
            <a:spLocks noGrp="1"/>
          </p:cNvSpPr>
          <p:nvPr>
            <p:ph type="title"/>
          </p:nvPr>
        </p:nvSpPr>
        <p:spPr/>
        <p:txBody>
          <a:bodyPr/>
          <a:lstStyle/>
          <a:p>
            <a:r>
              <a:rPr lang="en-US" dirty="0"/>
              <a:t>TCC</a:t>
            </a:r>
            <a:endParaRPr lang="en-IN" dirty="0"/>
          </a:p>
        </p:txBody>
      </p:sp>
      <p:sp>
        <p:nvSpPr>
          <p:cNvPr id="3" name="Content Placeholder 2">
            <a:extLst>
              <a:ext uri="{FF2B5EF4-FFF2-40B4-BE49-F238E27FC236}">
                <a16:creationId xmlns:a16="http://schemas.microsoft.com/office/drawing/2014/main" id="{49CE4AB0-0755-1732-6ECA-095AC21BCEB8}"/>
              </a:ext>
            </a:extLst>
          </p:cNvPr>
          <p:cNvSpPr>
            <a:spLocks noGrp="1"/>
          </p:cNvSpPr>
          <p:nvPr>
            <p:ph idx="1"/>
          </p:nvPr>
        </p:nvSpPr>
        <p:spPr/>
        <p:txBody>
          <a:bodyPr/>
          <a:lstStyle/>
          <a:p>
            <a:r>
              <a:rPr lang="en-GB" dirty="0">
                <a:solidFill>
                  <a:srgbClr val="002060"/>
                </a:solidFill>
              </a:rPr>
              <a:t>Transitional Cell Carcinoma, also known as Urothelial Carcinoma, is a type of cancer that begins in the transitional cells lining the inner surface of the urinary tract. The transitional cells, or urothelium, are found in the bladder, ureters (the tubes connecting the kidneys to the bladder), and renal pelvis (the area of the kidney that collects urine). TCC is the most common type of bladder cancer, and </a:t>
            </a:r>
            <a:r>
              <a:rPr lang="en-GB" dirty="0" err="1">
                <a:solidFill>
                  <a:srgbClr val="002060"/>
                </a:solidFill>
              </a:rPr>
              <a:t>tumors</a:t>
            </a:r>
            <a:r>
              <a:rPr lang="en-GB" dirty="0">
                <a:solidFill>
                  <a:srgbClr val="002060"/>
                </a:solidFill>
              </a:rPr>
              <a:t> can also develop in the renal pelvis and ureters.</a:t>
            </a:r>
            <a:endParaRPr lang="en-IN" dirty="0"/>
          </a:p>
        </p:txBody>
      </p:sp>
    </p:spTree>
    <p:extLst>
      <p:ext uri="{BB962C8B-B14F-4D97-AF65-F5344CB8AC3E}">
        <p14:creationId xmlns:p14="http://schemas.microsoft.com/office/powerpoint/2010/main" val="2307671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EBF16-9B57-5169-290D-A680675DB800}"/>
              </a:ext>
            </a:extLst>
          </p:cNvPr>
          <p:cNvSpPr>
            <a:spLocks noGrp="1"/>
          </p:cNvSpPr>
          <p:nvPr>
            <p:ph type="title"/>
          </p:nvPr>
        </p:nvSpPr>
        <p:spPr/>
        <p:txBody>
          <a:bodyPr/>
          <a:lstStyle/>
          <a:p>
            <a:r>
              <a:rPr lang="en-US" dirty="0"/>
              <a:t>PUJO</a:t>
            </a:r>
            <a:endParaRPr lang="en-IN" dirty="0"/>
          </a:p>
        </p:txBody>
      </p:sp>
      <p:sp>
        <p:nvSpPr>
          <p:cNvPr id="3" name="Content Placeholder 2">
            <a:extLst>
              <a:ext uri="{FF2B5EF4-FFF2-40B4-BE49-F238E27FC236}">
                <a16:creationId xmlns:a16="http://schemas.microsoft.com/office/drawing/2014/main" id="{FBAEBBC7-8CD6-BD4D-21D9-7C9909C01069}"/>
              </a:ext>
            </a:extLst>
          </p:cNvPr>
          <p:cNvSpPr>
            <a:spLocks noGrp="1"/>
          </p:cNvSpPr>
          <p:nvPr>
            <p:ph idx="1"/>
          </p:nvPr>
        </p:nvSpPr>
        <p:spPr/>
        <p:txBody>
          <a:bodyPr/>
          <a:lstStyle/>
          <a:p>
            <a:r>
              <a:rPr lang="en-GB" dirty="0">
                <a:solidFill>
                  <a:srgbClr val="002060"/>
                </a:solidFill>
              </a:rPr>
              <a:t>Ureteropelvic Junction Obstruction (UPJO), also known as </a:t>
            </a:r>
            <a:r>
              <a:rPr lang="en-GB" dirty="0" err="1">
                <a:solidFill>
                  <a:srgbClr val="002060"/>
                </a:solidFill>
              </a:rPr>
              <a:t>Pelviureteric</a:t>
            </a:r>
            <a:r>
              <a:rPr lang="en-GB" dirty="0">
                <a:solidFill>
                  <a:srgbClr val="002060"/>
                </a:solidFill>
              </a:rPr>
              <a:t> Junction Obstruction (PUJO), is a condition where there is a blockage or narrowing at the junction where the renal pelvis (the part of the kidney that collects urine) meets the ureter (the tube that carries urine to the bladder). This obstruction impedes the normal flow of urine, causing it to back up and collect in the renal pelvis, a condition known as hydronephrosis. If left untreated, this increased pressure can progressively damage kidney function over time.</a:t>
            </a:r>
            <a:endParaRPr lang="en-IN" dirty="0">
              <a:solidFill>
                <a:srgbClr val="002060"/>
              </a:solidFill>
            </a:endParaRPr>
          </a:p>
          <a:p>
            <a:endParaRPr lang="en-IN" dirty="0"/>
          </a:p>
        </p:txBody>
      </p:sp>
    </p:spTree>
    <p:extLst>
      <p:ext uri="{BB962C8B-B14F-4D97-AF65-F5344CB8AC3E}">
        <p14:creationId xmlns:p14="http://schemas.microsoft.com/office/powerpoint/2010/main" val="2586207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A77F9-BAF6-5C9B-7FCF-E85688242330}"/>
              </a:ext>
            </a:extLst>
          </p:cNvPr>
          <p:cNvSpPr>
            <a:spLocks noGrp="1"/>
          </p:cNvSpPr>
          <p:nvPr>
            <p:ph type="title"/>
          </p:nvPr>
        </p:nvSpPr>
        <p:spPr/>
        <p:txBody>
          <a:bodyPr/>
          <a:lstStyle/>
          <a:p>
            <a:r>
              <a:rPr lang="en-US" dirty="0"/>
              <a:t>HYDRONEPHROSIS</a:t>
            </a:r>
            <a:endParaRPr lang="en-IN" dirty="0"/>
          </a:p>
        </p:txBody>
      </p:sp>
      <p:sp>
        <p:nvSpPr>
          <p:cNvPr id="3" name="Content Placeholder 2">
            <a:extLst>
              <a:ext uri="{FF2B5EF4-FFF2-40B4-BE49-F238E27FC236}">
                <a16:creationId xmlns:a16="http://schemas.microsoft.com/office/drawing/2014/main" id="{081F9EA2-B667-FFDD-A913-9C079195D7A9}"/>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Hydronephrosis is the swelling and enlargement of one or both kidneys due to a build-up of urine. This occurs when there is a blockage or obstruction in the urinary tract that prevents urine from draining properly from the kidneys to the bladder. The urine backlog causes increased pressure inside the kidney, which can eventually damage kidney function if not treated.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36949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7E89-24AA-3480-6FDB-195B7B393817}"/>
              </a:ext>
            </a:extLst>
          </p:cNvPr>
          <p:cNvSpPr>
            <a:spLocks noGrp="1"/>
          </p:cNvSpPr>
          <p:nvPr>
            <p:ph type="title"/>
          </p:nvPr>
        </p:nvSpPr>
        <p:spPr/>
        <p:txBody>
          <a:bodyPr/>
          <a:lstStyle/>
          <a:p>
            <a:r>
              <a:rPr lang="en-US" dirty="0"/>
              <a:t>VUR</a:t>
            </a:r>
            <a:endParaRPr lang="en-IN" dirty="0"/>
          </a:p>
        </p:txBody>
      </p:sp>
      <p:sp>
        <p:nvSpPr>
          <p:cNvPr id="3" name="Content Placeholder 2">
            <a:extLst>
              <a:ext uri="{FF2B5EF4-FFF2-40B4-BE49-F238E27FC236}">
                <a16:creationId xmlns:a16="http://schemas.microsoft.com/office/drawing/2014/main" id="{08E1F78A-7D3C-8402-CE6C-0D2C65921C4B}"/>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Vesicoureteral reflux (VUR) is the abnormal backward flow of urine from the bladder into the ureters and sometimes the kidneys. In a healthy urinary tract, urine flows in a single direction from the kidneys, down the ureters, and into the bladder. A one-way valve at the connection between the bladder and ureters, called the ureterovesical junction (UVJ), normally prevents this backflow. In VUR, this valve doesn't function correctly. The condition is most common in infants and young children and can range in severity from mild to severe, graded from one to five.</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47077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6C128-E509-5843-9566-85DDB1862CCF}"/>
              </a:ext>
            </a:extLst>
          </p:cNvPr>
          <p:cNvSpPr>
            <a:spLocks noGrp="1"/>
          </p:cNvSpPr>
          <p:nvPr>
            <p:ph type="title"/>
          </p:nvPr>
        </p:nvSpPr>
        <p:spPr/>
        <p:txBody>
          <a:bodyPr/>
          <a:lstStyle/>
          <a:p>
            <a:r>
              <a:rPr lang="en-US" dirty="0"/>
              <a:t>HYPOSPADIASIS</a:t>
            </a:r>
            <a:endParaRPr lang="en-IN" dirty="0"/>
          </a:p>
        </p:txBody>
      </p:sp>
      <p:sp>
        <p:nvSpPr>
          <p:cNvPr id="3" name="Content Placeholder 2">
            <a:extLst>
              <a:ext uri="{FF2B5EF4-FFF2-40B4-BE49-F238E27FC236}">
                <a16:creationId xmlns:a16="http://schemas.microsoft.com/office/drawing/2014/main" id="{C755327D-77A1-B3DF-2059-E38797319BA3}"/>
              </a:ext>
            </a:extLst>
          </p:cNvPr>
          <p:cNvSpPr>
            <a:spLocks noGrp="1"/>
          </p:cNvSpPr>
          <p:nvPr>
            <p:ph idx="1"/>
          </p:nvPr>
        </p:nvSpPr>
        <p:spPr/>
        <p:txBody>
          <a:bodyPr/>
          <a:lstStyle/>
          <a:p>
            <a:r>
              <a:rPr lang="en-GB" dirty="0" err="1">
                <a:solidFill>
                  <a:srgbClr val="002060"/>
                </a:solidFill>
                <a:latin typeface="Times New Roman" panose="02020603050405020304" pitchFamily="18" charset="0"/>
                <a:cs typeface="Times New Roman" panose="02020603050405020304" pitchFamily="18" charset="0"/>
              </a:rPr>
              <a:t>Hypospadiasis</a:t>
            </a:r>
            <a:r>
              <a:rPr lang="en-GB" dirty="0">
                <a:solidFill>
                  <a:srgbClr val="002060"/>
                </a:solidFill>
                <a:latin typeface="Times New Roman" panose="02020603050405020304" pitchFamily="18" charset="0"/>
                <a:cs typeface="Times New Roman" panose="02020603050405020304" pitchFamily="18" charset="0"/>
              </a:rPr>
              <a:t> is a congenital condition in which the opening of the urethra is not located at the tip of the penis, but somewhere along the underside. This occurs during </a:t>
            </a:r>
            <a:r>
              <a:rPr lang="en-GB" dirty="0" err="1">
                <a:solidFill>
                  <a:srgbClr val="002060"/>
                </a:solidFill>
                <a:latin typeface="Times New Roman" panose="02020603050405020304" pitchFamily="18" charset="0"/>
                <a:cs typeface="Times New Roman" panose="02020603050405020304" pitchFamily="18" charset="0"/>
              </a:rPr>
              <a:t>fetal</a:t>
            </a:r>
            <a:r>
              <a:rPr lang="en-GB" dirty="0">
                <a:solidFill>
                  <a:srgbClr val="002060"/>
                </a:solidFill>
                <a:latin typeface="Times New Roman" panose="02020603050405020304" pitchFamily="18" charset="0"/>
                <a:cs typeface="Times New Roman" panose="02020603050405020304" pitchFamily="18" charset="0"/>
              </a:rPr>
              <a:t> development when the urethral folds fail to close completely. The severity of the condition depends on where the urethral opening (meatus) is located. It can range from mild (near the tip of the penis) to severe (at the base of the penis, in the scrotum, or in the perineum)</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65270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5559-7E92-5151-192F-8BBCC6DC2FD0}"/>
              </a:ext>
            </a:extLst>
          </p:cNvPr>
          <p:cNvSpPr>
            <a:spLocks noGrp="1"/>
          </p:cNvSpPr>
          <p:nvPr>
            <p:ph type="title"/>
          </p:nvPr>
        </p:nvSpPr>
        <p:spPr/>
        <p:txBody>
          <a:bodyPr>
            <a:normAutofit/>
          </a:bodyPr>
          <a:lstStyle/>
          <a:p>
            <a:r>
              <a:rPr lang="en-US" dirty="0"/>
              <a:t>EPISPADIASIS</a:t>
            </a:r>
            <a:endParaRPr lang="en-IN" dirty="0"/>
          </a:p>
        </p:txBody>
      </p:sp>
      <p:sp>
        <p:nvSpPr>
          <p:cNvPr id="3" name="Content Placeholder 2">
            <a:extLst>
              <a:ext uri="{FF2B5EF4-FFF2-40B4-BE49-F238E27FC236}">
                <a16:creationId xmlns:a16="http://schemas.microsoft.com/office/drawing/2014/main" id="{27648119-1CC0-33EF-B2C0-8F4087421CFE}"/>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Epispadias is a rare congenital malformation in which the urethra ends in an opening on the dorsal (upper) side of the penis in males or the clitoris in females. It is often part of a spectrum of birth defects known as the exstrophy-epispadias complex (BEEC), which can also involve abnormalities of the bladder and pelvic bones.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43862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D1C99-8219-0B2F-41DF-5C95B835EFB8}"/>
              </a:ext>
            </a:extLst>
          </p:cNvPr>
          <p:cNvSpPr>
            <a:spLocks noGrp="1"/>
          </p:cNvSpPr>
          <p:nvPr>
            <p:ph type="title"/>
          </p:nvPr>
        </p:nvSpPr>
        <p:spPr/>
        <p:txBody>
          <a:bodyPr/>
          <a:lstStyle/>
          <a:p>
            <a:r>
              <a:rPr lang="en-US" dirty="0"/>
              <a:t>PHIMOSIS</a:t>
            </a:r>
            <a:endParaRPr lang="en-IN" dirty="0"/>
          </a:p>
        </p:txBody>
      </p:sp>
      <p:sp>
        <p:nvSpPr>
          <p:cNvPr id="3" name="Content Placeholder 2">
            <a:extLst>
              <a:ext uri="{FF2B5EF4-FFF2-40B4-BE49-F238E27FC236}">
                <a16:creationId xmlns:a16="http://schemas.microsoft.com/office/drawing/2014/main" id="{39FA5367-6D10-FD50-319A-9DFAFD2A2E17}"/>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Phimosis is a condition in uncircumcised males where the foreskin is too tight and cannot be retracted (pulled back) over the head (glans) of the penis. While it is a normal condition in newborns and young children, often referred to as "physiological phimosis," it can become problematic if it persists into adolescence or adulthood, causing symptoms and functional issues.</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10819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F796-1348-EF49-F545-84A445B72D03}"/>
              </a:ext>
            </a:extLst>
          </p:cNvPr>
          <p:cNvSpPr>
            <a:spLocks noGrp="1"/>
          </p:cNvSpPr>
          <p:nvPr>
            <p:ph type="title"/>
          </p:nvPr>
        </p:nvSpPr>
        <p:spPr/>
        <p:txBody>
          <a:bodyPr/>
          <a:lstStyle/>
          <a:p>
            <a:r>
              <a:rPr lang="en-US" dirty="0"/>
              <a:t>PARAPHIMOSIS</a:t>
            </a:r>
            <a:endParaRPr lang="en-IN" dirty="0"/>
          </a:p>
        </p:txBody>
      </p:sp>
      <p:sp>
        <p:nvSpPr>
          <p:cNvPr id="3" name="Content Placeholder 2">
            <a:extLst>
              <a:ext uri="{FF2B5EF4-FFF2-40B4-BE49-F238E27FC236}">
                <a16:creationId xmlns:a16="http://schemas.microsoft.com/office/drawing/2014/main" id="{3682E41E-C79E-4BAB-3ACF-92C3602F838F}"/>
              </a:ext>
            </a:extLst>
          </p:cNvPr>
          <p:cNvSpPr>
            <a:spLocks noGrp="1"/>
          </p:cNvSpPr>
          <p:nvPr>
            <p:ph idx="1"/>
          </p:nvPr>
        </p:nvSpPr>
        <p:spPr/>
        <p:txBody>
          <a:bodyPr/>
          <a:lstStyle/>
          <a:p>
            <a:r>
              <a:rPr lang="en-GB" dirty="0">
                <a:solidFill>
                  <a:srgbClr val="002060"/>
                </a:solidFill>
              </a:rPr>
              <a:t>Paraphimosis is a urological emergency that occurs when the foreskin of an uncircumcised male is retracted behind the head (glans) of the penis and becomes trapped. This tight, constricting band of skin cuts off the normal blood and lymphatic flow to the glans, causing it to become swollen and painful. Unlike phimosis, where the foreskin cannot be retracted, paraphimosis occurs after the foreskin has been retracted and cannot be returned to its normal position. Prompt medical treatment is crucial to prevent serious complications, such as tissue damage (necrosis) or gangrene. </a:t>
            </a:r>
            <a:endParaRPr lang="en-IN" dirty="0">
              <a:solidFill>
                <a:srgbClr val="002060"/>
              </a:solidFill>
            </a:endParaRPr>
          </a:p>
          <a:p>
            <a:endParaRPr lang="en-IN" dirty="0"/>
          </a:p>
        </p:txBody>
      </p:sp>
    </p:spTree>
    <p:extLst>
      <p:ext uri="{BB962C8B-B14F-4D97-AF65-F5344CB8AC3E}">
        <p14:creationId xmlns:p14="http://schemas.microsoft.com/office/powerpoint/2010/main" val="1797133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56E2D-E413-2EE3-16BD-48B3E5CBB035}"/>
              </a:ext>
            </a:extLst>
          </p:cNvPr>
          <p:cNvSpPr>
            <a:spLocks noGrp="1"/>
          </p:cNvSpPr>
          <p:nvPr>
            <p:ph type="title"/>
          </p:nvPr>
        </p:nvSpPr>
        <p:spPr/>
        <p:txBody>
          <a:bodyPr/>
          <a:lstStyle/>
          <a:p>
            <a:r>
              <a:rPr lang="en-US" dirty="0"/>
              <a:t>BOO</a:t>
            </a:r>
            <a:endParaRPr lang="en-IN" dirty="0"/>
          </a:p>
        </p:txBody>
      </p:sp>
      <p:sp>
        <p:nvSpPr>
          <p:cNvPr id="3" name="Content Placeholder 2">
            <a:extLst>
              <a:ext uri="{FF2B5EF4-FFF2-40B4-BE49-F238E27FC236}">
                <a16:creationId xmlns:a16="http://schemas.microsoft.com/office/drawing/2014/main" id="{5099AC36-625E-4F1F-A267-6C6548A70DAA}"/>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Bladder Outlet Obstruction (BOO) is a condition where the flow of urine from the bladder is blocked, either partially or completely. This causes urine to back up, leading to symptoms such as difficulty urinating, a weak stream, and a feeling of incomplete bladder emptying. If left untreated, the increased pressure on the bladder can lead to permanent bladder or kidney damage.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13572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99FA2-181B-683E-F8D7-AD9E65CEE922}"/>
              </a:ext>
            </a:extLst>
          </p:cNvPr>
          <p:cNvSpPr>
            <a:spLocks noGrp="1"/>
          </p:cNvSpPr>
          <p:nvPr>
            <p:ph type="title"/>
          </p:nvPr>
        </p:nvSpPr>
        <p:spPr/>
        <p:txBody>
          <a:bodyPr/>
          <a:lstStyle/>
          <a:p>
            <a:r>
              <a:rPr lang="en-US" dirty="0"/>
              <a:t>UD</a:t>
            </a:r>
            <a:endParaRPr lang="en-IN" dirty="0"/>
          </a:p>
        </p:txBody>
      </p:sp>
      <p:sp>
        <p:nvSpPr>
          <p:cNvPr id="3" name="Content Placeholder 2">
            <a:extLst>
              <a:ext uri="{FF2B5EF4-FFF2-40B4-BE49-F238E27FC236}">
                <a16:creationId xmlns:a16="http://schemas.microsoft.com/office/drawing/2014/main" id="{A98295BA-AE91-63C3-D277-FABB52104FCE}"/>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Underactive detrusor, also known as detrusor underactivity (DUA), is a condition in which the muscular wall of the bladder (the detrusor muscle) contracts with reduced strength and/or duration during urination. This impairment leads to prolonged or slow bladder emptying, or an inability to empty the bladder completely. The resulting symptoms, often referred to as Underactive Bladder (UAB), include hesitancy, a weak urinary stream, and the sensation of incomplete emptying.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20681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6E8B0-DB96-F7C9-556D-FDC2E5E26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27C9A-1EEF-701D-D238-EEE39183A201}"/>
              </a:ext>
            </a:extLst>
          </p:cNvPr>
          <p:cNvSpPr>
            <a:spLocks noGrp="1"/>
          </p:cNvSpPr>
          <p:nvPr>
            <p:ph type="title"/>
          </p:nvPr>
        </p:nvSpPr>
        <p:spPr/>
        <p:txBody>
          <a:bodyPr/>
          <a:lstStyle/>
          <a:p>
            <a:r>
              <a:rPr lang="en-US" dirty="0"/>
              <a:t>HYDROCELE</a:t>
            </a:r>
            <a:endParaRPr lang="en-IN" dirty="0"/>
          </a:p>
        </p:txBody>
      </p:sp>
      <p:sp>
        <p:nvSpPr>
          <p:cNvPr id="3" name="Content Placeholder 2">
            <a:extLst>
              <a:ext uri="{FF2B5EF4-FFF2-40B4-BE49-F238E27FC236}">
                <a16:creationId xmlns:a16="http://schemas.microsoft.com/office/drawing/2014/main" id="{AE4FEA37-006A-2658-F557-1EE7C0E393E6}"/>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hydrocele is a painless swelling in the scrotum that occurs when fluid accumulates in the thin sac surrounding a testicle. This sac, called the tunica vaginalis, naturally produces a small amount of lubricating fluid. A hydrocele forms when there is an imbalance between the production and absorption of this fluid.</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61805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53B8-7008-FDF1-5CA7-E48CBD44F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4A80F-2F67-E4DD-47AA-3BD171565F34}"/>
              </a:ext>
            </a:extLst>
          </p:cNvPr>
          <p:cNvSpPr>
            <a:spLocks noGrp="1"/>
          </p:cNvSpPr>
          <p:nvPr>
            <p:ph type="title"/>
          </p:nvPr>
        </p:nvSpPr>
        <p:spPr/>
        <p:txBody>
          <a:bodyPr/>
          <a:lstStyle/>
          <a:p>
            <a:r>
              <a:rPr lang="en-US" dirty="0"/>
              <a:t>VARIOCELE</a:t>
            </a:r>
            <a:endParaRPr lang="en-IN" dirty="0"/>
          </a:p>
        </p:txBody>
      </p:sp>
      <p:sp>
        <p:nvSpPr>
          <p:cNvPr id="3" name="Content Placeholder 2">
            <a:extLst>
              <a:ext uri="{FF2B5EF4-FFF2-40B4-BE49-F238E27FC236}">
                <a16:creationId xmlns:a16="http://schemas.microsoft.com/office/drawing/2014/main" id="{DF32F30B-84AC-DAB6-B900-B4FBDFBF4CD6}"/>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varicocele is an enlargement of the veins within the scrotum, the loose pouch of skin that holds the testicles. These veins, known as the pampiniform plexus, carry oxygen-depleted blood away from the testicles. The condition is similar to a varicose vein in the leg.</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25164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28F7-0A3F-E5F6-0EE5-D9A1E9B652B5}"/>
              </a:ext>
            </a:extLst>
          </p:cNvPr>
          <p:cNvSpPr>
            <a:spLocks noGrp="1"/>
          </p:cNvSpPr>
          <p:nvPr>
            <p:ph type="title"/>
          </p:nvPr>
        </p:nvSpPr>
        <p:spPr/>
        <p:txBody>
          <a:bodyPr/>
          <a:lstStyle/>
          <a:p>
            <a:r>
              <a:rPr lang="en-US" dirty="0"/>
              <a:t>TORSION OF TESTIS</a:t>
            </a:r>
            <a:endParaRPr lang="en-IN" dirty="0"/>
          </a:p>
        </p:txBody>
      </p:sp>
      <p:sp>
        <p:nvSpPr>
          <p:cNvPr id="3" name="Content Placeholder 2">
            <a:extLst>
              <a:ext uri="{FF2B5EF4-FFF2-40B4-BE49-F238E27FC236}">
                <a16:creationId xmlns:a16="http://schemas.microsoft.com/office/drawing/2014/main" id="{3AFFA73D-9FFA-3A98-4348-43DCAABB4B7D}"/>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Testicular torsion is a urological emergency that occurs when a testicle rotates, twisting the spermatic cord that provides blood flow to the scrotum. This reduced blood flow causes sudden, severe pain and swelling. Since the testicle's blood supply is cut off, immediate treatment is required to save the testicle from permanent damage and possible removal. It is most common in adolescent boys but can occur at any age.</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08000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1F380-3342-A3F5-C1BD-4470D469238B}"/>
              </a:ext>
            </a:extLst>
          </p:cNvPr>
          <p:cNvSpPr>
            <a:spLocks noGrp="1"/>
          </p:cNvSpPr>
          <p:nvPr>
            <p:ph type="title"/>
          </p:nvPr>
        </p:nvSpPr>
        <p:spPr/>
        <p:txBody>
          <a:bodyPr/>
          <a:lstStyle/>
          <a:p>
            <a:r>
              <a:rPr lang="en-US" dirty="0"/>
              <a:t>AZOOSPERMIA</a:t>
            </a:r>
            <a:endParaRPr lang="en-IN" dirty="0"/>
          </a:p>
        </p:txBody>
      </p:sp>
      <p:sp>
        <p:nvSpPr>
          <p:cNvPr id="3" name="Content Placeholder 2">
            <a:extLst>
              <a:ext uri="{FF2B5EF4-FFF2-40B4-BE49-F238E27FC236}">
                <a16:creationId xmlns:a16="http://schemas.microsoft.com/office/drawing/2014/main" id="{DF5060CF-AB41-2D17-33AE-CF9DDEBF250C}"/>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Azoospermia is a medical condition in which there is a complete absence of sperm in a man's semen. It is a significant cause of male infertility, affecting about 1% of the male population. The diagnosis is made through a semen analysis, where no sperm can be found in the ejaculate after two separate tests</a:t>
            </a:r>
            <a:endParaRPr lang="en-IN" dirty="0"/>
          </a:p>
        </p:txBody>
      </p:sp>
    </p:spTree>
    <p:extLst>
      <p:ext uri="{BB962C8B-B14F-4D97-AF65-F5344CB8AC3E}">
        <p14:creationId xmlns:p14="http://schemas.microsoft.com/office/powerpoint/2010/main" val="1563658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41DBF-EF00-B2FA-460A-AA78B0A13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9F682-095A-E236-8E07-874A190836D8}"/>
              </a:ext>
            </a:extLst>
          </p:cNvPr>
          <p:cNvSpPr>
            <a:spLocks noGrp="1"/>
          </p:cNvSpPr>
          <p:nvPr>
            <p:ph type="title"/>
          </p:nvPr>
        </p:nvSpPr>
        <p:spPr/>
        <p:txBody>
          <a:bodyPr/>
          <a:lstStyle/>
          <a:p>
            <a:r>
              <a:rPr lang="en-US" dirty="0"/>
              <a:t>OLIGOSPERMIA</a:t>
            </a:r>
            <a:endParaRPr lang="en-IN" dirty="0"/>
          </a:p>
        </p:txBody>
      </p:sp>
      <p:sp>
        <p:nvSpPr>
          <p:cNvPr id="3" name="Content Placeholder 2">
            <a:extLst>
              <a:ext uri="{FF2B5EF4-FFF2-40B4-BE49-F238E27FC236}">
                <a16:creationId xmlns:a16="http://schemas.microsoft.com/office/drawing/2014/main" id="{77F144C0-1E29-250D-9879-4AF592B8F1F7}"/>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Oligospermia, also known as low sperm count, is a male reproductive health condition characterized by a lower-than-normal concentration of sperm in the semen. According to the World Health Organization (WHO), oligospermia is defined as a sperm count of less than 15 million sperm per </a:t>
            </a:r>
            <a:r>
              <a:rPr lang="en-GB" dirty="0" err="1">
                <a:solidFill>
                  <a:srgbClr val="002060"/>
                </a:solidFill>
                <a:latin typeface="Times New Roman" panose="02020603050405020304" pitchFamily="18" charset="0"/>
                <a:cs typeface="Times New Roman" panose="02020603050405020304" pitchFamily="18" charset="0"/>
              </a:rPr>
              <a:t>milliliter</a:t>
            </a:r>
            <a:r>
              <a:rPr lang="en-GB" dirty="0">
                <a:solidFill>
                  <a:srgbClr val="002060"/>
                </a:solidFill>
                <a:latin typeface="Times New Roman" panose="02020603050405020304" pitchFamily="18" charset="0"/>
                <a:cs typeface="Times New Roman" panose="02020603050405020304" pitchFamily="18" charset="0"/>
              </a:rPr>
              <a:t> (mL) of semen. While natural conception is still possible with oligospermia, the chances may be lower than normal, and the condition is a common cause of male infertility.</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045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EE93-0E73-8ED6-DC0F-01E49A5E9D2C}"/>
              </a:ext>
            </a:extLst>
          </p:cNvPr>
          <p:cNvSpPr>
            <a:spLocks noGrp="1"/>
          </p:cNvSpPr>
          <p:nvPr>
            <p:ph type="title"/>
          </p:nvPr>
        </p:nvSpPr>
        <p:spPr/>
        <p:txBody>
          <a:bodyPr/>
          <a:lstStyle/>
          <a:p>
            <a:r>
              <a:rPr lang="en-US" dirty="0"/>
              <a:t>URETHRAL STICTURE</a:t>
            </a:r>
            <a:endParaRPr lang="en-IN" dirty="0"/>
          </a:p>
        </p:txBody>
      </p:sp>
      <p:sp>
        <p:nvSpPr>
          <p:cNvPr id="3" name="Content Placeholder 2">
            <a:extLst>
              <a:ext uri="{FF2B5EF4-FFF2-40B4-BE49-F238E27FC236}">
                <a16:creationId xmlns:a16="http://schemas.microsoft.com/office/drawing/2014/main" id="{5DAF853F-EA1B-83DA-88DB-B1A52F3D0155}"/>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urethral stricture is an abnormal narrowing of the urethra, the tube that carries urine from the bladder out of the body. This narrowing is caused by scar tissue that forms inside the urethra. As a result, the flow of urine is restricted, which can lead to various urinary problems.</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13060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0842A-1F74-4AF7-2C15-360CF9D062B4}"/>
              </a:ext>
            </a:extLst>
          </p:cNvPr>
          <p:cNvSpPr>
            <a:spLocks noGrp="1"/>
          </p:cNvSpPr>
          <p:nvPr>
            <p:ph type="title"/>
          </p:nvPr>
        </p:nvSpPr>
        <p:spPr/>
        <p:txBody>
          <a:bodyPr/>
          <a:lstStyle/>
          <a:p>
            <a:r>
              <a:rPr lang="en-US" dirty="0"/>
              <a:t>URINARY RETENTION</a:t>
            </a:r>
            <a:endParaRPr lang="en-IN" dirty="0"/>
          </a:p>
        </p:txBody>
      </p:sp>
      <p:sp>
        <p:nvSpPr>
          <p:cNvPr id="3" name="Content Placeholder 2">
            <a:extLst>
              <a:ext uri="{FF2B5EF4-FFF2-40B4-BE49-F238E27FC236}">
                <a16:creationId xmlns:a16="http://schemas.microsoft.com/office/drawing/2014/main" id="{7DAB388C-6D06-024C-E0DE-CD3795BF77FD}"/>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Urinary retention is a condition characterized by the inability to completely or partially empty the bladder. It can be categorized into two main types:</a:t>
            </a:r>
          </a:p>
          <a:p>
            <a:r>
              <a:rPr lang="en-GB" b="1" dirty="0">
                <a:solidFill>
                  <a:srgbClr val="002060"/>
                </a:solidFill>
                <a:latin typeface="Times New Roman" panose="02020603050405020304" pitchFamily="18" charset="0"/>
                <a:cs typeface="Times New Roman" panose="02020603050405020304" pitchFamily="18" charset="0"/>
              </a:rPr>
              <a:t>Acute urinary retention:</a:t>
            </a:r>
            <a:r>
              <a:rPr lang="en-GB" dirty="0">
                <a:solidFill>
                  <a:srgbClr val="002060"/>
                </a:solidFill>
                <a:latin typeface="Times New Roman" panose="02020603050405020304" pitchFamily="18" charset="0"/>
                <a:cs typeface="Times New Roman" panose="02020603050405020304" pitchFamily="18" charset="0"/>
              </a:rPr>
              <a:t> A sudden and often painful inability to urinate at all, despite having a full bladder. This is a medical emergency requiring immediate attention.</a:t>
            </a:r>
          </a:p>
          <a:p>
            <a:r>
              <a:rPr lang="en-GB" b="1" dirty="0">
                <a:solidFill>
                  <a:srgbClr val="002060"/>
                </a:solidFill>
                <a:latin typeface="Times New Roman" panose="02020603050405020304" pitchFamily="18" charset="0"/>
                <a:cs typeface="Times New Roman" panose="02020603050405020304" pitchFamily="18" charset="0"/>
              </a:rPr>
              <a:t>Chronic urinary retention:</a:t>
            </a:r>
            <a:r>
              <a:rPr lang="en-GB" dirty="0">
                <a:solidFill>
                  <a:srgbClr val="002060"/>
                </a:solidFill>
                <a:latin typeface="Times New Roman" panose="02020603050405020304" pitchFamily="18" charset="0"/>
                <a:cs typeface="Times New Roman" panose="02020603050405020304" pitchFamily="18" charset="0"/>
              </a:rPr>
              <a:t> A gradual inability to completely empty the bladder. Patients may still be able to urinate, but feel like they are not finished, or they may experience frequent urination in small amounts. </a:t>
            </a:r>
          </a:p>
          <a:p>
            <a:endParaRPr lang="en-IN" dirty="0"/>
          </a:p>
        </p:txBody>
      </p:sp>
    </p:spTree>
    <p:extLst>
      <p:ext uri="{BB962C8B-B14F-4D97-AF65-F5344CB8AC3E}">
        <p14:creationId xmlns:p14="http://schemas.microsoft.com/office/powerpoint/2010/main" val="1040963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64DED-73D6-4074-E6AF-E35B174138FB}"/>
              </a:ext>
            </a:extLst>
          </p:cNvPr>
          <p:cNvSpPr>
            <a:spLocks noGrp="1"/>
          </p:cNvSpPr>
          <p:nvPr>
            <p:ph type="title"/>
          </p:nvPr>
        </p:nvSpPr>
        <p:spPr/>
        <p:txBody>
          <a:bodyPr/>
          <a:lstStyle/>
          <a:p>
            <a:r>
              <a:rPr lang="en-US" dirty="0"/>
              <a:t>URINARY INCONTINENCE</a:t>
            </a:r>
            <a:endParaRPr lang="en-IN" dirty="0"/>
          </a:p>
        </p:txBody>
      </p:sp>
      <p:sp>
        <p:nvSpPr>
          <p:cNvPr id="3" name="Content Placeholder 2">
            <a:extLst>
              <a:ext uri="{FF2B5EF4-FFF2-40B4-BE49-F238E27FC236}">
                <a16:creationId xmlns:a16="http://schemas.microsoft.com/office/drawing/2014/main" id="{360D7A97-0BF2-5301-AB36-06FA76481EFA}"/>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Urinary incontinence is the accidental or involuntary leakage of urine. It is not an inevitable part of aging, but a treatable medical condition that can range from a minor annoyance to a major issue affecting a person's quality of life. While the request for an image cannot be fulfilled, medical illustrations and diagrams of the bladder and pelvic floor can be found by searching for images related to "urinary incontinence".</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75257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CB41-10DA-FE6F-49BA-5F2B65D1D0F2}"/>
              </a:ext>
            </a:extLst>
          </p:cNvPr>
          <p:cNvSpPr>
            <a:spLocks noGrp="1"/>
          </p:cNvSpPr>
          <p:nvPr>
            <p:ph type="title"/>
          </p:nvPr>
        </p:nvSpPr>
        <p:spPr/>
        <p:txBody>
          <a:bodyPr/>
          <a:lstStyle/>
          <a:p>
            <a:r>
              <a:rPr lang="en-US" dirty="0"/>
              <a:t>TURP</a:t>
            </a:r>
            <a:endParaRPr lang="en-IN" dirty="0"/>
          </a:p>
        </p:txBody>
      </p:sp>
      <p:sp>
        <p:nvSpPr>
          <p:cNvPr id="3" name="Content Placeholder 2">
            <a:extLst>
              <a:ext uri="{FF2B5EF4-FFF2-40B4-BE49-F238E27FC236}">
                <a16:creationId xmlns:a16="http://schemas.microsoft.com/office/drawing/2014/main" id="{A1E186A7-A05E-AB26-0590-142944F9FE37}"/>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Transurethral Resection of the Prostate (TURP) is a surgical procedure to treat urinary problems caused by an enlarged prostate gland, a condition known as Benign Prostatic Hyperplasia (BPH). Considered the gold standard treatment for BPH for many years, it offers significant relief from symptoms.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61453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F183D-A158-5EFA-A048-4C194E304F70}"/>
              </a:ext>
            </a:extLst>
          </p:cNvPr>
          <p:cNvSpPr>
            <a:spLocks noGrp="1"/>
          </p:cNvSpPr>
          <p:nvPr>
            <p:ph type="title"/>
          </p:nvPr>
        </p:nvSpPr>
        <p:spPr/>
        <p:txBody>
          <a:bodyPr/>
          <a:lstStyle/>
          <a:p>
            <a:r>
              <a:rPr lang="en-US" dirty="0"/>
              <a:t>URS</a:t>
            </a:r>
            <a:endParaRPr lang="en-IN" dirty="0"/>
          </a:p>
        </p:txBody>
      </p:sp>
      <p:sp>
        <p:nvSpPr>
          <p:cNvPr id="3" name="Content Placeholder 2">
            <a:extLst>
              <a:ext uri="{FF2B5EF4-FFF2-40B4-BE49-F238E27FC236}">
                <a16:creationId xmlns:a16="http://schemas.microsoft.com/office/drawing/2014/main" id="{D30981BF-D3B9-6D18-7BC1-1F29786C9AD7}"/>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Ureteroscopy (URS) is a minimally invasive medical procedure used to diagnose and treat problems in the urinary tract, particularly kidney and ureteral stones. During the procedure, a thin, flexible, lighted instrument called a ureteroscope is inserted through the urethra and bladder and into the ureter to visualize and treat the issue.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9708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05942-6FBD-10B4-5EA4-0A5BD732221F}"/>
              </a:ext>
            </a:extLst>
          </p:cNvPr>
          <p:cNvSpPr>
            <a:spLocks noGrp="1"/>
          </p:cNvSpPr>
          <p:nvPr>
            <p:ph type="title"/>
          </p:nvPr>
        </p:nvSpPr>
        <p:spPr/>
        <p:txBody>
          <a:bodyPr/>
          <a:lstStyle/>
          <a:p>
            <a:r>
              <a:rPr lang="en-US" dirty="0"/>
              <a:t>TRUS</a:t>
            </a:r>
            <a:endParaRPr lang="en-IN" dirty="0"/>
          </a:p>
        </p:txBody>
      </p:sp>
      <p:sp>
        <p:nvSpPr>
          <p:cNvPr id="3" name="Content Placeholder 2">
            <a:extLst>
              <a:ext uri="{FF2B5EF4-FFF2-40B4-BE49-F238E27FC236}">
                <a16:creationId xmlns:a16="http://schemas.microsoft.com/office/drawing/2014/main" id="{FCA3E9A3-769C-B71A-8749-03A36D930722}"/>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Transrectal Ultrasound (TRUS) is a medical procedure that uses high-frequency sound waves to create real-time images of the prostate gland and surrounding tissues. By inserting a small, lubricated probe into the rectum, a doctor can get a detailed view of the prostate gland, which is located in front of the rectum</a:t>
            </a:r>
            <a:endParaRPr lang="en-IN" dirty="0"/>
          </a:p>
        </p:txBody>
      </p:sp>
    </p:spTree>
    <p:extLst>
      <p:ext uri="{BB962C8B-B14F-4D97-AF65-F5344CB8AC3E}">
        <p14:creationId xmlns:p14="http://schemas.microsoft.com/office/powerpoint/2010/main" val="2544283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FA0DE-2263-7179-8DB4-7590CE5C8146}"/>
              </a:ext>
            </a:extLst>
          </p:cNvPr>
          <p:cNvSpPr>
            <a:spLocks noGrp="1"/>
          </p:cNvSpPr>
          <p:nvPr>
            <p:ph type="title"/>
          </p:nvPr>
        </p:nvSpPr>
        <p:spPr/>
        <p:txBody>
          <a:bodyPr/>
          <a:lstStyle/>
          <a:p>
            <a:r>
              <a:rPr lang="en-US" dirty="0"/>
              <a:t>MCU</a:t>
            </a:r>
            <a:endParaRPr lang="en-IN" dirty="0"/>
          </a:p>
        </p:txBody>
      </p:sp>
      <p:sp>
        <p:nvSpPr>
          <p:cNvPr id="3" name="Content Placeholder 2">
            <a:extLst>
              <a:ext uri="{FF2B5EF4-FFF2-40B4-BE49-F238E27FC236}">
                <a16:creationId xmlns:a16="http://schemas.microsoft.com/office/drawing/2014/main" id="{BC9B13A2-C1EB-5310-D0C8-0FA16AD754F1}"/>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Micturating Cystourethrogram (MCU) is a diagnostic medical procedure that uses X-rays to create a real-time, moving image of the bladder and urethra while a patient urinates. Also known as a Voiding Cystourethrogram (VCUG), the test helps to visualize the function and structure of the lower urinary tract. </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4072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F048E-8352-E3CF-33FD-3C70948EA7EA}"/>
              </a:ext>
            </a:extLst>
          </p:cNvPr>
          <p:cNvSpPr>
            <a:spLocks noGrp="1"/>
          </p:cNvSpPr>
          <p:nvPr>
            <p:ph type="title"/>
          </p:nvPr>
        </p:nvSpPr>
        <p:spPr/>
        <p:txBody>
          <a:bodyPr/>
          <a:lstStyle/>
          <a:p>
            <a:r>
              <a:rPr lang="en-US" dirty="0"/>
              <a:t>RGP</a:t>
            </a:r>
            <a:endParaRPr lang="en-IN" dirty="0"/>
          </a:p>
        </p:txBody>
      </p:sp>
      <p:sp>
        <p:nvSpPr>
          <p:cNvPr id="3" name="Content Placeholder 2">
            <a:extLst>
              <a:ext uri="{FF2B5EF4-FFF2-40B4-BE49-F238E27FC236}">
                <a16:creationId xmlns:a16="http://schemas.microsoft.com/office/drawing/2014/main" id="{C27E3897-E820-DE24-D67E-76FA818C5274}"/>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retrograde pyelography is a diagnostic imaging procedure used to examine the kidneys and ureters.</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47065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5894-39F8-997E-854A-107333C74582}"/>
              </a:ext>
            </a:extLst>
          </p:cNvPr>
          <p:cNvSpPr>
            <a:spLocks noGrp="1"/>
          </p:cNvSpPr>
          <p:nvPr>
            <p:ph type="title"/>
          </p:nvPr>
        </p:nvSpPr>
        <p:spPr/>
        <p:txBody>
          <a:bodyPr/>
          <a:lstStyle/>
          <a:p>
            <a:r>
              <a:rPr lang="en-US" dirty="0"/>
              <a:t>AUG</a:t>
            </a:r>
            <a:endParaRPr lang="en-IN" dirty="0"/>
          </a:p>
        </p:txBody>
      </p:sp>
      <p:sp>
        <p:nvSpPr>
          <p:cNvPr id="3" name="Content Placeholder 2">
            <a:extLst>
              <a:ext uri="{FF2B5EF4-FFF2-40B4-BE49-F238E27FC236}">
                <a16:creationId xmlns:a16="http://schemas.microsoft.com/office/drawing/2014/main" id="{08A90BBD-CBE6-A4B2-7256-F6106E058B5E}"/>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An AUG procedure, also known as an Ascending Urethrogram or Retrograde Urethrogram (RUG), is a diagnostic imaging procedure in urology. It uses X-rays and a contrast dye to visualize the urethra, the tube that carries urine out of the body.</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70743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697B-2B3C-8055-B13C-A6254C6B0408}"/>
              </a:ext>
            </a:extLst>
          </p:cNvPr>
          <p:cNvSpPr>
            <a:spLocks noGrp="1"/>
          </p:cNvSpPr>
          <p:nvPr>
            <p:ph type="title"/>
          </p:nvPr>
        </p:nvSpPr>
        <p:spPr/>
        <p:txBody>
          <a:bodyPr/>
          <a:lstStyle/>
          <a:p>
            <a:r>
              <a:rPr lang="en-US" dirty="0"/>
              <a:t>CT KUB</a:t>
            </a:r>
            <a:endParaRPr lang="en-IN" dirty="0"/>
          </a:p>
        </p:txBody>
      </p:sp>
      <p:sp>
        <p:nvSpPr>
          <p:cNvPr id="3" name="Content Placeholder 2">
            <a:extLst>
              <a:ext uri="{FF2B5EF4-FFF2-40B4-BE49-F238E27FC236}">
                <a16:creationId xmlns:a16="http://schemas.microsoft.com/office/drawing/2014/main" id="{243CF231-FEAE-AE1C-228C-D0E9C55449EB}"/>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CT-KUB is a diagnostic imaging procedure that uses a Computed Tomography (CT) scan to produce detailed cross-sectional images of the Kidneys, Ureters, and Bladder. It is a quick, non-invasive, and highly accurate method for examining the urinary system.</a:t>
            </a:r>
            <a:endParaRPr lang="en-IN"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46710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DF05E-E036-D5AF-DA5B-C613FC31DFD7}"/>
              </a:ext>
            </a:extLst>
          </p:cNvPr>
          <p:cNvSpPr>
            <a:spLocks noGrp="1"/>
          </p:cNvSpPr>
          <p:nvPr>
            <p:ph type="title"/>
          </p:nvPr>
        </p:nvSpPr>
        <p:spPr/>
        <p:txBody>
          <a:bodyPr/>
          <a:lstStyle/>
          <a:p>
            <a:r>
              <a:rPr lang="en-US" dirty="0"/>
              <a:t>CECT</a:t>
            </a:r>
            <a:endParaRPr lang="en-IN" dirty="0"/>
          </a:p>
        </p:txBody>
      </p:sp>
      <p:sp>
        <p:nvSpPr>
          <p:cNvPr id="3" name="Content Placeholder 2">
            <a:extLst>
              <a:ext uri="{FF2B5EF4-FFF2-40B4-BE49-F238E27FC236}">
                <a16:creationId xmlns:a16="http://schemas.microsoft.com/office/drawing/2014/main" id="{26B766F4-0484-3CE5-F6A8-675E7413B185}"/>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Contrast-Enhanced Computed Tomography (CECT) procedure is a diagnostic imaging test that uses a contrast material (or "dye") to improve the visibility of internal organs, blood vessels, and soft tissues during a CT scan. The contrast material is typically administered orally or injected intravenously (IV).</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0032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4FECA-3136-8AE4-F3D0-042BF4549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0CF46-DFE5-C450-F223-2E29774560F6}"/>
              </a:ext>
            </a:extLst>
          </p:cNvPr>
          <p:cNvSpPr>
            <a:spLocks noGrp="1"/>
          </p:cNvSpPr>
          <p:nvPr>
            <p:ph type="title"/>
          </p:nvPr>
        </p:nvSpPr>
        <p:spPr/>
        <p:txBody>
          <a:bodyPr/>
          <a:lstStyle/>
          <a:p>
            <a:r>
              <a:rPr lang="en-US" dirty="0"/>
              <a:t>DMSA</a:t>
            </a:r>
            <a:endParaRPr lang="en-IN" dirty="0"/>
          </a:p>
        </p:txBody>
      </p:sp>
      <p:sp>
        <p:nvSpPr>
          <p:cNvPr id="3" name="Content Placeholder 2">
            <a:extLst>
              <a:ext uri="{FF2B5EF4-FFF2-40B4-BE49-F238E27FC236}">
                <a16:creationId xmlns:a16="http://schemas.microsoft.com/office/drawing/2014/main" id="{A792A3BF-3E3D-82B8-8527-8984D07241A5}"/>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DMSA (</a:t>
            </a:r>
            <a:r>
              <a:rPr lang="en-GB" dirty="0" err="1">
                <a:solidFill>
                  <a:srgbClr val="002060"/>
                </a:solidFill>
                <a:latin typeface="Times New Roman" panose="02020603050405020304" pitchFamily="18" charset="0"/>
                <a:cs typeface="Times New Roman" panose="02020603050405020304" pitchFamily="18" charset="0"/>
              </a:rPr>
              <a:t>Dimercaptosuccinic</a:t>
            </a:r>
            <a:r>
              <a:rPr lang="en-GB" dirty="0">
                <a:solidFill>
                  <a:srgbClr val="002060"/>
                </a:solidFill>
                <a:latin typeface="Times New Roman" panose="02020603050405020304" pitchFamily="18" charset="0"/>
                <a:cs typeface="Times New Roman" panose="02020603050405020304" pitchFamily="18" charset="0"/>
              </a:rPr>
              <a:t> acid) scan is a type of nuclear medicine imaging procedure used to evaluate the structure and function of the kidneys. A small amount of a radioactive tracer, Technetium-99m DMSA, is injected into a vein, and a special camera called a gamma camera then captures images of the kidneys.</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53455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E7F6-345D-AF95-5305-B3434328C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D6F90-91BC-91E7-C5E8-402A8B6F3297}"/>
              </a:ext>
            </a:extLst>
          </p:cNvPr>
          <p:cNvSpPr>
            <a:spLocks noGrp="1"/>
          </p:cNvSpPr>
          <p:nvPr>
            <p:ph type="title"/>
          </p:nvPr>
        </p:nvSpPr>
        <p:spPr/>
        <p:txBody>
          <a:bodyPr/>
          <a:lstStyle/>
          <a:p>
            <a:r>
              <a:rPr lang="en-US" dirty="0"/>
              <a:t>DTPA</a:t>
            </a:r>
            <a:endParaRPr lang="en-IN" dirty="0"/>
          </a:p>
        </p:txBody>
      </p:sp>
      <p:sp>
        <p:nvSpPr>
          <p:cNvPr id="3" name="Content Placeholder 2">
            <a:extLst>
              <a:ext uri="{FF2B5EF4-FFF2-40B4-BE49-F238E27FC236}">
                <a16:creationId xmlns:a16="http://schemas.microsoft.com/office/drawing/2014/main" id="{F2CDAF63-71DB-C6B4-D045-ACED86C5ECFA}"/>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DTPA procedure, also known as a renal scan or renogram, is a nuclear medicine imaging test that evaluates the function and drainage of the kidneys. The full name of the tracer used is diethylene triamine </a:t>
            </a:r>
            <a:r>
              <a:rPr lang="en-GB" dirty="0" err="1">
                <a:solidFill>
                  <a:srgbClr val="002060"/>
                </a:solidFill>
                <a:latin typeface="Times New Roman" panose="02020603050405020304" pitchFamily="18" charset="0"/>
                <a:cs typeface="Times New Roman" panose="02020603050405020304" pitchFamily="18" charset="0"/>
              </a:rPr>
              <a:t>pentaacetic</a:t>
            </a:r>
            <a:r>
              <a:rPr lang="en-GB" dirty="0">
                <a:solidFill>
                  <a:srgbClr val="002060"/>
                </a:solidFill>
                <a:latin typeface="Times New Roman" panose="02020603050405020304" pitchFamily="18" charset="0"/>
                <a:cs typeface="Times New Roman" panose="02020603050405020304" pitchFamily="18" charset="0"/>
              </a:rPr>
              <a:t> acid (DTPA), which is tagged with a small amount of radioactive material.</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50294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7E9B3-5439-DD41-0075-083386CFA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D034-55BA-01F8-BCF0-644FB0E43D0B}"/>
              </a:ext>
            </a:extLst>
          </p:cNvPr>
          <p:cNvSpPr>
            <a:spLocks noGrp="1"/>
          </p:cNvSpPr>
          <p:nvPr>
            <p:ph type="title"/>
          </p:nvPr>
        </p:nvSpPr>
        <p:spPr/>
        <p:txBody>
          <a:bodyPr/>
          <a:lstStyle/>
          <a:p>
            <a:r>
              <a:rPr lang="en-US" dirty="0"/>
              <a:t>CIC</a:t>
            </a:r>
            <a:endParaRPr lang="en-IN" dirty="0"/>
          </a:p>
        </p:txBody>
      </p:sp>
      <p:sp>
        <p:nvSpPr>
          <p:cNvPr id="3" name="Content Placeholder 2">
            <a:extLst>
              <a:ext uri="{FF2B5EF4-FFF2-40B4-BE49-F238E27FC236}">
                <a16:creationId xmlns:a16="http://schemas.microsoft.com/office/drawing/2014/main" id="{974CC246-4294-9A98-2074-0EB11C31D48E}"/>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The term CIC procedure most commonly refers to Clean Intermittent Catheterization, a medical technique used to drain urine from the bladder at regular intervals. </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310090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FF355-BAD1-0752-57DB-9425235FB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34377-28D0-19FD-AA0F-6709EA64A7FF}"/>
              </a:ext>
            </a:extLst>
          </p:cNvPr>
          <p:cNvSpPr>
            <a:spLocks noGrp="1"/>
          </p:cNvSpPr>
          <p:nvPr>
            <p:ph type="title"/>
          </p:nvPr>
        </p:nvSpPr>
        <p:spPr/>
        <p:txBody>
          <a:bodyPr/>
          <a:lstStyle/>
          <a:p>
            <a:r>
              <a:rPr lang="en-US" dirty="0"/>
              <a:t>PCNL</a:t>
            </a:r>
            <a:endParaRPr lang="en-IN" dirty="0"/>
          </a:p>
        </p:txBody>
      </p:sp>
      <p:sp>
        <p:nvSpPr>
          <p:cNvPr id="3" name="Content Placeholder 2">
            <a:extLst>
              <a:ext uri="{FF2B5EF4-FFF2-40B4-BE49-F238E27FC236}">
                <a16:creationId xmlns:a16="http://schemas.microsoft.com/office/drawing/2014/main" id="{B4BAAD85-57F9-8C65-2188-AEEEC1B6374A}"/>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Percutaneous nephrolithotomy (PCNL) is a minimally invasive surgical procedure for removing large or complex kidney stones. A urologist makes a small incision (around 1 cm) in the patient's back to create a tract directly into the kidney. A </a:t>
            </a:r>
            <a:r>
              <a:rPr lang="en-GB" dirty="0" err="1">
                <a:solidFill>
                  <a:srgbClr val="002060"/>
                </a:solidFill>
                <a:latin typeface="Times New Roman" panose="02020603050405020304" pitchFamily="18" charset="0"/>
                <a:cs typeface="Times New Roman" panose="02020603050405020304" pitchFamily="18" charset="0"/>
              </a:rPr>
              <a:t>nephroscope</a:t>
            </a:r>
            <a:r>
              <a:rPr lang="en-GB" dirty="0">
                <a:solidFill>
                  <a:srgbClr val="002060"/>
                </a:solidFill>
                <a:latin typeface="Times New Roman" panose="02020603050405020304" pitchFamily="18" charset="0"/>
                <a:cs typeface="Times New Roman" panose="02020603050405020304" pitchFamily="18" charset="0"/>
              </a:rPr>
              <a:t>, a small telescope, is then inserted through this tract to locate, break apart, and remove the kidney stones.</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90045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71D9-5F51-A41C-4417-4F4734DF8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0E60B-BB95-E503-5360-E483E987425D}"/>
              </a:ext>
            </a:extLst>
          </p:cNvPr>
          <p:cNvSpPr>
            <a:spLocks noGrp="1"/>
          </p:cNvSpPr>
          <p:nvPr>
            <p:ph type="title"/>
          </p:nvPr>
        </p:nvSpPr>
        <p:spPr/>
        <p:txBody>
          <a:bodyPr/>
          <a:lstStyle/>
          <a:p>
            <a:r>
              <a:rPr lang="en-US" dirty="0"/>
              <a:t>TURBT</a:t>
            </a:r>
            <a:endParaRPr lang="en-IN" dirty="0"/>
          </a:p>
        </p:txBody>
      </p:sp>
      <p:sp>
        <p:nvSpPr>
          <p:cNvPr id="3" name="Content Placeholder 2">
            <a:extLst>
              <a:ext uri="{FF2B5EF4-FFF2-40B4-BE49-F238E27FC236}">
                <a16:creationId xmlns:a16="http://schemas.microsoft.com/office/drawing/2014/main" id="{F09F3FDC-146A-4F3A-7619-2085A0192FED}"/>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Transurethral Resection of Bladder </a:t>
            </a:r>
            <a:r>
              <a:rPr lang="en-GB" dirty="0" err="1">
                <a:solidFill>
                  <a:srgbClr val="002060"/>
                </a:solidFill>
                <a:latin typeface="Times New Roman" panose="02020603050405020304" pitchFamily="18" charset="0"/>
                <a:cs typeface="Times New Roman" panose="02020603050405020304" pitchFamily="18" charset="0"/>
              </a:rPr>
              <a:t>Tumor</a:t>
            </a:r>
            <a:r>
              <a:rPr lang="en-GB" dirty="0">
                <a:solidFill>
                  <a:srgbClr val="002060"/>
                </a:solidFill>
                <a:latin typeface="Times New Roman" panose="02020603050405020304" pitchFamily="18" charset="0"/>
                <a:cs typeface="Times New Roman" panose="02020603050405020304" pitchFamily="18" charset="0"/>
              </a:rPr>
              <a:t> (TURBT) is a surgical procedure used to diagnose and treat early-stage bladder cancer. It is the standard initial treatment for non-muscle-invasive bladder cancer, which has not yet spread into the bladder's muscle wall.</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3864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9BD2-91FE-C497-9039-42DD243AFA82}"/>
              </a:ext>
            </a:extLst>
          </p:cNvPr>
          <p:cNvSpPr>
            <a:spLocks noGrp="1"/>
          </p:cNvSpPr>
          <p:nvPr>
            <p:ph type="title"/>
          </p:nvPr>
        </p:nvSpPr>
        <p:spPr/>
        <p:txBody>
          <a:bodyPr/>
          <a:lstStyle/>
          <a:p>
            <a:r>
              <a:rPr lang="en-US" dirty="0"/>
              <a:t>NEPHRECTOMY</a:t>
            </a:r>
            <a:endParaRPr lang="en-IN" dirty="0"/>
          </a:p>
        </p:txBody>
      </p:sp>
      <p:sp>
        <p:nvSpPr>
          <p:cNvPr id="3" name="Content Placeholder 2">
            <a:extLst>
              <a:ext uri="{FF2B5EF4-FFF2-40B4-BE49-F238E27FC236}">
                <a16:creationId xmlns:a16="http://schemas.microsoft.com/office/drawing/2014/main" id="{3D8B563C-4393-7D22-C281-A929CA7CBC03}"/>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nephrectomy is a surgical procedure to remove all or part of a kidney. It is performed to treat a variety of kidney diseases, including cancer, or to remove a healthy kidney from a donor for transplant. The procedure can be done as a traditional open surgery with a single, large incision, or with minimally invasive techniques like laparoscopic or robotic-assisted surgery. </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593271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F6986-EE1E-C8B4-C4B8-1298A45B0F62}"/>
              </a:ext>
            </a:extLst>
          </p:cNvPr>
          <p:cNvSpPr>
            <a:spLocks noGrp="1"/>
          </p:cNvSpPr>
          <p:nvPr>
            <p:ph type="title"/>
          </p:nvPr>
        </p:nvSpPr>
        <p:spPr/>
        <p:txBody>
          <a:bodyPr/>
          <a:lstStyle/>
          <a:p>
            <a:r>
              <a:rPr lang="en-US" dirty="0"/>
              <a:t>TRANSPLANT</a:t>
            </a:r>
            <a:endParaRPr lang="en-IN" dirty="0"/>
          </a:p>
        </p:txBody>
      </p:sp>
      <p:sp>
        <p:nvSpPr>
          <p:cNvPr id="3" name="Content Placeholder 2">
            <a:extLst>
              <a:ext uri="{FF2B5EF4-FFF2-40B4-BE49-F238E27FC236}">
                <a16:creationId xmlns:a16="http://schemas.microsoft.com/office/drawing/2014/main" id="{D2E10FC2-B66B-024A-C4C2-144359551983}"/>
              </a:ext>
            </a:extLst>
          </p:cNvPr>
          <p:cNvSpPr>
            <a:spLocks noGrp="1"/>
          </p:cNvSpPr>
          <p:nvPr>
            <p:ph idx="1"/>
          </p:nvPr>
        </p:nvSpPr>
        <p:spPr/>
        <p:txBody>
          <a:bodyPr/>
          <a:lstStyle/>
          <a:p>
            <a:r>
              <a:rPr lang="en-GB" dirty="0">
                <a:solidFill>
                  <a:srgbClr val="002060"/>
                </a:solidFill>
                <a:latin typeface="Times New Roman" panose="02020603050405020304" pitchFamily="18" charset="0"/>
                <a:cs typeface="Times New Roman" panose="02020603050405020304" pitchFamily="18" charset="0"/>
              </a:rPr>
              <a:t>A transplant procedure is a surgical operation in which a failing organ, tissue, or group of cells is replaced with a healthy one from a donor. Transplants are performed to save a life, extend a life, or improve a person's quality of life.</a:t>
            </a:r>
            <a:endParaRPr lang="en-US"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197434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18</TotalTime>
  <Words>2560</Words>
  <Application>Microsoft Office PowerPoint</Application>
  <PresentationFormat>Widescreen</PresentationFormat>
  <Paragraphs>81</Paragraphs>
  <Slides>40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Garamond</vt:lpstr>
      <vt:lpstr>Times New Roman</vt:lpstr>
      <vt:lpstr>Savon</vt:lpstr>
      <vt:lpstr>Medical terminologies -4</vt:lpstr>
      <vt:lpstr>BPH </vt:lpstr>
      <vt:lpstr>UTI</vt:lpstr>
      <vt:lpstr>CKD</vt:lpstr>
      <vt:lpstr>AKI</vt:lpstr>
      <vt:lpstr>ADPKD</vt:lpstr>
      <vt:lpstr>RCC</vt:lpstr>
      <vt:lpstr>TCC</vt:lpstr>
      <vt:lpstr>PUJO</vt:lpstr>
      <vt:lpstr>HYDRONEPHROSIS</vt:lpstr>
      <vt:lpstr>VUR</vt:lpstr>
      <vt:lpstr>HYPOSPADIASIS</vt:lpstr>
      <vt:lpstr>EPISPADIASIS</vt:lpstr>
      <vt:lpstr>PHIMOSIS</vt:lpstr>
      <vt:lpstr>PARAPHIMOSIS</vt:lpstr>
      <vt:lpstr>BOO</vt:lpstr>
      <vt:lpstr>UD</vt:lpstr>
      <vt:lpstr>HYDROCELE</vt:lpstr>
      <vt:lpstr>VARIOCELE</vt:lpstr>
      <vt:lpstr>TORSION OF TESTIS</vt:lpstr>
      <vt:lpstr>AZOOSPERMIA</vt:lpstr>
      <vt:lpstr>OLIGOSPERMIA</vt:lpstr>
      <vt:lpstr>URETHRAL STICTURE</vt:lpstr>
      <vt:lpstr>URINARY RETENTION</vt:lpstr>
      <vt:lpstr>URINARY INCONTINENCE</vt:lpstr>
      <vt:lpstr>TURP</vt:lpstr>
      <vt:lpstr>URS</vt:lpstr>
      <vt:lpstr>TRUS</vt:lpstr>
      <vt:lpstr>MCU</vt:lpstr>
      <vt:lpstr>RGP</vt:lpstr>
      <vt:lpstr>AUG</vt:lpstr>
      <vt:lpstr>CT KUB</vt:lpstr>
      <vt:lpstr>CECT</vt:lpstr>
      <vt:lpstr>DMSA</vt:lpstr>
      <vt:lpstr>DTPA</vt:lpstr>
      <vt:lpstr>CIC</vt:lpstr>
      <vt:lpstr>PCNL</vt:lpstr>
      <vt:lpstr>TURBT</vt:lpstr>
      <vt:lpstr>NEPHRECTOMY</vt:lpstr>
      <vt:lpstr>TRANSPLANT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2025-11-20T15:03:58Z</dcterms:created>
  <dcterms:modified xsi:type="dcterms:W3CDTF">2025-11-20T16:06:45Z</dcterms:modified>
</cp:coreProperties>
</file>