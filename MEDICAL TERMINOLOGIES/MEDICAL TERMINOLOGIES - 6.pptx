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5" r:id="rId20"/>
    <p:sldId id="274"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63958E3C-73B6-4FB5-90E7-965A7F57F42D}" type="datetimeFigureOut">
              <a:rPr lang="en-IN" smtClean="0"/>
              <a:t>20-11-2025</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21B94140-A207-4C8D-8366-F5A83EAC3DCE}" type="slidenum">
              <a:rPr lang="en-IN" smtClean="0"/>
              <a:t>‹#›</a:t>
            </a:fld>
            <a:endParaRPr lang="en-IN"/>
          </a:p>
        </p:txBody>
      </p:sp>
    </p:spTree>
    <p:extLst>
      <p:ext uri="{BB962C8B-B14F-4D97-AF65-F5344CB8AC3E}">
        <p14:creationId xmlns:p14="http://schemas.microsoft.com/office/powerpoint/2010/main" val="306878780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958E3C-73B6-4FB5-90E7-965A7F57F42D}"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1B94140-A207-4C8D-8366-F5A83EAC3DCE}" type="slidenum">
              <a:rPr lang="en-IN" smtClean="0"/>
              <a:t>‹#›</a:t>
            </a:fld>
            <a:endParaRPr lang="en-IN"/>
          </a:p>
        </p:txBody>
      </p:sp>
    </p:spTree>
    <p:extLst>
      <p:ext uri="{BB962C8B-B14F-4D97-AF65-F5344CB8AC3E}">
        <p14:creationId xmlns:p14="http://schemas.microsoft.com/office/powerpoint/2010/main" val="3326447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63958E3C-73B6-4FB5-90E7-965A7F57F42D}" type="datetimeFigureOut">
              <a:rPr lang="en-IN" smtClean="0"/>
              <a:t>20-11-2025</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21B94140-A207-4C8D-8366-F5A83EAC3DCE}" type="slidenum">
              <a:rPr lang="en-IN" smtClean="0"/>
              <a:t>‹#›</a:t>
            </a:fld>
            <a:endParaRPr lang="en-IN"/>
          </a:p>
        </p:txBody>
      </p:sp>
    </p:spTree>
    <p:extLst>
      <p:ext uri="{BB962C8B-B14F-4D97-AF65-F5344CB8AC3E}">
        <p14:creationId xmlns:p14="http://schemas.microsoft.com/office/powerpoint/2010/main" val="253597620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958E3C-73B6-4FB5-90E7-965A7F57F42D}"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B94140-A207-4C8D-8366-F5A83EAC3DCE}" type="slidenum">
              <a:rPr lang="en-IN" smtClean="0"/>
              <a:t>‹#›</a:t>
            </a:fld>
            <a:endParaRPr lang="en-IN"/>
          </a:p>
        </p:txBody>
      </p:sp>
    </p:spTree>
    <p:extLst>
      <p:ext uri="{BB962C8B-B14F-4D97-AF65-F5344CB8AC3E}">
        <p14:creationId xmlns:p14="http://schemas.microsoft.com/office/powerpoint/2010/main" val="924909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958E3C-73B6-4FB5-90E7-965A7F57F42D}"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1B94140-A207-4C8D-8366-F5A83EAC3DCE}" type="slidenum">
              <a:rPr lang="en-IN" smtClean="0"/>
              <a:t>‹#›</a:t>
            </a:fld>
            <a:endParaRPr lang="en-IN"/>
          </a:p>
        </p:txBody>
      </p:sp>
    </p:spTree>
    <p:extLst>
      <p:ext uri="{BB962C8B-B14F-4D97-AF65-F5344CB8AC3E}">
        <p14:creationId xmlns:p14="http://schemas.microsoft.com/office/powerpoint/2010/main" val="1799902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958E3C-73B6-4FB5-90E7-965A7F57F42D}"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1B94140-A207-4C8D-8366-F5A83EAC3DCE}" type="slidenum">
              <a:rPr lang="en-IN" smtClean="0"/>
              <a:t>‹#›</a:t>
            </a:fld>
            <a:endParaRPr lang="en-IN"/>
          </a:p>
        </p:txBody>
      </p:sp>
    </p:spTree>
    <p:extLst>
      <p:ext uri="{BB962C8B-B14F-4D97-AF65-F5344CB8AC3E}">
        <p14:creationId xmlns:p14="http://schemas.microsoft.com/office/powerpoint/2010/main" val="2507076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958E3C-73B6-4FB5-90E7-965A7F57F42D}"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1B94140-A207-4C8D-8366-F5A83EAC3DCE}" type="slidenum">
              <a:rPr lang="en-IN" smtClean="0"/>
              <a:t>‹#›</a:t>
            </a:fld>
            <a:endParaRPr lang="en-IN"/>
          </a:p>
        </p:txBody>
      </p:sp>
    </p:spTree>
    <p:extLst>
      <p:ext uri="{BB962C8B-B14F-4D97-AF65-F5344CB8AC3E}">
        <p14:creationId xmlns:p14="http://schemas.microsoft.com/office/powerpoint/2010/main" val="1788827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63958E3C-73B6-4FB5-90E7-965A7F57F42D}" type="datetimeFigureOut">
              <a:rPr lang="en-IN" smtClean="0"/>
              <a:t>20-11-2025</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21B94140-A207-4C8D-8366-F5A83EAC3DCE}"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60333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63958E3C-73B6-4FB5-90E7-965A7F57F42D}" type="datetimeFigureOut">
              <a:rPr lang="en-IN" smtClean="0"/>
              <a:t>20-11-2025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21B94140-A207-4C8D-8366-F5A83EAC3DCE}"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55786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958E3C-73B6-4FB5-90E7-965A7F57F42D}"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B94140-A207-4C8D-8366-F5A83EAC3DCE}" type="slidenum">
              <a:rPr lang="en-IN" smtClean="0"/>
              <a:t>‹#›</a:t>
            </a:fld>
            <a:endParaRPr lang="en-IN"/>
          </a:p>
        </p:txBody>
      </p:sp>
    </p:spTree>
    <p:extLst>
      <p:ext uri="{BB962C8B-B14F-4D97-AF65-F5344CB8AC3E}">
        <p14:creationId xmlns:p14="http://schemas.microsoft.com/office/powerpoint/2010/main" val="893632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958E3C-73B6-4FB5-90E7-965A7F57F42D}"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B94140-A207-4C8D-8366-F5A83EAC3DCE}" type="slidenum">
              <a:rPr lang="en-IN" smtClean="0"/>
              <a:t>‹#›</a:t>
            </a:fld>
            <a:endParaRPr lang="en-IN"/>
          </a:p>
        </p:txBody>
      </p:sp>
    </p:spTree>
    <p:extLst>
      <p:ext uri="{BB962C8B-B14F-4D97-AF65-F5344CB8AC3E}">
        <p14:creationId xmlns:p14="http://schemas.microsoft.com/office/powerpoint/2010/main" val="3750641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63958E3C-73B6-4FB5-90E7-965A7F57F42D}" type="datetimeFigureOut">
              <a:rPr lang="en-IN" smtClean="0"/>
              <a:t>20-11-2025</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21B94140-A207-4C8D-8366-F5A83EAC3DCE}" type="slidenum">
              <a:rPr lang="en-IN" smtClean="0"/>
              <a:t>‹#›</a:t>
            </a:fld>
            <a:endParaRPr lang="en-IN"/>
          </a:p>
        </p:txBody>
      </p:sp>
    </p:spTree>
    <p:extLst>
      <p:ext uri="{BB962C8B-B14F-4D97-AF65-F5344CB8AC3E}">
        <p14:creationId xmlns:p14="http://schemas.microsoft.com/office/powerpoint/2010/main" val="17252482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1B677-83F6-B320-0880-9E0AD9C53BDC}"/>
              </a:ext>
            </a:extLst>
          </p:cNvPr>
          <p:cNvSpPr>
            <a:spLocks noGrp="1"/>
          </p:cNvSpPr>
          <p:nvPr>
            <p:ph type="ctrTitle"/>
          </p:nvPr>
        </p:nvSpPr>
        <p:spPr/>
        <p:txBody>
          <a:bodyPr/>
          <a:lstStyle/>
          <a:p>
            <a:r>
              <a:rPr lang="en-US" dirty="0"/>
              <a:t>MEDICAL TERMINOLOGIES - 6</a:t>
            </a:r>
            <a:endParaRPr lang="en-IN" dirty="0"/>
          </a:p>
        </p:txBody>
      </p:sp>
      <p:sp>
        <p:nvSpPr>
          <p:cNvPr id="3" name="Subtitle 2">
            <a:extLst>
              <a:ext uri="{FF2B5EF4-FFF2-40B4-BE49-F238E27FC236}">
                <a16:creationId xmlns:a16="http://schemas.microsoft.com/office/drawing/2014/main" id="{4D5DEA11-7471-A067-AC19-F8732CEFEB6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47509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6B5B0-AAC2-6F76-BFD5-72CAFEF77F60}"/>
              </a:ext>
            </a:extLst>
          </p:cNvPr>
          <p:cNvSpPr>
            <a:spLocks noGrp="1"/>
          </p:cNvSpPr>
          <p:nvPr>
            <p:ph type="title"/>
          </p:nvPr>
        </p:nvSpPr>
        <p:spPr/>
        <p:txBody>
          <a:bodyPr/>
          <a:lstStyle/>
          <a:p>
            <a:r>
              <a:rPr lang="en-US" dirty="0"/>
              <a:t>MALE REPR. SYSTEM</a:t>
            </a:r>
            <a:endParaRPr lang="en-IN" dirty="0"/>
          </a:p>
        </p:txBody>
      </p:sp>
      <p:pic>
        <p:nvPicPr>
          <p:cNvPr id="4" name="table">
            <a:extLst>
              <a:ext uri="{FF2B5EF4-FFF2-40B4-BE49-F238E27FC236}">
                <a16:creationId xmlns:a16="http://schemas.microsoft.com/office/drawing/2014/main" id="{673364C9-FD8D-FD55-2DF8-02BC84EA3DAE}"/>
              </a:ext>
            </a:extLst>
          </p:cNvPr>
          <p:cNvPicPr>
            <a:picLocks noGrp="1" noChangeAspect="1"/>
          </p:cNvPicPr>
          <p:nvPr>
            <p:ph idx="1"/>
          </p:nvPr>
        </p:nvPicPr>
        <p:blipFill>
          <a:blip r:embed="rId2"/>
          <a:stretch>
            <a:fillRect/>
          </a:stretch>
        </p:blipFill>
        <p:spPr>
          <a:xfrm>
            <a:off x="1837575" y="2194874"/>
            <a:ext cx="8516850" cy="3749365"/>
          </a:xfrm>
          <a:prstGeom prst="rect">
            <a:avLst/>
          </a:prstGeom>
        </p:spPr>
      </p:pic>
    </p:spTree>
    <p:extLst>
      <p:ext uri="{BB962C8B-B14F-4D97-AF65-F5344CB8AC3E}">
        <p14:creationId xmlns:p14="http://schemas.microsoft.com/office/powerpoint/2010/main" val="980850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5F2B9-8132-18BC-BD11-D6C3E2D04A3E}"/>
              </a:ext>
            </a:extLst>
          </p:cNvPr>
          <p:cNvSpPr>
            <a:spLocks noGrp="1"/>
          </p:cNvSpPr>
          <p:nvPr>
            <p:ph type="title"/>
          </p:nvPr>
        </p:nvSpPr>
        <p:spPr/>
        <p:txBody>
          <a:bodyPr>
            <a:normAutofit fontScale="90000"/>
          </a:bodyPr>
          <a:lstStyle/>
          <a:p>
            <a:r>
              <a:rPr lang="en-IN" b="1" dirty="0"/>
              <a:t>Terms Related To The Reproductive Systems of Both Sexes</a:t>
            </a:r>
            <a:endParaRPr lang="en-IN" dirty="0"/>
          </a:p>
        </p:txBody>
      </p:sp>
      <p:sp>
        <p:nvSpPr>
          <p:cNvPr id="6" name="Content Placeholder 5">
            <a:extLst>
              <a:ext uri="{FF2B5EF4-FFF2-40B4-BE49-F238E27FC236}">
                <a16:creationId xmlns:a16="http://schemas.microsoft.com/office/drawing/2014/main" id="{540085D5-9577-8023-5A42-9DE322E68F19}"/>
              </a:ext>
            </a:extLst>
          </p:cNvPr>
          <p:cNvSpPr>
            <a:spLocks noGrp="1"/>
          </p:cNvSpPr>
          <p:nvPr>
            <p:ph idx="1"/>
          </p:nvPr>
        </p:nvSpPr>
        <p:spPr/>
        <p:txBody>
          <a:bodyPr/>
          <a:lstStyle/>
          <a:p>
            <a:pPr marL="360000" indent="-360000" algn="just">
              <a:buFont typeface="Wingdings" pitchFamily="2" charset="2"/>
              <a:buChar char="§"/>
            </a:pPr>
            <a:r>
              <a:rPr lang="en-IN" dirty="0"/>
              <a:t>The </a:t>
            </a:r>
            <a:r>
              <a:rPr lang="en-IN" b="1" dirty="0">
                <a:solidFill>
                  <a:srgbClr val="FF0000"/>
                </a:solidFill>
              </a:rPr>
              <a:t>Genitalia</a:t>
            </a:r>
            <a:r>
              <a:rPr lang="en-IN" dirty="0"/>
              <a:t> (</a:t>
            </a:r>
            <a:r>
              <a:rPr lang="en-IN" dirty="0" err="1"/>
              <a:t>jen</a:t>
            </a:r>
            <a:r>
              <a:rPr lang="en-IN" dirty="0"/>
              <a:t>-</a:t>
            </a:r>
            <a:r>
              <a:rPr lang="en-IN" dirty="0" err="1"/>
              <a:t>ih</a:t>
            </a:r>
            <a:r>
              <a:rPr lang="en-IN" dirty="0"/>
              <a:t>-TAY-lee-ah) - organs of reproduction and their associated structures. </a:t>
            </a:r>
          </a:p>
          <a:p>
            <a:pPr marL="360000" indent="-360000" algn="just">
              <a:buFont typeface="Wingdings" pitchFamily="2" charset="2"/>
              <a:buChar char="§"/>
            </a:pPr>
            <a:r>
              <a:rPr lang="en-IN" b="1" u="sng" dirty="0">
                <a:solidFill>
                  <a:srgbClr val="FF0000"/>
                </a:solidFill>
              </a:rPr>
              <a:t>External genitalia </a:t>
            </a:r>
            <a:r>
              <a:rPr lang="en-IN" dirty="0"/>
              <a:t>are reproductive organs located outside of the body cavity. </a:t>
            </a:r>
          </a:p>
          <a:p>
            <a:pPr marL="360000" indent="-360000" algn="just">
              <a:buFont typeface="Wingdings" pitchFamily="2" charset="2"/>
              <a:buChar char="§"/>
            </a:pPr>
            <a:r>
              <a:rPr lang="en-IN" b="1" u="sng" dirty="0">
                <a:solidFill>
                  <a:srgbClr val="002060"/>
                </a:solidFill>
              </a:rPr>
              <a:t>Internal genitalia </a:t>
            </a:r>
            <a:r>
              <a:rPr lang="en-IN" dirty="0"/>
              <a:t>are reproductive organs protected within the body. </a:t>
            </a:r>
          </a:p>
          <a:p>
            <a:pPr marL="360000" indent="-360000" algn="just">
              <a:buFont typeface="Wingdings" pitchFamily="2" charset="2"/>
              <a:buChar char="§"/>
            </a:pPr>
            <a:r>
              <a:rPr lang="en-IN" dirty="0"/>
              <a:t>The </a:t>
            </a:r>
            <a:r>
              <a:rPr lang="en-IN" b="1" dirty="0">
                <a:solidFill>
                  <a:srgbClr val="FF0000"/>
                </a:solidFill>
              </a:rPr>
              <a:t>perineum</a:t>
            </a:r>
            <a:r>
              <a:rPr lang="en-IN" dirty="0"/>
              <a:t> (</a:t>
            </a:r>
            <a:r>
              <a:rPr lang="en-IN" dirty="0" err="1"/>
              <a:t>pehr</a:t>
            </a:r>
            <a:r>
              <a:rPr lang="en-IN" dirty="0"/>
              <a:t>-</a:t>
            </a:r>
            <a:r>
              <a:rPr lang="en-IN" dirty="0" err="1"/>
              <a:t>ih</a:t>
            </a:r>
            <a:r>
              <a:rPr lang="en-IN" dirty="0"/>
              <a:t>-NEE-um) is the external surface region in both males and females between the pubic symphysis and the coccyx. </a:t>
            </a:r>
          </a:p>
          <a:p>
            <a:pPr marL="360000" indent="-360000" algn="just">
              <a:buFont typeface="Wingdings" pitchFamily="2" charset="2"/>
              <a:buChar char="§"/>
            </a:pPr>
            <a:r>
              <a:rPr lang="en-IN" dirty="0"/>
              <a:t>The </a:t>
            </a:r>
            <a:r>
              <a:rPr lang="en-IN" b="1" u="sng" dirty="0">
                <a:solidFill>
                  <a:srgbClr val="00B0F0"/>
                </a:solidFill>
              </a:rPr>
              <a:t>male perineum </a:t>
            </a:r>
            <a:r>
              <a:rPr lang="en-IN" dirty="0"/>
              <a:t>extends from the scrotum to the anus. </a:t>
            </a:r>
          </a:p>
          <a:p>
            <a:pPr marL="360000" indent="-360000" algn="just">
              <a:buFont typeface="Wingdings" pitchFamily="2" charset="2"/>
              <a:buChar char="§"/>
            </a:pPr>
            <a:r>
              <a:rPr lang="en-IN" dirty="0"/>
              <a:t>The </a:t>
            </a:r>
            <a:r>
              <a:rPr lang="en-IN" b="1" u="sng" dirty="0">
                <a:solidFill>
                  <a:srgbClr val="00B0F0"/>
                </a:solidFill>
              </a:rPr>
              <a:t>female perineum </a:t>
            </a:r>
            <a:r>
              <a:rPr lang="en-IN" dirty="0"/>
              <a:t>extends from the vaginal orifice to the anus.</a:t>
            </a:r>
          </a:p>
          <a:p>
            <a:endParaRPr lang="en-IN" dirty="0"/>
          </a:p>
        </p:txBody>
      </p:sp>
    </p:spTree>
    <p:extLst>
      <p:ext uri="{BB962C8B-B14F-4D97-AF65-F5344CB8AC3E}">
        <p14:creationId xmlns:p14="http://schemas.microsoft.com/office/powerpoint/2010/main" val="2424971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43E40-E1B8-F830-73BB-84314C2EE6ED}"/>
              </a:ext>
            </a:extLst>
          </p:cNvPr>
          <p:cNvSpPr>
            <a:spLocks noGrp="1"/>
          </p:cNvSpPr>
          <p:nvPr>
            <p:ph type="title"/>
          </p:nvPr>
        </p:nvSpPr>
        <p:spPr/>
        <p:txBody>
          <a:bodyPr/>
          <a:lstStyle/>
          <a:p>
            <a:r>
              <a:rPr lang="en-US" dirty="0"/>
              <a:t>FUNCTIONS</a:t>
            </a:r>
            <a:endParaRPr lang="en-IN" dirty="0"/>
          </a:p>
        </p:txBody>
      </p:sp>
      <p:sp>
        <p:nvSpPr>
          <p:cNvPr id="3" name="Content Placeholder 2">
            <a:extLst>
              <a:ext uri="{FF2B5EF4-FFF2-40B4-BE49-F238E27FC236}">
                <a16:creationId xmlns:a16="http://schemas.microsoft.com/office/drawing/2014/main" id="{D3C7E4BB-D8D7-05E2-AA8C-CDBC87F16559}"/>
              </a:ext>
            </a:extLst>
          </p:cNvPr>
          <p:cNvSpPr>
            <a:spLocks noGrp="1"/>
          </p:cNvSpPr>
          <p:nvPr>
            <p:ph idx="1"/>
          </p:nvPr>
        </p:nvSpPr>
        <p:spPr/>
        <p:txBody>
          <a:bodyPr/>
          <a:lstStyle/>
          <a:p>
            <a:pPr algn="just">
              <a:spcAft>
                <a:spcPts val="1200"/>
              </a:spcAft>
              <a:buFont typeface="Wingdings" pitchFamily="2" charset="2"/>
              <a:buChar char="§"/>
            </a:pPr>
            <a:r>
              <a:rPr lang="en-IN" dirty="0"/>
              <a:t>The primary function of the male reproductive system is to produce </a:t>
            </a:r>
            <a:r>
              <a:rPr lang="en-IN" b="1" u="sng" dirty="0">
                <a:solidFill>
                  <a:srgbClr val="FF0000"/>
                </a:solidFill>
              </a:rPr>
              <a:t>millions of sperm </a:t>
            </a:r>
            <a:r>
              <a:rPr lang="en-IN" dirty="0"/>
              <a:t>and deliver them into the female body where one sperm can unite with a single ovum (egg).</a:t>
            </a:r>
          </a:p>
          <a:p>
            <a:pPr algn="just">
              <a:spcAft>
                <a:spcPts val="1200"/>
              </a:spcAft>
              <a:buFont typeface="Wingdings" pitchFamily="2" charset="2"/>
              <a:buChar char="§"/>
            </a:pPr>
            <a:r>
              <a:rPr lang="en-IN" dirty="0"/>
              <a:t>The structures of the male reproductive system that also function as part of the </a:t>
            </a:r>
            <a:r>
              <a:rPr lang="en-IN" b="1" dirty="0">
                <a:solidFill>
                  <a:srgbClr val="FF0000"/>
                </a:solidFill>
              </a:rPr>
              <a:t>urinary system</a:t>
            </a:r>
            <a:r>
              <a:rPr lang="en-IN" dirty="0"/>
              <a:t>.</a:t>
            </a:r>
          </a:p>
          <a:p>
            <a:endParaRPr lang="en-IN" dirty="0"/>
          </a:p>
        </p:txBody>
      </p:sp>
    </p:spTree>
    <p:extLst>
      <p:ext uri="{BB962C8B-B14F-4D97-AF65-F5344CB8AC3E}">
        <p14:creationId xmlns:p14="http://schemas.microsoft.com/office/powerpoint/2010/main" val="3509315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E9CAB-9D8C-7D50-7F5E-0B1BA39FFD49}"/>
              </a:ext>
            </a:extLst>
          </p:cNvPr>
          <p:cNvSpPr>
            <a:spLocks noGrp="1"/>
          </p:cNvSpPr>
          <p:nvPr>
            <p:ph type="title"/>
          </p:nvPr>
        </p:nvSpPr>
        <p:spPr/>
        <p:txBody>
          <a:bodyPr/>
          <a:lstStyle/>
          <a:p>
            <a:r>
              <a:rPr lang="en-US" dirty="0"/>
              <a:t>STRUCTURES</a:t>
            </a:r>
            <a:endParaRPr lang="en-IN" dirty="0"/>
          </a:p>
        </p:txBody>
      </p:sp>
      <p:sp>
        <p:nvSpPr>
          <p:cNvPr id="3" name="Content Placeholder 2">
            <a:extLst>
              <a:ext uri="{FF2B5EF4-FFF2-40B4-BE49-F238E27FC236}">
                <a16:creationId xmlns:a16="http://schemas.microsoft.com/office/drawing/2014/main" id="{1A4D6D75-CEDC-53C5-74DB-08229EAAAF2E}"/>
              </a:ext>
            </a:extLst>
          </p:cNvPr>
          <p:cNvSpPr>
            <a:spLocks noGrp="1"/>
          </p:cNvSpPr>
          <p:nvPr>
            <p:ph idx="1"/>
          </p:nvPr>
        </p:nvSpPr>
        <p:spPr/>
        <p:txBody>
          <a:bodyPr/>
          <a:lstStyle/>
          <a:p>
            <a:pPr marL="360000" indent="-360000" algn="just">
              <a:spcBef>
                <a:spcPts val="1200"/>
              </a:spcBef>
              <a:spcAft>
                <a:spcPts val="1200"/>
              </a:spcAft>
              <a:buFont typeface="Wingdings" pitchFamily="2" charset="2"/>
              <a:buChar char="q"/>
            </a:pPr>
            <a:r>
              <a:rPr lang="en-IN" dirty="0"/>
              <a:t>The </a:t>
            </a:r>
            <a:r>
              <a:rPr lang="en-IN" b="1" dirty="0">
                <a:solidFill>
                  <a:srgbClr val="7030A0"/>
                </a:solidFill>
              </a:rPr>
              <a:t>external male genitalia </a:t>
            </a:r>
            <a:r>
              <a:rPr lang="en-IN" dirty="0"/>
              <a:t>are the </a:t>
            </a:r>
            <a:r>
              <a:rPr lang="en-IN" b="1" dirty="0">
                <a:solidFill>
                  <a:srgbClr val="FF0000"/>
                </a:solidFill>
              </a:rPr>
              <a:t>penis</a:t>
            </a:r>
            <a:r>
              <a:rPr lang="en-IN" dirty="0"/>
              <a:t> and the </a:t>
            </a:r>
            <a:r>
              <a:rPr lang="en-IN" b="1" dirty="0">
                <a:solidFill>
                  <a:srgbClr val="FF0000"/>
                </a:solidFill>
              </a:rPr>
              <a:t>scrotum</a:t>
            </a:r>
            <a:r>
              <a:rPr lang="en-IN" dirty="0"/>
              <a:t>, which contains </a:t>
            </a:r>
            <a:r>
              <a:rPr lang="en-IN" b="1" dirty="0">
                <a:solidFill>
                  <a:srgbClr val="FF0000"/>
                </a:solidFill>
              </a:rPr>
              <a:t>two testicles</a:t>
            </a:r>
            <a:r>
              <a:rPr lang="en-IN" dirty="0"/>
              <a:t>. </a:t>
            </a:r>
          </a:p>
          <a:p>
            <a:pPr marL="360000" indent="-360000" algn="just">
              <a:spcBef>
                <a:spcPts val="1200"/>
              </a:spcBef>
              <a:spcAft>
                <a:spcPts val="1200"/>
              </a:spcAft>
              <a:buFont typeface="Wingdings" pitchFamily="2" charset="2"/>
              <a:buChar char="q"/>
            </a:pPr>
            <a:r>
              <a:rPr lang="en-IN" dirty="0"/>
              <a:t>The </a:t>
            </a:r>
            <a:r>
              <a:rPr lang="en-IN" b="1" dirty="0">
                <a:solidFill>
                  <a:srgbClr val="7030A0"/>
                </a:solidFill>
              </a:rPr>
              <a:t>internal male genitalia </a:t>
            </a:r>
            <a:r>
              <a:rPr lang="en-IN" dirty="0"/>
              <a:t>includes the remaining structures of the </a:t>
            </a:r>
            <a:r>
              <a:rPr lang="en-IN" b="1" dirty="0">
                <a:solidFill>
                  <a:srgbClr val="FF0000"/>
                </a:solidFill>
              </a:rPr>
              <a:t>male reproductive system</a:t>
            </a:r>
          </a:p>
          <a:p>
            <a:endParaRPr lang="en-IN" dirty="0"/>
          </a:p>
        </p:txBody>
      </p:sp>
    </p:spTree>
    <p:extLst>
      <p:ext uri="{BB962C8B-B14F-4D97-AF65-F5344CB8AC3E}">
        <p14:creationId xmlns:p14="http://schemas.microsoft.com/office/powerpoint/2010/main" val="3982521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8234F-8577-26AA-7722-0D40725D851F}"/>
              </a:ext>
            </a:extLst>
          </p:cNvPr>
          <p:cNvSpPr>
            <a:spLocks noGrp="1"/>
          </p:cNvSpPr>
          <p:nvPr>
            <p:ph type="title"/>
          </p:nvPr>
        </p:nvSpPr>
        <p:spPr/>
        <p:txBody>
          <a:bodyPr/>
          <a:lstStyle/>
          <a:p>
            <a:r>
              <a:rPr lang="en-US" dirty="0"/>
              <a:t>SCROTUM AND TESTICLES</a:t>
            </a:r>
            <a:endParaRPr lang="en-IN" dirty="0"/>
          </a:p>
        </p:txBody>
      </p:sp>
      <p:sp>
        <p:nvSpPr>
          <p:cNvPr id="3" name="Content Placeholder 2">
            <a:extLst>
              <a:ext uri="{FF2B5EF4-FFF2-40B4-BE49-F238E27FC236}">
                <a16:creationId xmlns:a16="http://schemas.microsoft.com/office/drawing/2014/main" id="{85E20745-CF1C-7755-C079-B541DA823D9C}"/>
              </a:ext>
            </a:extLst>
          </p:cNvPr>
          <p:cNvSpPr>
            <a:spLocks noGrp="1"/>
          </p:cNvSpPr>
          <p:nvPr>
            <p:ph idx="1"/>
          </p:nvPr>
        </p:nvSpPr>
        <p:spPr/>
        <p:txBody>
          <a:bodyPr/>
          <a:lstStyle/>
          <a:p>
            <a:pPr algn="just">
              <a:spcAft>
                <a:spcPts val="1200"/>
              </a:spcAft>
              <a:buFont typeface="Wingdings" pitchFamily="2" charset="2"/>
              <a:buChar char="q"/>
            </a:pPr>
            <a:r>
              <a:rPr lang="en-IN" b="1" dirty="0"/>
              <a:t>The </a:t>
            </a:r>
            <a:r>
              <a:rPr lang="en-IN" b="1" dirty="0">
                <a:solidFill>
                  <a:srgbClr val="FF0000"/>
                </a:solidFill>
              </a:rPr>
              <a:t>Scrotum</a:t>
            </a:r>
            <a:r>
              <a:rPr lang="en-IN" b="1" dirty="0"/>
              <a:t> </a:t>
            </a:r>
            <a:r>
              <a:rPr lang="en-IN" dirty="0"/>
              <a:t>(SKROH-tum) is the sac like structure that surrounds, protects, and supports the testicles. This scrotum is suspended from the pubic arch behind the penis and lies between the thighs. </a:t>
            </a:r>
          </a:p>
          <a:p>
            <a:pPr algn="just">
              <a:spcAft>
                <a:spcPts val="1200"/>
              </a:spcAft>
              <a:buFont typeface="Wingdings" pitchFamily="2" charset="2"/>
              <a:buChar char="q"/>
            </a:pPr>
            <a:r>
              <a:rPr lang="en-IN" b="1" dirty="0"/>
              <a:t>The </a:t>
            </a:r>
            <a:r>
              <a:rPr lang="en-IN" b="1" dirty="0">
                <a:solidFill>
                  <a:srgbClr val="FF0000"/>
                </a:solidFill>
              </a:rPr>
              <a:t>Testicles</a:t>
            </a:r>
            <a:r>
              <a:rPr lang="en-IN" dirty="0"/>
              <a:t>, also known as testes, are the two small, egg-shaped glands that produce the sperm (singular, testis). These glands develop within the abdomen of the male foetus and normally descend into the scrotum before, or soon after birth</a:t>
            </a:r>
          </a:p>
        </p:txBody>
      </p:sp>
    </p:spTree>
    <p:extLst>
      <p:ext uri="{BB962C8B-B14F-4D97-AF65-F5344CB8AC3E}">
        <p14:creationId xmlns:p14="http://schemas.microsoft.com/office/powerpoint/2010/main" val="1914940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C7038-0EB0-9FDC-3B7C-2E14772E83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C2C776-BCBB-FDC1-914E-D30C60D1F9D3}"/>
              </a:ext>
            </a:extLst>
          </p:cNvPr>
          <p:cNvSpPr>
            <a:spLocks noGrp="1"/>
          </p:cNvSpPr>
          <p:nvPr>
            <p:ph type="title"/>
          </p:nvPr>
        </p:nvSpPr>
        <p:spPr/>
        <p:txBody>
          <a:bodyPr/>
          <a:lstStyle/>
          <a:p>
            <a:r>
              <a:rPr lang="en-US" dirty="0"/>
              <a:t>SCROTUM AND TESTICLES</a:t>
            </a:r>
            <a:endParaRPr lang="en-IN" dirty="0"/>
          </a:p>
        </p:txBody>
      </p:sp>
      <p:sp>
        <p:nvSpPr>
          <p:cNvPr id="3" name="Content Placeholder 2">
            <a:extLst>
              <a:ext uri="{FF2B5EF4-FFF2-40B4-BE49-F238E27FC236}">
                <a16:creationId xmlns:a16="http://schemas.microsoft.com/office/drawing/2014/main" id="{0C8D9955-9A70-8890-7719-129335877414}"/>
              </a:ext>
            </a:extLst>
          </p:cNvPr>
          <p:cNvSpPr>
            <a:spLocks noGrp="1"/>
          </p:cNvSpPr>
          <p:nvPr>
            <p:ph idx="1"/>
          </p:nvPr>
        </p:nvSpPr>
        <p:spPr/>
        <p:txBody>
          <a:bodyPr/>
          <a:lstStyle/>
          <a:p>
            <a:pPr algn="just">
              <a:spcAft>
                <a:spcPts val="1200"/>
              </a:spcAft>
              <a:buFont typeface="Wingdings" pitchFamily="2" charset="2"/>
              <a:buChar char="q"/>
            </a:pPr>
            <a:r>
              <a:rPr lang="en-IN" b="1" dirty="0">
                <a:solidFill>
                  <a:srgbClr val="FF0000"/>
                </a:solidFill>
              </a:rPr>
              <a:t>Sperm</a:t>
            </a:r>
            <a:r>
              <a:rPr lang="en-IN" dirty="0"/>
              <a:t> are formed within the seminiferous tubules (see-</a:t>
            </a:r>
            <a:r>
              <a:rPr lang="en-IN" dirty="0" err="1"/>
              <a:t>mih</a:t>
            </a:r>
            <a:r>
              <a:rPr lang="en-IN" dirty="0"/>
              <a:t>-NIF-er-us TOO-</a:t>
            </a:r>
            <a:r>
              <a:rPr lang="en-IN" dirty="0" err="1"/>
              <a:t>byouls</a:t>
            </a:r>
            <a:r>
              <a:rPr lang="en-IN" dirty="0"/>
              <a:t>) of each testicle.</a:t>
            </a:r>
          </a:p>
          <a:p>
            <a:pPr algn="just">
              <a:spcAft>
                <a:spcPts val="1200"/>
              </a:spcAft>
              <a:buFont typeface="Wingdings" pitchFamily="2" charset="2"/>
              <a:buChar char="q"/>
            </a:pPr>
            <a:r>
              <a:rPr lang="en-IN" b="1" dirty="0"/>
              <a:t>The </a:t>
            </a:r>
            <a:r>
              <a:rPr lang="en-IN" b="1" dirty="0">
                <a:solidFill>
                  <a:srgbClr val="FF0000"/>
                </a:solidFill>
              </a:rPr>
              <a:t>epididymis</a:t>
            </a:r>
            <a:r>
              <a:rPr lang="en-IN" b="1" dirty="0"/>
              <a:t> </a:t>
            </a:r>
            <a:r>
              <a:rPr lang="en-IN" dirty="0"/>
              <a:t>(ep-</a:t>
            </a:r>
            <a:r>
              <a:rPr lang="en-IN" dirty="0" err="1"/>
              <a:t>ih</a:t>
            </a:r>
            <a:r>
              <a:rPr lang="en-IN" dirty="0"/>
              <a:t>-DID-</a:t>
            </a:r>
            <a:r>
              <a:rPr lang="en-IN" dirty="0" err="1"/>
              <a:t>ih</a:t>
            </a:r>
            <a:r>
              <a:rPr lang="en-IN" dirty="0"/>
              <a:t>-mis) is a coiled tube at the upper part of each testicle. This tube runs down the length of the testicle then turns upward toward the body. Here, it narrows to form the tube known as the vas deferens.</a:t>
            </a:r>
          </a:p>
          <a:p>
            <a:pPr algn="just">
              <a:spcAft>
                <a:spcPts val="1200"/>
              </a:spcAft>
              <a:buFont typeface="Wingdings" pitchFamily="2" charset="2"/>
              <a:buChar char="q"/>
            </a:pPr>
            <a:r>
              <a:rPr lang="en-IN" dirty="0"/>
              <a:t>The </a:t>
            </a:r>
            <a:r>
              <a:rPr lang="en-IN" b="1" dirty="0">
                <a:solidFill>
                  <a:srgbClr val="FF0000"/>
                </a:solidFill>
              </a:rPr>
              <a:t>spermatic cord </a:t>
            </a:r>
            <a:r>
              <a:rPr lang="en-IN" dirty="0"/>
              <a:t>extends upward from the epididymis and is attached to each testicle. Each cord contains a vas deferens plus the arteries, veins, nerves, and lymphatic vessels required by each testicle.</a:t>
            </a:r>
          </a:p>
        </p:txBody>
      </p:sp>
    </p:spTree>
    <p:extLst>
      <p:ext uri="{BB962C8B-B14F-4D97-AF65-F5344CB8AC3E}">
        <p14:creationId xmlns:p14="http://schemas.microsoft.com/office/powerpoint/2010/main" val="778698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259FE-BC71-8FAC-DF9B-E7BF7F9DE399}"/>
              </a:ext>
            </a:extLst>
          </p:cNvPr>
          <p:cNvSpPr>
            <a:spLocks noGrp="1"/>
          </p:cNvSpPr>
          <p:nvPr>
            <p:ph type="title"/>
          </p:nvPr>
        </p:nvSpPr>
        <p:spPr/>
        <p:txBody>
          <a:bodyPr>
            <a:normAutofit fontScale="90000"/>
          </a:bodyPr>
          <a:lstStyle/>
          <a:p>
            <a:r>
              <a:rPr lang="en-IN" b="1" dirty="0"/>
              <a:t>The Vas Deferens, Seminal Vesicles, and the Ejaculatory Duct</a:t>
            </a:r>
            <a:endParaRPr lang="en-IN" dirty="0"/>
          </a:p>
        </p:txBody>
      </p:sp>
      <p:sp>
        <p:nvSpPr>
          <p:cNvPr id="3" name="Content Placeholder 2">
            <a:extLst>
              <a:ext uri="{FF2B5EF4-FFF2-40B4-BE49-F238E27FC236}">
                <a16:creationId xmlns:a16="http://schemas.microsoft.com/office/drawing/2014/main" id="{4B5D91A2-9B06-6B9C-FE4C-5E98E05303CE}"/>
              </a:ext>
            </a:extLst>
          </p:cNvPr>
          <p:cNvSpPr>
            <a:spLocks noGrp="1"/>
          </p:cNvSpPr>
          <p:nvPr>
            <p:ph idx="1"/>
          </p:nvPr>
        </p:nvSpPr>
        <p:spPr/>
        <p:txBody>
          <a:bodyPr/>
          <a:lstStyle/>
          <a:p>
            <a:pPr algn="just">
              <a:spcAft>
                <a:spcPts val="1200"/>
              </a:spcAft>
              <a:buFont typeface="Wingdings" pitchFamily="2" charset="2"/>
              <a:buChar char="q"/>
            </a:pPr>
            <a:r>
              <a:rPr lang="en-IN" dirty="0"/>
              <a:t>The </a:t>
            </a:r>
            <a:r>
              <a:rPr lang="en-IN" b="1" dirty="0">
                <a:solidFill>
                  <a:srgbClr val="FF0000"/>
                </a:solidFill>
              </a:rPr>
              <a:t>vas deferens </a:t>
            </a:r>
            <a:r>
              <a:rPr lang="en-IN" dirty="0"/>
              <a:t>(vas DEF-er-</a:t>
            </a:r>
            <a:r>
              <a:rPr lang="en-IN" dirty="0" err="1"/>
              <a:t>enz</a:t>
            </a:r>
            <a:r>
              <a:rPr lang="en-IN" dirty="0"/>
              <a:t>), also known as the ductus deferens, are the long, narrow continuations of each epididymis. These structures lead upward, eventually join the urethra .</a:t>
            </a:r>
          </a:p>
          <a:p>
            <a:pPr algn="just">
              <a:spcAft>
                <a:spcPts val="1200"/>
              </a:spcAft>
              <a:buFont typeface="Wingdings" pitchFamily="2" charset="2"/>
              <a:buChar char="q"/>
            </a:pPr>
            <a:r>
              <a:rPr lang="en-IN" dirty="0"/>
              <a:t>The </a:t>
            </a:r>
            <a:r>
              <a:rPr lang="en-IN" b="1" dirty="0">
                <a:solidFill>
                  <a:srgbClr val="FF0000"/>
                </a:solidFill>
              </a:rPr>
              <a:t>seminal vesicles </a:t>
            </a:r>
            <a:r>
              <a:rPr lang="en-IN" dirty="0"/>
              <a:t>(SEM-</a:t>
            </a:r>
            <a:r>
              <a:rPr lang="en-IN" dirty="0" err="1"/>
              <a:t>ih</a:t>
            </a:r>
            <a:r>
              <a:rPr lang="en-IN" dirty="0"/>
              <a:t>-</a:t>
            </a:r>
            <a:r>
              <a:rPr lang="en-IN" dirty="0" err="1"/>
              <a:t>nal</a:t>
            </a:r>
            <a:r>
              <a:rPr lang="en-IN" dirty="0"/>
              <a:t>) are glands that secrete a thick, yellow substance to nourish the sperm cells. This secretion forms 60% of the volume of semen. These glands are located at the base of the urinary bladder and open into the vas deferens as it joins the urethra</a:t>
            </a:r>
          </a:p>
        </p:txBody>
      </p:sp>
    </p:spTree>
    <p:extLst>
      <p:ext uri="{BB962C8B-B14F-4D97-AF65-F5344CB8AC3E}">
        <p14:creationId xmlns:p14="http://schemas.microsoft.com/office/powerpoint/2010/main" val="3139949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E04AD-0B4F-3B18-6E98-9AD36B933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D52E3C-8635-16A4-7C91-562E87A5CD0D}"/>
              </a:ext>
            </a:extLst>
          </p:cNvPr>
          <p:cNvSpPr>
            <a:spLocks noGrp="1"/>
          </p:cNvSpPr>
          <p:nvPr>
            <p:ph type="title"/>
          </p:nvPr>
        </p:nvSpPr>
        <p:spPr/>
        <p:txBody>
          <a:bodyPr>
            <a:normAutofit fontScale="90000"/>
          </a:bodyPr>
          <a:lstStyle/>
          <a:p>
            <a:r>
              <a:rPr lang="en-IN" b="1" dirty="0"/>
              <a:t>The Vas Deferens, Seminal Vesicles, and the Ejaculatory Duct</a:t>
            </a:r>
            <a:endParaRPr lang="en-IN" dirty="0"/>
          </a:p>
        </p:txBody>
      </p:sp>
      <p:sp>
        <p:nvSpPr>
          <p:cNvPr id="3" name="Content Placeholder 2">
            <a:extLst>
              <a:ext uri="{FF2B5EF4-FFF2-40B4-BE49-F238E27FC236}">
                <a16:creationId xmlns:a16="http://schemas.microsoft.com/office/drawing/2014/main" id="{6C760941-0BDF-1ED0-A9C2-F91F98FE9FE7}"/>
              </a:ext>
            </a:extLst>
          </p:cNvPr>
          <p:cNvSpPr>
            <a:spLocks noGrp="1"/>
          </p:cNvSpPr>
          <p:nvPr>
            <p:ph idx="1"/>
          </p:nvPr>
        </p:nvSpPr>
        <p:spPr/>
        <p:txBody>
          <a:bodyPr>
            <a:normAutofit lnSpcReduction="10000"/>
          </a:bodyPr>
          <a:lstStyle/>
          <a:p>
            <a:pPr algn="just">
              <a:spcAft>
                <a:spcPts val="1200"/>
              </a:spcAft>
              <a:buFont typeface="Wingdings" pitchFamily="2" charset="2"/>
              <a:buChar char="q"/>
            </a:pPr>
            <a:r>
              <a:rPr lang="en-IN" dirty="0"/>
              <a:t>The </a:t>
            </a:r>
            <a:r>
              <a:rPr lang="en-IN" b="1" dirty="0">
                <a:solidFill>
                  <a:srgbClr val="FF0000"/>
                </a:solidFill>
              </a:rPr>
              <a:t>vas deferens </a:t>
            </a:r>
            <a:r>
              <a:rPr lang="en-IN" dirty="0"/>
              <a:t>(vas DEF-er-</a:t>
            </a:r>
            <a:r>
              <a:rPr lang="en-IN" dirty="0" err="1"/>
              <a:t>enz</a:t>
            </a:r>
            <a:r>
              <a:rPr lang="en-IN" dirty="0"/>
              <a:t>), also known as the ductus deferens, are the long, narrow continuations of each epididymis. These structures lead upward, eventually join the urethra .</a:t>
            </a:r>
          </a:p>
          <a:p>
            <a:pPr algn="just">
              <a:spcAft>
                <a:spcPts val="1200"/>
              </a:spcAft>
              <a:buFont typeface="Wingdings" pitchFamily="2" charset="2"/>
              <a:buChar char="q"/>
            </a:pPr>
            <a:r>
              <a:rPr lang="en-IN" dirty="0"/>
              <a:t>The </a:t>
            </a:r>
            <a:r>
              <a:rPr lang="en-IN" b="1" dirty="0">
                <a:solidFill>
                  <a:srgbClr val="FF0000"/>
                </a:solidFill>
              </a:rPr>
              <a:t>seminal vesicles </a:t>
            </a:r>
            <a:r>
              <a:rPr lang="en-IN" dirty="0"/>
              <a:t>(SEM-</a:t>
            </a:r>
            <a:r>
              <a:rPr lang="en-IN" dirty="0" err="1"/>
              <a:t>ih</a:t>
            </a:r>
            <a:r>
              <a:rPr lang="en-IN" dirty="0"/>
              <a:t>-</a:t>
            </a:r>
            <a:r>
              <a:rPr lang="en-IN" dirty="0" err="1"/>
              <a:t>nal</a:t>
            </a:r>
            <a:r>
              <a:rPr lang="en-IN" dirty="0"/>
              <a:t>) are glands that secrete a thick, yellow substance to nourish the sperm cells. This secretion forms 60% of the volume of semen. These glands are located at the base of the urinary bladder and open into the vas deferens as it joins the urethra</a:t>
            </a:r>
          </a:p>
          <a:p>
            <a:pPr algn="just">
              <a:spcAft>
                <a:spcPts val="1200"/>
              </a:spcAft>
              <a:buFont typeface="Wingdings" pitchFamily="2" charset="2"/>
              <a:buChar char="q"/>
            </a:pPr>
            <a:r>
              <a:rPr lang="en-IN" dirty="0"/>
              <a:t>The </a:t>
            </a:r>
            <a:r>
              <a:rPr lang="en-IN" b="1" dirty="0">
                <a:solidFill>
                  <a:srgbClr val="FF0000"/>
                </a:solidFill>
              </a:rPr>
              <a:t>ejaculatory duct</a:t>
            </a:r>
            <a:r>
              <a:rPr lang="en-IN" dirty="0"/>
              <a:t>, which begins at the vas deferens, passes through the prostate gland, and empties into the urethra. During ejaculation, a reflex action caused by these ducts, semen passes into the urethra, which exits the body via the penis. </a:t>
            </a:r>
          </a:p>
          <a:p>
            <a:pPr algn="just">
              <a:spcAft>
                <a:spcPts val="1200"/>
              </a:spcAft>
              <a:buFont typeface="Wingdings" pitchFamily="2" charset="2"/>
              <a:buChar char="q"/>
            </a:pPr>
            <a:r>
              <a:rPr lang="en-IN" b="1" dirty="0">
                <a:solidFill>
                  <a:srgbClr val="FF0000"/>
                </a:solidFill>
              </a:rPr>
              <a:t>Semen</a:t>
            </a:r>
            <a:r>
              <a:rPr lang="en-IN" dirty="0"/>
              <a:t> (SEE-men) is the whitish fluid containing sperm that is ejaculated through the urethra (</a:t>
            </a:r>
            <a:r>
              <a:rPr lang="en-IN" u="sng" dirty="0"/>
              <a:t>The term ejaculate means to expel suddenly).</a:t>
            </a:r>
            <a:endParaRPr lang="en-IN" dirty="0"/>
          </a:p>
        </p:txBody>
      </p:sp>
    </p:spTree>
    <p:extLst>
      <p:ext uri="{BB962C8B-B14F-4D97-AF65-F5344CB8AC3E}">
        <p14:creationId xmlns:p14="http://schemas.microsoft.com/office/powerpoint/2010/main" val="1854997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C543A-1BFB-362B-D620-715BB4D23775}"/>
              </a:ext>
            </a:extLst>
          </p:cNvPr>
          <p:cNvSpPr>
            <a:spLocks noGrp="1"/>
          </p:cNvSpPr>
          <p:nvPr>
            <p:ph type="title"/>
          </p:nvPr>
        </p:nvSpPr>
        <p:spPr/>
        <p:txBody>
          <a:bodyPr/>
          <a:lstStyle/>
          <a:p>
            <a:r>
              <a:rPr lang="en-US" dirty="0"/>
              <a:t>SPERM COUNT</a:t>
            </a:r>
            <a:endParaRPr lang="en-IN" dirty="0"/>
          </a:p>
        </p:txBody>
      </p:sp>
      <p:sp>
        <p:nvSpPr>
          <p:cNvPr id="3" name="Content Placeholder 2">
            <a:extLst>
              <a:ext uri="{FF2B5EF4-FFF2-40B4-BE49-F238E27FC236}">
                <a16:creationId xmlns:a16="http://schemas.microsoft.com/office/drawing/2014/main" id="{A11FE06F-5A60-917E-ACEC-8CC0E915D7CF}"/>
              </a:ext>
            </a:extLst>
          </p:cNvPr>
          <p:cNvSpPr>
            <a:spLocks noGrp="1"/>
          </p:cNvSpPr>
          <p:nvPr>
            <p:ph idx="1"/>
          </p:nvPr>
        </p:nvSpPr>
        <p:spPr/>
        <p:txBody>
          <a:bodyPr/>
          <a:lstStyle/>
          <a:p>
            <a:pPr algn="just">
              <a:spcAft>
                <a:spcPts val="1200"/>
              </a:spcAft>
              <a:buFont typeface="Wingdings" pitchFamily="2" charset="2"/>
              <a:buChar char="q"/>
            </a:pPr>
            <a:r>
              <a:rPr lang="en-IN" dirty="0"/>
              <a:t>The </a:t>
            </a:r>
            <a:r>
              <a:rPr lang="en-IN" b="1" dirty="0">
                <a:solidFill>
                  <a:srgbClr val="FF0000"/>
                </a:solidFill>
              </a:rPr>
              <a:t>ejaculatory duct</a:t>
            </a:r>
            <a:r>
              <a:rPr lang="en-IN" dirty="0"/>
              <a:t>, which begins at the vas deferens, passes through the prostate gland, and empties into the urethra. During ejaculation, a reflex action caused by these ducts, semen passes into the urethra, which exits the body via the penis. </a:t>
            </a:r>
          </a:p>
          <a:p>
            <a:pPr algn="just">
              <a:spcAft>
                <a:spcPts val="1200"/>
              </a:spcAft>
              <a:buFont typeface="Wingdings" pitchFamily="2" charset="2"/>
              <a:buChar char="q"/>
            </a:pPr>
            <a:r>
              <a:rPr lang="en-IN" b="1" dirty="0">
                <a:solidFill>
                  <a:srgbClr val="FF0000"/>
                </a:solidFill>
              </a:rPr>
              <a:t>Semen</a:t>
            </a:r>
            <a:r>
              <a:rPr lang="en-IN" dirty="0"/>
              <a:t> (SEE-men) is the whitish fluid containing sperm that is ejaculated through the urethra (</a:t>
            </a:r>
            <a:r>
              <a:rPr lang="en-IN" u="sng" dirty="0"/>
              <a:t>The term ejaculate means to expel suddenly).</a:t>
            </a:r>
            <a:endParaRPr lang="en-IN" dirty="0"/>
          </a:p>
        </p:txBody>
      </p:sp>
    </p:spTree>
    <p:extLst>
      <p:ext uri="{BB962C8B-B14F-4D97-AF65-F5344CB8AC3E}">
        <p14:creationId xmlns:p14="http://schemas.microsoft.com/office/powerpoint/2010/main" val="1667261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66A9C-88FB-1542-D0D0-23A412264336}"/>
              </a:ext>
            </a:extLst>
          </p:cNvPr>
          <p:cNvSpPr>
            <a:spLocks noGrp="1"/>
          </p:cNvSpPr>
          <p:nvPr>
            <p:ph type="title"/>
          </p:nvPr>
        </p:nvSpPr>
        <p:spPr/>
        <p:txBody>
          <a:bodyPr/>
          <a:lstStyle/>
          <a:p>
            <a:r>
              <a:rPr lang="en-US" dirty="0"/>
              <a:t>PENIS</a:t>
            </a:r>
            <a:endParaRPr lang="en-IN" dirty="0"/>
          </a:p>
        </p:txBody>
      </p:sp>
      <p:sp>
        <p:nvSpPr>
          <p:cNvPr id="3" name="Content Placeholder 2">
            <a:extLst>
              <a:ext uri="{FF2B5EF4-FFF2-40B4-BE49-F238E27FC236}">
                <a16:creationId xmlns:a16="http://schemas.microsoft.com/office/drawing/2014/main" id="{76F29EEC-716D-85F4-DE59-7A0F1BDE9C5A}"/>
              </a:ext>
            </a:extLst>
          </p:cNvPr>
          <p:cNvSpPr>
            <a:spLocks noGrp="1"/>
          </p:cNvSpPr>
          <p:nvPr>
            <p:ph idx="1"/>
          </p:nvPr>
        </p:nvSpPr>
        <p:spPr/>
        <p:txBody>
          <a:bodyPr/>
          <a:lstStyle/>
          <a:p>
            <a:pPr algn="just">
              <a:spcAft>
                <a:spcPts val="1200"/>
              </a:spcAft>
              <a:buFont typeface="Wingdings" pitchFamily="2" charset="2"/>
              <a:buChar char="q"/>
            </a:pPr>
            <a:r>
              <a:rPr lang="en-IN" b="1" dirty="0">
                <a:solidFill>
                  <a:srgbClr val="FF0000"/>
                </a:solidFill>
              </a:rPr>
              <a:t>The penis </a:t>
            </a:r>
            <a:r>
              <a:rPr lang="en-IN" dirty="0"/>
              <a:t>(PEE-nis) is the male sex organ that transports the sperm into the female vagina. The penis is composed of three columns of erectile tissue.</a:t>
            </a:r>
          </a:p>
          <a:p>
            <a:pPr algn="just">
              <a:spcAft>
                <a:spcPts val="1200"/>
              </a:spcAft>
              <a:buFont typeface="Wingdings" pitchFamily="2" charset="2"/>
              <a:buChar char="q"/>
            </a:pPr>
            <a:r>
              <a:rPr lang="en-IN" dirty="0"/>
              <a:t>During sexual stimulation, the erectile tissue fills with blood under high pressure. This causes the swelling, hardness, and stiffness known an erection. </a:t>
            </a:r>
          </a:p>
          <a:p>
            <a:pPr algn="just">
              <a:spcAft>
                <a:spcPts val="1200"/>
              </a:spcAft>
              <a:buFont typeface="Wingdings" pitchFamily="2" charset="2"/>
              <a:buChar char="q"/>
            </a:pPr>
            <a:r>
              <a:rPr lang="en-IN" dirty="0"/>
              <a:t>The </a:t>
            </a:r>
            <a:r>
              <a:rPr lang="en-IN" b="1" dirty="0">
                <a:solidFill>
                  <a:srgbClr val="FF0000"/>
                </a:solidFill>
              </a:rPr>
              <a:t>glans penis </a:t>
            </a:r>
            <a:r>
              <a:rPr lang="en-IN" dirty="0"/>
              <a:t>(</a:t>
            </a:r>
            <a:r>
              <a:rPr lang="en-IN" dirty="0" err="1"/>
              <a:t>glanz</a:t>
            </a:r>
            <a:r>
              <a:rPr lang="en-IN" dirty="0"/>
              <a:t> PEE-nis), also known as the head of the penis, is the sensitive region located at the tip of the penis. </a:t>
            </a:r>
          </a:p>
          <a:p>
            <a:pPr algn="just">
              <a:spcAft>
                <a:spcPts val="1200"/>
              </a:spcAft>
              <a:buFont typeface="Wingdings" pitchFamily="2" charset="2"/>
              <a:buChar char="q"/>
            </a:pPr>
            <a:r>
              <a:rPr lang="en-IN" dirty="0"/>
              <a:t>The </a:t>
            </a:r>
            <a:r>
              <a:rPr lang="en-IN" b="1" dirty="0">
                <a:solidFill>
                  <a:srgbClr val="FF0000"/>
                </a:solidFill>
              </a:rPr>
              <a:t>foreskin</a:t>
            </a:r>
            <a:r>
              <a:rPr lang="en-IN" dirty="0"/>
              <a:t>, also known as the prepuce, is a retractable double-layered fold of skin and mucous membrane that covers and protects the glans penis.</a:t>
            </a:r>
          </a:p>
          <a:p>
            <a:endParaRPr lang="en-IN" dirty="0"/>
          </a:p>
        </p:txBody>
      </p:sp>
    </p:spTree>
    <p:extLst>
      <p:ext uri="{BB962C8B-B14F-4D97-AF65-F5344CB8AC3E}">
        <p14:creationId xmlns:p14="http://schemas.microsoft.com/office/powerpoint/2010/main" val="3676330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47546-C61C-3FB7-8BCF-F74EF3948DD8}"/>
              </a:ext>
            </a:extLst>
          </p:cNvPr>
          <p:cNvSpPr>
            <a:spLocks noGrp="1"/>
          </p:cNvSpPr>
          <p:nvPr>
            <p:ph type="title"/>
          </p:nvPr>
        </p:nvSpPr>
        <p:spPr/>
        <p:txBody>
          <a:bodyPr/>
          <a:lstStyle/>
          <a:p>
            <a:r>
              <a:rPr lang="en-US" dirty="0"/>
              <a:t>PROSTATE GLAND AND URETHRA</a:t>
            </a:r>
            <a:endParaRPr lang="en-IN" dirty="0"/>
          </a:p>
        </p:txBody>
      </p:sp>
      <p:sp>
        <p:nvSpPr>
          <p:cNvPr id="3" name="Content Placeholder 2">
            <a:extLst>
              <a:ext uri="{FF2B5EF4-FFF2-40B4-BE49-F238E27FC236}">
                <a16:creationId xmlns:a16="http://schemas.microsoft.com/office/drawing/2014/main" id="{09261931-29EF-F337-F165-D7F21FBC20AF}"/>
              </a:ext>
            </a:extLst>
          </p:cNvPr>
          <p:cNvSpPr>
            <a:spLocks noGrp="1"/>
          </p:cNvSpPr>
          <p:nvPr>
            <p:ph idx="1"/>
          </p:nvPr>
        </p:nvSpPr>
        <p:spPr/>
        <p:txBody>
          <a:bodyPr/>
          <a:lstStyle/>
          <a:p>
            <a:pPr algn="just">
              <a:spcAft>
                <a:spcPts val="1200"/>
              </a:spcAft>
              <a:buFont typeface="Wingdings" pitchFamily="2" charset="2"/>
              <a:buChar char="q"/>
            </a:pPr>
            <a:r>
              <a:rPr lang="en-IN" dirty="0"/>
              <a:t>The </a:t>
            </a:r>
            <a:r>
              <a:rPr lang="en-IN" b="1" u="sng" dirty="0">
                <a:solidFill>
                  <a:srgbClr val="FF0000"/>
                </a:solidFill>
              </a:rPr>
              <a:t>prostate gland </a:t>
            </a:r>
            <a:r>
              <a:rPr lang="en-IN" dirty="0"/>
              <a:t>(PROS-</a:t>
            </a:r>
            <a:r>
              <a:rPr lang="en-IN" dirty="0" err="1"/>
              <a:t>tayt</a:t>
            </a:r>
            <a:r>
              <a:rPr lang="en-IN" dirty="0"/>
              <a:t>) lies under the bladder and surrounds the end of the urethra in the region where the vas deferens enters the urethra. </a:t>
            </a:r>
          </a:p>
          <a:p>
            <a:pPr algn="just">
              <a:spcAft>
                <a:spcPts val="1200"/>
              </a:spcAft>
              <a:buFont typeface="Wingdings" pitchFamily="2" charset="2"/>
              <a:buChar char="q"/>
            </a:pPr>
            <a:r>
              <a:rPr lang="en-IN" dirty="0"/>
              <a:t>During ejaculation, the prostate gland secretes a thick, alkaline fluid into the semen that aids the </a:t>
            </a:r>
            <a:r>
              <a:rPr lang="en-IN" u="sng" dirty="0"/>
              <a:t>motility of the sperm</a:t>
            </a:r>
            <a:r>
              <a:rPr lang="en-IN" dirty="0"/>
              <a:t>  (</a:t>
            </a:r>
            <a:r>
              <a:rPr lang="en-IN" b="1" dirty="0"/>
              <a:t>Motility means ability to move)</a:t>
            </a:r>
            <a:r>
              <a:rPr lang="en-IN" dirty="0"/>
              <a:t>. </a:t>
            </a:r>
          </a:p>
          <a:p>
            <a:pPr algn="just">
              <a:spcAft>
                <a:spcPts val="1200"/>
              </a:spcAft>
              <a:buFont typeface="Wingdings" pitchFamily="2" charset="2"/>
              <a:buChar char="q"/>
            </a:pPr>
            <a:r>
              <a:rPr lang="en-IN" dirty="0"/>
              <a:t>The </a:t>
            </a:r>
            <a:r>
              <a:rPr lang="en-IN" b="1" dirty="0">
                <a:solidFill>
                  <a:srgbClr val="FF0000"/>
                </a:solidFill>
              </a:rPr>
              <a:t>urethra</a:t>
            </a:r>
            <a:r>
              <a:rPr lang="en-IN" dirty="0"/>
              <a:t> passes through the penis to the outside of the body. </a:t>
            </a:r>
            <a:r>
              <a:rPr lang="en-IN" u="sng" dirty="0"/>
              <a:t>In the male, the urethra serves both the reproductive and the urinary systems</a:t>
            </a:r>
            <a:r>
              <a:rPr lang="en-IN" dirty="0"/>
              <a:t>. </a:t>
            </a:r>
          </a:p>
          <a:p>
            <a:pPr algn="just">
              <a:spcAft>
                <a:spcPts val="1200"/>
              </a:spcAft>
              <a:buFont typeface="Wingdings" pitchFamily="2" charset="2"/>
              <a:buChar char="q"/>
            </a:pPr>
            <a:endParaRPr lang="en-IN" dirty="0"/>
          </a:p>
          <a:p>
            <a:endParaRPr lang="en-IN" dirty="0"/>
          </a:p>
        </p:txBody>
      </p:sp>
    </p:spTree>
    <p:extLst>
      <p:ext uri="{BB962C8B-B14F-4D97-AF65-F5344CB8AC3E}">
        <p14:creationId xmlns:p14="http://schemas.microsoft.com/office/powerpoint/2010/main" val="4168732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C5522-68C5-B898-818F-C8AC02A1EEE6}"/>
              </a:ext>
            </a:extLst>
          </p:cNvPr>
          <p:cNvSpPr>
            <a:spLocks noGrp="1"/>
          </p:cNvSpPr>
          <p:nvPr>
            <p:ph type="title"/>
          </p:nvPr>
        </p:nvSpPr>
        <p:spPr/>
        <p:txBody>
          <a:bodyPr/>
          <a:lstStyle/>
          <a:p>
            <a:r>
              <a:rPr lang="en-US" dirty="0"/>
              <a:t>PATHOLOGY </a:t>
            </a:r>
            <a:endParaRPr lang="en-IN" dirty="0"/>
          </a:p>
        </p:txBody>
      </p:sp>
      <p:sp>
        <p:nvSpPr>
          <p:cNvPr id="3" name="Content Placeholder 2">
            <a:extLst>
              <a:ext uri="{FF2B5EF4-FFF2-40B4-BE49-F238E27FC236}">
                <a16:creationId xmlns:a16="http://schemas.microsoft.com/office/drawing/2014/main" id="{1BBD2B9D-0EFF-CF2E-72D4-5DA33532AB5F}"/>
              </a:ext>
            </a:extLst>
          </p:cNvPr>
          <p:cNvSpPr>
            <a:spLocks noGrp="1"/>
          </p:cNvSpPr>
          <p:nvPr>
            <p:ph idx="1"/>
          </p:nvPr>
        </p:nvSpPr>
        <p:spPr/>
        <p:txBody>
          <a:bodyPr/>
          <a:lstStyle/>
          <a:p>
            <a:pPr algn="just">
              <a:spcAft>
                <a:spcPts val="1200"/>
              </a:spcAft>
              <a:buNone/>
            </a:pPr>
            <a:r>
              <a:rPr lang="en-IN" b="1" dirty="0">
                <a:solidFill>
                  <a:srgbClr val="FF0000"/>
                </a:solidFill>
              </a:rPr>
              <a:t>The Penis </a:t>
            </a:r>
          </a:p>
          <a:p>
            <a:pPr algn="just">
              <a:spcAft>
                <a:spcPts val="1200"/>
              </a:spcAft>
              <a:buFont typeface="Wingdings" pitchFamily="2" charset="2"/>
              <a:buChar char="q"/>
            </a:pPr>
            <a:r>
              <a:rPr lang="en-IN" b="1" u="sng" dirty="0">
                <a:solidFill>
                  <a:srgbClr val="FF0000"/>
                </a:solidFill>
              </a:rPr>
              <a:t>Balanitis</a:t>
            </a:r>
            <a:r>
              <a:rPr lang="en-IN" dirty="0"/>
              <a:t> (</a:t>
            </a:r>
            <a:r>
              <a:rPr lang="en-IN" dirty="0" err="1"/>
              <a:t>bal</a:t>
            </a:r>
            <a:r>
              <a:rPr lang="en-IN" dirty="0"/>
              <a:t>-ah-NIGH-tis) is an inflammation of the glans penis that is usually caused by poor hygiene in men who have not had the foreskin removed by circumcision (</a:t>
            </a:r>
            <a:r>
              <a:rPr lang="en-IN" b="1" dirty="0" err="1">
                <a:solidFill>
                  <a:srgbClr val="0070C0"/>
                </a:solidFill>
              </a:rPr>
              <a:t>balan</a:t>
            </a:r>
            <a:r>
              <a:rPr lang="en-IN" dirty="0">
                <a:solidFill>
                  <a:srgbClr val="0070C0"/>
                </a:solidFill>
              </a:rPr>
              <a:t> means glans penis, and -</a:t>
            </a:r>
            <a:r>
              <a:rPr lang="en-IN" b="1" dirty="0">
                <a:solidFill>
                  <a:srgbClr val="0070C0"/>
                </a:solidFill>
              </a:rPr>
              <a:t>itis</a:t>
            </a:r>
            <a:r>
              <a:rPr lang="en-IN" dirty="0">
                <a:solidFill>
                  <a:srgbClr val="0070C0"/>
                </a:solidFill>
              </a:rPr>
              <a:t> means inflammation</a:t>
            </a:r>
            <a:r>
              <a:rPr lang="en-IN" dirty="0"/>
              <a:t>). </a:t>
            </a:r>
          </a:p>
          <a:p>
            <a:pPr marL="0" indent="0" algn="just">
              <a:spcAft>
                <a:spcPts val="1200"/>
              </a:spcAft>
              <a:buNone/>
            </a:pPr>
            <a:endParaRPr lang="en-IN" dirty="0"/>
          </a:p>
          <a:p>
            <a:pPr algn="just">
              <a:spcAft>
                <a:spcPts val="1200"/>
              </a:spcAft>
              <a:buFont typeface="Wingdings" pitchFamily="2" charset="2"/>
              <a:buChar char="q"/>
            </a:pPr>
            <a:r>
              <a:rPr lang="en-IN" b="1" u="sng" dirty="0">
                <a:solidFill>
                  <a:srgbClr val="FF0000"/>
                </a:solidFill>
              </a:rPr>
              <a:t>Phimosis</a:t>
            </a:r>
            <a:r>
              <a:rPr lang="en-IN" u="sng" dirty="0"/>
              <a:t> </a:t>
            </a:r>
            <a:r>
              <a:rPr lang="en-IN" dirty="0"/>
              <a:t>(</a:t>
            </a:r>
            <a:r>
              <a:rPr lang="en-IN" dirty="0" err="1"/>
              <a:t>figh</a:t>
            </a:r>
            <a:r>
              <a:rPr lang="en-IN" dirty="0"/>
              <a:t>-MOH-sis) is a narrowing of the opening of the foreskin so it cannot be retracted (pulled back) to expose the glans penis. </a:t>
            </a:r>
            <a:r>
              <a:rPr lang="en-IN" u="sng" dirty="0"/>
              <a:t>This condition can be present at birth or become apparent during childhood. </a:t>
            </a:r>
          </a:p>
          <a:p>
            <a:endParaRPr lang="en-IN" dirty="0"/>
          </a:p>
        </p:txBody>
      </p:sp>
    </p:spTree>
    <p:extLst>
      <p:ext uri="{BB962C8B-B14F-4D97-AF65-F5344CB8AC3E}">
        <p14:creationId xmlns:p14="http://schemas.microsoft.com/office/powerpoint/2010/main" val="1124352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0CD35-7A39-56FB-7396-87AF3DD32657}"/>
              </a:ext>
            </a:extLst>
          </p:cNvPr>
          <p:cNvSpPr>
            <a:spLocks noGrp="1"/>
          </p:cNvSpPr>
          <p:nvPr>
            <p:ph type="title"/>
          </p:nvPr>
        </p:nvSpPr>
        <p:spPr/>
        <p:txBody>
          <a:bodyPr/>
          <a:lstStyle/>
          <a:p>
            <a:r>
              <a:rPr lang="en-US" dirty="0"/>
              <a:t>PATHOLOGY</a:t>
            </a:r>
            <a:endParaRPr lang="en-IN" dirty="0"/>
          </a:p>
        </p:txBody>
      </p:sp>
      <p:sp>
        <p:nvSpPr>
          <p:cNvPr id="3" name="Content Placeholder 2">
            <a:extLst>
              <a:ext uri="{FF2B5EF4-FFF2-40B4-BE49-F238E27FC236}">
                <a16:creationId xmlns:a16="http://schemas.microsoft.com/office/drawing/2014/main" id="{67F0B24D-4ACE-E047-9FEF-1CFE8E4EDBC7}"/>
              </a:ext>
            </a:extLst>
          </p:cNvPr>
          <p:cNvSpPr>
            <a:spLocks noGrp="1"/>
          </p:cNvSpPr>
          <p:nvPr>
            <p:ph idx="1"/>
          </p:nvPr>
        </p:nvSpPr>
        <p:spPr/>
        <p:txBody>
          <a:bodyPr>
            <a:normAutofit fontScale="92500" lnSpcReduction="10000"/>
          </a:bodyPr>
          <a:lstStyle/>
          <a:p>
            <a:pPr algn="just">
              <a:spcAft>
                <a:spcPts val="1200"/>
              </a:spcAft>
              <a:buFont typeface="Wingdings" pitchFamily="2" charset="2"/>
              <a:buChar char="q"/>
            </a:pPr>
            <a:r>
              <a:rPr lang="en-IN" b="1" dirty="0">
                <a:solidFill>
                  <a:srgbClr val="FF0000"/>
                </a:solidFill>
              </a:rPr>
              <a:t>Impotence</a:t>
            </a:r>
            <a:r>
              <a:rPr lang="en-IN" dirty="0"/>
              <a:t> (IM-</a:t>
            </a:r>
            <a:r>
              <a:rPr lang="en-IN" dirty="0" err="1"/>
              <a:t>poh</a:t>
            </a:r>
            <a:r>
              <a:rPr lang="en-IN" dirty="0"/>
              <a:t>-tens), also known as erectile dysfunction, is the inability of the male to achieve or maintain a penile erection. A penis that is not erect is referred to as being flaccid (limp). </a:t>
            </a:r>
          </a:p>
          <a:p>
            <a:pPr algn="just">
              <a:spcAft>
                <a:spcPts val="1200"/>
              </a:spcAft>
              <a:buFont typeface="Wingdings" pitchFamily="2" charset="2"/>
              <a:buChar char="q"/>
            </a:pPr>
            <a:r>
              <a:rPr lang="en-IN" b="1" dirty="0">
                <a:solidFill>
                  <a:srgbClr val="FF0000"/>
                </a:solidFill>
              </a:rPr>
              <a:t>Premature ejaculation </a:t>
            </a:r>
            <a:r>
              <a:rPr lang="en-IN" dirty="0">
                <a:solidFill>
                  <a:srgbClr val="FF0000"/>
                </a:solidFill>
              </a:rPr>
              <a:t> </a:t>
            </a:r>
            <a:r>
              <a:rPr lang="en-IN" dirty="0"/>
              <a:t>is a condition in which the male reaches climax too soon, usually before, or shortly after, penetration into the vagina.</a:t>
            </a:r>
          </a:p>
          <a:p>
            <a:pPr algn="just">
              <a:spcAft>
                <a:spcPts val="1200"/>
              </a:spcAft>
              <a:buFont typeface="Wingdings" pitchFamily="2" charset="2"/>
              <a:buChar char="q"/>
            </a:pPr>
            <a:r>
              <a:rPr lang="en-IN" b="1" dirty="0">
                <a:solidFill>
                  <a:srgbClr val="FF0000"/>
                </a:solidFill>
              </a:rPr>
              <a:t>Andropause</a:t>
            </a:r>
            <a:r>
              <a:rPr lang="en-IN" dirty="0"/>
              <a:t> (AN-</a:t>
            </a:r>
            <a:r>
              <a:rPr lang="en-IN" dirty="0" err="1"/>
              <a:t>droh</a:t>
            </a:r>
            <a:r>
              <a:rPr lang="en-IN" dirty="0"/>
              <a:t>-</a:t>
            </a:r>
            <a:r>
              <a:rPr lang="en-IN" dirty="0" err="1"/>
              <a:t>pawz</a:t>
            </a:r>
            <a:r>
              <a:rPr lang="en-IN" dirty="0"/>
              <a:t>), which is often referred to as male menopause, is marked by the decrease of the male hormone testosterone (</a:t>
            </a:r>
            <a:r>
              <a:rPr lang="en-IN" b="1" dirty="0" err="1">
                <a:solidFill>
                  <a:srgbClr val="0070C0"/>
                </a:solidFill>
              </a:rPr>
              <a:t>andr</a:t>
            </a:r>
            <a:r>
              <a:rPr lang="en-IN" b="1" dirty="0">
                <a:solidFill>
                  <a:srgbClr val="0070C0"/>
                </a:solidFill>
              </a:rPr>
              <a:t>/o</a:t>
            </a:r>
            <a:r>
              <a:rPr lang="en-IN" dirty="0">
                <a:solidFill>
                  <a:srgbClr val="0070C0"/>
                </a:solidFill>
              </a:rPr>
              <a:t> means male or masculine, and -</a:t>
            </a:r>
            <a:r>
              <a:rPr lang="en-IN" b="1" dirty="0">
                <a:solidFill>
                  <a:srgbClr val="0070C0"/>
                </a:solidFill>
              </a:rPr>
              <a:t>pause</a:t>
            </a:r>
            <a:r>
              <a:rPr lang="en-IN" dirty="0">
                <a:solidFill>
                  <a:srgbClr val="0070C0"/>
                </a:solidFill>
              </a:rPr>
              <a:t> means stopping</a:t>
            </a:r>
            <a:r>
              <a:rPr lang="en-IN" dirty="0"/>
              <a:t>). This change is also referred to as ADAM (Androgen Decline in the Aging Male). It usually begins in the late 40s and progresses very gradually over several decades. </a:t>
            </a:r>
          </a:p>
          <a:p>
            <a:pPr algn="just">
              <a:buFont typeface="Wingdings" pitchFamily="2" charset="2"/>
              <a:buChar char="q"/>
            </a:pPr>
            <a:r>
              <a:rPr lang="en-IN" b="1" dirty="0">
                <a:solidFill>
                  <a:srgbClr val="FF0000"/>
                </a:solidFill>
              </a:rPr>
              <a:t>Anorchism</a:t>
            </a:r>
            <a:r>
              <a:rPr lang="en-IN" dirty="0"/>
              <a:t> (an-OR-</a:t>
            </a:r>
            <a:r>
              <a:rPr lang="en-IN" dirty="0" err="1"/>
              <a:t>kizm</a:t>
            </a:r>
            <a:r>
              <a:rPr lang="en-IN" dirty="0"/>
              <a:t>) is the absence of one or both testicles (</a:t>
            </a:r>
            <a:r>
              <a:rPr lang="en-IN" b="1" dirty="0">
                <a:solidFill>
                  <a:srgbClr val="0070C0"/>
                </a:solidFill>
              </a:rPr>
              <a:t>an-</a:t>
            </a:r>
            <a:r>
              <a:rPr lang="en-IN" dirty="0">
                <a:solidFill>
                  <a:srgbClr val="0070C0"/>
                </a:solidFill>
              </a:rPr>
              <a:t> means without, </a:t>
            </a:r>
            <a:r>
              <a:rPr lang="en-IN" b="1" dirty="0" err="1">
                <a:solidFill>
                  <a:srgbClr val="0070C0"/>
                </a:solidFill>
              </a:rPr>
              <a:t>orch</a:t>
            </a:r>
            <a:r>
              <a:rPr lang="en-IN" dirty="0">
                <a:solidFill>
                  <a:srgbClr val="0070C0"/>
                </a:solidFill>
              </a:rPr>
              <a:t> means testicle, and -</a:t>
            </a:r>
            <a:r>
              <a:rPr lang="en-IN" b="1" dirty="0">
                <a:solidFill>
                  <a:srgbClr val="0070C0"/>
                </a:solidFill>
              </a:rPr>
              <a:t>ism</a:t>
            </a:r>
            <a:r>
              <a:rPr lang="en-IN" dirty="0">
                <a:solidFill>
                  <a:srgbClr val="0070C0"/>
                </a:solidFill>
              </a:rPr>
              <a:t> means abnormal condition</a:t>
            </a:r>
            <a:r>
              <a:rPr lang="en-IN" dirty="0"/>
              <a:t>). This condition can be congenital or caused by trauma or surgery</a:t>
            </a:r>
          </a:p>
          <a:p>
            <a:endParaRPr lang="en-IN" dirty="0"/>
          </a:p>
        </p:txBody>
      </p:sp>
    </p:spTree>
    <p:extLst>
      <p:ext uri="{BB962C8B-B14F-4D97-AF65-F5344CB8AC3E}">
        <p14:creationId xmlns:p14="http://schemas.microsoft.com/office/powerpoint/2010/main" val="3048801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473C2-9216-3D62-2415-1ADB261AE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DA36C1-7A01-A0EF-B6F2-C4F47EE4FD8C}"/>
              </a:ext>
            </a:extLst>
          </p:cNvPr>
          <p:cNvSpPr>
            <a:spLocks noGrp="1"/>
          </p:cNvSpPr>
          <p:nvPr>
            <p:ph type="title"/>
          </p:nvPr>
        </p:nvSpPr>
        <p:spPr/>
        <p:txBody>
          <a:bodyPr/>
          <a:lstStyle/>
          <a:p>
            <a:r>
              <a:rPr lang="en-US" dirty="0"/>
              <a:t>PATHOLOGY</a:t>
            </a:r>
            <a:endParaRPr lang="en-IN" dirty="0"/>
          </a:p>
        </p:txBody>
      </p:sp>
      <p:sp>
        <p:nvSpPr>
          <p:cNvPr id="3" name="Content Placeholder 2">
            <a:extLst>
              <a:ext uri="{FF2B5EF4-FFF2-40B4-BE49-F238E27FC236}">
                <a16:creationId xmlns:a16="http://schemas.microsoft.com/office/drawing/2014/main" id="{2D743D61-0F69-07C9-4603-885188E4C471}"/>
              </a:ext>
            </a:extLst>
          </p:cNvPr>
          <p:cNvSpPr>
            <a:spLocks noGrp="1"/>
          </p:cNvSpPr>
          <p:nvPr>
            <p:ph idx="1"/>
          </p:nvPr>
        </p:nvSpPr>
        <p:spPr/>
        <p:txBody>
          <a:bodyPr>
            <a:normAutofit/>
          </a:bodyPr>
          <a:lstStyle/>
          <a:p>
            <a:pPr algn="just">
              <a:buFont typeface="Wingdings" pitchFamily="2" charset="2"/>
              <a:buChar char="q"/>
            </a:pPr>
            <a:r>
              <a:rPr lang="en-IN" b="1" dirty="0">
                <a:solidFill>
                  <a:srgbClr val="FF0000"/>
                </a:solidFill>
              </a:rPr>
              <a:t>Cryptorchidism</a:t>
            </a:r>
            <a:r>
              <a:rPr lang="en-IN" dirty="0"/>
              <a:t> (</a:t>
            </a:r>
            <a:r>
              <a:rPr lang="en-IN" dirty="0" err="1"/>
              <a:t>krip</a:t>
            </a:r>
            <a:r>
              <a:rPr lang="en-IN" dirty="0"/>
              <a:t>-TOR-</a:t>
            </a:r>
            <a:r>
              <a:rPr lang="en-IN" dirty="0" err="1"/>
              <a:t>kih</a:t>
            </a:r>
            <a:r>
              <a:rPr lang="en-IN" dirty="0"/>
              <a:t>-</a:t>
            </a:r>
            <a:r>
              <a:rPr lang="en-IN" dirty="0" err="1"/>
              <a:t>dizm</a:t>
            </a:r>
            <a:r>
              <a:rPr lang="en-IN" dirty="0"/>
              <a:t>), also known as an undescended testicle, is a developmental defect in which one or both of the testicles fail to descend into their normal position in the scrotum (</a:t>
            </a:r>
            <a:r>
              <a:rPr lang="en-IN" b="1" dirty="0">
                <a:solidFill>
                  <a:srgbClr val="0070C0"/>
                </a:solidFill>
              </a:rPr>
              <a:t>crypt/o</a:t>
            </a:r>
            <a:r>
              <a:rPr lang="en-IN" dirty="0">
                <a:solidFill>
                  <a:srgbClr val="0070C0"/>
                </a:solidFill>
              </a:rPr>
              <a:t> means hidden, </a:t>
            </a:r>
            <a:r>
              <a:rPr lang="en-IN" b="1" dirty="0">
                <a:solidFill>
                  <a:srgbClr val="0070C0"/>
                </a:solidFill>
              </a:rPr>
              <a:t>orchid</a:t>
            </a:r>
            <a:r>
              <a:rPr lang="en-IN" dirty="0">
                <a:solidFill>
                  <a:srgbClr val="0070C0"/>
                </a:solidFill>
              </a:rPr>
              <a:t> means testicle, and -</a:t>
            </a:r>
            <a:r>
              <a:rPr lang="en-IN" b="1" dirty="0">
                <a:solidFill>
                  <a:srgbClr val="0070C0"/>
                </a:solidFill>
              </a:rPr>
              <a:t>ism</a:t>
            </a:r>
            <a:r>
              <a:rPr lang="en-IN" dirty="0">
                <a:solidFill>
                  <a:srgbClr val="0070C0"/>
                </a:solidFill>
              </a:rPr>
              <a:t> means abnormal condition</a:t>
            </a:r>
            <a:r>
              <a:rPr lang="en-IN" dirty="0"/>
              <a:t>). </a:t>
            </a:r>
          </a:p>
          <a:p>
            <a:pPr algn="just">
              <a:buFont typeface="Wingdings" pitchFamily="2" charset="2"/>
              <a:buChar char="q"/>
            </a:pPr>
            <a:r>
              <a:rPr lang="en-IN" b="1" dirty="0">
                <a:solidFill>
                  <a:srgbClr val="FF0000"/>
                </a:solidFill>
              </a:rPr>
              <a:t>Epididymitis</a:t>
            </a:r>
            <a:r>
              <a:rPr lang="en-IN" dirty="0"/>
              <a:t> (ep-</a:t>
            </a:r>
            <a:r>
              <a:rPr lang="en-IN" dirty="0" err="1"/>
              <a:t>ih</a:t>
            </a:r>
            <a:r>
              <a:rPr lang="en-IN" dirty="0"/>
              <a:t>-did-</a:t>
            </a:r>
            <a:r>
              <a:rPr lang="en-IN" dirty="0" err="1"/>
              <a:t>ih</a:t>
            </a:r>
            <a:r>
              <a:rPr lang="en-IN" dirty="0"/>
              <a:t>-MY-tis) is inflammation of the epididymis that is frequently caused by the spread of infection from the urethra or the bladder (</a:t>
            </a:r>
            <a:r>
              <a:rPr lang="en-IN" b="1" dirty="0" err="1">
                <a:solidFill>
                  <a:srgbClr val="0070C0"/>
                </a:solidFill>
              </a:rPr>
              <a:t>epididym</a:t>
            </a:r>
            <a:r>
              <a:rPr lang="en-IN" dirty="0">
                <a:solidFill>
                  <a:srgbClr val="0070C0"/>
                </a:solidFill>
              </a:rPr>
              <a:t> means epididymis, and -</a:t>
            </a:r>
            <a:r>
              <a:rPr lang="en-IN" b="1" dirty="0">
                <a:solidFill>
                  <a:srgbClr val="0070C0"/>
                </a:solidFill>
              </a:rPr>
              <a:t>itis</a:t>
            </a:r>
            <a:r>
              <a:rPr lang="en-IN" dirty="0">
                <a:solidFill>
                  <a:srgbClr val="0070C0"/>
                </a:solidFill>
              </a:rPr>
              <a:t> means inflammation</a:t>
            </a:r>
            <a:r>
              <a:rPr lang="en-IN" dirty="0"/>
              <a:t>) </a:t>
            </a:r>
          </a:p>
          <a:p>
            <a:pPr algn="just">
              <a:buFont typeface="Wingdings" pitchFamily="2" charset="2"/>
              <a:buChar char="q"/>
            </a:pPr>
            <a:r>
              <a:rPr lang="en-IN" dirty="0"/>
              <a:t>A </a:t>
            </a:r>
            <a:r>
              <a:rPr lang="en-IN" b="1" dirty="0">
                <a:solidFill>
                  <a:srgbClr val="FF0000"/>
                </a:solidFill>
              </a:rPr>
              <a:t>hydrocele</a:t>
            </a:r>
            <a:r>
              <a:rPr lang="en-IN" dirty="0"/>
              <a:t> (HIGH-</a:t>
            </a:r>
            <a:r>
              <a:rPr lang="en-IN" dirty="0" err="1"/>
              <a:t>droh</a:t>
            </a:r>
            <a:r>
              <a:rPr lang="en-IN" dirty="0"/>
              <a:t>-</a:t>
            </a:r>
            <a:r>
              <a:rPr lang="en-IN" dirty="0" err="1"/>
              <a:t>seel</a:t>
            </a:r>
            <a:r>
              <a:rPr lang="en-IN" dirty="0"/>
              <a:t>) is a fluid-filled sac in the scrotum along the spermatic cord leading from the testicles (</a:t>
            </a:r>
            <a:r>
              <a:rPr lang="en-IN" b="1" dirty="0" err="1">
                <a:solidFill>
                  <a:srgbClr val="0070C0"/>
                </a:solidFill>
              </a:rPr>
              <a:t>hydr</a:t>
            </a:r>
            <a:r>
              <a:rPr lang="en-IN" b="1" dirty="0">
                <a:solidFill>
                  <a:srgbClr val="0070C0"/>
                </a:solidFill>
              </a:rPr>
              <a:t>/o</a:t>
            </a:r>
            <a:r>
              <a:rPr lang="en-IN" dirty="0">
                <a:solidFill>
                  <a:srgbClr val="0070C0"/>
                </a:solidFill>
              </a:rPr>
              <a:t> means relating to water, and -</a:t>
            </a:r>
            <a:r>
              <a:rPr lang="en-IN" b="1" dirty="0" err="1">
                <a:solidFill>
                  <a:srgbClr val="0070C0"/>
                </a:solidFill>
              </a:rPr>
              <a:t>cele</a:t>
            </a:r>
            <a:r>
              <a:rPr lang="en-IN" dirty="0">
                <a:solidFill>
                  <a:srgbClr val="0070C0"/>
                </a:solidFill>
              </a:rPr>
              <a:t> means a hernia or swelling</a:t>
            </a:r>
            <a:r>
              <a:rPr lang="en-IN" dirty="0"/>
              <a:t>). Note: The term hydrocele is also used to describe the accumulation of fluid in any body cavity</a:t>
            </a:r>
          </a:p>
          <a:p>
            <a:endParaRPr lang="en-IN" dirty="0"/>
          </a:p>
        </p:txBody>
      </p:sp>
    </p:spTree>
    <p:extLst>
      <p:ext uri="{BB962C8B-B14F-4D97-AF65-F5344CB8AC3E}">
        <p14:creationId xmlns:p14="http://schemas.microsoft.com/office/powerpoint/2010/main" val="2652398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B49E1-9A92-643C-4A7A-D57F74CB08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B43F5-006F-5FC8-124E-1BFD2C497D8F}"/>
              </a:ext>
            </a:extLst>
          </p:cNvPr>
          <p:cNvSpPr>
            <a:spLocks noGrp="1"/>
          </p:cNvSpPr>
          <p:nvPr>
            <p:ph type="title"/>
          </p:nvPr>
        </p:nvSpPr>
        <p:spPr/>
        <p:txBody>
          <a:bodyPr/>
          <a:lstStyle/>
          <a:p>
            <a:r>
              <a:rPr lang="en-US" dirty="0"/>
              <a:t>PATHOLOGY</a:t>
            </a:r>
            <a:endParaRPr lang="en-IN" dirty="0"/>
          </a:p>
        </p:txBody>
      </p:sp>
      <p:sp>
        <p:nvSpPr>
          <p:cNvPr id="3" name="Content Placeholder 2">
            <a:extLst>
              <a:ext uri="{FF2B5EF4-FFF2-40B4-BE49-F238E27FC236}">
                <a16:creationId xmlns:a16="http://schemas.microsoft.com/office/drawing/2014/main" id="{7417DF6A-46E3-90A7-3758-65C7C231F2DE}"/>
              </a:ext>
            </a:extLst>
          </p:cNvPr>
          <p:cNvSpPr>
            <a:spLocks noGrp="1"/>
          </p:cNvSpPr>
          <p:nvPr>
            <p:ph idx="1"/>
          </p:nvPr>
        </p:nvSpPr>
        <p:spPr/>
        <p:txBody>
          <a:bodyPr>
            <a:normAutofit fontScale="92500" lnSpcReduction="10000"/>
          </a:bodyPr>
          <a:lstStyle/>
          <a:p>
            <a:pPr algn="just">
              <a:buFont typeface="Wingdings" pitchFamily="2" charset="2"/>
              <a:buChar char="q"/>
            </a:pPr>
            <a:r>
              <a:rPr lang="en-IN" b="1" dirty="0">
                <a:solidFill>
                  <a:srgbClr val="FF0000"/>
                </a:solidFill>
              </a:rPr>
              <a:t>Priapism</a:t>
            </a:r>
            <a:r>
              <a:rPr lang="en-IN" dirty="0"/>
              <a:t> (PRYE-ah-</a:t>
            </a:r>
            <a:r>
              <a:rPr lang="en-IN" dirty="0" err="1"/>
              <a:t>piz</a:t>
            </a:r>
            <a:r>
              <a:rPr lang="en-IN" dirty="0"/>
              <a:t>-</a:t>
            </a:r>
            <a:r>
              <a:rPr lang="en-IN" dirty="0" err="1"/>
              <a:t>em</a:t>
            </a:r>
            <a:r>
              <a:rPr lang="en-IN" dirty="0"/>
              <a:t>) is a painful erection that lasts more than 4 hours. The condition can be caused by medications or by blood-related diseases such as sickle cell </a:t>
            </a:r>
            <a:r>
              <a:rPr lang="en-IN" dirty="0" err="1"/>
              <a:t>anemia</a:t>
            </a:r>
            <a:r>
              <a:rPr lang="en-IN" dirty="0"/>
              <a:t> or </a:t>
            </a:r>
            <a:r>
              <a:rPr lang="en-IN" dirty="0" err="1"/>
              <a:t>leukemia</a:t>
            </a:r>
            <a:r>
              <a:rPr lang="en-IN" dirty="0"/>
              <a:t>. </a:t>
            </a:r>
          </a:p>
          <a:p>
            <a:pPr algn="just">
              <a:buFont typeface="Wingdings" pitchFamily="2" charset="2"/>
              <a:buChar char="q"/>
            </a:pPr>
            <a:r>
              <a:rPr lang="en-IN" dirty="0"/>
              <a:t>A </a:t>
            </a:r>
            <a:r>
              <a:rPr lang="en-IN" b="1" dirty="0">
                <a:solidFill>
                  <a:srgbClr val="FF0000"/>
                </a:solidFill>
              </a:rPr>
              <a:t>spermatocele</a:t>
            </a:r>
            <a:r>
              <a:rPr lang="en-IN" dirty="0"/>
              <a:t> (</a:t>
            </a:r>
            <a:r>
              <a:rPr lang="en-IN" dirty="0" err="1"/>
              <a:t>sper</a:t>
            </a:r>
            <a:r>
              <a:rPr lang="en-IN" dirty="0"/>
              <a:t>-MAH-</a:t>
            </a:r>
            <a:r>
              <a:rPr lang="en-IN" dirty="0" err="1"/>
              <a:t>toh</a:t>
            </a:r>
            <a:r>
              <a:rPr lang="en-IN" dirty="0"/>
              <a:t>-</a:t>
            </a:r>
            <a:r>
              <a:rPr lang="en-IN" dirty="0" err="1"/>
              <a:t>seel</a:t>
            </a:r>
            <a:r>
              <a:rPr lang="en-IN" dirty="0"/>
              <a:t>) is a cyst that develops in the epididymis and is filled with a milky fluid containing sperm (</a:t>
            </a:r>
            <a:r>
              <a:rPr lang="en-IN" b="1" dirty="0" err="1">
                <a:solidFill>
                  <a:srgbClr val="0070C0"/>
                </a:solidFill>
              </a:rPr>
              <a:t>spermat</a:t>
            </a:r>
            <a:r>
              <a:rPr lang="en-IN" b="1" dirty="0">
                <a:solidFill>
                  <a:srgbClr val="0070C0"/>
                </a:solidFill>
              </a:rPr>
              <a:t>/o</a:t>
            </a:r>
            <a:r>
              <a:rPr lang="en-IN" dirty="0">
                <a:solidFill>
                  <a:srgbClr val="0070C0"/>
                </a:solidFill>
              </a:rPr>
              <a:t> means sperm, and -</a:t>
            </a:r>
            <a:r>
              <a:rPr lang="en-IN" b="1" dirty="0" err="1">
                <a:solidFill>
                  <a:srgbClr val="0070C0"/>
                </a:solidFill>
              </a:rPr>
              <a:t>cele</a:t>
            </a:r>
            <a:r>
              <a:rPr lang="en-IN" dirty="0">
                <a:solidFill>
                  <a:srgbClr val="0070C0"/>
                </a:solidFill>
              </a:rPr>
              <a:t> means hernia, </a:t>
            </a:r>
            <a:r>
              <a:rPr lang="en-IN" dirty="0" err="1">
                <a:solidFill>
                  <a:srgbClr val="0070C0"/>
                </a:solidFill>
              </a:rPr>
              <a:t>tumor</a:t>
            </a:r>
            <a:r>
              <a:rPr lang="en-IN" dirty="0">
                <a:solidFill>
                  <a:srgbClr val="0070C0"/>
                </a:solidFill>
              </a:rPr>
              <a:t>, or swelling</a:t>
            </a:r>
            <a:r>
              <a:rPr lang="en-IN" dirty="0"/>
              <a:t>). </a:t>
            </a:r>
          </a:p>
          <a:p>
            <a:pPr algn="just">
              <a:spcAft>
                <a:spcPts val="600"/>
              </a:spcAft>
              <a:buFont typeface="Wingdings" pitchFamily="2" charset="2"/>
              <a:buChar char="q"/>
            </a:pPr>
            <a:r>
              <a:rPr lang="en-IN" b="1" dirty="0">
                <a:solidFill>
                  <a:srgbClr val="FF0000"/>
                </a:solidFill>
              </a:rPr>
              <a:t>Testicular torsion </a:t>
            </a:r>
            <a:r>
              <a:rPr lang="en-IN" dirty="0"/>
              <a:t>is a sharp pain in the scrotum caused by twisting of the vas deferens and blood vessels leading into the testicle. Torsion means twisting. </a:t>
            </a:r>
          </a:p>
          <a:p>
            <a:pPr algn="just">
              <a:spcAft>
                <a:spcPts val="600"/>
              </a:spcAft>
              <a:buFont typeface="Wingdings" pitchFamily="2" charset="2"/>
              <a:buChar char="q"/>
            </a:pPr>
            <a:r>
              <a:rPr lang="en-IN" b="1" dirty="0" err="1">
                <a:solidFill>
                  <a:srgbClr val="FF0000"/>
                </a:solidFill>
              </a:rPr>
              <a:t>Testitis</a:t>
            </a:r>
            <a:r>
              <a:rPr lang="en-IN" dirty="0"/>
              <a:t> (test-TYE-tis), also known as </a:t>
            </a:r>
            <a:r>
              <a:rPr lang="en-IN" b="1" dirty="0">
                <a:solidFill>
                  <a:srgbClr val="FF0000"/>
                </a:solidFill>
              </a:rPr>
              <a:t>orchitis</a:t>
            </a:r>
            <a:r>
              <a:rPr lang="en-IN" dirty="0"/>
              <a:t>, is inflammation of one or both testicles (</a:t>
            </a:r>
            <a:r>
              <a:rPr lang="en-IN" b="1" dirty="0">
                <a:solidFill>
                  <a:srgbClr val="0070C0"/>
                </a:solidFill>
              </a:rPr>
              <a:t>test</a:t>
            </a:r>
            <a:r>
              <a:rPr lang="en-IN" dirty="0">
                <a:solidFill>
                  <a:srgbClr val="0070C0"/>
                </a:solidFill>
              </a:rPr>
              <a:t> means testicle, and -</a:t>
            </a:r>
            <a:r>
              <a:rPr lang="en-IN" b="1" dirty="0">
                <a:solidFill>
                  <a:srgbClr val="0070C0"/>
                </a:solidFill>
              </a:rPr>
              <a:t>itis</a:t>
            </a:r>
            <a:r>
              <a:rPr lang="en-IN" dirty="0">
                <a:solidFill>
                  <a:srgbClr val="0070C0"/>
                </a:solidFill>
              </a:rPr>
              <a:t> means inflammation</a:t>
            </a:r>
            <a:r>
              <a:rPr lang="en-IN" dirty="0"/>
              <a:t>).</a:t>
            </a:r>
          </a:p>
          <a:p>
            <a:pPr algn="just">
              <a:spcAft>
                <a:spcPts val="600"/>
              </a:spcAft>
              <a:buFont typeface="Wingdings" pitchFamily="2" charset="2"/>
              <a:buChar char="q"/>
            </a:pPr>
            <a:r>
              <a:rPr lang="en-IN" dirty="0"/>
              <a:t>A </a:t>
            </a:r>
            <a:r>
              <a:rPr lang="en-IN" b="1" dirty="0">
                <a:solidFill>
                  <a:srgbClr val="FF0000"/>
                </a:solidFill>
              </a:rPr>
              <a:t>varicocele</a:t>
            </a:r>
            <a:r>
              <a:rPr lang="en-IN" dirty="0"/>
              <a:t> (VAR-</a:t>
            </a:r>
            <a:r>
              <a:rPr lang="en-IN" dirty="0" err="1"/>
              <a:t>ih</a:t>
            </a:r>
            <a:r>
              <a:rPr lang="en-IN" dirty="0"/>
              <a:t>-</a:t>
            </a:r>
            <a:r>
              <a:rPr lang="en-IN" dirty="0" err="1"/>
              <a:t>koh-seel</a:t>
            </a:r>
            <a:r>
              <a:rPr lang="en-IN" dirty="0"/>
              <a:t>) is a knot of varicose veins in one side of the scrotum (</a:t>
            </a:r>
            <a:r>
              <a:rPr lang="en-IN" b="1" dirty="0" err="1">
                <a:solidFill>
                  <a:srgbClr val="0070C0"/>
                </a:solidFill>
              </a:rPr>
              <a:t>varic</a:t>
            </a:r>
            <a:r>
              <a:rPr lang="en-IN" b="1" dirty="0">
                <a:solidFill>
                  <a:srgbClr val="0070C0"/>
                </a:solidFill>
              </a:rPr>
              <a:t>/o</a:t>
            </a:r>
            <a:r>
              <a:rPr lang="en-IN" dirty="0">
                <a:solidFill>
                  <a:srgbClr val="0070C0"/>
                </a:solidFill>
              </a:rPr>
              <a:t> means varicose veins, and -</a:t>
            </a:r>
            <a:r>
              <a:rPr lang="en-IN" b="1" dirty="0" err="1">
                <a:solidFill>
                  <a:srgbClr val="0070C0"/>
                </a:solidFill>
              </a:rPr>
              <a:t>cele</a:t>
            </a:r>
            <a:r>
              <a:rPr lang="en-IN" dirty="0">
                <a:solidFill>
                  <a:srgbClr val="0070C0"/>
                </a:solidFill>
              </a:rPr>
              <a:t> means a hernia or swelling</a:t>
            </a:r>
            <a:r>
              <a:rPr lang="en-IN" dirty="0"/>
              <a:t>). Varicose veins are abnormally swollen veins.</a:t>
            </a:r>
          </a:p>
          <a:p>
            <a:endParaRPr lang="en-IN" dirty="0"/>
          </a:p>
        </p:txBody>
      </p:sp>
    </p:spTree>
    <p:extLst>
      <p:ext uri="{BB962C8B-B14F-4D97-AF65-F5344CB8AC3E}">
        <p14:creationId xmlns:p14="http://schemas.microsoft.com/office/powerpoint/2010/main" val="1228320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5E973-F696-3E02-92FE-C7FEFE6FB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C3B7C8-5B10-A299-60AB-C32A23E718C4}"/>
              </a:ext>
            </a:extLst>
          </p:cNvPr>
          <p:cNvSpPr>
            <a:spLocks noGrp="1"/>
          </p:cNvSpPr>
          <p:nvPr>
            <p:ph type="title"/>
          </p:nvPr>
        </p:nvSpPr>
        <p:spPr/>
        <p:txBody>
          <a:bodyPr/>
          <a:lstStyle/>
          <a:p>
            <a:r>
              <a:rPr lang="en-US" dirty="0"/>
              <a:t>DIAGNOSTIC PROCEDURES</a:t>
            </a:r>
            <a:endParaRPr lang="en-IN" dirty="0"/>
          </a:p>
        </p:txBody>
      </p:sp>
      <p:sp>
        <p:nvSpPr>
          <p:cNvPr id="3" name="Content Placeholder 2">
            <a:extLst>
              <a:ext uri="{FF2B5EF4-FFF2-40B4-BE49-F238E27FC236}">
                <a16:creationId xmlns:a16="http://schemas.microsoft.com/office/drawing/2014/main" id="{01E66CE5-DD96-6942-B83A-1ABF7DB44E8E}"/>
              </a:ext>
            </a:extLst>
          </p:cNvPr>
          <p:cNvSpPr>
            <a:spLocks noGrp="1"/>
          </p:cNvSpPr>
          <p:nvPr>
            <p:ph idx="1"/>
          </p:nvPr>
        </p:nvSpPr>
        <p:spPr/>
        <p:txBody>
          <a:bodyPr>
            <a:normAutofit/>
          </a:bodyPr>
          <a:lstStyle/>
          <a:p>
            <a:pPr algn="just">
              <a:spcAft>
                <a:spcPts val="1200"/>
              </a:spcAft>
              <a:buFont typeface="Wingdings" pitchFamily="2" charset="2"/>
              <a:buChar char="§"/>
            </a:pPr>
            <a:r>
              <a:rPr lang="en-IN" b="1" dirty="0">
                <a:solidFill>
                  <a:srgbClr val="FF0000"/>
                </a:solidFill>
              </a:rPr>
              <a:t>Sperm count</a:t>
            </a:r>
            <a:r>
              <a:rPr lang="en-IN" dirty="0"/>
              <a:t>, also known as a </a:t>
            </a:r>
            <a:r>
              <a:rPr lang="en-IN" u="sng" dirty="0"/>
              <a:t>sperm analysis</a:t>
            </a:r>
            <a:r>
              <a:rPr lang="en-IN" dirty="0"/>
              <a:t>, is the testing of freshly ejaculated semen to determine the volume plus the number, shape, size, and motility of the sperm. </a:t>
            </a:r>
          </a:p>
          <a:p>
            <a:pPr marL="0" indent="0" algn="just">
              <a:spcAft>
                <a:spcPts val="1200"/>
              </a:spcAft>
              <a:buNone/>
            </a:pPr>
            <a:endParaRPr lang="en-IN" dirty="0"/>
          </a:p>
          <a:p>
            <a:pPr algn="just">
              <a:spcAft>
                <a:spcPts val="1200"/>
              </a:spcAft>
              <a:buFont typeface="Wingdings" pitchFamily="2" charset="2"/>
              <a:buChar char="§"/>
            </a:pPr>
            <a:r>
              <a:rPr lang="en-IN" b="1" dirty="0">
                <a:solidFill>
                  <a:srgbClr val="FF0000"/>
                </a:solidFill>
              </a:rPr>
              <a:t>Testicular self-examination </a:t>
            </a:r>
            <a:r>
              <a:rPr lang="en-IN" dirty="0"/>
              <a:t>is a self-help step in early detection of testicular cancer by detecting lumps, swelling, or changes in the skin of the scrotum.</a:t>
            </a:r>
          </a:p>
          <a:p>
            <a:endParaRPr lang="en-IN" dirty="0"/>
          </a:p>
        </p:txBody>
      </p:sp>
    </p:spTree>
    <p:extLst>
      <p:ext uri="{BB962C8B-B14F-4D97-AF65-F5344CB8AC3E}">
        <p14:creationId xmlns:p14="http://schemas.microsoft.com/office/powerpoint/2010/main" val="1323713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C5BA0-E21D-2534-09EF-4CF9E41D83A4}"/>
              </a:ext>
            </a:extLst>
          </p:cNvPr>
          <p:cNvSpPr>
            <a:spLocks noGrp="1"/>
          </p:cNvSpPr>
          <p:nvPr>
            <p:ph type="title"/>
          </p:nvPr>
        </p:nvSpPr>
        <p:spPr/>
        <p:txBody>
          <a:bodyPr/>
          <a:lstStyle/>
          <a:p>
            <a:r>
              <a:rPr lang="en-US" dirty="0"/>
              <a:t>TREATMENT</a:t>
            </a:r>
            <a:endParaRPr lang="en-IN" dirty="0"/>
          </a:p>
        </p:txBody>
      </p:sp>
      <p:sp>
        <p:nvSpPr>
          <p:cNvPr id="3" name="Content Placeholder 2">
            <a:extLst>
              <a:ext uri="{FF2B5EF4-FFF2-40B4-BE49-F238E27FC236}">
                <a16:creationId xmlns:a16="http://schemas.microsoft.com/office/drawing/2014/main" id="{6133C5F8-E235-2A69-C919-E8A036883630}"/>
              </a:ext>
            </a:extLst>
          </p:cNvPr>
          <p:cNvSpPr>
            <a:spLocks noGrp="1"/>
          </p:cNvSpPr>
          <p:nvPr>
            <p:ph idx="1"/>
          </p:nvPr>
        </p:nvSpPr>
        <p:spPr/>
        <p:txBody>
          <a:bodyPr>
            <a:normAutofit fontScale="92500" lnSpcReduction="10000"/>
          </a:bodyPr>
          <a:lstStyle/>
          <a:p>
            <a:pPr algn="just">
              <a:spcBef>
                <a:spcPts val="1200"/>
              </a:spcBef>
              <a:spcAft>
                <a:spcPts val="1800"/>
              </a:spcAft>
              <a:buFont typeface="Wingdings" pitchFamily="2" charset="2"/>
              <a:buChar char="§"/>
            </a:pPr>
            <a:r>
              <a:rPr lang="en-IN" b="1" dirty="0">
                <a:solidFill>
                  <a:srgbClr val="FF0000"/>
                </a:solidFill>
              </a:rPr>
              <a:t>Circumcision</a:t>
            </a:r>
            <a:r>
              <a:rPr lang="en-IN" dirty="0"/>
              <a:t> (ser-</a:t>
            </a:r>
            <a:r>
              <a:rPr lang="en-IN" dirty="0" err="1"/>
              <a:t>kum</a:t>
            </a:r>
            <a:r>
              <a:rPr lang="en-IN" dirty="0"/>
              <a:t>-SIZH-un) is the surgical removal of the foreskin of the penis. This procedure is usually performed within a few days of birth. </a:t>
            </a:r>
          </a:p>
          <a:p>
            <a:pPr algn="just">
              <a:spcBef>
                <a:spcPts val="1200"/>
              </a:spcBef>
              <a:spcAft>
                <a:spcPts val="1800"/>
              </a:spcAft>
              <a:buFont typeface="Wingdings" pitchFamily="2" charset="2"/>
              <a:buChar char="§"/>
            </a:pPr>
            <a:r>
              <a:rPr lang="en-IN" dirty="0"/>
              <a:t>An </a:t>
            </a:r>
            <a:r>
              <a:rPr lang="en-IN" b="1" dirty="0">
                <a:solidFill>
                  <a:srgbClr val="FF0000"/>
                </a:solidFill>
              </a:rPr>
              <a:t>orchidectomy</a:t>
            </a:r>
            <a:r>
              <a:rPr lang="en-IN" dirty="0"/>
              <a:t> (or-</a:t>
            </a:r>
            <a:r>
              <a:rPr lang="en-IN" dirty="0" err="1"/>
              <a:t>kih</a:t>
            </a:r>
            <a:r>
              <a:rPr lang="en-IN" dirty="0"/>
              <a:t>-DECK-</a:t>
            </a:r>
            <a:r>
              <a:rPr lang="en-IN" dirty="0" err="1"/>
              <a:t>toh</a:t>
            </a:r>
            <a:r>
              <a:rPr lang="en-IN" dirty="0"/>
              <a:t>-mee), also spelled as orchiectomy, is the surgical removal of one or both testicles (</a:t>
            </a:r>
            <a:r>
              <a:rPr lang="en-IN" b="1" dirty="0">
                <a:solidFill>
                  <a:srgbClr val="0070C0"/>
                </a:solidFill>
              </a:rPr>
              <a:t>orchid</a:t>
            </a:r>
            <a:r>
              <a:rPr lang="en-IN" dirty="0">
                <a:solidFill>
                  <a:srgbClr val="0070C0"/>
                </a:solidFill>
              </a:rPr>
              <a:t> means testicle, and -</a:t>
            </a:r>
            <a:r>
              <a:rPr lang="en-IN" b="1" dirty="0" err="1">
                <a:solidFill>
                  <a:srgbClr val="0070C0"/>
                </a:solidFill>
              </a:rPr>
              <a:t>ectomy</a:t>
            </a:r>
            <a:r>
              <a:rPr lang="en-IN" dirty="0">
                <a:solidFill>
                  <a:srgbClr val="0070C0"/>
                </a:solidFill>
              </a:rPr>
              <a:t> means surgical removal).</a:t>
            </a:r>
          </a:p>
          <a:p>
            <a:pPr algn="just">
              <a:spcBef>
                <a:spcPts val="1200"/>
              </a:spcBef>
              <a:spcAft>
                <a:spcPts val="1200"/>
              </a:spcAft>
              <a:buFont typeface="Wingdings" pitchFamily="2" charset="2"/>
              <a:buChar char="§"/>
            </a:pPr>
            <a:r>
              <a:rPr lang="en-IN" b="1" dirty="0">
                <a:solidFill>
                  <a:srgbClr val="FF0000"/>
                </a:solidFill>
              </a:rPr>
              <a:t>Orchiopexy</a:t>
            </a:r>
            <a:r>
              <a:rPr lang="en-IN" dirty="0"/>
              <a:t> (or-</a:t>
            </a:r>
            <a:r>
              <a:rPr lang="en-IN" dirty="0" err="1"/>
              <a:t>kee</a:t>
            </a:r>
            <a:r>
              <a:rPr lang="en-IN" dirty="0"/>
              <a:t>-oh-PECK-see) is endoscopic surgery to move an undescended testicle into its normal position in the scrotum (</a:t>
            </a:r>
            <a:r>
              <a:rPr lang="en-IN" b="1" dirty="0" err="1">
                <a:solidFill>
                  <a:srgbClr val="0070C0"/>
                </a:solidFill>
              </a:rPr>
              <a:t>orchi</a:t>
            </a:r>
            <a:r>
              <a:rPr lang="en-IN" b="1" dirty="0">
                <a:solidFill>
                  <a:srgbClr val="0070C0"/>
                </a:solidFill>
              </a:rPr>
              <a:t>/o</a:t>
            </a:r>
            <a:r>
              <a:rPr lang="en-IN" dirty="0">
                <a:solidFill>
                  <a:srgbClr val="0070C0"/>
                </a:solidFill>
              </a:rPr>
              <a:t> means testicle, and -</a:t>
            </a:r>
            <a:r>
              <a:rPr lang="en-IN" b="1" dirty="0" err="1">
                <a:solidFill>
                  <a:srgbClr val="0070C0"/>
                </a:solidFill>
              </a:rPr>
              <a:t>pexy</a:t>
            </a:r>
            <a:r>
              <a:rPr lang="en-IN" dirty="0">
                <a:solidFill>
                  <a:srgbClr val="0070C0"/>
                </a:solidFill>
              </a:rPr>
              <a:t> means surgical fixation</a:t>
            </a:r>
            <a:r>
              <a:rPr lang="en-IN" dirty="0"/>
              <a:t>). This procedure is usually performed on infants before the age of 1 year. </a:t>
            </a:r>
          </a:p>
          <a:p>
            <a:pPr algn="just">
              <a:spcBef>
                <a:spcPts val="1200"/>
              </a:spcBef>
              <a:spcAft>
                <a:spcPts val="1200"/>
              </a:spcAft>
              <a:buFont typeface="Wingdings" pitchFamily="2" charset="2"/>
              <a:buChar char="§"/>
            </a:pPr>
            <a:r>
              <a:rPr lang="en-IN" dirty="0"/>
              <a:t>A </a:t>
            </a:r>
            <a:r>
              <a:rPr lang="en-IN" b="1" dirty="0">
                <a:solidFill>
                  <a:srgbClr val="FF0000"/>
                </a:solidFill>
              </a:rPr>
              <a:t>varicocelectomy</a:t>
            </a:r>
            <a:r>
              <a:rPr lang="en-IN" dirty="0"/>
              <a:t> (var-</a:t>
            </a:r>
            <a:r>
              <a:rPr lang="en-IN" dirty="0" err="1"/>
              <a:t>ih</a:t>
            </a:r>
            <a:r>
              <a:rPr lang="en-IN" dirty="0"/>
              <a:t>-</a:t>
            </a:r>
            <a:r>
              <a:rPr lang="en-IN" dirty="0" err="1"/>
              <a:t>koh</a:t>
            </a:r>
            <a:r>
              <a:rPr lang="en-IN" dirty="0"/>
              <a:t>-</a:t>
            </a:r>
            <a:r>
              <a:rPr lang="en-IN" dirty="0" err="1"/>
              <a:t>sih</a:t>
            </a:r>
            <a:r>
              <a:rPr lang="en-IN" dirty="0"/>
              <a:t>-LECK-</a:t>
            </a:r>
            <a:r>
              <a:rPr lang="en-IN" dirty="0" err="1"/>
              <a:t>toh</a:t>
            </a:r>
            <a:r>
              <a:rPr lang="en-IN" dirty="0"/>
              <a:t>-mee) is the removal of a portion of an enlarged vein to relieve a varicocele (</a:t>
            </a:r>
            <a:r>
              <a:rPr lang="en-IN" b="1" dirty="0" err="1">
                <a:solidFill>
                  <a:srgbClr val="0070C0"/>
                </a:solidFill>
              </a:rPr>
              <a:t>varic</a:t>
            </a:r>
            <a:r>
              <a:rPr lang="en-IN" b="1" dirty="0">
                <a:solidFill>
                  <a:srgbClr val="0070C0"/>
                </a:solidFill>
              </a:rPr>
              <a:t>/o</a:t>
            </a:r>
            <a:r>
              <a:rPr lang="en-IN" dirty="0">
                <a:solidFill>
                  <a:srgbClr val="0070C0"/>
                </a:solidFill>
              </a:rPr>
              <a:t> means varicose vein, </a:t>
            </a:r>
            <a:r>
              <a:rPr lang="en-IN" b="1" dirty="0">
                <a:solidFill>
                  <a:srgbClr val="0070C0"/>
                </a:solidFill>
              </a:rPr>
              <a:t>cel</a:t>
            </a:r>
            <a:r>
              <a:rPr lang="en-IN" dirty="0">
                <a:solidFill>
                  <a:srgbClr val="0070C0"/>
                </a:solidFill>
              </a:rPr>
              <a:t> means swelling, and -</a:t>
            </a:r>
            <a:r>
              <a:rPr lang="en-IN" b="1" dirty="0" err="1">
                <a:solidFill>
                  <a:srgbClr val="0070C0"/>
                </a:solidFill>
              </a:rPr>
              <a:t>ectomy</a:t>
            </a:r>
            <a:r>
              <a:rPr lang="en-IN" dirty="0">
                <a:solidFill>
                  <a:srgbClr val="0070C0"/>
                </a:solidFill>
              </a:rPr>
              <a:t> means surgical removal</a:t>
            </a:r>
            <a:r>
              <a:rPr lang="en-IN" dirty="0"/>
              <a:t>).</a:t>
            </a:r>
          </a:p>
          <a:p>
            <a:pPr algn="just">
              <a:spcBef>
                <a:spcPts val="1200"/>
              </a:spcBef>
              <a:spcAft>
                <a:spcPts val="1800"/>
              </a:spcAft>
              <a:buFont typeface="Wingdings" pitchFamily="2" charset="2"/>
              <a:buChar char="§"/>
            </a:pPr>
            <a:endParaRPr lang="en-IN" dirty="0"/>
          </a:p>
        </p:txBody>
      </p:sp>
    </p:spTree>
    <p:extLst>
      <p:ext uri="{BB962C8B-B14F-4D97-AF65-F5344CB8AC3E}">
        <p14:creationId xmlns:p14="http://schemas.microsoft.com/office/powerpoint/2010/main" val="3556995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91FC0-5360-82D9-D42A-F56CA59AC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9B2A2-C967-3A4B-4BDB-B2F2CE5568F8}"/>
              </a:ext>
            </a:extLst>
          </p:cNvPr>
          <p:cNvSpPr>
            <a:spLocks noGrp="1"/>
          </p:cNvSpPr>
          <p:nvPr>
            <p:ph type="title"/>
          </p:nvPr>
        </p:nvSpPr>
        <p:spPr/>
        <p:txBody>
          <a:bodyPr/>
          <a:lstStyle/>
          <a:p>
            <a:r>
              <a:rPr lang="en-US" dirty="0"/>
              <a:t>MALE STERILIZATION</a:t>
            </a:r>
            <a:endParaRPr lang="en-IN" dirty="0"/>
          </a:p>
        </p:txBody>
      </p:sp>
      <p:sp>
        <p:nvSpPr>
          <p:cNvPr id="3" name="Content Placeholder 2">
            <a:extLst>
              <a:ext uri="{FF2B5EF4-FFF2-40B4-BE49-F238E27FC236}">
                <a16:creationId xmlns:a16="http://schemas.microsoft.com/office/drawing/2014/main" id="{8082B691-7BD7-B7C9-C3ED-ACDDEF0BE705}"/>
              </a:ext>
            </a:extLst>
          </p:cNvPr>
          <p:cNvSpPr>
            <a:spLocks noGrp="1"/>
          </p:cNvSpPr>
          <p:nvPr>
            <p:ph idx="1"/>
          </p:nvPr>
        </p:nvSpPr>
        <p:spPr/>
        <p:txBody>
          <a:bodyPr/>
          <a:lstStyle/>
          <a:p>
            <a:pPr marL="360000" indent="-360000" algn="just">
              <a:spcBef>
                <a:spcPts val="0"/>
              </a:spcBef>
              <a:buFont typeface="Wingdings" pitchFamily="2" charset="2"/>
              <a:buChar char="q"/>
            </a:pPr>
            <a:r>
              <a:rPr lang="en-IN" dirty="0"/>
              <a:t>Sterilization is any procedure rendering an individual (male or female) incapable of reproduction. </a:t>
            </a:r>
          </a:p>
          <a:p>
            <a:pPr marL="0" indent="0" algn="just">
              <a:spcBef>
                <a:spcPts val="0"/>
              </a:spcBef>
              <a:buNone/>
            </a:pPr>
            <a:endParaRPr lang="en-IN" dirty="0"/>
          </a:p>
          <a:p>
            <a:pPr marL="360000" indent="-360000" algn="just">
              <a:spcBef>
                <a:spcPts val="0"/>
              </a:spcBef>
              <a:buFont typeface="Wingdings" pitchFamily="2" charset="2"/>
              <a:buChar char="q"/>
            </a:pPr>
            <a:r>
              <a:rPr lang="en-IN" b="1" dirty="0">
                <a:solidFill>
                  <a:srgbClr val="FF0000"/>
                </a:solidFill>
              </a:rPr>
              <a:t>Castration</a:t>
            </a:r>
            <a:r>
              <a:rPr lang="en-IN" dirty="0"/>
              <a:t> (kas-TRAY-shun), also known as bilateral orchidectomy, is the surgical removal or destruction of both testicles. </a:t>
            </a:r>
          </a:p>
          <a:p>
            <a:pPr marL="0" indent="0" algn="just">
              <a:spcBef>
                <a:spcPts val="0"/>
              </a:spcBef>
              <a:buNone/>
            </a:pPr>
            <a:endParaRPr lang="en-IN" dirty="0"/>
          </a:p>
          <a:p>
            <a:pPr marL="360000" indent="-360000" algn="just">
              <a:spcBef>
                <a:spcPts val="0"/>
              </a:spcBef>
              <a:buFont typeface="Wingdings" pitchFamily="2" charset="2"/>
              <a:buChar char="q"/>
            </a:pPr>
            <a:r>
              <a:rPr lang="en-IN" dirty="0"/>
              <a:t>A </a:t>
            </a:r>
            <a:r>
              <a:rPr lang="en-IN" b="1" dirty="0">
                <a:solidFill>
                  <a:srgbClr val="FF0000"/>
                </a:solidFill>
              </a:rPr>
              <a:t>vasectomy</a:t>
            </a:r>
            <a:r>
              <a:rPr lang="en-IN" dirty="0"/>
              <a:t> (</a:t>
            </a:r>
            <a:r>
              <a:rPr lang="en-IN" dirty="0" err="1"/>
              <a:t>vah</a:t>
            </a:r>
            <a:r>
              <a:rPr lang="en-IN" dirty="0"/>
              <a:t>-SECK-</a:t>
            </a:r>
            <a:r>
              <a:rPr lang="en-IN" dirty="0" err="1"/>
              <a:t>toh</a:t>
            </a:r>
            <a:r>
              <a:rPr lang="en-IN" dirty="0"/>
              <a:t>-mee) is the male sterilization procedure in which a small portion of the vas deferens is surgically removed (</a:t>
            </a:r>
            <a:r>
              <a:rPr lang="en-IN" b="1" dirty="0">
                <a:solidFill>
                  <a:srgbClr val="0070C0"/>
                </a:solidFill>
              </a:rPr>
              <a:t>vas</a:t>
            </a:r>
            <a:r>
              <a:rPr lang="en-IN" dirty="0">
                <a:solidFill>
                  <a:srgbClr val="0070C0"/>
                </a:solidFill>
              </a:rPr>
              <a:t> means vas deferens, and -</a:t>
            </a:r>
            <a:r>
              <a:rPr lang="en-IN" b="1" dirty="0" err="1">
                <a:solidFill>
                  <a:srgbClr val="0070C0"/>
                </a:solidFill>
              </a:rPr>
              <a:t>ectomy</a:t>
            </a:r>
            <a:r>
              <a:rPr lang="en-IN" dirty="0">
                <a:solidFill>
                  <a:srgbClr val="0070C0"/>
                </a:solidFill>
              </a:rPr>
              <a:t> means surgical removal</a:t>
            </a:r>
            <a:r>
              <a:rPr lang="en-IN" dirty="0"/>
              <a:t>). This prevents sperm from entering the ejaculate, but does not change the volume of semen.</a:t>
            </a:r>
          </a:p>
        </p:txBody>
      </p:sp>
    </p:spTree>
    <p:extLst>
      <p:ext uri="{BB962C8B-B14F-4D97-AF65-F5344CB8AC3E}">
        <p14:creationId xmlns:p14="http://schemas.microsoft.com/office/powerpoint/2010/main" val="12197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FD7A6-FC2F-7F79-61C0-06B48CCFB542}"/>
              </a:ext>
            </a:extLst>
          </p:cNvPr>
          <p:cNvSpPr>
            <a:spLocks noGrp="1"/>
          </p:cNvSpPr>
          <p:nvPr>
            <p:ph type="title"/>
          </p:nvPr>
        </p:nvSpPr>
        <p:spPr/>
        <p:txBody>
          <a:bodyPr/>
          <a:lstStyle/>
          <a:p>
            <a:r>
              <a:rPr lang="en-US" dirty="0"/>
              <a:t>STDs</a:t>
            </a:r>
            <a:endParaRPr lang="en-IN" dirty="0"/>
          </a:p>
        </p:txBody>
      </p:sp>
      <p:sp>
        <p:nvSpPr>
          <p:cNvPr id="3" name="Content Placeholder 2">
            <a:extLst>
              <a:ext uri="{FF2B5EF4-FFF2-40B4-BE49-F238E27FC236}">
                <a16:creationId xmlns:a16="http://schemas.microsoft.com/office/drawing/2014/main" id="{E5BDD833-3B74-78FB-4485-7F2E2BBBB1F6}"/>
              </a:ext>
            </a:extLst>
          </p:cNvPr>
          <p:cNvSpPr>
            <a:spLocks noGrp="1"/>
          </p:cNvSpPr>
          <p:nvPr>
            <p:ph idx="1"/>
          </p:nvPr>
        </p:nvSpPr>
        <p:spPr/>
        <p:txBody>
          <a:bodyPr/>
          <a:lstStyle/>
          <a:p>
            <a:pPr algn="just">
              <a:buFont typeface="Wingdings" pitchFamily="2" charset="2"/>
              <a:buChar char="§"/>
            </a:pPr>
            <a:r>
              <a:rPr lang="en-IN" b="1" dirty="0">
                <a:solidFill>
                  <a:srgbClr val="FF0000"/>
                </a:solidFill>
              </a:rPr>
              <a:t>Sexually transmitted diseases </a:t>
            </a:r>
            <a:r>
              <a:rPr lang="en-IN" dirty="0"/>
              <a:t>(STDs), also known as venereal diseases (VD), are infections that affect both males and females. These conditions are commonly spread through sexual intercourse or other genital contact. </a:t>
            </a:r>
          </a:p>
          <a:p>
            <a:pPr marL="0" indent="0" algn="just">
              <a:buNone/>
            </a:pPr>
            <a:endParaRPr lang="en-IN" dirty="0"/>
          </a:p>
          <a:p>
            <a:pPr algn="just">
              <a:buFont typeface="Wingdings" pitchFamily="2" charset="2"/>
              <a:buChar char="§"/>
            </a:pPr>
            <a:r>
              <a:rPr lang="en-IN" dirty="0"/>
              <a:t>A pregnant woman who is infected with one of these diseases can transmit it to her baby during birth. For this reason, all newborns receive one drop of silver nitrate or an antibiotic ointment in each eye immediately after birth to prevent </a:t>
            </a:r>
            <a:r>
              <a:rPr lang="en-IN" b="1" dirty="0">
                <a:solidFill>
                  <a:srgbClr val="FF0000"/>
                </a:solidFill>
              </a:rPr>
              <a:t>ophthalmia</a:t>
            </a:r>
            <a:r>
              <a:rPr lang="en-IN" dirty="0">
                <a:solidFill>
                  <a:srgbClr val="FF0000"/>
                </a:solidFill>
              </a:rPr>
              <a:t> </a:t>
            </a:r>
            <a:r>
              <a:rPr lang="en-IN" b="1" dirty="0">
                <a:solidFill>
                  <a:srgbClr val="FF0000"/>
                </a:solidFill>
              </a:rPr>
              <a:t>neonatorum</a:t>
            </a:r>
            <a:r>
              <a:rPr lang="en-IN" dirty="0"/>
              <a:t>. This condition is a form of conjunctivitis that is caused by the bacteria responsible for </a:t>
            </a:r>
            <a:r>
              <a:rPr lang="en-IN" b="1" dirty="0">
                <a:solidFill>
                  <a:srgbClr val="FF0000"/>
                </a:solidFill>
              </a:rPr>
              <a:t>chlamydia</a:t>
            </a:r>
            <a:r>
              <a:rPr lang="en-IN" dirty="0"/>
              <a:t> or </a:t>
            </a:r>
            <a:r>
              <a:rPr lang="en-IN" b="1" dirty="0" err="1">
                <a:solidFill>
                  <a:srgbClr val="FF0000"/>
                </a:solidFill>
              </a:rPr>
              <a:t>gonorrhea</a:t>
            </a:r>
            <a:r>
              <a:rPr lang="en-IN" dirty="0"/>
              <a:t>.</a:t>
            </a:r>
          </a:p>
          <a:p>
            <a:endParaRPr lang="en-IN" dirty="0"/>
          </a:p>
        </p:txBody>
      </p:sp>
    </p:spTree>
    <p:extLst>
      <p:ext uri="{BB962C8B-B14F-4D97-AF65-F5344CB8AC3E}">
        <p14:creationId xmlns:p14="http://schemas.microsoft.com/office/powerpoint/2010/main" val="2327928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55CE2-A00C-9CC5-A00D-CA62449F186C}"/>
              </a:ext>
            </a:extLst>
          </p:cNvPr>
          <p:cNvSpPr>
            <a:spLocks noGrp="1"/>
          </p:cNvSpPr>
          <p:nvPr>
            <p:ph type="title"/>
          </p:nvPr>
        </p:nvSpPr>
        <p:spPr/>
        <p:txBody>
          <a:bodyPr/>
          <a:lstStyle/>
          <a:p>
            <a:r>
              <a:rPr lang="en-US" dirty="0"/>
              <a:t>HIV</a:t>
            </a:r>
            <a:endParaRPr lang="en-IN" dirty="0"/>
          </a:p>
        </p:txBody>
      </p:sp>
      <p:sp>
        <p:nvSpPr>
          <p:cNvPr id="3" name="Content Placeholder 2">
            <a:extLst>
              <a:ext uri="{FF2B5EF4-FFF2-40B4-BE49-F238E27FC236}">
                <a16:creationId xmlns:a16="http://schemas.microsoft.com/office/drawing/2014/main" id="{A10E6F5B-19FB-1993-D660-4A502ACA04AD}"/>
              </a:ext>
            </a:extLst>
          </p:cNvPr>
          <p:cNvSpPr>
            <a:spLocks noGrp="1"/>
          </p:cNvSpPr>
          <p:nvPr>
            <p:ph idx="1"/>
          </p:nvPr>
        </p:nvSpPr>
        <p:spPr/>
        <p:txBody>
          <a:bodyPr/>
          <a:lstStyle/>
          <a:p>
            <a:r>
              <a:rPr lang="en-IN" dirty="0"/>
              <a:t>The </a:t>
            </a:r>
            <a:r>
              <a:rPr lang="en-IN" b="1" dirty="0">
                <a:solidFill>
                  <a:srgbClr val="FF0000"/>
                </a:solidFill>
              </a:rPr>
              <a:t>human immunodeficiency virus </a:t>
            </a:r>
            <a:r>
              <a:rPr lang="en-IN" b="1" dirty="0"/>
              <a:t>(HIV) </a:t>
            </a:r>
            <a:r>
              <a:rPr lang="en-IN" dirty="0"/>
              <a:t>is transmitted through exposure to infected body fluids, particularly through sexual intercourse with an infected partner</a:t>
            </a:r>
          </a:p>
        </p:txBody>
      </p:sp>
    </p:spTree>
    <p:extLst>
      <p:ext uri="{BB962C8B-B14F-4D97-AF65-F5344CB8AC3E}">
        <p14:creationId xmlns:p14="http://schemas.microsoft.com/office/powerpoint/2010/main" val="1860226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ACDB5-5CED-3A73-4B75-F49BD7AA4E42}"/>
              </a:ext>
            </a:extLst>
          </p:cNvPr>
          <p:cNvSpPr>
            <a:spLocks noGrp="1"/>
          </p:cNvSpPr>
          <p:nvPr>
            <p:ph type="title"/>
          </p:nvPr>
        </p:nvSpPr>
        <p:spPr/>
        <p:txBody>
          <a:bodyPr/>
          <a:lstStyle/>
          <a:p>
            <a:r>
              <a:rPr lang="en-US" dirty="0"/>
              <a:t>SYPHILIS</a:t>
            </a:r>
            <a:endParaRPr lang="en-IN" dirty="0"/>
          </a:p>
        </p:txBody>
      </p:sp>
      <p:sp>
        <p:nvSpPr>
          <p:cNvPr id="3" name="Content Placeholder 2">
            <a:extLst>
              <a:ext uri="{FF2B5EF4-FFF2-40B4-BE49-F238E27FC236}">
                <a16:creationId xmlns:a16="http://schemas.microsoft.com/office/drawing/2014/main" id="{12C6F464-FBE6-204F-56A1-3D984324C542}"/>
              </a:ext>
            </a:extLst>
          </p:cNvPr>
          <p:cNvSpPr>
            <a:spLocks noGrp="1"/>
          </p:cNvSpPr>
          <p:nvPr>
            <p:ph idx="1"/>
          </p:nvPr>
        </p:nvSpPr>
        <p:spPr/>
        <p:txBody>
          <a:bodyPr/>
          <a:lstStyle/>
          <a:p>
            <a:pPr algn="just">
              <a:spcAft>
                <a:spcPts val="600"/>
              </a:spcAft>
              <a:buFont typeface="Wingdings" pitchFamily="2" charset="2"/>
              <a:buChar char="§"/>
            </a:pPr>
            <a:r>
              <a:rPr lang="en-IN" b="1" dirty="0">
                <a:solidFill>
                  <a:srgbClr val="FF0000"/>
                </a:solidFill>
              </a:rPr>
              <a:t>Syphilis</a:t>
            </a:r>
            <a:r>
              <a:rPr lang="en-IN" dirty="0"/>
              <a:t> (SIF-</a:t>
            </a:r>
            <a:r>
              <a:rPr lang="en-IN" dirty="0" err="1"/>
              <a:t>ih</a:t>
            </a:r>
            <a:r>
              <a:rPr lang="en-IN" dirty="0"/>
              <a:t>-</a:t>
            </a:r>
            <a:r>
              <a:rPr lang="en-IN" dirty="0" err="1"/>
              <a:t>lis</a:t>
            </a:r>
            <a:r>
              <a:rPr lang="en-IN" dirty="0"/>
              <a:t>), which is caused by the bacterium Treponema pallidum, has many symptoms that are difficult to distinguish from other STDs. </a:t>
            </a:r>
          </a:p>
          <a:p>
            <a:pPr algn="just">
              <a:spcAft>
                <a:spcPts val="600"/>
              </a:spcAft>
              <a:buFont typeface="Wingdings" pitchFamily="2" charset="2"/>
              <a:buChar char="§"/>
            </a:pPr>
            <a:r>
              <a:rPr lang="en-IN" dirty="0"/>
              <a:t>Syphilis is highly contagious and is passed from person to person through direct contact, which is a sore caused by syphilis. </a:t>
            </a:r>
          </a:p>
          <a:p>
            <a:pPr algn="just">
              <a:spcAft>
                <a:spcPts val="600"/>
              </a:spcAft>
              <a:buFont typeface="Wingdings" pitchFamily="2" charset="2"/>
              <a:buChar char="§"/>
            </a:pPr>
            <a:r>
              <a:rPr lang="en-IN" dirty="0"/>
              <a:t>This condition can be detected through the VDRL (Venereal Disease Research Laboratory) blood test before the lesions appear. </a:t>
            </a:r>
          </a:p>
          <a:p>
            <a:pPr algn="just">
              <a:spcAft>
                <a:spcPts val="600"/>
              </a:spcAft>
              <a:buFont typeface="Wingdings" pitchFamily="2" charset="2"/>
              <a:buChar char="§"/>
            </a:pPr>
            <a:r>
              <a:rPr lang="en-IN" dirty="0"/>
              <a:t>The RPR test (Rapid plasma </a:t>
            </a:r>
            <a:r>
              <a:rPr lang="en-IN" dirty="0" err="1"/>
              <a:t>reagin</a:t>
            </a:r>
            <a:r>
              <a:rPr lang="en-IN" dirty="0"/>
              <a:t>) is another blood test for syphilis. </a:t>
            </a:r>
          </a:p>
          <a:p>
            <a:endParaRPr lang="en-IN" dirty="0"/>
          </a:p>
        </p:txBody>
      </p:sp>
    </p:spTree>
    <p:extLst>
      <p:ext uri="{BB962C8B-B14F-4D97-AF65-F5344CB8AC3E}">
        <p14:creationId xmlns:p14="http://schemas.microsoft.com/office/powerpoint/2010/main" val="3718268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B5E29-BF78-34D8-3839-60822948BE6A}"/>
              </a:ext>
            </a:extLst>
          </p:cNvPr>
          <p:cNvSpPr>
            <a:spLocks noGrp="1"/>
          </p:cNvSpPr>
          <p:nvPr>
            <p:ph type="title"/>
          </p:nvPr>
        </p:nvSpPr>
        <p:spPr/>
        <p:txBody>
          <a:bodyPr/>
          <a:lstStyle/>
          <a:p>
            <a:r>
              <a:rPr lang="en-US" dirty="0"/>
              <a:t>MEDICAL SPECIALIST</a:t>
            </a:r>
            <a:endParaRPr lang="en-IN" dirty="0"/>
          </a:p>
        </p:txBody>
      </p:sp>
      <p:sp>
        <p:nvSpPr>
          <p:cNvPr id="3" name="Content Placeholder 2">
            <a:extLst>
              <a:ext uri="{FF2B5EF4-FFF2-40B4-BE49-F238E27FC236}">
                <a16:creationId xmlns:a16="http://schemas.microsoft.com/office/drawing/2014/main" id="{8C8495C8-DBE4-C089-7538-E422B8D34F27}"/>
              </a:ext>
            </a:extLst>
          </p:cNvPr>
          <p:cNvSpPr>
            <a:spLocks noGrp="1"/>
          </p:cNvSpPr>
          <p:nvPr>
            <p:ph idx="1"/>
          </p:nvPr>
        </p:nvSpPr>
        <p:spPr/>
        <p:txBody>
          <a:bodyPr/>
          <a:lstStyle/>
          <a:p>
            <a:pPr algn="just">
              <a:spcAft>
                <a:spcPts val="1200"/>
              </a:spcAft>
              <a:buFont typeface="Wingdings" pitchFamily="2" charset="2"/>
              <a:buChar char="q"/>
            </a:pPr>
            <a:r>
              <a:rPr lang="en-IN" dirty="0"/>
              <a:t>A </a:t>
            </a:r>
            <a:r>
              <a:rPr lang="en-IN" b="1" dirty="0">
                <a:solidFill>
                  <a:srgbClr val="FF0000"/>
                </a:solidFill>
              </a:rPr>
              <a:t>Urologist</a:t>
            </a:r>
            <a:r>
              <a:rPr lang="en-IN" dirty="0"/>
              <a:t> (you-ROL-oh-</a:t>
            </a:r>
            <a:r>
              <a:rPr lang="en-IN" dirty="0" err="1"/>
              <a:t>jist</a:t>
            </a:r>
            <a:r>
              <a:rPr lang="en-IN" dirty="0"/>
              <a:t>) is a physician who specializes in diagnosing and treating diseases and disorders of the urinary system of females and the genitourinary system of males (</a:t>
            </a:r>
            <a:r>
              <a:rPr lang="en-IN" b="1" dirty="0" err="1">
                <a:solidFill>
                  <a:srgbClr val="0070C0"/>
                </a:solidFill>
              </a:rPr>
              <a:t>ur</a:t>
            </a:r>
            <a:r>
              <a:rPr lang="en-IN" dirty="0">
                <a:solidFill>
                  <a:srgbClr val="0070C0"/>
                </a:solidFill>
              </a:rPr>
              <a:t> means urine, and -</a:t>
            </a:r>
            <a:r>
              <a:rPr lang="en-IN" b="1" dirty="0">
                <a:solidFill>
                  <a:srgbClr val="0070C0"/>
                </a:solidFill>
              </a:rPr>
              <a:t>ologist</a:t>
            </a:r>
            <a:r>
              <a:rPr lang="en-IN" dirty="0">
                <a:solidFill>
                  <a:srgbClr val="0070C0"/>
                </a:solidFill>
              </a:rPr>
              <a:t> means specialist</a:t>
            </a:r>
            <a:r>
              <a:rPr lang="en-IN" dirty="0"/>
              <a:t>). </a:t>
            </a:r>
          </a:p>
          <a:p>
            <a:pPr algn="just">
              <a:spcAft>
                <a:spcPts val="1200"/>
              </a:spcAft>
              <a:buFont typeface="Wingdings" pitchFamily="2" charset="2"/>
              <a:buChar char="q"/>
            </a:pPr>
            <a:r>
              <a:rPr lang="en-IN" dirty="0"/>
              <a:t>The term genitourinary refers to both the genital and urinary organs.</a:t>
            </a:r>
          </a:p>
          <a:p>
            <a:endParaRPr lang="en-IN" dirty="0"/>
          </a:p>
        </p:txBody>
      </p:sp>
    </p:spTree>
    <p:extLst>
      <p:ext uri="{BB962C8B-B14F-4D97-AF65-F5344CB8AC3E}">
        <p14:creationId xmlns:p14="http://schemas.microsoft.com/office/powerpoint/2010/main" val="32135217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13</TotalTime>
  <Words>2054</Words>
  <Application>Microsoft Office PowerPoint</Application>
  <PresentationFormat>Widescreen</PresentationFormat>
  <Paragraphs>91</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Century Gothic</vt:lpstr>
      <vt:lpstr>Garamond</vt:lpstr>
      <vt:lpstr>Wingdings</vt:lpstr>
      <vt:lpstr>Savon</vt:lpstr>
      <vt:lpstr>MEDICAL TERMINOLOGIES - 6</vt:lpstr>
      <vt:lpstr>MALE REPR. SYSTEM</vt:lpstr>
      <vt:lpstr>Terms Related To The Reproductive Systems of Both Sexes</vt:lpstr>
      <vt:lpstr>FUNCTIONS</vt:lpstr>
      <vt:lpstr>STRUCTURES</vt:lpstr>
      <vt:lpstr>SCROTUM AND TESTICLES</vt:lpstr>
      <vt:lpstr>SCROTUM AND TESTICLES</vt:lpstr>
      <vt:lpstr>The Vas Deferens, Seminal Vesicles, and the Ejaculatory Duct</vt:lpstr>
      <vt:lpstr>The Vas Deferens, Seminal Vesicles, and the Ejaculatory Duct</vt:lpstr>
      <vt:lpstr>SPERM COUNT</vt:lpstr>
      <vt:lpstr>PENIS</vt:lpstr>
      <vt:lpstr>PROSTATE GLAND AND URETHRA</vt:lpstr>
      <vt:lpstr>PATHOLOGY </vt:lpstr>
      <vt:lpstr>PATHOLOGY</vt:lpstr>
      <vt:lpstr>PATHOLOGY</vt:lpstr>
      <vt:lpstr>PATHOLOGY</vt:lpstr>
      <vt:lpstr>DIAGNOSTIC PROCEDURES</vt:lpstr>
      <vt:lpstr>TREATMENT</vt:lpstr>
      <vt:lpstr>MALE STERILIZATION</vt:lpstr>
      <vt:lpstr>STDs</vt:lpstr>
      <vt:lpstr>HIV</vt:lpstr>
      <vt:lpstr>SYPHILIS</vt:lpstr>
      <vt:lpstr>MEDICAL SPECIALIST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2025-11-20T15:27:07Z</dcterms:created>
  <dcterms:modified xsi:type="dcterms:W3CDTF">2025-11-20T16:05:50Z</dcterms:modified>
</cp:coreProperties>
</file>