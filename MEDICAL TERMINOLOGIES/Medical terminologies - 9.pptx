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61" r:id="rId6"/>
    <p:sldId id="262" r:id="rId7"/>
    <p:sldId id="263" r:id="rId8"/>
    <p:sldId id="264" r:id="rId9"/>
    <p:sldId id="265" r:id="rId10"/>
    <p:sldId id="259"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29204911-D901-4D11-AC23-B73C5214049D}"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B2D8573-21A2-4051-93DB-076D43BB382E}" type="slidenum">
              <a:rPr lang="en-IN" smtClean="0"/>
              <a:t>‹#›</a:t>
            </a:fld>
            <a:endParaRPr lang="en-IN"/>
          </a:p>
        </p:txBody>
      </p:sp>
    </p:spTree>
    <p:extLst>
      <p:ext uri="{BB962C8B-B14F-4D97-AF65-F5344CB8AC3E}">
        <p14:creationId xmlns:p14="http://schemas.microsoft.com/office/powerpoint/2010/main" val="38243726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04911-D901-4D11-AC23-B73C5214049D}"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3301253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29204911-D901-4D11-AC23-B73C5214049D}"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383558151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204911-D901-4D11-AC23-B73C5214049D}"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2292759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204911-D901-4D11-AC23-B73C5214049D}" type="datetimeFigureOut">
              <a:rPr lang="en-IN" smtClean="0"/>
              <a:t>21-11-2025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2738106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204911-D901-4D11-AC23-B73C5214049D}" type="datetimeFigureOut">
              <a:rPr lang="en-IN" smtClean="0"/>
              <a:t>21-11-2025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421014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04911-D901-4D11-AC23-B73C5214049D}" type="datetimeFigureOut">
              <a:rPr lang="en-IN" smtClean="0"/>
              <a:t>21-11-2025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1962179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9204911-D901-4D11-AC23-B73C5214049D}" type="datetimeFigureOut">
              <a:rPr lang="en-IN" smtClean="0"/>
              <a:t>21-11-2025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5B2D8573-21A2-4051-93DB-076D43BB382E}"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6415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29204911-D901-4D11-AC23-B73C5214049D}"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5B2D8573-21A2-4051-93DB-076D43BB382E}"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748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04911-D901-4D11-AC23-B73C5214049D}"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3350196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204911-D901-4D11-AC23-B73C5214049D}"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2D8573-21A2-4051-93DB-076D43BB382E}" type="slidenum">
              <a:rPr lang="en-IN" smtClean="0"/>
              <a:t>‹#›</a:t>
            </a:fld>
            <a:endParaRPr lang="en-IN"/>
          </a:p>
        </p:txBody>
      </p:sp>
    </p:spTree>
    <p:extLst>
      <p:ext uri="{BB962C8B-B14F-4D97-AF65-F5344CB8AC3E}">
        <p14:creationId xmlns:p14="http://schemas.microsoft.com/office/powerpoint/2010/main" val="173804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9204911-D901-4D11-AC23-B73C5214049D}"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B2D8573-21A2-4051-93DB-076D43BB382E}"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4059692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00BE2-69B2-AA68-02E4-C43167199B92}"/>
              </a:ext>
            </a:extLst>
          </p:cNvPr>
          <p:cNvSpPr>
            <a:spLocks noGrp="1"/>
          </p:cNvSpPr>
          <p:nvPr>
            <p:ph type="ctrTitle"/>
          </p:nvPr>
        </p:nvSpPr>
        <p:spPr/>
        <p:txBody>
          <a:bodyPr/>
          <a:lstStyle/>
          <a:p>
            <a:r>
              <a:rPr lang="en-US" dirty="0"/>
              <a:t>Medical terminologies - 9</a:t>
            </a:r>
            <a:endParaRPr lang="en-IN" dirty="0"/>
          </a:p>
        </p:txBody>
      </p:sp>
      <p:sp>
        <p:nvSpPr>
          <p:cNvPr id="3" name="Subtitle 2">
            <a:extLst>
              <a:ext uri="{FF2B5EF4-FFF2-40B4-BE49-F238E27FC236}">
                <a16:creationId xmlns:a16="http://schemas.microsoft.com/office/drawing/2014/main" id="{4A6A98B6-FDE9-4915-33AA-1BAA65FEB0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638335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9145-B482-4523-04E5-D79AD7A7BEDC}"/>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9EE22A93-D468-5452-30FA-5315B0A91646}"/>
              </a:ext>
            </a:extLst>
          </p:cNvPr>
          <p:cNvSpPr>
            <a:spLocks noGrp="1"/>
          </p:cNvSpPr>
          <p:nvPr>
            <p:ph idx="1"/>
          </p:nvPr>
        </p:nvSpPr>
        <p:spPr/>
        <p:txBody>
          <a:bodyPr>
            <a:normAutofit fontScale="92500" lnSpcReduction="10000"/>
          </a:bodyPr>
          <a:lstStyle/>
          <a:p>
            <a:r>
              <a:rPr lang="en-IN" b="1" u="sng" dirty="0"/>
              <a:t>Functions of The Female Reproductive System: </a:t>
            </a:r>
            <a:r>
              <a:rPr lang="en-IN" dirty="0"/>
              <a:t>The primary function of the female reproductive system is the creation and support of new life. </a:t>
            </a:r>
            <a:endParaRPr lang="en-IN" sz="1400" dirty="0"/>
          </a:p>
          <a:p>
            <a:r>
              <a:rPr lang="en-IN" b="1" u="sng" dirty="0"/>
              <a:t>Structures of The Female Reproductive System</a:t>
            </a:r>
            <a:endParaRPr lang="en-IN" sz="1400" dirty="0"/>
          </a:p>
          <a:p>
            <a:r>
              <a:rPr lang="en-IN" dirty="0"/>
              <a:t>The structures of the female reproductive system are described as being the </a:t>
            </a:r>
            <a:endParaRPr lang="en-IN" sz="1400" dirty="0"/>
          </a:p>
          <a:p>
            <a:pPr lvl="1"/>
            <a:r>
              <a:rPr lang="en-IN" dirty="0"/>
              <a:t>External female genitalia</a:t>
            </a:r>
            <a:endParaRPr lang="en-IN" sz="1200" dirty="0"/>
          </a:p>
          <a:p>
            <a:pPr lvl="1"/>
            <a:r>
              <a:rPr lang="en-IN" dirty="0"/>
              <a:t>Internal female reproductive organs</a:t>
            </a:r>
            <a:endParaRPr lang="en-IN" sz="1200" dirty="0"/>
          </a:p>
          <a:p>
            <a:r>
              <a:rPr lang="en-IN" b="1" u="sng" dirty="0"/>
              <a:t>The External Female Genitalia</a:t>
            </a:r>
            <a:endParaRPr lang="en-IN" sz="1400" dirty="0"/>
          </a:p>
          <a:p>
            <a:r>
              <a:rPr lang="en-IN" dirty="0"/>
              <a:t>The </a:t>
            </a:r>
            <a:r>
              <a:rPr lang="en-IN" b="1" dirty="0"/>
              <a:t>external female genitalia </a:t>
            </a:r>
            <a:r>
              <a:rPr lang="en-IN" dirty="0"/>
              <a:t>are located posterior to the mons pubis , which is a rounded, fleshy prominence located over the pubic symphysis. These structures are known collectively as the vulva or the pudendum. The vulva consists of the </a:t>
            </a:r>
            <a:endParaRPr lang="en-IN" sz="1400" dirty="0"/>
          </a:p>
          <a:p>
            <a:pPr lvl="1"/>
            <a:r>
              <a:rPr lang="en-IN" b="1" dirty="0"/>
              <a:t>Labia, </a:t>
            </a:r>
            <a:endParaRPr lang="en-IN" sz="1200" dirty="0"/>
          </a:p>
          <a:p>
            <a:pPr lvl="1"/>
            <a:r>
              <a:rPr lang="en-IN" b="1" dirty="0"/>
              <a:t>Clitoris, </a:t>
            </a:r>
            <a:endParaRPr lang="en-IN" sz="1200" dirty="0"/>
          </a:p>
          <a:p>
            <a:pPr lvl="1"/>
            <a:r>
              <a:rPr lang="en-IN" b="1" dirty="0"/>
              <a:t>Bartholin’s glands, and Vaginal orifice.</a:t>
            </a:r>
            <a:endParaRPr lang="en-IN" sz="1200" dirty="0"/>
          </a:p>
        </p:txBody>
      </p:sp>
    </p:spTree>
    <p:extLst>
      <p:ext uri="{BB962C8B-B14F-4D97-AF65-F5344CB8AC3E}">
        <p14:creationId xmlns:p14="http://schemas.microsoft.com/office/powerpoint/2010/main" val="1732342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3A804-F629-2CEF-1123-4CD36ABA5D1E}"/>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49DFA50B-A2F8-A19E-E633-6453CBB589FF}"/>
              </a:ext>
            </a:extLst>
          </p:cNvPr>
          <p:cNvSpPr>
            <a:spLocks noGrp="1"/>
          </p:cNvSpPr>
          <p:nvPr>
            <p:ph idx="1"/>
          </p:nvPr>
        </p:nvSpPr>
        <p:spPr/>
        <p:txBody>
          <a:bodyPr/>
          <a:lstStyle/>
          <a:p>
            <a:r>
              <a:rPr lang="en-IN" b="1" dirty="0"/>
              <a:t>The Mammary Glands</a:t>
            </a:r>
            <a:endParaRPr lang="en-IN" dirty="0"/>
          </a:p>
          <a:p>
            <a:pPr lvl="0"/>
            <a:r>
              <a:rPr lang="en-IN" b="1" dirty="0"/>
              <a:t>Breasts</a:t>
            </a:r>
            <a:r>
              <a:rPr lang="en-IN" dirty="0"/>
              <a:t> are made up of fat, connective tissue, and the mammary glands . Each breast is fixed to the overlying skin and the underlying pectoral muscles by suspensory ligaments .</a:t>
            </a:r>
          </a:p>
          <a:p>
            <a:pPr lvl="0"/>
            <a:r>
              <a:rPr lang="en-IN" dirty="0"/>
              <a:t>Mammary glands, also known as the lactiferous glands, are the milk-producing glands that develop during puberty. </a:t>
            </a:r>
          </a:p>
          <a:p>
            <a:r>
              <a:rPr lang="en-IN" b="1" u="sng" dirty="0"/>
              <a:t>The Internal Female Genitalia</a:t>
            </a:r>
            <a:endParaRPr lang="en-IN" dirty="0"/>
          </a:p>
          <a:p>
            <a:r>
              <a:rPr lang="en-IN" dirty="0"/>
              <a:t>The </a:t>
            </a:r>
            <a:r>
              <a:rPr lang="en-IN" b="1" dirty="0"/>
              <a:t>internal female genitalia </a:t>
            </a:r>
            <a:r>
              <a:rPr lang="en-IN" dirty="0"/>
              <a:t>are located within the pelvic cavity where they are protected by the bony pelvis. These structures include two ovaries, two fallopian tubes, one uterus, and the vagina.</a:t>
            </a:r>
          </a:p>
          <a:p>
            <a:endParaRPr lang="en-IN" dirty="0"/>
          </a:p>
        </p:txBody>
      </p:sp>
    </p:spTree>
    <p:extLst>
      <p:ext uri="{BB962C8B-B14F-4D97-AF65-F5344CB8AC3E}">
        <p14:creationId xmlns:p14="http://schemas.microsoft.com/office/powerpoint/2010/main" val="225517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DF91-1AF3-E20E-16F1-76C4996FE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C5FFF-3817-0034-E76A-D0FF14BE5D03}"/>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94B2274E-F94A-15F7-17DB-142868866037}"/>
              </a:ext>
            </a:extLst>
          </p:cNvPr>
          <p:cNvSpPr>
            <a:spLocks noGrp="1"/>
          </p:cNvSpPr>
          <p:nvPr>
            <p:ph idx="1"/>
          </p:nvPr>
        </p:nvSpPr>
        <p:spPr/>
        <p:txBody>
          <a:bodyPr>
            <a:normAutofit/>
          </a:bodyPr>
          <a:lstStyle/>
          <a:p>
            <a:pPr lvl="0"/>
            <a:r>
              <a:rPr lang="en-IN" dirty="0"/>
              <a:t>The </a:t>
            </a:r>
            <a:r>
              <a:rPr lang="en-IN" b="1" u="sng" dirty="0"/>
              <a:t>ovarie</a:t>
            </a:r>
            <a:r>
              <a:rPr lang="en-IN" b="1" dirty="0"/>
              <a:t>s</a:t>
            </a:r>
            <a:r>
              <a:rPr lang="en-IN" dirty="0"/>
              <a:t>  are a pair of small, almond shaped organs located in the lower abdomen, one on either side of the uterus.  </a:t>
            </a:r>
            <a:r>
              <a:rPr lang="en-US" dirty="0"/>
              <a:t>Ovary – Gland that produces eggs and hormones like estrogen and progesterone.</a:t>
            </a:r>
            <a:r>
              <a:rPr lang="en-IN" dirty="0"/>
              <a:t> The ovaries produce mature eggs to be fertilized by the sperm. </a:t>
            </a:r>
            <a:endParaRPr lang="en-IN" sz="1400" dirty="0"/>
          </a:p>
          <a:p>
            <a:pPr lvl="0"/>
            <a:r>
              <a:rPr lang="en-IN" dirty="0"/>
              <a:t>A </a:t>
            </a:r>
            <a:r>
              <a:rPr lang="en-IN" b="1" dirty="0"/>
              <a:t>follicle</a:t>
            </a:r>
            <a:r>
              <a:rPr lang="en-IN" dirty="0"/>
              <a:t>  is a fluid-filled sac containing a single ovum (egg). There are thousands of these sacs on the inside surface of the ovaries. </a:t>
            </a:r>
            <a:endParaRPr lang="en-IN" sz="1400" dirty="0"/>
          </a:p>
          <a:p>
            <a:pPr lvl="0"/>
            <a:r>
              <a:rPr lang="en-IN" dirty="0"/>
              <a:t>The </a:t>
            </a:r>
            <a:r>
              <a:rPr lang="en-IN" b="1" dirty="0"/>
              <a:t>ova</a:t>
            </a:r>
            <a:r>
              <a:rPr lang="en-IN" dirty="0"/>
              <a:t> , also known as eggs, are the female gametes (singular, ovum). These immature ova are present at birth. Normally, after puberty, one ovum matures and is released each month. </a:t>
            </a:r>
            <a:endParaRPr lang="en-IN" sz="1400" dirty="0"/>
          </a:p>
          <a:p>
            <a:r>
              <a:rPr lang="en-IN" dirty="0"/>
              <a:t>The ovaries also produce the sex hormones </a:t>
            </a:r>
            <a:r>
              <a:rPr lang="en-IN" dirty="0" err="1"/>
              <a:t>estrogen</a:t>
            </a:r>
            <a:r>
              <a:rPr lang="en-IN" dirty="0"/>
              <a:t> and progesterone.</a:t>
            </a:r>
            <a:endParaRPr lang="en-IN" sz="1400" dirty="0"/>
          </a:p>
          <a:p>
            <a:pPr lvl="1"/>
            <a:r>
              <a:rPr lang="en-US" b="1" dirty="0"/>
              <a:t>Estrogen</a:t>
            </a:r>
            <a:r>
              <a:rPr lang="en-US" dirty="0"/>
              <a:t> – The primary female sex hormone involved in reproductive functions.</a:t>
            </a:r>
            <a:endParaRPr lang="en-IN" sz="1200" dirty="0"/>
          </a:p>
          <a:p>
            <a:pPr lvl="1"/>
            <a:r>
              <a:rPr lang="en-US" b="1" dirty="0"/>
              <a:t>Progesterone </a:t>
            </a:r>
            <a:r>
              <a:rPr lang="en-US" dirty="0"/>
              <a:t>– A hormone that prepares the uterus for pregnancy.</a:t>
            </a:r>
            <a:endParaRPr lang="en-IN" sz="1200" dirty="0"/>
          </a:p>
        </p:txBody>
      </p:sp>
    </p:spTree>
    <p:extLst>
      <p:ext uri="{BB962C8B-B14F-4D97-AF65-F5344CB8AC3E}">
        <p14:creationId xmlns:p14="http://schemas.microsoft.com/office/powerpoint/2010/main" val="73826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B8A15-6A39-2823-184B-7D960D9CC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5F2BB-7973-F0E3-7510-081A7DFD3568}"/>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84F8CE09-EADC-CB80-C55A-E7643F259122}"/>
              </a:ext>
            </a:extLst>
          </p:cNvPr>
          <p:cNvSpPr>
            <a:spLocks noGrp="1"/>
          </p:cNvSpPr>
          <p:nvPr>
            <p:ph idx="1"/>
          </p:nvPr>
        </p:nvSpPr>
        <p:spPr/>
        <p:txBody>
          <a:bodyPr>
            <a:normAutofit/>
          </a:bodyPr>
          <a:lstStyle/>
          <a:p>
            <a:r>
              <a:rPr lang="en-IN" b="1" u="sng" dirty="0"/>
              <a:t> Fallopian Tubes</a:t>
            </a:r>
            <a:endParaRPr lang="en-IN" sz="1400" dirty="0"/>
          </a:p>
          <a:p>
            <a:pPr lvl="0"/>
            <a:r>
              <a:rPr lang="en-US" b="1" dirty="0"/>
              <a:t>Fallopian Tube </a:t>
            </a:r>
            <a:r>
              <a:rPr lang="en-US" dirty="0"/>
              <a:t>– Tubes that carry eggs from the ovaries to the uterus. </a:t>
            </a:r>
            <a:r>
              <a:rPr lang="en-IN" dirty="0"/>
              <a:t>There are two </a:t>
            </a:r>
            <a:r>
              <a:rPr lang="en-IN" b="1" dirty="0"/>
              <a:t>fallopian tubes </a:t>
            </a:r>
            <a:r>
              <a:rPr lang="en-IN" dirty="0"/>
              <a:t>, which are also known as uterine tubes. These tubes extend from the upper end of the uterus to a point near, but not attached to, an ovary. </a:t>
            </a:r>
            <a:endParaRPr lang="en-IN" sz="1400" dirty="0"/>
          </a:p>
          <a:p>
            <a:pPr lvl="0"/>
            <a:r>
              <a:rPr lang="en-IN" dirty="0"/>
              <a:t>The </a:t>
            </a:r>
            <a:r>
              <a:rPr lang="en-IN" b="1" dirty="0"/>
              <a:t>infundibulum</a:t>
            </a:r>
            <a:r>
              <a:rPr lang="en-IN" dirty="0"/>
              <a:t>  is the funnel shaped opening into the fallopian tube near the ovary. </a:t>
            </a:r>
            <a:endParaRPr lang="en-IN" sz="1400" dirty="0"/>
          </a:p>
          <a:p>
            <a:r>
              <a:rPr lang="en-IN" dirty="0"/>
              <a:t>The </a:t>
            </a:r>
            <a:r>
              <a:rPr lang="en-IN" b="1" dirty="0"/>
              <a:t>fimbriae</a:t>
            </a:r>
            <a:r>
              <a:rPr lang="en-IN" dirty="0"/>
              <a:t>  are the fringed, finger-like extensions of this opening. Their role is to catch the mature ovum when it leaves the ovary (singular, fimbria). </a:t>
            </a:r>
          </a:p>
        </p:txBody>
      </p:sp>
    </p:spTree>
    <p:extLst>
      <p:ext uri="{BB962C8B-B14F-4D97-AF65-F5344CB8AC3E}">
        <p14:creationId xmlns:p14="http://schemas.microsoft.com/office/powerpoint/2010/main" val="2917286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EB28-F47B-EDCC-217F-5912CE717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6B21A-C07D-CC08-E546-5A60F0D61D5A}"/>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AB667A02-5F29-0C86-036B-925A5CACACEC}"/>
              </a:ext>
            </a:extLst>
          </p:cNvPr>
          <p:cNvSpPr>
            <a:spLocks noGrp="1"/>
          </p:cNvSpPr>
          <p:nvPr>
            <p:ph idx="1"/>
          </p:nvPr>
        </p:nvSpPr>
        <p:spPr/>
        <p:txBody>
          <a:bodyPr>
            <a:normAutofit/>
          </a:bodyPr>
          <a:lstStyle/>
          <a:p>
            <a:r>
              <a:rPr lang="en-IN" b="1" u="sng" dirty="0"/>
              <a:t> Uterus</a:t>
            </a:r>
            <a:endParaRPr lang="en-IN" dirty="0"/>
          </a:p>
          <a:p>
            <a:pPr lvl="0"/>
            <a:r>
              <a:rPr lang="en-US" b="1" dirty="0"/>
              <a:t>Uterus</a:t>
            </a:r>
            <a:r>
              <a:rPr lang="en-US" dirty="0"/>
              <a:t> – The hollow organ where a fertilized egg implants and develops during pregnancy.</a:t>
            </a:r>
            <a:r>
              <a:rPr lang="en-IN" dirty="0"/>
              <a:t> The uterus provides the environment and support for the developing child. </a:t>
            </a:r>
          </a:p>
          <a:p>
            <a:pPr lvl="0"/>
            <a:r>
              <a:rPr lang="en-IN" dirty="0"/>
              <a:t>The </a:t>
            </a:r>
            <a:r>
              <a:rPr lang="en-IN" b="1" dirty="0"/>
              <a:t>uterus </a:t>
            </a:r>
            <a:r>
              <a:rPr lang="en-IN" dirty="0"/>
              <a:t>, formerly known as the womb, is a pear-shaped organ with muscular walls and a mucous membrane lining filled with a rich supply of blood vessels.</a:t>
            </a:r>
          </a:p>
          <a:p>
            <a:pPr lvl="0"/>
            <a:r>
              <a:rPr lang="en-IN" dirty="0"/>
              <a:t>The uterus is located between the urinary bladder and the rectum and midway between the sacrum and the pubic bone. </a:t>
            </a:r>
            <a:r>
              <a:rPr lang="en-US" b="1" dirty="0"/>
              <a:t>Cervix</a:t>
            </a:r>
            <a:r>
              <a:rPr lang="en-US" dirty="0"/>
              <a:t> – The lower, narrow part of the uterus that opens into the vagina.</a:t>
            </a:r>
            <a:endParaRPr lang="en-IN" dirty="0"/>
          </a:p>
        </p:txBody>
      </p:sp>
    </p:spTree>
    <p:extLst>
      <p:ext uri="{BB962C8B-B14F-4D97-AF65-F5344CB8AC3E}">
        <p14:creationId xmlns:p14="http://schemas.microsoft.com/office/powerpoint/2010/main" val="3917834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D4AF-3AB7-B2CB-B862-FBB0E5116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9B896-A4CC-B709-D962-32E78B3325D3}"/>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2A70DB35-D0B2-D19D-34F7-61AA80D03505}"/>
              </a:ext>
            </a:extLst>
          </p:cNvPr>
          <p:cNvSpPr>
            <a:spLocks noGrp="1"/>
          </p:cNvSpPr>
          <p:nvPr>
            <p:ph idx="1"/>
          </p:nvPr>
        </p:nvSpPr>
        <p:spPr/>
        <p:txBody>
          <a:bodyPr>
            <a:normAutofit/>
          </a:bodyPr>
          <a:lstStyle/>
          <a:p>
            <a:r>
              <a:rPr lang="en-US" b="1" u="sng" dirty="0"/>
              <a:t>Vagina</a:t>
            </a:r>
            <a:r>
              <a:rPr lang="en-US" u="sng" dirty="0"/>
              <a:t> </a:t>
            </a:r>
            <a:r>
              <a:rPr lang="en-US" dirty="0"/>
              <a:t>– The muscular canal leading from the cervix to the outside of the body.</a:t>
            </a:r>
            <a:endParaRPr lang="en-IN" sz="1400" dirty="0"/>
          </a:p>
          <a:p>
            <a:r>
              <a:rPr lang="en-IN" b="1" dirty="0"/>
              <a:t>The Tissues of the Uterus </a:t>
            </a:r>
            <a:r>
              <a:rPr lang="en-US" dirty="0"/>
              <a:t>: </a:t>
            </a:r>
            <a:r>
              <a:rPr lang="en-IN" dirty="0"/>
              <a:t>The uterus is composed of three major layers of tissue. </a:t>
            </a:r>
            <a:endParaRPr lang="en-IN" sz="1400" dirty="0"/>
          </a:p>
          <a:p>
            <a:pPr lvl="2"/>
            <a:r>
              <a:rPr lang="en-IN" dirty="0"/>
              <a:t>The </a:t>
            </a:r>
            <a:r>
              <a:rPr lang="en-IN" b="1" dirty="0"/>
              <a:t>perimetrium</a:t>
            </a:r>
            <a:r>
              <a:rPr lang="en-IN" dirty="0"/>
              <a:t> is the tough, membranous outer layer . </a:t>
            </a:r>
            <a:endParaRPr lang="en-IN" sz="1100" dirty="0"/>
          </a:p>
          <a:p>
            <a:pPr lvl="2"/>
            <a:r>
              <a:rPr lang="en-IN" dirty="0"/>
              <a:t>The </a:t>
            </a:r>
            <a:r>
              <a:rPr lang="en-IN" b="1" dirty="0"/>
              <a:t>myometrium</a:t>
            </a:r>
            <a:r>
              <a:rPr lang="en-IN" dirty="0"/>
              <a:t> is the muscular middle layer. </a:t>
            </a:r>
            <a:endParaRPr lang="en-IN" sz="1100" dirty="0"/>
          </a:p>
          <a:p>
            <a:pPr lvl="2"/>
            <a:r>
              <a:rPr lang="en-IN" dirty="0"/>
              <a:t>The </a:t>
            </a:r>
            <a:r>
              <a:rPr lang="en-IN" b="1" dirty="0"/>
              <a:t>endometrium</a:t>
            </a:r>
            <a:r>
              <a:rPr lang="en-IN" dirty="0"/>
              <a:t> ,which is the inner layer of the uterus, consists of specialized epithelial mucosa that is rich in blood vessels. </a:t>
            </a:r>
            <a:endParaRPr lang="en-IN" sz="1100" dirty="0"/>
          </a:p>
          <a:p>
            <a:r>
              <a:rPr lang="en-IN" b="1" u="sng" dirty="0"/>
              <a:t>Menstruation</a:t>
            </a:r>
            <a:endParaRPr lang="en-IN" sz="1400" dirty="0"/>
          </a:p>
          <a:p>
            <a:r>
              <a:rPr lang="en-US" dirty="0"/>
              <a:t>Menstruation – The monthly shedding of the uterine lining.</a:t>
            </a:r>
            <a:r>
              <a:rPr lang="en-US" b="1" dirty="0"/>
              <a:t> </a:t>
            </a:r>
            <a:endParaRPr lang="en-IN" sz="1400" dirty="0"/>
          </a:p>
          <a:p>
            <a:r>
              <a:rPr lang="en-IN" b="1" dirty="0"/>
              <a:t>Menstruation</a:t>
            </a:r>
            <a:r>
              <a:rPr lang="en-IN" dirty="0"/>
              <a:t> also known as menses, is the normal periodic discharge of the endometrial lining and unfertilized egg from uterus. </a:t>
            </a:r>
            <a:endParaRPr lang="en-IN" sz="1400" dirty="0"/>
          </a:p>
          <a:p>
            <a:r>
              <a:rPr lang="en-IN" b="1" dirty="0"/>
              <a:t>Menarche</a:t>
            </a:r>
            <a:r>
              <a:rPr lang="en-IN" dirty="0"/>
              <a:t> is the beginning of the menstrual function. This function begins after the maturation that occurs during puberty.  The </a:t>
            </a:r>
            <a:r>
              <a:rPr lang="en-IN" b="1" dirty="0"/>
              <a:t>average menstrual cycle </a:t>
            </a:r>
            <a:r>
              <a:rPr lang="en-IN" dirty="0"/>
              <a:t>consists of 28 days</a:t>
            </a:r>
            <a:endParaRPr lang="en-IN" sz="1400" dirty="0"/>
          </a:p>
        </p:txBody>
      </p:sp>
    </p:spTree>
    <p:extLst>
      <p:ext uri="{BB962C8B-B14F-4D97-AF65-F5344CB8AC3E}">
        <p14:creationId xmlns:p14="http://schemas.microsoft.com/office/powerpoint/2010/main" val="3046532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F9AE-DACB-1D4F-8788-9A0D3E86D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C6EB-8F18-52C0-DEA9-69D0E450AEA8}"/>
              </a:ext>
            </a:extLst>
          </p:cNvPr>
          <p:cNvSpPr>
            <a:spLocks noGrp="1"/>
          </p:cNvSpPr>
          <p:nvPr>
            <p:ph type="title"/>
          </p:nvPr>
        </p:nvSpPr>
        <p:spPr/>
        <p:txBody>
          <a:bodyPr/>
          <a:lstStyle/>
          <a:p>
            <a:r>
              <a:rPr lang="en-US" dirty="0"/>
              <a:t>Female </a:t>
            </a:r>
            <a:r>
              <a:rPr lang="en-US" dirty="0" err="1"/>
              <a:t>repr</a:t>
            </a:r>
            <a:r>
              <a:rPr lang="en-US" dirty="0"/>
              <a:t>. system</a:t>
            </a:r>
            <a:endParaRPr lang="en-IN" dirty="0"/>
          </a:p>
        </p:txBody>
      </p:sp>
      <p:sp>
        <p:nvSpPr>
          <p:cNvPr id="3" name="Content Placeholder 2">
            <a:extLst>
              <a:ext uri="{FF2B5EF4-FFF2-40B4-BE49-F238E27FC236}">
                <a16:creationId xmlns:a16="http://schemas.microsoft.com/office/drawing/2014/main" id="{00298395-A41F-3AC9-605C-9E0EE57AEF63}"/>
              </a:ext>
            </a:extLst>
          </p:cNvPr>
          <p:cNvSpPr>
            <a:spLocks noGrp="1"/>
          </p:cNvSpPr>
          <p:nvPr>
            <p:ph idx="1"/>
          </p:nvPr>
        </p:nvSpPr>
        <p:spPr/>
        <p:txBody>
          <a:bodyPr>
            <a:normAutofit/>
          </a:bodyPr>
          <a:lstStyle/>
          <a:p>
            <a:r>
              <a:rPr lang="en-US" b="1" u="sng" dirty="0"/>
              <a:t>Menopause</a:t>
            </a:r>
            <a:endParaRPr lang="en-IN" dirty="0"/>
          </a:p>
          <a:p>
            <a:pPr lvl="0"/>
            <a:r>
              <a:rPr lang="en-IN" b="1" dirty="0"/>
              <a:t>Menopause</a:t>
            </a:r>
            <a:r>
              <a:rPr lang="en-IN" dirty="0"/>
              <a:t> is the normal termination of the menstrual function . Menopause is considered to be confirmed when a woman has gone 1 year without having a period. </a:t>
            </a:r>
          </a:p>
          <a:p>
            <a:pPr lvl="0"/>
            <a:r>
              <a:rPr lang="en-US" dirty="0"/>
              <a:t>Menopause – The cessation of menstrual periods, marking the end of reproductive years. Symptoms and health issues associated with the end of reproductive years, such as osteoporosis and hot flashes. </a:t>
            </a:r>
            <a:endParaRPr lang="en-IN" dirty="0"/>
          </a:p>
          <a:p>
            <a:pPr lvl="0"/>
            <a:r>
              <a:rPr lang="en-IN" b="1" dirty="0"/>
              <a:t>Perimenopause</a:t>
            </a:r>
            <a:r>
              <a:rPr lang="en-IN" dirty="0"/>
              <a:t> is the term used to designate the transition phase between regular menstrual periods and no periods at all. </a:t>
            </a:r>
          </a:p>
        </p:txBody>
      </p:sp>
    </p:spTree>
    <p:extLst>
      <p:ext uri="{BB962C8B-B14F-4D97-AF65-F5344CB8AC3E}">
        <p14:creationId xmlns:p14="http://schemas.microsoft.com/office/powerpoint/2010/main" val="179920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3F6E-2767-76E4-4457-E352B63D1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5CD11-1026-F7F6-2295-01301592C4DB}"/>
              </a:ext>
            </a:extLst>
          </p:cNvPr>
          <p:cNvSpPr>
            <a:spLocks noGrp="1"/>
          </p:cNvSpPr>
          <p:nvPr>
            <p:ph type="title"/>
          </p:nvPr>
        </p:nvSpPr>
        <p:spPr>
          <a:xfrm>
            <a:off x="985520" y="256514"/>
            <a:ext cx="10058400" cy="1371600"/>
          </a:xfrm>
        </p:spPr>
        <p:txBody>
          <a:bodyPr>
            <a:normAutofit fontScale="90000"/>
          </a:bodyPr>
          <a:lstStyle/>
          <a:p>
            <a:r>
              <a:rPr lang="en-US" b="1" u="sng" dirty="0"/>
              <a:t>Common diseases and conditions related to the female reproductive system</a:t>
            </a:r>
            <a:endParaRPr lang="en-IN" dirty="0"/>
          </a:p>
        </p:txBody>
      </p:sp>
      <p:sp>
        <p:nvSpPr>
          <p:cNvPr id="3" name="Content Placeholder 2">
            <a:extLst>
              <a:ext uri="{FF2B5EF4-FFF2-40B4-BE49-F238E27FC236}">
                <a16:creationId xmlns:a16="http://schemas.microsoft.com/office/drawing/2014/main" id="{41053114-409E-39F2-0BCA-BCC8EBB43DB2}"/>
              </a:ext>
            </a:extLst>
          </p:cNvPr>
          <p:cNvSpPr>
            <a:spLocks noGrp="1"/>
          </p:cNvSpPr>
          <p:nvPr>
            <p:ph idx="1"/>
          </p:nvPr>
        </p:nvSpPr>
        <p:spPr>
          <a:xfrm>
            <a:off x="737419" y="1628115"/>
            <a:ext cx="10982633" cy="4792350"/>
          </a:xfrm>
        </p:spPr>
        <p:txBody>
          <a:bodyPr>
            <a:normAutofit fontScale="85000" lnSpcReduction="20000"/>
          </a:bodyPr>
          <a:lstStyle/>
          <a:p>
            <a:pPr lvl="0"/>
            <a:r>
              <a:rPr lang="en-US" b="1" dirty="0"/>
              <a:t>Polycystic Ovary Syndrome (PCOS) – </a:t>
            </a:r>
            <a:r>
              <a:rPr lang="en-US" dirty="0"/>
              <a:t>A hormonal disorder causing enlarged ovaries with cysts. Hormonal disorder with cyst formation on ovaries, irregular periods, and fertility issues.</a:t>
            </a:r>
            <a:endParaRPr lang="en-IN" dirty="0"/>
          </a:p>
          <a:p>
            <a:pPr lvl="0"/>
            <a:r>
              <a:rPr lang="en-US" b="1" dirty="0"/>
              <a:t>Pelvic Inflammatory Disease (PID) – </a:t>
            </a:r>
            <a:r>
              <a:rPr lang="en-US" dirty="0"/>
              <a:t>Infection of the female reproductive organs.</a:t>
            </a:r>
            <a:endParaRPr lang="en-IN" dirty="0"/>
          </a:p>
          <a:p>
            <a:pPr lvl="0"/>
            <a:r>
              <a:rPr lang="en-US" b="1" dirty="0"/>
              <a:t>Ovarian Cyst – </a:t>
            </a:r>
            <a:r>
              <a:rPr lang="en-US" dirty="0"/>
              <a:t>A fluid-filled sac in or on an ovary.</a:t>
            </a:r>
            <a:endParaRPr lang="en-IN" dirty="0"/>
          </a:p>
          <a:p>
            <a:pPr lvl="0"/>
            <a:r>
              <a:rPr lang="en-US" b="1" dirty="0"/>
              <a:t>Fibroids – </a:t>
            </a:r>
            <a:r>
              <a:rPr lang="en-US" dirty="0"/>
              <a:t>Noncancerous growths in the uterine wall.  It cause pain, bleeding, and pressure. </a:t>
            </a:r>
            <a:br>
              <a:rPr lang="en-US" dirty="0"/>
            </a:br>
            <a:r>
              <a:rPr lang="en-US" dirty="0"/>
              <a:t>Malignant tumor of the cervix, often detected via Pap smear.</a:t>
            </a:r>
            <a:endParaRPr lang="en-IN" dirty="0"/>
          </a:p>
          <a:p>
            <a:pPr lvl="0"/>
            <a:r>
              <a:rPr lang="en-US" b="1" dirty="0"/>
              <a:t>Pap Smear </a:t>
            </a:r>
            <a:r>
              <a:rPr lang="en-US" dirty="0"/>
              <a:t>– A screening test for cervical cancer.</a:t>
            </a:r>
            <a:endParaRPr lang="en-IN" dirty="0"/>
          </a:p>
          <a:p>
            <a:pPr lvl="0"/>
            <a:r>
              <a:rPr lang="en-US" b="1" dirty="0"/>
              <a:t>Ectopic Pregnancy – </a:t>
            </a:r>
            <a:r>
              <a:rPr lang="en-US" dirty="0"/>
              <a:t>Pregnancy occurring outside the uterus, usually in the fallopian tube , which can be life-threatening if untreated</a:t>
            </a:r>
            <a:endParaRPr lang="en-IN" dirty="0"/>
          </a:p>
          <a:p>
            <a:pPr lvl="0"/>
            <a:r>
              <a:rPr lang="en-US" b="1" dirty="0"/>
              <a:t>Dysplasia – </a:t>
            </a:r>
            <a:r>
              <a:rPr lang="en-US" dirty="0"/>
              <a:t>Abnormal development of cells, often in the cervix (e.g., cervical dysplasia).</a:t>
            </a:r>
            <a:endParaRPr lang="en-IN" dirty="0"/>
          </a:p>
          <a:p>
            <a:pPr lvl="0"/>
            <a:r>
              <a:rPr lang="en-US" b="1" dirty="0"/>
              <a:t>Endometriosis</a:t>
            </a:r>
            <a:r>
              <a:rPr lang="en-US" dirty="0"/>
              <a:t>– Condition where tissue similar to the uterine lining  grows outside the uterus, causing pain and infertility.</a:t>
            </a:r>
            <a:endParaRPr lang="en-IN" dirty="0"/>
          </a:p>
          <a:p>
            <a:pPr lvl="0"/>
            <a:r>
              <a:rPr lang="en-US" b="1" dirty="0"/>
              <a:t>Ovarian Cancer </a:t>
            </a:r>
            <a:r>
              <a:rPr lang="en-US" dirty="0"/>
              <a:t>– Malignancy arising from the ovarian tissues.</a:t>
            </a:r>
            <a:endParaRPr lang="en-IN" dirty="0"/>
          </a:p>
          <a:p>
            <a:pPr lvl="0"/>
            <a:r>
              <a:rPr lang="en-US" b="1" dirty="0"/>
              <a:t>Vaginitis – </a:t>
            </a:r>
            <a:r>
              <a:rPr lang="en-US" dirty="0"/>
              <a:t>Inflammation or infection of the vagina, caused by bacteria, yeast, or viruses.</a:t>
            </a:r>
            <a:endParaRPr lang="en-IN" dirty="0"/>
          </a:p>
          <a:p>
            <a:pPr lvl="0"/>
            <a:r>
              <a:rPr lang="en-US" b="1" dirty="0"/>
              <a:t>Hydrosalpinx – </a:t>
            </a:r>
            <a:r>
              <a:rPr lang="en-US" dirty="0"/>
              <a:t>Blockage of the fallopian tube filled with fluid, often  due to infection or scarring.</a:t>
            </a:r>
            <a:endParaRPr lang="en-IN" dirty="0"/>
          </a:p>
          <a:p>
            <a:pPr lvl="0"/>
            <a:r>
              <a:rPr lang="en-US" b="1" dirty="0"/>
              <a:t>Cervicitis </a:t>
            </a:r>
            <a:r>
              <a:rPr lang="en-US" dirty="0"/>
              <a:t>– Inflammation of the cervix, often caused by infection.</a:t>
            </a:r>
            <a:endParaRPr lang="en-IN" dirty="0"/>
          </a:p>
          <a:p>
            <a:pPr lvl="0"/>
            <a:r>
              <a:rPr lang="en-US" b="1" dirty="0"/>
              <a:t>Bartholin’s Cyst – </a:t>
            </a:r>
            <a:r>
              <a:rPr lang="en-US" dirty="0"/>
              <a:t>Cyst formation at the Bartholin glands near the  vaginal opening, which can become infected.</a:t>
            </a:r>
            <a:endParaRPr lang="en-IN" dirty="0"/>
          </a:p>
          <a:p>
            <a:pPr lvl="0"/>
            <a:r>
              <a:rPr lang="en-US" b="1" dirty="0"/>
              <a:t>Vaginal Cancer – </a:t>
            </a:r>
            <a:r>
              <a:rPr lang="en-US" dirty="0"/>
              <a:t>Rare malignancy of the vaginal tissue.</a:t>
            </a:r>
            <a:endParaRPr lang="en-IN" dirty="0"/>
          </a:p>
        </p:txBody>
      </p:sp>
    </p:spTree>
    <p:extLst>
      <p:ext uri="{BB962C8B-B14F-4D97-AF65-F5344CB8AC3E}">
        <p14:creationId xmlns:p14="http://schemas.microsoft.com/office/powerpoint/2010/main" val="40942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AE9BA-F18C-2749-8730-60456A6747A7}"/>
              </a:ext>
            </a:extLst>
          </p:cNvPr>
          <p:cNvSpPr>
            <a:spLocks noGrp="1"/>
          </p:cNvSpPr>
          <p:nvPr>
            <p:ph type="title"/>
          </p:nvPr>
        </p:nvSpPr>
        <p:spPr/>
        <p:txBody>
          <a:bodyPr>
            <a:normAutofit fontScale="90000"/>
          </a:bodyPr>
          <a:lstStyle/>
          <a:p>
            <a:r>
              <a:rPr lang="en-IN" b="1" u="sng" dirty="0"/>
              <a:t>Menstrual Disorders</a:t>
            </a:r>
            <a:br>
              <a:rPr lang="en-IN" dirty="0"/>
            </a:br>
            <a:endParaRPr lang="en-IN" dirty="0"/>
          </a:p>
        </p:txBody>
      </p:sp>
      <p:sp>
        <p:nvSpPr>
          <p:cNvPr id="3" name="Content Placeholder 2">
            <a:extLst>
              <a:ext uri="{FF2B5EF4-FFF2-40B4-BE49-F238E27FC236}">
                <a16:creationId xmlns:a16="http://schemas.microsoft.com/office/drawing/2014/main" id="{D1DA8D52-5FEE-5D3F-78DB-EFAB6F51B62B}"/>
              </a:ext>
            </a:extLst>
          </p:cNvPr>
          <p:cNvSpPr>
            <a:spLocks noGrp="1"/>
          </p:cNvSpPr>
          <p:nvPr>
            <p:ph idx="1"/>
          </p:nvPr>
        </p:nvSpPr>
        <p:spPr>
          <a:xfrm>
            <a:off x="447040" y="1432560"/>
            <a:ext cx="11358880" cy="4988560"/>
          </a:xfrm>
        </p:spPr>
        <p:txBody>
          <a:bodyPr>
            <a:normAutofit fontScale="92500" lnSpcReduction="20000"/>
          </a:bodyPr>
          <a:lstStyle/>
          <a:p>
            <a:pPr lvl="0"/>
            <a:r>
              <a:rPr lang="en-IN" b="1" dirty="0"/>
              <a:t>Amenorrhea</a:t>
            </a:r>
            <a:r>
              <a:rPr lang="en-IN" dirty="0"/>
              <a:t> is an abnormal absence of menstrual periods for 3 or more months. This condition is normal only before puberty, during pregnancy, while breastfeeding, and after menopause. </a:t>
            </a:r>
          </a:p>
          <a:p>
            <a:pPr lvl="0"/>
            <a:r>
              <a:rPr lang="en-IN" b="1" dirty="0"/>
              <a:t>Dysmenorrhea</a:t>
            </a:r>
            <a:r>
              <a:rPr lang="en-IN" dirty="0"/>
              <a:t> is pain caused by uterine cramps during a menstrual period. This pain, which occurs in the lower abdomen, can be sharp, intermittent, dull, or aching. </a:t>
            </a:r>
          </a:p>
          <a:p>
            <a:pPr lvl="0"/>
            <a:r>
              <a:rPr lang="en-US" dirty="0"/>
              <a:t> Painful menstruation, often caused by underlying conditions like endometriosis or fibroids.</a:t>
            </a:r>
            <a:endParaRPr lang="en-IN" dirty="0"/>
          </a:p>
          <a:p>
            <a:pPr lvl="0"/>
            <a:r>
              <a:rPr lang="en-IN" b="1" dirty="0" err="1"/>
              <a:t>Hypermenorrhea</a:t>
            </a:r>
            <a:r>
              <a:rPr lang="en-IN" b="1" dirty="0"/>
              <a:t> </a:t>
            </a:r>
            <a:r>
              <a:rPr lang="en-IN" dirty="0"/>
              <a:t>, also known as menorrhagia, is an excessive amount of menstrual flow over a period of more than 7 days.</a:t>
            </a:r>
          </a:p>
          <a:p>
            <a:pPr lvl="0"/>
            <a:r>
              <a:rPr lang="en-IN" b="1" dirty="0"/>
              <a:t>Hypomenorrhea</a:t>
            </a:r>
            <a:r>
              <a:rPr lang="en-IN" dirty="0"/>
              <a:t> is an unusually small amount of menstrual flow during a shortened regular menstrual period.</a:t>
            </a:r>
          </a:p>
          <a:p>
            <a:pPr lvl="0"/>
            <a:r>
              <a:rPr lang="en-IN" b="1" dirty="0"/>
              <a:t>Menometrorrhagia </a:t>
            </a:r>
            <a:r>
              <a:rPr lang="en-IN" dirty="0"/>
              <a:t>, also known as inter menstrual bleeding, is excessive uterine bleeding at both the usual time of menstrual periods and at other irregular intervals</a:t>
            </a:r>
          </a:p>
          <a:p>
            <a:pPr lvl="0"/>
            <a:r>
              <a:rPr lang="en-IN" b="1" dirty="0"/>
              <a:t>Oligomenorrhea</a:t>
            </a:r>
            <a:r>
              <a:rPr lang="en-IN" dirty="0"/>
              <a:t> is the term used to describe infrequent or very light menstruation in a woman with previously normal periods.</a:t>
            </a:r>
          </a:p>
          <a:p>
            <a:pPr lvl="0"/>
            <a:r>
              <a:rPr lang="en-IN" b="1" dirty="0" err="1"/>
              <a:t>Polymenorrhea</a:t>
            </a:r>
            <a:r>
              <a:rPr lang="en-IN" dirty="0"/>
              <a:t>  is the occurrence of menstrual cycles more frequently than is normal .</a:t>
            </a:r>
          </a:p>
          <a:p>
            <a:pPr lvl="0"/>
            <a:r>
              <a:rPr lang="en-IN" b="1" dirty="0"/>
              <a:t>Premature menopause </a:t>
            </a:r>
            <a:r>
              <a:rPr lang="en-IN" dirty="0"/>
              <a:t>is a condition in which the ovaries cease functioning before age 40 years due to disease, a hormonal disorder, or surgical removal. This causes infertility and often bringing on menopausal symptoms. </a:t>
            </a:r>
            <a:r>
              <a:rPr lang="en-IN" b="1" dirty="0"/>
              <a:t>Premenstrual syndrome </a:t>
            </a:r>
            <a:r>
              <a:rPr lang="en-IN" dirty="0"/>
              <a:t>(PMS) is a group of symptoms experienced by some women within the 2-week period before menstruation. These symptoms can include bloating, swelling, headaches, mood swings, and breast discomfort. </a:t>
            </a:r>
          </a:p>
          <a:p>
            <a:pPr lvl="0"/>
            <a:r>
              <a:rPr lang="en-IN" b="1" dirty="0"/>
              <a:t>Premenstrual dysphoric disorder </a:t>
            </a:r>
            <a:r>
              <a:rPr lang="en-IN" dirty="0"/>
              <a:t>(PMDD) is a condition associated with severe emotional and physical problems that are closely linked to the menstrual cycle. Symptoms occur regularly in the second half of the cycle and end when menstruation begins or shortly thereafter.</a:t>
            </a:r>
          </a:p>
        </p:txBody>
      </p:sp>
    </p:spTree>
    <p:extLst>
      <p:ext uri="{BB962C8B-B14F-4D97-AF65-F5344CB8AC3E}">
        <p14:creationId xmlns:p14="http://schemas.microsoft.com/office/powerpoint/2010/main" val="2566115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30CE4-EE41-D09E-53DF-4CDEC8D9D5E8}"/>
              </a:ext>
            </a:extLst>
          </p:cNvPr>
          <p:cNvSpPr>
            <a:spLocks noGrp="1"/>
          </p:cNvSpPr>
          <p:nvPr>
            <p:ph type="title"/>
          </p:nvPr>
        </p:nvSpPr>
        <p:spPr>
          <a:xfrm>
            <a:off x="1066800" y="957554"/>
            <a:ext cx="10058400" cy="1371600"/>
          </a:xfrm>
        </p:spPr>
        <p:txBody>
          <a:bodyPr>
            <a:normAutofit fontScale="90000"/>
          </a:bodyPr>
          <a:lstStyle/>
          <a:p>
            <a:r>
              <a:rPr lang="en-US" b="1" u="sng" dirty="0"/>
              <a:t>Investigations and diagnostic procedures related to diseases of the female reproductive system:</a:t>
            </a:r>
            <a:br>
              <a:rPr lang="en-IN" dirty="0"/>
            </a:br>
            <a:endParaRPr lang="en-IN" dirty="0"/>
          </a:p>
        </p:txBody>
      </p:sp>
      <p:sp>
        <p:nvSpPr>
          <p:cNvPr id="3" name="Content Placeholder 2">
            <a:extLst>
              <a:ext uri="{FF2B5EF4-FFF2-40B4-BE49-F238E27FC236}">
                <a16:creationId xmlns:a16="http://schemas.microsoft.com/office/drawing/2014/main" id="{3E554780-5B18-99B3-D66B-AAD582B1F891}"/>
              </a:ext>
            </a:extLst>
          </p:cNvPr>
          <p:cNvSpPr>
            <a:spLocks noGrp="1"/>
          </p:cNvSpPr>
          <p:nvPr>
            <p:ph idx="1"/>
          </p:nvPr>
        </p:nvSpPr>
        <p:spPr>
          <a:xfrm>
            <a:off x="558800" y="2682240"/>
            <a:ext cx="11348720" cy="3931920"/>
          </a:xfrm>
        </p:spPr>
        <p:txBody>
          <a:bodyPr>
            <a:normAutofit fontScale="92500" lnSpcReduction="10000"/>
          </a:bodyPr>
          <a:lstStyle/>
          <a:p>
            <a:r>
              <a:rPr lang="en-US" b="1" dirty="0"/>
              <a:t>Pap Smear </a:t>
            </a:r>
            <a:r>
              <a:rPr lang="en-US" dirty="0"/>
              <a:t>(Pap Test) – Screening for cervical abnormalities, including precancerous changes and cervical cancer.</a:t>
            </a:r>
            <a:endParaRPr lang="en-IN" dirty="0"/>
          </a:p>
          <a:p>
            <a:r>
              <a:rPr lang="en-US" b="1" dirty="0"/>
              <a:t>Pelvic Ultrasound</a:t>
            </a:r>
            <a:r>
              <a:rPr lang="en-US" dirty="0"/>
              <a:t>– Imaging technique to visualize the uterus, ovaries, and pelvis to detect cysts, fibroids, or tumors.</a:t>
            </a:r>
            <a:endParaRPr lang="en-IN" dirty="0"/>
          </a:p>
          <a:p>
            <a:r>
              <a:rPr lang="en-US" b="1" dirty="0"/>
              <a:t>Biopsy of Ovarian or Uterine Tissue </a:t>
            </a:r>
            <a:r>
              <a:rPr lang="en-US" dirty="0"/>
              <a:t>– For histopathological diagnosis of suspicious lesions or cancers.</a:t>
            </a:r>
            <a:endParaRPr lang="en-IN" dirty="0"/>
          </a:p>
          <a:p>
            <a:r>
              <a:rPr lang="en-US" b="1" dirty="0"/>
              <a:t>Transvaginal Ultrasound – </a:t>
            </a:r>
            <a:r>
              <a:rPr lang="en-US" dirty="0"/>
              <a:t>More detailed ultrasound performed via the vagina for better visualization of reproductive organs</a:t>
            </a:r>
            <a:endParaRPr lang="en-IN" dirty="0"/>
          </a:p>
          <a:p>
            <a:r>
              <a:rPr lang="en-US" b="1" dirty="0"/>
              <a:t>Hysteroscopy – </a:t>
            </a:r>
            <a:r>
              <a:rPr lang="en-US" dirty="0"/>
              <a:t>Endoscopic examination of the uterine cavity to diagnose and treat intrauterine pathologies such as polyps or fibroids.</a:t>
            </a:r>
            <a:endParaRPr lang="en-IN" dirty="0"/>
          </a:p>
          <a:p>
            <a:r>
              <a:rPr lang="en-US" b="1" dirty="0"/>
              <a:t>Hysterosalpingography (HSG)– </a:t>
            </a:r>
            <a:r>
              <a:rPr lang="en-US" dirty="0"/>
              <a:t>X-ray procedure to assess the uterine cavity and fallopian tube patency, important in infertility evaluation.</a:t>
            </a:r>
            <a:endParaRPr lang="en-IN" dirty="0"/>
          </a:p>
          <a:p>
            <a:r>
              <a:rPr lang="en-US" b="1" dirty="0"/>
              <a:t>Colposcopy </a:t>
            </a:r>
            <a:r>
              <a:rPr lang="en-US" dirty="0"/>
              <a:t>– Magnified visualization of the cervix for abnormal Pap smear findings, often with biopsy.</a:t>
            </a:r>
            <a:endParaRPr lang="en-IN" dirty="0"/>
          </a:p>
          <a:p>
            <a:r>
              <a:rPr lang="en-US" b="1" dirty="0"/>
              <a:t>Endometrial Biopsy– </a:t>
            </a:r>
            <a:r>
              <a:rPr lang="en-US" dirty="0"/>
              <a:t>Sampling of the uterine lining to investigate abnormal bleeding or suspected endometrial pathology.</a:t>
            </a:r>
            <a:endParaRPr lang="en-IN" dirty="0"/>
          </a:p>
          <a:p>
            <a:r>
              <a:rPr lang="en-US" b="1" dirty="0"/>
              <a:t>Laparoscopy– </a:t>
            </a:r>
            <a:r>
              <a:rPr lang="en-US" dirty="0"/>
              <a:t>Minimally invasive surgical procedure to visualize the pelvis and abdomen, useful for diagnosing endometriosis, pelvic adhesions, or ovarian cysts.</a:t>
            </a:r>
            <a:endParaRPr lang="en-IN" dirty="0"/>
          </a:p>
        </p:txBody>
      </p:sp>
    </p:spTree>
    <p:extLst>
      <p:ext uri="{BB962C8B-B14F-4D97-AF65-F5344CB8AC3E}">
        <p14:creationId xmlns:p14="http://schemas.microsoft.com/office/powerpoint/2010/main" val="387258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2645D-C281-8C51-70E8-8A6F3B4CB527}"/>
              </a:ext>
            </a:extLst>
          </p:cNvPr>
          <p:cNvSpPr>
            <a:spLocks noGrp="1"/>
          </p:cNvSpPr>
          <p:nvPr>
            <p:ph type="title"/>
          </p:nvPr>
        </p:nvSpPr>
        <p:spPr>
          <a:xfrm>
            <a:off x="1148080" y="1008354"/>
            <a:ext cx="10058400" cy="1371600"/>
          </a:xfrm>
        </p:spPr>
        <p:txBody>
          <a:bodyPr>
            <a:normAutofit fontScale="90000"/>
          </a:bodyPr>
          <a:lstStyle/>
          <a:p>
            <a:r>
              <a:rPr lang="en-US" b="1" u="sng" dirty="0"/>
              <a:t>Treatment options related to diseases of the female reproductive system:</a:t>
            </a:r>
            <a:br>
              <a:rPr lang="en-IN" dirty="0"/>
            </a:br>
            <a:r>
              <a:rPr lang="en-US" b="1" u="sng" dirty="0"/>
              <a:t>Surgical Treatments:</a:t>
            </a:r>
            <a:br>
              <a:rPr lang="en-IN" dirty="0"/>
            </a:br>
            <a:endParaRPr lang="en-IN" dirty="0"/>
          </a:p>
        </p:txBody>
      </p:sp>
      <p:sp>
        <p:nvSpPr>
          <p:cNvPr id="3" name="Content Placeholder 2">
            <a:extLst>
              <a:ext uri="{FF2B5EF4-FFF2-40B4-BE49-F238E27FC236}">
                <a16:creationId xmlns:a16="http://schemas.microsoft.com/office/drawing/2014/main" id="{A1112D16-E059-6004-D661-F3058156648A}"/>
              </a:ext>
            </a:extLst>
          </p:cNvPr>
          <p:cNvSpPr>
            <a:spLocks noGrp="1"/>
          </p:cNvSpPr>
          <p:nvPr>
            <p:ph idx="1"/>
          </p:nvPr>
        </p:nvSpPr>
        <p:spPr>
          <a:xfrm>
            <a:off x="1066800" y="2926080"/>
            <a:ext cx="10058400" cy="3931920"/>
          </a:xfrm>
        </p:spPr>
        <p:txBody>
          <a:bodyPr/>
          <a:lstStyle/>
          <a:p>
            <a:r>
              <a:rPr lang="en-US" b="1" dirty="0"/>
              <a:t>Oophorectomy</a:t>
            </a:r>
            <a:r>
              <a:rPr lang="en-US" dirty="0"/>
              <a:t>  - Removal of ovaries, often for ovarian tumors or cysts.</a:t>
            </a:r>
            <a:endParaRPr lang="en-IN" dirty="0"/>
          </a:p>
          <a:p>
            <a:r>
              <a:rPr lang="en-US" b="1" dirty="0"/>
              <a:t>Laparoscopic or Robotic Surgery</a:t>
            </a:r>
            <a:r>
              <a:rPr lang="en-US" dirty="0"/>
              <a:t> - For endometriosis, cyst removal, or tubal ligation.</a:t>
            </a:r>
            <a:endParaRPr lang="en-IN" dirty="0"/>
          </a:p>
          <a:p>
            <a:r>
              <a:rPr lang="en-US" b="1" dirty="0"/>
              <a:t>Myomectomy  - </a:t>
            </a:r>
            <a:r>
              <a:rPr lang="en-US" dirty="0"/>
              <a:t>Surgical removal of fibroids.</a:t>
            </a:r>
            <a:endParaRPr lang="en-IN" dirty="0"/>
          </a:p>
          <a:p>
            <a:r>
              <a:rPr lang="en-US" b="1" dirty="0"/>
              <a:t>Dilation and Curettage (D&amp;C) - </a:t>
            </a:r>
            <a:r>
              <a:rPr lang="en-US" dirty="0"/>
              <a:t>To diagnose or treat abnormal uterine bleeding</a:t>
            </a:r>
            <a:endParaRPr lang="en-IN" dirty="0"/>
          </a:p>
          <a:p>
            <a:r>
              <a:rPr lang="en-US" b="1" dirty="0"/>
              <a:t>Hysterectomy – </a:t>
            </a:r>
            <a:r>
              <a:rPr lang="en-US" dirty="0"/>
              <a:t>Surgical removal of the uterus, for fibroids, cancer, or severe bleeding.</a:t>
            </a:r>
            <a:endParaRPr lang="en-IN" dirty="0"/>
          </a:p>
          <a:p>
            <a:r>
              <a:rPr lang="en-US" b="1" dirty="0"/>
              <a:t>Tubal Ligation or Essure</a:t>
            </a:r>
            <a:r>
              <a:rPr lang="en-US" dirty="0"/>
              <a:t> - Permanent sterilization procedures.</a:t>
            </a:r>
            <a:endParaRPr lang="en-IN" dirty="0"/>
          </a:p>
          <a:p>
            <a:r>
              <a:rPr lang="en-US" b="1" dirty="0"/>
              <a:t>Treatment of Ectopic Pregnancy</a:t>
            </a:r>
            <a:r>
              <a:rPr lang="en-US" dirty="0"/>
              <a:t>- Medical management with methotrexate or surgical removal.</a:t>
            </a:r>
            <a:endParaRPr lang="en-IN" dirty="0"/>
          </a:p>
          <a:p>
            <a:r>
              <a:rPr lang="en-US" b="1" dirty="0"/>
              <a:t>Hysteroscopic Surgery  - </a:t>
            </a:r>
            <a:r>
              <a:rPr lang="en-US" dirty="0"/>
              <a:t>Removal of polyps, septa, or fibroids from within the uterine cavity.</a:t>
            </a:r>
            <a:endParaRPr lang="en-IN" dirty="0"/>
          </a:p>
          <a:p>
            <a:endParaRPr lang="en-IN" dirty="0"/>
          </a:p>
        </p:txBody>
      </p:sp>
    </p:spTree>
    <p:extLst>
      <p:ext uri="{BB962C8B-B14F-4D97-AF65-F5344CB8AC3E}">
        <p14:creationId xmlns:p14="http://schemas.microsoft.com/office/powerpoint/2010/main" val="3521238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E41A-721F-B689-6ADD-10A06B38DA3D}"/>
              </a:ext>
            </a:extLst>
          </p:cNvPr>
          <p:cNvSpPr>
            <a:spLocks noGrp="1"/>
          </p:cNvSpPr>
          <p:nvPr>
            <p:ph type="title"/>
          </p:nvPr>
        </p:nvSpPr>
        <p:spPr/>
        <p:txBody>
          <a:bodyPr>
            <a:normAutofit/>
          </a:bodyPr>
          <a:lstStyle/>
          <a:p>
            <a:r>
              <a:rPr lang="en-US" b="1" u="sng" dirty="0"/>
              <a:t>Assisted Reproductive Techniques:</a:t>
            </a:r>
            <a:endParaRPr lang="en-IN" dirty="0"/>
          </a:p>
        </p:txBody>
      </p:sp>
      <p:sp>
        <p:nvSpPr>
          <p:cNvPr id="3" name="Content Placeholder 2">
            <a:extLst>
              <a:ext uri="{FF2B5EF4-FFF2-40B4-BE49-F238E27FC236}">
                <a16:creationId xmlns:a16="http://schemas.microsoft.com/office/drawing/2014/main" id="{3CCB875F-35A0-DCE4-B3A7-FC2B9CE2697F}"/>
              </a:ext>
            </a:extLst>
          </p:cNvPr>
          <p:cNvSpPr>
            <a:spLocks noGrp="1"/>
          </p:cNvSpPr>
          <p:nvPr>
            <p:ph idx="1"/>
          </p:nvPr>
        </p:nvSpPr>
        <p:spPr/>
        <p:txBody>
          <a:bodyPr/>
          <a:lstStyle/>
          <a:p>
            <a:r>
              <a:rPr lang="en-US" b="1" dirty="0"/>
              <a:t>Ovulation Induction</a:t>
            </a:r>
            <a:r>
              <a:rPr lang="en-US" dirty="0"/>
              <a:t> - Using medications like clomiphene citrate.</a:t>
            </a:r>
            <a:endParaRPr lang="en-IN" dirty="0"/>
          </a:p>
          <a:p>
            <a:r>
              <a:rPr lang="en-US" b="1" dirty="0"/>
              <a:t>Egg Donation</a:t>
            </a:r>
            <a:r>
              <a:rPr lang="en-US" dirty="0"/>
              <a:t> - When ovarian function is compromised, using donor eggs.</a:t>
            </a:r>
            <a:endParaRPr lang="en-IN" dirty="0"/>
          </a:p>
          <a:p>
            <a:r>
              <a:rPr lang="en-US" b="1" dirty="0"/>
              <a:t>Embryo Freezing and Storage</a:t>
            </a:r>
            <a:r>
              <a:rPr lang="en-US" dirty="0"/>
              <a:t>- For future use or to preserve fertility before medical treatments like chemotherapy.</a:t>
            </a:r>
            <a:endParaRPr lang="en-IN" dirty="0"/>
          </a:p>
          <a:p>
            <a:r>
              <a:rPr lang="en-US" b="1" dirty="0"/>
              <a:t>Intrauterine Insemination (IUI) </a:t>
            </a:r>
            <a:r>
              <a:rPr lang="en-US" dirty="0"/>
              <a:t>- Placement of sperm directly into the uterus, often used with ovulation induction.</a:t>
            </a:r>
            <a:endParaRPr lang="en-IN" dirty="0"/>
          </a:p>
          <a:p>
            <a:r>
              <a:rPr lang="en-US" b="1" dirty="0"/>
              <a:t>In Vitro Fertilization (IVF) - </a:t>
            </a:r>
            <a:r>
              <a:rPr lang="en-US" dirty="0"/>
              <a:t>The most effective treatment for many causes of female infertility, involving egg retrieval, fertilization outside the body, and embryo transfer.</a:t>
            </a:r>
            <a:endParaRPr lang="en-IN" dirty="0"/>
          </a:p>
          <a:p>
            <a:endParaRPr lang="en-IN" dirty="0"/>
          </a:p>
        </p:txBody>
      </p:sp>
    </p:spTree>
    <p:extLst>
      <p:ext uri="{BB962C8B-B14F-4D97-AF65-F5344CB8AC3E}">
        <p14:creationId xmlns:p14="http://schemas.microsoft.com/office/powerpoint/2010/main" val="313073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36635-A69D-AA12-9F64-A8B6EB262D45}"/>
              </a:ext>
            </a:extLst>
          </p:cNvPr>
          <p:cNvSpPr>
            <a:spLocks noGrp="1"/>
          </p:cNvSpPr>
          <p:nvPr>
            <p:ph type="title"/>
          </p:nvPr>
        </p:nvSpPr>
        <p:spPr/>
        <p:txBody>
          <a:bodyPr>
            <a:normAutofit fontScale="90000"/>
          </a:bodyPr>
          <a:lstStyle/>
          <a:p>
            <a:r>
              <a:rPr lang="en-IN" b="1" u="sng" dirty="0"/>
              <a:t>Medical Specialties Related To The Female Reproductive System And Childbirth</a:t>
            </a:r>
            <a:br>
              <a:rPr lang="en-IN" dirty="0"/>
            </a:br>
            <a:endParaRPr lang="en-IN" dirty="0"/>
          </a:p>
        </p:txBody>
      </p:sp>
      <p:sp>
        <p:nvSpPr>
          <p:cNvPr id="3" name="Content Placeholder 2">
            <a:extLst>
              <a:ext uri="{FF2B5EF4-FFF2-40B4-BE49-F238E27FC236}">
                <a16:creationId xmlns:a16="http://schemas.microsoft.com/office/drawing/2014/main" id="{C0D8B774-405A-B712-7AD0-B4C033D08D78}"/>
              </a:ext>
            </a:extLst>
          </p:cNvPr>
          <p:cNvSpPr>
            <a:spLocks noGrp="1"/>
          </p:cNvSpPr>
          <p:nvPr>
            <p:ph idx="1"/>
          </p:nvPr>
        </p:nvSpPr>
        <p:spPr/>
        <p:txBody>
          <a:bodyPr>
            <a:normAutofit fontScale="92500" lnSpcReduction="10000"/>
          </a:bodyPr>
          <a:lstStyle/>
          <a:p>
            <a:pPr lvl="0"/>
            <a:r>
              <a:rPr lang="en-IN" dirty="0"/>
              <a:t>A </a:t>
            </a:r>
            <a:r>
              <a:rPr lang="en-IN" b="1" dirty="0" err="1"/>
              <a:t>Gynecologist</a:t>
            </a:r>
            <a:r>
              <a:rPr lang="en-IN" dirty="0"/>
              <a:t> is a physician who specializes in diagnosing and treating diseases and disorders of the female reproductive system (</a:t>
            </a:r>
            <a:r>
              <a:rPr lang="en-IN" b="1" dirty="0" err="1"/>
              <a:t>gynec</a:t>
            </a:r>
            <a:r>
              <a:rPr lang="en-IN" dirty="0"/>
              <a:t> means female, and -</a:t>
            </a:r>
            <a:r>
              <a:rPr lang="en-IN" b="1" dirty="0"/>
              <a:t>ologist</a:t>
            </a:r>
            <a:r>
              <a:rPr lang="en-IN" dirty="0"/>
              <a:t> means specialist). </a:t>
            </a:r>
          </a:p>
          <a:p>
            <a:pPr lvl="0"/>
            <a:r>
              <a:rPr lang="en-IN" dirty="0"/>
              <a:t>An </a:t>
            </a:r>
            <a:r>
              <a:rPr lang="en-IN" b="1" dirty="0"/>
              <a:t>Obstetrician</a:t>
            </a:r>
            <a:r>
              <a:rPr lang="en-IN" dirty="0"/>
              <a:t> is a physician who specializes in providing medical care to women during pregnancy, childbirth, and immediately thereafter. This specialty is referred to as obstetrics. </a:t>
            </a:r>
          </a:p>
          <a:p>
            <a:pPr lvl="0"/>
            <a:r>
              <a:rPr lang="en-IN" dirty="0"/>
              <a:t>A </a:t>
            </a:r>
            <a:r>
              <a:rPr lang="en-IN" b="1" dirty="0"/>
              <a:t>Neonatologist</a:t>
            </a:r>
            <a:r>
              <a:rPr lang="en-IN" dirty="0"/>
              <a:t> is a physician who in diagnosing and treating disorders of the newborn (</a:t>
            </a:r>
            <a:r>
              <a:rPr lang="en-IN" b="1" dirty="0"/>
              <a:t>neo-</a:t>
            </a:r>
            <a:r>
              <a:rPr lang="en-IN" dirty="0"/>
              <a:t> means new, </a:t>
            </a:r>
            <a:r>
              <a:rPr lang="en-IN" b="1" dirty="0" err="1"/>
              <a:t>nat</a:t>
            </a:r>
            <a:r>
              <a:rPr lang="en-IN" dirty="0"/>
              <a:t> means born, and -</a:t>
            </a:r>
            <a:r>
              <a:rPr lang="en-IN" b="1" dirty="0"/>
              <a:t>ologist</a:t>
            </a:r>
            <a:r>
              <a:rPr lang="en-IN" dirty="0"/>
              <a:t> means specialist). </a:t>
            </a:r>
          </a:p>
          <a:p>
            <a:pPr lvl="0"/>
            <a:r>
              <a:rPr lang="en-IN" dirty="0"/>
              <a:t>A </a:t>
            </a:r>
            <a:r>
              <a:rPr lang="en-IN" b="1" dirty="0" err="1"/>
              <a:t>Pediatrician</a:t>
            </a:r>
            <a:r>
              <a:rPr lang="en-IN" dirty="0"/>
              <a:t> is a physician who specializes in diagnosing, treating, and preventing disorders and diseases</a:t>
            </a:r>
          </a:p>
          <a:p>
            <a:r>
              <a:rPr lang="en-IN" b="1" dirty="0"/>
              <a:t>The Mother</a:t>
            </a:r>
            <a:endParaRPr lang="en-IN" dirty="0"/>
          </a:p>
          <a:p>
            <a:pPr marL="0" indent="0">
              <a:buNone/>
            </a:pPr>
            <a:r>
              <a:rPr lang="en-IN" b="1" dirty="0"/>
              <a:t>Childbirth</a:t>
            </a:r>
            <a:endParaRPr lang="en-IN" dirty="0"/>
          </a:p>
          <a:p>
            <a:pPr lvl="0"/>
            <a:r>
              <a:rPr lang="en-IN" b="1" dirty="0"/>
              <a:t>Labor</a:t>
            </a:r>
            <a:r>
              <a:rPr lang="en-IN" dirty="0"/>
              <a:t> </a:t>
            </a:r>
            <a:r>
              <a:rPr lang="en-IN" b="1" dirty="0"/>
              <a:t>and delivery</a:t>
            </a:r>
            <a:r>
              <a:rPr lang="en-IN" dirty="0"/>
              <a:t>, also known as </a:t>
            </a:r>
            <a:r>
              <a:rPr lang="en-IN" b="1" dirty="0"/>
              <a:t>childbirth</a:t>
            </a:r>
            <a:r>
              <a:rPr lang="en-IN" dirty="0"/>
              <a:t> or parturition, occurs in three stages. These are dilation, delivery of the baby, and expulsion of the afterbirth. </a:t>
            </a:r>
          </a:p>
          <a:p>
            <a:pPr lvl="0"/>
            <a:r>
              <a:rPr lang="en-IN" b="1" dirty="0"/>
              <a:t>Postpartum</a:t>
            </a:r>
            <a:r>
              <a:rPr lang="en-US" dirty="0"/>
              <a:t>- </a:t>
            </a:r>
            <a:r>
              <a:rPr lang="en-IN" dirty="0"/>
              <a:t>The term </a:t>
            </a:r>
            <a:r>
              <a:rPr lang="en-IN" b="1" dirty="0"/>
              <a:t>postpartum</a:t>
            </a:r>
            <a:r>
              <a:rPr lang="en-IN" dirty="0"/>
              <a:t>  means after childbirth. </a:t>
            </a:r>
          </a:p>
          <a:p>
            <a:endParaRPr lang="en-IN" dirty="0"/>
          </a:p>
        </p:txBody>
      </p:sp>
    </p:spTree>
    <p:extLst>
      <p:ext uri="{BB962C8B-B14F-4D97-AF65-F5344CB8AC3E}">
        <p14:creationId xmlns:p14="http://schemas.microsoft.com/office/powerpoint/2010/main" val="1954760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55E65-22BF-0E53-8231-2C767AC85223}"/>
              </a:ext>
            </a:extLst>
          </p:cNvPr>
          <p:cNvSpPr>
            <a:spLocks noGrp="1"/>
          </p:cNvSpPr>
          <p:nvPr>
            <p:ph type="title"/>
          </p:nvPr>
        </p:nvSpPr>
        <p:spPr/>
        <p:txBody>
          <a:bodyPr>
            <a:normAutofit fontScale="90000"/>
          </a:bodyPr>
          <a:lstStyle/>
          <a:p>
            <a:r>
              <a:rPr lang="en-IN" b="1" u="sng" dirty="0"/>
              <a:t>Medical Specialties Related To The Female Reproductive System And Childbirth</a:t>
            </a:r>
            <a:endParaRPr lang="en-IN" dirty="0"/>
          </a:p>
        </p:txBody>
      </p:sp>
      <p:sp>
        <p:nvSpPr>
          <p:cNvPr id="3" name="Content Placeholder 2">
            <a:extLst>
              <a:ext uri="{FF2B5EF4-FFF2-40B4-BE49-F238E27FC236}">
                <a16:creationId xmlns:a16="http://schemas.microsoft.com/office/drawing/2014/main" id="{290903F3-49EB-D068-47AD-9FC8D5E01C21}"/>
              </a:ext>
            </a:extLst>
          </p:cNvPr>
          <p:cNvSpPr>
            <a:spLocks noGrp="1"/>
          </p:cNvSpPr>
          <p:nvPr>
            <p:ph idx="1"/>
          </p:nvPr>
        </p:nvSpPr>
        <p:spPr/>
        <p:txBody>
          <a:bodyPr/>
          <a:lstStyle/>
          <a:p>
            <a:pPr lvl="0"/>
            <a:r>
              <a:rPr lang="en-IN" dirty="0"/>
              <a:t>A </a:t>
            </a:r>
            <a:r>
              <a:rPr lang="en-IN" b="1" dirty="0"/>
              <a:t>nulligravida</a:t>
            </a:r>
            <a:r>
              <a:rPr lang="en-IN" dirty="0"/>
              <a:t> is a woman who has never been pregnant (</a:t>
            </a:r>
            <a:r>
              <a:rPr lang="en-IN" b="1" dirty="0"/>
              <a:t>nulli-</a:t>
            </a:r>
            <a:r>
              <a:rPr lang="en-IN" dirty="0"/>
              <a:t> means none, and -</a:t>
            </a:r>
            <a:r>
              <a:rPr lang="en-IN" b="1" dirty="0"/>
              <a:t>gravida</a:t>
            </a:r>
            <a:r>
              <a:rPr lang="en-IN" dirty="0"/>
              <a:t> means pregnant).</a:t>
            </a:r>
          </a:p>
          <a:p>
            <a:pPr lvl="0"/>
            <a:r>
              <a:rPr lang="en-IN" dirty="0"/>
              <a:t>A </a:t>
            </a:r>
            <a:r>
              <a:rPr lang="en-IN" b="1" dirty="0"/>
              <a:t>nullipara</a:t>
            </a:r>
            <a:r>
              <a:rPr lang="en-IN" dirty="0"/>
              <a:t> is a woman who has never borne a viable child </a:t>
            </a:r>
          </a:p>
          <a:p>
            <a:pPr lvl="0"/>
            <a:r>
              <a:rPr lang="en-IN" dirty="0"/>
              <a:t>A </a:t>
            </a:r>
            <a:r>
              <a:rPr lang="en-IN" b="1" dirty="0"/>
              <a:t>primigravida</a:t>
            </a:r>
            <a:r>
              <a:rPr lang="en-IN" dirty="0"/>
              <a:t> is a woman during her first pregnancy .</a:t>
            </a:r>
          </a:p>
          <a:p>
            <a:pPr lvl="0"/>
            <a:r>
              <a:rPr lang="en-IN" dirty="0"/>
              <a:t>A </a:t>
            </a:r>
            <a:r>
              <a:rPr lang="en-IN" b="1" dirty="0"/>
              <a:t>primipara</a:t>
            </a:r>
            <a:r>
              <a:rPr lang="en-IN" dirty="0"/>
              <a:t>  is a woman who has borne one viable child </a:t>
            </a:r>
          </a:p>
          <a:p>
            <a:pPr lvl="0"/>
            <a:r>
              <a:rPr lang="en-IN" b="1" dirty="0"/>
              <a:t>Multiparous</a:t>
            </a:r>
            <a:r>
              <a:rPr lang="en-IN" dirty="0"/>
              <a:t> means a woman who has given birth two or more times .</a:t>
            </a:r>
          </a:p>
        </p:txBody>
      </p:sp>
    </p:spTree>
    <p:extLst>
      <p:ext uri="{BB962C8B-B14F-4D97-AF65-F5344CB8AC3E}">
        <p14:creationId xmlns:p14="http://schemas.microsoft.com/office/powerpoint/2010/main" val="3842389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A1153-BA40-F5EA-4C56-64AAC9AA6168}"/>
              </a:ext>
            </a:extLst>
          </p:cNvPr>
          <p:cNvSpPr>
            <a:spLocks noGrp="1"/>
          </p:cNvSpPr>
          <p:nvPr>
            <p:ph type="title"/>
          </p:nvPr>
        </p:nvSpPr>
        <p:spPr/>
        <p:txBody>
          <a:bodyPr>
            <a:normAutofit fontScale="90000"/>
          </a:bodyPr>
          <a:lstStyle/>
          <a:p>
            <a:r>
              <a:rPr lang="en-IN" b="1" u="sng" dirty="0"/>
              <a:t>Medical Specialties Related To The Female Reproductive System And Childbirth</a:t>
            </a:r>
            <a:endParaRPr lang="en-IN" dirty="0"/>
          </a:p>
        </p:txBody>
      </p:sp>
      <p:sp>
        <p:nvSpPr>
          <p:cNvPr id="3" name="Content Placeholder 2">
            <a:extLst>
              <a:ext uri="{FF2B5EF4-FFF2-40B4-BE49-F238E27FC236}">
                <a16:creationId xmlns:a16="http://schemas.microsoft.com/office/drawing/2014/main" id="{E7861134-D9C2-7580-5FE3-A8B9C598DD24}"/>
              </a:ext>
            </a:extLst>
          </p:cNvPr>
          <p:cNvSpPr>
            <a:spLocks noGrp="1"/>
          </p:cNvSpPr>
          <p:nvPr>
            <p:ph idx="1"/>
          </p:nvPr>
        </p:nvSpPr>
        <p:spPr/>
        <p:txBody>
          <a:bodyPr>
            <a:normAutofit fontScale="85000" lnSpcReduction="10000"/>
          </a:bodyPr>
          <a:lstStyle/>
          <a:p>
            <a:r>
              <a:rPr lang="en-IN" b="1" dirty="0"/>
              <a:t>The Mother </a:t>
            </a:r>
            <a:endParaRPr lang="en-IN" dirty="0"/>
          </a:p>
          <a:p>
            <a:pPr lvl="0"/>
            <a:r>
              <a:rPr lang="en-IN" b="1" dirty="0"/>
              <a:t>Puerperium</a:t>
            </a:r>
            <a:r>
              <a:rPr lang="en-IN" dirty="0"/>
              <a:t> is the time from the delivery of the placenta through approximately the first 6 weeks after the delivery. By the end of this period, most of the changes in the mother’s body due to pregnancy have resolved, and the body has reverted to the nonpregnant state.</a:t>
            </a:r>
          </a:p>
          <a:p>
            <a:pPr lvl="0"/>
            <a:r>
              <a:rPr lang="en-IN" b="1" dirty="0"/>
              <a:t>Lochia</a:t>
            </a:r>
            <a:r>
              <a:rPr lang="en-IN" dirty="0"/>
              <a:t> is the postpartum vaginal discharge that typically continues for 4–6 weeks after childbirth. It consists of blood, mucus, and placental tissue. </a:t>
            </a:r>
          </a:p>
          <a:p>
            <a:pPr lvl="0"/>
            <a:r>
              <a:rPr lang="en-IN" b="1" dirty="0"/>
              <a:t>Uterine involution </a:t>
            </a:r>
            <a:r>
              <a:rPr lang="en-IN" dirty="0"/>
              <a:t>is the return of the uterus to its normal size and former condition after delivery. Involution means the return of an enlarged organ to its normal size. </a:t>
            </a:r>
          </a:p>
          <a:p>
            <a:pPr lvl="0"/>
            <a:r>
              <a:rPr lang="en-IN" b="1" dirty="0"/>
              <a:t>Colostrum</a:t>
            </a:r>
            <a:r>
              <a:rPr lang="en-IN" dirty="0"/>
              <a:t> is a specialized form of milk that delivers essential nutrients and antibodies in a form that the newborn can digest. Colostrum is produced by the mammary glands in late pregnancy and during the first few days after giving birth. </a:t>
            </a:r>
          </a:p>
          <a:p>
            <a:pPr lvl="0"/>
            <a:r>
              <a:rPr lang="en-IN" b="1" dirty="0"/>
              <a:t>Lactation</a:t>
            </a:r>
            <a:r>
              <a:rPr lang="en-IN" dirty="0"/>
              <a:t> is the process of forming and secreting milk from the breasts as nourishment for the infant. The breast milk develops a few days after giving birth to replace the colostrum. </a:t>
            </a:r>
          </a:p>
          <a:p>
            <a:pPr lvl="0"/>
            <a:r>
              <a:rPr lang="en-IN" b="1" dirty="0"/>
              <a:t>Postpartum depression </a:t>
            </a:r>
            <a:r>
              <a:rPr lang="en-IN" dirty="0"/>
              <a:t>is a mood disorder characterized by feelings of sadness and the loss of pleasure in normal activities that can occur shortly after giving birth. One cause of this depression is the rapid change in the hormone levels that occurs after giving birth. When the depression is severe, treatment is required</a:t>
            </a:r>
          </a:p>
          <a:p>
            <a:endParaRPr lang="en-IN" dirty="0"/>
          </a:p>
        </p:txBody>
      </p:sp>
    </p:spTree>
    <p:extLst>
      <p:ext uri="{BB962C8B-B14F-4D97-AF65-F5344CB8AC3E}">
        <p14:creationId xmlns:p14="http://schemas.microsoft.com/office/powerpoint/2010/main" val="4224038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CD328-201F-7081-1948-F20852710D51}"/>
              </a:ext>
            </a:extLst>
          </p:cNvPr>
          <p:cNvSpPr>
            <a:spLocks noGrp="1"/>
          </p:cNvSpPr>
          <p:nvPr>
            <p:ph type="title"/>
          </p:nvPr>
        </p:nvSpPr>
        <p:spPr/>
        <p:txBody>
          <a:bodyPr>
            <a:normAutofit fontScale="90000"/>
          </a:bodyPr>
          <a:lstStyle/>
          <a:p>
            <a:r>
              <a:rPr lang="en-IN" b="1" u="sng" dirty="0"/>
              <a:t>Medical Specialties Related To The Female Reproductive System And Childbirth</a:t>
            </a:r>
            <a:endParaRPr lang="en-IN" dirty="0"/>
          </a:p>
        </p:txBody>
      </p:sp>
      <p:sp>
        <p:nvSpPr>
          <p:cNvPr id="3" name="Content Placeholder 2">
            <a:extLst>
              <a:ext uri="{FF2B5EF4-FFF2-40B4-BE49-F238E27FC236}">
                <a16:creationId xmlns:a16="http://schemas.microsoft.com/office/drawing/2014/main" id="{13EA84E9-BDE0-AD85-0160-90A90928BC35}"/>
              </a:ext>
            </a:extLst>
          </p:cNvPr>
          <p:cNvSpPr>
            <a:spLocks noGrp="1"/>
          </p:cNvSpPr>
          <p:nvPr>
            <p:ph idx="1"/>
          </p:nvPr>
        </p:nvSpPr>
        <p:spPr/>
        <p:txBody>
          <a:bodyPr/>
          <a:lstStyle/>
          <a:p>
            <a:r>
              <a:rPr lang="en-IN" b="1" dirty="0"/>
              <a:t>The Baby </a:t>
            </a:r>
            <a:endParaRPr lang="en-IN" dirty="0"/>
          </a:p>
          <a:p>
            <a:pPr lvl="0"/>
            <a:r>
              <a:rPr lang="en-IN" dirty="0"/>
              <a:t>The </a:t>
            </a:r>
            <a:r>
              <a:rPr lang="en-IN" b="1" dirty="0"/>
              <a:t>Newborn infant </a:t>
            </a:r>
            <a:r>
              <a:rPr lang="en-IN" dirty="0"/>
              <a:t>is known as a </a:t>
            </a:r>
            <a:r>
              <a:rPr lang="en-IN" b="1" dirty="0"/>
              <a:t>neonate</a:t>
            </a:r>
            <a:r>
              <a:rPr lang="en-IN" dirty="0"/>
              <a:t> during the first 4 weeks after birth. </a:t>
            </a:r>
          </a:p>
          <a:p>
            <a:pPr lvl="0"/>
            <a:r>
              <a:rPr lang="en-IN" b="1" dirty="0"/>
              <a:t>Vernix</a:t>
            </a:r>
            <a:r>
              <a:rPr lang="en-IN" dirty="0"/>
              <a:t>  is a greasy substance that protects the </a:t>
            </a:r>
            <a:r>
              <a:rPr lang="en-IN" dirty="0" err="1"/>
              <a:t>fetus</a:t>
            </a:r>
            <a:r>
              <a:rPr lang="en-IN" dirty="0"/>
              <a:t> in utero and can still be present at birth. </a:t>
            </a:r>
          </a:p>
          <a:p>
            <a:pPr lvl="0"/>
            <a:r>
              <a:rPr lang="en-IN" b="1" dirty="0"/>
              <a:t>Meconium</a:t>
            </a:r>
            <a:r>
              <a:rPr lang="en-IN" dirty="0"/>
              <a:t> is the greenish material that collects in the intestine of a </a:t>
            </a:r>
            <a:r>
              <a:rPr lang="en-IN" dirty="0" err="1"/>
              <a:t>fetus</a:t>
            </a:r>
            <a:r>
              <a:rPr lang="en-IN" dirty="0"/>
              <a:t> and forms the first stools of a newborn. </a:t>
            </a:r>
          </a:p>
          <a:p>
            <a:endParaRPr lang="en-IN" dirty="0"/>
          </a:p>
        </p:txBody>
      </p:sp>
    </p:spTree>
    <p:extLst>
      <p:ext uri="{BB962C8B-B14F-4D97-AF65-F5344CB8AC3E}">
        <p14:creationId xmlns:p14="http://schemas.microsoft.com/office/powerpoint/2010/main" val="512945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7D167-1A0D-B806-D28B-9437000A66B0}"/>
              </a:ext>
            </a:extLst>
          </p:cNvPr>
          <p:cNvSpPr>
            <a:spLocks noGrp="1"/>
          </p:cNvSpPr>
          <p:nvPr>
            <p:ph type="title"/>
          </p:nvPr>
        </p:nvSpPr>
        <p:spPr/>
        <p:txBody>
          <a:bodyPr>
            <a:normAutofit fontScale="90000"/>
          </a:bodyPr>
          <a:lstStyle/>
          <a:p>
            <a:r>
              <a:rPr lang="en-IN" b="1" u="sng" dirty="0"/>
              <a:t>Pathology of Pregnancy And Childbirth</a:t>
            </a:r>
            <a:br>
              <a:rPr lang="en-IN" dirty="0"/>
            </a:br>
            <a:endParaRPr lang="en-IN" dirty="0"/>
          </a:p>
        </p:txBody>
      </p:sp>
      <p:sp>
        <p:nvSpPr>
          <p:cNvPr id="3" name="Content Placeholder 2">
            <a:extLst>
              <a:ext uri="{FF2B5EF4-FFF2-40B4-BE49-F238E27FC236}">
                <a16:creationId xmlns:a16="http://schemas.microsoft.com/office/drawing/2014/main" id="{41884916-1FE2-9498-C3F6-D53AE69A794B}"/>
              </a:ext>
            </a:extLst>
          </p:cNvPr>
          <p:cNvSpPr>
            <a:spLocks noGrp="1"/>
          </p:cNvSpPr>
          <p:nvPr>
            <p:ph idx="1"/>
          </p:nvPr>
        </p:nvSpPr>
        <p:spPr>
          <a:xfrm>
            <a:off x="1066800" y="2103119"/>
            <a:ext cx="10058400" cy="4328853"/>
          </a:xfrm>
        </p:spPr>
        <p:txBody>
          <a:bodyPr>
            <a:normAutofit fontScale="85000" lnSpcReduction="20000"/>
          </a:bodyPr>
          <a:lstStyle/>
          <a:p>
            <a:pPr lvl="0"/>
            <a:r>
              <a:rPr lang="en-IN" dirty="0"/>
              <a:t>An </a:t>
            </a:r>
            <a:r>
              <a:rPr lang="en-IN" b="1" dirty="0"/>
              <a:t>abortion</a:t>
            </a:r>
            <a:r>
              <a:rPr lang="en-IN" dirty="0"/>
              <a:t>  is the interruption or termination of pregnancy before the </a:t>
            </a:r>
            <a:r>
              <a:rPr lang="en-IN" dirty="0" err="1"/>
              <a:t>fetus</a:t>
            </a:r>
            <a:r>
              <a:rPr lang="en-IN" dirty="0"/>
              <a:t> is viable. A spontaneous abortion, also known as a miscarriage, usually occurs early in the pregnancy and is due to an abnormality or genetic disorder. </a:t>
            </a:r>
          </a:p>
          <a:p>
            <a:pPr lvl="0"/>
            <a:r>
              <a:rPr lang="en-IN" dirty="0"/>
              <a:t>An </a:t>
            </a:r>
            <a:r>
              <a:rPr lang="en-IN" b="1" dirty="0"/>
              <a:t>induced abortion</a:t>
            </a:r>
            <a:r>
              <a:rPr lang="en-IN" dirty="0"/>
              <a:t>, caused by human intervention, is achieved through the use of drugs or suctioning. When done for medical purposes, it is known as known as a therapeutic abortion. </a:t>
            </a:r>
          </a:p>
          <a:p>
            <a:pPr lvl="0"/>
            <a:r>
              <a:rPr lang="en-IN" b="1" dirty="0"/>
              <a:t>Preeclampsia </a:t>
            </a:r>
            <a:r>
              <a:rPr lang="en-IN" dirty="0"/>
              <a:t>, also known as pregnancy-induced hypertension or </a:t>
            </a:r>
            <a:r>
              <a:rPr lang="en-IN" dirty="0" err="1"/>
              <a:t>toxemia</a:t>
            </a:r>
            <a:r>
              <a:rPr lang="en-IN" dirty="0"/>
              <a:t>, is a complication of pregnancy characterized by hypertension (high blood pressure), </a:t>
            </a:r>
            <a:r>
              <a:rPr lang="en-IN" b="1" dirty="0" err="1"/>
              <a:t>edema</a:t>
            </a:r>
            <a:r>
              <a:rPr lang="en-IN" dirty="0"/>
              <a:t> (swelling), and </a:t>
            </a:r>
            <a:r>
              <a:rPr lang="en-IN" b="1" dirty="0"/>
              <a:t>proteinuria</a:t>
            </a:r>
            <a:r>
              <a:rPr lang="en-IN" dirty="0"/>
              <a:t> (an abnormally high level of protein in the urine). </a:t>
            </a:r>
          </a:p>
          <a:p>
            <a:pPr lvl="0"/>
            <a:r>
              <a:rPr lang="en-IN" b="1" dirty="0"/>
              <a:t>Eclampsia</a:t>
            </a:r>
            <a:r>
              <a:rPr lang="en-IN" dirty="0"/>
              <a:t> , which is a more serious form of preeclampsia, is characterized by convulsions and sometimes coma. Treatment for this condition is delivery of the </a:t>
            </a:r>
            <a:r>
              <a:rPr lang="en-IN" dirty="0" err="1"/>
              <a:t>fetus</a:t>
            </a:r>
            <a:r>
              <a:rPr lang="en-IN" dirty="0"/>
              <a:t>. </a:t>
            </a:r>
          </a:p>
          <a:p>
            <a:r>
              <a:rPr lang="en-IN" b="1" dirty="0"/>
              <a:t>Childbirth</a:t>
            </a:r>
            <a:endParaRPr lang="en-IN" dirty="0"/>
          </a:p>
          <a:p>
            <a:pPr lvl="0"/>
            <a:r>
              <a:rPr lang="en-IN" b="1" dirty="0"/>
              <a:t>Abruptio placentae </a:t>
            </a:r>
            <a:r>
              <a:rPr lang="en-IN" dirty="0"/>
              <a:t> is an abnormal disorder in which the placenta separates from the uterine wall before the birth of the </a:t>
            </a:r>
            <a:r>
              <a:rPr lang="en-IN" dirty="0" err="1"/>
              <a:t>fetus</a:t>
            </a:r>
            <a:r>
              <a:rPr lang="en-IN" dirty="0"/>
              <a:t>. </a:t>
            </a:r>
          </a:p>
          <a:p>
            <a:pPr lvl="0"/>
            <a:r>
              <a:rPr lang="en-IN" b="1" dirty="0"/>
              <a:t>Breech presentation</a:t>
            </a:r>
            <a:r>
              <a:rPr lang="en-IN" dirty="0"/>
              <a:t> is one in which the buttocks or feet of the </a:t>
            </a:r>
            <a:r>
              <a:rPr lang="en-IN" dirty="0" err="1"/>
              <a:t>fetus</a:t>
            </a:r>
            <a:r>
              <a:rPr lang="en-IN" dirty="0"/>
              <a:t> are positioned to enter the birth canal first instead of the head. </a:t>
            </a:r>
          </a:p>
          <a:p>
            <a:pPr lvl="0"/>
            <a:r>
              <a:rPr lang="en-IN" b="1" dirty="0"/>
              <a:t>Placenta previa </a:t>
            </a:r>
            <a:r>
              <a:rPr lang="en-IN" dirty="0"/>
              <a:t> is the abnormal implantation of the placenta in the lower portion of the uterus. </a:t>
            </a:r>
            <a:r>
              <a:rPr lang="en-IN" b="1" u="sng" dirty="0"/>
              <a:t>Previa means appearing before or in front of. </a:t>
            </a:r>
            <a:r>
              <a:rPr lang="en-IN" dirty="0"/>
              <a:t>Symptoms include painless, </a:t>
            </a:r>
            <a:r>
              <a:rPr lang="en-IN" dirty="0" err="1"/>
              <a:t>suddenonset</a:t>
            </a:r>
            <a:r>
              <a:rPr lang="en-IN" dirty="0"/>
              <a:t> bleeding during the third trimester. </a:t>
            </a:r>
          </a:p>
          <a:p>
            <a:pPr lvl="0"/>
            <a:r>
              <a:rPr lang="en-IN" dirty="0"/>
              <a:t>A </a:t>
            </a:r>
            <a:r>
              <a:rPr lang="en-IN" b="1" dirty="0"/>
              <a:t>Premature infant</a:t>
            </a:r>
            <a:r>
              <a:rPr lang="en-IN" dirty="0"/>
              <a:t>, also known as a preemie, is a </a:t>
            </a:r>
            <a:r>
              <a:rPr lang="en-IN" dirty="0" err="1"/>
              <a:t>fetus</a:t>
            </a:r>
            <a:r>
              <a:rPr lang="en-IN" dirty="0"/>
              <a:t> born before the </a:t>
            </a:r>
            <a:r>
              <a:rPr lang="en-IN" b="1" u="sng" dirty="0"/>
              <a:t>37th week of gestation</a:t>
            </a:r>
            <a:r>
              <a:rPr lang="en-IN" dirty="0"/>
              <a:t>. </a:t>
            </a:r>
          </a:p>
          <a:p>
            <a:pPr lvl="0"/>
            <a:r>
              <a:rPr lang="en-IN" dirty="0"/>
              <a:t>A </a:t>
            </a:r>
            <a:r>
              <a:rPr lang="en-IN" b="1" dirty="0"/>
              <a:t>Stillbirth</a:t>
            </a:r>
            <a:r>
              <a:rPr lang="en-IN" dirty="0"/>
              <a:t> is the birth of a </a:t>
            </a:r>
            <a:r>
              <a:rPr lang="en-IN" dirty="0" err="1"/>
              <a:t>fetus</a:t>
            </a:r>
            <a:r>
              <a:rPr lang="en-IN" dirty="0"/>
              <a:t> that died before, or during, the delivery. </a:t>
            </a:r>
          </a:p>
          <a:p>
            <a:endParaRPr lang="en-IN" dirty="0"/>
          </a:p>
        </p:txBody>
      </p:sp>
    </p:spTree>
    <p:extLst>
      <p:ext uri="{BB962C8B-B14F-4D97-AF65-F5344CB8AC3E}">
        <p14:creationId xmlns:p14="http://schemas.microsoft.com/office/powerpoint/2010/main" val="2889098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9D12-713C-B6D7-7C5B-18421542CE3E}"/>
              </a:ext>
            </a:extLst>
          </p:cNvPr>
          <p:cNvSpPr>
            <a:spLocks noGrp="1"/>
          </p:cNvSpPr>
          <p:nvPr>
            <p:ph type="title"/>
          </p:nvPr>
        </p:nvSpPr>
        <p:spPr/>
        <p:txBody>
          <a:bodyPr>
            <a:normAutofit fontScale="90000"/>
          </a:bodyPr>
          <a:lstStyle/>
          <a:p>
            <a:r>
              <a:rPr lang="en-IN" b="1" u="sng"/>
              <a:t>Treatment Procedures Related to Pregnancy and Childbirth</a:t>
            </a:r>
            <a:endParaRPr lang="en-IN"/>
          </a:p>
        </p:txBody>
      </p:sp>
      <p:sp>
        <p:nvSpPr>
          <p:cNvPr id="3" name="Content Placeholder 2">
            <a:extLst>
              <a:ext uri="{FF2B5EF4-FFF2-40B4-BE49-F238E27FC236}">
                <a16:creationId xmlns:a16="http://schemas.microsoft.com/office/drawing/2014/main" id="{381CFD79-D57B-FA3F-92EA-7A71FBE8B036}"/>
              </a:ext>
            </a:extLst>
          </p:cNvPr>
          <p:cNvSpPr>
            <a:spLocks noGrp="1"/>
          </p:cNvSpPr>
          <p:nvPr>
            <p:ph idx="1"/>
          </p:nvPr>
        </p:nvSpPr>
        <p:spPr/>
        <p:txBody>
          <a:bodyPr/>
          <a:lstStyle/>
          <a:p>
            <a:pPr lvl="0"/>
            <a:r>
              <a:rPr lang="en-IN" dirty="0"/>
              <a:t>A </a:t>
            </a:r>
            <a:r>
              <a:rPr lang="en-IN" b="1" dirty="0" err="1"/>
              <a:t>Cesarean</a:t>
            </a:r>
            <a:r>
              <a:rPr lang="en-IN" b="1" dirty="0"/>
              <a:t> section </a:t>
            </a:r>
            <a:r>
              <a:rPr lang="en-IN" dirty="0"/>
              <a:t>, also known as a C-section, is the delivery of the child through an incision in the maternal abdominal and uterine walls. This is usually performed when a vaginal birth would be unsafe for either the mother or baby. </a:t>
            </a:r>
          </a:p>
          <a:p>
            <a:pPr lvl="0"/>
            <a:r>
              <a:rPr lang="en-IN" dirty="0"/>
              <a:t>An </a:t>
            </a:r>
            <a:r>
              <a:rPr lang="en-IN" b="1" dirty="0"/>
              <a:t>Episiotomy</a:t>
            </a:r>
            <a:r>
              <a:rPr lang="en-IN" dirty="0"/>
              <a:t>  is a surgical incision made through the perineum to enlarge the vaginal orifice to prevent tearing of the tissues as the infant moves out of the birth canal </a:t>
            </a:r>
          </a:p>
          <a:p>
            <a:pPr lvl="0"/>
            <a:r>
              <a:rPr lang="en-IN" dirty="0"/>
              <a:t>An</a:t>
            </a:r>
            <a:r>
              <a:rPr lang="en-IN" b="1" dirty="0"/>
              <a:t> </a:t>
            </a:r>
            <a:r>
              <a:rPr lang="en-IN" b="1" dirty="0" err="1"/>
              <a:t>Episiorrhaphy</a:t>
            </a:r>
            <a:r>
              <a:rPr lang="en-IN" dirty="0"/>
              <a:t> is the surgical suturing to repair an episiotomy .</a:t>
            </a:r>
          </a:p>
          <a:p>
            <a:endParaRPr lang="en-IN" dirty="0"/>
          </a:p>
        </p:txBody>
      </p:sp>
    </p:spTree>
    <p:extLst>
      <p:ext uri="{BB962C8B-B14F-4D97-AF65-F5344CB8AC3E}">
        <p14:creationId xmlns:p14="http://schemas.microsoft.com/office/powerpoint/2010/main" val="4051356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186</TotalTime>
  <Words>2678</Words>
  <Application>Microsoft Office PowerPoint</Application>
  <PresentationFormat>Widescreen</PresentationFormat>
  <Paragraphs>144</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Garamond</vt:lpstr>
      <vt:lpstr>Savon</vt:lpstr>
      <vt:lpstr>Medical terminologies - 9</vt:lpstr>
      <vt:lpstr>Female repr. system</vt:lpstr>
      <vt:lpstr>Female repr. system</vt:lpstr>
      <vt:lpstr>Female repr. system</vt:lpstr>
      <vt:lpstr>Female repr. system</vt:lpstr>
      <vt:lpstr>Female repr. system</vt:lpstr>
      <vt:lpstr>Female repr. system</vt:lpstr>
      <vt:lpstr>Female repr. system</vt:lpstr>
      <vt:lpstr>Common diseases and conditions related to the female reproductive system</vt:lpstr>
      <vt:lpstr>Menstrual Disorders </vt:lpstr>
      <vt:lpstr>Investigations and diagnostic procedures related to diseases of the female reproductive system: </vt:lpstr>
      <vt:lpstr>Treatment options related to diseases of the female reproductive system: Surgical Treatments: </vt:lpstr>
      <vt:lpstr>Assisted Reproductive Techniques:</vt:lpstr>
      <vt:lpstr>Medical Specialties Related To The Female Reproductive System And Childbirth </vt:lpstr>
      <vt:lpstr>Medical Specialties Related To The Female Reproductive System And Childbirth</vt:lpstr>
      <vt:lpstr>Medical Specialties Related To The Female Reproductive System And Childbirth</vt:lpstr>
      <vt:lpstr>Medical Specialties Related To The Female Reproductive System And Childbirth</vt:lpstr>
      <vt:lpstr>Pathology of Pregnancy And Childbirth </vt:lpstr>
      <vt:lpstr>Treatment Procedures Related to Pregnancy and Childbirth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2025-11-21T03:42:25Z</dcterms:created>
  <dcterms:modified xsi:type="dcterms:W3CDTF">2025-11-21T14:04:15Z</dcterms:modified>
</cp:coreProperties>
</file>