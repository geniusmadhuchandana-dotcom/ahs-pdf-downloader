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05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8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23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8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64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88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49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617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26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85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87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5CC8D3A-36F6-403F-8215-897564B7D8E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D9198FB-8A47-44C7-9C5B-75E6139F1ED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7935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2DEA-3DD5-462A-8C5D-66A60EEA4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terminologies -2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ABADA-0390-0F28-38AB-8C1917304D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1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F75A-9DA5-73E7-3065-EB05056DE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96413"/>
            <a:ext cx="10058400" cy="5238627"/>
          </a:xfrm>
        </p:spPr>
        <p:txBody>
          <a:bodyPr/>
          <a:lstStyle/>
          <a:p>
            <a:pPr marL="342900" lvl="0" indent="-336550" algn="just">
              <a:spcBef>
                <a:spcPts val="0"/>
              </a:spcBef>
              <a:buClr>
                <a:srgbClr val="FF0000"/>
              </a:buClr>
              <a:buSzPts val="23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Sign:</a:t>
            </a:r>
            <a:endParaRPr lang="en-US" dirty="0"/>
          </a:p>
          <a:p>
            <a:pPr marL="342900" lvl="0" indent="-342900" algn="just">
              <a:spcBef>
                <a:spcPts val="10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Objective evidence of disease—observable or measurable by others (e.g., clinician or device), such as fever or high blood pressure.</a:t>
            </a:r>
          </a:p>
          <a:p>
            <a:pPr marL="457200" lvl="0" indent="0" algn="just">
              <a:spcBef>
                <a:spcPts val="10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Objective means the sign can be evaluated or measured by the patient or others.</a:t>
            </a:r>
          </a:p>
          <a:p>
            <a:pPr marL="342900" lvl="0" indent="-336550" algn="just">
              <a:spcBef>
                <a:spcPts val="1080"/>
              </a:spcBef>
              <a:buClr>
                <a:srgbClr val="FF0000"/>
              </a:buClr>
              <a:buSzPts val="23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Symptom:  </a:t>
            </a:r>
            <a:r>
              <a:rPr lang="en-US" dirty="0"/>
              <a:t>(SIMP-tum)</a:t>
            </a:r>
          </a:p>
          <a:p>
            <a:pPr marL="342900" lvl="0" indent="-342900" algn="just">
              <a:spcBef>
                <a:spcPts val="10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Subjective experience of disease—felt and reported only by the patient, such as pain or headache.  Subjective means that it can recognized and described only by the patient.</a:t>
            </a:r>
          </a:p>
          <a:p>
            <a:pPr marL="342900" lvl="0" indent="-336550" algn="just">
              <a:spcBef>
                <a:spcPts val="1080"/>
              </a:spcBef>
              <a:buClr>
                <a:srgbClr val="FF0000"/>
              </a:buClr>
              <a:buSzPts val="23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Syndrome:</a:t>
            </a:r>
            <a:endParaRPr lang="en-US" dirty="0"/>
          </a:p>
          <a:p>
            <a:pPr marL="342900" lvl="0" indent="-342900" algn="just">
              <a:spcBef>
                <a:spcPts val="10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 </a:t>
            </a:r>
            <a:r>
              <a:rPr lang="en-US" b="1" dirty="0"/>
              <a:t>syndrome</a:t>
            </a:r>
            <a:r>
              <a:rPr lang="en-US" dirty="0"/>
              <a:t> (SIN-</a:t>
            </a:r>
            <a:r>
              <a:rPr lang="en-US" dirty="0" err="1"/>
              <a:t>drohm</a:t>
            </a:r>
            <a:r>
              <a:rPr lang="en-US" dirty="0"/>
              <a:t>) is a set of the signs and symptoms that occur together as part of a specific disease process.  Its the pattern of co-occurring clinical findings forming a recognized medical condition.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84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9AFB2-6CA2-4FF1-245E-AFA46AB2D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/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Diagnosis:</a:t>
            </a:r>
            <a:endParaRPr lang="en-US" dirty="0"/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 diagnosis (dye-ag-NOH-sis) is the identification of a disease or condition from its signs and symptoms through physical examination, patient history and diagnostic tests.</a:t>
            </a:r>
          </a:p>
          <a:p>
            <a:pPr marL="342900" lvl="0" indent="-342900" algn="just">
              <a:spcBef>
                <a:spcPts val="60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Differential Diagnosis:</a:t>
            </a:r>
            <a:endParaRPr lang="en-US" dirty="0"/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 differential diagnosis is a systematic process of considering multiple possible conditions that could explain a patient’s signs and symptoms, and using further evaluation to distinguish between them.</a:t>
            </a:r>
          </a:p>
          <a:p>
            <a:pPr marL="342900" lvl="0" indent="-342900" algn="just">
              <a:spcBef>
                <a:spcPts val="60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Prognosis:</a:t>
            </a:r>
            <a:endParaRPr lang="en-US" dirty="0"/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 prognosis (prog-NOH-sis) is a forecast of the likely course and outcome of a disease, including chances of recovery, </a:t>
            </a:r>
            <a:r>
              <a:rPr lang="en-US" dirty="0" err="1"/>
              <a:t>deteriorioration</a:t>
            </a:r>
            <a:r>
              <a:rPr lang="en-US" dirty="0"/>
              <a:t>, or survival. (plural, prognoses).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01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ABF3-F6F6-BAF4-E112-87463095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63E5-96CF-A333-6EE9-46DFF8D0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/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Acute Condition:</a:t>
            </a:r>
            <a:endParaRPr lang="en-US" dirty="0"/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An acute condition has a rapid onset, a severe course, and a relatively short duration. </a:t>
            </a:r>
          </a:p>
          <a:p>
            <a:pPr marL="342900" lvl="0" indent="-342900" algn="just">
              <a:spcBef>
                <a:spcPts val="60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Chronic Condition:</a:t>
            </a:r>
            <a:endParaRPr lang="en-US" dirty="0"/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 chronic condition is of long duration. Although such diseases can be controlled, they are rarely cured. </a:t>
            </a:r>
          </a:p>
          <a:p>
            <a:pPr marL="342900" lvl="0" indent="-342900" algn="just">
              <a:spcBef>
                <a:spcPts val="60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Remission:</a:t>
            </a:r>
            <a:endParaRPr lang="en-US" dirty="0"/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 remission is the temporary, partial, or complete disappearance of disease signs &amp; symptoms of a disease without it having cured.</a:t>
            </a:r>
          </a:p>
          <a:p>
            <a:pPr marL="0" lvl="0" indent="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sz="1000" b="1" dirty="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 Partial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: Symptoms lessen </a:t>
            </a:r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     Complete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: Symptoms and detectable signs disappear entirely (“no evidence of disease)</a:t>
            </a:r>
          </a:p>
          <a:p>
            <a:pPr marL="342900" lvl="0" indent="-342900" algn="just">
              <a:spcBef>
                <a:spcPts val="600"/>
              </a:spcBef>
              <a:buClr>
                <a:schemeClr val="dk1"/>
              </a:buClr>
              <a:buSzPts val="2400"/>
              <a:buNone/>
            </a:pP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Eg:  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Cancer, Depression, Rheumatoid Arthritis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34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564A-1936-C292-DC46-89765F6E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4C7E-56B7-3F63-BDD7-C9968865B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Disease: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	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: A disease is an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abnormal condition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that impairs the normal functioning of part or all of an organism. It manifests through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specific signs and symptoms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and can be caused by external factors (such as pathogens) or internal dysfunctions (like genetic abnormalities)</a:t>
            </a:r>
            <a:endParaRPr lang="en-US" sz="3200" dirty="0"/>
          </a:p>
          <a:p>
            <a:pPr marL="3429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sz="2000" b="1" dirty="0"/>
              <a:t>	</a:t>
            </a:r>
          </a:p>
          <a:p>
            <a:pPr marL="8001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sz="2000" b="1" dirty="0"/>
              <a:t>Example</a:t>
            </a:r>
            <a:r>
              <a:rPr lang="en-US" sz="2000" dirty="0"/>
              <a:t>: Chronic fatigue syndrome is characterized by  persistent, overwhelming fatigue of unknown origin. </a:t>
            </a: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Eponym: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An eponym (EP-oh-nim) is a disease, structure, operation, or procedure named for the person who discovered or described it first. </a:t>
            </a:r>
          </a:p>
          <a:p>
            <a:pPr marL="3429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b="1" dirty="0"/>
              <a:t>	For example</a:t>
            </a:r>
            <a:r>
              <a:rPr lang="en-US" dirty="0"/>
              <a:t>, Alzheimer's disease is named after German neurologist Alois Alzheimer . </a:t>
            </a:r>
          </a:p>
          <a:p>
            <a:pPr marL="342900" lvl="0" indent="-342900" algn="just">
              <a:spcBef>
                <a:spcPts val="120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Acronym:</a:t>
            </a:r>
            <a:endParaRPr lang="en-US" dirty="0"/>
          </a:p>
          <a:p>
            <a:pPr marL="3429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An acronym (ACK-roh-nim) is a word formed from the initial letters of the major parts of a compound term. </a:t>
            </a:r>
          </a:p>
          <a:p>
            <a:pPr marL="342900" lvl="0" indent="-342900" algn="just">
              <a:spcBef>
                <a:spcPts val="1200"/>
              </a:spcBef>
              <a:buClr>
                <a:schemeClr val="dk1"/>
              </a:buClr>
              <a:buSzPts val="2400"/>
              <a:buNone/>
            </a:pPr>
            <a:r>
              <a:rPr lang="en-US" b="1" dirty="0"/>
              <a:t>	For example, </a:t>
            </a:r>
            <a:r>
              <a:rPr lang="en-US" dirty="0"/>
              <a:t>the acronym LASER stands for Light Amplification by Stimulated Emission of Radiation.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83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B2A3-7B74-123C-829D-60119D45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C4423-0BDC-AA1B-AC78-B5370EA24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2000" b="1" dirty="0" err="1">
                <a:solidFill>
                  <a:srgbClr val="FF0000"/>
                </a:solidFill>
              </a:rPr>
              <a:t>arteri</a:t>
            </a:r>
            <a:r>
              <a:rPr lang="en-US" sz="2000" b="1" dirty="0">
                <a:solidFill>
                  <a:srgbClr val="FF0000"/>
                </a:solidFill>
              </a:rPr>
              <a:t>/o</a:t>
            </a:r>
            <a:r>
              <a:rPr lang="en-US" sz="2000" b="1" dirty="0"/>
              <a:t>:</a:t>
            </a:r>
            <a:endParaRPr lang="en-US" sz="2000" dirty="0"/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	</a:t>
            </a:r>
            <a:r>
              <a:rPr lang="en-US" sz="2000" dirty="0" err="1"/>
              <a:t>arteri</a:t>
            </a:r>
            <a:r>
              <a:rPr lang="en-US" sz="2000" dirty="0"/>
              <a:t>/o means artery. </a:t>
            </a:r>
            <a:r>
              <a:rPr lang="en-US" sz="2000" b="1" u="sng" dirty="0" err="1"/>
              <a:t>Endarterial</a:t>
            </a:r>
            <a:r>
              <a:rPr lang="en-US" sz="2000" dirty="0"/>
              <a:t> (end-</a:t>
            </a:r>
            <a:r>
              <a:rPr lang="en-US" sz="2000" dirty="0" err="1"/>
              <a:t>ar</a:t>
            </a:r>
            <a:r>
              <a:rPr lang="en-US" sz="2000" dirty="0"/>
              <a:t>-TEE-</a:t>
            </a:r>
            <a:r>
              <a:rPr lang="en-US" sz="2000" dirty="0" err="1"/>
              <a:t>ree</a:t>
            </a:r>
            <a:r>
              <a:rPr lang="en-US" sz="2000" dirty="0"/>
              <a:t>-al) 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End=within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</a:t>
            </a:r>
            <a:r>
              <a:rPr lang="en-US" sz="2000" dirty="0" err="1"/>
              <a:t>arteri</a:t>
            </a:r>
            <a:r>
              <a:rPr lang="en-US" sz="2000" dirty="0"/>
              <a:t>/o= means artery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al= pertaining to 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</a:t>
            </a:r>
            <a:r>
              <a:rPr lang="en-US" sz="2000" b="1" dirty="0"/>
              <a:t>Definition:</a:t>
            </a:r>
            <a:r>
              <a:rPr lang="en-US" sz="2000" dirty="0"/>
              <a:t>  Pertaining to the interior or lining of an artery </a:t>
            </a:r>
          </a:p>
          <a:p>
            <a:pPr marL="342900" lvl="0" indent="-342900">
              <a:spcBef>
                <a:spcPts val="4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2000" b="1" dirty="0" err="1">
                <a:solidFill>
                  <a:srgbClr val="FF0000"/>
                </a:solidFill>
              </a:rPr>
              <a:t>ather</a:t>
            </a:r>
            <a:r>
              <a:rPr lang="en-US" sz="2000" b="1" dirty="0">
                <a:solidFill>
                  <a:srgbClr val="FF0000"/>
                </a:solidFill>
              </a:rPr>
              <a:t>/o</a:t>
            </a:r>
            <a:endParaRPr lang="en-US" sz="2000" dirty="0"/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	Meaning Plaque or fatty substance. 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-</a:t>
            </a:r>
            <a:r>
              <a:rPr lang="en-US" sz="2000" dirty="0" err="1"/>
              <a:t>oma</a:t>
            </a:r>
            <a:r>
              <a:rPr lang="en-US" sz="2000" dirty="0"/>
              <a:t> = tumor (or mass)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</a:t>
            </a:r>
            <a:r>
              <a:rPr lang="en-US" sz="2000" b="1" dirty="0"/>
              <a:t>Definition: </a:t>
            </a:r>
            <a:r>
              <a:rPr lang="en-US" sz="2000" dirty="0"/>
              <a:t> A fatty deposit within the wall of an artery.</a:t>
            </a:r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lang="en-US" sz="2000" dirty="0"/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sz="2000" b="1" dirty="0"/>
              <a:t>Note:</a:t>
            </a:r>
            <a:r>
              <a:rPr lang="en-US" sz="2000" dirty="0"/>
              <a:t>  people often confuse </a:t>
            </a:r>
            <a:r>
              <a:rPr lang="en-US" sz="2000" dirty="0" err="1"/>
              <a:t>arteri</a:t>
            </a:r>
            <a:r>
              <a:rPr lang="en-US" sz="2000" dirty="0"/>
              <a:t>/o and </a:t>
            </a:r>
            <a:r>
              <a:rPr lang="en-US" sz="2000" dirty="0" err="1"/>
              <a:t>ather</a:t>
            </a:r>
            <a:r>
              <a:rPr lang="en-US" sz="2000" dirty="0"/>
              <a:t>/o</a:t>
            </a:r>
          </a:p>
          <a:p>
            <a:pPr marL="342900" lvl="0" indent="-342900">
              <a:spcBef>
                <a:spcPts val="4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 err="1">
                <a:solidFill>
                  <a:srgbClr val="FF0000"/>
                </a:solidFill>
              </a:rPr>
              <a:t>arthr</a:t>
            </a:r>
            <a:r>
              <a:rPr lang="en-US" b="1" dirty="0">
                <a:solidFill>
                  <a:srgbClr val="FF0000"/>
                </a:solidFill>
              </a:rPr>
              <a:t>/o</a:t>
            </a:r>
            <a:endParaRPr lang="en-US" dirty="0"/>
          </a:p>
          <a:p>
            <a:pPr marL="342900" lvl="0" indent="-342900">
              <a:spcBef>
                <a:spcPts val="480"/>
              </a:spcBef>
              <a:buNone/>
            </a:pPr>
            <a:r>
              <a:rPr lang="en-US" dirty="0"/>
              <a:t>	</a:t>
            </a:r>
            <a:r>
              <a:rPr lang="en-US" dirty="0" err="1"/>
              <a:t>arthr</a:t>
            </a:r>
            <a:r>
              <a:rPr lang="en-US" dirty="0"/>
              <a:t>/o means joint. </a:t>
            </a:r>
          </a:p>
          <a:p>
            <a:pPr marL="342900" lvl="0" indent="-342900">
              <a:spcBef>
                <a:spcPts val="480"/>
              </a:spcBef>
              <a:buNone/>
            </a:pPr>
            <a:r>
              <a:rPr lang="en-US" dirty="0"/>
              <a:t>    -</a:t>
            </a:r>
            <a:r>
              <a:rPr lang="en-US" dirty="0" err="1"/>
              <a:t>algia</a:t>
            </a:r>
            <a:r>
              <a:rPr lang="en-US" dirty="0"/>
              <a:t> = pain</a:t>
            </a:r>
          </a:p>
          <a:p>
            <a:pPr marL="0" lvl="0" indent="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en-US" b="1" dirty="0"/>
              <a:t>     </a:t>
            </a:r>
            <a:r>
              <a:rPr lang="en-US" b="1" u="sng" dirty="0"/>
              <a:t>Eg:  Arthralgia</a:t>
            </a:r>
            <a:r>
              <a:rPr lang="en-US" dirty="0"/>
              <a:t> (</a:t>
            </a:r>
            <a:r>
              <a:rPr lang="en-US" dirty="0" err="1"/>
              <a:t>ar</a:t>
            </a:r>
            <a:r>
              <a:rPr lang="en-US" dirty="0"/>
              <a:t>-THRAL-</a:t>
            </a:r>
            <a:r>
              <a:rPr lang="en-US" dirty="0" err="1"/>
              <a:t>jee</a:t>
            </a:r>
            <a:r>
              <a:rPr lang="en-US" dirty="0"/>
              <a:t>-ah) means pain in a joint or joints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7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A1AF-F3EA-4982-E39D-9D70EF36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C20D-D2C1-C4A6-E1BB-F23A89D96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spcBef>
                <a:spcPts val="0"/>
              </a:spcBef>
              <a:buClr>
                <a:srgbClr val="FF0000"/>
              </a:buClr>
              <a:buSzPts val="22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-</a:t>
            </a:r>
            <a:r>
              <a:rPr lang="en-US" sz="2000" b="1" dirty="0" err="1">
                <a:solidFill>
                  <a:srgbClr val="FF0000"/>
                </a:solidFill>
              </a:rPr>
              <a:t>ectomy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endParaRPr lang="en-US" sz="2000" dirty="0"/>
          </a:p>
          <a:p>
            <a:pPr marL="342900" lvl="0" indent="-342900">
              <a:spcBef>
                <a:spcPts val="440"/>
              </a:spcBef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000" dirty="0"/>
              <a:t>-</a:t>
            </a:r>
            <a:r>
              <a:rPr lang="en-US" sz="2000" dirty="0" err="1"/>
              <a:t>ectomy</a:t>
            </a:r>
            <a:r>
              <a:rPr lang="en-US" sz="2000" dirty="0"/>
              <a:t> means surgical removal. An </a:t>
            </a:r>
            <a:r>
              <a:rPr lang="en-US" sz="2000" b="1" u="sng" dirty="0"/>
              <a:t>appendectomy</a:t>
            </a:r>
            <a:r>
              <a:rPr lang="en-US" sz="2000" dirty="0"/>
              <a:t> (ap-</a:t>
            </a:r>
            <a:r>
              <a:rPr lang="en-US" sz="2000" dirty="0" err="1"/>
              <a:t>en</a:t>
            </a:r>
            <a:r>
              <a:rPr lang="en-US" sz="2000" dirty="0"/>
              <a:t>-DECK-</a:t>
            </a:r>
            <a:r>
              <a:rPr lang="en-US" sz="2000" dirty="0" err="1"/>
              <a:t>toh</a:t>
            </a:r>
            <a:r>
              <a:rPr lang="en-US" sz="2000" dirty="0"/>
              <a:t>-mee) is the surgical removal of the appendix (append means appendix, and -</a:t>
            </a:r>
            <a:r>
              <a:rPr lang="en-US" sz="2000" dirty="0" err="1"/>
              <a:t>ectomy</a:t>
            </a:r>
            <a:r>
              <a:rPr lang="en-US" sz="2000" dirty="0"/>
              <a:t> means surgical removal). </a:t>
            </a:r>
          </a:p>
          <a:p>
            <a:pPr marL="342900" lvl="0" indent="-342900">
              <a:spcBef>
                <a:spcPts val="440"/>
              </a:spcBef>
              <a:buClr>
                <a:srgbClr val="FF0000"/>
              </a:buClr>
              <a:buSzPts val="22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-ostomy:</a:t>
            </a:r>
            <a:endParaRPr lang="en-US" sz="2000" dirty="0"/>
          </a:p>
          <a:p>
            <a:pPr marL="342900" lvl="0" indent="-342900">
              <a:spcBef>
                <a:spcPts val="440"/>
              </a:spcBef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000" dirty="0"/>
              <a:t>-ostomy means the surgical creation of an artificial opening to the body surface. A </a:t>
            </a:r>
            <a:r>
              <a:rPr lang="en-US" sz="2000" b="1" u="sng" dirty="0"/>
              <a:t>colostomy</a:t>
            </a:r>
            <a:r>
              <a:rPr lang="en-US" sz="2000" dirty="0"/>
              <a:t> (</a:t>
            </a:r>
            <a:r>
              <a:rPr lang="en-US" sz="2000" dirty="0" err="1"/>
              <a:t>kohLAHS</a:t>
            </a:r>
            <a:r>
              <a:rPr lang="en-US" sz="2000" dirty="0"/>
              <a:t>-</a:t>
            </a:r>
            <a:r>
              <a:rPr lang="en-US" sz="2000" dirty="0" err="1"/>
              <a:t>toh</a:t>
            </a:r>
            <a:r>
              <a:rPr lang="en-US" sz="2000" dirty="0"/>
              <a:t>-mee) is the surgical creation of an artificial excretory opening between the colon and the body surface (col means colon, and -ostomy means the creation of an artificial opening). </a:t>
            </a:r>
          </a:p>
          <a:p>
            <a:pPr marL="342900" lvl="0" indent="-342900">
              <a:spcBef>
                <a:spcPts val="440"/>
              </a:spcBef>
              <a:buClr>
                <a:srgbClr val="FF0000"/>
              </a:buClr>
              <a:buSzPts val="22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-</a:t>
            </a:r>
            <a:r>
              <a:rPr lang="en-US" sz="2000" b="1" dirty="0" err="1">
                <a:solidFill>
                  <a:srgbClr val="FF0000"/>
                </a:solidFill>
              </a:rPr>
              <a:t>otomy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endParaRPr lang="en-US" sz="2000" dirty="0"/>
          </a:p>
          <a:p>
            <a:pPr marL="342900" lvl="0" indent="-342900">
              <a:spcBef>
                <a:spcPts val="440"/>
              </a:spcBef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000" dirty="0"/>
              <a:t>-</a:t>
            </a:r>
            <a:r>
              <a:rPr lang="en-US" sz="2000" dirty="0" err="1"/>
              <a:t>otomy</a:t>
            </a:r>
            <a:r>
              <a:rPr lang="en-US" sz="2000" dirty="0"/>
              <a:t> means cutting or a surgical incision. A </a:t>
            </a:r>
            <a:r>
              <a:rPr lang="en-US" sz="2000" b="1" u="sng" dirty="0"/>
              <a:t>colotomy</a:t>
            </a:r>
            <a:r>
              <a:rPr lang="en-US" sz="2000" dirty="0"/>
              <a:t> (</a:t>
            </a:r>
            <a:r>
              <a:rPr lang="en-US" sz="2000" dirty="0" err="1"/>
              <a:t>koh</a:t>
            </a:r>
            <a:r>
              <a:rPr lang="en-US" sz="2000" dirty="0"/>
              <a:t>-LOT-oh-mee) is a surgical incision into the colon (col means colon, and -</a:t>
            </a:r>
            <a:r>
              <a:rPr lang="en-US" sz="2000" dirty="0" err="1"/>
              <a:t>otomy</a:t>
            </a:r>
            <a:r>
              <a:rPr lang="en-US" sz="2000" dirty="0"/>
              <a:t> means a surgical incision).</a:t>
            </a: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Fissure:  </a:t>
            </a:r>
            <a:r>
              <a:rPr lang="en-US" b="1" dirty="0"/>
              <a:t>(FISH-</a:t>
            </a:r>
            <a:r>
              <a:rPr lang="en-US" b="1" dirty="0" err="1"/>
              <a:t>ur</a:t>
            </a:r>
            <a:r>
              <a:rPr lang="en-US" b="1" dirty="0"/>
              <a:t>)</a:t>
            </a:r>
            <a:endParaRPr lang="en-US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Definition:  A groove or crack-like sore on the skin.  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    This term also refers to normal anatomical folds, especially in the contours of the brain.  (e.g., Cerebral fissures) </a:t>
            </a:r>
          </a:p>
          <a:p>
            <a:pPr marL="342900" lvl="0" indent="-342900" algn="just">
              <a:spcBef>
                <a:spcPts val="16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b="1" dirty="0">
                <a:solidFill>
                  <a:srgbClr val="FF0000"/>
                </a:solidFill>
              </a:rPr>
              <a:t>Fistula:  </a:t>
            </a:r>
            <a:r>
              <a:rPr lang="en-US" b="1" dirty="0"/>
              <a:t>(FIS-</a:t>
            </a:r>
            <a:r>
              <a:rPr lang="en-US" b="1" dirty="0" err="1"/>
              <a:t>tyou</a:t>
            </a:r>
            <a:r>
              <a:rPr lang="en-US" b="1" dirty="0"/>
              <a:t>-</a:t>
            </a:r>
            <a:r>
              <a:rPr lang="en-US" b="1" dirty="0" err="1"/>
              <a:t>lah</a:t>
            </a:r>
            <a:r>
              <a:rPr lang="en-US" b="1" dirty="0"/>
              <a:t>)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	Definition:  An abnormal passage, between two internal organs, or between an internal organ and the surface of the body.  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Causes:  Often results from surgery, injury, or the draining of an abscess.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7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0A17-CEAB-C1AB-CF42-AECFB8E6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8222-1333-2110-AA9E-51704A217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/>
          </a:bodyPr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2000" b="1" dirty="0" err="1">
                <a:solidFill>
                  <a:srgbClr val="FF0000"/>
                </a:solidFill>
              </a:rPr>
              <a:t>Illeum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endParaRPr lang="en-US" sz="20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	The </a:t>
            </a:r>
            <a:r>
              <a:rPr lang="en-US" sz="2000" b="1" u="sng" dirty="0"/>
              <a:t>ileum</a:t>
            </a:r>
            <a:r>
              <a:rPr lang="en-US" sz="2000" dirty="0"/>
              <a:t> (ILL-ee-um) is the last and longest portion of the small intestine. 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Memory aid: ileum is spelled with an  </a:t>
            </a:r>
            <a:r>
              <a:rPr lang="en-US" sz="2000" b="1" dirty="0">
                <a:solidFill>
                  <a:srgbClr val="FF0000"/>
                </a:solidFill>
              </a:rPr>
              <a:t>e</a:t>
            </a:r>
            <a:r>
              <a:rPr lang="en-US" sz="2000" dirty="0"/>
              <a:t>    like  in intestine. </a:t>
            </a:r>
          </a:p>
          <a:p>
            <a:pPr marL="342900" lvl="0" indent="-342900" algn="just">
              <a:spcBef>
                <a:spcPts val="16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Ilium:</a:t>
            </a:r>
            <a:endParaRPr lang="en-US" sz="20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	The </a:t>
            </a:r>
            <a:r>
              <a:rPr lang="en-US" sz="2000" b="1" u="sng" dirty="0"/>
              <a:t>ilium</a:t>
            </a:r>
            <a:r>
              <a:rPr lang="en-US" sz="2000" dirty="0"/>
              <a:t> (ILL-ee-um) is the uppermost and largest part of the hip bone. 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     Memory aid: ilium is spelled with an    </a:t>
            </a:r>
            <a:r>
              <a:rPr lang="en-US" sz="2000" b="1" dirty="0" err="1">
                <a:solidFill>
                  <a:srgbClr val="FF0000"/>
                </a:solidFill>
              </a:rPr>
              <a:t>i</a:t>
            </a:r>
            <a:r>
              <a:rPr lang="en-US" sz="2000" dirty="0"/>
              <a:t>    like in hip. </a:t>
            </a: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None/>
            </a:pPr>
            <a:r>
              <a:rPr lang="en-US" sz="2000" b="1" dirty="0">
                <a:solidFill>
                  <a:srgbClr val="FF0000"/>
                </a:solidFill>
              </a:rPr>
              <a:t>Infection:</a:t>
            </a:r>
            <a:endParaRPr lang="en-US" sz="2800" dirty="0"/>
          </a:p>
          <a:p>
            <a:pPr marL="342900" lvl="0" indent="-488950" algn="just">
              <a:spcBef>
                <a:spcPts val="480"/>
              </a:spcBef>
              <a:buSzPts val="4100"/>
              <a:buFont typeface="Noto Sans Symbols"/>
              <a:buChar char="❑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An infection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is the invasion of the body by a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pathogenic (disease-causing) organism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42900" lvl="0" indent="-488950" algn="just">
              <a:spcBef>
                <a:spcPts val="480"/>
              </a:spcBef>
              <a:buSzPts val="4100"/>
              <a:buFont typeface="Noto Sans Symbols"/>
              <a:buChar char="❑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The infection may remain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localized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meaning it stays near the point of entry, or it can become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systemic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spreading throughout the entire body.</a:t>
            </a:r>
          </a:p>
          <a:p>
            <a:pPr marL="342900" lvl="0" indent="-450850" algn="just">
              <a:spcBef>
                <a:spcPts val="480"/>
              </a:spcBef>
              <a:buClr>
                <a:schemeClr val="dk1"/>
              </a:buClr>
              <a:buSzPts val="4100"/>
              <a:buFont typeface="Noto Sans Symbols"/>
              <a:buChar char="❑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Common signs and symptoms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of infection include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malaise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chills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fever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redness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heat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swelling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exudate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(discharge) from a wound.</a:t>
            </a:r>
            <a:endParaRPr 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5876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6D5F-FC03-B4E3-AFDE-4861F4FE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5FAA2-CE72-F37E-F8BB-ECDF40F6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92500" lnSpcReduction="10000"/>
          </a:bodyPr>
          <a:lstStyle/>
          <a:p>
            <a:pPr marL="342900" lvl="0" indent="-374650" algn="just">
              <a:spcBef>
                <a:spcPts val="480"/>
              </a:spcBef>
              <a:buSzPts val="2900"/>
              <a:buFont typeface="Noto Sans Symbols"/>
              <a:buChar char="❑"/>
            </a:pPr>
            <a:r>
              <a:rPr lang="en-US" sz="2400" b="1" u="sng" dirty="0"/>
              <a:t>Malaise</a:t>
            </a:r>
            <a:r>
              <a:rPr lang="en-US" sz="2400" dirty="0"/>
              <a:t> is a feeling of general discomfort or uneasiness</a:t>
            </a:r>
          </a:p>
          <a:p>
            <a:pPr marL="342900" lvl="0" indent="0" algn="just">
              <a:spcBef>
                <a:spcPts val="480"/>
              </a:spcBef>
              <a:buNone/>
            </a:pPr>
            <a:endParaRPr lang="en-US" sz="2400" dirty="0"/>
          </a:p>
          <a:p>
            <a:pPr marL="342900" lvl="0" indent="0" algn="just">
              <a:spcBef>
                <a:spcPts val="480"/>
              </a:spcBef>
              <a:buNone/>
            </a:pPr>
            <a:endParaRPr lang="en-US" sz="2400" dirty="0"/>
          </a:p>
          <a:p>
            <a:pPr marL="342900" lvl="0" indent="-374650" algn="just">
              <a:spcBef>
                <a:spcPts val="480"/>
              </a:spcBef>
              <a:buSzPts val="2900"/>
              <a:buFont typeface="Noto Sans Symbols"/>
              <a:buChar char="❑"/>
            </a:pPr>
            <a:r>
              <a:rPr lang="en-US" sz="2400" dirty="0"/>
              <a:t>An </a:t>
            </a:r>
            <a:r>
              <a:rPr lang="en-US" sz="2400" b="1" u="sng" dirty="0"/>
              <a:t>exudate</a:t>
            </a:r>
            <a:r>
              <a:rPr lang="en-US" sz="2400" dirty="0"/>
              <a:t> is fluid, such as pus, that leaks out of an infected wound. </a:t>
            </a:r>
          </a:p>
          <a:p>
            <a:pPr marL="342900" lvl="0" indent="0" algn="just">
              <a:spcBef>
                <a:spcPts val="480"/>
              </a:spcBef>
              <a:buNone/>
            </a:pPr>
            <a:endParaRPr lang="en-US" sz="2400" dirty="0"/>
          </a:p>
          <a:p>
            <a:pPr marL="342900" lvl="0" indent="-431800" algn="just">
              <a:spcBef>
                <a:spcPts val="480"/>
              </a:spcBef>
              <a:buSzPts val="3800"/>
              <a:buFont typeface="Noto Sans Symbols"/>
              <a:buChar char="❑"/>
            </a:pP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Inflammation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i="1" dirty="0">
                <a:latin typeface="Arial"/>
                <a:ea typeface="Arial"/>
                <a:cs typeface="Arial"/>
                <a:sym typeface="Arial"/>
              </a:rPr>
              <a:t>in-</a:t>
            </a:r>
            <a:r>
              <a:rPr lang="en-US" sz="2000" i="1" dirty="0" err="1">
                <a:latin typeface="Arial"/>
                <a:ea typeface="Arial"/>
                <a:cs typeface="Arial"/>
                <a:sym typeface="Arial"/>
              </a:rPr>
              <a:t>flah</a:t>
            </a:r>
            <a:r>
              <a:rPr lang="en-US" sz="2000" i="1" dirty="0">
                <a:latin typeface="Arial"/>
                <a:ea typeface="Arial"/>
                <a:cs typeface="Arial"/>
                <a:sym typeface="Arial"/>
              </a:rPr>
              <a:t>-MAY-shun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) is a 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localized response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to infection, injury, or irritation, and is characterized by 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redness, heat, swelling and pain</a:t>
            </a:r>
          </a:p>
          <a:p>
            <a:pPr marL="342900" lvl="0" indent="-381000" algn="just">
              <a:spcBef>
                <a:spcPts val="0"/>
              </a:spcBef>
              <a:buClr>
                <a:srgbClr val="FF0000"/>
              </a:buClr>
              <a:buSzPts val="30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Laceration:  </a:t>
            </a:r>
            <a:r>
              <a:rPr lang="en-US" sz="2000" dirty="0"/>
              <a:t>(lass-er-AY-shun)</a:t>
            </a:r>
            <a:endParaRPr lang="en-US" sz="28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000" dirty="0"/>
              <a:t>	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A laceration is an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irregular, torn, or jagged wound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caused by the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tearing of soft tissue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, often resulting from trauma or an accidental cut.</a:t>
            </a:r>
          </a:p>
          <a:p>
            <a:pPr marL="342900" lvl="0" indent="-381000" algn="just">
              <a:spcBef>
                <a:spcPts val="1680"/>
              </a:spcBef>
              <a:buClr>
                <a:srgbClr val="FF0000"/>
              </a:buClr>
              <a:buSzPts val="3000"/>
              <a:buFont typeface="Noto Sans Symbols"/>
              <a:buChar char="❑"/>
            </a:pPr>
            <a:r>
              <a:rPr lang="en-US" sz="2000" b="1" dirty="0">
                <a:solidFill>
                  <a:srgbClr val="FF0000"/>
                </a:solidFill>
              </a:rPr>
              <a:t>Lesion:</a:t>
            </a:r>
            <a:endParaRPr lang="en-US" sz="28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  A lesion refers to a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pathologic change in body tissues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due to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disease or injury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. Lesions can vary in type and severity, depending on the underlying condition.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800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739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011E-E47C-E5C7-C251-02FD1D37F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D0DD-76A2-01E2-5BB4-E875EB8A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0000"/>
                </a:solidFill>
              </a:rPr>
              <a:t>Mucous:</a:t>
            </a:r>
            <a:endParaRPr lang="en-US" sz="3200" dirty="0"/>
          </a:p>
          <a:p>
            <a:pPr marL="342900" lvl="0" indent="-342900" algn="just">
              <a:lnSpc>
                <a:spcPct val="90000"/>
              </a:lnSpc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This is an </a:t>
            </a: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adjective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that describes the </a:t>
            </a: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membranes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lining body cavities, such as in the nose, mouth, and lungs.</a:t>
            </a:r>
          </a:p>
          <a:p>
            <a:pPr marL="0" lvl="0" indent="0">
              <a:lnSpc>
                <a:spcPct val="10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400" dirty="0"/>
          </a:p>
          <a:p>
            <a:pPr marL="0" lvl="0" indent="0">
              <a:lnSpc>
                <a:spcPct val="10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400" b="1" dirty="0">
                <a:solidFill>
                  <a:srgbClr val="FF0000"/>
                </a:solidFill>
              </a:rPr>
              <a:t>Mucus:</a:t>
            </a:r>
            <a:endParaRPr lang="en-US" sz="3200" dirty="0"/>
          </a:p>
          <a:p>
            <a:pPr marL="342900" lvl="0" indent="-342900" algn="just">
              <a:lnSpc>
                <a:spcPct val="90000"/>
              </a:lnSpc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2400" dirty="0"/>
              <a:t>	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This is a </a:t>
            </a: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noun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that refers to the </a:t>
            </a: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thick, slippery fluid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produced by mucous membranes to protect and moisturize the tissues.</a:t>
            </a:r>
          </a:p>
        </p:txBody>
      </p:sp>
    </p:spTree>
    <p:extLst>
      <p:ext uri="{BB962C8B-B14F-4D97-AF65-F5344CB8AC3E}">
        <p14:creationId xmlns:p14="http://schemas.microsoft.com/office/powerpoint/2010/main" val="248672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1BF0-F5FE-E155-395B-C60A1CB4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B7D57-68A6-CADD-BF43-9EDC4ED5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77500" lnSpcReduction="20000"/>
          </a:bodyPr>
          <a:lstStyle/>
          <a:p>
            <a:pPr marL="342900" lvl="0" indent="-361950" algn="just">
              <a:spcBef>
                <a:spcPts val="0"/>
              </a:spcBef>
              <a:buClr>
                <a:srgbClr val="FF0000"/>
              </a:buClr>
              <a:buSzPts val="2500"/>
              <a:buFont typeface="Noto Sans Symbols"/>
              <a:buChar char="❑"/>
            </a:pPr>
            <a:r>
              <a:rPr lang="en-IN" sz="3600" b="1" dirty="0" err="1">
                <a:solidFill>
                  <a:srgbClr val="FF0000"/>
                </a:solidFill>
              </a:rPr>
              <a:t>myc</a:t>
            </a:r>
            <a:r>
              <a:rPr lang="en-IN" sz="3600" b="1" dirty="0">
                <a:solidFill>
                  <a:srgbClr val="FF0000"/>
                </a:solidFill>
              </a:rPr>
              <a:t>/o</a:t>
            </a:r>
            <a:endParaRPr lang="en-IN" sz="3600" dirty="0"/>
          </a:p>
          <a:p>
            <a:pPr marL="342900" lvl="0" indent="-34290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IN" sz="2800" dirty="0"/>
              <a:t>	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Means </a:t>
            </a: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fungus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     Mycosis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my-KOH-sis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IN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    An </a:t>
            </a: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abnormal condition or disease caused by a fungus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2400" i="1" dirty="0" err="1">
                <a:latin typeface="Arial"/>
                <a:ea typeface="Arial"/>
                <a:cs typeface="Arial"/>
                <a:sym typeface="Arial"/>
              </a:rPr>
              <a:t>myc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 = fungus, -</a:t>
            </a:r>
            <a:r>
              <a:rPr lang="en-IN" sz="2400" i="1" dirty="0" err="1">
                <a:latin typeface="Arial"/>
                <a:ea typeface="Arial"/>
                <a:cs typeface="Arial"/>
                <a:sym typeface="Arial"/>
              </a:rPr>
              <a:t>osis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 = abnormal condition or disease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342900" lvl="0" indent="-374650" algn="just">
              <a:spcBef>
                <a:spcPts val="1200"/>
              </a:spcBef>
              <a:buClr>
                <a:srgbClr val="FF0000"/>
              </a:buClr>
              <a:buSzPts val="2700"/>
              <a:buFont typeface="Noto Sans Symbols"/>
              <a:buChar char="❑"/>
            </a:pPr>
            <a:r>
              <a:rPr lang="en-IN" sz="3600" b="1" dirty="0" err="1">
                <a:solidFill>
                  <a:srgbClr val="FF0000"/>
                </a:solidFill>
              </a:rPr>
              <a:t>myel</a:t>
            </a:r>
            <a:r>
              <a:rPr lang="en-IN" sz="3600" b="1" dirty="0">
                <a:solidFill>
                  <a:srgbClr val="FF0000"/>
                </a:solidFill>
              </a:rPr>
              <a:t>/o</a:t>
            </a:r>
            <a:endParaRPr lang="en-IN" sz="3600" dirty="0"/>
          </a:p>
          <a:p>
            <a:pPr marL="342900" lvl="0" indent="-34290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IN" sz="2800" dirty="0"/>
              <a:t>	</a:t>
            </a:r>
            <a:r>
              <a:rPr lang="en-IN" sz="2400" dirty="0" err="1"/>
              <a:t>myel</a:t>
            </a:r>
            <a:r>
              <a:rPr lang="en-IN" sz="2400" dirty="0"/>
              <a:t>/o means bone marrow or spinal cord. 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     Myelopathy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my-eh-LOP-ah-thee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IN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    A </a:t>
            </a: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disease or abnormal condition of the spinal cord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    (</a:t>
            </a:r>
            <a:r>
              <a:rPr lang="en-IN" sz="2400" i="1" dirty="0" err="1">
                <a:latin typeface="Arial"/>
                <a:ea typeface="Arial"/>
                <a:cs typeface="Arial"/>
                <a:sym typeface="Arial"/>
              </a:rPr>
              <a:t>myel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/o = spinal cord or bone marrow, -</a:t>
            </a:r>
            <a:r>
              <a:rPr lang="en-IN" sz="2400" i="1" dirty="0" err="1">
                <a:latin typeface="Arial"/>
                <a:ea typeface="Arial"/>
                <a:cs typeface="Arial"/>
                <a:sym typeface="Arial"/>
              </a:rPr>
              <a:t>pathy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 = disease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342900" lvl="0" indent="-361950" algn="just">
              <a:spcBef>
                <a:spcPts val="1200"/>
              </a:spcBef>
              <a:buClr>
                <a:srgbClr val="FF0000"/>
              </a:buClr>
              <a:buSzPts val="2500"/>
              <a:buFont typeface="Noto Sans Symbols"/>
              <a:buChar char="❑"/>
            </a:pPr>
            <a:r>
              <a:rPr lang="en-IN" sz="3600" b="1" dirty="0">
                <a:solidFill>
                  <a:srgbClr val="FF0000"/>
                </a:solidFill>
              </a:rPr>
              <a:t>my/o</a:t>
            </a:r>
            <a:endParaRPr lang="en-IN" sz="3600" dirty="0"/>
          </a:p>
          <a:p>
            <a:pPr marL="342900" lvl="0" indent="-34290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IN" sz="2800" dirty="0"/>
              <a:t>	</a:t>
            </a:r>
            <a:r>
              <a:rPr lang="en-IN" sz="2400" dirty="0"/>
              <a:t>my/o means muscle. </a:t>
            </a:r>
          </a:p>
          <a:p>
            <a:pPr marL="342900" lvl="0" indent="-342900" algn="just">
              <a:spcBef>
                <a:spcPts val="440"/>
              </a:spcBef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     Myopathy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my-OP-ah-thee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):</a:t>
            </a:r>
          </a:p>
          <a:p>
            <a:pPr marL="342900" lvl="0" indent="-342900" algn="just">
              <a:spcBef>
                <a:spcPts val="440"/>
              </a:spcBef>
              <a:buClr>
                <a:schemeClr val="dk1"/>
              </a:buClr>
              <a:buSzPts val="1100"/>
              <a:buNone/>
            </a:pP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    A </a:t>
            </a:r>
            <a:r>
              <a:rPr lang="en-IN" sz="2400" b="1" dirty="0">
                <a:latin typeface="Arial"/>
                <a:ea typeface="Arial"/>
                <a:cs typeface="Arial"/>
                <a:sym typeface="Arial"/>
              </a:rPr>
              <a:t>disease or abnormal condition of the muscle tissue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42900" lvl="0" indent="-34290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    (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my/o = muscle, -</a:t>
            </a:r>
            <a:r>
              <a:rPr lang="en-IN" sz="2400" i="1" dirty="0" err="1">
                <a:latin typeface="Arial"/>
                <a:ea typeface="Arial"/>
                <a:cs typeface="Arial"/>
                <a:sym typeface="Arial"/>
              </a:rPr>
              <a:t>pathy</a:t>
            </a:r>
            <a:r>
              <a:rPr lang="en-IN" sz="2400" i="1" dirty="0">
                <a:latin typeface="Arial"/>
                <a:ea typeface="Arial"/>
                <a:cs typeface="Arial"/>
                <a:sym typeface="Arial"/>
              </a:rPr>
              <a:t> = disease</a:t>
            </a: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)</a:t>
            </a:r>
            <a:endParaRPr lang="en-IN" sz="2400" dirty="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165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DDE4-BD21-AB78-FB8A-23D9C8B3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D2A8-0E6B-9552-33F9-045E6B38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70000" lnSpcReduction="20000"/>
          </a:bodyPr>
          <a:lstStyle/>
          <a:p>
            <a:pPr marL="342900" lvl="0" indent="-337328" algn="just">
              <a:spcBef>
                <a:spcPts val="0"/>
              </a:spcBef>
              <a:buClr>
                <a:srgbClr val="FF0000"/>
              </a:buClr>
              <a:buSzPct val="100000"/>
              <a:buFont typeface="Noto Sans Symbols"/>
              <a:buChar char="❑"/>
            </a:pPr>
            <a:r>
              <a:rPr lang="en-IN" sz="4400" b="1" dirty="0">
                <a:solidFill>
                  <a:srgbClr val="FF0000"/>
                </a:solidFill>
              </a:rPr>
              <a:t>-ologist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ct val="100000"/>
              <a:buNone/>
            </a:pPr>
            <a:r>
              <a:rPr lang="en-IN" sz="3200" dirty="0"/>
              <a:t>	</a:t>
            </a:r>
            <a:r>
              <a:rPr lang="en-IN" sz="3600" dirty="0"/>
              <a:t> 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This suffix means a </a:t>
            </a:r>
            <a:r>
              <a:rPr lang="en-IN" sz="3600" b="1" dirty="0">
                <a:latin typeface="Arial"/>
                <a:ea typeface="Arial"/>
                <a:cs typeface="Arial"/>
                <a:sym typeface="Arial"/>
              </a:rPr>
              <a:t>specialist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ct val="43137"/>
              <a:buNone/>
            </a:pPr>
            <a:r>
              <a:rPr lang="en-IN" sz="3600" b="1" dirty="0">
                <a:latin typeface="Arial"/>
                <a:ea typeface="Arial"/>
                <a:cs typeface="Arial"/>
                <a:sym typeface="Arial"/>
              </a:rPr>
              <a:t>      Dermatologist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3600" i="1" dirty="0">
                <a:latin typeface="Arial"/>
                <a:ea typeface="Arial"/>
                <a:cs typeface="Arial"/>
                <a:sym typeface="Arial"/>
              </a:rPr>
              <a:t>der-</a:t>
            </a:r>
            <a:r>
              <a:rPr lang="en-IN" sz="3600" i="1" dirty="0" err="1">
                <a:latin typeface="Arial"/>
                <a:ea typeface="Arial"/>
                <a:cs typeface="Arial"/>
                <a:sym typeface="Arial"/>
              </a:rPr>
              <a:t>mah</a:t>
            </a:r>
            <a:r>
              <a:rPr lang="en-IN" sz="3600" i="1" dirty="0">
                <a:latin typeface="Arial"/>
                <a:ea typeface="Arial"/>
                <a:cs typeface="Arial"/>
                <a:sym typeface="Arial"/>
              </a:rPr>
              <a:t>-TOL-oh-</a:t>
            </a:r>
            <a:r>
              <a:rPr lang="en-IN" sz="3600" i="1" dirty="0" err="1">
                <a:latin typeface="Arial"/>
                <a:ea typeface="Arial"/>
                <a:cs typeface="Arial"/>
                <a:sym typeface="Arial"/>
              </a:rPr>
              <a:t>jist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IN" sz="36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     A doctor who </a:t>
            </a:r>
            <a:r>
              <a:rPr lang="en-IN" sz="3600" b="1" dirty="0">
                <a:latin typeface="Arial"/>
                <a:ea typeface="Arial"/>
                <a:cs typeface="Arial"/>
                <a:sym typeface="Arial"/>
              </a:rPr>
              <a:t>specializes in diagnosing and treating skin             problems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36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     (</a:t>
            </a:r>
            <a:r>
              <a:rPr lang="en-IN" sz="3600" i="1" dirty="0" err="1">
                <a:latin typeface="Arial"/>
                <a:ea typeface="Arial"/>
                <a:cs typeface="Arial"/>
                <a:sym typeface="Arial"/>
              </a:rPr>
              <a:t>dermat</a:t>
            </a:r>
            <a:r>
              <a:rPr lang="en-IN" sz="3600" i="1" dirty="0">
                <a:latin typeface="Arial"/>
                <a:ea typeface="Arial"/>
                <a:cs typeface="Arial"/>
                <a:sym typeface="Arial"/>
              </a:rPr>
              <a:t> = skin, -ologist = specialist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ct val="67869"/>
              <a:buNone/>
            </a:pPr>
            <a:r>
              <a:rPr lang="en-IN" sz="4400" dirty="0"/>
              <a:t>-</a:t>
            </a:r>
            <a:r>
              <a:rPr lang="en-IN" sz="4400" b="1" dirty="0">
                <a:solidFill>
                  <a:srgbClr val="FF0000"/>
                </a:solidFill>
              </a:rPr>
              <a:t>-ology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ct val="94117"/>
              <a:buNone/>
            </a:pPr>
            <a:r>
              <a:rPr lang="en-IN" sz="3600" dirty="0"/>
              <a:t>	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This suffix means the </a:t>
            </a:r>
            <a:r>
              <a:rPr lang="en-IN" sz="3600" b="1" dirty="0">
                <a:latin typeface="Arial"/>
                <a:ea typeface="Arial"/>
                <a:cs typeface="Arial"/>
                <a:sym typeface="Arial"/>
              </a:rPr>
              <a:t>study of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something.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ct val="43137"/>
              <a:buNone/>
            </a:pPr>
            <a:r>
              <a:rPr lang="en-IN" sz="3600" b="1" dirty="0">
                <a:latin typeface="Arial"/>
                <a:ea typeface="Arial"/>
                <a:cs typeface="Arial"/>
                <a:sym typeface="Arial"/>
              </a:rPr>
              <a:t>     Neonatology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N" sz="3600" i="1" dirty="0">
                <a:latin typeface="Arial"/>
                <a:ea typeface="Arial"/>
                <a:cs typeface="Arial"/>
                <a:sym typeface="Arial"/>
              </a:rPr>
              <a:t>nee-oh-nay-TOL-oh-</a:t>
            </a:r>
            <a:r>
              <a:rPr lang="en-IN" sz="3600" i="1" dirty="0" err="1">
                <a:latin typeface="Arial"/>
                <a:ea typeface="Arial"/>
                <a:cs typeface="Arial"/>
                <a:sym typeface="Arial"/>
              </a:rPr>
              <a:t>jee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IN" sz="36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    The </a:t>
            </a:r>
            <a:r>
              <a:rPr lang="en-IN" sz="3600" b="1" dirty="0">
                <a:latin typeface="Arial"/>
                <a:ea typeface="Arial"/>
                <a:cs typeface="Arial"/>
                <a:sym typeface="Arial"/>
              </a:rPr>
              <a:t>study of disorders in newborns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3600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     (</a:t>
            </a:r>
            <a:r>
              <a:rPr lang="en-IN" sz="3600" i="1" dirty="0">
                <a:latin typeface="Arial"/>
                <a:ea typeface="Arial"/>
                <a:cs typeface="Arial"/>
                <a:sym typeface="Arial"/>
              </a:rPr>
              <a:t>neo = new, </a:t>
            </a:r>
            <a:r>
              <a:rPr lang="en-IN" sz="3600" i="1" dirty="0" err="1">
                <a:latin typeface="Arial"/>
                <a:ea typeface="Arial"/>
                <a:cs typeface="Arial"/>
                <a:sym typeface="Arial"/>
              </a:rPr>
              <a:t>nat</a:t>
            </a:r>
            <a:r>
              <a:rPr lang="en-IN" sz="3600" i="1" dirty="0">
                <a:latin typeface="Arial"/>
                <a:ea typeface="Arial"/>
                <a:cs typeface="Arial"/>
                <a:sym typeface="Arial"/>
              </a:rPr>
              <a:t> = birth, -ology = study of</a:t>
            </a:r>
            <a:r>
              <a:rPr lang="en-IN" sz="3600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33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D252-2EA6-6DA2-0F80-187FD7BB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5C70-8F7F-E8E1-95C2-D68BE1D7C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55000" lnSpcReduction="20000"/>
          </a:bodyPr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4400" b="1" dirty="0">
                <a:solidFill>
                  <a:srgbClr val="FF0000"/>
                </a:solidFill>
              </a:rPr>
              <a:t>Palpation:</a:t>
            </a:r>
            <a:endParaRPr lang="en-US" sz="44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4400" dirty="0"/>
              <a:t>	Palpation (pal-PAY-shun) is an examination technique in which the examiner’s hands are used to feel the texture, size, consistency, and location of certain body parts. </a:t>
            </a:r>
          </a:p>
          <a:p>
            <a:pPr marL="342900" lvl="0" indent="-342900" algn="just">
              <a:spcBef>
                <a:spcPts val="16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4400" b="1" dirty="0">
                <a:solidFill>
                  <a:srgbClr val="FF0000"/>
                </a:solidFill>
              </a:rPr>
              <a:t>Palpitation:</a:t>
            </a:r>
            <a:endParaRPr lang="en-US" sz="44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4400" dirty="0"/>
              <a:t>	Palpitation (pal-</a:t>
            </a:r>
            <a:r>
              <a:rPr lang="en-US" sz="4400" dirty="0" err="1"/>
              <a:t>pih</a:t>
            </a:r>
            <a:r>
              <a:rPr lang="en-US" sz="4400" dirty="0"/>
              <a:t>-TAY-shun) is a pounding or racing heart. </a:t>
            </a: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4400" b="1" dirty="0">
                <a:solidFill>
                  <a:srgbClr val="FF0000"/>
                </a:solidFill>
              </a:rPr>
              <a:t>Prostate:</a:t>
            </a:r>
            <a:endParaRPr lang="en-US" sz="44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4400" dirty="0"/>
              <a:t>	The prostate (PROS-</a:t>
            </a:r>
            <a:r>
              <a:rPr lang="en-US" sz="4400" dirty="0" err="1"/>
              <a:t>tayt</a:t>
            </a:r>
            <a:r>
              <a:rPr lang="en-US" sz="4400" dirty="0"/>
              <a:t>) is a male gland that lies under the urinary bladder and surrounds the urethra. </a:t>
            </a:r>
          </a:p>
          <a:p>
            <a:pPr marL="342900" lvl="0" indent="-342900" algn="just">
              <a:spcBef>
                <a:spcPts val="16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4400" b="1" dirty="0">
                <a:solidFill>
                  <a:srgbClr val="FF0000"/>
                </a:solidFill>
              </a:rPr>
              <a:t>Prostrate:</a:t>
            </a:r>
            <a:endParaRPr lang="en-US" sz="4400" dirty="0"/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4400" dirty="0"/>
              <a:t>	Prostrate (PROS-</a:t>
            </a:r>
            <a:r>
              <a:rPr lang="en-US" sz="4400" dirty="0" err="1"/>
              <a:t>trayt</a:t>
            </a:r>
            <a:r>
              <a:rPr lang="en-US" sz="4400" dirty="0"/>
              <a:t>) means to collapse and be lying flat or to be overcome with exhaustion. (not a medical term)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endParaRPr lang="en-US" sz="4400" dirty="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6413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9BC7-2F9B-F10A-9C81-8100C1B5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680B-E018-3506-9AA4-891D11E6D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fontScale="62500" lnSpcReduction="20000"/>
          </a:bodyPr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ts val="2200"/>
              <a:buFont typeface="Noto Sans Symbols"/>
              <a:buChar char="❑"/>
            </a:pPr>
            <a:r>
              <a:rPr lang="en-IN" sz="4400" b="1" dirty="0" err="1">
                <a:solidFill>
                  <a:srgbClr val="FF0000"/>
                </a:solidFill>
              </a:rPr>
              <a:t>pyel</a:t>
            </a:r>
            <a:r>
              <a:rPr lang="en-IN" sz="4400" b="1" dirty="0">
                <a:solidFill>
                  <a:srgbClr val="FF0000"/>
                </a:solidFill>
              </a:rPr>
              <a:t>/o:</a:t>
            </a:r>
            <a:endParaRPr lang="en-IN" sz="4400" dirty="0"/>
          </a:p>
          <a:p>
            <a:pPr marL="342900" lvl="0" indent="-342900" algn="just">
              <a:spcBef>
                <a:spcPts val="1040"/>
              </a:spcBef>
              <a:buClr>
                <a:schemeClr val="dk1"/>
              </a:buClr>
              <a:buSzPts val="2200"/>
              <a:buNone/>
            </a:pPr>
            <a:r>
              <a:rPr lang="en-IN" sz="4400" dirty="0"/>
              <a:t>	</a:t>
            </a:r>
            <a:r>
              <a:rPr lang="en-IN" sz="4400" dirty="0" err="1"/>
              <a:t>pyel</a:t>
            </a:r>
            <a:r>
              <a:rPr lang="en-IN" sz="4400" dirty="0"/>
              <a:t>/o means renal pelvis, which is part of the kidney. Pyelitis (</a:t>
            </a:r>
            <a:r>
              <a:rPr lang="en-IN" sz="4400" dirty="0" err="1"/>
              <a:t>pye</a:t>
            </a:r>
            <a:r>
              <a:rPr lang="en-IN" sz="4400" dirty="0"/>
              <a:t>-eh-LYE-tis) is an inflammation of the renal pelvis (</a:t>
            </a:r>
            <a:r>
              <a:rPr lang="en-IN" sz="4400" dirty="0" err="1"/>
              <a:t>pyel</a:t>
            </a:r>
            <a:r>
              <a:rPr lang="en-IN" sz="4400" dirty="0"/>
              <a:t> means renal pelvis, and -itis means inflammation). </a:t>
            </a:r>
          </a:p>
          <a:p>
            <a:pPr marL="342900" lvl="0" indent="-342900" algn="just">
              <a:spcBef>
                <a:spcPts val="1040"/>
              </a:spcBef>
              <a:buClr>
                <a:srgbClr val="FF0000"/>
              </a:buClr>
              <a:buSzPts val="2200"/>
              <a:buFont typeface="Noto Sans Symbols"/>
              <a:buChar char="❑"/>
            </a:pPr>
            <a:r>
              <a:rPr lang="en-IN" sz="4400" b="1" dirty="0" err="1">
                <a:solidFill>
                  <a:srgbClr val="FF0000"/>
                </a:solidFill>
              </a:rPr>
              <a:t>py</a:t>
            </a:r>
            <a:r>
              <a:rPr lang="en-IN" sz="4400" b="1" dirty="0">
                <a:solidFill>
                  <a:srgbClr val="FF0000"/>
                </a:solidFill>
              </a:rPr>
              <a:t>/o:</a:t>
            </a:r>
            <a:endParaRPr lang="en-IN" sz="4400" dirty="0"/>
          </a:p>
          <a:p>
            <a:pPr marL="342900" lvl="0" indent="-342900" algn="just">
              <a:spcBef>
                <a:spcPts val="1040"/>
              </a:spcBef>
              <a:buClr>
                <a:schemeClr val="dk1"/>
              </a:buClr>
              <a:buSzPts val="2200"/>
              <a:buNone/>
            </a:pPr>
            <a:r>
              <a:rPr lang="en-IN" sz="4400" dirty="0"/>
              <a:t>	</a:t>
            </a:r>
            <a:r>
              <a:rPr lang="en-IN" sz="4400" dirty="0" err="1"/>
              <a:t>py</a:t>
            </a:r>
            <a:r>
              <a:rPr lang="en-IN" sz="4400" dirty="0"/>
              <a:t>/o means pus. Pyoderma (</a:t>
            </a:r>
            <a:r>
              <a:rPr lang="en-IN" sz="4400" dirty="0" err="1"/>
              <a:t>pye</a:t>
            </a:r>
            <a:r>
              <a:rPr lang="en-IN" sz="4400" dirty="0"/>
              <a:t>-oh-DER-</a:t>
            </a:r>
            <a:r>
              <a:rPr lang="en-IN" sz="4400" dirty="0" err="1"/>
              <a:t>mah</a:t>
            </a:r>
            <a:r>
              <a:rPr lang="en-IN" sz="4400" dirty="0"/>
              <a:t>) is any acute, inflammatory, pus-forming bacterial skin infection such as impetigo (</a:t>
            </a:r>
            <a:r>
              <a:rPr lang="en-IN" sz="4400" dirty="0" err="1"/>
              <a:t>py</a:t>
            </a:r>
            <a:r>
              <a:rPr lang="en-IN" sz="4400" dirty="0"/>
              <a:t>/o means pus, and -derma means skin).</a:t>
            </a:r>
          </a:p>
          <a:p>
            <a:pPr marL="342900" lvl="0" indent="-342900" algn="just">
              <a:spcBef>
                <a:spcPts val="1040"/>
              </a:spcBef>
              <a:buClr>
                <a:srgbClr val="FF0000"/>
              </a:buClr>
              <a:buSzPts val="2200"/>
              <a:buFont typeface="Noto Sans Symbols"/>
              <a:buChar char="❑"/>
            </a:pPr>
            <a:r>
              <a:rPr lang="en-IN" sz="4400" b="1" dirty="0" err="1">
                <a:solidFill>
                  <a:srgbClr val="FF0000"/>
                </a:solidFill>
              </a:rPr>
              <a:t>pyr</a:t>
            </a:r>
            <a:r>
              <a:rPr lang="en-IN" sz="4400" b="1" dirty="0">
                <a:solidFill>
                  <a:srgbClr val="FF0000"/>
                </a:solidFill>
              </a:rPr>
              <a:t>/o:</a:t>
            </a:r>
            <a:endParaRPr lang="en-IN" sz="4400" dirty="0"/>
          </a:p>
          <a:p>
            <a:pPr marL="342900" lvl="0" indent="-342900" algn="just">
              <a:spcBef>
                <a:spcPts val="1040"/>
              </a:spcBef>
              <a:buClr>
                <a:schemeClr val="dk1"/>
              </a:buClr>
              <a:buSzPts val="2200"/>
              <a:buNone/>
            </a:pPr>
            <a:r>
              <a:rPr lang="en-IN" sz="4400" dirty="0"/>
              <a:t>	</a:t>
            </a:r>
            <a:r>
              <a:rPr lang="en-IN" sz="4400" dirty="0" err="1"/>
              <a:t>pyr</a:t>
            </a:r>
            <a:r>
              <a:rPr lang="en-IN" sz="4400" dirty="0"/>
              <a:t>/o means fever or fire. Pyrosis (</a:t>
            </a:r>
            <a:r>
              <a:rPr lang="en-IN" sz="4400" dirty="0" err="1"/>
              <a:t>pye</a:t>
            </a:r>
            <a:r>
              <a:rPr lang="en-IN" sz="4400" dirty="0"/>
              <a:t>-ROH-sis), also known as heartburn, is discomfort due to the regurgitation of stomach acid upward into the </a:t>
            </a:r>
            <a:r>
              <a:rPr lang="en-IN" sz="4400" dirty="0" err="1"/>
              <a:t>esophagus</a:t>
            </a:r>
            <a:r>
              <a:rPr lang="en-IN" sz="4400" dirty="0"/>
              <a:t> (</a:t>
            </a:r>
            <a:r>
              <a:rPr lang="en-IN" sz="4400" dirty="0" err="1"/>
              <a:t>pyr</a:t>
            </a:r>
            <a:r>
              <a:rPr lang="en-IN" sz="4400" dirty="0"/>
              <a:t> means fever or fire, and -</a:t>
            </a:r>
            <a:r>
              <a:rPr lang="en-IN" sz="4400" dirty="0" err="1"/>
              <a:t>osis</a:t>
            </a:r>
            <a:r>
              <a:rPr lang="en-IN" sz="4400" dirty="0"/>
              <a:t> means abnormal condition or disease). </a:t>
            </a:r>
          </a:p>
          <a:p>
            <a:pPr marL="342900" lvl="0" indent="-342900" algn="just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endParaRPr lang="en-US" sz="4400" dirty="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4943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5A5C-037E-A694-2C72-0E33F9B8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0BEC0-59F2-D291-FA79-4207A4E9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66916"/>
            <a:ext cx="10058400" cy="5268124"/>
          </a:xfrm>
        </p:spPr>
        <p:txBody>
          <a:bodyPr>
            <a:normAutofit lnSpcReduction="10000"/>
          </a:bodyPr>
          <a:lstStyle/>
          <a:p>
            <a:pPr marL="342900" lvl="0" indent="-342900">
              <a:spcBef>
                <a:spcPts val="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4400" b="1" dirty="0">
                <a:solidFill>
                  <a:srgbClr val="FF0000"/>
                </a:solidFill>
              </a:rPr>
              <a:t>Supination:</a:t>
            </a:r>
            <a:endParaRPr lang="en-US" sz="4400" dirty="0"/>
          </a:p>
          <a:p>
            <a:pPr marL="342900" lvl="0" indent="-342900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4400" dirty="0"/>
              <a:t>	Supination (</a:t>
            </a:r>
            <a:r>
              <a:rPr lang="en-US" sz="4400" dirty="0" err="1"/>
              <a:t>soo</a:t>
            </a:r>
            <a:r>
              <a:rPr lang="en-US" sz="4400" dirty="0"/>
              <a:t>-</a:t>
            </a:r>
            <a:r>
              <a:rPr lang="en-US" sz="4400" dirty="0" err="1"/>
              <a:t>pih</a:t>
            </a:r>
            <a:r>
              <a:rPr lang="en-US" sz="4400" dirty="0"/>
              <a:t>-NAY-shun) is the act of rotating the arm so that the palm of the hand is forward or upward. </a:t>
            </a:r>
          </a:p>
          <a:p>
            <a:pPr marL="342900" lvl="0" indent="-342900">
              <a:spcBef>
                <a:spcPts val="1680"/>
              </a:spcBef>
              <a:buClr>
                <a:srgbClr val="FF0000"/>
              </a:buClr>
              <a:buSzPts val="2400"/>
              <a:buFont typeface="Noto Sans Symbols"/>
              <a:buChar char="❑"/>
            </a:pPr>
            <a:r>
              <a:rPr lang="en-US" sz="4400" b="1" dirty="0">
                <a:solidFill>
                  <a:srgbClr val="FF0000"/>
                </a:solidFill>
              </a:rPr>
              <a:t>Suppuration:</a:t>
            </a:r>
            <a:endParaRPr lang="en-US" sz="4400" dirty="0"/>
          </a:p>
          <a:p>
            <a:pPr marL="342900" lvl="0" indent="-342900">
              <a:spcBef>
                <a:spcPts val="1680"/>
              </a:spcBef>
              <a:buClr>
                <a:schemeClr val="dk1"/>
              </a:buClr>
              <a:buSzPts val="2400"/>
              <a:buNone/>
            </a:pPr>
            <a:r>
              <a:rPr lang="en-US" sz="4400" dirty="0"/>
              <a:t>	Suppuration (sup-you-RAY-shun) is the formation or discharge of pus. 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27002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9</TotalTime>
  <Words>1608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Garamond</vt:lpstr>
      <vt:lpstr>Noto Sans Symbols</vt:lpstr>
      <vt:lpstr>Savon</vt:lpstr>
      <vt:lpstr>Medical terminologies 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2025-11-20T14:38:38Z</dcterms:created>
  <dcterms:modified xsi:type="dcterms:W3CDTF">2025-11-20T16:07:22Z</dcterms:modified>
</cp:coreProperties>
</file>