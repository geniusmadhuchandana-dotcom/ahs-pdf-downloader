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B9F2AD23-E511-4E9C-B608-F6C7937D1671}" type="datetimeFigureOut">
              <a:rPr lang="en-IN" smtClean="0"/>
              <a:t>20-11-2025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DA61029-175C-49A4-AF54-BD02E2CC496E}" type="slidenum">
              <a:rPr lang="en-IN" smtClean="0"/>
              <a:t>‹#›</a:t>
            </a:fld>
            <a:endParaRPr lang="en-IN"/>
          </a:p>
        </p:txBody>
      </p:sp>
    </p:spTree>
    <p:extLst>
      <p:ext uri="{BB962C8B-B14F-4D97-AF65-F5344CB8AC3E}">
        <p14:creationId xmlns:p14="http://schemas.microsoft.com/office/powerpoint/2010/main" val="181536409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2AD23-E511-4E9C-B608-F6C7937D1671}"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721703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B9F2AD23-E511-4E9C-B608-F6C7937D1671}" type="datetimeFigureOut">
              <a:rPr lang="en-IN" smtClean="0"/>
              <a:t>20-11-2025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242683841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F2AD23-E511-4E9C-B608-F6C7937D1671}"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2362985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F2AD23-E511-4E9C-B608-F6C7937D1671}"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3573324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F2AD23-E511-4E9C-B608-F6C7937D1671}"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3333441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F2AD23-E511-4E9C-B608-F6C7937D1671}"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1393888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9F2AD23-E511-4E9C-B608-F6C7937D1671}"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6728" y="6227064"/>
            <a:ext cx="1463040" cy="256032"/>
          </a:xfrm>
        </p:spPr>
        <p:txBody>
          <a:bodyPr/>
          <a:lstStyle/>
          <a:p>
            <a:fld id="{5DA61029-175C-49A4-AF54-BD02E2CC496E}"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9241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9F2AD23-E511-4E9C-B608-F6C7937D1671}"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56032"/>
          </a:xfrm>
        </p:spPr>
        <p:txBody>
          <a:bodyPr/>
          <a:lstStyle/>
          <a:p>
            <a:fld id="{5DA61029-175C-49A4-AF54-BD02E2CC496E}"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71300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2AD23-E511-4E9C-B608-F6C7937D1671}"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3870389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2AD23-E511-4E9C-B608-F6C7937D1671}"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61029-175C-49A4-AF54-BD02E2CC496E}" type="slidenum">
              <a:rPr lang="en-IN" smtClean="0"/>
              <a:t>‹#›</a:t>
            </a:fld>
            <a:endParaRPr lang="en-IN"/>
          </a:p>
        </p:txBody>
      </p:sp>
    </p:spTree>
    <p:extLst>
      <p:ext uri="{BB962C8B-B14F-4D97-AF65-F5344CB8AC3E}">
        <p14:creationId xmlns:p14="http://schemas.microsoft.com/office/powerpoint/2010/main" val="2953459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B9F2AD23-E511-4E9C-B608-F6C7937D1671}" type="datetimeFigureOut">
              <a:rPr lang="en-IN" smtClean="0"/>
              <a:t>20-11-2025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DA61029-175C-49A4-AF54-BD02E2CC496E}" type="slidenum">
              <a:rPr lang="en-IN" smtClean="0"/>
              <a:t>‹#›</a:t>
            </a:fld>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861217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0853-EA34-60D5-64A2-BC4B48245A01}"/>
              </a:ext>
            </a:extLst>
          </p:cNvPr>
          <p:cNvSpPr>
            <a:spLocks noGrp="1"/>
          </p:cNvSpPr>
          <p:nvPr>
            <p:ph type="ctrTitle"/>
          </p:nvPr>
        </p:nvSpPr>
        <p:spPr/>
        <p:txBody>
          <a:bodyPr/>
          <a:lstStyle/>
          <a:p>
            <a:r>
              <a:rPr lang="en-US" dirty="0"/>
              <a:t>Medical terminologies -3</a:t>
            </a:r>
            <a:endParaRPr lang="en-IN" dirty="0"/>
          </a:p>
        </p:txBody>
      </p:sp>
      <p:sp>
        <p:nvSpPr>
          <p:cNvPr id="3" name="Subtitle 2">
            <a:extLst>
              <a:ext uri="{FF2B5EF4-FFF2-40B4-BE49-F238E27FC236}">
                <a16:creationId xmlns:a16="http://schemas.microsoft.com/office/drawing/2014/main" id="{6B54448F-CFF9-B17C-24C6-463C6F10C5D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34874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70C82-7D01-FA1B-F2EC-ADBC3F5CA1F2}"/>
              </a:ext>
            </a:extLst>
          </p:cNvPr>
          <p:cNvSpPr>
            <a:spLocks noGrp="1"/>
          </p:cNvSpPr>
          <p:nvPr>
            <p:ph type="title"/>
          </p:nvPr>
        </p:nvSpPr>
        <p:spPr/>
        <p:txBody>
          <a:bodyPr/>
          <a:lstStyle/>
          <a:p>
            <a:endParaRPr lang="en-IN"/>
          </a:p>
        </p:txBody>
      </p:sp>
      <p:pic>
        <p:nvPicPr>
          <p:cNvPr id="4" name="table">
            <a:extLst>
              <a:ext uri="{FF2B5EF4-FFF2-40B4-BE49-F238E27FC236}">
                <a16:creationId xmlns:a16="http://schemas.microsoft.com/office/drawing/2014/main" id="{20132402-EA22-622A-B76F-B91318E37F6D}"/>
              </a:ext>
            </a:extLst>
          </p:cNvPr>
          <p:cNvPicPr>
            <a:picLocks noGrp="1" noChangeAspect="1"/>
          </p:cNvPicPr>
          <p:nvPr>
            <p:ph idx="1"/>
          </p:nvPr>
        </p:nvPicPr>
        <p:blipFill>
          <a:blip r:embed="rId2"/>
          <a:stretch>
            <a:fillRect/>
          </a:stretch>
        </p:blipFill>
        <p:spPr>
          <a:xfrm>
            <a:off x="1066800" y="642594"/>
            <a:ext cx="10058400" cy="5393081"/>
          </a:xfrm>
          <a:prstGeom prst="rect">
            <a:avLst/>
          </a:prstGeom>
        </p:spPr>
      </p:pic>
    </p:spTree>
    <p:extLst>
      <p:ext uri="{BB962C8B-B14F-4D97-AF65-F5344CB8AC3E}">
        <p14:creationId xmlns:p14="http://schemas.microsoft.com/office/powerpoint/2010/main" val="166140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DB258-C05C-809B-8291-859B7F0840C6}"/>
              </a:ext>
            </a:extLst>
          </p:cNvPr>
          <p:cNvSpPr>
            <a:spLocks noGrp="1"/>
          </p:cNvSpPr>
          <p:nvPr>
            <p:ph type="title"/>
          </p:nvPr>
        </p:nvSpPr>
        <p:spPr/>
        <p:txBody>
          <a:bodyPr/>
          <a:lstStyle/>
          <a:p>
            <a:endParaRPr lang="en-IN"/>
          </a:p>
        </p:txBody>
      </p:sp>
      <p:pic>
        <p:nvPicPr>
          <p:cNvPr id="4" name="table">
            <a:extLst>
              <a:ext uri="{FF2B5EF4-FFF2-40B4-BE49-F238E27FC236}">
                <a16:creationId xmlns:a16="http://schemas.microsoft.com/office/drawing/2014/main" id="{FB43CD0A-92C9-E365-C211-3E1A0D1A67A1}"/>
              </a:ext>
            </a:extLst>
          </p:cNvPr>
          <p:cNvPicPr>
            <a:picLocks noGrp="1" noChangeAspect="1"/>
          </p:cNvPicPr>
          <p:nvPr>
            <p:ph idx="1"/>
          </p:nvPr>
        </p:nvPicPr>
        <p:blipFill>
          <a:blip r:embed="rId2"/>
          <a:stretch>
            <a:fillRect/>
          </a:stretch>
        </p:blipFill>
        <p:spPr>
          <a:xfrm>
            <a:off x="1066801" y="642594"/>
            <a:ext cx="10058400" cy="5393081"/>
          </a:xfrm>
          <a:prstGeom prst="rect">
            <a:avLst/>
          </a:prstGeom>
        </p:spPr>
      </p:pic>
    </p:spTree>
    <p:extLst>
      <p:ext uri="{BB962C8B-B14F-4D97-AF65-F5344CB8AC3E}">
        <p14:creationId xmlns:p14="http://schemas.microsoft.com/office/powerpoint/2010/main" val="519368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07CF4-390E-BB41-181D-BDEAA1AD6963}"/>
              </a:ext>
            </a:extLst>
          </p:cNvPr>
          <p:cNvSpPr>
            <a:spLocks noGrp="1"/>
          </p:cNvSpPr>
          <p:nvPr>
            <p:ph type="title"/>
          </p:nvPr>
        </p:nvSpPr>
        <p:spPr/>
        <p:txBody>
          <a:bodyPr/>
          <a:lstStyle/>
          <a:p>
            <a:r>
              <a:rPr lang="en-US" dirty="0"/>
              <a:t>Func of resp. sys.</a:t>
            </a:r>
            <a:endParaRPr lang="en-IN" dirty="0"/>
          </a:p>
        </p:txBody>
      </p:sp>
      <p:sp>
        <p:nvSpPr>
          <p:cNvPr id="3" name="Content Placeholder 2">
            <a:extLst>
              <a:ext uri="{FF2B5EF4-FFF2-40B4-BE49-F238E27FC236}">
                <a16:creationId xmlns:a16="http://schemas.microsoft.com/office/drawing/2014/main" id="{33FAAA1E-2C27-9AD2-7856-D19E36451AA5}"/>
              </a:ext>
            </a:extLst>
          </p:cNvPr>
          <p:cNvSpPr>
            <a:spLocks noGrp="1"/>
          </p:cNvSpPr>
          <p:nvPr>
            <p:ph idx="1"/>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Facilitates gas exchange</a:t>
            </a:r>
            <a:r>
              <a:rPr lang="en-US" dirty="0">
                <a:latin typeface="Times New Roman" panose="02020603050405020304" pitchFamily="18" charset="0"/>
                <a:cs typeface="Times New Roman" panose="02020603050405020304" pitchFamily="18" charset="0"/>
              </a:rPr>
              <a:t>: supplies oxygen to blood, removes carbon dioxide.</a:t>
            </a:r>
          </a:p>
          <a:p>
            <a:r>
              <a:rPr lang="en-US" b="1" dirty="0">
                <a:solidFill>
                  <a:srgbClr val="C00000"/>
                </a:solidFill>
                <a:latin typeface="Times New Roman" panose="02020603050405020304" pitchFamily="18" charset="0"/>
                <a:cs typeface="Times New Roman" panose="02020603050405020304" pitchFamily="18" charset="0"/>
              </a:rPr>
              <a:t>Regulates blood pH </a:t>
            </a:r>
            <a:r>
              <a:rPr lang="en-US" dirty="0">
                <a:latin typeface="Times New Roman" panose="02020603050405020304" pitchFamily="18" charset="0"/>
                <a:cs typeface="Times New Roman" panose="02020603050405020304" pitchFamily="18" charset="0"/>
              </a:rPr>
              <a:t>by adjusting carbon dioxide levels.</a:t>
            </a:r>
          </a:p>
          <a:p>
            <a:r>
              <a:rPr lang="en-US" dirty="0">
                <a:latin typeface="Times New Roman" panose="02020603050405020304" pitchFamily="18" charset="0"/>
                <a:cs typeface="Times New Roman" panose="02020603050405020304" pitchFamily="18" charset="0"/>
              </a:rPr>
              <a:t>Protects against pathogens and particulate matter through </a:t>
            </a:r>
            <a:r>
              <a:rPr lang="en-US" b="1" dirty="0">
                <a:solidFill>
                  <a:srgbClr val="C00000"/>
                </a:solidFill>
                <a:latin typeface="Times New Roman" panose="02020603050405020304" pitchFamily="18" charset="0"/>
                <a:cs typeface="Times New Roman" panose="02020603050405020304" pitchFamily="18" charset="0"/>
              </a:rPr>
              <a:t>filtration and immune defense</a:t>
            </a:r>
            <a:r>
              <a:rPr lang="en-US" b="1" dirty="0">
                <a:latin typeface="Times New Roman" panose="02020603050405020304" pitchFamily="18" charset="0"/>
                <a:cs typeface="Times New Roman" panose="02020603050405020304" pitchFamily="18" charset="0"/>
              </a:rPr>
              <a:t>.</a:t>
            </a:r>
          </a:p>
          <a:p>
            <a:r>
              <a:rPr lang="en-US" b="1" dirty="0">
                <a:solidFill>
                  <a:srgbClr val="C00000"/>
                </a:solidFill>
                <a:latin typeface="Times New Roman" panose="02020603050405020304" pitchFamily="18" charset="0"/>
                <a:cs typeface="Times New Roman" panose="02020603050405020304" pitchFamily="18" charset="0"/>
              </a:rPr>
              <a:t>Produces sound and speech </a:t>
            </a:r>
            <a:r>
              <a:rPr lang="en-US" dirty="0">
                <a:latin typeface="Times New Roman" panose="02020603050405020304" pitchFamily="18" charset="0"/>
                <a:cs typeface="Times New Roman" panose="02020603050405020304" pitchFamily="18" charset="0"/>
              </a:rPr>
              <a:t>via the vocal cords in the larynx.</a:t>
            </a:r>
          </a:p>
          <a:p>
            <a:r>
              <a:rPr lang="en-US" dirty="0">
                <a:latin typeface="Times New Roman" panose="02020603050405020304" pitchFamily="18" charset="0"/>
                <a:cs typeface="Times New Roman" panose="02020603050405020304" pitchFamily="18" charset="0"/>
              </a:rPr>
              <a:t>Allows for the </a:t>
            </a:r>
            <a:r>
              <a:rPr lang="en-US" b="1" dirty="0">
                <a:solidFill>
                  <a:srgbClr val="C00000"/>
                </a:solidFill>
                <a:latin typeface="Times New Roman" panose="02020603050405020304" pitchFamily="18" charset="0"/>
                <a:cs typeface="Times New Roman" panose="02020603050405020304" pitchFamily="18" charset="0"/>
              </a:rPr>
              <a:t>sense of smell </a:t>
            </a:r>
            <a:r>
              <a:rPr lang="en-US" dirty="0">
                <a:latin typeface="Times New Roman" panose="02020603050405020304" pitchFamily="18" charset="0"/>
                <a:cs typeface="Times New Roman" panose="02020603050405020304" pitchFamily="18" charset="0"/>
              </a:rPr>
              <a:t>(olfaction) by directing air to olfactory receptors.</a:t>
            </a:r>
          </a:p>
          <a:p>
            <a:r>
              <a:rPr lang="en-US" b="1" dirty="0">
                <a:solidFill>
                  <a:srgbClr val="C00000"/>
                </a:solidFill>
                <a:latin typeface="Times New Roman" panose="02020603050405020304" pitchFamily="18" charset="0"/>
                <a:cs typeface="Times New Roman" panose="02020603050405020304" pitchFamily="18" charset="0"/>
              </a:rPr>
              <a:t>Moistens, warms, and filters</a:t>
            </a:r>
            <a:r>
              <a:rPr lang="en-US"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incoming air before it reaches the lungs.</a:t>
            </a:r>
          </a:p>
          <a:p>
            <a:endParaRPr lang="en-IN" dirty="0"/>
          </a:p>
        </p:txBody>
      </p:sp>
    </p:spTree>
    <p:extLst>
      <p:ext uri="{BB962C8B-B14F-4D97-AF65-F5344CB8AC3E}">
        <p14:creationId xmlns:p14="http://schemas.microsoft.com/office/powerpoint/2010/main" val="1778016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D881B-8C83-69D2-B12E-CE78B113C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D1439-5BB4-F679-B48C-94C8A2A43AA3}"/>
              </a:ext>
            </a:extLst>
          </p:cNvPr>
          <p:cNvSpPr>
            <a:spLocks noGrp="1"/>
          </p:cNvSpPr>
          <p:nvPr>
            <p:ph type="title"/>
          </p:nvPr>
        </p:nvSpPr>
        <p:spPr/>
        <p:txBody>
          <a:bodyPr/>
          <a:lstStyle/>
          <a:p>
            <a:r>
              <a:rPr lang="en-US" dirty="0"/>
              <a:t>Str. of resp. sys.</a:t>
            </a:r>
            <a:endParaRPr lang="en-IN" dirty="0"/>
          </a:p>
        </p:txBody>
      </p:sp>
      <p:sp>
        <p:nvSpPr>
          <p:cNvPr id="3" name="Content Placeholder 2">
            <a:extLst>
              <a:ext uri="{FF2B5EF4-FFF2-40B4-BE49-F238E27FC236}">
                <a16:creationId xmlns:a16="http://schemas.microsoft.com/office/drawing/2014/main" id="{E5F989DF-626D-4527-791C-7B0274C72EE0}"/>
              </a:ext>
            </a:extLst>
          </p:cNvPr>
          <p:cNvSpPr>
            <a:spLocks noGrp="1"/>
          </p:cNvSpPr>
          <p:nvPr>
            <p:ph idx="1"/>
          </p:nvPr>
        </p:nvSpPr>
        <p:spPr/>
        <p:txBody>
          <a:bodyPr/>
          <a:lstStyle/>
          <a:p>
            <a:pPr marL="360000" indent="-360000" algn="just">
              <a:spcAft>
                <a:spcPts val="1200"/>
              </a:spcAft>
              <a:buFont typeface="Wingdings" pitchFamily="2" charset="2"/>
              <a:buChar char="q"/>
            </a:pPr>
            <a:r>
              <a:rPr lang="en-IN" dirty="0"/>
              <a:t>The </a:t>
            </a:r>
            <a:r>
              <a:rPr lang="en-IN" b="1" u="sng" dirty="0">
                <a:solidFill>
                  <a:srgbClr val="FF0000"/>
                </a:solidFill>
              </a:rPr>
              <a:t>upper respiratory tract </a:t>
            </a:r>
            <a:r>
              <a:rPr lang="en-IN" dirty="0"/>
              <a:t>consists of the </a:t>
            </a:r>
            <a:r>
              <a:rPr lang="en-IN" b="1" dirty="0">
                <a:solidFill>
                  <a:srgbClr val="002060"/>
                </a:solidFill>
              </a:rPr>
              <a:t>nose, mouth, pharynx, epiglottis, larynx</a:t>
            </a:r>
          </a:p>
          <a:p>
            <a:pPr marL="360000" indent="-360000" algn="just">
              <a:spcAft>
                <a:spcPts val="1200"/>
              </a:spcAft>
              <a:buFont typeface="Wingdings" pitchFamily="2" charset="2"/>
              <a:buChar char="q"/>
            </a:pPr>
            <a:r>
              <a:rPr lang="en-IN" dirty="0"/>
              <a:t>The </a:t>
            </a:r>
            <a:r>
              <a:rPr lang="en-IN" b="1" u="sng" dirty="0">
                <a:solidFill>
                  <a:srgbClr val="FF0000"/>
                </a:solidFill>
              </a:rPr>
              <a:t>lower respiratory tract </a:t>
            </a:r>
            <a:r>
              <a:rPr lang="en-IN" dirty="0"/>
              <a:t>consists of the</a:t>
            </a:r>
            <a:r>
              <a:rPr lang="en-IN" b="1" dirty="0"/>
              <a:t> </a:t>
            </a:r>
            <a:r>
              <a:rPr lang="en-IN" b="1" dirty="0">
                <a:solidFill>
                  <a:srgbClr val="002060"/>
                </a:solidFill>
              </a:rPr>
              <a:t> trachea , bronchial tree and lungs</a:t>
            </a:r>
            <a:r>
              <a:rPr lang="en-IN" dirty="0">
                <a:solidFill>
                  <a:srgbClr val="002060"/>
                </a:solidFill>
              </a:rPr>
              <a:t>.</a:t>
            </a:r>
            <a:r>
              <a:rPr lang="en-IN" dirty="0"/>
              <a:t> These structures are located within, and protected by, the thoracic cavity which is also known as the rib cage.</a:t>
            </a:r>
          </a:p>
          <a:p>
            <a:endParaRPr lang="en-IN" dirty="0"/>
          </a:p>
        </p:txBody>
      </p:sp>
    </p:spTree>
    <p:extLst>
      <p:ext uri="{BB962C8B-B14F-4D97-AF65-F5344CB8AC3E}">
        <p14:creationId xmlns:p14="http://schemas.microsoft.com/office/powerpoint/2010/main" val="489366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99AAF-4F20-D35F-3E83-AFCDD6C7C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D6873-D7D0-B833-26D2-20E925003497}"/>
              </a:ext>
            </a:extLst>
          </p:cNvPr>
          <p:cNvSpPr>
            <a:spLocks noGrp="1"/>
          </p:cNvSpPr>
          <p:nvPr>
            <p:ph type="title"/>
          </p:nvPr>
        </p:nvSpPr>
        <p:spPr/>
        <p:txBody>
          <a:bodyPr/>
          <a:lstStyle/>
          <a:p>
            <a:r>
              <a:rPr lang="en-US" dirty="0"/>
              <a:t>Nose </a:t>
            </a:r>
            <a:endParaRPr lang="en-IN" dirty="0"/>
          </a:p>
        </p:txBody>
      </p:sp>
      <p:sp>
        <p:nvSpPr>
          <p:cNvPr id="3" name="Content Placeholder 2">
            <a:extLst>
              <a:ext uri="{FF2B5EF4-FFF2-40B4-BE49-F238E27FC236}">
                <a16:creationId xmlns:a16="http://schemas.microsoft.com/office/drawing/2014/main" id="{6CE56A71-DF8C-E65D-F16B-83C3A014A4A2}"/>
              </a:ext>
            </a:extLst>
          </p:cNvPr>
          <p:cNvSpPr>
            <a:spLocks noGrp="1"/>
          </p:cNvSpPr>
          <p:nvPr>
            <p:ph idx="1"/>
          </p:nvPr>
        </p:nvSpPr>
        <p:spPr/>
        <p:txBody>
          <a:bodyPr/>
          <a:lstStyle/>
          <a:p>
            <a:pPr marL="360000" indent="-360000" algn="just">
              <a:spcBef>
                <a:spcPts val="0"/>
              </a:spcBef>
              <a:spcAft>
                <a:spcPts val="600"/>
              </a:spcAft>
              <a:buFont typeface="Wingdings" pitchFamily="2" charset="2"/>
              <a:buChar char="q"/>
            </a:pPr>
            <a:r>
              <a:rPr lang="en-IN" dirty="0"/>
              <a:t>Air enters the body through the nose and passes through the </a:t>
            </a:r>
            <a:r>
              <a:rPr lang="en-IN" b="1" dirty="0">
                <a:solidFill>
                  <a:srgbClr val="FF0000"/>
                </a:solidFill>
              </a:rPr>
              <a:t>nasal</a:t>
            </a:r>
            <a:r>
              <a:rPr lang="en-IN" b="1" dirty="0"/>
              <a:t> </a:t>
            </a:r>
            <a:r>
              <a:rPr lang="en-IN" b="1" dirty="0">
                <a:solidFill>
                  <a:srgbClr val="FF0000"/>
                </a:solidFill>
              </a:rPr>
              <a:t>cavity</a:t>
            </a:r>
            <a:r>
              <a:rPr lang="en-IN" dirty="0"/>
              <a:t>, which is the interior portion of the nose.</a:t>
            </a:r>
          </a:p>
          <a:p>
            <a:pPr marL="360000" indent="-360000" algn="just">
              <a:spcBef>
                <a:spcPts val="0"/>
              </a:spcBef>
              <a:spcAft>
                <a:spcPts val="600"/>
              </a:spcAft>
              <a:buFont typeface="Wingdings" pitchFamily="2" charset="2"/>
              <a:buChar char="q"/>
            </a:pPr>
            <a:r>
              <a:rPr lang="en-IN" dirty="0"/>
              <a:t>The </a:t>
            </a:r>
            <a:r>
              <a:rPr lang="en-IN" b="1" dirty="0">
                <a:solidFill>
                  <a:srgbClr val="FF0000"/>
                </a:solidFill>
              </a:rPr>
              <a:t>nasal septum </a:t>
            </a:r>
            <a:r>
              <a:rPr lang="en-IN" dirty="0"/>
              <a:t>(NAY-zal SEP-tum) is a wall of cartilage that divides the nose into two equal sections. A septum is a wall that separates two chambers. </a:t>
            </a:r>
          </a:p>
          <a:p>
            <a:pPr marL="360000" indent="-360000" algn="just">
              <a:spcBef>
                <a:spcPts val="0"/>
              </a:spcBef>
              <a:spcAft>
                <a:spcPts val="600"/>
              </a:spcAft>
              <a:buFont typeface="Wingdings" pitchFamily="2" charset="2"/>
              <a:buChar char="q"/>
            </a:pPr>
            <a:r>
              <a:rPr lang="en-IN" b="1" dirty="0">
                <a:solidFill>
                  <a:srgbClr val="FF0000"/>
                </a:solidFill>
              </a:rPr>
              <a:t>Cilia</a:t>
            </a:r>
            <a:r>
              <a:rPr lang="en-IN" dirty="0"/>
              <a:t> (SIL-ee-ah), the thin hairs located just inside the nostrils, filter incoming air to remove debris. </a:t>
            </a:r>
          </a:p>
          <a:p>
            <a:pPr marL="360000" indent="-360000" algn="just">
              <a:spcBef>
                <a:spcPts val="0"/>
              </a:spcBef>
              <a:spcAft>
                <a:spcPts val="600"/>
              </a:spcAft>
              <a:buFont typeface="Wingdings" pitchFamily="2" charset="2"/>
              <a:buChar char="q"/>
            </a:pPr>
            <a:r>
              <a:rPr lang="en-IN" b="1" dirty="0">
                <a:solidFill>
                  <a:srgbClr val="FF0000"/>
                </a:solidFill>
              </a:rPr>
              <a:t>Mucous membranes </a:t>
            </a:r>
            <a:r>
              <a:rPr lang="en-IN" dirty="0"/>
              <a:t>(MYOU-</a:t>
            </a:r>
            <a:r>
              <a:rPr lang="en-IN" dirty="0" err="1"/>
              <a:t>kus</a:t>
            </a:r>
            <a:r>
              <a:rPr lang="en-IN" dirty="0"/>
              <a:t>) are the specialized tissues that line the respiratory, digestive, reproductive, and urinary systems. </a:t>
            </a:r>
          </a:p>
          <a:p>
            <a:endParaRPr lang="en-IN" dirty="0"/>
          </a:p>
        </p:txBody>
      </p:sp>
    </p:spTree>
    <p:extLst>
      <p:ext uri="{BB962C8B-B14F-4D97-AF65-F5344CB8AC3E}">
        <p14:creationId xmlns:p14="http://schemas.microsoft.com/office/powerpoint/2010/main" val="1689516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BAA7E-64E8-2A74-841B-78A6F0FCC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3955F-9827-508D-3AD9-562DAFA62993}"/>
              </a:ext>
            </a:extLst>
          </p:cNvPr>
          <p:cNvSpPr>
            <a:spLocks noGrp="1"/>
          </p:cNvSpPr>
          <p:nvPr>
            <p:ph type="title"/>
          </p:nvPr>
        </p:nvSpPr>
        <p:spPr/>
        <p:txBody>
          <a:bodyPr/>
          <a:lstStyle/>
          <a:p>
            <a:r>
              <a:rPr lang="en-US" dirty="0"/>
              <a:t>Nose </a:t>
            </a:r>
            <a:endParaRPr lang="en-IN" dirty="0"/>
          </a:p>
        </p:txBody>
      </p:sp>
      <p:sp>
        <p:nvSpPr>
          <p:cNvPr id="3" name="Content Placeholder 2">
            <a:extLst>
              <a:ext uri="{FF2B5EF4-FFF2-40B4-BE49-F238E27FC236}">
                <a16:creationId xmlns:a16="http://schemas.microsoft.com/office/drawing/2014/main" id="{35C3B800-7F97-4EE2-287E-D37DECB31234}"/>
              </a:ext>
            </a:extLst>
          </p:cNvPr>
          <p:cNvSpPr>
            <a:spLocks noGrp="1"/>
          </p:cNvSpPr>
          <p:nvPr>
            <p:ph idx="1"/>
          </p:nvPr>
        </p:nvSpPr>
        <p:spPr/>
        <p:txBody>
          <a:bodyPr/>
          <a:lstStyle/>
          <a:p>
            <a:pPr marL="360000" indent="-360000" algn="just">
              <a:spcBef>
                <a:spcPts val="0"/>
              </a:spcBef>
              <a:spcAft>
                <a:spcPts val="600"/>
              </a:spcAft>
              <a:buFont typeface="Wingdings" pitchFamily="2" charset="2"/>
              <a:buChar char="q"/>
            </a:pPr>
            <a:r>
              <a:rPr lang="en-IN" b="1" dirty="0">
                <a:solidFill>
                  <a:srgbClr val="FF0000"/>
                </a:solidFill>
              </a:rPr>
              <a:t>Mucus</a:t>
            </a:r>
            <a:r>
              <a:rPr lang="en-IN" dirty="0"/>
              <a:t> (MYOU-</a:t>
            </a:r>
            <a:r>
              <a:rPr lang="en-IN" dirty="0" err="1"/>
              <a:t>kus</a:t>
            </a:r>
            <a:r>
              <a:rPr lang="en-IN" dirty="0"/>
              <a:t>), which is secreted by the mucous membranes, protects and lubricates these tissues. In the nose mucus helps to moisten, warm, and filter the air as it enters. Notice the different spellings; however, they have the same pronunciation. Mucous is the name of the tissue; mucus is the secretion that flows from the tissue.</a:t>
            </a:r>
          </a:p>
          <a:p>
            <a:pPr marL="360000" indent="-360000" algn="just">
              <a:spcBef>
                <a:spcPts val="0"/>
              </a:spcBef>
              <a:spcAft>
                <a:spcPts val="600"/>
              </a:spcAft>
              <a:buFont typeface="Wingdings" pitchFamily="2" charset="2"/>
              <a:buChar char="q"/>
            </a:pPr>
            <a:r>
              <a:rPr lang="en-IN" dirty="0"/>
              <a:t>The </a:t>
            </a:r>
            <a:r>
              <a:rPr lang="en-IN" b="1" dirty="0">
                <a:solidFill>
                  <a:srgbClr val="FF0000"/>
                </a:solidFill>
              </a:rPr>
              <a:t>olfactory receptors </a:t>
            </a:r>
            <a:r>
              <a:rPr lang="en-IN" dirty="0"/>
              <a:t>(</a:t>
            </a:r>
            <a:r>
              <a:rPr lang="en-IN" dirty="0" err="1"/>
              <a:t>ol</a:t>
            </a:r>
            <a:r>
              <a:rPr lang="en-IN" dirty="0"/>
              <a:t>-FACK-</a:t>
            </a:r>
            <a:r>
              <a:rPr lang="en-IN" dirty="0" err="1"/>
              <a:t>toh</a:t>
            </a:r>
            <a:r>
              <a:rPr lang="en-IN" dirty="0"/>
              <a:t>-</a:t>
            </a:r>
            <a:r>
              <a:rPr lang="en-IN" dirty="0" err="1"/>
              <a:t>ree</a:t>
            </a:r>
            <a:r>
              <a:rPr lang="en-IN" dirty="0"/>
              <a:t>) are nerve endings that act as the receptors for the sense of smell. They are also important to the sense of taste. These receptors are located in the mucous membrane in the upper part of the nasal cavity.</a:t>
            </a:r>
          </a:p>
          <a:p>
            <a:pPr marL="360000" indent="-360000" algn="just">
              <a:spcBef>
                <a:spcPts val="0"/>
              </a:spcBef>
              <a:spcAft>
                <a:spcPts val="600"/>
              </a:spcAft>
              <a:buFont typeface="Wingdings" pitchFamily="2" charset="2"/>
              <a:buChar char="q"/>
            </a:pPr>
            <a:endParaRPr lang="en-IN" dirty="0"/>
          </a:p>
          <a:p>
            <a:endParaRPr lang="en-IN" dirty="0"/>
          </a:p>
        </p:txBody>
      </p:sp>
    </p:spTree>
    <p:extLst>
      <p:ext uri="{BB962C8B-B14F-4D97-AF65-F5344CB8AC3E}">
        <p14:creationId xmlns:p14="http://schemas.microsoft.com/office/powerpoint/2010/main" val="3597227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46E89-55EF-384E-0090-FCA02805E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D4C1E-7D86-1E67-02BC-849E02EABBD1}"/>
              </a:ext>
            </a:extLst>
          </p:cNvPr>
          <p:cNvSpPr>
            <a:spLocks noGrp="1"/>
          </p:cNvSpPr>
          <p:nvPr>
            <p:ph type="title"/>
          </p:nvPr>
        </p:nvSpPr>
        <p:spPr/>
        <p:txBody>
          <a:bodyPr/>
          <a:lstStyle/>
          <a:p>
            <a:r>
              <a:rPr lang="en-US" dirty="0"/>
              <a:t>Tonsils  </a:t>
            </a:r>
            <a:endParaRPr lang="en-IN" dirty="0"/>
          </a:p>
        </p:txBody>
      </p:sp>
      <p:sp>
        <p:nvSpPr>
          <p:cNvPr id="3" name="Content Placeholder 2">
            <a:extLst>
              <a:ext uri="{FF2B5EF4-FFF2-40B4-BE49-F238E27FC236}">
                <a16:creationId xmlns:a16="http://schemas.microsoft.com/office/drawing/2014/main" id="{6C512ECC-0F7F-4058-BDB9-411A25F74AD7}"/>
              </a:ext>
            </a:extLst>
          </p:cNvPr>
          <p:cNvSpPr>
            <a:spLocks noGrp="1"/>
          </p:cNvSpPr>
          <p:nvPr>
            <p:ph idx="1"/>
          </p:nvPr>
        </p:nvSpPr>
        <p:spPr/>
        <p:txBody>
          <a:bodyPr/>
          <a:lstStyle/>
          <a:p>
            <a:pPr algn="just">
              <a:buFont typeface="Wingdings" pitchFamily="2" charset="2"/>
              <a:buChar char="q"/>
            </a:pPr>
            <a:r>
              <a:rPr lang="en-IN" dirty="0"/>
              <a:t>The tonsils form a protective circle of lymphatic tissue around the entrance to the respiratory system.</a:t>
            </a:r>
          </a:p>
          <a:p>
            <a:pPr>
              <a:buFont typeface="Wingdings" pitchFamily="2" charset="2"/>
              <a:buChar char="q"/>
            </a:pPr>
            <a:r>
              <a:rPr lang="en-IN" dirty="0"/>
              <a:t>The paranasal sinuses, which are air-filled cavities lined with mucous membrane, are located in the bones of the skull. </a:t>
            </a:r>
          </a:p>
          <a:p>
            <a:pPr>
              <a:buFont typeface="Wingdings" pitchFamily="2" charset="2"/>
              <a:buChar char="q"/>
            </a:pPr>
            <a:r>
              <a:rPr lang="en-IN" dirty="0"/>
              <a:t>These sinuses are connected to the nasal cavity via short ducts (</a:t>
            </a:r>
            <a:r>
              <a:rPr lang="en-IN" b="1" dirty="0">
                <a:solidFill>
                  <a:srgbClr val="002060"/>
                </a:solidFill>
              </a:rPr>
              <a:t>para-</a:t>
            </a:r>
            <a:r>
              <a:rPr lang="en-IN" dirty="0">
                <a:solidFill>
                  <a:srgbClr val="002060"/>
                </a:solidFill>
              </a:rPr>
              <a:t> means near, </a:t>
            </a:r>
            <a:r>
              <a:rPr lang="en-IN" b="1" dirty="0" err="1">
                <a:solidFill>
                  <a:srgbClr val="002060"/>
                </a:solidFill>
              </a:rPr>
              <a:t>nas</a:t>
            </a:r>
            <a:r>
              <a:rPr lang="en-IN" dirty="0">
                <a:solidFill>
                  <a:srgbClr val="002060"/>
                </a:solidFill>
              </a:rPr>
              <a:t> means nose, and -</a:t>
            </a:r>
            <a:r>
              <a:rPr lang="en-IN" b="1" dirty="0">
                <a:solidFill>
                  <a:srgbClr val="002060"/>
                </a:solidFill>
              </a:rPr>
              <a:t>al</a:t>
            </a:r>
            <a:r>
              <a:rPr lang="en-IN" dirty="0">
                <a:solidFill>
                  <a:srgbClr val="002060"/>
                </a:solidFill>
              </a:rPr>
              <a:t> means pertaining to</a:t>
            </a:r>
            <a:r>
              <a:rPr lang="en-IN" dirty="0"/>
              <a:t>). </a:t>
            </a:r>
          </a:p>
          <a:p>
            <a:pPr>
              <a:buNone/>
            </a:pPr>
            <a:r>
              <a:rPr lang="en-IN" b="1" dirty="0"/>
              <a:t>The functions of these sinuses are </a:t>
            </a:r>
          </a:p>
          <a:p>
            <a:pPr>
              <a:buFont typeface="Wingdings" pitchFamily="2" charset="2"/>
              <a:buChar char="q"/>
            </a:pPr>
            <a:r>
              <a:rPr lang="en-IN" dirty="0"/>
              <a:t> to make the bones of the skull lighter, </a:t>
            </a:r>
          </a:p>
          <a:p>
            <a:pPr>
              <a:buFont typeface="Wingdings" pitchFamily="2" charset="2"/>
              <a:buChar char="q"/>
            </a:pPr>
            <a:r>
              <a:rPr lang="en-IN" dirty="0"/>
              <a:t>to help produce sound by giving resonance to the voice, and </a:t>
            </a:r>
          </a:p>
          <a:p>
            <a:pPr>
              <a:buFont typeface="Wingdings" pitchFamily="2" charset="2"/>
              <a:buChar char="q"/>
            </a:pPr>
            <a:r>
              <a:rPr lang="en-IN" dirty="0"/>
              <a:t>to produce mucus to provide lubrication for the tissues of the nasal cavity. </a:t>
            </a:r>
          </a:p>
          <a:p>
            <a:pPr>
              <a:buNone/>
            </a:pPr>
            <a:r>
              <a:rPr lang="en-IN" dirty="0"/>
              <a:t>	The </a:t>
            </a:r>
            <a:r>
              <a:rPr lang="en-IN" b="1" dirty="0">
                <a:solidFill>
                  <a:srgbClr val="FF0000"/>
                </a:solidFill>
              </a:rPr>
              <a:t>four paired </a:t>
            </a:r>
            <a:r>
              <a:rPr lang="en-IN" dirty="0"/>
              <a:t>sinuses are located on either side of the nose and are named for the bones in which they are located</a:t>
            </a:r>
          </a:p>
          <a:p>
            <a:endParaRPr lang="en-IN" dirty="0"/>
          </a:p>
        </p:txBody>
      </p:sp>
    </p:spTree>
    <p:extLst>
      <p:ext uri="{BB962C8B-B14F-4D97-AF65-F5344CB8AC3E}">
        <p14:creationId xmlns:p14="http://schemas.microsoft.com/office/powerpoint/2010/main" val="340846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AACBD-1DDA-7E4E-1DEC-2058079F9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EEB70-9999-409B-6435-8314AE7C26B2}"/>
              </a:ext>
            </a:extLst>
          </p:cNvPr>
          <p:cNvSpPr>
            <a:spLocks noGrp="1"/>
          </p:cNvSpPr>
          <p:nvPr>
            <p:ph type="title"/>
          </p:nvPr>
        </p:nvSpPr>
        <p:spPr/>
        <p:txBody>
          <a:bodyPr/>
          <a:lstStyle/>
          <a:p>
            <a:r>
              <a:rPr lang="en-US" dirty="0"/>
              <a:t>Paranasal sinuses</a:t>
            </a:r>
            <a:endParaRPr lang="en-IN" dirty="0"/>
          </a:p>
        </p:txBody>
      </p:sp>
      <p:sp>
        <p:nvSpPr>
          <p:cNvPr id="3" name="Content Placeholder 2">
            <a:extLst>
              <a:ext uri="{FF2B5EF4-FFF2-40B4-BE49-F238E27FC236}">
                <a16:creationId xmlns:a16="http://schemas.microsoft.com/office/drawing/2014/main" id="{300E1CC7-923A-0870-5479-3A48EF86D007}"/>
              </a:ext>
            </a:extLst>
          </p:cNvPr>
          <p:cNvSpPr>
            <a:spLocks noGrp="1"/>
          </p:cNvSpPr>
          <p:nvPr>
            <p:ph idx="1"/>
          </p:nvPr>
        </p:nvSpPr>
        <p:spPr/>
        <p:txBody>
          <a:bodyPr/>
          <a:lstStyle/>
          <a:p>
            <a:pPr>
              <a:buFont typeface="Wingdings" pitchFamily="2" charset="2"/>
              <a:buChar char="q"/>
            </a:pPr>
            <a:r>
              <a:rPr lang="en-IN" dirty="0"/>
              <a:t>The </a:t>
            </a:r>
            <a:r>
              <a:rPr lang="en-IN" b="1" dirty="0">
                <a:solidFill>
                  <a:srgbClr val="FF0000"/>
                </a:solidFill>
              </a:rPr>
              <a:t>frontal sinuses </a:t>
            </a:r>
            <a:r>
              <a:rPr lang="en-IN" dirty="0"/>
              <a:t>are located in the frontal bone just above the eyebrows. An infection here can cause </a:t>
            </a:r>
            <a:r>
              <a:rPr lang="en-IN" u="sng" dirty="0"/>
              <a:t>severe pain in this area. </a:t>
            </a:r>
          </a:p>
          <a:p>
            <a:pPr>
              <a:buFont typeface="Wingdings" pitchFamily="2" charset="2"/>
              <a:buChar char="q"/>
            </a:pPr>
            <a:r>
              <a:rPr lang="en-IN" dirty="0"/>
              <a:t>The </a:t>
            </a:r>
            <a:r>
              <a:rPr lang="en-IN" b="1" dirty="0">
                <a:solidFill>
                  <a:srgbClr val="FF0000"/>
                </a:solidFill>
              </a:rPr>
              <a:t>sphenoid</a:t>
            </a:r>
            <a:r>
              <a:rPr lang="en-IN" b="1" dirty="0"/>
              <a:t> </a:t>
            </a:r>
            <a:r>
              <a:rPr lang="en-IN" b="1" dirty="0">
                <a:solidFill>
                  <a:srgbClr val="FF0000"/>
                </a:solidFill>
              </a:rPr>
              <a:t>sinuses</a:t>
            </a:r>
            <a:r>
              <a:rPr lang="en-IN" dirty="0"/>
              <a:t>, which are located in the sphenoid bone, are close to the optic nerves and an infection here can </a:t>
            </a:r>
            <a:r>
              <a:rPr lang="en-IN" u="sng" dirty="0"/>
              <a:t>damage vision</a:t>
            </a:r>
            <a:r>
              <a:rPr lang="en-IN" dirty="0"/>
              <a:t>. </a:t>
            </a:r>
          </a:p>
          <a:p>
            <a:pPr>
              <a:buFont typeface="Wingdings" pitchFamily="2" charset="2"/>
              <a:buChar char="q"/>
            </a:pPr>
            <a:r>
              <a:rPr lang="en-IN" dirty="0"/>
              <a:t>The </a:t>
            </a:r>
            <a:r>
              <a:rPr lang="en-IN" b="1" dirty="0">
                <a:solidFill>
                  <a:srgbClr val="FF0000"/>
                </a:solidFill>
              </a:rPr>
              <a:t>maxillary sinuses</a:t>
            </a:r>
            <a:r>
              <a:rPr lang="en-IN" dirty="0"/>
              <a:t>, which are the largest of the paranasal sinuses, are located in the maxillary bones. An infection in these sinuses can cause pain in the </a:t>
            </a:r>
            <a:r>
              <a:rPr lang="en-IN" u="sng" dirty="0"/>
              <a:t>posterior maxillary teeth</a:t>
            </a:r>
            <a:r>
              <a:rPr lang="en-IN" dirty="0"/>
              <a:t>. </a:t>
            </a:r>
          </a:p>
          <a:p>
            <a:pPr>
              <a:buFont typeface="Wingdings" pitchFamily="2" charset="2"/>
              <a:buChar char="q"/>
            </a:pPr>
            <a:r>
              <a:rPr lang="en-IN" dirty="0"/>
              <a:t>The </a:t>
            </a:r>
            <a:r>
              <a:rPr lang="en-IN" b="1" dirty="0">
                <a:solidFill>
                  <a:srgbClr val="FF0000"/>
                </a:solidFill>
              </a:rPr>
              <a:t>ethmoid sinuses</a:t>
            </a:r>
            <a:r>
              <a:rPr lang="en-IN" dirty="0"/>
              <a:t>, which are located in the ethmoid bones, are irregularly shaped air cells that are separated from the orbital (eye) cavity by only a thin layer of bone.</a:t>
            </a:r>
          </a:p>
          <a:p>
            <a:endParaRPr lang="en-IN" dirty="0"/>
          </a:p>
        </p:txBody>
      </p:sp>
    </p:spTree>
    <p:extLst>
      <p:ext uri="{BB962C8B-B14F-4D97-AF65-F5344CB8AC3E}">
        <p14:creationId xmlns:p14="http://schemas.microsoft.com/office/powerpoint/2010/main" val="3643504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34818-A3E5-0C12-AB1E-18479AA47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7AF39-E896-2892-4514-D9EF01B8737B}"/>
              </a:ext>
            </a:extLst>
          </p:cNvPr>
          <p:cNvSpPr>
            <a:spLocks noGrp="1"/>
          </p:cNvSpPr>
          <p:nvPr>
            <p:ph type="title"/>
          </p:nvPr>
        </p:nvSpPr>
        <p:spPr/>
        <p:txBody>
          <a:bodyPr/>
          <a:lstStyle/>
          <a:p>
            <a:r>
              <a:rPr lang="en-US" dirty="0"/>
              <a:t>Pharynx </a:t>
            </a:r>
            <a:endParaRPr lang="en-IN" dirty="0"/>
          </a:p>
        </p:txBody>
      </p:sp>
      <p:sp>
        <p:nvSpPr>
          <p:cNvPr id="3" name="Content Placeholder 2">
            <a:extLst>
              <a:ext uri="{FF2B5EF4-FFF2-40B4-BE49-F238E27FC236}">
                <a16:creationId xmlns:a16="http://schemas.microsoft.com/office/drawing/2014/main" id="{7C4B54AD-8CE0-56A1-572E-57ACCAB7875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pharynx is a muscular, </a:t>
            </a:r>
            <a:r>
              <a:rPr lang="en-US" b="1" dirty="0">
                <a:solidFill>
                  <a:srgbClr val="C00000"/>
                </a:solidFill>
                <a:latin typeface="Times New Roman" panose="02020603050405020304" pitchFamily="18" charset="0"/>
                <a:cs typeface="Times New Roman" panose="02020603050405020304" pitchFamily="18" charset="0"/>
              </a:rPr>
              <a:t>funnel-shaped tube </a:t>
            </a:r>
            <a:r>
              <a:rPr lang="en-US" dirty="0">
                <a:latin typeface="Times New Roman" panose="02020603050405020304" pitchFamily="18" charset="0"/>
                <a:cs typeface="Times New Roman" panose="02020603050405020304" pitchFamily="18" charset="0"/>
              </a:rPr>
              <a:t>approximately 12–14 cm long, located in the midline of the neck.</a:t>
            </a:r>
          </a:p>
          <a:p>
            <a:r>
              <a:rPr lang="en-IN" dirty="0"/>
              <a:t>The posterior portion of the nasal and oral cavities open into a region called the pharynx.</a:t>
            </a:r>
          </a:p>
          <a:p>
            <a:r>
              <a:rPr lang="en-IN" dirty="0">
                <a:solidFill>
                  <a:srgbClr val="C00000"/>
                </a:solidFill>
              </a:rPr>
              <a:t>NASOPHARYNX</a:t>
            </a:r>
            <a:r>
              <a:rPr lang="en-IN" dirty="0"/>
              <a:t> – situated behind the nasal cavity and above the soft palate.				</a:t>
            </a:r>
          </a:p>
          <a:p>
            <a:r>
              <a:rPr lang="en-IN" dirty="0">
                <a:solidFill>
                  <a:srgbClr val="C00000"/>
                </a:solidFill>
              </a:rPr>
              <a:t>OROPHARYNX</a:t>
            </a:r>
            <a:r>
              <a:rPr lang="en-IN" dirty="0"/>
              <a:t> –posterior region of the oral cavity that spans the space between uvula and upper rim of epiglottis. 	</a:t>
            </a:r>
          </a:p>
          <a:p>
            <a:r>
              <a:rPr lang="en-IN" dirty="0">
                <a:solidFill>
                  <a:srgbClr val="C00000"/>
                </a:solidFill>
              </a:rPr>
              <a:t>HYPOPHARYNX</a:t>
            </a:r>
            <a:r>
              <a:rPr lang="en-IN" dirty="0"/>
              <a:t> –extends from the upper rim of epiglottis to the opening between the vocal cords. 	</a:t>
            </a:r>
          </a:p>
          <a:p>
            <a:endParaRPr lang="en-IN" dirty="0"/>
          </a:p>
        </p:txBody>
      </p:sp>
    </p:spTree>
    <p:extLst>
      <p:ext uri="{BB962C8B-B14F-4D97-AF65-F5344CB8AC3E}">
        <p14:creationId xmlns:p14="http://schemas.microsoft.com/office/powerpoint/2010/main" val="3407328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B1E82-5ADA-D8BC-D507-0AD92E78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F57B2-7B02-764D-5ADF-24C04CB7A22E}"/>
              </a:ext>
            </a:extLst>
          </p:cNvPr>
          <p:cNvSpPr>
            <a:spLocks noGrp="1"/>
          </p:cNvSpPr>
          <p:nvPr>
            <p:ph type="title"/>
          </p:nvPr>
        </p:nvSpPr>
        <p:spPr/>
        <p:txBody>
          <a:bodyPr/>
          <a:lstStyle/>
          <a:p>
            <a:r>
              <a:rPr lang="en-US" dirty="0"/>
              <a:t>Pharynx </a:t>
            </a:r>
            <a:endParaRPr lang="en-IN" dirty="0"/>
          </a:p>
        </p:txBody>
      </p:sp>
      <p:sp>
        <p:nvSpPr>
          <p:cNvPr id="3" name="Content Placeholder 2">
            <a:extLst>
              <a:ext uri="{FF2B5EF4-FFF2-40B4-BE49-F238E27FC236}">
                <a16:creationId xmlns:a16="http://schemas.microsoft.com/office/drawing/2014/main" id="{65A0154B-5A2C-AFAE-7348-201198BEA0A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pharynx is a muscular, </a:t>
            </a:r>
            <a:r>
              <a:rPr lang="en-US" b="1" dirty="0">
                <a:solidFill>
                  <a:srgbClr val="C00000"/>
                </a:solidFill>
                <a:latin typeface="Times New Roman" panose="02020603050405020304" pitchFamily="18" charset="0"/>
                <a:cs typeface="Times New Roman" panose="02020603050405020304" pitchFamily="18" charset="0"/>
              </a:rPr>
              <a:t>funnel-shaped tube </a:t>
            </a:r>
            <a:r>
              <a:rPr lang="en-US" dirty="0">
                <a:latin typeface="Times New Roman" panose="02020603050405020304" pitchFamily="18" charset="0"/>
                <a:cs typeface="Times New Roman" panose="02020603050405020304" pitchFamily="18" charset="0"/>
              </a:rPr>
              <a:t>approximately 12–14 cm long, located in the midline of the neck.</a:t>
            </a:r>
          </a:p>
          <a:p>
            <a:r>
              <a:rPr lang="en-IN" dirty="0"/>
              <a:t>The posterior portion of the nasal and oral cavities open into a region called the pharynx.</a:t>
            </a:r>
          </a:p>
          <a:p>
            <a:pPr marL="0" indent="0">
              <a:buNone/>
            </a:pPr>
            <a:r>
              <a:rPr lang="en-IN" dirty="0">
                <a:solidFill>
                  <a:srgbClr val="C00000"/>
                </a:solidFill>
              </a:rPr>
              <a:t>NASOPHARYNX</a:t>
            </a:r>
            <a:r>
              <a:rPr lang="en-IN" dirty="0"/>
              <a:t> – situated behind the nasal cavity and above the soft palate.				</a:t>
            </a:r>
          </a:p>
          <a:p>
            <a:pPr marL="0" indent="0">
              <a:buNone/>
            </a:pPr>
            <a:r>
              <a:rPr lang="en-IN" dirty="0">
                <a:solidFill>
                  <a:srgbClr val="C00000"/>
                </a:solidFill>
              </a:rPr>
              <a:t>OROPHARYNX</a:t>
            </a:r>
            <a:r>
              <a:rPr lang="en-IN" dirty="0"/>
              <a:t> –posterior region of the oral cavity that spans the space between uvula and upper rim of epiglottis. 	</a:t>
            </a:r>
          </a:p>
          <a:p>
            <a:pPr marL="0" indent="0">
              <a:buNone/>
            </a:pPr>
            <a:r>
              <a:rPr lang="en-IN" dirty="0">
                <a:solidFill>
                  <a:srgbClr val="C00000"/>
                </a:solidFill>
              </a:rPr>
              <a:t>HYPOPHARYNX</a:t>
            </a:r>
            <a:r>
              <a:rPr lang="en-IN" dirty="0"/>
              <a:t> –extends from the upper rim of epiglottis to the opening between the vocal cord</a:t>
            </a:r>
          </a:p>
          <a:p>
            <a:r>
              <a:rPr lang="en-GB" dirty="0"/>
              <a:t>The laryngopharynx is lined with </a:t>
            </a:r>
            <a:r>
              <a:rPr lang="en-IN" dirty="0"/>
              <a:t>non ciliated stratified squamous epithelium.</a:t>
            </a:r>
          </a:p>
          <a:p>
            <a:r>
              <a:rPr lang="en-GB" dirty="0"/>
              <a:t>The laryngopharynx plays a crucial role in preventing aspiration; that is, stopping food and liquid particles from entering the airway</a:t>
            </a:r>
            <a:endParaRPr lang="en-IN" dirty="0"/>
          </a:p>
          <a:p>
            <a:endParaRPr lang="en-IN" dirty="0"/>
          </a:p>
          <a:p>
            <a:endParaRPr lang="en-IN" dirty="0"/>
          </a:p>
        </p:txBody>
      </p:sp>
    </p:spTree>
    <p:extLst>
      <p:ext uri="{BB962C8B-B14F-4D97-AF65-F5344CB8AC3E}">
        <p14:creationId xmlns:p14="http://schemas.microsoft.com/office/powerpoint/2010/main" val="4170297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1D9FF-49C0-2631-4427-77C90B3C7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4BB8E-75E2-6051-E328-E6BCF793E5F3}"/>
              </a:ext>
            </a:extLst>
          </p:cNvPr>
          <p:cNvSpPr>
            <a:spLocks noGrp="1"/>
          </p:cNvSpPr>
          <p:nvPr>
            <p:ph type="title"/>
          </p:nvPr>
        </p:nvSpPr>
        <p:spPr/>
        <p:txBody>
          <a:bodyPr/>
          <a:lstStyle/>
          <a:p>
            <a:r>
              <a:rPr lang="en-US" dirty="0"/>
              <a:t>Larynx </a:t>
            </a:r>
            <a:endParaRPr lang="en-IN" dirty="0"/>
          </a:p>
        </p:txBody>
      </p:sp>
      <p:sp>
        <p:nvSpPr>
          <p:cNvPr id="3" name="Content Placeholder 2">
            <a:extLst>
              <a:ext uri="{FF2B5EF4-FFF2-40B4-BE49-F238E27FC236}">
                <a16:creationId xmlns:a16="http://schemas.microsoft.com/office/drawing/2014/main" id="{DD642471-FB2C-EA7F-DF79-827B181B92BF}"/>
              </a:ext>
            </a:extLst>
          </p:cNvPr>
          <p:cNvSpPr>
            <a:spLocks noGrp="1"/>
          </p:cNvSpPr>
          <p:nvPr>
            <p:ph idx="1"/>
          </p:nvPr>
        </p:nvSpPr>
        <p:spPr/>
        <p:txBody>
          <a:bodyPr>
            <a:normAutofit fontScale="92500" lnSpcReduction="10000"/>
          </a:bodyPr>
          <a:lstStyle/>
          <a:p>
            <a:pPr marL="360000" indent="-360000" algn="just">
              <a:spcAft>
                <a:spcPts val="1200"/>
              </a:spcAft>
              <a:buFont typeface="Wingdings" pitchFamily="2" charset="2"/>
              <a:buChar char="q"/>
            </a:pPr>
            <a:r>
              <a:rPr lang="en-IN" dirty="0"/>
              <a:t>The </a:t>
            </a:r>
            <a:r>
              <a:rPr lang="en-IN" b="1" dirty="0">
                <a:solidFill>
                  <a:srgbClr val="FF0000"/>
                </a:solidFill>
              </a:rPr>
              <a:t>larynx</a:t>
            </a:r>
            <a:r>
              <a:rPr lang="en-IN" dirty="0"/>
              <a:t> (LAR-inks), also known as the voice box, is a triangular chamber located between the pharynx and the trachea. </a:t>
            </a:r>
          </a:p>
          <a:p>
            <a:pPr marL="360000" indent="-360000" algn="just">
              <a:spcAft>
                <a:spcPts val="1200"/>
              </a:spcAft>
              <a:buFont typeface="Wingdings" pitchFamily="2" charset="2"/>
              <a:buChar char="q"/>
            </a:pPr>
            <a:r>
              <a:rPr lang="en-IN" dirty="0"/>
              <a:t>The larynx is protected and supported by a series of nine separate cartilages. The </a:t>
            </a:r>
            <a:r>
              <a:rPr lang="en-IN" b="1" u="sng" dirty="0"/>
              <a:t>thyroid cartilage </a:t>
            </a:r>
            <a:r>
              <a:rPr lang="en-IN" dirty="0"/>
              <a:t>is the largest, and when enlarged, it is commonly known as the </a:t>
            </a:r>
            <a:r>
              <a:rPr lang="en-IN" b="1" u="sng" dirty="0">
                <a:solidFill>
                  <a:srgbClr val="FF0000"/>
                </a:solidFill>
              </a:rPr>
              <a:t>Adam’s apple</a:t>
            </a:r>
            <a:r>
              <a:rPr lang="en-IN" dirty="0"/>
              <a:t>. </a:t>
            </a:r>
          </a:p>
          <a:p>
            <a:pPr marL="360000" indent="-360000" algn="just">
              <a:spcAft>
                <a:spcPts val="1200"/>
              </a:spcAft>
              <a:buFont typeface="Wingdings" pitchFamily="2" charset="2"/>
              <a:buChar char="q"/>
            </a:pPr>
            <a:r>
              <a:rPr lang="en-IN" dirty="0"/>
              <a:t>The larynx contains the </a:t>
            </a:r>
            <a:r>
              <a:rPr lang="en-IN" b="1" u="sng" dirty="0">
                <a:solidFill>
                  <a:srgbClr val="FF0000"/>
                </a:solidFill>
              </a:rPr>
              <a:t>vocal cords (glottis)</a:t>
            </a:r>
            <a:r>
              <a:rPr lang="en-IN" dirty="0">
                <a:solidFill>
                  <a:srgbClr val="FF0000"/>
                </a:solidFill>
              </a:rPr>
              <a:t>. </a:t>
            </a:r>
            <a:r>
              <a:rPr lang="en-IN" dirty="0"/>
              <a:t>During breathing, the cords are separated to let air pass. During speech, they close together, and sound is produced as air is expelled from the lungs, causing the cords to vibrate against each other.</a:t>
            </a:r>
          </a:p>
          <a:p>
            <a:pPr marL="360000" indent="-360000" algn="just">
              <a:spcAft>
                <a:spcPts val="1200"/>
              </a:spcAft>
              <a:buFont typeface="Wingdings" pitchFamily="2" charset="2"/>
              <a:buChar char="q"/>
            </a:pPr>
            <a:r>
              <a:rPr lang="en-US" dirty="0"/>
              <a:t>The base of the tongue is attached to the epiglottis, these folds form a space between the tongue and epiglottis called </a:t>
            </a:r>
            <a:r>
              <a:rPr lang="en-US" b="1" dirty="0"/>
              <a:t>VALLECULLA,</a:t>
            </a:r>
            <a:r>
              <a:rPr lang="en-US" dirty="0"/>
              <a:t> key for oral intubation</a:t>
            </a:r>
          </a:p>
          <a:p>
            <a:pPr marL="360000" indent="-360000" algn="just">
              <a:spcAft>
                <a:spcPts val="1200"/>
              </a:spcAft>
              <a:buFont typeface="Wingdings" pitchFamily="2" charset="2"/>
              <a:buChar char="q"/>
            </a:pPr>
            <a:r>
              <a:rPr lang="en-GB" dirty="0"/>
              <a:t>The inside cavity of the larynx can be divided into 3 sections- The </a:t>
            </a:r>
            <a:r>
              <a:rPr lang="en-GB" dirty="0" err="1"/>
              <a:t>supraglottis</a:t>
            </a:r>
            <a:r>
              <a:rPr lang="en-GB" dirty="0"/>
              <a:t> (the area above the vocal cords) The glottis (the area that includes the vocal cords) The </a:t>
            </a:r>
            <a:r>
              <a:rPr lang="en-GB" dirty="0" err="1"/>
              <a:t>subglottis</a:t>
            </a:r>
            <a:r>
              <a:rPr lang="en-GB" dirty="0"/>
              <a:t> (the area below the vocal cords)</a:t>
            </a:r>
          </a:p>
          <a:p>
            <a:pPr marL="0" indent="0" algn="just">
              <a:spcAft>
                <a:spcPts val="1200"/>
              </a:spcAft>
              <a:buNone/>
            </a:pPr>
            <a:endParaRPr lang="en-IN" dirty="0"/>
          </a:p>
          <a:p>
            <a:endParaRPr lang="en-IN" dirty="0"/>
          </a:p>
          <a:p>
            <a:endParaRPr lang="en-IN" dirty="0"/>
          </a:p>
        </p:txBody>
      </p:sp>
    </p:spTree>
    <p:extLst>
      <p:ext uri="{BB962C8B-B14F-4D97-AF65-F5344CB8AC3E}">
        <p14:creationId xmlns:p14="http://schemas.microsoft.com/office/powerpoint/2010/main" val="2414303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78252-FD88-065E-00F9-A94AEB7AF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0E1C9-2855-E05C-B3AD-0A742F57FB7A}"/>
              </a:ext>
            </a:extLst>
          </p:cNvPr>
          <p:cNvSpPr>
            <a:spLocks noGrp="1"/>
          </p:cNvSpPr>
          <p:nvPr>
            <p:ph type="title"/>
          </p:nvPr>
        </p:nvSpPr>
        <p:spPr/>
        <p:txBody>
          <a:bodyPr/>
          <a:lstStyle/>
          <a:p>
            <a:r>
              <a:rPr lang="en-US" dirty="0"/>
              <a:t>trachea</a:t>
            </a:r>
            <a:endParaRPr lang="en-IN" dirty="0"/>
          </a:p>
        </p:txBody>
      </p:sp>
      <p:sp>
        <p:nvSpPr>
          <p:cNvPr id="3" name="Content Placeholder 2">
            <a:extLst>
              <a:ext uri="{FF2B5EF4-FFF2-40B4-BE49-F238E27FC236}">
                <a16:creationId xmlns:a16="http://schemas.microsoft.com/office/drawing/2014/main" id="{742CCAEC-4C19-E04A-2475-EC4C2CA5CCF2}"/>
              </a:ext>
            </a:extLst>
          </p:cNvPr>
          <p:cNvSpPr>
            <a:spLocks noGrp="1"/>
          </p:cNvSpPr>
          <p:nvPr>
            <p:ph idx="1"/>
          </p:nvPr>
        </p:nvSpPr>
        <p:spPr/>
        <p:txBody>
          <a:bodyPr>
            <a:normAutofit/>
          </a:bodyPr>
          <a:lstStyle/>
          <a:p>
            <a:pPr marL="360000" indent="-360000" algn="just">
              <a:spcBef>
                <a:spcPts val="1200"/>
              </a:spcBef>
              <a:spcAft>
                <a:spcPts val="1200"/>
              </a:spcAft>
              <a:buFont typeface="Wingdings" pitchFamily="2" charset="2"/>
              <a:buChar char="q"/>
            </a:pPr>
            <a:r>
              <a:rPr lang="en-IN" dirty="0"/>
              <a:t>The </a:t>
            </a:r>
            <a:r>
              <a:rPr lang="en-IN" b="1" dirty="0">
                <a:solidFill>
                  <a:srgbClr val="FF0000"/>
                </a:solidFill>
              </a:rPr>
              <a:t>trachea</a:t>
            </a:r>
            <a:r>
              <a:rPr lang="en-IN" dirty="0"/>
              <a:t> (TRAY-</a:t>
            </a:r>
            <a:r>
              <a:rPr lang="en-IN" dirty="0" err="1"/>
              <a:t>kee</a:t>
            </a:r>
            <a:r>
              <a:rPr lang="en-IN" dirty="0"/>
              <a:t>-ah), commonly known as the </a:t>
            </a:r>
            <a:r>
              <a:rPr lang="en-IN" b="1" u="sng" dirty="0"/>
              <a:t>windpipe</a:t>
            </a:r>
            <a:r>
              <a:rPr lang="en-IN" dirty="0"/>
              <a:t>, is the tube located directly in front of the </a:t>
            </a:r>
            <a:r>
              <a:rPr lang="en-IN" dirty="0" err="1"/>
              <a:t>esophagus</a:t>
            </a:r>
            <a:r>
              <a:rPr lang="en-IN" dirty="0"/>
              <a:t> that extends from the neck to the chest. Its role is to transport air to, and from, the lungs.</a:t>
            </a:r>
          </a:p>
          <a:p>
            <a:pPr marL="360000" indent="-360000" algn="just">
              <a:spcBef>
                <a:spcPts val="1200"/>
              </a:spcBef>
              <a:spcAft>
                <a:spcPts val="1200"/>
              </a:spcAft>
              <a:buFont typeface="Wingdings" pitchFamily="2" charset="2"/>
              <a:buChar char="q"/>
            </a:pPr>
            <a:r>
              <a:rPr lang="en-IN" dirty="0"/>
              <a:t>The trachea is held open by a series of </a:t>
            </a:r>
            <a:r>
              <a:rPr lang="en-IN" b="1" u="sng" dirty="0">
                <a:solidFill>
                  <a:srgbClr val="FF0000"/>
                </a:solidFill>
              </a:rPr>
              <a:t>C-shaped cartilage rings</a:t>
            </a:r>
            <a:r>
              <a:rPr lang="en-IN" dirty="0">
                <a:solidFill>
                  <a:srgbClr val="FF0000"/>
                </a:solidFill>
              </a:rPr>
              <a:t>. </a:t>
            </a:r>
            <a:r>
              <a:rPr lang="en-IN" dirty="0"/>
              <a:t>The wall between these rings is flexible, and this feature makes it possible for the trachea to adjust to different body positions.</a:t>
            </a:r>
          </a:p>
          <a:p>
            <a:pPr marL="0" indent="0" algn="just">
              <a:spcAft>
                <a:spcPts val="1200"/>
              </a:spcAft>
              <a:buNone/>
            </a:pPr>
            <a:endParaRPr lang="en-IN" dirty="0"/>
          </a:p>
          <a:p>
            <a:endParaRPr lang="en-IN" dirty="0"/>
          </a:p>
          <a:p>
            <a:endParaRPr lang="en-IN" dirty="0"/>
          </a:p>
        </p:txBody>
      </p:sp>
    </p:spTree>
    <p:extLst>
      <p:ext uri="{BB962C8B-B14F-4D97-AF65-F5344CB8AC3E}">
        <p14:creationId xmlns:p14="http://schemas.microsoft.com/office/powerpoint/2010/main" val="1607226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B8AA7-4DA6-AC49-A424-98354D392160}"/>
              </a:ext>
            </a:extLst>
          </p:cNvPr>
          <p:cNvSpPr>
            <a:spLocks noGrp="1"/>
          </p:cNvSpPr>
          <p:nvPr>
            <p:ph type="title"/>
          </p:nvPr>
        </p:nvSpPr>
        <p:spPr/>
        <p:txBody>
          <a:bodyPr/>
          <a:lstStyle/>
          <a:p>
            <a:r>
              <a:rPr lang="en-US" dirty="0"/>
              <a:t>Bronchi </a:t>
            </a:r>
            <a:endParaRPr lang="en-IN" dirty="0"/>
          </a:p>
        </p:txBody>
      </p:sp>
      <p:sp>
        <p:nvSpPr>
          <p:cNvPr id="3" name="Content Placeholder 2">
            <a:extLst>
              <a:ext uri="{FF2B5EF4-FFF2-40B4-BE49-F238E27FC236}">
                <a16:creationId xmlns:a16="http://schemas.microsoft.com/office/drawing/2014/main" id="{C387E878-71C9-9217-1AE1-DE6EF12C571E}"/>
              </a:ext>
            </a:extLst>
          </p:cNvPr>
          <p:cNvSpPr>
            <a:spLocks noGrp="1"/>
          </p:cNvSpPr>
          <p:nvPr>
            <p:ph idx="1"/>
          </p:nvPr>
        </p:nvSpPr>
        <p:spPr/>
        <p:txBody>
          <a:bodyPr/>
          <a:lstStyle/>
          <a:p>
            <a:pPr marL="360000" indent="-360000" algn="just">
              <a:spcAft>
                <a:spcPts val="1200"/>
              </a:spcAft>
              <a:buFont typeface="Wingdings" pitchFamily="2" charset="2"/>
              <a:buChar char="q"/>
            </a:pPr>
            <a:r>
              <a:rPr lang="en-IN" dirty="0"/>
              <a:t>The </a:t>
            </a:r>
            <a:r>
              <a:rPr lang="en-IN" b="1" dirty="0">
                <a:solidFill>
                  <a:srgbClr val="FF0000"/>
                </a:solidFill>
              </a:rPr>
              <a:t>bronchi</a:t>
            </a:r>
            <a:r>
              <a:rPr lang="en-IN" dirty="0"/>
              <a:t> (BRONG-kye) are formed where the trachea divides into two branches known as the primary bronchi (singular, bronchus). Because of the similarity of these branching structures to an inverted tree, this is referred to as the </a:t>
            </a:r>
            <a:r>
              <a:rPr lang="en-IN" b="1" dirty="0"/>
              <a:t>bronchial tree</a:t>
            </a:r>
            <a:r>
              <a:rPr lang="en-IN" dirty="0"/>
              <a:t> with one branch going into each lung.</a:t>
            </a:r>
          </a:p>
          <a:p>
            <a:pPr marL="360000" indent="-360000" algn="just">
              <a:spcAft>
                <a:spcPts val="1200"/>
              </a:spcAft>
              <a:buFont typeface="Wingdings" pitchFamily="2" charset="2"/>
              <a:buChar char="q"/>
            </a:pPr>
            <a:r>
              <a:rPr lang="en-IN" dirty="0"/>
              <a:t>Within the lung, each primary bronchus divides and subdivides into increasingly smaller bronchioles (BRONG-</a:t>
            </a:r>
            <a:r>
              <a:rPr lang="en-IN" dirty="0" err="1"/>
              <a:t>kee</a:t>
            </a:r>
            <a:r>
              <a:rPr lang="en-IN" dirty="0"/>
              <a:t>-</a:t>
            </a:r>
            <a:r>
              <a:rPr lang="en-IN" dirty="0" err="1"/>
              <a:t>ohlz</a:t>
            </a:r>
            <a:r>
              <a:rPr lang="en-IN" dirty="0"/>
              <a:t>), which are the smallest branches of the </a:t>
            </a:r>
            <a:r>
              <a:rPr lang="en-IN" b="1" dirty="0"/>
              <a:t>bronchi</a:t>
            </a:r>
            <a:r>
              <a:rPr lang="en-IN" dirty="0"/>
              <a:t>.</a:t>
            </a:r>
          </a:p>
          <a:p>
            <a:endParaRPr lang="en-IN" dirty="0"/>
          </a:p>
        </p:txBody>
      </p:sp>
    </p:spTree>
    <p:extLst>
      <p:ext uri="{BB962C8B-B14F-4D97-AF65-F5344CB8AC3E}">
        <p14:creationId xmlns:p14="http://schemas.microsoft.com/office/powerpoint/2010/main" val="3793861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DFCA4-7436-4FBC-B321-A39A693CE6AC}"/>
              </a:ext>
            </a:extLst>
          </p:cNvPr>
          <p:cNvSpPr>
            <a:spLocks noGrp="1"/>
          </p:cNvSpPr>
          <p:nvPr>
            <p:ph type="title"/>
          </p:nvPr>
        </p:nvSpPr>
        <p:spPr/>
        <p:txBody>
          <a:bodyPr/>
          <a:lstStyle/>
          <a:p>
            <a:r>
              <a:rPr lang="en-US" dirty="0"/>
              <a:t>Alveoli </a:t>
            </a:r>
            <a:endParaRPr lang="en-IN" dirty="0"/>
          </a:p>
        </p:txBody>
      </p:sp>
      <p:sp>
        <p:nvSpPr>
          <p:cNvPr id="3" name="Content Placeholder 2">
            <a:extLst>
              <a:ext uri="{FF2B5EF4-FFF2-40B4-BE49-F238E27FC236}">
                <a16:creationId xmlns:a16="http://schemas.microsoft.com/office/drawing/2014/main" id="{152E8E20-2CD2-6A75-BDF1-79038A0517A8}"/>
              </a:ext>
            </a:extLst>
          </p:cNvPr>
          <p:cNvSpPr>
            <a:spLocks noGrp="1"/>
          </p:cNvSpPr>
          <p:nvPr>
            <p:ph idx="1"/>
          </p:nvPr>
        </p:nvSpPr>
        <p:spPr/>
        <p:txBody>
          <a:bodyPr/>
          <a:lstStyle/>
          <a:p>
            <a:pPr marL="360000" indent="-360000" algn="just">
              <a:spcAft>
                <a:spcPts val="1200"/>
              </a:spcAft>
              <a:buFont typeface="Wingdings" pitchFamily="2" charset="2"/>
              <a:buChar char="q"/>
            </a:pPr>
            <a:r>
              <a:rPr lang="en-IN" b="1" dirty="0">
                <a:solidFill>
                  <a:srgbClr val="FF0000"/>
                </a:solidFill>
              </a:rPr>
              <a:t>Alveoli</a:t>
            </a:r>
            <a:r>
              <a:rPr lang="en-IN" dirty="0"/>
              <a:t> (al-VEE-oh-lye), also known as air sacs, are the very small grape-like clusters found at the end of each bronchiole (</a:t>
            </a:r>
            <a:r>
              <a:rPr lang="en-IN" u="sng" dirty="0"/>
              <a:t>singular, alveolus</a:t>
            </a:r>
            <a:r>
              <a:rPr lang="en-IN" dirty="0"/>
              <a:t>). Each lung contains millions of alveoli that are filled with air from the bronchioles.</a:t>
            </a:r>
          </a:p>
          <a:p>
            <a:pPr marL="360000" indent="-360000" algn="just">
              <a:spcAft>
                <a:spcPts val="1200"/>
              </a:spcAft>
              <a:buFont typeface="Wingdings" pitchFamily="2" charset="2"/>
              <a:buChar char="q"/>
            </a:pPr>
            <a:r>
              <a:rPr lang="en-IN" dirty="0"/>
              <a:t>A network of microscopic pulmonary capillaries surrounds the thin, elastic walls of the alveoli. </a:t>
            </a:r>
          </a:p>
          <a:p>
            <a:pPr marL="360000" indent="-360000" algn="just">
              <a:spcAft>
                <a:spcPts val="1200"/>
              </a:spcAft>
              <a:buFont typeface="Wingdings" pitchFamily="2" charset="2"/>
              <a:buChar char="q"/>
            </a:pPr>
            <a:r>
              <a:rPr lang="en-IN" dirty="0"/>
              <a:t>During respiration, the exchange of oxygen and carbon dioxide between the alveolar air and the pulmonary capillary blood occurs through the walls of the alveoli</a:t>
            </a:r>
          </a:p>
        </p:txBody>
      </p:sp>
    </p:spTree>
    <p:extLst>
      <p:ext uri="{BB962C8B-B14F-4D97-AF65-F5344CB8AC3E}">
        <p14:creationId xmlns:p14="http://schemas.microsoft.com/office/powerpoint/2010/main" val="714652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A09D3-155C-2688-4089-A1D9DFC261B5}"/>
              </a:ext>
            </a:extLst>
          </p:cNvPr>
          <p:cNvSpPr>
            <a:spLocks noGrp="1"/>
          </p:cNvSpPr>
          <p:nvPr>
            <p:ph type="title"/>
          </p:nvPr>
        </p:nvSpPr>
        <p:spPr/>
        <p:txBody>
          <a:bodyPr/>
          <a:lstStyle/>
          <a:p>
            <a:r>
              <a:rPr lang="en-US" dirty="0"/>
              <a:t>Lungs </a:t>
            </a:r>
            <a:endParaRPr lang="en-IN" dirty="0"/>
          </a:p>
        </p:txBody>
      </p:sp>
      <p:sp>
        <p:nvSpPr>
          <p:cNvPr id="3" name="Content Placeholder 2">
            <a:extLst>
              <a:ext uri="{FF2B5EF4-FFF2-40B4-BE49-F238E27FC236}">
                <a16:creationId xmlns:a16="http://schemas.microsoft.com/office/drawing/2014/main" id="{D14B1A6E-E0B8-4901-3B04-238D293D2D11}"/>
              </a:ext>
            </a:extLst>
          </p:cNvPr>
          <p:cNvSpPr>
            <a:spLocks noGrp="1"/>
          </p:cNvSpPr>
          <p:nvPr>
            <p:ph idx="1"/>
          </p:nvPr>
        </p:nvSpPr>
        <p:spPr/>
        <p:txBody>
          <a:bodyPr/>
          <a:lstStyle/>
          <a:p>
            <a:pPr algn="just">
              <a:buFont typeface="Wingdings" pitchFamily="2" charset="2"/>
              <a:buChar char="q"/>
            </a:pPr>
            <a:r>
              <a:rPr lang="en-IN" dirty="0"/>
              <a:t>The lungs, which are the organs of respiration, are divided into lobes. A lobe is a subdivision or part of an organ. </a:t>
            </a:r>
          </a:p>
          <a:p>
            <a:pPr algn="just">
              <a:buFont typeface="Wingdings" pitchFamily="2" charset="2"/>
              <a:buChar char="q"/>
            </a:pPr>
            <a:r>
              <a:rPr lang="en-IN" dirty="0"/>
              <a:t>The right lung has three lobes: the superior, middle, and inferior. </a:t>
            </a:r>
          </a:p>
          <a:p>
            <a:pPr algn="just">
              <a:buFont typeface="Wingdings" pitchFamily="2" charset="2"/>
              <a:buChar char="q"/>
            </a:pPr>
            <a:r>
              <a:rPr lang="en-IN" dirty="0"/>
              <a:t>The left lung has only two lobes: the superior and inferior. It is slightly smaller than the right lung because of the space taken up by the heart.</a:t>
            </a:r>
          </a:p>
          <a:p>
            <a:pPr algn="just">
              <a:buFont typeface="Wingdings" pitchFamily="2" charset="2"/>
              <a:buChar char="q"/>
            </a:pPr>
            <a:r>
              <a:rPr lang="en-IN" dirty="0"/>
              <a:t>The lungs produce a detergent-like substance, known as a surfactant, which reduces the surface tension of the lungs. This allows air to flow over the lungs and be absorbed more easily.</a:t>
            </a:r>
          </a:p>
          <a:p>
            <a:endParaRPr lang="en-IN" dirty="0"/>
          </a:p>
        </p:txBody>
      </p:sp>
    </p:spTree>
    <p:extLst>
      <p:ext uri="{BB962C8B-B14F-4D97-AF65-F5344CB8AC3E}">
        <p14:creationId xmlns:p14="http://schemas.microsoft.com/office/powerpoint/2010/main" val="583001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005D4-F9B3-626A-87BF-406035E9D9E7}"/>
              </a:ext>
            </a:extLst>
          </p:cNvPr>
          <p:cNvSpPr>
            <a:spLocks noGrp="1"/>
          </p:cNvSpPr>
          <p:nvPr>
            <p:ph type="title"/>
          </p:nvPr>
        </p:nvSpPr>
        <p:spPr/>
        <p:txBody>
          <a:bodyPr/>
          <a:lstStyle/>
          <a:p>
            <a:r>
              <a:rPr lang="en-US" dirty="0"/>
              <a:t>Mediastinum </a:t>
            </a:r>
            <a:endParaRPr lang="en-IN" dirty="0"/>
          </a:p>
        </p:txBody>
      </p:sp>
      <p:sp>
        <p:nvSpPr>
          <p:cNvPr id="3" name="Content Placeholder 2">
            <a:extLst>
              <a:ext uri="{FF2B5EF4-FFF2-40B4-BE49-F238E27FC236}">
                <a16:creationId xmlns:a16="http://schemas.microsoft.com/office/drawing/2014/main" id="{5D461443-F4A2-03B7-21B5-AEFA0768FFE9}"/>
              </a:ext>
            </a:extLst>
          </p:cNvPr>
          <p:cNvSpPr>
            <a:spLocks noGrp="1"/>
          </p:cNvSpPr>
          <p:nvPr>
            <p:ph idx="1"/>
          </p:nvPr>
        </p:nvSpPr>
        <p:spPr/>
        <p:txBody>
          <a:bodyPr/>
          <a:lstStyle/>
          <a:p>
            <a:r>
              <a:rPr lang="en-IN" dirty="0"/>
              <a:t>The </a:t>
            </a:r>
            <a:r>
              <a:rPr lang="en-IN" b="1" dirty="0">
                <a:solidFill>
                  <a:srgbClr val="FF0000"/>
                </a:solidFill>
              </a:rPr>
              <a:t>Mediastinum</a:t>
            </a:r>
            <a:r>
              <a:rPr lang="en-IN" dirty="0"/>
              <a:t> (mee-dee-as-TYE-</a:t>
            </a:r>
            <a:r>
              <a:rPr lang="en-IN" dirty="0" err="1"/>
              <a:t>num</a:t>
            </a:r>
            <a:r>
              <a:rPr lang="en-IN" dirty="0"/>
              <a:t>) is the cavity located between the lungs. This cavity contains connective tissue and organs, including the heart and its veins and arteries, the </a:t>
            </a:r>
            <a:r>
              <a:rPr lang="en-IN" dirty="0" err="1"/>
              <a:t>esophagus</a:t>
            </a:r>
            <a:r>
              <a:rPr lang="en-IN" dirty="0"/>
              <a:t>, trachea, bronchi, the thymus gland, and lymph nodes.</a:t>
            </a:r>
          </a:p>
          <a:p>
            <a:endParaRPr lang="en-IN" dirty="0"/>
          </a:p>
        </p:txBody>
      </p:sp>
    </p:spTree>
    <p:extLst>
      <p:ext uri="{BB962C8B-B14F-4D97-AF65-F5344CB8AC3E}">
        <p14:creationId xmlns:p14="http://schemas.microsoft.com/office/powerpoint/2010/main" val="3245767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3179C-3D2D-1F0A-DF77-3A2E767723D7}"/>
              </a:ext>
            </a:extLst>
          </p:cNvPr>
          <p:cNvSpPr>
            <a:spLocks noGrp="1"/>
          </p:cNvSpPr>
          <p:nvPr>
            <p:ph type="title"/>
          </p:nvPr>
        </p:nvSpPr>
        <p:spPr/>
        <p:txBody>
          <a:bodyPr/>
          <a:lstStyle/>
          <a:p>
            <a:r>
              <a:rPr lang="en-US" dirty="0"/>
              <a:t>Pleura </a:t>
            </a:r>
            <a:endParaRPr lang="en-IN" dirty="0"/>
          </a:p>
        </p:txBody>
      </p:sp>
      <p:sp>
        <p:nvSpPr>
          <p:cNvPr id="3" name="Content Placeholder 2">
            <a:extLst>
              <a:ext uri="{FF2B5EF4-FFF2-40B4-BE49-F238E27FC236}">
                <a16:creationId xmlns:a16="http://schemas.microsoft.com/office/drawing/2014/main" id="{7F8BB4AD-FC3F-1B05-C7BF-1F4539D51C72}"/>
              </a:ext>
            </a:extLst>
          </p:cNvPr>
          <p:cNvSpPr>
            <a:spLocks noGrp="1"/>
          </p:cNvSpPr>
          <p:nvPr>
            <p:ph idx="1"/>
          </p:nvPr>
        </p:nvSpPr>
        <p:spPr/>
        <p:txBody>
          <a:bodyPr/>
          <a:lstStyle/>
          <a:p>
            <a:pPr marL="360000" indent="-360000" algn="just">
              <a:spcBef>
                <a:spcPts val="0"/>
              </a:spcBef>
              <a:buFont typeface="Wingdings" pitchFamily="2" charset="2"/>
              <a:buChar char="q"/>
            </a:pPr>
            <a:r>
              <a:rPr lang="en-IN" dirty="0"/>
              <a:t>The pleura (PLOOR-ah) is a thin, moist, and slippery membrane that covers the outer surface of the lungs and lines the inner surface of the rib cage. </a:t>
            </a:r>
          </a:p>
          <a:p>
            <a:pPr marL="360000" indent="-360000" algn="just">
              <a:spcBef>
                <a:spcPts val="0"/>
              </a:spcBef>
              <a:buFont typeface="Wingdings" pitchFamily="2" charset="2"/>
              <a:buChar char="q"/>
            </a:pPr>
            <a:r>
              <a:rPr lang="en-IN" dirty="0"/>
              <a:t>The </a:t>
            </a:r>
            <a:r>
              <a:rPr lang="en-IN" b="1" dirty="0">
                <a:solidFill>
                  <a:srgbClr val="FF0000"/>
                </a:solidFill>
              </a:rPr>
              <a:t>Parietal pleura </a:t>
            </a:r>
            <a:r>
              <a:rPr lang="en-IN" dirty="0"/>
              <a:t>(</a:t>
            </a:r>
            <a:r>
              <a:rPr lang="en-IN" dirty="0" err="1"/>
              <a:t>pah</a:t>
            </a:r>
            <a:r>
              <a:rPr lang="en-IN" dirty="0"/>
              <a:t>-RYE-eh-</a:t>
            </a:r>
            <a:r>
              <a:rPr lang="en-IN" dirty="0" err="1"/>
              <a:t>tal</a:t>
            </a:r>
            <a:r>
              <a:rPr lang="en-IN" dirty="0"/>
              <a:t>) is the outer layer of the pleura that lines the walls of the thoracic cavity, covers the diaphragm, and forms the sac containing each lung. Parietal means relating to the walls of a cavity. </a:t>
            </a:r>
          </a:p>
          <a:p>
            <a:pPr marL="360000" indent="-360000" algn="just">
              <a:spcBef>
                <a:spcPts val="0"/>
              </a:spcBef>
              <a:buFont typeface="Wingdings" pitchFamily="2" charset="2"/>
              <a:buChar char="q"/>
            </a:pPr>
            <a:r>
              <a:rPr lang="en-IN" dirty="0"/>
              <a:t>The </a:t>
            </a:r>
            <a:r>
              <a:rPr lang="en-IN" b="1" dirty="0">
                <a:solidFill>
                  <a:srgbClr val="FF0000"/>
                </a:solidFill>
              </a:rPr>
              <a:t>Visceral pleura </a:t>
            </a:r>
            <a:r>
              <a:rPr lang="en-IN" dirty="0"/>
              <a:t>(VIS-er-al) is the inner layer of pleura that surrounds each lung. Visceral means relating to the internal organs. </a:t>
            </a:r>
          </a:p>
          <a:p>
            <a:pPr marL="360000" indent="-360000" algn="just">
              <a:spcBef>
                <a:spcPts val="0"/>
              </a:spcBef>
              <a:buFont typeface="Wingdings" pitchFamily="2" charset="2"/>
              <a:buChar char="q"/>
            </a:pPr>
            <a:r>
              <a:rPr lang="en-IN" dirty="0"/>
              <a:t>The pleural cavity, also known as the </a:t>
            </a:r>
            <a:r>
              <a:rPr lang="en-IN" b="1" dirty="0"/>
              <a:t>pleural space</a:t>
            </a:r>
            <a:r>
              <a:rPr lang="en-IN" dirty="0"/>
              <a:t>, is the airtight area between the layers of the pleural membranes. This space contains a thin layer of fluid that allows the membranes to slide easily during breathing.</a:t>
            </a:r>
          </a:p>
          <a:p>
            <a:endParaRPr lang="en-IN" dirty="0"/>
          </a:p>
        </p:txBody>
      </p:sp>
    </p:spTree>
    <p:extLst>
      <p:ext uri="{BB962C8B-B14F-4D97-AF65-F5344CB8AC3E}">
        <p14:creationId xmlns:p14="http://schemas.microsoft.com/office/powerpoint/2010/main" val="1789106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90D7-750D-7B70-45A2-53B8A23DABBA}"/>
              </a:ext>
            </a:extLst>
          </p:cNvPr>
          <p:cNvSpPr>
            <a:spLocks noGrp="1"/>
          </p:cNvSpPr>
          <p:nvPr>
            <p:ph type="title"/>
          </p:nvPr>
        </p:nvSpPr>
        <p:spPr/>
        <p:txBody>
          <a:bodyPr/>
          <a:lstStyle/>
          <a:p>
            <a:r>
              <a:rPr lang="en-US" dirty="0"/>
              <a:t>Diaphragm </a:t>
            </a:r>
            <a:endParaRPr lang="en-IN" dirty="0"/>
          </a:p>
        </p:txBody>
      </p:sp>
      <p:sp>
        <p:nvSpPr>
          <p:cNvPr id="3" name="Content Placeholder 2">
            <a:extLst>
              <a:ext uri="{FF2B5EF4-FFF2-40B4-BE49-F238E27FC236}">
                <a16:creationId xmlns:a16="http://schemas.microsoft.com/office/drawing/2014/main" id="{7EDDE8F5-4A67-9B02-F570-AC74B7F8EB75}"/>
              </a:ext>
            </a:extLst>
          </p:cNvPr>
          <p:cNvSpPr>
            <a:spLocks noGrp="1"/>
          </p:cNvSpPr>
          <p:nvPr>
            <p:ph idx="1"/>
          </p:nvPr>
        </p:nvSpPr>
        <p:spPr/>
        <p:txBody>
          <a:bodyPr/>
          <a:lstStyle/>
          <a:p>
            <a:r>
              <a:rPr lang="en-IN" dirty="0"/>
              <a:t>The </a:t>
            </a:r>
            <a:r>
              <a:rPr lang="en-IN" b="1" dirty="0">
                <a:solidFill>
                  <a:srgbClr val="FF0000"/>
                </a:solidFill>
              </a:rPr>
              <a:t>diaphragm</a:t>
            </a:r>
            <a:r>
              <a:rPr lang="en-IN" dirty="0"/>
              <a:t> (DYE-ah-</a:t>
            </a:r>
            <a:r>
              <a:rPr lang="en-IN" dirty="0" err="1"/>
              <a:t>fram</a:t>
            </a:r>
            <a:r>
              <a:rPr lang="en-IN" dirty="0"/>
              <a:t>) is the muscle that separates the thoracic cavity from the abdomen. It is the contraction and relaxation of this muscle that makes breathing possible. The </a:t>
            </a:r>
            <a:r>
              <a:rPr lang="en-IN" b="1" dirty="0">
                <a:solidFill>
                  <a:srgbClr val="FF0000"/>
                </a:solidFill>
              </a:rPr>
              <a:t>phrenic nerves </a:t>
            </a:r>
            <a:r>
              <a:rPr lang="en-IN" dirty="0"/>
              <a:t>(FREN-ick) stimulate the diaphragm and cause it to contract.</a:t>
            </a:r>
          </a:p>
          <a:p>
            <a:endParaRPr lang="en-IN" dirty="0"/>
          </a:p>
        </p:txBody>
      </p:sp>
    </p:spTree>
    <p:extLst>
      <p:ext uri="{BB962C8B-B14F-4D97-AF65-F5344CB8AC3E}">
        <p14:creationId xmlns:p14="http://schemas.microsoft.com/office/powerpoint/2010/main" val="3509088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711BE-18DB-BBEE-24FF-F20A764D926E}"/>
              </a:ext>
            </a:extLst>
          </p:cNvPr>
          <p:cNvSpPr>
            <a:spLocks noGrp="1"/>
          </p:cNvSpPr>
          <p:nvPr>
            <p:ph type="title"/>
          </p:nvPr>
        </p:nvSpPr>
        <p:spPr/>
        <p:txBody>
          <a:bodyPr/>
          <a:lstStyle/>
          <a:p>
            <a:r>
              <a:rPr lang="en-US" dirty="0"/>
              <a:t>Respiration </a:t>
            </a:r>
            <a:endParaRPr lang="en-IN" dirty="0"/>
          </a:p>
        </p:txBody>
      </p:sp>
      <p:sp>
        <p:nvSpPr>
          <p:cNvPr id="3" name="Content Placeholder 2">
            <a:extLst>
              <a:ext uri="{FF2B5EF4-FFF2-40B4-BE49-F238E27FC236}">
                <a16:creationId xmlns:a16="http://schemas.microsoft.com/office/drawing/2014/main" id="{B333D9E6-52CC-639E-6FE3-3AEAEE8F3C0E}"/>
              </a:ext>
            </a:extLst>
          </p:cNvPr>
          <p:cNvSpPr>
            <a:spLocks noGrp="1"/>
          </p:cNvSpPr>
          <p:nvPr>
            <p:ph idx="1"/>
          </p:nvPr>
        </p:nvSpPr>
        <p:spPr/>
        <p:txBody>
          <a:bodyPr/>
          <a:lstStyle/>
          <a:p>
            <a:r>
              <a:rPr lang="en-IN" dirty="0"/>
              <a:t>Respiration is the exchange of oxygen and carbon dioxide that is essential to life. A single respiration consists of one inhalation and one exhalation.</a:t>
            </a:r>
          </a:p>
          <a:p>
            <a:pPr marL="360000" indent="-360000" algn="just">
              <a:spcAft>
                <a:spcPts val="1800"/>
              </a:spcAft>
              <a:buFont typeface="Wingdings" pitchFamily="2" charset="2"/>
              <a:buChar char="q"/>
            </a:pPr>
            <a:r>
              <a:rPr lang="en-IN" b="1" dirty="0">
                <a:solidFill>
                  <a:srgbClr val="FF0000"/>
                </a:solidFill>
              </a:rPr>
              <a:t>Inhalation</a:t>
            </a:r>
            <a:r>
              <a:rPr lang="en-IN" dirty="0"/>
              <a:t> (in-hah-LAY-shun) is the act of taking in air as the </a:t>
            </a:r>
            <a:r>
              <a:rPr lang="en-IN" u="sng" dirty="0"/>
              <a:t>diaphragm contracts and pulls downward</a:t>
            </a:r>
            <a:r>
              <a:rPr lang="en-IN" dirty="0"/>
              <a:t>. This action causes the thoracic cavity to expand. This produces a vacuum within the thoracic cavity that draws air into the lungs. </a:t>
            </a:r>
          </a:p>
          <a:p>
            <a:pPr marL="360000" indent="-360000" algn="just">
              <a:spcAft>
                <a:spcPts val="1800"/>
              </a:spcAft>
              <a:buFont typeface="Wingdings" pitchFamily="2" charset="2"/>
              <a:buChar char="q"/>
            </a:pPr>
            <a:r>
              <a:rPr lang="en-IN" b="1" dirty="0">
                <a:solidFill>
                  <a:srgbClr val="FF0000"/>
                </a:solidFill>
              </a:rPr>
              <a:t>Exhalation</a:t>
            </a:r>
            <a:r>
              <a:rPr lang="en-IN" dirty="0"/>
              <a:t> (</a:t>
            </a:r>
            <a:r>
              <a:rPr lang="en-IN" dirty="0" err="1"/>
              <a:t>ecks</a:t>
            </a:r>
            <a:r>
              <a:rPr lang="en-IN" dirty="0"/>
              <a:t>-hah-LAY-shun) is the act of breathing out. As the </a:t>
            </a:r>
            <a:r>
              <a:rPr lang="en-IN" u="sng" dirty="0"/>
              <a:t>diaphragm relaxes, it moves upward</a:t>
            </a:r>
            <a:r>
              <a:rPr lang="en-IN" dirty="0"/>
              <a:t>, causing the thoracic cavity to become narrower. </a:t>
            </a:r>
            <a:r>
              <a:rPr lang="en-IN"/>
              <a:t>This action forces air out of the lungs.</a:t>
            </a:r>
          </a:p>
          <a:p>
            <a:endParaRPr lang="en-IN" dirty="0"/>
          </a:p>
        </p:txBody>
      </p:sp>
    </p:spTree>
    <p:extLst>
      <p:ext uri="{BB962C8B-B14F-4D97-AF65-F5344CB8AC3E}">
        <p14:creationId xmlns:p14="http://schemas.microsoft.com/office/powerpoint/2010/main" val="40536664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12</TotalTime>
  <Words>1711</Words>
  <Application>Microsoft Office PowerPoint</Application>
  <PresentationFormat>Widescreen</PresentationFormat>
  <Paragraphs>83</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Garamond</vt:lpstr>
      <vt:lpstr>Times New Roman</vt:lpstr>
      <vt:lpstr>Wingdings</vt:lpstr>
      <vt:lpstr>Savon</vt:lpstr>
      <vt:lpstr>Medical terminologies -3</vt:lpstr>
      <vt:lpstr>PowerPoint Presentation</vt:lpstr>
      <vt:lpstr>PowerPoint Presentation</vt:lpstr>
      <vt:lpstr>Func of resp. sys.</vt:lpstr>
      <vt:lpstr>Str. of resp. sys.</vt:lpstr>
      <vt:lpstr>Nose </vt:lpstr>
      <vt:lpstr>Nose </vt:lpstr>
      <vt:lpstr>Tonsils  </vt:lpstr>
      <vt:lpstr>Paranasal sinuses</vt:lpstr>
      <vt:lpstr>Pharynx </vt:lpstr>
      <vt:lpstr>Pharynx </vt:lpstr>
      <vt:lpstr>Larynx </vt:lpstr>
      <vt:lpstr>trachea</vt:lpstr>
      <vt:lpstr>Bronchi </vt:lpstr>
      <vt:lpstr>Alveoli </vt:lpstr>
      <vt:lpstr>Lungs </vt:lpstr>
      <vt:lpstr>Mediastinum </vt:lpstr>
      <vt:lpstr>Pleura </vt:lpstr>
      <vt:lpstr>Diaphragm </vt:lpstr>
      <vt:lpstr>Respiration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2025-11-20T14:50:34Z</dcterms:created>
  <dcterms:modified xsi:type="dcterms:W3CDTF">2025-11-20T16:06:59Z</dcterms:modified>
</cp:coreProperties>
</file>