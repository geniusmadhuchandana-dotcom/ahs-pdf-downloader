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4" r:id="rId10"/>
    <p:sldId id="263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06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4C26B7-0A1E-4D79-9FC8-9038F285F9B8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9171A6-D654-4BE4-A568-B7FB822CEE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2206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171A6-D654-4BE4-A568-B7FB822CEEB6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8166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B10A5501-F2B6-4F9F-A758-C8A56949A175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A5D171DB-5636-400F-B800-3A1D371DCA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3935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A5501-F2B6-4F9F-A758-C8A56949A175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171DB-5636-400F-B800-3A1D371DCA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425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1784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tx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10A5501-F2B6-4F9F-A758-C8A56949A175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/>
          <a:lstStyle/>
          <a:p>
            <a:fld id="{A5D171DB-5636-400F-B800-3A1D371DCA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9516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A5501-F2B6-4F9F-A758-C8A56949A175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171DB-5636-400F-B800-3A1D371DCA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279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A5501-F2B6-4F9F-A758-C8A56949A175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171DB-5636-400F-B800-3A1D371DCA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8803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A5501-F2B6-4F9F-A758-C8A56949A175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171DB-5636-400F-B800-3A1D371DCA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3513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A5501-F2B6-4F9F-A758-C8A56949A175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171DB-5636-400F-B800-3A1D371DCA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451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A5501-F2B6-4F9F-A758-C8A56949A175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A5D171DB-5636-400F-B800-3A1D371DCAB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2125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B10A5501-F2B6-4F9F-A758-C8A56949A175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A5D171DB-5636-400F-B800-3A1D371DCABB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28473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A5501-F2B6-4F9F-A758-C8A56949A175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171DB-5636-400F-B800-3A1D371DCA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9279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A5501-F2B6-4F9F-A758-C8A56949A175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171DB-5636-400F-B800-3A1D371DCA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6745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10A5501-F2B6-4F9F-A758-C8A56949A175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48535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A5D171DB-5636-400F-B800-3A1D371DCAB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</p:spTree>
    <p:extLst>
      <p:ext uri="{BB962C8B-B14F-4D97-AF65-F5344CB8AC3E}">
        <p14:creationId xmlns:p14="http://schemas.microsoft.com/office/powerpoint/2010/main" val="1282134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BAE84-8F9A-DC18-8E19-FF837F4055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Medical terminologies -8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15D48D-54F3-5F1B-EBFA-E0ECD81C61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4741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E38F3-CDE0-CF5C-BF8D-24ADB2901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Cardiology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3BE1E-A7BD-A89E-D2D3-A71D7EF8F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Ø"/>
              <a:defRPr sz="1400"/>
            </a:pPr>
            <a:r>
              <a:rPr lang="en-IN" dirty="0"/>
              <a:t>Prefixes: cardio-, myo-, endo-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Ø"/>
              <a:defRPr sz="1400"/>
            </a:pPr>
            <a:r>
              <a:rPr lang="en-IN" dirty="0"/>
              <a:t>Roots: cardi (heart), ventriculi (ventricle), Atri (atrium)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Ø"/>
              <a:defRPr sz="1400"/>
            </a:pPr>
            <a:r>
              <a:rPr lang="en-IN" dirty="0"/>
              <a:t>Suffixes: -itis (inflammation), -</a:t>
            </a:r>
            <a:r>
              <a:rPr lang="en-IN" dirty="0" err="1"/>
              <a:t>megaly</a:t>
            </a:r>
            <a:r>
              <a:rPr lang="en-IN" dirty="0"/>
              <a:t> (enlargement), -Pathy (disease), -gram (record)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3032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DA69E-832D-C84A-124D-9C2EDB804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table">
            <a:extLst>
              <a:ext uri="{FF2B5EF4-FFF2-40B4-BE49-F238E27FC236}">
                <a16:creationId xmlns:a16="http://schemas.microsoft.com/office/drawing/2014/main" id="{C7FFBC62-4895-865D-532E-E169D275AA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800" y="1022556"/>
            <a:ext cx="10058400" cy="501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465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06C72-F708-C14D-F131-62E60A80B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0C3F4-1C10-1607-2197-A8D021C01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 The major structures of the cardiovascular system are the heart, blood vessels, and blood.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 The Heart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 The heart is a hollow, muscular organ located between the lungs.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It is a very effective pump that furnishes the power to maintain the blood flow needed throughout the entire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3582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EAE48-E5FF-917C-81DB-2069AAF01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Pericardium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B3E45-22E8-1105-D3B1-178CF1D94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The pericardium also known as the pericardial sac, is the double-walled membranous sac that encloses the heart (peri- means </a:t>
            </a:r>
            <a:r>
              <a:rPr lang="en-US" dirty="0" err="1"/>
              <a:t>surrounding,cardi</a:t>
            </a:r>
            <a:r>
              <a:rPr lang="en-US" dirty="0"/>
              <a:t> means heart, and-um is a singular noun ending).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Membranous means pertaining to membrane, which is a thin layer of pliable tissue that covers or encloses a body part.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 The parietal pericardium is the tough outer layer that forms a fibrous sac that surrounds and protects the heart.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 The visceral pericardium, which is the inner layer of the pericardium, also forms the outer layer of the heart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9411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BAC1D-14E7-E161-E4F3-53691EC5F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Walls of heart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A3576-DDFE-F0E0-2CEC-1571980EA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The walls of the heart are made up of three layers: the epicardium, myocardium, and endocardium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>
                <a:highlight>
                  <a:srgbClr val="FF0000"/>
                </a:highlight>
              </a:rPr>
              <a:t>The epicardium </a:t>
            </a:r>
            <a:r>
              <a:rPr lang="en-US" dirty="0"/>
              <a:t>is the external layer of the heart and the inner layer of the pericardium (epi- means upon, cardi means heart, and-um is a singular noun ending).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>
                <a:highlight>
                  <a:srgbClr val="FF0000"/>
                </a:highlight>
              </a:rPr>
              <a:t>The myocardium </a:t>
            </a:r>
            <a:r>
              <a:rPr lang="en-US" dirty="0"/>
              <a:t>also known as myocardial muscle, is the middle and thickest of the heart’s three layers and consists of specialized cardiac muscle tissue (my/o means muscle, cardi means heart, and-um is a singular noun ending). The constant contraction and relaxation of this muscle creates the pumping movement that maintains the flow of blood throughout the body.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highlight>
                  <a:srgbClr val="FF0000"/>
                </a:highlight>
              </a:rPr>
              <a:t>The endocardium </a:t>
            </a:r>
            <a:r>
              <a:rPr lang="en-US" dirty="0"/>
              <a:t>which consists of epithelial tissue, is the inner lining of the heart (endo- means within, cardi means heart). This surface comes into direct contact with the blood as it is being pumped through the heart.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3066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49168-604F-0712-20DE-96BB231A3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Related terms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4E43D-3077-9A81-FF01-4B4C30996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171450" indent="-1714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dirty="0"/>
              <a:t>Atrium (Right/Left): Upper chambers receiving blood</a:t>
            </a:r>
          </a:p>
          <a:p>
            <a:pPr marL="171450" indent="-1714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dirty="0"/>
              <a:t>Ventricle (Right/Left): Lower chambers pumping blood</a:t>
            </a:r>
          </a:p>
          <a:p>
            <a:pPr marL="171450" indent="-1714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dirty="0"/>
              <a:t>Endocardium: Inner lining of the heart</a:t>
            </a:r>
          </a:p>
          <a:p>
            <a:pPr marL="171450" indent="-1714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dirty="0"/>
              <a:t>Myocardium: Heart muscle layer</a:t>
            </a:r>
          </a:p>
          <a:p>
            <a:pPr marL="171450" indent="-1714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dirty="0"/>
              <a:t>Epicardium: Outer heart layer</a:t>
            </a:r>
          </a:p>
          <a:p>
            <a:pPr marL="171450" indent="-1714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dirty="0"/>
              <a:t>Pericardium: Protective sac around heart</a:t>
            </a:r>
          </a:p>
          <a:p>
            <a:pPr marL="171450" indent="-1714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dirty="0"/>
              <a:t>Septum: Wall dividing right &amp; left heart</a:t>
            </a:r>
          </a:p>
        </p:txBody>
      </p:sp>
    </p:spTree>
    <p:extLst>
      <p:ext uri="{BB962C8B-B14F-4D97-AF65-F5344CB8AC3E}">
        <p14:creationId xmlns:p14="http://schemas.microsoft.com/office/powerpoint/2010/main" val="509862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609A5-F74D-7584-F18D-BEDF1A743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6085A-993B-B36A-97AE-CDB76BA35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Related terms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FF056-C689-81BE-A072-65FB186DD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Aorta: Largest artery in the body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Pulmonary Artery: Carries blood to lungs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Pulmonary Veins: Carry blood from lungs to heart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Coronary Arteries: Supply heart muscle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Chordae Tendineae: Valve-supporting cords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Papillary Muscles: Anchor valves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SA Node: Natural pacemaker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AV Node: Electrical relay between atria &amp; ventricles</a:t>
            </a:r>
          </a:p>
        </p:txBody>
      </p:sp>
    </p:spTree>
    <p:extLst>
      <p:ext uri="{BB962C8B-B14F-4D97-AF65-F5344CB8AC3E}">
        <p14:creationId xmlns:p14="http://schemas.microsoft.com/office/powerpoint/2010/main" val="3412256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28673-13C2-D0E2-769E-264030F8D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terms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D3D26-FEF2-961A-54CB-AFE9750BF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dirty="0"/>
              <a:t>Systole: Contraction phase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dirty="0"/>
              <a:t>Diastole: Relaxation phase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dirty="0"/>
              <a:t>Stroke Volume (SV): Blood pumped per beat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dirty="0"/>
              <a:t>Cardiac Output (CO): SV × HR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dirty="0"/>
              <a:t>Ejection Fraction (EF): % of blood ejected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890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DA4D4-6E65-B511-3D8A-54C6640C9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26C40-B239-F8B6-914F-4D797B98EF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dirty="0"/>
              <a:t>Preload: Ventricular stretch before contraction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dirty="0"/>
              <a:t>Afterload: Resistance against which heart pumps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/>
              <a:t>Contractility: Strength of contraction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/>
              <a:t>Heart Rate (HR): Beats per minute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/>
              <a:t>Conduction System: SA → AV → Bundle of His → Purkinje fibers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6462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CEEC5-48AC-872A-7272-6EEE7A724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Pathology 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2770F7-2686-D84F-6091-43A2F32C9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dirty="0"/>
              <a:t>Arrhythmia: Irregular rhythm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dirty="0"/>
              <a:t>Bradycardia: Slow heart rate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dirty="0"/>
              <a:t>Tachycardia: Fast heart rate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dirty="0"/>
              <a:t>Heart Failure: Poor pumping function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dirty="0"/>
              <a:t>Endocarditis: Heart lining infection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dirty="0"/>
              <a:t>Pericarditis: Pericardium inflammation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dirty="0"/>
              <a:t>Myocarditis: Heart muscle inflammation</a:t>
            </a:r>
          </a:p>
        </p:txBody>
      </p:sp>
    </p:spTree>
    <p:extLst>
      <p:ext uri="{BB962C8B-B14F-4D97-AF65-F5344CB8AC3E}">
        <p14:creationId xmlns:p14="http://schemas.microsoft.com/office/powerpoint/2010/main" val="1985072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E46A9-89A9-CEA0-4D9D-BA9E79FE2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Pathology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38C96-FD78-17E7-ACA8-920E6816A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dirty="0"/>
              <a:t>Myocardial Infarction: Heart attack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dirty="0"/>
              <a:t>Angina Pectoris: Chest pain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dirty="0"/>
              <a:t>Cardiomyopathy: Heart muscle disease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dirty="0"/>
              <a:t>Valvular Stenosis: Valve narrowing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dirty="0"/>
              <a:t>Valvular Regurgitation: Valve leakage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dirty="0"/>
              <a:t>Aneurysm: Vessel/heart wall bulge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72844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2ADF0-9EFF-1C4A-40D8-C519F69F2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prefixes and suffixes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78F58-959C-6BC6-DE7F-10E894E034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Cardio-: heart (e.g., cardiology)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Myo-: muscle (e.g., myocardium)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Endo-: inside (e.g., endocardium)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Peri-: around (e.g., pericardium)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-itis: inflammation (e.g., pericarditis)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-</a:t>
            </a:r>
            <a:r>
              <a:rPr lang="en-IN" dirty="0" err="1"/>
              <a:t>megaly</a:t>
            </a:r>
            <a:r>
              <a:rPr lang="en-IN" dirty="0"/>
              <a:t>: enlargement (e.g., cardiomegaly)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-</a:t>
            </a:r>
            <a:r>
              <a:rPr lang="en-IN" dirty="0" err="1"/>
              <a:t>pathy</a:t>
            </a:r>
            <a:r>
              <a:rPr lang="en-IN" dirty="0"/>
              <a:t>: disease (e.g., cardiomyopathy)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-</a:t>
            </a:r>
            <a:r>
              <a:rPr lang="en-IN" dirty="0" err="1"/>
              <a:t>ectomy</a:t>
            </a:r>
            <a:r>
              <a:rPr lang="en-IN"/>
              <a:t>: removal (e.g., pericardiectomy)</a:t>
            </a:r>
          </a:p>
        </p:txBody>
      </p:sp>
    </p:spTree>
    <p:extLst>
      <p:ext uri="{BB962C8B-B14F-4D97-AF65-F5344CB8AC3E}">
        <p14:creationId xmlns:p14="http://schemas.microsoft.com/office/powerpoint/2010/main" val="41172154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Savon">
      <a:maj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3F20CFC1-E34F-405B-AA49-5BE0E194F1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8</TotalTime>
  <Words>706</Words>
  <Application>Microsoft Office PowerPoint</Application>
  <PresentationFormat>Widescreen</PresentationFormat>
  <Paragraphs>73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Garamond</vt:lpstr>
      <vt:lpstr>Wingdings</vt:lpstr>
      <vt:lpstr>Savon</vt:lpstr>
      <vt:lpstr>Medical terminologies -8</vt:lpstr>
      <vt:lpstr>Cardiology </vt:lpstr>
      <vt:lpstr>PowerPoint Presentation</vt:lpstr>
      <vt:lpstr>structures</vt:lpstr>
      <vt:lpstr>Pericardium </vt:lpstr>
      <vt:lpstr>Walls of heart</vt:lpstr>
      <vt:lpstr>Related terms</vt:lpstr>
      <vt:lpstr>Related terms</vt:lpstr>
      <vt:lpstr>Functional terms</vt:lpstr>
      <vt:lpstr>PowerPoint Presentation</vt:lpstr>
      <vt:lpstr>Pathology </vt:lpstr>
      <vt:lpstr>Pathology </vt:lpstr>
      <vt:lpstr>Common prefixes and suffixes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 Chandana Senthil Rajan</dc:creator>
  <cp:lastModifiedBy>Madhu Chandana Senthil Rajan</cp:lastModifiedBy>
  <cp:revision>1</cp:revision>
  <dcterms:created xsi:type="dcterms:W3CDTF">2025-11-21T03:28:14Z</dcterms:created>
  <dcterms:modified xsi:type="dcterms:W3CDTF">2025-11-21T14:04:55Z</dcterms:modified>
</cp:coreProperties>
</file>