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ADDE9892-AD2F-48CC-8246-F4A2D0541951}" type="datetimeFigureOut">
              <a:rPr lang="en-IN" smtClean="0"/>
              <a:t>20-11-2025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D788B1D-D36C-4546-AE95-8FEA5FA07974}" type="slidenum">
              <a:rPr lang="en-IN" smtClean="0"/>
              <a:t>‹#›</a:t>
            </a:fld>
            <a:endParaRPr lang="en-IN"/>
          </a:p>
        </p:txBody>
      </p:sp>
    </p:spTree>
    <p:extLst>
      <p:ext uri="{BB962C8B-B14F-4D97-AF65-F5344CB8AC3E}">
        <p14:creationId xmlns:p14="http://schemas.microsoft.com/office/powerpoint/2010/main" val="280109963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E9892-AD2F-48CC-8246-F4A2D054195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1902804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ADDE9892-AD2F-48CC-8246-F4A2D0541951}" type="datetimeFigureOut">
              <a:rPr lang="en-IN" smtClean="0"/>
              <a:t>20-11-2025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318059612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DE9892-AD2F-48CC-8246-F4A2D0541951}"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484578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DE9892-AD2F-48CC-8246-F4A2D0541951}"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365815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DE9892-AD2F-48CC-8246-F4A2D0541951}"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20431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DE9892-AD2F-48CC-8246-F4A2D0541951}"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338154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DDE9892-AD2F-48CC-8246-F4A2D0541951}"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DD788B1D-D36C-4546-AE95-8FEA5FA07974}"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38325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ADDE9892-AD2F-48CC-8246-F4A2D0541951}"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DD788B1D-D36C-4546-AE95-8FEA5FA07974}"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7575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E9892-AD2F-48CC-8246-F4A2D054195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703503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E9892-AD2F-48CC-8246-F4A2D0541951}"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88B1D-D36C-4546-AE95-8FEA5FA07974}" type="slidenum">
              <a:rPr lang="en-IN" smtClean="0"/>
              <a:t>‹#›</a:t>
            </a:fld>
            <a:endParaRPr lang="en-IN"/>
          </a:p>
        </p:txBody>
      </p:sp>
    </p:spTree>
    <p:extLst>
      <p:ext uri="{BB962C8B-B14F-4D97-AF65-F5344CB8AC3E}">
        <p14:creationId xmlns:p14="http://schemas.microsoft.com/office/powerpoint/2010/main" val="195795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ADDE9892-AD2F-48CC-8246-F4A2D0541951}" type="datetimeFigureOut">
              <a:rPr lang="en-IN" smtClean="0"/>
              <a:t>20-11-2025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D788B1D-D36C-4546-AE95-8FEA5FA07974}"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15405729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9F5C-0DAC-3D97-0B9F-65BA33149771}"/>
              </a:ext>
            </a:extLst>
          </p:cNvPr>
          <p:cNvSpPr>
            <a:spLocks noGrp="1"/>
          </p:cNvSpPr>
          <p:nvPr>
            <p:ph type="ctrTitle"/>
          </p:nvPr>
        </p:nvSpPr>
        <p:spPr/>
        <p:txBody>
          <a:bodyPr/>
          <a:lstStyle/>
          <a:p>
            <a:r>
              <a:rPr lang="en-US" dirty="0"/>
              <a:t>Medical terminologies -1</a:t>
            </a:r>
            <a:endParaRPr lang="en-IN" dirty="0"/>
          </a:p>
        </p:txBody>
      </p:sp>
      <p:sp>
        <p:nvSpPr>
          <p:cNvPr id="3" name="Subtitle 2">
            <a:extLst>
              <a:ext uri="{FF2B5EF4-FFF2-40B4-BE49-F238E27FC236}">
                <a16:creationId xmlns:a16="http://schemas.microsoft.com/office/drawing/2014/main" id="{064C49E3-BA6C-B008-790E-37941B41946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5244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7ABB-268F-B5A3-C78C-13173E8339BC}"/>
              </a:ext>
            </a:extLst>
          </p:cNvPr>
          <p:cNvSpPr>
            <a:spLocks noGrp="1"/>
          </p:cNvSpPr>
          <p:nvPr>
            <p:ph type="title"/>
          </p:nvPr>
        </p:nvSpPr>
        <p:spPr/>
        <p:txBody>
          <a:bodyPr/>
          <a:lstStyle/>
          <a:p>
            <a:r>
              <a:rPr lang="en-US" b="1" dirty="0"/>
              <a:t>Introduction</a:t>
            </a:r>
            <a:endParaRPr lang="en-IN" dirty="0"/>
          </a:p>
        </p:txBody>
      </p:sp>
      <p:sp>
        <p:nvSpPr>
          <p:cNvPr id="3" name="Content Placeholder 2">
            <a:extLst>
              <a:ext uri="{FF2B5EF4-FFF2-40B4-BE49-F238E27FC236}">
                <a16:creationId xmlns:a16="http://schemas.microsoft.com/office/drawing/2014/main" id="{A0BFE9F7-2FF3-084C-864F-DF9BA8094040}"/>
              </a:ext>
            </a:extLst>
          </p:cNvPr>
          <p:cNvSpPr>
            <a:spLocks noGrp="1"/>
          </p:cNvSpPr>
          <p:nvPr>
            <p:ph idx="1"/>
          </p:nvPr>
        </p:nvSpPr>
        <p:spPr/>
        <p:txBody>
          <a:bodyPr/>
          <a:lstStyle/>
          <a:p>
            <a:pPr marL="360000" indent="-360000" algn="just">
              <a:spcBef>
                <a:spcPts val="1200"/>
              </a:spcBef>
              <a:spcAft>
                <a:spcPts val="1200"/>
              </a:spcAft>
              <a:buFont typeface="Wingdings" pitchFamily="2" charset="2"/>
              <a:buChar char="q"/>
            </a:pPr>
            <a:r>
              <a:rPr lang="en-US" altLang="en-US" b="1" dirty="0">
                <a:solidFill>
                  <a:srgbClr val="FF0000"/>
                </a:solidFill>
              </a:rPr>
              <a:t>Medical terminology </a:t>
            </a:r>
            <a:r>
              <a:rPr lang="en-US" altLang="en-US" dirty="0"/>
              <a:t>is a language in itself.  </a:t>
            </a:r>
          </a:p>
          <a:p>
            <a:pPr marL="360000" indent="-360000" algn="just">
              <a:spcBef>
                <a:spcPts val="1200"/>
              </a:spcBef>
              <a:spcAft>
                <a:spcPts val="1200"/>
              </a:spcAft>
              <a:buFont typeface="Wingdings" pitchFamily="2" charset="2"/>
              <a:buChar char="q"/>
            </a:pPr>
            <a:r>
              <a:rPr lang="en-US" altLang="en-US" dirty="0"/>
              <a:t>Medical terminology is a special vocabulary used by health care professionals for effective and accurate communication.</a:t>
            </a:r>
          </a:p>
          <a:p>
            <a:pPr marL="360000" indent="-360000" algn="just">
              <a:spcBef>
                <a:spcPts val="1200"/>
              </a:spcBef>
              <a:spcAft>
                <a:spcPts val="1200"/>
              </a:spcAft>
              <a:buFont typeface="Wingdings" pitchFamily="2" charset="2"/>
              <a:buChar char="q"/>
            </a:pPr>
            <a:r>
              <a:rPr lang="en-US" altLang="en-US" dirty="0"/>
              <a:t>In Health care, medical terms are the foundation for communication.  Hence, medical terminology is consistent and uniform  throughout the world</a:t>
            </a:r>
          </a:p>
          <a:p>
            <a:endParaRPr lang="en-IN" dirty="0"/>
          </a:p>
        </p:txBody>
      </p:sp>
    </p:spTree>
    <p:extLst>
      <p:ext uri="{BB962C8B-B14F-4D97-AF65-F5344CB8AC3E}">
        <p14:creationId xmlns:p14="http://schemas.microsoft.com/office/powerpoint/2010/main" val="2622941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5A71-BD22-C508-2413-FCE8680B3D90}"/>
              </a:ext>
            </a:extLst>
          </p:cNvPr>
          <p:cNvSpPr>
            <a:spLocks noGrp="1"/>
          </p:cNvSpPr>
          <p:nvPr>
            <p:ph type="title"/>
          </p:nvPr>
        </p:nvSpPr>
        <p:spPr/>
        <p:txBody>
          <a:bodyPr/>
          <a:lstStyle/>
          <a:p>
            <a:r>
              <a:rPr lang="en-US" dirty="0"/>
              <a:t>Purpose </a:t>
            </a:r>
            <a:endParaRPr lang="en-IN" dirty="0"/>
          </a:p>
        </p:txBody>
      </p:sp>
      <p:sp>
        <p:nvSpPr>
          <p:cNvPr id="3" name="Content Placeholder 2">
            <a:extLst>
              <a:ext uri="{FF2B5EF4-FFF2-40B4-BE49-F238E27FC236}">
                <a16:creationId xmlns:a16="http://schemas.microsoft.com/office/drawing/2014/main" id="{21CE34CF-6F08-675B-89AA-EB4A2A78A229}"/>
              </a:ext>
            </a:extLst>
          </p:cNvPr>
          <p:cNvSpPr>
            <a:spLocks noGrp="1"/>
          </p:cNvSpPr>
          <p:nvPr>
            <p:ph idx="1"/>
          </p:nvPr>
        </p:nvSpPr>
        <p:spPr/>
        <p:txBody>
          <a:bodyPr/>
          <a:lstStyle/>
          <a:p>
            <a:pPr marL="0" indent="0">
              <a:buNone/>
            </a:pPr>
            <a:r>
              <a:rPr lang="en-US" dirty="0"/>
              <a:t>A precise, global language made up of Greek &amp; Latin prefixes, roots, and suffixes used to describe the body, conditions, and treatments</a:t>
            </a:r>
          </a:p>
          <a:p>
            <a:pPr marL="0" indent="0">
              <a:buNone/>
            </a:pPr>
            <a:r>
              <a:rPr lang="en-US" b="1" dirty="0"/>
              <a:t>Why:</a:t>
            </a:r>
            <a:endParaRPr lang="en-US" dirty="0"/>
          </a:p>
          <a:p>
            <a:r>
              <a:rPr lang="en-US" dirty="0"/>
              <a:t>To ensure </a:t>
            </a:r>
            <a:r>
              <a:rPr lang="en-US" b="1" dirty="0"/>
              <a:t>clear communication</a:t>
            </a:r>
            <a:r>
              <a:rPr lang="en-US" dirty="0"/>
              <a:t> among professionals</a:t>
            </a:r>
          </a:p>
          <a:p>
            <a:r>
              <a:rPr lang="en-US" dirty="0"/>
              <a:t>To prevent </a:t>
            </a:r>
            <a:r>
              <a:rPr lang="en-US" b="1" dirty="0"/>
              <a:t>errors</a:t>
            </a:r>
            <a:r>
              <a:rPr lang="en-US" dirty="0"/>
              <a:t> in charts, prescriptions, and patient care</a:t>
            </a:r>
          </a:p>
          <a:p>
            <a:r>
              <a:rPr lang="en-US" dirty="0"/>
              <a:t>Offers </a:t>
            </a:r>
            <a:r>
              <a:rPr lang="en-US" b="1" dirty="0"/>
              <a:t>consistency worldwide</a:t>
            </a:r>
            <a:endParaRPr lang="en-US" dirty="0"/>
          </a:p>
          <a:p>
            <a:r>
              <a:rPr lang="en-US" dirty="0"/>
              <a:t>Helps </a:t>
            </a:r>
            <a:r>
              <a:rPr lang="en-US" b="1" dirty="0"/>
              <a:t>decode</a:t>
            </a:r>
            <a:r>
              <a:rPr lang="en-US" dirty="0"/>
              <a:t> unfamiliar terms by knowing the building blocks</a:t>
            </a:r>
          </a:p>
        </p:txBody>
      </p:sp>
    </p:spTree>
    <p:extLst>
      <p:ext uri="{BB962C8B-B14F-4D97-AF65-F5344CB8AC3E}">
        <p14:creationId xmlns:p14="http://schemas.microsoft.com/office/powerpoint/2010/main" val="215244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6F225-A7B1-BE27-E008-62E6D8F349A7}"/>
              </a:ext>
            </a:extLst>
          </p:cNvPr>
          <p:cNvSpPr>
            <a:spLocks noGrp="1"/>
          </p:cNvSpPr>
          <p:nvPr>
            <p:ph type="title"/>
          </p:nvPr>
        </p:nvSpPr>
        <p:spPr/>
        <p:txBody>
          <a:bodyPr/>
          <a:lstStyle/>
          <a:p>
            <a:r>
              <a:rPr lang="en-US" dirty="0"/>
              <a:t>Definition </a:t>
            </a:r>
            <a:endParaRPr lang="en-IN" dirty="0"/>
          </a:p>
        </p:txBody>
      </p:sp>
      <p:sp>
        <p:nvSpPr>
          <p:cNvPr id="3" name="Content Placeholder 2">
            <a:extLst>
              <a:ext uri="{FF2B5EF4-FFF2-40B4-BE49-F238E27FC236}">
                <a16:creationId xmlns:a16="http://schemas.microsoft.com/office/drawing/2014/main" id="{EE7119DD-B311-79BA-F922-9611AFA02E84}"/>
              </a:ext>
            </a:extLst>
          </p:cNvPr>
          <p:cNvSpPr>
            <a:spLocks noGrp="1"/>
          </p:cNvSpPr>
          <p:nvPr>
            <p:ph idx="1"/>
          </p:nvPr>
        </p:nvSpPr>
        <p:spPr/>
        <p:txBody>
          <a:bodyPr/>
          <a:lstStyle/>
          <a:p>
            <a:r>
              <a:rPr lang="en-IN" b="1" dirty="0">
                <a:solidFill>
                  <a:srgbClr val="FF0000"/>
                </a:solidFill>
              </a:rPr>
              <a:t>Medical terminology </a:t>
            </a:r>
            <a:r>
              <a:rPr lang="en-IN" dirty="0"/>
              <a:t>is a system of words that are used to describe specific </a:t>
            </a:r>
            <a:r>
              <a:rPr lang="en-IN" b="1" dirty="0">
                <a:solidFill>
                  <a:srgbClr val="7030A0"/>
                </a:solidFill>
              </a:rPr>
              <a:t>medical aspects  and diseases</a:t>
            </a:r>
            <a:r>
              <a:rPr lang="en-IN" dirty="0"/>
              <a:t>. It is based on standard </a:t>
            </a:r>
            <a:r>
              <a:rPr lang="en-IN" b="1" dirty="0">
                <a:solidFill>
                  <a:srgbClr val="FF0000"/>
                </a:solidFill>
              </a:rPr>
              <a:t>root</a:t>
            </a:r>
            <a:r>
              <a:rPr lang="en-IN" dirty="0">
                <a:solidFill>
                  <a:srgbClr val="FF0000"/>
                </a:solidFill>
              </a:rPr>
              <a:t> </a:t>
            </a:r>
            <a:r>
              <a:rPr lang="en-IN" b="1" dirty="0">
                <a:solidFill>
                  <a:srgbClr val="FF0000"/>
                </a:solidFill>
              </a:rPr>
              <a:t>words</a:t>
            </a:r>
            <a:r>
              <a:rPr lang="en-IN" b="1" dirty="0"/>
              <a:t>, </a:t>
            </a:r>
            <a:r>
              <a:rPr lang="en-IN" b="1" dirty="0">
                <a:solidFill>
                  <a:srgbClr val="002060"/>
                </a:solidFill>
              </a:rPr>
              <a:t>prefixes</a:t>
            </a:r>
            <a:r>
              <a:rPr lang="en-IN" b="1" dirty="0"/>
              <a:t>, </a:t>
            </a:r>
            <a:r>
              <a:rPr lang="en-IN" dirty="0"/>
              <a:t>and</a:t>
            </a:r>
            <a:r>
              <a:rPr lang="en-IN" b="1" dirty="0"/>
              <a:t> </a:t>
            </a:r>
            <a:r>
              <a:rPr lang="en-IN" b="1" dirty="0">
                <a:solidFill>
                  <a:srgbClr val="0070C0"/>
                </a:solidFill>
              </a:rPr>
              <a:t>suffixes</a:t>
            </a:r>
            <a:r>
              <a:rPr lang="en-IN" dirty="0"/>
              <a:t>.</a:t>
            </a:r>
          </a:p>
          <a:p>
            <a:r>
              <a:rPr lang="en-US" dirty="0"/>
              <a:t>As an Allied Health Sciences student, mastering medical terminology is essential. Understanding word parts helps you:</a:t>
            </a:r>
          </a:p>
          <a:p>
            <a:r>
              <a:rPr lang="en-US" dirty="0"/>
              <a:t>Comprehend course material more easily</a:t>
            </a:r>
          </a:p>
          <a:p>
            <a:r>
              <a:rPr lang="en-US" dirty="0"/>
              <a:t>Answer exam questions accurately</a:t>
            </a:r>
          </a:p>
          <a:p>
            <a:r>
              <a:rPr lang="en-US" dirty="0"/>
              <a:t>Figure out the meaning of unfamiliar medical terms</a:t>
            </a:r>
          </a:p>
          <a:p>
            <a:r>
              <a:rPr lang="en-US" dirty="0"/>
              <a:t>Start by learning the basic prefixes, roots, and suffixes. Once you recognize these parts, you’ll be able to decode any medical term.</a:t>
            </a:r>
          </a:p>
          <a:p>
            <a:endParaRPr lang="en-IN" dirty="0"/>
          </a:p>
        </p:txBody>
      </p:sp>
    </p:spTree>
    <p:extLst>
      <p:ext uri="{BB962C8B-B14F-4D97-AF65-F5344CB8AC3E}">
        <p14:creationId xmlns:p14="http://schemas.microsoft.com/office/powerpoint/2010/main" val="3273238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1A03B-123B-2CFA-8F8F-C36234580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3A70D-8B17-FE05-CB94-ED3C259A9595}"/>
              </a:ext>
            </a:extLst>
          </p:cNvPr>
          <p:cNvSpPr>
            <a:spLocks noGrp="1"/>
          </p:cNvSpPr>
          <p:nvPr>
            <p:ph type="title"/>
          </p:nvPr>
        </p:nvSpPr>
        <p:spPr/>
        <p:txBody>
          <a:bodyPr/>
          <a:lstStyle/>
          <a:p>
            <a:r>
              <a:rPr lang="en-US" dirty="0"/>
              <a:t>History </a:t>
            </a:r>
            <a:endParaRPr lang="en-IN" dirty="0"/>
          </a:p>
        </p:txBody>
      </p:sp>
      <p:sp>
        <p:nvSpPr>
          <p:cNvPr id="3" name="Content Placeholder 2">
            <a:extLst>
              <a:ext uri="{FF2B5EF4-FFF2-40B4-BE49-F238E27FC236}">
                <a16:creationId xmlns:a16="http://schemas.microsoft.com/office/drawing/2014/main" id="{A3BE1F79-C26B-3D2C-B6EA-AB95B4B20C64}"/>
              </a:ext>
            </a:extLst>
          </p:cNvPr>
          <p:cNvSpPr>
            <a:spLocks noGrp="1"/>
          </p:cNvSpPr>
          <p:nvPr>
            <p:ph idx="1"/>
          </p:nvPr>
        </p:nvSpPr>
        <p:spPr/>
        <p:txBody>
          <a:bodyPr>
            <a:normAutofit/>
          </a:bodyPr>
          <a:lstStyle/>
          <a:p>
            <a:pPr latinLnBrk="1">
              <a:spcBef>
                <a:spcPct val="20000"/>
              </a:spcBef>
              <a:defRPr/>
            </a:pPr>
            <a:r>
              <a:rPr lang="en-US" dirty="0"/>
              <a:t>The foundation of this specialized language dates back to:</a:t>
            </a:r>
          </a:p>
          <a:p>
            <a:pPr marL="342900" indent="-342900" latinLnBrk="1">
              <a:spcBef>
                <a:spcPct val="20000"/>
              </a:spcBef>
              <a:buFont typeface="Wingdings" pitchFamily="2" charset="2"/>
              <a:buChar char="q"/>
              <a:defRPr/>
            </a:pPr>
            <a:r>
              <a:rPr lang="en-US" b="1" dirty="0"/>
              <a:t>Hippocrates</a:t>
            </a:r>
            <a:r>
              <a:rPr lang="en-US" dirty="0"/>
              <a:t> (~460 BC–370 BC), the “father of medicine,” whose         ancient Greek writings introduced many terms still in use</a:t>
            </a:r>
          </a:p>
          <a:p>
            <a:pPr marL="342900" indent="-342900" latinLnBrk="1">
              <a:spcBef>
                <a:spcPct val="20000"/>
              </a:spcBef>
              <a:buFont typeface="Wingdings" pitchFamily="2" charset="2"/>
              <a:buChar char="q"/>
              <a:defRPr/>
            </a:pPr>
            <a:r>
              <a:rPr lang="en-US" dirty="0"/>
              <a:t>Eg:  A</a:t>
            </a:r>
            <a:r>
              <a:rPr lang="en-US" i="1" dirty="0"/>
              <a:t>rthritis</a:t>
            </a:r>
            <a:r>
              <a:rPr lang="en-US" dirty="0"/>
              <a:t>, </a:t>
            </a:r>
            <a:r>
              <a:rPr lang="en-US" i="1" dirty="0"/>
              <a:t>nephritis</a:t>
            </a:r>
            <a:r>
              <a:rPr lang="en-US" dirty="0"/>
              <a:t>, and </a:t>
            </a:r>
            <a:r>
              <a:rPr lang="en-US" i="1" dirty="0"/>
              <a:t>epidemic</a:t>
            </a:r>
            <a:r>
              <a:rPr lang="en-US" dirty="0"/>
              <a:t> </a:t>
            </a:r>
            <a:endParaRPr lang="en-US" altLang="en-US" dirty="0"/>
          </a:p>
          <a:p>
            <a:pPr marL="342900" indent="-342900" latinLnBrk="1">
              <a:spcBef>
                <a:spcPct val="20000"/>
              </a:spcBef>
              <a:buFont typeface="Wingdings" pitchFamily="2" charset="2"/>
              <a:buChar char="q"/>
              <a:defRPr/>
            </a:pPr>
            <a:r>
              <a:rPr lang="en-US" altLang="en-US" dirty="0"/>
              <a:t>Hippocrates and other early Greek anatomists dissected cadavers      and attempted to treat  disease in living humans.  </a:t>
            </a:r>
          </a:p>
          <a:p>
            <a:pPr marL="0" indent="0">
              <a:buNone/>
            </a:pPr>
            <a:r>
              <a:rPr lang="en-US" b="1" dirty="0"/>
              <a:t>Galen</a:t>
            </a:r>
            <a:r>
              <a:rPr lang="en-US" dirty="0"/>
              <a:t> (130–200 CE), a Greek physician in the Roman Empire, developed anatomical and physiological vocabulary that was later translated into Latin and used in European Medicine for over 1,500 years.</a:t>
            </a:r>
          </a:p>
          <a:p>
            <a:pPr marL="0" lvl="0" indent="0" eaLnBrk="0" fontAlgn="base" hangingPunct="0">
              <a:spcBef>
                <a:spcPct val="0"/>
              </a:spcBef>
              <a:spcAft>
                <a:spcPct val="0"/>
              </a:spcAft>
              <a:buFontTx/>
              <a:buChar char="•"/>
            </a:pPr>
            <a:r>
              <a:rPr lang="en-US" altLang="en-US" dirty="0"/>
              <a:t>He wrote many medical books that doctors relied on for almost 1,500 years</a:t>
            </a:r>
          </a:p>
          <a:p>
            <a:pPr marL="0" lvl="0" indent="0" eaLnBrk="0" fontAlgn="base" hangingPunct="0">
              <a:spcBef>
                <a:spcPct val="0"/>
              </a:spcBef>
              <a:spcAft>
                <a:spcPct val="0"/>
              </a:spcAft>
              <a:buFontTx/>
              <a:buChar char="•"/>
            </a:pPr>
            <a:r>
              <a:rPr lang="en-US" altLang="en-US" dirty="0"/>
              <a:t>Many medical terms first appeared in his writings are still used today</a:t>
            </a:r>
          </a:p>
          <a:p>
            <a:pPr marL="0" lvl="0" indent="0" eaLnBrk="0" fontAlgn="base" hangingPunct="0">
              <a:spcBef>
                <a:spcPct val="0"/>
              </a:spcBef>
              <a:spcAft>
                <a:spcPct val="0"/>
              </a:spcAft>
              <a:buFontTx/>
              <a:buChar char="•"/>
            </a:pPr>
            <a:r>
              <a:rPr lang="en-US" altLang="en-US" dirty="0"/>
              <a:t> This is why Greek words—especially Galen’s contributions—are the second most common source of medical terms</a:t>
            </a:r>
          </a:p>
          <a:p>
            <a:endParaRPr lang="en-US" dirty="0"/>
          </a:p>
          <a:p>
            <a:endParaRPr lang="en-IN" dirty="0"/>
          </a:p>
        </p:txBody>
      </p:sp>
    </p:spTree>
    <p:extLst>
      <p:ext uri="{BB962C8B-B14F-4D97-AF65-F5344CB8AC3E}">
        <p14:creationId xmlns:p14="http://schemas.microsoft.com/office/powerpoint/2010/main" val="425279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60BB-585B-4043-7412-AEBC7F84D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7CA8E-2E2E-2E45-2DB6-E83EBEB95137}"/>
              </a:ext>
            </a:extLst>
          </p:cNvPr>
          <p:cNvSpPr>
            <a:spLocks noGrp="1"/>
          </p:cNvSpPr>
          <p:nvPr>
            <p:ph type="title"/>
          </p:nvPr>
        </p:nvSpPr>
        <p:spPr/>
        <p:txBody>
          <a:bodyPr/>
          <a:lstStyle/>
          <a:p>
            <a:r>
              <a:rPr lang="en-US" dirty="0"/>
              <a:t>History </a:t>
            </a:r>
            <a:endParaRPr lang="en-IN" dirty="0"/>
          </a:p>
        </p:txBody>
      </p:sp>
      <p:sp>
        <p:nvSpPr>
          <p:cNvPr id="3" name="Content Placeholder 2">
            <a:extLst>
              <a:ext uri="{FF2B5EF4-FFF2-40B4-BE49-F238E27FC236}">
                <a16:creationId xmlns:a16="http://schemas.microsoft.com/office/drawing/2014/main" id="{864E9C30-1656-3929-A007-27AED8E466E2}"/>
              </a:ext>
            </a:extLst>
          </p:cNvPr>
          <p:cNvSpPr>
            <a:spLocks noGrp="1"/>
          </p:cNvSpPr>
          <p:nvPr>
            <p:ph idx="1"/>
          </p:nvPr>
        </p:nvSpPr>
        <p:spPr/>
        <p:txBody>
          <a:bodyPr>
            <a:normAutofit lnSpcReduction="10000"/>
          </a:bodyPr>
          <a:lstStyle/>
          <a:p>
            <a:pPr marL="0" lvl="0" indent="0" eaLnBrk="0" fontAlgn="base" hangingPunct="0">
              <a:spcBef>
                <a:spcPct val="0"/>
              </a:spcBef>
              <a:spcAft>
                <a:spcPct val="0"/>
              </a:spcAft>
              <a:buFontTx/>
              <a:buChar char="•"/>
            </a:pPr>
            <a:r>
              <a:rPr lang="en-US" b="1" dirty="0"/>
              <a:t>Eg: Gonorrhea:  </a:t>
            </a:r>
            <a:r>
              <a:rPr lang="en-US" dirty="0"/>
              <a:t>The word comes from Greek </a:t>
            </a:r>
            <a:r>
              <a:rPr lang="en-US" b="1" dirty="0" err="1"/>
              <a:t>gonos</a:t>
            </a:r>
            <a:r>
              <a:rPr lang="en-US" dirty="0"/>
              <a:t> (“seed”) + </a:t>
            </a:r>
            <a:r>
              <a:rPr lang="en-US" b="1" dirty="0"/>
              <a:t>-</a:t>
            </a:r>
            <a:r>
              <a:rPr lang="en-US" b="1" dirty="0" err="1"/>
              <a:t>rrhea</a:t>
            </a:r>
            <a:r>
              <a:rPr lang="en-US" dirty="0"/>
              <a:t> (“flow”). Galen used it to describe the discharge of semen-like fluid from the urethra</a:t>
            </a:r>
          </a:p>
          <a:p>
            <a:pPr marL="0" lvl="0" indent="0" eaLnBrk="0" fontAlgn="base" hangingPunct="0">
              <a:spcBef>
                <a:spcPct val="0"/>
              </a:spcBef>
              <a:spcAft>
                <a:spcPct val="0"/>
              </a:spcAft>
              <a:buNone/>
            </a:pPr>
            <a:endParaRPr lang="en-US" dirty="0"/>
          </a:p>
          <a:p>
            <a:pPr marL="0" lvl="0" indent="0" eaLnBrk="0" fontAlgn="base" hangingPunct="0">
              <a:spcBef>
                <a:spcPct val="0"/>
              </a:spcBef>
              <a:spcAft>
                <a:spcPct val="0"/>
              </a:spcAft>
              <a:buFontTx/>
              <a:buChar char="•"/>
            </a:pPr>
            <a:r>
              <a:rPr lang="en-US" b="1" dirty="0"/>
              <a:t>Eg: Vein of Galen:  </a:t>
            </a:r>
            <a:r>
              <a:rPr lang="en-US" dirty="0"/>
              <a:t>A large vein in the brain named after him; modern medicine still uses this anatomical term, e.g., </a:t>
            </a:r>
            <a:r>
              <a:rPr lang="en-US" b="1" dirty="0"/>
              <a:t>Vein of Galen malformations</a:t>
            </a:r>
          </a:p>
          <a:p>
            <a:pPr marL="0" lvl="0" indent="0" eaLnBrk="0" fontAlgn="base" hangingPunct="0">
              <a:spcBef>
                <a:spcPct val="0"/>
              </a:spcBef>
              <a:spcAft>
                <a:spcPct val="0"/>
              </a:spcAft>
              <a:buNone/>
            </a:pPr>
            <a:endParaRPr lang="en-US" dirty="0"/>
          </a:p>
          <a:p>
            <a:pPr marL="0" lvl="0" indent="0" eaLnBrk="0" fontAlgn="base" hangingPunct="0">
              <a:spcBef>
                <a:spcPct val="0"/>
              </a:spcBef>
              <a:spcAft>
                <a:spcPct val="0"/>
              </a:spcAft>
              <a:buFontTx/>
              <a:buChar char="•"/>
            </a:pPr>
            <a:r>
              <a:rPr lang="en-US" b="1" i="1" dirty="0"/>
              <a:t>Eg: Pneuma:   </a:t>
            </a:r>
            <a:r>
              <a:rPr lang="en-US" dirty="0"/>
              <a:t>Greek for “breath” or “vital spirit.” Galen’s physiological theory described </a:t>
            </a:r>
            <a:r>
              <a:rPr lang="en-US" b="1" dirty="0"/>
              <a:t>pneuma</a:t>
            </a:r>
            <a:r>
              <a:rPr lang="en-US" dirty="0"/>
              <a:t> as a vital force circulating through the body, influencing the names of terms like </a:t>
            </a:r>
            <a:r>
              <a:rPr lang="en-US" b="1" dirty="0"/>
              <a:t>pneumonia</a:t>
            </a:r>
            <a:r>
              <a:rPr lang="en-US" dirty="0"/>
              <a:t> and </a:t>
            </a:r>
            <a:r>
              <a:rPr lang="en-US" b="1" dirty="0"/>
              <a:t>pneumonectomy</a:t>
            </a:r>
            <a:endParaRPr lang="en-IN" dirty="0"/>
          </a:p>
          <a:p>
            <a:r>
              <a:rPr lang="en-US" dirty="0"/>
              <a:t>During the Roman Empire, Latin became the dominant language, and many anatomical terms were coined using Latin words.</a:t>
            </a:r>
            <a:endParaRPr lang="en-US" altLang="en-US" dirty="0"/>
          </a:p>
          <a:p>
            <a:pPr>
              <a:spcBef>
                <a:spcPts val="1200"/>
              </a:spcBef>
              <a:spcAft>
                <a:spcPts val="600"/>
              </a:spcAft>
              <a:buNone/>
            </a:pPr>
            <a:r>
              <a:rPr lang="en-US" altLang="en-US" b="1" dirty="0"/>
              <a:t>Example</a:t>
            </a:r>
          </a:p>
          <a:p>
            <a:pPr marL="0" indent="0">
              <a:spcBef>
                <a:spcPts val="1200"/>
              </a:spcBef>
              <a:spcAft>
                <a:spcPts val="600"/>
              </a:spcAft>
              <a:buNone/>
            </a:pPr>
            <a:r>
              <a:rPr lang="en-US" altLang="en-US" dirty="0"/>
              <a:t>The term bowel (intestine) originated from the Latin   </a:t>
            </a:r>
            <a:r>
              <a:rPr lang="en-US" altLang="en-US" i="1" dirty="0" err="1"/>
              <a:t>botulus</a:t>
            </a:r>
            <a:r>
              <a:rPr lang="en-US" altLang="en-US" dirty="0"/>
              <a:t>, meaning      sausage.  </a:t>
            </a:r>
            <a:endParaRPr lang="en-US" dirty="0"/>
          </a:p>
          <a:p>
            <a:endParaRPr lang="en-IN" dirty="0"/>
          </a:p>
        </p:txBody>
      </p:sp>
    </p:spTree>
    <p:extLst>
      <p:ext uri="{BB962C8B-B14F-4D97-AF65-F5344CB8AC3E}">
        <p14:creationId xmlns:p14="http://schemas.microsoft.com/office/powerpoint/2010/main" val="459254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8D007-02A3-B948-0DCA-18119FB68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5A2EB-E031-2EC2-E007-5D453F38B654}"/>
              </a:ext>
            </a:extLst>
          </p:cNvPr>
          <p:cNvSpPr>
            <a:spLocks noGrp="1"/>
          </p:cNvSpPr>
          <p:nvPr>
            <p:ph type="title"/>
          </p:nvPr>
        </p:nvSpPr>
        <p:spPr/>
        <p:txBody>
          <a:bodyPr/>
          <a:lstStyle/>
          <a:p>
            <a:r>
              <a:rPr lang="en-US" dirty="0"/>
              <a:t>History </a:t>
            </a:r>
            <a:endParaRPr lang="en-IN" dirty="0"/>
          </a:p>
        </p:txBody>
      </p:sp>
      <p:sp>
        <p:nvSpPr>
          <p:cNvPr id="3" name="Content Placeholder 2">
            <a:extLst>
              <a:ext uri="{FF2B5EF4-FFF2-40B4-BE49-F238E27FC236}">
                <a16:creationId xmlns:a16="http://schemas.microsoft.com/office/drawing/2014/main" id="{B51B5FB8-42D1-C0EA-D10F-14AD271BC8A6}"/>
              </a:ext>
            </a:extLst>
          </p:cNvPr>
          <p:cNvSpPr>
            <a:spLocks noGrp="1"/>
          </p:cNvSpPr>
          <p:nvPr>
            <p:ph idx="1"/>
          </p:nvPr>
        </p:nvSpPr>
        <p:spPr/>
        <p:txBody>
          <a:bodyPr>
            <a:normAutofit/>
          </a:bodyPr>
          <a:lstStyle/>
          <a:p>
            <a:pPr algn="just">
              <a:spcBef>
                <a:spcPts val="1200"/>
              </a:spcBef>
              <a:spcAft>
                <a:spcPts val="1200"/>
              </a:spcAft>
              <a:buFont typeface="Wingdings" pitchFamily="2" charset="2"/>
              <a:buChar char="q"/>
            </a:pPr>
            <a:r>
              <a:rPr lang="en-IN" dirty="0"/>
              <a:t>During the Renaissance period, the science of anatomy begun to develop. </a:t>
            </a:r>
          </a:p>
          <a:p>
            <a:pPr algn="just">
              <a:spcBef>
                <a:spcPts val="1200"/>
              </a:spcBef>
              <a:spcAft>
                <a:spcPts val="1200"/>
              </a:spcAft>
              <a:buFont typeface="Wingdings" pitchFamily="2" charset="2"/>
              <a:buChar char="q"/>
            </a:pPr>
            <a:r>
              <a:rPr lang="en-IN" dirty="0"/>
              <a:t>Many early anatomists in </a:t>
            </a:r>
            <a:r>
              <a:rPr lang="en-IN" b="1" dirty="0">
                <a:solidFill>
                  <a:srgbClr val="FF0000"/>
                </a:solidFill>
              </a:rPr>
              <a:t>Italian</a:t>
            </a:r>
            <a:r>
              <a:rPr lang="en-IN" dirty="0"/>
              <a:t>  Medical schools gave Latin names to the structures they discovered &amp; </a:t>
            </a:r>
            <a:r>
              <a:rPr lang="en-US" dirty="0"/>
              <a:t>this tradition continues today.</a:t>
            </a:r>
            <a:endParaRPr lang="en-IN" dirty="0"/>
          </a:p>
          <a:p>
            <a:pPr algn="just">
              <a:spcBef>
                <a:spcPts val="1200"/>
              </a:spcBef>
              <a:spcAft>
                <a:spcPts val="1200"/>
              </a:spcAft>
              <a:buFont typeface="Wingdings" pitchFamily="2" charset="2"/>
              <a:buChar char="q"/>
            </a:pPr>
            <a:r>
              <a:rPr lang="en-IN" dirty="0"/>
              <a:t>As a result, </a:t>
            </a:r>
            <a:r>
              <a:rPr lang="en-US" dirty="0"/>
              <a:t>Latin is the source of most root words in medical terminology and has greatly influenced English medical language</a:t>
            </a:r>
          </a:p>
          <a:p>
            <a:pPr algn="just">
              <a:spcBef>
                <a:spcPts val="1200"/>
              </a:spcBef>
              <a:spcAft>
                <a:spcPts val="1200"/>
              </a:spcAft>
              <a:buFont typeface="Wingdings" pitchFamily="2" charset="2"/>
              <a:buChar char="q"/>
            </a:pPr>
            <a:r>
              <a:rPr lang="en-US" altLang="en-US" dirty="0"/>
              <a:t>Hence the result is </a:t>
            </a:r>
            <a:r>
              <a:rPr lang="en-US" altLang="en-US" b="1" dirty="0">
                <a:solidFill>
                  <a:srgbClr val="FF0000"/>
                </a:solidFill>
              </a:rPr>
              <a:t>90% Greek and Latin in origin,</a:t>
            </a:r>
            <a:r>
              <a:rPr lang="en-US" altLang="en-US" dirty="0"/>
              <a:t> with influences of several other cultures.</a:t>
            </a:r>
          </a:p>
          <a:p>
            <a:endParaRPr lang="en-IN" dirty="0"/>
          </a:p>
        </p:txBody>
      </p:sp>
    </p:spTree>
    <p:extLst>
      <p:ext uri="{BB962C8B-B14F-4D97-AF65-F5344CB8AC3E}">
        <p14:creationId xmlns:p14="http://schemas.microsoft.com/office/powerpoint/2010/main" val="1168972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A6BA-40F2-D669-34DE-8AB36D675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EC5EE-7CFF-C7A7-3825-B40C16C649A0}"/>
              </a:ext>
            </a:extLst>
          </p:cNvPr>
          <p:cNvSpPr>
            <a:spLocks noGrp="1"/>
          </p:cNvSpPr>
          <p:nvPr>
            <p:ph type="title"/>
          </p:nvPr>
        </p:nvSpPr>
        <p:spPr/>
        <p:txBody>
          <a:bodyPr/>
          <a:lstStyle/>
          <a:p>
            <a:r>
              <a:rPr lang="en-US" dirty="0"/>
              <a:t>History </a:t>
            </a:r>
            <a:endParaRPr lang="en-IN" dirty="0"/>
          </a:p>
        </p:txBody>
      </p:sp>
      <p:sp>
        <p:nvSpPr>
          <p:cNvPr id="3" name="Content Placeholder 2">
            <a:extLst>
              <a:ext uri="{FF2B5EF4-FFF2-40B4-BE49-F238E27FC236}">
                <a16:creationId xmlns:a16="http://schemas.microsoft.com/office/drawing/2014/main" id="{FE0F17B0-E81A-BB4B-A2DD-0635B74E3EB0}"/>
              </a:ext>
            </a:extLst>
          </p:cNvPr>
          <p:cNvSpPr>
            <a:spLocks noGrp="1"/>
          </p:cNvSpPr>
          <p:nvPr>
            <p:ph idx="1"/>
          </p:nvPr>
        </p:nvSpPr>
        <p:spPr/>
        <p:txBody>
          <a:bodyPr>
            <a:normAutofit lnSpcReduction="10000"/>
          </a:bodyPr>
          <a:lstStyle/>
          <a:p>
            <a:pPr algn="just">
              <a:spcBef>
                <a:spcPts val="1200"/>
              </a:spcBef>
              <a:spcAft>
                <a:spcPts val="1200"/>
              </a:spcAft>
              <a:buFont typeface="Wingdings" pitchFamily="2" charset="2"/>
              <a:buChar char="q"/>
            </a:pPr>
            <a:r>
              <a:rPr lang="en-IN" dirty="0"/>
              <a:t>Some older medical roots have their origins in </a:t>
            </a:r>
            <a:r>
              <a:rPr lang="en-IN" b="1" dirty="0">
                <a:solidFill>
                  <a:srgbClr val="FF0000"/>
                </a:solidFill>
              </a:rPr>
              <a:t>Arabic</a:t>
            </a:r>
            <a:r>
              <a:rPr lang="en-IN" dirty="0"/>
              <a:t> as Arabic scholars taught medicine during the middle ages. </a:t>
            </a:r>
          </a:p>
          <a:p>
            <a:pPr marL="0" indent="0" algn="just">
              <a:spcBef>
                <a:spcPts val="1200"/>
              </a:spcBef>
              <a:spcAft>
                <a:spcPts val="1200"/>
              </a:spcAft>
              <a:buNone/>
            </a:pPr>
            <a:r>
              <a:rPr lang="en-IN" dirty="0"/>
              <a:t>   Eg:  Catheter, syrup, alcohol</a:t>
            </a:r>
          </a:p>
          <a:p>
            <a:pPr algn="just">
              <a:spcBef>
                <a:spcPts val="1200"/>
              </a:spcBef>
              <a:spcAft>
                <a:spcPts val="1200"/>
              </a:spcAft>
              <a:buFont typeface="Wingdings" pitchFamily="2" charset="2"/>
              <a:buChar char="q"/>
            </a:pPr>
            <a:r>
              <a:rPr lang="en-IN" dirty="0"/>
              <a:t>Most recent modern roots come from </a:t>
            </a:r>
            <a:r>
              <a:rPr lang="en-IN" b="1" dirty="0">
                <a:solidFill>
                  <a:srgbClr val="FF0000"/>
                </a:solidFill>
              </a:rPr>
              <a:t>English language  </a:t>
            </a:r>
            <a:r>
              <a:rPr lang="en-IN" dirty="0"/>
              <a:t>reflecting English’s dominant role in medicine and biomedical sciences over the past 50 years.</a:t>
            </a:r>
          </a:p>
          <a:p>
            <a:pPr algn="just">
              <a:buFont typeface="Wingdings" pitchFamily="2" charset="2"/>
              <a:buChar char="q"/>
            </a:pPr>
            <a:r>
              <a:rPr lang="en-US" dirty="0"/>
              <a:t>Over the years, German, French, and English doctors and medical researchers became leaders in Western medicine. They introduced many new discoveries about the human body, diseases, and treatments—and often used their own languages when naming these discoveries.</a:t>
            </a:r>
          </a:p>
          <a:p>
            <a:pPr algn="just">
              <a:buFont typeface="Wingdings" pitchFamily="2" charset="2"/>
              <a:buChar char="q"/>
            </a:pPr>
            <a:r>
              <a:rPr lang="en-US" b="1" dirty="0"/>
              <a:t>Langerhans’ islets</a:t>
            </a:r>
            <a:r>
              <a:rPr lang="en-US" dirty="0"/>
              <a:t> – Named in honor of Paul Langerhans, who identified the clusters of hormone-producing cells in the pancreas</a:t>
            </a:r>
          </a:p>
          <a:p>
            <a:pPr algn="just">
              <a:buFont typeface="Wingdings" pitchFamily="2" charset="2"/>
              <a:buChar char="q"/>
            </a:pPr>
            <a:r>
              <a:rPr lang="en-US" b="1" dirty="0"/>
              <a:t>Schwann cells</a:t>
            </a:r>
            <a:r>
              <a:rPr lang="en-US" dirty="0"/>
              <a:t> – Named after Theodor Schwann, who extended cell theory to animal tissues</a:t>
            </a:r>
          </a:p>
        </p:txBody>
      </p:sp>
    </p:spTree>
    <p:extLst>
      <p:ext uri="{BB962C8B-B14F-4D97-AF65-F5344CB8AC3E}">
        <p14:creationId xmlns:p14="http://schemas.microsoft.com/office/powerpoint/2010/main" val="3990920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532F-9E69-7BBB-5280-9613BB0B8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7039D-27FE-7834-B774-F6775BB38C0D}"/>
              </a:ext>
            </a:extLst>
          </p:cNvPr>
          <p:cNvSpPr>
            <a:spLocks noGrp="1"/>
          </p:cNvSpPr>
          <p:nvPr>
            <p:ph type="title"/>
          </p:nvPr>
        </p:nvSpPr>
        <p:spPr/>
        <p:txBody>
          <a:bodyPr/>
          <a:lstStyle/>
          <a:p>
            <a:r>
              <a:rPr lang="en-US" dirty="0"/>
              <a:t>History </a:t>
            </a:r>
            <a:endParaRPr lang="en-IN" dirty="0"/>
          </a:p>
        </p:txBody>
      </p:sp>
      <p:sp>
        <p:nvSpPr>
          <p:cNvPr id="3" name="Content Placeholder 2">
            <a:extLst>
              <a:ext uri="{FF2B5EF4-FFF2-40B4-BE49-F238E27FC236}">
                <a16:creationId xmlns:a16="http://schemas.microsoft.com/office/drawing/2014/main" id="{C8B3D39B-E437-AFAF-457A-102D4166ABA9}"/>
              </a:ext>
            </a:extLst>
          </p:cNvPr>
          <p:cNvSpPr>
            <a:spLocks noGrp="1"/>
          </p:cNvSpPr>
          <p:nvPr>
            <p:ph idx="1"/>
          </p:nvPr>
        </p:nvSpPr>
        <p:spPr/>
        <p:txBody>
          <a:bodyPr>
            <a:normAutofit/>
          </a:bodyPr>
          <a:lstStyle/>
          <a:p>
            <a:pPr algn="just">
              <a:spcBef>
                <a:spcPts val="1200"/>
              </a:spcBef>
              <a:spcAft>
                <a:spcPts val="1200"/>
              </a:spcAft>
              <a:buFont typeface="Wingdings" pitchFamily="2" charset="2"/>
              <a:buChar char="q"/>
            </a:pPr>
            <a:r>
              <a:rPr lang="en-IN" b="1" dirty="0">
                <a:solidFill>
                  <a:srgbClr val="FF0000"/>
                </a:solidFill>
              </a:rPr>
              <a:t>Proficiency in Latin or Greek </a:t>
            </a:r>
            <a:r>
              <a:rPr lang="en-IN" dirty="0"/>
              <a:t>is not required to learn medical terminology </a:t>
            </a:r>
          </a:p>
          <a:p>
            <a:pPr algn="just">
              <a:spcBef>
                <a:spcPts val="1200"/>
              </a:spcBef>
              <a:spcAft>
                <a:spcPts val="1200"/>
              </a:spcAft>
              <a:buFont typeface="Wingdings" pitchFamily="2" charset="2"/>
              <a:buChar char="q"/>
            </a:pPr>
            <a:r>
              <a:rPr lang="en-IN" dirty="0"/>
              <a:t>However, more important than learning </a:t>
            </a:r>
            <a:r>
              <a:rPr lang="en-IN" b="1" dirty="0">
                <a:solidFill>
                  <a:srgbClr val="0070C0"/>
                </a:solidFill>
              </a:rPr>
              <a:t>Latin or Greek</a:t>
            </a:r>
            <a:r>
              <a:rPr lang="en-IN" dirty="0"/>
              <a:t>,  is learning common </a:t>
            </a:r>
            <a:r>
              <a:rPr lang="en-IN" b="1" u="sng" dirty="0">
                <a:solidFill>
                  <a:srgbClr val="FF0000"/>
                </a:solidFill>
              </a:rPr>
              <a:t>root words, prefixes, and suffixes</a:t>
            </a:r>
            <a:r>
              <a:rPr lang="en-IN" dirty="0"/>
              <a:t>.</a:t>
            </a:r>
          </a:p>
          <a:p>
            <a:pPr algn="just">
              <a:spcBef>
                <a:spcPts val="1200"/>
              </a:spcBef>
              <a:spcAft>
                <a:spcPts val="1200"/>
              </a:spcAft>
              <a:buFont typeface="Wingdings" pitchFamily="2" charset="2"/>
              <a:buChar char="q"/>
            </a:pPr>
            <a:r>
              <a:rPr lang="en-IN" dirty="0"/>
              <a:t>The fundamental unit of each medical word is the root, which  establishes the basic meaning of the word part to which prefixes and suffixes are added.</a:t>
            </a:r>
          </a:p>
        </p:txBody>
      </p:sp>
    </p:spTree>
    <p:extLst>
      <p:ext uri="{BB962C8B-B14F-4D97-AF65-F5344CB8AC3E}">
        <p14:creationId xmlns:p14="http://schemas.microsoft.com/office/powerpoint/2010/main" val="3398100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D29DA-B948-4143-1765-984E71748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67E52-EE03-C0D3-D1A4-97991FD8A752}"/>
              </a:ext>
            </a:extLst>
          </p:cNvPr>
          <p:cNvSpPr>
            <a:spLocks noGrp="1"/>
          </p:cNvSpPr>
          <p:nvPr>
            <p:ph type="title"/>
          </p:nvPr>
        </p:nvSpPr>
        <p:spPr/>
        <p:txBody>
          <a:bodyPr/>
          <a:lstStyle/>
          <a:p>
            <a:r>
              <a:rPr lang="en-US" dirty="0"/>
              <a:t>Word parts </a:t>
            </a:r>
            <a:endParaRPr lang="en-IN" dirty="0"/>
          </a:p>
        </p:txBody>
      </p:sp>
      <p:sp>
        <p:nvSpPr>
          <p:cNvPr id="3" name="Content Placeholder 2">
            <a:extLst>
              <a:ext uri="{FF2B5EF4-FFF2-40B4-BE49-F238E27FC236}">
                <a16:creationId xmlns:a16="http://schemas.microsoft.com/office/drawing/2014/main" id="{999A7D4A-B717-59C4-41F7-279659AFFC01}"/>
              </a:ext>
            </a:extLst>
          </p:cNvPr>
          <p:cNvSpPr>
            <a:spLocks noGrp="1"/>
          </p:cNvSpPr>
          <p:nvPr>
            <p:ph idx="1"/>
          </p:nvPr>
        </p:nvSpPr>
        <p:spPr/>
        <p:txBody>
          <a:bodyPr>
            <a:normAutofit/>
          </a:bodyPr>
          <a:lstStyle/>
          <a:p>
            <a:pPr algn="just">
              <a:spcBef>
                <a:spcPts val="1200"/>
              </a:spcBef>
              <a:spcAft>
                <a:spcPts val="1200"/>
              </a:spcAft>
              <a:buNone/>
            </a:pPr>
            <a:r>
              <a:rPr lang="en-IN" dirty="0"/>
              <a:t>Medical terminology is composed of a </a:t>
            </a:r>
            <a:r>
              <a:rPr lang="en-IN" b="1" dirty="0">
                <a:solidFill>
                  <a:srgbClr val="0070C0"/>
                </a:solidFill>
              </a:rPr>
              <a:t>prefix, root word, and suffix:</a:t>
            </a:r>
          </a:p>
          <a:p>
            <a:pPr algn="just">
              <a:spcBef>
                <a:spcPts val="1200"/>
              </a:spcBef>
              <a:spcAft>
                <a:spcPts val="1200"/>
              </a:spcAft>
              <a:buFont typeface="Wingdings" pitchFamily="2" charset="2"/>
              <a:buChar char="q"/>
            </a:pPr>
            <a:r>
              <a:rPr lang="en-IN" b="1" dirty="0">
                <a:solidFill>
                  <a:srgbClr val="FF0000"/>
                </a:solidFill>
              </a:rPr>
              <a:t>Prefix</a:t>
            </a:r>
            <a:r>
              <a:rPr lang="en-IN" dirty="0"/>
              <a:t>: A prefix is placed at the beginning of a word to   modify or change its meaning. Pre means "</a:t>
            </a:r>
            <a:r>
              <a:rPr lang="en-IN" b="1" u="sng" dirty="0">
                <a:solidFill>
                  <a:srgbClr val="002060"/>
                </a:solidFill>
              </a:rPr>
              <a:t>before</a:t>
            </a:r>
            <a:r>
              <a:rPr lang="en-IN" dirty="0"/>
              <a:t>."       Prefixes may also indicate a location, number, or time.</a:t>
            </a:r>
          </a:p>
          <a:p>
            <a:pPr algn="just">
              <a:spcBef>
                <a:spcPts val="1200"/>
              </a:spcBef>
              <a:spcAft>
                <a:spcPts val="1200"/>
              </a:spcAft>
              <a:buFont typeface="Wingdings" pitchFamily="2" charset="2"/>
              <a:buChar char="q"/>
            </a:pPr>
            <a:r>
              <a:rPr lang="en-IN" b="1" dirty="0">
                <a:solidFill>
                  <a:srgbClr val="FF0000"/>
                </a:solidFill>
              </a:rPr>
              <a:t>Root</a:t>
            </a:r>
            <a:r>
              <a:rPr lang="en-IN" dirty="0"/>
              <a:t>: Central part of a word.</a:t>
            </a:r>
          </a:p>
          <a:p>
            <a:pPr algn="just">
              <a:spcBef>
                <a:spcPts val="1200"/>
              </a:spcBef>
              <a:spcAft>
                <a:spcPts val="1200"/>
              </a:spcAft>
              <a:buFont typeface="Wingdings" pitchFamily="2" charset="2"/>
              <a:buChar char="q"/>
            </a:pPr>
            <a:r>
              <a:rPr lang="en-IN" b="1" dirty="0">
                <a:solidFill>
                  <a:srgbClr val="FF0000"/>
                </a:solidFill>
              </a:rPr>
              <a:t>Suffix</a:t>
            </a:r>
            <a:r>
              <a:rPr lang="en-IN" dirty="0"/>
              <a:t>: The ending part of a word that modifies the meaning of the word.</a:t>
            </a:r>
          </a:p>
          <a:p>
            <a:pPr marL="0" indent="0">
              <a:buNone/>
            </a:pPr>
            <a:r>
              <a:rPr lang="en-US" dirty="0">
                <a:solidFill>
                  <a:srgbClr val="FF0000"/>
                </a:solidFill>
              </a:rPr>
              <a:t>Eg:  Root </a:t>
            </a:r>
            <a:r>
              <a:rPr lang="en-US" dirty="0"/>
              <a:t>   + </a:t>
            </a:r>
            <a:r>
              <a:rPr lang="en-US" dirty="0">
                <a:solidFill>
                  <a:srgbClr val="7030A0"/>
                </a:solidFill>
              </a:rPr>
              <a:t>Suffix</a:t>
            </a:r>
            <a:r>
              <a:rPr lang="en-US" dirty="0">
                <a:solidFill>
                  <a:schemeClr val="accent4"/>
                </a:solidFill>
              </a:rPr>
              <a:t>			</a:t>
            </a:r>
            <a:r>
              <a:rPr lang="en-US" dirty="0">
                <a:solidFill>
                  <a:srgbClr val="00B0F0"/>
                </a:solidFill>
              </a:rPr>
              <a:t>Prefix  </a:t>
            </a:r>
            <a:r>
              <a:rPr lang="en-US" dirty="0"/>
              <a:t>+</a:t>
            </a:r>
            <a:r>
              <a:rPr lang="en-US" dirty="0">
                <a:solidFill>
                  <a:srgbClr val="00B0F0"/>
                </a:solidFill>
              </a:rPr>
              <a:t>  </a:t>
            </a:r>
            <a:r>
              <a:rPr lang="en-US" dirty="0">
                <a:solidFill>
                  <a:srgbClr val="FF0000"/>
                </a:solidFill>
              </a:rPr>
              <a:t>Root</a:t>
            </a:r>
          </a:p>
          <a:p>
            <a:pPr marL="0" indent="0">
              <a:buNone/>
            </a:pPr>
            <a:r>
              <a:rPr lang="en-US" dirty="0"/>
              <a:t>       </a:t>
            </a:r>
            <a:r>
              <a:rPr lang="en-US" dirty="0">
                <a:solidFill>
                  <a:srgbClr val="FF0000"/>
                </a:solidFill>
              </a:rPr>
              <a:t>learn</a:t>
            </a:r>
            <a:r>
              <a:rPr lang="en-US" dirty="0"/>
              <a:t>   + </a:t>
            </a:r>
            <a:r>
              <a:rPr lang="en-US" dirty="0">
                <a:solidFill>
                  <a:srgbClr val="7030A0"/>
                </a:solidFill>
              </a:rPr>
              <a:t>er</a:t>
            </a:r>
            <a:r>
              <a:rPr lang="en-US" dirty="0"/>
              <a:t>   = </a:t>
            </a:r>
            <a:r>
              <a:rPr lang="en-US" b="1" dirty="0"/>
              <a:t>learner		</a:t>
            </a:r>
            <a:r>
              <a:rPr lang="en-US" dirty="0">
                <a:solidFill>
                  <a:srgbClr val="00B0F0"/>
                </a:solidFill>
              </a:rPr>
              <a:t>Re       </a:t>
            </a:r>
            <a:r>
              <a:rPr lang="en-US" dirty="0"/>
              <a:t>+</a:t>
            </a:r>
            <a:r>
              <a:rPr lang="en-US" dirty="0">
                <a:solidFill>
                  <a:srgbClr val="00B0F0"/>
                </a:solidFill>
              </a:rPr>
              <a:t>  </a:t>
            </a:r>
            <a:r>
              <a:rPr lang="en-US" dirty="0">
                <a:solidFill>
                  <a:srgbClr val="FF0000"/>
                </a:solidFill>
              </a:rPr>
              <a:t>learn </a:t>
            </a:r>
            <a:r>
              <a:rPr lang="en-US" dirty="0"/>
              <a:t>= relearn</a:t>
            </a:r>
            <a:endParaRPr lang="en-US" b="1" dirty="0"/>
          </a:p>
        </p:txBody>
      </p:sp>
    </p:spTree>
    <p:extLst>
      <p:ext uri="{BB962C8B-B14F-4D97-AF65-F5344CB8AC3E}">
        <p14:creationId xmlns:p14="http://schemas.microsoft.com/office/powerpoint/2010/main" val="129616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CC6D3-D7A5-A9C2-DB92-82FBA085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96B67-890E-91F7-47AF-8F4B7D9BF541}"/>
              </a:ext>
            </a:extLst>
          </p:cNvPr>
          <p:cNvSpPr>
            <a:spLocks noGrp="1"/>
          </p:cNvSpPr>
          <p:nvPr>
            <p:ph type="title"/>
          </p:nvPr>
        </p:nvSpPr>
        <p:spPr/>
        <p:txBody>
          <a:bodyPr/>
          <a:lstStyle/>
          <a:p>
            <a:r>
              <a:rPr lang="en-US" dirty="0"/>
              <a:t>Word parts examples </a:t>
            </a:r>
            <a:endParaRPr lang="en-IN" dirty="0"/>
          </a:p>
        </p:txBody>
      </p:sp>
      <p:sp>
        <p:nvSpPr>
          <p:cNvPr id="3" name="Content Placeholder 2">
            <a:extLst>
              <a:ext uri="{FF2B5EF4-FFF2-40B4-BE49-F238E27FC236}">
                <a16:creationId xmlns:a16="http://schemas.microsoft.com/office/drawing/2014/main" id="{EFE87309-9A2A-4B53-1E99-9E74AB686FBD}"/>
              </a:ext>
            </a:extLst>
          </p:cNvPr>
          <p:cNvSpPr>
            <a:spLocks noGrp="1"/>
          </p:cNvSpPr>
          <p:nvPr>
            <p:ph idx="1"/>
          </p:nvPr>
        </p:nvSpPr>
        <p:spPr/>
        <p:txBody>
          <a:bodyPr>
            <a:normAutofit/>
          </a:bodyPr>
          <a:lstStyle/>
          <a:p>
            <a:pPr algn="just">
              <a:spcBef>
                <a:spcPts val="1200"/>
              </a:spcBef>
              <a:spcAft>
                <a:spcPts val="1200"/>
              </a:spcAft>
              <a:buFont typeface="Wingdings" pitchFamily="2" charset="2"/>
              <a:buChar char="q"/>
            </a:pPr>
            <a:r>
              <a:rPr lang="en-US" altLang="en-US" dirty="0"/>
              <a:t>The Greek root </a:t>
            </a:r>
            <a:r>
              <a:rPr lang="en-US" altLang="en-US" b="1" dirty="0" err="1">
                <a:solidFill>
                  <a:srgbClr val="C00000"/>
                </a:solidFill>
              </a:rPr>
              <a:t>nephr</a:t>
            </a:r>
            <a:r>
              <a:rPr lang="en-US" altLang="en-US" dirty="0">
                <a:solidFill>
                  <a:srgbClr val="C00000"/>
                </a:solidFill>
              </a:rPr>
              <a:t> </a:t>
            </a:r>
            <a:r>
              <a:rPr lang="en-US" altLang="en-US" dirty="0"/>
              <a:t>and the Latin root </a:t>
            </a:r>
            <a:r>
              <a:rPr lang="en-US" altLang="en-US" b="1" dirty="0">
                <a:solidFill>
                  <a:srgbClr val="C00000"/>
                </a:solidFill>
              </a:rPr>
              <a:t>ren</a:t>
            </a:r>
            <a:r>
              <a:rPr lang="en-US" altLang="en-US" dirty="0"/>
              <a:t> are used to refer to the kidney.  </a:t>
            </a:r>
          </a:p>
          <a:p>
            <a:pPr algn="just">
              <a:spcBef>
                <a:spcPts val="1200"/>
              </a:spcBef>
              <a:spcAft>
                <a:spcPts val="1200"/>
              </a:spcAft>
              <a:buFont typeface="Wingdings" pitchFamily="2" charset="2"/>
              <a:buChar char="q"/>
            </a:pPr>
            <a:r>
              <a:rPr lang="en-US" altLang="en-US" dirty="0"/>
              <a:t>The Greek word </a:t>
            </a:r>
            <a:r>
              <a:rPr lang="en-US" altLang="en-US" dirty="0" err="1"/>
              <a:t>kardia</a:t>
            </a:r>
            <a:r>
              <a:rPr lang="en-US" altLang="en-US" dirty="0"/>
              <a:t>, meaning “heart”</a:t>
            </a:r>
          </a:p>
          <a:p>
            <a:pPr algn="just">
              <a:spcBef>
                <a:spcPts val="1200"/>
              </a:spcBef>
              <a:spcAft>
                <a:spcPts val="1200"/>
              </a:spcAft>
              <a:buFont typeface="Wingdings" pitchFamily="2" charset="2"/>
              <a:buChar char="q"/>
            </a:pPr>
            <a:r>
              <a:rPr lang="en-US" altLang="en-US" dirty="0"/>
              <a:t>The Latin word </a:t>
            </a:r>
            <a:r>
              <a:rPr lang="en-US" altLang="en-US" dirty="0" err="1"/>
              <a:t>pulmo</a:t>
            </a:r>
            <a:r>
              <a:rPr lang="en-US" altLang="en-US" dirty="0"/>
              <a:t>, meaning “lung”</a:t>
            </a:r>
          </a:p>
          <a:p>
            <a:pPr marL="0" indent="0">
              <a:buNone/>
            </a:pPr>
            <a:r>
              <a:rPr lang="en-US" dirty="0"/>
              <a:t>The same root may have different meanings.</a:t>
            </a:r>
          </a:p>
          <a:p>
            <a:r>
              <a:rPr lang="en-US" dirty="0"/>
              <a:t>The root “</a:t>
            </a:r>
            <a:r>
              <a:rPr lang="en-US" dirty="0" err="1"/>
              <a:t>myel</a:t>
            </a:r>
            <a:r>
              <a:rPr lang="en-US" dirty="0"/>
              <a:t>” means “marrow” may apply either the bone marrow or the spinal cord.</a:t>
            </a:r>
          </a:p>
          <a:p>
            <a:r>
              <a:rPr lang="en-US" dirty="0"/>
              <a:t>The root “</a:t>
            </a:r>
            <a:r>
              <a:rPr lang="en-US" dirty="0" err="1"/>
              <a:t>Scler</a:t>
            </a:r>
            <a:r>
              <a:rPr lang="en-US" dirty="0"/>
              <a:t>” means “hard” which also apply to the white of the eye sclera</a:t>
            </a:r>
          </a:p>
          <a:p>
            <a:r>
              <a:rPr lang="en-US" dirty="0"/>
              <a:t>Cyst means “a filled sac or pouch” but it also refers specifically to urinary bladder </a:t>
            </a:r>
          </a:p>
          <a:p>
            <a:pPr algn="just">
              <a:spcBef>
                <a:spcPts val="1200"/>
              </a:spcBef>
              <a:spcAft>
                <a:spcPts val="1200"/>
              </a:spcAft>
              <a:buFont typeface="Wingdings" pitchFamily="2" charset="2"/>
              <a:buChar char="q"/>
            </a:pPr>
            <a:endParaRPr lang="en-US" altLang="en-US" dirty="0"/>
          </a:p>
        </p:txBody>
      </p:sp>
    </p:spTree>
    <p:extLst>
      <p:ext uri="{BB962C8B-B14F-4D97-AF65-F5344CB8AC3E}">
        <p14:creationId xmlns:p14="http://schemas.microsoft.com/office/powerpoint/2010/main" val="2139452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62F4D-BE50-8317-3AE5-DB8FCCFC6A22}"/>
              </a:ext>
            </a:extLst>
          </p:cNvPr>
          <p:cNvSpPr>
            <a:spLocks noGrp="1"/>
          </p:cNvSpPr>
          <p:nvPr>
            <p:ph type="title"/>
          </p:nvPr>
        </p:nvSpPr>
        <p:spPr/>
        <p:txBody>
          <a:bodyPr/>
          <a:lstStyle/>
          <a:p>
            <a:r>
              <a:rPr lang="en-US" dirty="0"/>
              <a:t>Compound words</a:t>
            </a:r>
            <a:endParaRPr lang="en-IN" dirty="0"/>
          </a:p>
        </p:txBody>
      </p:sp>
      <p:sp>
        <p:nvSpPr>
          <p:cNvPr id="3" name="Content Placeholder 2">
            <a:extLst>
              <a:ext uri="{FF2B5EF4-FFF2-40B4-BE49-F238E27FC236}">
                <a16:creationId xmlns:a16="http://schemas.microsoft.com/office/drawing/2014/main" id="{C0839B47-8A68-8A72-F538-82798889FF2B}"/>
              </a:ext>
            </a:extLst>
          </p:cNvPr>
          <p:cNvSpPr>
            <a:spLocks noGrp="1"/>
          </p:cNvSpPr>
          <p:nvPr>
            <p:ph idx="1"/>
          </p:nvPr>
        </p:nvSpPr>
        <p:spPr/>
        <p:txBody>
          <a:bodyPr/>
          <a:lstStyle/>
          <a:p>
            <a:pPr marL="0" indent="0">
              <a:buNone/>
            </a:pPr>
            <a:r>
              <a:rPr lang="en-US" dirty="0"/>
              <a:t>Compound words contain more than one root.</a:t>
            </a:r>
          </a:p>
          <a:p>
            <a:pPr marL="0" indent="0">
              <a:buNone/>
            </a:pPr>
            <a:endParaRPr lang="en-US" dirty="0"/>
          </a:p>
          <a:p>
            <a:r>
              <a:rPr lang="en-US" dirty="0"/>
              <a:t>Eg:  Cardiovascular:  Pertaining to the heart and blood vessels</a:t>
            </a:r>
          </a:p>
          <a:p>
            <a:endParaRPr lang="en-US" dirty="0"/>
          </a:p>
          <a:p>
            <a:r>
              <a:rPr lang="en-US" dirty="0"/>
              <a:t>Eg:  Urogenital:  Pertaining to the urinary and reproductive systems</a:t>
            </a:r>
          </a:p>
          <a:p>
            <a:endParaRPr lang="en-US" dirty="0"/>
          </a:p>
          <a:p>
            <a:r>
              <a:rPr lang="en-US" dirty="0"/>
              <a:t>Eg:  lymphocyte:  a white blood cell found in the lymphatic system</a:t>
            </a:r>
          </a:p>
          <a:p>
            <a:endParaRPr lang="en-US" dirty="0"/>
          </a:p>
          <a:p>
            <a:r>
              <a:rPr lang="en-US" dirty="0"/>
              <a:t>Eg:  </a:t>
            </a:r>
            <a:r>
              <a:rPr lang="en-US" dirty="0" err="1"/>
              <a:t>Gastroenterolgy</a:t>
            </a:r>
            <a:r>
              <a:rPr lang="en-US" dirty="0"/>
              <a:t>:  pertaining to the stomach and the intestines</a:t>
            </a:r>
          </a:p>
          <a:p>
            <a:endParaRPr lang="en-IN" dirty="0"/>
          </a:p>
        </p:txBody>
      </p:sp>
    </p:spTree>
    <p:extLst>
      <p:ext uri="{BB962C8B-B14F-4D97-AF65-F5344CB8AC3E}">
        <p14:creationId xmlns:p14="http://schemas.microsoft.com/office/powerpoint/2010/main" val="3589345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AE25F-98F3-F6D1-0F9E-40ECB0203F8C}"/>
              </a:ext>
            </a:extLst>
          </p:cNvPr>
          <p:cNvSpPr>
            <a:spLocks noGrp="1"/>
          </p:cNvSpPr>
          <p:nvPr>
            <p:ph type="title"/>
          </p:nvPr>
        </p:nvSpPr>
        <p:spPr/>
        <p:txBody>
          <a:bodyPr/>
          <a:lstStyle/>
          <a:p>
            <a:r>
              <a:rPr lang="en-US" dirty="0"/>
              <a:t>Combining forms</a:t>
            </a:r>
            <a:endParaRPr lang="en-IN" dirty="0"/>
          </a:p>
        </p:txBody>
      </p:sp>
      <p:sp>
        <p:nvSpPr>
          <p:cNvPr id="3" name="Content Placeholder 2">
            <a:extLst>
              <a:ext uri="{FF2B5EF4-FFF2-40B4-BE49-F238E27FC236}">
                <a16:creationId xmlns:a16="http://schemas.microsoft.com/office/drawing/2014/main" id="{2ABEE3BB-61C7-789D-7F62-AE2B90DB7C2F}"/>
              </a:ext>
            </a:extLst>
          </p:cNvPr>
          <p:cNvSpPr>
            <a:spLocks noGrp="1"/>
          </p:cNvSpPr>
          <p:nvPr>
            <p:ph idx="1"/>
          </p:nvPr>
        </p:nvSpPr>
        <p:spPr/>
        <p:txBody>
          <a:bodyPr/>
          <a:lstStyle/>
          <a:p>
            <a:r>
              <a:rPr lang="en-US" dirty="0"/>
              <a:t>When a suffix beginning with a consonant is added to a root, a vowel (‘O’) is inserted between the root and the suffix to aid in pronunciation</a:t>
            </a:r>
          </a:p>
          <a:p>
            <a:r>
              <a:rPr lang="en-US" dirty="0"/>
              <a:t>Eg:  </a:t>
            </a:r>
            <a:r>
              <a:rPr lang="en-US" dirty="0" err="1"/>
              <a:t>neur</a:t>
            </a:r>
            <a:r>
              <a:rPr lang="en-US" dirty="0"/>
              <a:t> + logy = </a:t>
            </a:r>
            <a:r>
              <a:rPr lang="en-US" dirty="0" err="1">
                <a:solidFill>
                  <a:srgbClr val="FF0000"/>
                </a:solidFill>
              </a:rPr>
              <a:t>neur</a:t>
            </a:r>
            <a:r>
              <a:rPr lang="en-US" dirty="0"/>
              <a:t> + o + </a:t>
            </a:r>
            <a:r>
              <a:rPr lang="en-US" dirty="0">
                <a:solidFill>
                  <a:srgbClr val="7030A0"/>
                </a:solidFill>
              </a:rPr>
              <a:t>logy</a:t>
            </a:r>
          </a:p>
          <a:p>
            <a:r>
              <a:rPr lang="en-US" dirty="0"/>
              <a:t>A combing vowel is not used if the ending begins with a vowel.  </a:t>
            </a:r>
          </a:p>
          <a:p>
            <a:r>
              <a:rPr lang="en-US" dirty="0"/>
              <a:t>The root </a:t>
            </a:r>
            <a:r>
              <a:rPr lang="en-US" dirty="0" err="1"/>
              <a:t>neur</a:t>
            </a:r>
            <a:r>
              <a:rPr lang="en-US" dirty="0"/>
              <a:t> is combined with the suffix – itis, meaning “inflammation of”</a:t>
            </a:r>
          </a:p>
          <a:p>
            <a:r>
              <a:rPr lang="en-US" dirty="0" err="1"/>
              <a:t>Neur</a:t>
            </a:r>
            <a:r>
              <a:rPr lang="en-US" dirty="0"/>
              <a:t> + it is = neuritis (inflammation of a nerve)</a:t>
            </a:r>
          </a:p>
          <a:p>
            <a:r>
              <a:rPr lang="en-US" dirty="0"/>
              <a:t>Eg:  Gastritis</a:t>
            </a:r>
          </a:p>
          <a:p>
            <a:r>
              <a:rPr lang="en-US" dirty="0"/>
              <a:t>Eg:  Pleuritis</a:t>
            </a:r>
          </a:p>
          <a:p>
            <a:r>
              <a:rPr lang="en-US"/>
              <a:t>Eg:  Dermatitis</a:t>
            </a:r>
          </a:p>
          <a:p>
            <a:endParaRPr lang="en-IN"/>
          </a:p>
        </p:txBody>
      </p:sp>
    </p:spTree>
    <p:extLst>
      <p:ext uri="{BB962C8B-B14F-4D97-AF65-F5344CB8AC3E}">
        <p14:creationId xmlns:p14="http://schemas.microsoft.com/office/powerpoint/2010/main" val="25949961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736059"/>
      </a:dk2>
      <a:lt2>
        <a:srgbClr val="E7E0C7"/>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10</TotalTime>
  <Words>1103</Words>
  <Application>Microsoft Office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Garamond</vt:lpstr>
      <vt:lpstr>Wingdings</vt:lpstr>
      <vt:lpstr>Savon</vt:lpstr>
      <vt:lpstr>Medical terminologies -1</vt:lpstr>
      <vt:lpstr>Introduction</vt:lpstr>
      <vt:lpstr>Purpose </vt:lpstr>
      <vt:lpstr>Definition </vt:lpstr>
      <vt:lpstr>History </vt:lpstr>
      <vt:lpstr>History </vt:lpstr>
      <vt:lpstr>History </vt:lpstr>
      <vt:lpstr>History </vt:lpstr>
      <vt:lpstr>History </vt:lpstr>
      <vt:lpstr>Word parts </vt:lpstr>
      <vt:lpstr>Word parts examples </vt:lpstr>
      <vt:lpstr>Compound words</vt:lpstr>
      <vt:lpstr>Combining forms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2025-11-20T14:27:48Z</dcterms:created>
  <dcterms:modified xsi:type="dcterms:W3CDTF">2025-11-20T16:07:45Z</dcterms:modified>
</cp:coreProperties>
</file>