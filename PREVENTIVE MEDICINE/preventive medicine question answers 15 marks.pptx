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77" r:id="rId29"/>
    <p:sldId id="285" r:id="rId30"/>
    <p:sldId id="286" r:id="rId31"/>
    <p:sldId id="287" r:id="rId32"/>
    <p:sldId id="288" r:id="rId33"/>
    <p:sldId id="284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29EFFF-5602-4DC9-A44F-E8614D4B4A3D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  <p14:sldId id="279"/>
            <p14:sldId id="280"/>
            <p14:sldId id="281"/>
            <p14:sldId id="282"/>
            <p14:sldId id="283"/>
            <p14:sldId id="277"/>
            <p14:sldId id="285"/>
            <p14:sldId id="286"/>
            <p14:sldId id="287"/>
            <p14:sldId id="288"/>
            <p14:sldId id="284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>
        <p:scale>
          <a:sx n="70" d="100"/>
          <a:sy n="70" d="100"/>
        </p:scale>
        <p:origin x="1051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Chandana Senthil Rajan" userId="38c954434994de9c" providerId="LiveId" clId="{696F34CC-6EE7-4A50-8F69-D56517EF5C3C}"/>
    <pc:docChg chg="custSel modSld">
      <pc:chgData name="Madhu Chandana Senthil Rajan" userId="38c954434994de9c" providerId="LiveId" clId="{696F34CC-6EE7-4A50-8F69-D56517EF5C3C}" dt="2026-01-19T15:27:08.585" v="29" actId="27636"/>
      <pc:docMkLst>
        <pc:docMk/>
      </pc:docMkLst>
      <pc:sldChg chg="modSp mod">
        <pc:chgData name="Madhu Chandana Senthil Rajan" userId="38c954434994de9c" providerId="LiveId" clId="{696F34CC-6EE7-4A50-8F69-D56517EF5C3C}" dt="2026-01-19T15:27:08.585" v="29" actId="27636"/>
        <pc:sldMkLst>
          <pc:docMk/>
          <pc:sldMk cId="1442753296" sldId="256"/>
        </pc:sldMkLst>
        <pc:spChg chg="mod">
          <ac:chgData name="Madhu Chandana Senthil Rajan" userId="38c954434994de9c" providerId="LiveId" clId="{696F34CC-6EE7-4A50-8F69-D56517EF5C3C}" dt="2026-01-19T15:27:08.585" v="29" actId="27636"/>
          <ac:spMkLst>
            <pc:docMk/>
            <pc:sldMk cId="1442753296" sldId="256"/>
            <ac:spMk id="2" creationId="{4BD725EF-5D01-58F2-F615-D987B57DCA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61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46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6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06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6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7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67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91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9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269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505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187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134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9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23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E522E-72B3-4B01-8577-E98D16052F6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00677A0-BFE3-47D3-BDFA-A2FF38CF1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8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725EF-5D01-58F2-F615-D987B57DCA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Preventive medicine question answers 15 marks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75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7A27-DF2B-BC5A-3517-EE9DA334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define health and disease , dimensions of health with examples , concepts of health with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7BF19-DC99-6E67-B187-98A0DC3FB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 of Health</a:t>
            </a:r>
          </a:p>
          <a:p>
            <a:pPr marL="0" indent="0">
              <a:buNone/>
            </a:pPr>
            <a:r>
              <a:rPr lang="en-US" b="1" dirty="0"/>
              <a:t>Health</a:t>
            </a:r>
            <a:r>
              <a:rPr lang="en-US" dirty="0"/>
              <a:t> is a state of </a:t>
            </a:r>
            <a:r>
              <a:rPr lang="en-US" b="1" dirty="0"/>
              <a:t>complete physical, mental, and social well-being</a:t>
            </a:r>
            <a:r>
              <a:rPr lang="en-US" dirty="0"/>
              <a:t> and not merely the absence of disease or infirmity.</a:t>
            </a:r>
            <a:br>
              <a:rPr lang="en-US" dirty="0"/>
            </a:br>
            <a:r>
              <a:rPr lang="en-US" i="1" dirty="0"/>
              <a:t>(WHO definition)</a:t>
            </a:r>
            <a:endParaRPr lang="en-US" dirty="0"/>
          </a:p>
          <a:p>
            <a:r>
              <a:rPr lang="en-US" b="1" dirty="0"/>
              <a:t>Definition of Disease</a:t>
            </a:r>
          </a:p>
          <a:p>
            <a:pPr marL="0" indent="0">
              <a:buNone/>
            </a:pPr>
            <a:r>
              <a:rPr lang="en-US" b="1" dirty="0"/>
              <a:t>Disease</a:t>
            </a:r>
            <a:r>
              <a:rPr lang="en-US" dirty="0"/>
              <a:t> is a condition in which there is </a:t>
            </a:r>
            <a:r>
              <a:rPr lang="en-US" b="1" dirty="0"/>
              <a:t>deviation from normal structure or function</a:t>
            </a:r>
            <a:r>
              <a:rPr lang="en-US" dirty="0"/>
              <a:t> of the body or mind, producing </a:t>
            </a:r>
            <a:r>
              <a:rPr lang="en-US" b="1" dirty="0"/>
              <a:t>signs, symptoms, or disability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5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2AB6-D9CC-59EE-E268-4D75CB36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define health and disease , dimensions of health with examples , concepts of health with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2FE25-DCF2-A21E-EE1C-B5E0FC871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Dimensions of Health (with Examples)</a:t>
            </a:r>
          </a:p>
          <a:p>
            <a:pPr marL="0" indent="0">
              <a:buNone/>
            </a:pPr>
            <a:r>
              <a:rPr lang="en-US" dirty="0"/>
              <a:t>Health is </a:t>
            </a:r>
            <a:r>
              <a:rPr lang="en-US" b="1" dirty="0"/>
              <a:t>multidimensional</a:t>
            </a:r>
            <a:r>
              <a:rPr lang="en-US" dirty="0"/>
              <a:t>. The major dimensions are:</a:t>
            </a:r>
          </a:p>
          <a:p>
            <a:pPr marL="0" indent="0">
              <a:buNone/>
            </a:pPr>
            <a:r>
              <a:rPr lang="en-US" b="1" dirty="0"/>
              <a:t>1. Physical Dimension</a:t>
            </a:r>
          </a:p>
          <a:p>
            <a:pPr marL="0" indent="0">
              <a:buNone/>
            </a:pPr>
            <a:r>
              <a:rPr lang="en-US" dirty="0"/>
              <a:t>Refers to normal functioning of the body.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Normal blood pressure, absence of pain, ability to perform daily activities.</a:t>
            </a:r>
          </a:p>
          <a:p>
            <a:pPr marL="0" indent="0">
              <a:buNone/>
            </a:pPr>
            <a:r>
              <a:rPr lang="en-US" b="1" dirty="0"/>
              <a:t>2. Mental Dimension</a:t>
            </a:r>
          </a:p>
          <a:p>
            <a:pPr marL="0" indent="0">
              <a:buNone/>
            </a:pPr>
            <a:r>
              <a:rPr lang="en-US" dirty="0"/>
              <a:t>Ability to think clearly, cope with stress, and maintain emotional balance.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Managing exam stress effectively, absence of anxiety or depression.</a:t>
            </a:r>
          </a:p>
          <a:p>
            <a:pPr marL="0" indent="0">
              <a:buNone/>
            </a:pPr>
            <a:r>
              <a:rPr lang="en-US" b="1" dirty="0"/>
              <a:t>3. Social Dimension</a:t>
            </a:r>
          </a:p>
          <a:p>
            <a:pPr marL="0" indent="0">
              <a:buNone/>
            </a:pPr>
            <a:r>
              <a:rPr lang="en-US" dirty="0"/>
              <a:t>Ability to form satisfying interpersonal relationships and perform social roles.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Good family relationships, active participation in community activities.</a:t>
            </a:r>
          </a:p>
        </p:txBody>
      </p:sp>
    </p:spTree>
    <p:extLst>
      <p:ext uri="{BB962C8B-B14F-4D97-AF65-F5344CB8AC3E}">
        <p14:creationId xmlns:p14="http://schemas.microsoft.com/office/powerpoint/2010/main" val="109313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7D56-75FF-115D-4831-A0DFB1F7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define health and disease , dimensions of health with examples , concepts of health with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A57D8-AF44-4B68-747B-1D3E816E1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4. Emotional Dimension</a:t>
            </a:r>
          </a:p>
          <a:p>
            <a:pPr marL="0" indent="0">
              <a:buNone/>
            </a:pPr>
            <a:r>
              <a:rPr lang="en-US" dirty="0"/>
              <a:t>Ability to recognize, express, and manage emotions.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Expressing sadness appropriately without aggression.</a:t>
            </a:r>
          </a:p>
          <a:p>
            <a:pPr marL="0" indent="0">
              <a:buNone/>
            </a:pPr>
            <a:r>
              <a:rPr lang="en-US" b="1" dirty="0"/>
              <a:t>5. Spiritual Dimension</a:t>
            </a:r>
          </a:p>
          <a:p>
            <a:pPr marL="0" indent="0">
              <a:buNone/>
            </a:pPr>
            <a:r>
              <a:rPr lang="en-US" dirty="0"/>
              <a:t>Sense of purpose, values, and beliefs that give meaning to life.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Faith, meditation, ethical living.</a:t>
            </a:r>
          </a:p>
          <a:p>
            <a:pPr marL="0" indent="0">
              <a:buNone/>
            </a:pPr>
            <a:r>
              <a:rPr lang="en-US" b="1" dirty="0"/>
              <a:t>6. Vocational (Occupational) Dimension</a:t>
            </a:r>
          </a:p>
          <a:p>
            <a:pPr marL="0" indent="0">
              <a:buNone/>
            </a:pPr>
            <a:r>
              <a:rPr lang="en-US" dirty="0"/>
              <a:t>Satisfaction and productivity in work.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Job satisfaction, safe working conditions.</a:t>
            </a:r>
          </a:p>
          <a:p>
            <a:pPr marL="0" indent="0">
              <a:buNone/>
            </a:pPr>
            <a:r>
              <a:rPr lang="en-US" b="1" dirty="0"/>
              <a:t>7. Environmental Dimension</a:t>
            </a:r>
          </a:p>
          <a:p>
            <a:pPr marL="0" indent="0">
              <a:buNone/>
            </a:pPr>
            <a:r>
              <a:rPr lang="en-US" dirty="0"/>
              <a:t>Healthy interaction with the environment.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Clean air, safe drinking water, proper sanitation.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23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814B4-8850-3848-4D3B-CD82611F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3648-F49A-A12E-A2F3-4DC5463E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define health and disease , dimensions of health with examples , concepts of health with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C98A-85D9-DBFE-B942-63EC5BB5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28686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Concepts of Health (with Examples)</a:t>
            </a:r>
          </a:p>
          <a:p>
            <a:pPr marL="0" indent="0">
              <a:buNone/>
            </a:pPr>
            <a:r>
              <a:rPr lang="en-US" b="1" dirty="0"/>
              <a:t>1. Biomedical Concept</a:t>
            </a:r>
          </a:p>
          <a:p>
            <a:pPr marL="0" indent="0">
              <a:buNone/>
            </a:pPr>
            <a:r>
              <a:rPr lang="en-US" dirty="0"/>
              <a:t>Health is the </a:t>
            </a:r>
            <a:r>
              <a:rPr lang="en-US" b="1" dirty="0"/>
              <a:t>absence of disease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A person without diabetes or hypertension is considered healthy.</a:t>
            </a:r>
          </a:p>
          <a:p>
            <a:pPr marL="0" indent="0">
              <a:buNone/>
            </a:pPr>
            <a:r>
              <a:rPr lang="en-US" b="1" dirty="0"/>
              <a:t>2. Ecological Concept</a:t>
            </a:r>
          </a:p>
          <a:p>
            <a:pPr marL="0" indent="0">
              <a:buNone/>
            </a:pPr>
            <a:r>
              <a:rPr lang="en-US" dirty="0"/>
              <a:t>Health is a </a:t>
            </a:r>
            <a:r>
              <a:rPr lang="en-US" b="1" dirty="0"/>
              <a:t>dynamic balance between humans and their environment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Malaria occurring due to poor environmental sanitation.</a:t>
            </a:r>
          </a:p>
          <a:p>
            <a:pPr marL="0" indent="0">
              <a:buNone/>
            </a:pPr>
            <a:r>
              <a:rPr lang="en-US" b="1" dirty="0"/>
              <a:t>3. Psychosocial Concept</a:t>
            </a:r>
          </a:p>
          <a:p>
            <a:pPr marL="0" indent="0">
              <a:buNone/>
            </a:pPr>
            <a:r>
              <a:rPr lang="en-US" dirty="0"/>
              <a:t>Health includes </a:t>
            </a:r>
            <a:r>
              <a:rPr lang="en-US" b="1" dirty="0"/>
              <a:t>biological, psychological, and social factors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Depression caused by social isolation despite physical health.</a:t>
            </a:r>
          </a:p>
          <a:p>
            <a:pPr marL="0" indent="0">
              <a:buNone/>
            </a:pPr>
            <a:r>
              <a:rPr lang="en-US" b="1" dirty="0"/>
              <a:t>4. Holistic Concept</a:t>
            </a:r>
          </a:p>
          <a:p>
            <a:pPr marL="0" indent="0">
              <a:buNone/>
            </a:pPr>
            <a:r>
              <a:rPr lang="en-US" dirty="0"/>
              <a:t>Health is a </a:t>
            </a:r>
            <a:r>
              <a:rPr lang="en-US" b="1" dirty="0"/>
              <a:t>total well-being of the individual</a:t>
            </a:r>
            <a:r>
              <a:rPr lang="en-US" dirty="0"/>
              <a:t> including physical, mental, social, spiritual, and emotional aspects.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Yoga improving physical fitness, mental peace, and social harmony.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84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6457-3FE3-B97A-6457-D0151244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Describe briefly about social and cultural factors in health and disease citing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C627-7BB4-3386-A278-F85CF635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Social and Cultural Factors in Health and Disease</a:t>
            </a:r>
          </a:p>
          <a:p>
            <a:pPr marL="0" indent="0">
              <a:buNone/>
            </a:pPr>
            <a:r>
              <a:rPr lang="en-US" dirty="0"/>
              <a:t>Health and disease are greatly influenced by </a:t>
            </a:r>
            <a:r>
              <a:rPr lang="en-US" b="1" dirty="0"/>
              <a:t>social structure, customs, beliefs, and cultural practices</a:t>
            </a:r>
            <a:r>
              <a:rPr lang="en-US" dirty="0"/>
              <a:t> of a community.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55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AC38-8D62-7453-7EA3-868C62B9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CB1A-A345-A8CF-0595-97E85495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Describe briefly about social and cultural factors in health and disease citing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A8DC-3A15-A52B-162C-A05D0C7E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A. Social Factors</a:t>
            </a:r>
          </a:p>
          <a:p>
            <a:pPr marL="0" indent="0">
              <a:buNone/>
            </a:pPr>
            <a:r>
              <a:rPr lang="en-US" b="1" dirty="0"/>
              <a:t>1. Socio-economic Status</a:t>
            </a:r>
          </a:p>
          <a:p>
            <a:pPr marL="0" indent="0">
              <a:buNone/>
            </a:pPr>
            <a:r>
              <a:rPr lang="en-US" dirty="0"/>
              <a:t>Income, education, and occupation affect health.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Poor families have higher rates of malnutrition and tuberculosis due to overcrowding and poor nutrition.</a:t>
            </a:r>
          </a:p>
          <a:p>
            <a:pPr marL="0" indent="0">
              <a:buNone/>
            </a:pPr>
            <a:r>
              <a:rPr lang="en-US" b="1" dirty="0"/>
              <a:t>2. Education</a:t>
            </a:r>
          </a:p>
          <a:p>
            <a:pPr marL="0" indent="0">
              <a:buNone/>
            </a:pPr>
            <a:r>
              <a:rPr lang="en-US" dirty="0"/>
              <a:t>Improves health awareness and health-seeking behavior.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Educated mothers are more likely to immunize their children.</a:t>
            </a:r>
          </a:p>
          <a:p>
            <a:pPr marL="0" indent="0">
              <a:buNone/>
            </a:pPr>
            <a:r>
              <a:rPr lang="en-US" b="1" dirty="0"/>
              <a:t>3. Occupation</a:t>
            </a:r>
          </a:p>
          <a:p>
            <a:pPr marL="0" indent="0">
              <a:buNone/>
            </a:pPr>
            <a:r>
              <a:rPr lang="en-US" dirty="0"/>
              <a:t>Certain jobs expose workers to health hazards.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Silicosis in mine workers; pesticide poisoning in farmers.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30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7466-421B-93ED-45BB-5B3AE3DC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6970-1988-0760-C9DF-D450C2BE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Describe briefly about social and cultural factors in health and disease citing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BF381-FD01-6194-2904-E8E29C250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Housing and Living Conditions</a:t>
            </a:r>
          </a:p>
          <a:p>
            <a:pPr marL="0" indent="0">
              <a:buNone/>
            </a:pPr>
            <a:r>
              <a:rPr lang="en-US" dirty="0"/>
              <a:t>Overcrowding and poor sanitation increase disease transmission.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Spread of tuberculosis in slums.</a:t>
            </a:r>
          </a:p>
          <a:p>
            <a:pPr marL="0" indent="0">
              <a:buNone/>
            </a:pPr>
            <a:r>
              <a:rPr lang="en-US" b="1" dirty="0"/>
              <a:t>5. Social Support and Family Structure</a:t>
            </a:r>
          </a:p>
          <a:p>
            <a:pPr marL="0" indent="0">
              <a:buNone/>
            </a:pPr>
            <a:r>
              <a:rPr lang="en-US" dirty="0"/>
              <a:t>Strong family and community support promotes mental health.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Elderly people living alone may suffer from depression.</a:t>
            </a:r>
          </a:p>
          <a:p>
            <a:pPr marL="0" indent="0">
              <a:buNone/>
            </a:pPr>
            <a:r>
              <a:rPr lang="en-US" b="1" dirty="0"/>
              <a:t>6. Access to Health Services</a:t>
            </a:r>
          </a:p>
          <a:p>
            <a:pPr marL="0" indent="0">
              <a:buNone/>
            </a:pPr>
            <a:r>
              <a:rPr lang="en-US" dirty="0"/>
              <a:t>Availability and affordability of health care influence disease outcome.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Delay in treatment of cancer due to lack of nearby health facilities.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45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31B8-27B1-042C-4E3B-673980A5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259B-E8CD-20B7-EC51-BF0C932F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Describe briefly about social and cultural factors in health and disease citing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4E2E8-9430-D382-EBE7-9B0924C91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B. Cultural Factors</a:t>
            </a:r>
          </a:p>
          <a:p>
            <a:pPr marL="0" indent="0">
              <a:buNone/>
            </a:pPr>
            <a:r>
              <a:rPr lang="en-US" b="1" dirty="0"/>
              <a:t>1. Customs and Traditions</a:t>
            </a:r>
          </a:p>
          <a:p>
            <a:pPr marL="0" indent="0">
              <a:buNone/>
            </a:pPr>
            <a:r>
              <a:rPr lang="en-US" dirty="0"/>
              <a:t>Cultural practices may promote or harm health.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Early marriage leading to teenage pregnancy and maternal complications.</a:t>
            </a:r>
          </a:p>
          <a:p>
            <a:pPr marL="0" indent="0">
              <a:buNone/>
            </a:pPr>
            <a:r>
              <a:rPr lang="en-US" b="1" dirty="0"/>
              <a:t>2. Food Habits</a:t>
            </a:r>
          </a:p>
          <a:p>
            <a:pPr marL="0" indent="0">
              <a:buNone/>
            </a:pPr>
            <a:r>
              <a:rPr lang="en-US" dirty="0"/>
              <a:t>Dietary patterns affect nutritional status.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Vegetarian diet without iron supplementation causing anemia.</a:t>
            </a:r>
          </a:p>
          <a:p>
            <a:pPr marL="0" indent="0">
              <a:buNone/>
            </a:pPr>
            <a:r>
              <a:rPr lang="en-US" b="1" dirty="0"/>
              <a:t>3. Beliefs About Health and Disease</a:t>
            </a:r>
          </a:p>
          <a:p>
            <a:pPr marL="0" indent="0">
              <a:buNone/>
            </a:pPr>
            <a:r>
              <a:rPr lang="en-US" dirty="0"/>
              <a:t>Traditional beliefs may delay medical care.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Belief in evil spirits causing illness leads to reliance on faith healers.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567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475D0-F874-984D-C427-EFA7E37D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85C5-8647-5710-8DB7-4878013C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Describe briefly about social and cultural factors in health and disease citing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3C5A-75E2-C759-2B88-B2D1B3636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Personal Hygiene Practices</a:t>
            </a:r>
          </a:p>
          <a:p>
            <a:pPr marL="0" indent="0">
              <a:buNone/>
            </a:pPr>
            <a:r>
              <a:rPr lang="en-US" dirty="0"/>
              <a:t>Cultural habits influence cleanliness.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Open defecation increasing diarrheal diseases.</a:t>
            </a:r>
          </a:p>
          <a:p>
            <a:pPr marL="0" indent="0">
              <a:buNone/>
            </a:pPr>
            <a:r>
              <a:rPr lang="en-US" b="1" dirty="0"/>
              <a:t>5. Cultural Attitudes Toward Women</a:t>
            </a:r>
          </a:p>
          <a:p>
            <a:pPr marL="0" indent="0">
              <a:buNone/>
            </a:pPr>
            <a:r>
              <a:rPr lang="en-US" dirty="0"/>
              <a:t>Gender discrimination affects women’s health.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Poor nutrition of girl children leading to stunting.</a:t>
            </a:r>
          </a:p>
          <a:p>
            <a:pPr marL="0" indent="0">
              <a:buNone/>
            </a:pPr>
            <a:r>
              <a:rPr lang="en-US" b="1" dirty="0"/>
              <a:t>6. Acceptance of Modern Medicine</a:t>
            </a:r>
          </a:p>
          <a:p>
            <a:pPr marL="0" indent="0">
              <a:buNone/>
            </a:pPr>
            <a:r>
              <a:rPr lang="en-US" dirty="0"/>
              <a:t>Cultural resistance may hinder public health programs.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Vaccine hesitancy due to myths and misconceptions.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36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AC81-E165-ED01-95F7-16470D6A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sz="2700" dirty="0"/>
              <a:t>Define family and broken family , various types of family , functions of family , role of family in health and disease , mention briefly the consequences of family problem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A51D1-8396-F93D-F118-AA444BA4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 of Family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family</a:t>
            </a:r>
            <a:r>
              <a:rPr lang="en-US" dirty="0"/>
              <a:t> is a </a:t>
            </a:r>
            <a:r>
              <a:rPr lang="en-US" b="1" dirty="0"/>
              <a:t>primary social group</a:t>
            </a:r>
            <a:r>
              <a:rPr lang="en-US" dirty="0"/>
              <a:t> consisting of two or more persons related by </a:t>
            </a:r>
            <a:r>
              <a:rPr lang="en-US" b="1" dirty="0"/>
              <a:t>blood, marriage, or adoption</a:t>
            </a:r>
            <a:r>
              <a:rPr lang="en-US" dirty="0"/>
              <a:t>, living together and sharing common responsibilities.</a:t>
            </a:r>
          </a:p>
          <a:p>
            <a:r>
              <a:rPr lang="en-US" b="1" dirty="0"/>
              <a:t>Definition of Broken Family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broken family</a:t>
            </a:r>
            <a:r>
              <a:rPr lang="en-US" dirty="0"/>
              <a:t> is one in which </a:t>
            </a:r>
            <a:r>
              <a:rPr lang="en-US" b="1" dirty="0"/>
              <a:t>family unity is disrupted</a:t>
            </a:r>
            <a:r>
              <a:rPr lang="en-US" dirty="0"/>
              <a:t> due to </a:t>
            </a:r>
            <a:r>
              <a:rPr lang="en-US" b="1" dirty="0"/>
              <a:t>divorce, separation, death of a parent, desertion, or chronic conflict</a:t>
            </a:r>
            <a:r>
              <a:rPr lang="en-US" dirty="0"/>
              <a:t>, resulting in incomplete or dysfunctional family life.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855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2DDA-4E6F-1F22-9DA5-EBADDD37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2D8F-F772-62FF-93FF-71C86953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sz="2700" dirty="0"/>
              <a:t>Define family and broken family , various types of family , functions of family , role of family in health and disease , mention briefly the consequences of family problem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EC931-6690-EE34-5252-6401828A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20932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Types of Family</a:t>
            </a:r>
          </a:p>
          <a:p>
            <a:pPr marL="0" indent="0">
              <a:buNone/>
            </a:pPr>
            <a:r>
              <a:rPr lang="en-US" b="1" dirty="0"/>
              <a:t>1. Based on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Nuclear family</a:t>
            </a:r>
            <a:r>
              <a:rPr lang="en-US" dirty="0"/>
              <a:t> – Parents and children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family</a:t>
            </a:r>
            <a:r>
              <a:rPr lang="en-US" dirty="0"/>
              <a:t> – Parents, children, grandparents, uncles, aunts living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Extended family</a:t>
            </a:r>
            <a:r>
              <a:rPr lang="en-US" dirty="0"/>
              <a:t> – Nuclear family plus relatives living separately but closely connected</a:t>
            </a:r>
          </a:p>
          <a:p>
            <a:pPr marL="0" indent="0">
              <a:buNone/>
            </a:pPr>
            <a:r>
              <a:rPr lang="en-US" b="1" dirty="0"/>
              <a:t>2. Based on Authority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Patriarchal family</a:t>
            </a:r>
            <a:r>
              <a:rPr lang="en-US" dirty="0"/>
              <a:t> – Father is 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Matriarchal family</a:t>
            </a:r>
            <a:r>
              <a:rPr lang="en-US" dirty="0"/>
              <a:t> – Mother is head</a:t>
            </a:r>
          </a:p>
          <a:p>
            <a:pPr marL="0" indent="0">
              <a:buNone/>
            </a:pPr>
            <a:r>
              <a:rPr lang="en-US" b="1" dirty="0"/>
              <a:t>3. Based on Residence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Patrilocal</a:t>
            </a:r>
            <a:r>
              <a:rPr lang="en-US" dirty="0"/>
              <a:t> – Wife lives with husband’s family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Matrilocal</a:t>
            </a:r>
            <a:r>
              <a:rPr lang="en-US" dirty="0"/>
              <a:t> – Husband lives with wife’s family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72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B103-5107-2013-7A5E-54E94218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73F8-4390-C2CF-E097-F330FC97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sz="2700" dirty="0"/>
              <a:t>Define family and broken family , various types of family , functions of family , role of family in health and disease , mention briefly the consequences of family problem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8AEDA-3CD3-C9A1-E670-09002012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476" y="1905001"/>
            <a:ext cx="8796136" cy="443792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Functions of Family</a:t>
            </a:r>
          </a:p>
          <a:p>
            <a:pPr marL="0" indent="0">
              <a:buNone/>
            </a:pPr>
            <a:r>
              <a:rPr lang="en-US" b="1" dirty="0"/>
              <a:t>1. Biological Function</a:t>
            </a:r>
          </a:p>
          <a:p>
            <a:pPr marL="0" indent="0">
              <a:buNone/>
            </a:pPr>
            <a:r>
              <a:rPr lang="en-US" dirty="0"/>
              <a:t>Reproduction and continuation of society.</a:t>
            </a:r>
          </a:p>
          <a:p>
            <a:pPr marL="0" indent="0">
              <a:buNone/>
            </a:pPr>
            <a:r>
              <a:rPr lang="en-US" b="1" dirty="0"/>
              <a:t>2. Socialization Function</a:t>
            </a:r>
          </a:p>
          <a:p>
            <a:pPr marL="0" indent="0">
              <a:buNone/>
            </a:pPr>
            <a:r>
              <a:rPr lang="en-US" dirty="0"/>
              <a:t>Teaching norms, values, and culture.</a:t>
            </a:r>
          </a:p>
          <a:p>
            <a:pPr marL="0" indent="0">
              <a:buNone/>
            </a:pPr>
            <a:r>
              <a:rPr lang="en-US" dirty="0"/>
              <a:t>Child discipline and behavior formation.</a:t>
            </a:r>
          </a:p>
          <a:p>
            <a:pPr marL="0" indent="0">
              <a:buNone/>
            </a:pPr>
            <a:r>
              <a:rPr lang="en-US" b="1" dirty="0"/>
              <a:t>3. Economic Function</a:t>
            </a:r>
          </a:p>
          <a:p>
            <a:pPr marL="0" indent="0">
              <a:buNone/>
            </a:pPr>
            <a:r>
              <a:rPr lang="en-US" dirty="0"/>
              <a:t>Financial support, food, shelter, and clothing.</a:t>
            </a:r>
          </a:p>
          <a:p>
            <a:pPr marL="0" indent="0">
              <a:buNone/>
            </a:pPr>
            <a:r>
              <a:rPr lang="en-US" b="1" dirty="0"/>
              <a:t>4. Emotional Function</a:t>
            </a:r>
          </a:p>
          <a:p>
            <a:pPr marL="0" indent="0">
              <a:buNone/>
            </a:pPr>
            <a:r>
              <a:rPr lang="en-US" dirty="0"/>
              <a:t>Love, affection, security, and emotional support.</a:t>
            </a:r>
          </a:p>
          <a:p>
            <a:pPr marL="0" indent="0">
              <a:buNone/>
            </a:pPr>
            <a:r>
              <a:rPr lang="en-US" b="1" dirty="0"/>
              <a:t>5. Educational Function</a:t>
            </a:r>
          </a:p>
          <a:p>
            <a:pPr marL="0" indent="0">
              <a:buNone/>
            </a:pPr>
            <a:r>
              <a:rPr lang="en-US" dirty="0"/>
              <a:t>Early education and moral training.</a:t>
            </a:r>
          </a:p>
          <a:p>
            <a:pPr marL="0" indent="0">
              <a:buNone/>
            </a:pPr>
            <a:r>
              <a:rPr lang="en-US" b="1" dirty="0"/>
              <a:t>6. Health Care Function</a:t>
            </a:r>
          </a:p>
          <a:p>
            <a:pPr marL="0" indent="0">
              <a:buNone/>
            </a:pPr>
            <a:r>
              <a:rPr lang="en-US" dirty="0"/>
              <a:t>Care of sick members, elderly, children, and pregnant women.</a:t>
            </a:r>
          </a:p>
        </p:txBody>
      </p:sp>
    </p:spTree>
    <p:extLst>
      <p:ext uri="{BB962C8B-B14F-4D97-AF65-F5344CB8AC3E}">
        <p14:creationId xmlns:p14="http://schemas.microsoft.com/office/powerpoint/2010/main" val="673437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191-B84C-E518-916B-CA3AC868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7560-4607-0D3D-1F5A-F9904E1A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sz="2700" dirty="0"/>
              <a:t>Define family and broken family , various types of family , functions of family , role of family in health and disease , mention briefly the consequences of family problem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2637-6E9D-7435-1FDB-477F3C1ED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476" y="1905001"/>
            <a:ext cx="8796136" cy="4437926"/>
          </a:xfrm>
        </p:spPr>
        <p:txBody>
          <a:bodyPr>
            <a:normAutofit/>
          </a:bodyPr>
          <a:lstStyle/>
          <a:p>
            <a:r>
              <a:rPr lang="en-US" b="1" dirty="0"/>
              <a:t>Role of Family in Health and Disease</a:t>
            </a:r>
          </a:p>
          <a:p>
            <a:pPr marL="0" indent="0">
              <a:buNone/>
            </a:pPr>
            <a:r>
              <a:rPr lang="en-US" b="1" dirty="0"/>
              <a:t>In Health</a:t>
            </a:r>
          </a:p>
          <a:p>
            <a:pPr>
              <a:buFont typeface="+mj-lt"/>
              <a:buAutoNum type="arabicPeriod"/>
            </a:pPr>
            <a:r>
              <a:rPr lang="en-US" dirty="0"/>
              <a:t>Promotes healthy lifestyle and hygiene</a:t>
            </a:r>
          </a:p>
          <a:p>
            <a:pPr>
              <a:buFont typeface="+mj-lt"/>
              <a:buAutoNum type="arabicPeriod"/>
            </a:pPr>
            <a:r>
              <a:rPr lang="en-US" dirty="0"/>
              <a:t>Balanced nutrition and immunization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Emotional support and mental well-being</a:t>
            </a:r>
          </a:p>
          <a:p>
            <a:pPr>
              <a:buFont typeface="+mj-lt"/>
              <a:buAutoNum type="arabicPeriod"/>
            </a:pPr>
            <a:r>
              <a:rPr lang="en-US" dirty="0"/>
              <a:t>Health education and early health-seeking behavior</a:t>
            </a:r>
          </a:p>
          <a:p>
            <a:pPr marL="0" indent="0">
              <a:buNone/>
            </a:pPr>
            <a:r>
              <a:rPr lang="en-US" b="1" dirty="0"/>
              <a:t>In Disease</a:t>
            </a:r>
          </a:p>
          <a:p>
            <a:pPr>
              <a:buFont typeface="+mj-lt"/>
              <a:buAutoNum type="arabicPeriod"/>
            </a:pPr>
            <a:r>
              <a:rPr lang="en-US" dirty="0"/>
              <a:t>Early recognition of illness</a:t>
            </a:r>
          </a:p>
          <a:p>
            <a:pPr>
              <a:buFont typeface="+mj-lt"/>
              <a:buAutoNum type="arabicPeriod"/>
            </a:pPr>
            <a:r>
              <a:rPr lang="en-US" dirty="0"/>
              <a:t>Decision-making for treatment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Care during illness and rehabilitation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Compliance with treatment and follow-up</a:t>
            </a:r>
          </a:p>
        </p:txBody>
      </p:sp>
    </p:spTree>
    <p:extLst>
      <p:ext uri="{BB962C8B-B14F-4D97-AF65-F5344CB8AC3E}">
        <p14:creationId xmlns:p14="http://schemas.microsoft.com/office/powerpoint/2010/main" val="1900992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B914-8E0E-DCF4-BC6A-33B0D037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7028-07F2-4160-F984-A25F43D4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sz="2700" dirty="0"/>
              <a:t>Define family and broken family , various types of family , functions of family , role of family in health and disease , mention briefly the consequences of family problem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7CEE-378A-15E5-681C-479EDDA00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476" y="1905001"/>
            <a:ext cx="8796136" cy="4437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Consequences of Family Problems (Brief)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Emotional disturbances</a:t>
            </a:r>
            <a:r>
              <a:rPr lang="en-IN" dirty="0"/>
              <a:t> – Anxiety, depression, stress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Behavioral</a:t>
            </a:r>
            <a:r>
              <a:rPr lang="en-IN" b="1" dirty="0"/>
              <a:t> problems in children</a:t>
            </a:r>
            <a:r>
              <a:rPr lang="en-IN" dirty="0"/>
              <a:t> – Delinquency, poor academic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Substance abuse</a:t>
            </a:r>
            <a:r>
              <a:rPr lang="en-IN" dirty="0"/>
              <a:t> – Alcoholism, drug dependence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Domestic violence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Poor health outcomes</a:t>
            </a:r>
            <a:r>
              <a:rPr lang="en-IN" dirty="0"/>
              <a:t> – Malnutrition, neglect of illness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Social maladjustment</a:t>
            </a:r>
            <a:r>
              <a:rPr lang="en-IN" dirty="0"/>
              <a:t> – Isolation, crime, homelessness</a:t>
            </a:r>
          </a:p>
        </p:txBody>
      </p:sp>
    </p:spTree>
    <p:extLst>
      <p:ext uri="{BB962C8B-B14F-4D97-AF65-F5344CB8AC3E}">
        <p14:creationId xmlns:p14="http://schemas.microsoft.com/office/powerpoint/2010/main" val="137771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112B-A8EA-9CAD-6C43-F61FB0EE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health centers , primary health center in </a:t>
            </a:r>
            <a:r>
              <a:rPr lang="en-US" dirty="0" err="1"/>
              <a:t>india</a:t>
            </a:r>
            <a:r>
              <a:rPr lang="en-US" dirty="0"/>
              <a:t> , note on </a:t>
            </a:r>
            <a:r>
              <a:rPr lang="en-US" dirty="0" err="1"/>
              <a:t>dubos</a:t>
            </a:r>
            <a:r>
              <a:rPr lang="en-US" dirty="0"/>
              <a:t>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95AF0-71EF-935A-74CE-E9321032D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Levels of Health Centers</a:t>
            </a:r>
          </a:p>
          <a:p>
            <a:pPr marL="0" indent="0">
              <a:buNone/>
            </a:pPr>
            <a:r>
              <a:rPr lang="en-US" dirty="0"/>
              <a:t>Health care delivery is organized into </a:t>
            </a:r>
            <a:r>
              <a:rPr lang="en-US" b="1" dirty="0"/>
              <a:t>three levels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1. Primary Level (Primary Care)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point of contact for the community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Emphasis on </a:t>
            </a:r>
            <a:r>
              <a:rPr lang="en-US" b="1" dirty="0"/>
              <a:t>preventive, promotive, and basic curative care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Examples:</a:t>
            </a:r>
            <a:r>
              <a:rPr lang="en-US" dirty="0"/>
              <a:t> Sub-</a:t>
            </a:r>
            <a:r>
              <a:rPr lang="en-US" dirty="0" err="1"/>
              <a:t>centre</a:t>
            </a:r>
            <a:r>
              <a:rPr lang="en-US" dirty="0"/>
              <a:t>, Primary Health Centre (PHC)</a:t>
            </a:r>
          </a:p>
          <a:p>
            <a:pPr marL="0" indent="0">
              <a:buNone/>
            </a:pPr>
            <a:r>
              <a:rPr lang="en-US" b="1" dirty="0"/>
              <a:t>2. Secondary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specialized care</a:t>
            </a:r>
            <a:r>
              <a:rPr lang="en-US" dirty="0"/>
              <a:t> beyond primary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Referral services from PHC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r>
              <a:rPr lang="en-US" dirty="0"/>
              <a:t> Community Health Centre (CHC), Sub-district hospital, District hospital</a:t>
            </a:r>
          </a:p>
          <a:p>
            <a:pPr marL="0" indent="0">
              <a:buNone/>
            </a:pPr>
            <a:r>
              <a:rPr lang="en-US" b="1" dirty="0"/>
              <a:t>3. Tertiary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super-specialty care</a:t>
            </a:r>
            <a:r>
              <a:rPr lang="en-US" dirty="0"/>
              <a:t>, advanced diagnostics and treatment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r>
              <a:rPr lang="en-US" dirty="0"/>
              <a:t> Medical colleges, specialty hospitals, AIIMS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373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C0E27-CA04-6E20-4D96-2B0B9427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6A6A-9FB7-6943-361F-4B43F1A3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health centers , primary health center in </a:t>
            </a:r>
            <a:r>
              <a:rPr lang="en-US" dirty="0" err="1"/>
              <a:t>india</a:t>
            </a:r>
            <a:r>
              <a:rPr lang="en-US" dirty="0"/>
              <a:t> , note on </a:t>
            </a:r>
            <a:r>
              <a:rPr lang="en-US" dirty="0" err="1"/>
              <a:t>dubos</a:t>
            </a:r>
            <a:r>
              <a:rPr lang="en-US" dirty="0"/>
              <a:t>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31495-3B86-121B-4CB9-A8852CEE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4585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Primary Health Centre (PHC) in India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Primary Health Centre</a:t>
            </a:r>
            <a:r>
              <a:rPr lang="en-US" dirty="0"/>
              <a:t> is a basic health unit providing </a:t>
            </a:r>
            <a:r>
              <a:rPr lang="en-US" b="1" dirty="0"/>
              <a:t>integrated curative and preventive health care</a:t>
            </a:r>
            <a:r>
              <a:rPr lang="en-US" dirty="0"/>
              <a:t> to the rural population.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Population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Plain areas:</a:t>
            </a:r>
            <a:r>
              <a:rPr lang="en-US" dirty="0"/>
              <a:t> 30,000 population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Hilly/tribal areas:</a:t>
            </a:r>
            <a:r>
              <a:rPr lang="en-US" dirty="0"/>
              <a:t> 20,000 population</a:t>
            </a:r>
          </a:p>
          <a:p>
            <a:pPr marL="0" indent="0">
              <a:buNone/>
            </a:pPr>
            <a:r>
              <a:rPr lang="en-US" b="1" dirty="0"/>
              <a:t>Staffing Pattern (Typical)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Medical Officer (MBBS)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Staff Nurses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Health Assistant (Male &amp; Female)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Pharmacist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Lab Technician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Health Workers and support staff</a:t>
            </a:r>
          </a:p>
        </p:txBody>
      </p:sp>
    </p:spTree>
    <p:extLst>
      <p:ext uri="{BB962C8B-B14F-4D97-AF65-F5344CB8AC3E}">
        <p14:creationId xmlns:p14="http://schemas.microsoft.com/office/powerpoint/2010/main" val="4257550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9360-A3E0-7C02-6109-B2F7C5B4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5F9D-3CA4-55E6-B773-396028A9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health centers , primary health center in </a:t>
            </a:r>
            <a:r>
              <a:rPr lang="en-US" dirty="0" err="1"/>
              <a:t>india</a:t>
            </a:r>
            <a:r>
              <a:rPr lang="en-US" dirty="0"/>
              <a:t> , note on </a:t>
            </a:r>
            <a:r>
              <a:rPr lang="en-US" dirty="0" err="1"/>
              <a:t>dubos</a:t>
            </a:r>
            <a:r>
              <a:rPr lang="en-US" dirty="0"/>
              <a:t>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360B-454E-F3EE-8D8B-6B2D6F5AB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458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Services Provided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Treatment of common illnesses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Maternal and child health services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Immunization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Family welfare services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Control of communicable diseases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Health education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Referral services</a:t>
            </a:r>
          </a:p>
          <a:p>
            <a:pPr marL="0" indent="0">
              <a:buNone/>
            </a:pPr>
            <a:r>
              <a:rPr lang="en-US" b="1" dirty="0"/>
              <a:t>Role of PHC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Backbone of </a:t>
            </a:r>
            <a:r>
              <a:rPr lang="en-US" b="1" dirty="0"/>
              <a:t>rural health system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Implements national health programs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Supervises sub-</a:t>
            </a:r>
            <a:r>
              <a:rPr lang="en-US" dirty="0" err="1"/>
              <a:t>centres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070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7CF9-370E-F92C-9486-5C938585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376A-4681-E653-321E-252E630E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health centers , primary health center in </a:t>
            </a:r>
            <a:r>
              <a:rPr lang="en-US" dirty="0" err="1"/>
              <a:t>india</a:t>
            </a:r>
            <a:r>
              <a:rPr lang="en-US" dirty="0"/>
              <a:t> , note on </a:t>
            </a:r>
            <a:r>
              <a:rPr lang="en-US" dirty="0" err="1"/>
              <a:t>dubos</a:t>
            </a:r>
            <a:r>
              <a:rPr lang="en-US" dirty="0"/>
              <a:t>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C059A-E056-79EB-32DD-0598579B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9904"/>
            <a:ext cx="8915400" cy="516809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Note on Dubos Theory</a:t>
            </a:r>
          </a:p>
          <a:p>
            <a:pPr marL="0" indent="0">
              <a:buNone/>
            </a:pPr>
            <a:r>
              <a:rPr lang="en-US" b="1" dirty="0"/>
              <a:t>Dubos Theory of Health and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Proposed by </a:t>
            </a:r>
            <a:r>
              <a:rPr lang="en-US" b="1" dirty="0"/>
              <a:t>René Dubos</a:t>
            </a:r>
            <a:r>
              <a:rPr lang="en-US" dirty="0"/>
              <a:t>, this theory states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Health and disease are the result of a dynamic balance between man and his environment.</a:t>
            </a:r>
            <a:endParaRPr lang="en-US" dirty="0"/>
          </a:p>
          <a:p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Disease does not occur due to a single cause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 depends on </a:t>
            </a:r>
            <a:r>
              <a:rPr lang="en-US" b="1" dirty="0"/>
              <a:t>interaction between host, agent, and environment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Human adaptation to environmental changes determines health status</a:t>
            </a:r>
          </a:p>
          <a:p>
            <a:r>
              <a:rPr lang="en-US" b="1" dirty="0"/>
              <a:t>Examples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Malnutrition due to poverty and poor living conditions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Tuberculosis influenced by overcrowding and poor ventilation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Lifestyle diseases related to urbanization</a:t>
            </a:r>
          </a:p>
          <a:p>
            <a:r>
              <a:rPr lang="en-US" b="1" dirty="0"/>
              <a:t>Significance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Emphasizes </a:t>
            </a:r>
            <a:r>
              <a:rPr lang="en-US" b="1" dirty="0"/>
              <a:t>ecological and social factors</a:t>
            </a:r>
            <a:r>
              <a:rPr lang="en-US" dirty="0"/>
              <a:t> in disease causation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Basis for </a:t>
            </a:r>
            <a:r>
              <a:rPr lang="en-US" b="1" dirty="0"/>
              <a:t>preventive and public health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087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8559-5753-A46F-AC5E-26BC7172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0F36-19EE-1BBF-2556-EC55B144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health centers , primary health center in </a:t>
            </a:r>
            <a:r>
              <a:rPr lang="en-US" dirty="0" err="1"/>
              <a:t>india</a:t>
            </a:r>
            <a:r>
              <a:rPr lang="en-US" dirty="0"/>
              <a:t> , note on </a:t>
            </a:r>
            <a:r>
              <a:rPr lang="en-US" dirty="0" err="1"/>
              <a:t>dubos</a:t>
            </a:r>
            <a:r>
              <a:rPr lang="en-US" dirty="0"/>
              <a:t>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D9216-E3CA-A708-74D9-84C66460D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9904"/>
            <a:ext cx="8915400" cy="516809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Note on Dubos Theory</a:t>
            </a:r>
          </a:p>
          <a:p>
            <a:pPr marL="0" indent="0">
              <a:buNone/>
            </a:pPr>
            <a:r>
              <a:rPr lang="en-US" b="1" dirty="0"/>
              <a:t>Dubos Theory of Health and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Proposed by </a:t>
            </a:r>
            <a:r>
              <a:rPr lang="en-US" b="1" dirty="0"/>
              <a:t>René Dubos</a:t>
            </a:r>
            <a:r>
              <a:rPr lang="en-US" dirty="0"/>
              <a:t>, this theory states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Health and disease are the result of a dynamic balance between man and his environment.</a:t>
            </a:r>
            <a:endParaRPr lang="en-US" dirty="0"/>
          </a:p>
          <a:p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Disease does not occur due to a single cause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 depends on </a:t>
            </a:r>
            <a:r>
              <a:rPr lang="en-US" b="1" dirty="0"/>
              <a:t>interaction between host, agent, and environment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Human adaptation to environmental changes determines health status</a:t>
            </a:r>
          </a:p>
          <a:p>
            <a:r>
              <a:rPr lang="en-US" b="1" dirty="0"/>
              <a:t>Examples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Malnutrition due to poverty and poor living conditions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Tuberculosis influenced by overcrowding and poor ventilation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Lifestyle diseases related to urbanization</a:t>
            </a:r>
          </a:p>
          <a:p>
            <a:r>
              <a:rPr lang="en-US" b="1" dirty="0"/>
              <a:t>Significance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Emphasizes </a:t>
            </a:r>
            <a:r>
              <a:rPr lang="en-US" b="1" dirty="0"/>
              <a:t>ecological and social factors</a:t>
            </a:r>
            <a:r>
              <a:rPr lang="en-US" dirty="0"/>
              <a:t> in disease causation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Basis for </a:t>
            </a:r>
            <a:r>
              <a:rPr lang="en-US" b="1" dirty="0"/>
              <a:t>preventive and public health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676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28C4-EB93-16AB-5508-BECECDD0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9311-578A-180D-CD84-004A6E625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Definition of Communicable Disease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communicable disease</a:t>
            </a:r>
            <a:r>
              <a:rPr lang="en-US" dirty="0"/>
              <a:t> is an illness caused by </a:t>
            </a:r>
            <a:r>
              <a:rPr lang="en-US" b="1" dirty="0"/>
              <a:t>specific infectious agents</a:t>
            </a:r>
            <a:r>
              <a:rPr lang="en-US" dirty="0"/>
              <a:t> which can be </a:t>
            </a:r>
            <a:r>
              <a:rPr lang="en-US" b="1" dirty="0"/>
              <a:t>transmitted directly or indirectly</a:t>
            </a:r>
            <a:r>
              <a:rPr lang="en-US" dirty="0"/>
              <a:t> from an infected person, animal, or environment to a susceptible host.</a:t>
            </a:r>
          </a:p>
          <a:p>
            <a:r>
              <a:rPr lang="en-US" b="1" dirty="0"/>
              <a:t>Major Burden of Communicable Diseases</a:t>
            </a:r>
          </a:p>
          <a:p>
            <a:pPr marL="0" indent="0">
              <a:buNone/>
            </a:pPr>
            <a:r>
              <a:rPr lang="en-US" dirty="0"/>
              <a:t>Communicable diseases continue to be a </a:t>
            </a:r>
            <a:r>
              <a:rPr lang="en-US" b="1" dirty="0"/>
              <a:t>major public health problem</a:t>
            </a:r>
            <a:r>
              <a:rPr lang="en-US" dirty="0"/>
              <a:t>, especially in </a:t>
            </a:r>
            <a:r>
              <a:rPr lang="en-US" b="1" dirty="0"/>
              <a:t>developing countries like India</a:t>
            </a:r>
            <a:r>
              <a:rPr lang="en-US" dirty="0"/>
              <a:t>.</a:t>
            </a:r>
          </a:p>
          <a:p>
            <a:r>
              <a:rPr lang="en-US" b="1" dirty="0"/>
              <a:t>Reasons for High Burden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Poverty and malnutrition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Overcrowding and poor housing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Unsafe water and poor sanitation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literacy and poor health awareness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Inadequate immunization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access to health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417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C48C-B8DC-7165-F7C0-FB9D16CB1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7A54-C0FF-93AF-B970-1B425FF9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1B6EE-4354-0095-8BC1-2A745635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9899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Major Communicable Diseases Contributing to Burden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Respiratory infections</a:t>
            </a:r>
            <a:r>
              <a:rPr lang="en-US" dirty="0"/>
              <a:t> – Tuberculosis, pneumonia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Diarrheal diseases</a:t>
            </a:r>
            <a:r>
              <a:rPr lang="en-US" dirty="0"/>
              <a:t> – Cholera, dysentery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Vector-borne diseases</a:t>
            </a:r>
            <a:r>
              <a:rPr lang="en-US" dirty="0"/>
              <a:t> – Malaria, dengue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Vaccine-preventable diseases</a:t>
            </a:r>
            <a:r>
              <a:rPr lang="en-US" dirty="0"/>
              <a:t> – Measles, diphtheria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Blood/sexually transmitted infections</a:t>
            </a:r>
            <a:r>
              <a:rPr lang="en-US" dirty="0"/>
              <a:t> – HIV/AIDS, hepatitis B</a:t>
            </a:r>
          </a:p>
          <a:p>
            <a:r>
              <a:rPr lang="en-US" b="1" dirty="0"/>
              <a:t>Impact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High morbidity and mortality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Loss of productivity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Increased health care expenditure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Adverse effects on maternal and child health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979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1249-C68C-F2F8-6594-5491FABA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67BA-4927-C646-529E-7A7D2F2A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A3320-36B1-8450-1767-D9C8E711E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9899"/>
            <a:ext cx="8915400" cy="3777622"/>
          </a:xfrm>
        </p:spPr>
        <p:txBody>
          <a:bodyPr>
            <a:normAutofit/>
          </a:bodyPr>
          <a:lstStyle/>
          <a:p>
            <a:r>
              <a:rPr lang="en-US" b="1" dirty="0"/>
              <a:t>Prevention of Communicable Diseases</a:t>
            </a:r>
          </a:p>
          <a:p>
            <a:pPr marL="0" indent="0">
              <a:buNone/>
            </a:pPr>
            <a:r>
              <a:rPr lang="en-US" b="1" dirty="0"/>
              <a:t>1. Primordial Prevention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living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Safe housing and sanitation</a:t>
            </a:r>
          </a:p>
          <a:p>
            <a:pPr marL="0" indent="0">
              <a:buNone/>
            </a:pPr>
            <a:r>
              <a:rPr lang="en-US" b="1" dirty="0"/>
              <a:t>2. Primary Prevention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Immunization</a:t>
            </a:r>
            <a:r>
              <a:rPr lang="en-US" dirty="0"/>
              <a:t> (e.g., measles, polio)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Safe water supply and food hygiene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Vector control (mosquito nets, insecticides)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 education and personal hygiene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081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0594-2A89-1465-A413-0EC5A744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0647-45A2-1D0E-D3B2-9774C8BD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53A7-C01B-A4B9-4FCC-758C04D4B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989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Secondary Prevention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diagnosis and prompt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Screening and surveillance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Isolation and quarantine</a:t>
            </a:r>
          </a:p>
          <a:p>
            <a:pPr marL="0" indent="0">
              <a:buNone/>
            </a:pPr>
            <a:r>
              <a:rPr lang="en-US" b="1" dirty="0"/>
              <a:t>4. Tertiary Prevention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Rehabilitation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Prevention of complications and disability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133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5FE7-7042-C031-AAED-9D90EA87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AF02-CF0C-EDE2-AD52-C03CE8E6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3CD4-F4D7-7082-9DBD-BA1D1E18E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9899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Causative Agents of Communicable Diseases (with Examples)</a:t>
            </a:r>
          </a:p>
          <a:p>
            <a:pPr marL="0" indent="0">
              <a:buNone/>
            </a:pPr>
            <a:r>
              <a:rPr lang="en-IN" b="1" dirty="0"/>
              <a:t>1. Bacteria</a:t>
            </a:r>
          </a:p>
          <a:p>
            <a:pPr marL="0" indent="0">
              <a:buNone/>
            </a:pPr>
            <a:r>
              <a:rPr lang="en-IN" dirty="0"/>
              <a:t>Single-celled microorganisms.</a:t>
            </a:r>
          </a:p>
          <a:p>
            <a:pPr marL="0" indent="0">
              <a:buNone/>
            </a:pPr>
            <a:r>
              <a:rPr lang="en-IN" b="1" dirty="0"/>
              <a:t>Tuberculosis</a:t>
            </a:r>
            <a:r>
              <a:rPr lang="en-IN" dirty="0"/>
              <a:t> – </a:t>
            </a:r>
            <a:r>
              <a:rPr lang="en-IN" i="1" dirty="0"/>
              <a:t>Mycobacterium tuberculosis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Typhoid</a:t>
            </a:r>
            <a:r>
              <a:rPr lang="en-IN" dirty="0"/>
              <a:t> – </a:t>
            </a:r>
            <a:r>
              <a:rPr lang="en-IN" i="1" dirty="0"/>
              <a:t>Salmonella typhi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Cholera</a:t>
            </a:r>
            <a:r>
              <a:rPr lang="en-IN" dirty="0"/>
              <a:t> – </a:t>
            </a:r>
            <a:r>
              <a:rPr lang="en-IN" i="1" dirty="0"/>
              <a:t>Vibrio cholerae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2. Viruses</a:t>
            </a:r>
          </a:p>
          <a:p>
            <a:pPr marL="0" indent="0">
              <a:buNone/>
            </a:pPr>
            <a:r>
              <a:rPr lang="en-IN" dirty="0"/>
              <a:t>Smallest infectious agents requiring living cells.</a:t>
            </a:r>
          </a:p>
          <a:p>
            <a:pPr marL="0" indent="0">
              <a:buNone/>
            </a:pPr>
            <a:r>
              <a:rPr lang="en-IN" b="1" dirty="0"/>
              <a:t>Measles</a:t>
            </a:r>
            <a:r>
              <a:rPr lang="en-IN" dirty="0"/>
              <a:t> – Measles virus</a:t>
            </a:r>
          </a:p>
          <a:p>
            <a:pPr marL="0" indent="0">
              <a:buNone/>
            </a:pPr>
            <a:r>
              <a:rPr lang="en-IN" b="1" dirty="0"/>
              <a:t>Polio</a:t>
            </a:r>
            <a:r>
              <a:rPr lang="en-IN" dirty="0"/>
              <a:t> – Poliovirus</a:t>
            </a:r>
          </a:p>
          <a:p>
            <a:pPr marL="0" indent="0">
              <a:buNone/>
            </a:pPr>
            <a:r>
              <a:rPr lang="en-IN" b="1" dirty="0"/>
              <a:t>HIV/AIDS</a:t>
            </a:r>
            <a:r>
              <a:rPr lang="en-IN" dirty="0"/>
              <a:t> – Human Immunodeficiency Virus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471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6AAA-FDC6-7B36-D121-77B6F620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F656-C9BA-1170-2470-8727AE6F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E65F-C81A-F008-5DCA-9467579D0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989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 Protozoa</a:t>
            </a:r>
          </a:p>
          <a:p>
            <a:pPr marL="0" indent="0">
              <a:buNone/>
            </a:pPr>
            <a:r>
              <a:rPr lang="en-IN" dirty="0"/>
              <a:t>Single-celled parasites.</a:t>
            </a:r>
          </a:p>
          <a:p>
            <a:pPr marL="0" indent="0">
              <a:buNone/>
            </a:pPr>
            <a:r>
              <a:rPr lang="en-IN" b="1" dirty="0"/>
              <a:t>Malaria</a:t>
            </a:r>
            <a:r>
              <a:rPr lang="en-IN" dirty="0"/>
              <a:t> – </a:t>
            </a:r>
            <a:r>
              <a:rPr lang="en-IN" i="1" dirty="0"/>
              <a:t>Plasmodium</a:t>
            </a:r>
            <a:r>
              <a:rPr lang="en-IN" dirty="0"/>
              <a:t> species</a:t>
            </a:r>
          </a:p>
          <a:p>
            <a:pPr marL="0" indent="0">
              <a:buNone/>
            </a:pPr>
            <a:r>
              <a:rPr lang="en-IN" b="1" dirty="0"/>
              <a:t>Amoebiasis</a:t>
            </a:r>
            <a:r>
              <a:rPr lang="en-IN" dirty="0"/>
              <a:t> – </a:t>
            </a:r>
            <a:r>
              <a:rPr lang="en-IN" i="1" dirty="0"/>
              <a:t>Entamoeba histolytica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4. Helminths (Worms)</a:t>
            </a:r>
          </a:p>
          <a:p>
            <a:pPr marL="0" indent="0">
              <a:buNone/>
            </a:pPr>
            <a:r>
              <a:rPr lang="en-IN" dirty="0"/>
              <a:t>Multicellular parasites.</a:t>
            </a:r>
          </a:p>
          <a:p>
            <a:pPr marL="0" indent="0">
              <a:buNone/>
            </a:pPr>
            <a:r>
              <a:rPr lang="en-IN" b="1" dirty="0"/>
              <a:t>Ascariasis</a:t>
            </a:r>
            <a:r>
              <a:rPr lang="en-IN" dirty="0"/>
              <a:t> – </a:t>
            </a:r>
            <a:r>
              <a:rPr lang="en-IN" i="1" dirty="0"/>
              <a:t>Ascaris lumbricoides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Filariasis</a:t>
            </a:r>
            <a:r>
              <a:rPr lang="en-IN" dirty="0"/>
              <a:t> – </a:t>
            </a:r>
            <a:r>
              <a:rPr lang="en-IN" i="1" dirty="0" err="1"/>
              <a:t>Wuchereria</a:t>
            </a:r>
            <a:r>
              <a:rPr lang="en-IN" i="1" dirty="0"/>
              <a:t> </a:t>
            </a:r>
            <a:r>
              <a:rPr lang="en-IN" i="1" dirty="0" err="1"/>
              <a:t>bancrofti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934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1B39-7925-085E-AE3E-7D2EB74A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F001-1652-B4E4-1655-FC92E071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define communicable disease discuss about major burden of communicable disease and its prevention describe the causative agents for various communicable disease citing suitable examples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D68B8-D281-2ACC-D1BC-824BA8D3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989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5. Fungi</a:t>
            </a:r>
          </a:p>
          <a:p>
            <a:pPr marL="0" indent="0">
              <a:buNone/>
            </a:pPr>
            <a:r>
              <a:rPr lang="en-IN" dirty="0"/>
              <a:t>Cause superficial and systemic infections.</a:t>
            </a:r>
          </a:p>
          <a:p>
            <a:pPr marL="0" indent="0">
              <a:buNone/>
            </a:pPr>
            <a:r>
              <a:rPr lang="en-IN" b="1" dirty="0"/>
              <a:t>Ringworm</a:t>
            </a:r>
            <a:r>
              <a:rPr lang="en-IN" dirty="0"/>
              <a:t> – </a:t>
            </a:r>
            <a:r>
              <a:rPr lang="en-IN" i="1" dirty="0"/>
              <a:t>Trichophyton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Candidiasis</a:t>
            </a:r>
            <a:r>
              <a:rPr lang="en-IN" dirty="0"/>
              <a:t> – </a:t>
            </a:r>
            <a:r>
              <a:rPr lang="en-IN" i="1" dirty="0"/>
              <a:t>Candida albicans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6. Arthropods (Ectoparasites / Vectors)</a:t>
            </a:r>
          </a:p>
          <a:p>
            <a:pPr marL="0" indent="0">
              <a:buNone/>
            </a:pPr>
            <a:r>
              <a:rPr lang="en-IN" dirty="0"/>
              <a:t>Transmit diseases.</a:t>
            </a:r>
          </a:p>
          <a:p>
            <a:pPr marL="0" indent="0">
              <a:buNone/>
            </a:pPr>
            <a:r>
              <a:rPr lang="en-IN" b="1" dirty="0"/>
              <a:t>Malaria</a:t>
            </a:r>
            <a:r>
              <a:rPr lang="en-IN" dirty="0"/>
              <a:t> – Female </a:t>
            </a:r>
            <a:r>
              <a:rPr lang="en-IN" i="1" dirty="0"/>
              <a:t>Anopheles</a:t>
            </a:r>
            <a:r>
              <a:rPr lang="en-IN" dirty="0"/>
              <a:t> mosquito</a:t>
            </a:r>
          </a:p>
          <a:p>
            <a:pPr marL="0" indent="0">
              <a:buNone/>
            </a:pPr>
            <a:r>
              <a:rPr lang="en-IN" b="1" dirty="0"/>
              <a:t>Dengue</a:t>
            </a:r>
            <a:r>
              <a:rPr lang="en-IN" dirty="0"/>
              <a:t> – </a:t>
            </a:r>
            <a:r>
              <a:rPr lang="en-IN" i="1" dirty="0"/>
              <a:t>Aedes aegypti</a:t>
            </a:r>
            <a:r>
              <a:rPr lang="en-IN" dirty="0"/>
              <a:t> mosquito</a:t>
            </a:r>
          </a:p>
          <a:p>
            <a:pPr marL="0" indent="0">
              <a:buNone/>
            </a:pPr>
            <a:r>
              <a:rPr lang="en-IN" b="1" dirty="0"/>
              <a:t>Plague</a:t>
            </a:r>
            <a:r>
              <a:rPr lang="en-IN" dirty="0"/>
              <a:t> – Rat flea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809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0D0F-3038-204F-9BB9-C23AB815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various types of rehabilitative measures in </a:t>
            </a:r>
            <a:r>
              <a:rPr lang="en-US" dirty="0" err="1"/>
              <a:t>india</a:t>
            </a:r>
            <a:r>
              <a:rPr lang="en-US" dirty="0"/>
              <a:t> with suitable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AF47-0994-71EC-06DB-C565A75F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Definition of Rehabilitation</a:t>
            </a:r>
          </a:p>
          <a:p>
            <a:pPr marL="0" indent="0">
              <a:buNone/>
            </a:pPr>
            <a:r>
              <a:rPr lang="en-US" b="1" dirty="0"/>
              <a:t>Rehabilitation</a:t>
            </a:r>
            <a:r>
              <a:rPr lang="en-US" dirty="0"/>
              <a:t> is the combined and coordinated use of </a:t>
            </a:r>
            <a:r>
              <a:rPr lang="en-US" b="1" dirty="0"/>
              <a:t>medical, social, educational, and vocational measures</a:t>
            </a:r>
            <a:r>
              <a:rPr lang="en-US" dirty="0"/>
              <a:t> to help a person with disability or chronic illness achieve the </a:t>
            </a:r>
            <a:r>
              <a:rPr lang="en-US" b="1" dirty="0"/>
              <a:t>maximum possible physical, mental, social, and economic independence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(WHO concept)</a:t>
            </a:r>
            <a:endParaRPr lang="en-US" dirty="0"/>
          </a:p>
          <a:p>
            <a:r>
              <a:rPr lang="en-US" b="1" dirty="0"/>
              <a:t>Types of Rehabilitative Measures in India (with Examples)</a:t>
            </a:r>
          </a:p>
          <a:p>
            <a:pPr marL="0" indent="0">
              <a:buNone/>
            </a:pPr>
            <a:r>
              <a:rPr lang="en-US" dirty="0"/>
              <a:t>Rehabilitation in India is provided through </a:t>
            </a:r>
            <a:r>
              <a:rPr lang="en-US" b="1" dirty="0"/>
              <a:t>four major components</a:t>
            </a:r>
            <a:r>
              <a:rPr lang="en-US" dirty="0"/>
              <a:t>:</a:t>
            </a:r>
          </a:p>
          <a:p>
            <a:pPr>
              <a:buFont typeface="+mj-lt"/>
              <a:buAutoNum type="arabicParenR"/>
            </a:pPr>
            <a:r>
              <a:rPr lang="en-IN" dirty="0"/>
              <a:t>Medical Rehabilitation</a:t>
            </a:r>
          </a:p>
          <a:p>
            <a:pPr>
              <a:buFont typeface="+mj-lt"/>
              <a:buAutoNum type="arabicParenR"/>
            </a:pPr>
            <a:r>
              <a:rPr lang="en-IN" dirty="0"/>
              <a:t>Social Rehabilitation</a:t>
            </a:r>
          </a:p>
          <a:p>
            <a:pPr>
              <a:buFont typeface="+mj-lt"/>
              <a:buAutoNum type="arabicParenR"/>
            </a:pPr>
            <a:r>
              <a:rPr lang="en-IN" dirty="0"/>
              <a:t>Vocational Rehabilitation</a:t>
            </a:r>
          </a:p>
          <a:p>
            <a:pPr>
              <a:buFont typeface="+mj-lt"/>
              <a:buAutoNum type="arabicParenR"/>
            </a:pPr>
            <a:r>
              <a:rPr lang="en-IN" dirty="0"/>
              <a:t>Educational Rehabilitation</a:t>
            </a:r>
          </a:p>
        </p:txBody>
      </p:sp>
    </p:spTree>
    <p:extLst>
      <p:ext uri="{BB962C8B-B14F-4D97-AF65-F5344CB8AC3E}">
        <p14:creationId xmlns:p14="http://schemas.microsoft.com/office/powerpoint/2010/main" val="322571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997DB-1355-0418-63D2-B543527C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C85C-771A-3115-15E4-68CC0BF1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various types of rehabilitative measures in </a:t>
            </a:r>
            <a:r>
              <a:rPr lang="en-US" dirty="0" err="1"/>
              <a:t>india</a:t>
            </a:r>
            <a:r>
              <a:rPr lang="en-US" dirty="0"/>
              <a:t> with suitable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1AE-B53E-26F0-81C3-110E7DECA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Medical Rehabilitation</a:t>
            </a:r>
          </a:p>
          <a:p>
            <a:pPr marL="0" indent="0">
              <a:buNone/>
            </a:pPr>
            <a:r>
              <a:rPr lang="en-US" dirty="0"/>
              <a:t>Aims to restore physical and mental functions and prevent complications.</a:t>
            </a:r>
          </a:p>
          <a:p>
            <a:r>
              <a:rPr lang="en-US" b="1" dirty="0"/>
              <a:t>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diagnosis and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Physiotherapy and occupational therapy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assistive devices (calipers, prosthesis, hearing aids)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Speech therapy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Physiotherapy for </a:t>
            </a:r>
            <a:r>
              <a:rPr lang="en-US" b="1" dirty="0"/>
              <a:t>stroke</a:t>
            </a:r>
            <a:r>
              <a:rPr lang="en-US" dirty="0"/>
              <a:t> 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Artificial limbs for </a:t>
            </a:r>
            <a:r>
              <a:rPr lang="en-US" b="1" dirty="0"/>
              <a:t>amputees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Cataract surgery restoring vision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603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F147-60BA-2B37-7E3D-E02483E9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6343-63DE-5CF0-501F-EFB8AE3C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various types of rehabilitative measures in </a:t>
            </a:r>
            <a:r>
              <a:rPr lang="en-US" dirty="0" err="1"/>
              <a:t>india</a:t>
            </a:r>
            <a:r>
              <a:rPr lang="en-US" dirty="0"/>
              <a:t> with suitable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995B6-F4FC-F7A5-713E-B868A84A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 Social Rehabilitation</a:t>
            </a:r>
          </a:p>
          <a:p>
            <a:pPr marL="0" indent="0">
              <a:buNone/>
            </a:pPr>
            <a:r>
              <a:rPr lang="en-US" dirty="0"/>
              <a:t>Helps the individual adjust to family and society and overcome social stigma.</a:t>
            </a:r>
          </a:p>
          <a:p>
            <a:r>
              <a:rPr lang="en-US" b="1" dirty="0"/>
              <a:t>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Family counseling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Community-based rehabilitation (CBR)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welfare services and disability pensions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integration of persons with </a:t>
            </a:r>
            <a:r>
              <a:rPr lang="en-US" b="1" dirty="0"/>
              <a:t>leprosy</a:t>
            </a:r>
            <a:r>
              <a:rPr lang="en-US" dirty="0"/>
              <a:t> after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Self-help groups for persons with mental illness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267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68C9-8C6D-7535-9E38-07EBA1A5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79A1-D1FC-4536-F519-3E416218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various types of rehabilitative measures in </a:t>
            </a:r>
            <a:r>
              <a:rPr lang="en-US" dirty="0" err="1"/>
              <a:t>india</a:t>
            </a:r>
            <a:r>
              <a:rPr lang="en-US" dirty="0"/>
              <a:t> with suitable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BC21D-53A9-01C2-A297-5985EF7A4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 Vocational Rehabilitation</a:t>
            </a:r>
          </a:p>
          <a:p>
            <a:pPr marL="0" indent="0">
              <a:buNone/>
            </a:pPr>
            <a:r>
              <a:rPr lang="en-US" dirty="0"/>
              <a:t>Enables the disabled person to become economically independent.</a:t>
            </a:r>
          </a:p>
          <a:p>
            <a:r>
              <a:rPr lang="en-US" b="1" dirty="0"/>
              <a:t>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Vocational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Job placement and reservation in employment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Self-employment and microfinance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Skill training under </a:t>
            </a:r>
            <a:r>
              <a:rPr lang="en-US" b="1" dirty="0"/>
              <a:t>Skill India Mission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Reservation of jobs for persons with disabilities in government services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742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B158-16F8-3868-BDCA-52C940B9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7F0B-7536-3FD5-CFFB-D91C2E60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various types of rehabilitative measures in </a:t>
            </a:r>
            <a:r>
              <a:rPr lang="en-US" dirty="0" err="1"/>
              <a:t>india</a:t>
            </a:r>
            <a:r>
              <a:rPr lang="en-US" dirty="0"/>
              <a:t> with suitable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7381-16FB-AE15-39E8-82FC1ADD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Educational Rehabilitation</a:t>
            </a:r>
          </a:p>
          <a:p>
            <a:pPr marL="0" indent="0">
              <a:buNone/>
            </a:pPr>
            <a:r>
              <a:rPr lang="en-US" dirty="0"/>
              <a:t>Provides education suitable to the needs of disabled persons.</a:t>
            </a:r>
          </a:p>
          <a:p>
            <a:r>
              <a:rPr lang="en-US" b="1" dirty="0"/>
              <a:t>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 schools and inclusive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Braille, sign language, and audio-visual aids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Scholarships and free education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Inclusive Education for Disabled at Secondary Stage (IEDSS)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Braille schools for the visually impaired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836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5292-26DF-D54E-78A1-8346CD4C0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difference btw preventive medicine and curative </a:t>
            </a:r>
            <a:r>
              <a:rPr lang="en-US" dirty="0" err="1"/>
              <a:t>medicineciting</a:t>
            </a:r>
            <a:r>
              <a:rPr lang="en-US" dirty="0"/>
              <a:t> suitable examples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9C4AFF-32C5-F952-CC71-BB15E42811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834471"/>
              </p:ext>
            </p:extLst>
          </p:nvPr>
        </p:nvGraphicFramePr>
        <p:xfrm>
          <a:off x="2976880" y="2106931"/>
          <a:ext cx="6993678" cy="3819736"/>
        </p:xfrm>
        <a:graphic>
          <a:graphicData uri="http://schemas.openxmlformats.org/drawingml/2006/table">
            <a:tbl>
              <a:tblPr/>
              <a:tblGrid>
                <a:gridCol w="2331226">
                  <a:extLst>
                    <a:ext uri="{9D8B030D-6E8A-4147-A177-3AD203B41FA5}">
                      <a16:colId xmlns:a16="http://schemas.microsoft.com/office/drawing/2014/main" val="2244864197"/>
                    </a:ext>
                  </a:extLst>
                </a:gridCol>
                <a:gridCol w="2331226">
                  <a:extLst>
                    <a:ext uri="{9D8B030D-6E8A-4147-A177-3AD203B41FA5}">
                      <a16:colId xmlns:a16="http://schemas.microsoft.com/office/drawing/2014/main" val="1904956174"/>
                    </a:ext>
                  </a:extLst>
                </a:gridCol>
                <a:gridCol w="2331226">
                  <a:extLst>
                    <a:ext uri="{9D8B030D-6E8A-4147-A177-3AD203B41FA5}">
                      <a16:colId xmlns:a16="http://schemas.microsoft.com/office/drawing/2014/main" val="1965494713"/>
                    </a:ext>
                  </a:extLst>
                </a:gridCol>
              </a:tblGrid>
              <a:tr h="23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Basis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Preventive Medicine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Curative Medicine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85660"/>
                  </a:ext>
                </a:extLst>
              </a:tr>
              <a:tr h="779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Definition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Branch of medicine concerned with </a:t>
                      </a:r>
                      <a:r>
                        <a:rPr lang="en-US" sz="1200" b="1"/>
                        <a:t>prevention of disease and promotion of health</a:t>
                      </a:r>
                      <a:endParaRPr lang="en-US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Branch of medicine concerned with </a:t>
                      </a:r>
                      <a:r>
                        <a:rPr lang="en-US" sz="1200" b="1"/>
                        <a:t>diagnosis and treatment of disease</a:t>
                      </a:r>
                      <a:endParaRPr lang="en-US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92377"/>
                  </a:ext>
                </a:extLst>
              </a:tr>
              <a:tr h="41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Aim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</a:t>
                      </a:r>
                      <a:r>
                        <a:rPr lang="en-US" sz="1200" b="1"/>
                        <a:t>prevent occurrence</a:t>
                      </a:r>
                      <a:r>
                        <a:rPr lang="en-US" sz="1200"/>
                        <a:t> of disease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</a:t>
                      </a:r>
                      <a:r>
                        <a:rPr lang="en-US" sz="1200" b="1"/>
                        <a:t>cure or relieve</a:t>
                      </a:r>
                      <a:r>
                        <a:rPr lang="en-US" sz="1200"/>
                        <a:t> disease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00571"/>
                  </a:ext>
                </a:extLst>
              </a:tr>
              <a:tr h="41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Stage of intervention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Before disease occurs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After disease has occurred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20857"/>
                  </a:ext>
                </a:extLst>
              </a:tr>
              <a:tr h="41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Target population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Healthy individuals and communities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Sick individuals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953869"/>
                  </a:ext>
                </a:extLst>
              </a:tr>
              <a:tr h="23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Approach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Population-based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Individual-based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154106"/>
                  </a:ext>
                </a:extLst>
              </a:tr>
              <a:tr h="41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Cost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Cost-effective, less expensive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More expensive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901066"/>
                  </a:ext>
                </a:extLst>
              </a:tr>
              <a:tr h="41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Outcome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Reduces incidence of disease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Reduces severity and complications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966714"/>
                  </a:ext>
                </a:extLst>
              </a:tr>
              <a:tr h="419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Health level</a:t>
                      </a:r>
                      <a:endParaRPr lang="en-IN" sz="1200"/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Improves overall community health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Restores individual health</a:t>
                      </a:r>
                    </a:p>
                  </a:txBody>
                  <a:tcPr marL="59972" marR="59972" marT="29986" marB="299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67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480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C0796-6E6F-B86C-C11A-4A9E797E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7C1A-9D6C-5733-1CAD-B7A9D4AC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difference btw preventive medicine and curative </a:t>
            </a:r>
            <a:r>
              <a:rPr lang="en-US" dirty="0" err="1"/>
              <a:t>medicineciting</a:t>
            </a:r>
            <a:r>
              <a:rPr lang="en-US" dirty="0"/>
              <a:t> suitable examples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676A09-D2EC-45FA-58F2-B5A8BE62F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Examples of Preventive Medicine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Immunization</a:t>
            </a:r>
            <a:r>
              <a:rPr lang="en-US" dirty="0"/>
              <a:t> – Polio, measles vaccination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Health education</a:t>
            </a:r>
            <a:r>
              <a:rPr lang="en-US" dirty="0"/>
              <a:t> – Hand washing to prevent diarrheal diseases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Sanitation measures</a:t>
            </a:r>
            <a:r>
              <a:rPr lang="en-US" dirty="0"/>
              <a:t> – Safe water supply to prevent cholera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Vector control</a:t>
            </a:r>
            <a:r>
              <a:rPr lang="en-US" dirty="0"/>
              <a:t> – Mosquito control to prevent malaria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Screening</a:t>
            </a:r>
            <a:r>
              <a:rPr lang="en-US" dirty="0"/>
              <a:t> – Pap smear for cervical cancer</a:t>
            </a:r>
          </a:p>
          <a:p>
            <a:pPr marL="0" indent="0">
              <a:buNone/>
            </a:pPr>
            <a:r>
              <a:rPr lang="en-US" b="1" dirty="0"/>
              <a:t>Examples of Curative Medicine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Antibiotics</a:t>
            </a:r>
            <a:r>
              <a:rPr lang="en-US" dirty="0"/>
              <a:t> for tuberculosis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ORS and antibiotics</a:t>
            </a:r>
            <a:r>
              <a:rPr lang="en-US" dirty="0"/>
              <a:t> for diarrheal diseases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Insulin therapy</a:t>
            </a:r>
            <a:r>
              <a:rPr lang="en-US" dirty="0"/>
              <a:t> for diabetes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Surgery</a:t>
            </a:r>
            <a:r>
              <a:rPr lang="en-US" dirty="0"/>
              <a:t> for appendicitis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Chemotherapy</a:t>
            </a:r>
            <a:r>
              <a:rPr lang="en-US" dirty="0"/>
              <a:t> for cancer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5264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</TotalTime>
  <Words>2845</Words>
  <Application>Microsoft Office PowerPoint</Application>
  <PresentationFormat>Widescreen</PresentationFormat>
  <Paragraphs>380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Century Gothic</vt:lpstr>
      <vt:lpstr>Courier New</vt:lpstr>
      <vt:lpstr>Wingdings</vt:lpstr>
      <vt:lpstr>Wingdings 3</vt:lpstr>
      <vt:lpstr>Wisp</vt:lpstr>
      <vt:lpstr>Preventive medicine question answers 15 marks</vt:lpstr>
      <vt:lpstr>1. define health and disease , dimensions of health with examples , concepts of health with examples</vt:lpstr>
      <vt:lpstr>1. define health and disease , dimensions of health with examples , concepts of health with examples</vt:lpstr>
      <vt:lpstr>1. define health and disease , dimensions of health with examples , concepts of health with examples</vt:lpstr>
      <vt:lpstr>1. define health and disease , dimensions of health with examples , concepts of health with examples</vt:lpstr>
      <vt:lpstr>2. Describe briefly about social and cultural factors in health and disease citing examples</vt:lpstr>
      <vt:lpstr>2. Describe briefly about social and cultural factors in health and disease citing examples</vt:lpstr>
      <vt:lpstr>2. Describe briefly about social and cultural factors in health and disease citing examples</vt:lpstr>
      <vt:lpstr>2. Describe briefly about social and cultural factors in health and disease citing examples</vt:lpstr>
      <vt:lpstr>2. Describe briefly about social and cultural factors in health and disease citing examples</vt:lpstr>
      <vt:lpstr>3. Define family and broken family , various types of family , functions of family , role of family in health and disease , mention briefly the consequences of family problem</vt:lpstr>
      <vt:lpstr>3. Define family and broken family , various types of family , functions of family , role of family in health and disease , mention briefly the consequences of family problem</vt:lpstr>
      <vt:lpstr>3. Define family and broken family , various types of family , functions of family , role of family in health and disease , mention briefly the consequences of family problem</vt:lpstr>
      <vt:lpstr>3. Define family and broken family , various types of family , functions of family , role of family in health and disease , mention briefly the consequences of family problem</vt:lpstr>
      <vt:lpstr>3. Define family and broken family , various types of family , functions of family , role of family in health and disease , mention briefly the consequences of family problem</vt:lpstr>
      <vt:lpstr>levels of health centers , primary health center in india , note on dubos theory</vt:lpstr>
      <vt:lpstr>levels of health centers , primary health center in india , note on dubos theory</vt:lpstr>
      <vt:lpstr>levels of health centers , primary health center in india , note on dubos theory</vt:lpstr>
      <vt:lpstr>levels of health centers , primary health center in india , note on dubos theory</vt:lpstr>
      <vt:lpstr>levels of health centers , primary health center in india , note on dubos theory</vt:lpstr>
      <vt:lpstr>define communicable disease discuss about major burden of communicable disease and its prevention describe the causative agents for various communicable disease citing suitable examples</vt:lpstr>
      <vt:lpstr>define communicable disease discuss about major burden of communicable disease and its prevention describe the causative agents for various communicable disease citing suitable examples</vt:lpstr>
      <vt:lpstr>define communicable disease discuss about major burden of communicable disease and its prevention describe the causative agents for various communicable disease citing suitable examples</vt:lpstr>
      <vt:lpstr>define communicable disease discuss about major burden of communicable disease and its prevention describe the causative agents for various communicable disease citing suitable examples</vt:lpstr>
      <vt:lpstr>define communicable disease discuss about major burden of communicable disease and its prevention describe the causative agents for various communicable disease citing suitable examples</vt:lpstr>
      <vt:lpstr>define communicable disease discuss about major burden of communicable disease and its prevention describe the causative agents for various communicable disease citing suitable examples</vt:lpstr>
      <vt:lpstr>define communicable disease discuss about major burden of communicable disease and its prevention describe the causative agents for various communicable disease citing suitable examples</vt:lpstr>
      <vt:lpstr>describe various types of rehabilitative measures in india with suitable examples</vt:lpstr>
      <vt:lpstr>describe various types of rehabilitative measures in india with suitable examples</vt:lpstr>
      <vt:lpstr>describe various types of rehabilitative measures in india with suitable examples</vt:lpstr>
      <vt:lpstr>describe various types of rehabilitative measures in india with suitable examples</vt:lpstr>
      <vt:lpstr>describe various types of rehabilitative measures in india with suitable examples</vt:lpstr>
      <vt:lpstr>describe difference btw preventive medicine and curative medicineciting suitable examples</vt:lpstr>
      <vt:lpstr>describe difference btw preventive medicine and curative medicineciting suitable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2026-01-19T13:25:48Z</dcterms:created>
  <dcterms:modified xsi:type="dcterms:W3CDTF">2026-01-19T15:27:13Z</dcterms:modified>
</cp:coreProperties>
</file>