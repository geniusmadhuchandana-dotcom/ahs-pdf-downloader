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58" r:id="rId6"/>
    <p:sldId id="28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8" r:id="rId80"/>
    <p:sldId id="334" r:id="rId81"/>
    <p:sldId id="335" r:id="rId82"/>
    <p:sldId id="336" r:id="rId83"/>
    <p:sldId id="337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84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7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97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6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36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3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3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8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86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01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9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0F96CE3-B9ED-4B75-9351-B8E4BDA61B13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B354B7-7815-4606-837F-C351051517A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45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1DF6-CA9D-B672-4A59-35FEF4A1D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Morphology and physiology of bacteria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E3DF7-CA46-126E-4745-A20468FF4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06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BA7A-F702-162A-3C40-6F103863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microorganisms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1B393E-0861-50C8-FD53-FC4EC80D19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016871"/>
              </p:ext>
            </p:extLst>
          </p:nvPr>
        </p:nvGraphicFramePr>
        <p:xfrm>
          <a:off x="1023938" y="3017202"/>
          <a:ext cx="9720261" cy="256032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1980847735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361267163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301172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09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Bacteria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Mycobacterium tuberculosis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Tuberculosis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6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Viruses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Influenza virus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563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Fungi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Candida albicans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Candidiasis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589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Protozoa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Plasmodium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Malaria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930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Helminths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Tapeworm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Taeniasis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1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Prions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Abnormal proteins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Mad cow disease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83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60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D738-CFE6-75F1-CA84-A2109CDF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bacteria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AA980-2330-674B-20EE-905257175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Bacteria are prokaryotic microorganisms that do not contain chlorophyll. They are unicellular and do not show true branching, except in the so-called 'higher bacteria' (</a:t>
            </a:r>
            <a:r>
              <a:rPr lang="en-US" dirty="0" err="1"/>
              <a:t>Actinomycetales</a:t>
            </a:r>
            <a:r>
              <a:rPr lang="en-US" dirty="0"/>
              <a:t>).</a:t>
            </a:r>
          </a:p>
          <a:p>
            <a:r>
              <a:rPr lang="en-US" dirty="0"/>
              <a:t>Some bacteria are </a:t>
            </a:r>
            <a:r>
              <a:rPr lang="en-US" b="1" dirty="0"/>
              <a:t>beneficial</a:t>
            </a:r>
            <a:r>
              <a:rPr lang="en-US" dirty="0"/>
              <a:t>, while others are </a:t>
            </a:r>
            <a:r>
              <a:rPr lang="en-US" b="1" dirty="0"/>
              <a:t>pathogenic (disease-causing).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54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DC75-F5F1-6107-EEA2-0B1FE3C95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bacteria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7DF559-CFC8-31C7-FED5-E46AB5FEC8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610906"/>
              </p:ext>
            </p:extLst>
          </p:nvPr>
        </p:nvGraphicFramePr>
        <p:xfrm>
          <a:off x="1855211" y="2231187"/>
          <a:ext cx="5553507" cy="2926080"/>
        </p:xfrm>
        <a:graphic>
          <a:graphicData uri="http://schemas.openxmlformats.org/drawingml/2006/table">
            <a:tbl>
              <a:tblPr/>
              <a:tblGrid>
                <a:gridCol w="2062162">
                  <a:extLst>
                    <a:ext uri="{9D8B030D-6E8A-4147-A177-3AD203B41FA5}">
                      <a16:colId xmlns:a16="http://schemas.microsoft.com/office/drawing/2014/main" val="1341995739"/>
                    </a:ext>
                  </a:extLst>
                </a:gridCol>
                <a:gridCol w="3491345">
                  <a:extLst>
                    <a:ext uri="{9D8B030D-6E8A-4147-A177-3AD203B41FA5}">
                      <a16:colId xmlns:a16="http://schemas.microsoft.com/office/drawing/2014/main" val="4224906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73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Cell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Prokaryotic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25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Size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 – 5 µm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192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Shape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Cocci, Bacilli, Spiral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79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Reproduction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Asexual (Binary fission)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164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Genetic material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Circular DNA without nucleus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882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Motility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have flagella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323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Staining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Gram-positive or Gram-negative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5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24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8D1F-68CF-C85B-DC60-B8AF7815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1204649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Morphology of bacteria</a:t>
            </a:r>
            <a:br>
              <a:rPr lang="en-US" dirty="0"/>
            </a:br>
            <a:br>
              <a:rPr lang="en-US" dirty="0"/>
            </a:br>
            <a:r>
              <a:rPr lang="en-US" altLang="en-US" sz="2000" cap="none" dirty="0">
                <a:solidFill>
                  <a:schemeClr val="tx1"/>
                </a:solidFill>
                <a:latin typeface="Arial" panose="020B0604020202020204" pitchFamily="34" charset="0"/>
              </a:rPr>
              <a:t>Common shapes:</a:t>
            </a:r>
            <a:b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101322-95B2-2909-0A4F-33D228BCC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343461"/>
              </p:ext>
            </p:extLst>
          </p:nvPr>
        </p:nvGraphicFramePr>
        <p:xfrm>
          <a:off x="2000684" y="2756220"/>
          <a:ext cx="4514417" cy="1828800"/>
        </p:xfrm>
        <a:graphic>
          <a:graphicData uri="http://schemas.openxmlformats.org/drawingml/2006/table">
            <a:tbl>
              <a:tblPr/>
              <a:tblGrid>
                <a:gridCol w="2529753">
                  <a:extLst>
                    <a:ext uri="{9D8B030D-6E8A-4147-A177-3AD203B41FA5}">
                      <a16:colId xmlns:a16="http://schemas.microsoft.com/office/drawing/2014/main" val="746840562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1018688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754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Cocci (round)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Staphylococcus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038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Bacilli (rod-shaped)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E. coli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73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Spirilla (spiral)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Helicobacter pylori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99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Vibrio (comma-shaped)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Vibrio cholerae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1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57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01C0-ED41-1027-9198-A4F773F9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56468-C64A-D971-2C35-59E35ED7E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187" y="0"/>
            <a:ext cx="7303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61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2C69-065B-AE51-EB5D-5D19C1B84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based on gram staining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11443F-6090-DA68-B0CE-23AAA9FCE9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316410"/>
              </p:ext>
            </p:extLst>
          </p:nvPr>
        </p:nvGraphicFramePr>
        <p:xfrm>
          <a:off x="1023938" y="3748722"/>
          <a:ext cx="9720261" cy="10972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73848525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582372952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329270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Colour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56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Gram-positive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Staphylococcus, Streptococcus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0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Gram-negative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Pink/Red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E. coli, Salmonella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427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59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A04E-E054-AC6F-2C52-DDCCF8EAC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Nutrition types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386D1B-B32F-EF64-0462-AC4A694FA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091235"/>
              </p:ext>
            </p:extLst>
          </p:nvPr>
        </p:nvGraphicFramePr>
        <p:xfrm>
          <a:off x="1024128" y="2179695"/>
          <a:ext cx="9720261" cy="10972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365148853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55863772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517120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4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Autotrophic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Make their own food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Cyanobacteria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06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Heterotrophic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 on organic matter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human pathogens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024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50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4619-B92D-AC4A-DC7A-080B600E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1A708-EBD3-0F64-C70A-B0D08CB25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by </a:t>
            </a:r>
            <a:r>
              <a:rPr lang="en-US" b="1" dirty="0"/>
              <a:t>Binary Fission</a:t>
            </a:r>
            <a:endParaRPr lang="en-US" dirty="0"/>
          </a:p>
          <a:p>
            <a:r>
              <a:rPr lang="en-US" dirty="0"/>
              <a:t>Genetic variation through:</a:t>
            </a:r>
          </a:p>
          <a:p>
            <a:pPr lvl="1"/>
            <a:r>
              <a:rPr lang="en-US" b="1" dirty="0"/>
              <a:t>Conjugation</a:t>
            </a:r>
            <a:endParaRPr lang="en-US" dirty="0"/>
          </a:p>
          <a:p>
            <a:pPr lvl="1"/>
            <a:r>
              <a:rPr lang="en-US" b="1" dirty="0"/>
              <a:t>Transformation</a:t>
            </a:r>
            <a:endParaRPr lang="en-US" dirty="0"/>
          </a:p>
          <a:p>
            <a:pPr lvl="1"/>
            <a:r>
              <a:rPr lang="en-US" b="1" dirty="0"/>
              <a:t>Transduction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0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FDE2-B9E0-910C-296C-5604C17D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Ueful</a:t>
            </a:r>
            <a:r>
              <a:rPr lang="en-IN" b="1" dirty="0"/>
              <a:t> Roles of Bacteria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20B3D-47AA-7C45-BD1A-CB89487D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✔ Nitrogen fixation (</a:t>
            </a:r>
            <a:r>
              <a:rPr lang="en-IN" i="1" dirty="0"/>
              <a:t>Rhizobium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✔ Digestion (gut microbiota)</a:t>
            </a:r>
            <a:br>
              <a:rPr lang="en-IN" dirty="0"/>
            </a:br>
            <a:r>
              <a:rPr lang="en-IN" dirty="0"/>
              <a:t>✔ Food industry (curd, cheese, vinegar)</a:t>
            </a:r>
            <a:br>
              <a:rPr lang="en-IN" dirty="0"/>
            </a:br>
            <a:r>
              <a:rPr lang="en-IN" dirty="0"/>
              <a:t>✔ Antibiotic production (</a:t>
            </a:r>
            <a:r>
              <a:rPr lang="en-IN" i="1" dirty="0"/>
              <a:t>Streptomyces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89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574B-6CAC-7E98-394F-D9BD6C07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Diseases caused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B37633-474C-1513-9EE6-035A02C5E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274337"/>
              </p:ext>
            </p:extLst>
          </p:nvPr>
        </p:nvGraphicFramePr>
        <p:xfrm>
          <a:off x="899247" y="208483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167078292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421219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Causative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22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Tuberculosis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Mycobacterium tuberculosis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41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Cholera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Vibrio cholerae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70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Typhoid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Salmonella typhi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024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Diphtheria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Corynebacterium diphtheriae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47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3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05E7-BFCB-9A3F-D492-20BC8E6C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Laboratory Identification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D0102-359B-6C01-3E5D-CB2597FFF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Microscopy</a:t>
            </a:r>
            <a:endParaRPr lang="en-US" dirty="0"/>
          </a:p>
          <a:p>
            <a:r>
              <a:rPr lang="en-US" b="1" dirty="0"/>
              <a:t>Gram staining</a:t>
            </a:r>
            <a:endParaRPr lang="en-US" dirty="0"/>
          </a:p>
          <a:p>
            <a:r>
              <a:rPr lang="en-US" b="1" dirty="0"/>
              <a:t>Culture</a:t>
            </a:r>
            <a:endParaRPr lang="en-US" dirty="0"/>
          </a:p>
          <a:p>
            <a:r>
              <a:rPr lang="en-US" b="1" dirty="0"/>
              <a:t>Biochemical tests</a:t>
            </a:r>
            <a:endParaRPr lang="en-US" dirty="0"/>
          </a:p>
          <a:p>
            <a:r>
              <a:rPr lang="en-US" b="1" dirty="0"/>
              <a:t>PCR</a:t>
            </a:r>
            <a:endParaRPr lang="en-US" dirty="0"/>
          </a:p>
          <a:p>
            <a:r>
              <a:rPr lang="en-US" b="1" dirty="0"/>
              <a:t>Serology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66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37BD-397E-5AD6-D614-50EF6687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size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75B655-FBC5-E193-38D3-9783C04F8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954"/>
              </p:ext>
            </p:extLst>
          </p:nvPr>
        </p:nvGraphicFramePr>
        <p:xfrm>
          <a:off x="1024128" y="2084832"/>
          <a:ext cx="9720262" cy="146304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075116355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4291246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819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Length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0.2 µm to 5 µm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78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Diameter (common cocci)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0.5–1.0 µm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22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Rod-shaped bacteria (bacilli)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1–10 µm long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01539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E7A9A16-AAD2-D72C-F375-C83F80BD9DDB}"/>
              </a:ext>
            </a:extLst>
          </p:cNvPr>
          <p:cNvSpPr txBox="1">
            <a:spLocks/>
          </p:cNvSpPr>
          <p:nvPr/>
        </p:nvSpPr>
        <p:spPr>
          <a:xfrm>
            <a:off x="1235964" y="4156364"/>
            <a:ext cx="9720072" cy="2042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Most medically important bacteria are around </a:t>
            </a:r>
            <a:r>
              <a:rPr lang="en-US" sz="3200" b="1" dirty="0"/>
              <a:t>1–2 um </a:t>
            </a:r>
            <a:r>
              <a:rPr lang="en-US" sz="3200" dirty="0"/>
              <a:t>in size</a:t>
            </a:r>
          </a:p>
          <a:p>
            <a:endParaRPr lang="en-US" sz="3200" dirty="0"/>
          </a:p>
          <a:p>
            <a:r>
              <a:rPr lang="en-US" sz="3200" dirty="0"/>
              <a:t>Most bacteria range from 0.2 to 5 µm in size; smallest is Mycoplasma (0.2 um) and the largest is Thiomargarita namibiensis (up to 750 um).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9143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F777-790A-D519-8734-EF37A959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BC4AFF-C206-1332-8C8F-89C474A2E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6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19B5-47FB-10E9-1CA3-4D8961C9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microscopy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CB46B-9522-3F60-20FB-4439E79F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Microscopy</a:t>
            </a:r>
            <a:r>
              <a:rPr lang="en-US" dirty="0"/>
              <a:t> is the branch of science that deals with the use of microscopes to observe objects too small to be seen by the naked eye, such as bacteria, viruses, and cells.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468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10E8-D9C6-51A2-A5CB-423BDEAD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microscope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162EF2-8A0D-20D5-A27D-8750CBB84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67649"/>
              </p:ext>
            </p:extLst>
          </p:nvPr>
        </p:nvGraphicFramePr>
        <p:xfrm>
          <a:off x="1024128" y="2084832"/>
          <a:ext cx="9720262" cy="10972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1893797560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489322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124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Light Microscopy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Bright field, Dark field, Phase-contrast, Fluorescent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68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Electron Microscopy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Transmission (TEM), Scanning (SEM)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07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71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4BE4-DD52-199A-28E0-9FED973E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Light Microscopy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B0E32-F9C3-DC04-9E2A-386F3336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Uses visible light to illuminate specimens.</a:t>
            </a:r>
          </a:p>
          <a:p>
            <a:r>
              <a:rPr lang="en-IN" b="1" dirty="0"/>
              <a:t>✔ Bright-Field Microscope</a:t>
            </a:r>
          </a:p>
          <a:p>
            <a:r>
              <a:rPr lang="en-IN" dirty="0"/>
              <a:t>Most commonly used in labs</a:t>
            </a:r>
          </a:p>
          <a:p>
            <a:r>
              <a:rPr lang="en-IN" dirty="0"/>
              <a:t>Specimen appears </a:t>
            </a:r>
            <a:r>
              <a:rPr lang="en-IN" b="1" dirty="0"/>
              <a:t>dark</a:t>
            </a:r>
            <a:r>
              <a:rPr lang="en-IN" dirty="0"/>
              <a:t> on a </a:t>
            </a:r>
            <a:r>
              <a:rPr lang="en-IN" b="1" dirty="0"/>
              <a:t>bright background</a:t>
            </a:r>
            <a:endParaRPr lang="en-IN" dirty="0"/>
          </a:p>
          <a:p>
            <a:r>
              <a:rPr lang="en-IN" dirty="0"/>
              <a:t>Used for: bacteria staining (Gram stain, AFB stain)</a:t>
            </a:r>
          </a:p>
          <a:p>
            <a:r>
              <a:rPr lang="en-IN" b="1" dirty="0"/>
              <a:t>✔ Dark-Field Microscope</a:t>
            </a:r>
          </a:p>
          <a:p>
            <a:r>
              <a:rPr lang="en-IN" dirty="0"/>
              <a:t>Specimen appears </a:t>
            </a:r>
            <a:r>
              <a:rPr lang="en-IN" b="1" dirty="0"/>
              <a:t>bright</a:t>
            </a:r>
            <a:r>
              <a:rPr lang="en-IN" dirty="0"/>
              <a:t> against a </a:t>
            </a:r>
            <a:r>
              <a:rPr lang="en-IN" b="1" dirty="0"/>
              <a:t>dark background</a:t>
            </a:r>
            <a:endParaRPr lang="en-IN" dirty="0"/>
          </a:p>
          <a:p>
            <a:r>
              <a:rPr lang="en-IN" dirty="0"/>
              <a:t>Used to see: </a:t>
            </a:r>
            <a:r>
              <a:rPr lang="en-IN" b="1" dirty="0"/>
              <a:t>live, thin, motile organisms</a:t>
            </a:r>
            <a:r>
              <a:rPr lang="en-IN" dirty="0"/>
              <a:t> (e.g., </a:t>
            </a:r>
            <a:r>
              <a:rPr lang="en-IN" i="1" dirty="0"/>
              <a:t>Treponema pallidum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810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9992-C9CC-77AD-780F-2700C344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D6D9-D3DD-0F76-F069-697B0147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Light Microscopy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07A4B-1268-9FC6-63B7-ACDA80A3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✔ Phase-Contrast Microscope</a:t>
            </a:r>
          </a:p>
          <a:p>
            <a:r>
              <a:rPr lang="en-IN" dirty="0"/>
              <a:t>Enhances contrast in </a:t>
            </a:r>
            <a:r>
              <a:rPr lang="en-IN" b="1" dirty="0"/>
              <a:t>unstained, live specimens</a:t>
            </a:r>
            <a:endParaRPr lang="en-IN" dirty="0"/>
          </a:p>
          <a:p>
            <a:r>
              <a:rPr lang="en-IN" dirty="0"/>
              <a:t>Used to study cell motility and internal structures.</a:t>
            </a:r>
          </a:p>
          <a:p>
            <a:r>
              <a:rPr lang="en-IN" b="1" dirty="0"/>
              <a:t>✔ Fluorescent Microscope</a:t>
            </a:r>
          </a:p>
          <a:p>
            <a:r>
              <a:rPr lang="en-IN" dirty="0"/>
              <a:t>Uses </a:t>
            </a:r>
            <a:r>
              <a:rPr lang="en-IN" b="1" dirty="0"/>
              <a:t>UV light</a:t>
            </a:r>
            <a:endParaRPr lang="en-IN" dirty="0"/>
          </a:p>
          <a:p>
            <a:r>
              <a:rPr lang="en-IN" dirty="0"/>
              <a:t>Organisms appear </a:t>
            </a:r>
            <a:r>
              <a:rPr lang="en-IN" b="1" dirty="0"/>
              <a:t>fluorescent (glowing)</a:t>
            </a:r>
            <a:r>
              <a:rPr lang="en-IN" dirty="0"/>
              <a:t> due to dyes like auramine-rhodamine.</a:t>
            </a:r>
          </a:p>
          <a:p>
            <a:r>
              <a:rPr lang="en-IN" dirty="0"/>
              <a:t>Used: TB diagnosis (AFB), viral antigen detection.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37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BB23-F739-1B8A-821E-6D4BE450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9" y="1167107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Electron Microscopy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Uses electrons instead of light → provides </a:t>
            </a:r>
            <a:r>
              <a:rPr lang="en-US" sz="2000" b="1" dirty="0"/>
              <a:t>very high resolution</a:t>
            </a:r>
            <a:r>
              <a:rPr lang="en-US" sz="2000" dirty="0"/>
              <a:t>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C60AE5-0C36-0BC9-C2C3-D07A081C1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634016"/>
              </p:ext>
            </p:extLst>
          </p:nvPr>
        </p:nvGraphicFramePr>
        <p:xfrm>
          <a:off x="1023939" y="3474402"/>
          <a:ext cx="9720260" cy="1645920"/>
        </p:xfrm>
        <a:graphic>
          <a:graphicData uri="http://schemas.openxmlformats.org/drawingml/2006/table">
            <a:tbl>
              <a:tblPr/>
              <a:tblGrid>
                <a:gridCol w="2430065">
                  <a:extLst>
                    <a:ext uri="{9D8B030D-6E8A-4147-A177-3AD203B41FA5}">
                      <a16:colId xmlns:a16="http://schemas.microsoft.com/office/drawing/2014/main" val="763022361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3576347264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1001525204"/>
                    </a:ext>
                  </a:extLst>
                </a:gridCol>
                <a:gridCol w="2430065">
                  <a:extLst>
                    <a:ext uri="{9D8B030D-6E8A-4147-A177-3AD203B41FA5}">
                      <a16:colId xmlns:a16="http://schemas.microsoft.com/office/drawing/2014/main" val="42665007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50122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TEM (Transmission Electron Microscope)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Electrons pass through specimen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Internal structure of viruses &amp;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969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SEM (Scanning Electron Microscope)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Electrons scan surface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Surface morphology of microbes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26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4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F4A1-BB15-7295-8C9F-AAFDECC6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comparison: Light vs Electron Microscope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08B474-2112-D2C2-E5DD-A74E13DCF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339317"/>
              </p:ext>
            </p:extLst>
          </p:nvPr>
        </p:nvGraphicFramePr>
        <p:xfrm>
          <a:off x="1023939" y="2204080"/>
          <a:ext cx="9720261" cy="210312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80840846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551910232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972566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 Microscope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 Microscope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4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~0.2 µm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0.001 µm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08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Magnification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to </a:t>
                      </a:r>
                      <a:r>
                        <a:rPr lang="en-IN" b="1"/>
                        <a:t>1000–2000×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 to </a:t>
                      </a:r>
                      <a:r>
                        <a:rPr lang="en-US" b="1"/>
                        <a:t>50,000–100,000× or more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08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Live specimen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889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83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35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36F9-C436-C0B0-BA95-2EEEE664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Stained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000A-5D68-0D61-C062-433472C61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stained preparation</a:t>
            </a:r>
            <a:r>
              <a:rPr lang="en-US" dirty="0"/>
              <a:t> is a microscopy technique in which microorganisms are </a:t>
            </a:r>
            <a:r>
              <a:rPr lang="en-US" b="1" dirty="0"/>
              <a:t>treated with stains (dyes)</a:t>
            </a:r>
            <a:r>
              <a:rPr lang="en-US" dirty="0"/>
              <a:t> so they become more visible under a microscope. Staining improves </a:t>
            </a:r>
            <a:r>
              <a:rPr lang="en-US" b="1" dirty="0"/>
              <a:t>contrast, visibility, shape, size, and arrangement</a:t>
            </a:r>
            <a:r>
              <a:rPr lang="en-US" dirty="0"/>
              <a:t> of microbes.</a:t>
            </a:r>
          </a:p>
          <a:p>
            <a:r>
              <a:rPr lang="en-US" b="1" dirty="0"/>
              <a:t>Staining makes bacteria easier to observe and identify.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779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E41A-9054-ECEC-5FEB-67208717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Purpose of Staining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682193-326A-95DB-B3AD-58C99288A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53471"/>
              </p:ext>
            </p:extLst>
          </p:nvPr>
        </p:nvGraphicFramePr>
        <p:xfrm>
          <a:off x="1024128" y="1878253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70881628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713692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748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 improve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Shape and arrangement of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401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 identify organisms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 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178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 differentiate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Acid-fast vs Non-acid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3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 study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Capsule, flagella, spores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312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98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3921-E6DB-E499-9784-D246296E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Stained Preparation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6ACEA2-88BB-DD94-6172-BCAA5C4D6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102336"/>
              </p:ext>
            </p:extLst>
          </p:nvPr>
        </p:nvGraphicFramePr>
        <p:xfrm>
          <a:off x="1024128" y="1943135"/>
          <a:ext cx="9720261" cy="20116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4200283256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235367104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992604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5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</a:t>
                      </a:r>
                      <a:r>
                        <a:rPr lang="en-IN" b="1"/>
                        <a:t>one dye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Methylene blue staining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890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Differential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</a:t>
                      </a:r>
                      <a:r>
                        <a:rPr lang="en-US" b="1"/>
                        <a:t>more than one dye</a:t>
                      </a:r>
                      <a:r>
                        <a:rPr lang="en-US"/>
                        <a:t> to distinguish organisms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Gram stain, Acid-fast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95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Special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Highlights specific structures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Capsule </a:t>
                      </a:r>
                      <a:r>
                        <a:rPr lang="fr-FR" dirty="0" err="1"/>
                        <a:t>stain</a:t>
                      </a:r>
                      <a:r>
                        <a:rPr lang="fr-FR" dirty="0"/>
                        <a:t>, Endospore </a:t>
                      </a:r>
                      <a:r>
                        <a:rPr lang="fr-FR" dirty="0" err="1"/>
                        <a:t>stain</a:t>
                      </a:r>
                      <a:r>
                        <a:rPr lang="fr-FR" dirty="0"/>
                        <a:t>, Flagella </a:t>
                      </a:r>
                      <a:r>
                        <a:rPr lang="fr-FR" dirty="0" err="1"/>
                        <a:t>stain</a:t>
                      </a:r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347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146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51B3-A2FE-2BC1-7B3D-C42F051F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Simple Stain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A228-FAE6-72C2-8D1B-872C1B08D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 </a:t>
            </a:r>
            <a:r>
              <a:rPr lang="en-IN" b="1" dirty="0"/>
              <a:t>single dye</a:t>
            </a:r>
            <a:endParaRPr lang="en-IN" dirty="0"/>
          </a:p>
          <a:p>
            <a:r>
              <a:rPr lang="en-IN" dirty="0"/>
              <a:t>Shows basic morphology (shape + arrangement)</a:t>
            </a:r>
          </a:p>
          <a:p>
            <a:r>
              <a:rPr lang="en-IN" dirty="0"/>
              <a:t>Example dyes: </a:t>
            </a:r>
            <a:r>
              <a:rPr lang="en-IN" b="1" dirty="0"/>
              <a:t>Methylene blue, Crystal violet, Safranin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248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C720-C28C-458D-6A3B-BA73C304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Differential Stains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FD3B3E-5811-5A5C-57B8-725081C0A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23996"/>
              </p:ext>
            </p:extLst>
          </p:nvPr>
        </p:nvGraphicFramePr>
        <p:xfrm>
          <a:off x="827168" y="1989370"/>
          <a:ext cx="9720262" cy="10972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457174466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356462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9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Gram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Differentiates Gram+ (purple) and Gram− (pink)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0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Acid-fast stain (Ziehl-Neelsen)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Detects </a:t>
                      </a:r>
                      <a:r>
                        <a:rPr lang="en-IN" i="1" dirty="0"/>
                        <a:t>Mycobacterium tuberculosis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396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3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D0B6-10CC-78CB-495B-A0A63CB1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</a:t>
            </a:r>
            <a:r>
              <a:rPr lang="en-IN" b="1" dirty="0"/>
              <a:t>Special/Structural Stains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B15924-6872-7DA9-6248-1A79CCCFF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960439"/>
              </p:ext>
            </p:extLst>
          </p:nvPr>
        </p:nvGraphicFramePr>
        <p:xfrm>
          <a:off x="1024128" y="1852789"/>
          <a:ext cx="9720262" cy="146304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4269677455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244591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 Visualized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143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Capsule stain (India ink)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Capsules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07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Endospore stain (Schaeffer-Fulton)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Spores (green)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16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Flagella stain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Motility apparatus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40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573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D60-5D7B-D65D-256A-90D79703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 Steps in Stained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B9D1-6A10-0C50-1ED2-C87C12BD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Smear preparation</a:t>
            </a:r>
            <a:r>
              <a:rPr lang="en-US" dirty="0"/>
              <a:t> (spread specimen on slide)</a:t>
            </a:r>
          </a:p>
          <a:p>
            <a:r>
              <a:rPr lang="en-US" b="1" dirty="0"/>
              <a:t>Air drying</a:t>
            </a:r>
            <a:endParaRPr lang="en-US" dirty="0"/>
          </a:p>
          <a:p>
            <a:r>
              <a:rPr lang="en-US" b="1" dirty="0"/>
              <a:t>Heat fixing</a:t>
            </a:r>
            <a:r>
              <a:rPr lang="en-US" dirty="0"/>
              <a:t> (kills bacteria and fixes to slide)</a:t>
            </a:r>
          </a:p>
          <a:p>
            <a:r>
              <a:rPr lang="en-US" b="1" dirty="0"/>
              <a:t>Applying stain</a:t>
            </a:r>
            <a:endParaRPr lang="en-US" dirty="0"/>
          </a:p>
          <a:p>
            <a:r>
              <a:rPr lang="en-US" b="1" dirty="0"/>
              <a:t>Rinsing and drying</a:t>
            </a:r>
            <a:endParaRPr lang="en-US" dirty="0"/>
          </a:p>
          <a:p>
            <a:r>
              <a:rPr lang="en-US" b="1" dirty="0"/>
              <a:t>Microscopic examination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464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9EEC-189A-05FE-AC58-AA9AC383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stains used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FBA619-945E-3DCB-79E2-FDBE5A24C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732294"/>
              </p:ext>
            </p:extLst>
          </p:nvPr>
        </p:nvGraphicFramePr>
        <p:xfrm>
          <a:off x="1023938" y="1797231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662386710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938101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Dye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17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Crystal violet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stain (Gram stain)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598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Safranin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Counterstain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857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Carbol fuchsin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Acid-fast 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1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Methylene blue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stain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17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334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4195-09C3-8D35-203B-60FAD547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70BC7E-C66A-7C69-27A2-5FF5DDFC9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925" y="500344"/>
            <a:ext cx="7742149" cy="585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81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DF235-0464-F187-996C-E8A67EA4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5AF3D1-A36A-9EE9-733E-EC8D8A588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492" y="-9020"/>
            <a:ext cx="6261015" cy="687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47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5A18-FE37-E1C3-4576-13B3CAE8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E0CA9-DDB4-E97E-B20C-BFDA70965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1037" y="13203"/>
            <a:ext cx="5689926" cy="683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34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0CBE-0F03-B8B8-B29D-A636DD77D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F7D723-D039-D62D-EFFF-2947E2502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324" y="0"/>
            <a:ext cx="6331352" cy="684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36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0BE7-B8E3-3FB9-F231-1D0B34E7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DD5A8B-AABB-BCDD-4555-7496FBFB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0511" y="-30"/>
            <a:ext cx="5590977" cy="685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05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F26B-4DE1-D524-75A7-7C9E1EBA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Bacterial anatomy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FC45-525D-D870-1897-9FE76065C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outer layer or cell envelope consists of two components - a rigid cell wall and beneath it a cytoplasmic or plasma membrane.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cell envelope encloses the protoplasm, comprising the cytoplasm, cytoplasmic inclusions such as ribosomes and mesosomes, granules, vacuoles and the nuclear body.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Besides these essential components, some bacteria may possess additional structures.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cell may be enclosed in a viscid layer, which may be a loose slime layer, or organized as a capsule.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Some bacteria carry filamentous appendages protruding from the cell surface the flagella which are organs of locomotion and the fimbriae which appear to be organs for adhesion.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278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EC42-412F-6C5A-45BB-07D24B97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wall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F0F8-1ED7-83CA-056D-1B36B7A2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bacterial cell wall</a:t>
            </a:r>
            <a:r>
              <a:rPr lang="en-US" dirty="0"/>
              <a:t> is a rigid outer layer present outside the plasma membrane.</a:t>
            </a:r>
            <a:br>
              <a:rPr lang="en-US" dirty="0"/>
            </a:br>
            <a:r>
              <a:rPr lang="en-US" dirty="0"/>
              <a:t>It provides </a:t>
            </a:r>
            <a:r>
              <a:rPr lang="en-US" b="1" dirty="0"/>
              <a:t>shape, strength, protection</a:t>
            </a:r>
            <a:r>
              <a:rPr lang="en-US" dirty="0"/>
              <a:t>, and prevents bacteria from </a:t>
            </a:r>
            <a:r>
              <a:rPr lang="en-US" b="1" dirty="0"/>
              <a:t>bursting (osmotic lysis).</a:t>
            </a:r>
            <a:endParaRPr lang="en-US" dirty="0"/>
          </a:p>
          <a:p>
            <a:r>
              <a:rPr lang="en-US" dirty="0"/>
              <a:t>It is made mainly of a unique compound called </a:t>
            </a:r>
            <a:r>
              <a:rPr lang="en-US" b="1" dirty="0"/>
              <a:t>peptidoglycan (murein).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565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6949-0AC1-A9E7-8BCE-F4FFB572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</a:t>
            </a:r>
            <a:r>
              <a:rPr lang="en-US" dirty="0" err="1"/>
              <a:t>cellwall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539D7F-66BF-6F68-C47C-422C4D975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929453"/>
              </p:ext>
            </p:extLst>
          </p:nvPr>
        </p:nvGraphicFramePr>
        <p:xfrm>
          <a:off x="1023938" y="3200082"/>
          <a:ext cx="9720262" cy="21945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758060823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892095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373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Gives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Cocci, bacilli, spirilla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62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Protects from osmotic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Prevents bursting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3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rigidity &amp; 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Maintains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442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Determines Gram reaction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Gram-positive or Gram-negative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7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for antibiotics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Penicillin, cephalosporins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854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688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6557-EE91-F9F1-F673-429F9D8A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Chemical Composition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8AFF-B5E4-53DC-436E-2B107A33F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✔ </a:t>
            </a:r>
            <a:r>
              <a:rPr lang="en-IN" b="1" dirty="0"/>
              <a:t>Peptidoglycan layer (main)</a:t>
            </a:r>
            <a:endParaRPr lang="en-IN" dirty="0"/>
          </a:p>
          <a:p>
            <a:r>
              <a:rPr lang="en-IN" dirty="0"/>
              <a:t>Made of:</a:t>
            </a:r>
          </a:p>
          <a:p>
            <a:pPr lvl="1"/>
            <a:r>
              <a:rPr lang="en-IN" b="1" dirty="0"/>
              <a:t>NAG</a:t>
            </a:r>
            <a:r>
              <a:rPr lang="en-IN" dirty="0"/>
              <a:t> → N-acetylglucosamine</a:t>
            </a:r>
          </a:p>
          <a:p>
            <a:pPr lvl="1"/>
            <a:r>
              <a:rPr lang="en-IN" b="1" dirty="0"/>
              <a:t>NAM</a:t>
            </a:r>
            <a:r>
              <a:rPr lang="en-IN" dirty="0"/>
              <a:t> → N-acetylmuramic acid</a:t>
            </a:r>
          </a:p>
          <a:p>
            <a:pPr lvl="1"/>
            <a:r>
              <a:rPr lang="en-IN" dirty="0"/>
              <a:t>Linked with </a:t>
            </a:r>
            <a:r>
              <a:rPr lang="en-IN" b="1" dirty="0"/>
              <a:t>peptide bridges</a:t>
            </a:r>
            <a:endParaRPr lang="en-IN" dirty="0"/>
          </a:p>
          <a:p>
            <a:r>
              <a:rPr lang="en-IN" dirty="0"/>
              <a:t>✔ Other components:</a:t>
            </a:r>
          </a:p>
          <a:p>
            <a:r>
              <a:rPr lang="en-IN" b="1" dirty="0"/>
              <a:t>Teichoic acid</a:t>
            </a:r>
            <a:endParaRPr lang="en-IN" dirty="0"/>
          </a:p>
          <a:p>
            <a:r>
              <a:rPr lang="en-IN" b="1" dirty="0"/>
              <a:t>Lipopolysaccharide (LPS)</a:t>
            </a:r>
            <a:endParaRPr lang="en-IN" dirty="0"/>
          </a:p>
          <a:p>
            <a:r>
              <a:rPr lang="en-IN" b="1" dirty="0"/>
              <a:t>Outer membrane (only Gram–negative)</a:t>
            </a:r>
            <a:endParaRPr lang="en-IN" dirty="0"/>
          </a:p>
          <a:p>
            <a:r>
              <a:rPr lang="en-IN" b="1" dirty="0"/>
              <a:t>Porin proteins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436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EBE2-C865-0CB0-35D9-ACB19F7D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Bacterial Cell Walls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76AFE-4F5D-455E-50E1-A5C0EB05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✔ 1. Gram-Positive Cell Wall</a:t>
            </a:r>
          </a:p>
          <a:p>
            <a:r>
              <a:rPr lang="en-IN" dirty="0"/>
              <a:t>Thick peptidoglycan retains </a:t>
            </a:r>
            <a:r>
              <a:rPr lang="en-IN" b="1" dirty="0"/>
              <a:t>crystal violet dye.</a:t>
            </a:r>
          </a:p>
          <a:p>
            <a:r>
              <a:rPr lang="en-US" b="1" dirty="0"/>
              <a:t>✔ </a:t>
            </a:r>
            <a:r>
              <a:rPr lang="en-IN" dirty="0"/>
              <a:t>2. </a:t>
            </a:r>
            <a:r>
              <a:rPr lang="en-IN" b="1" dirty="0"/>
              <a:t>Gram-Negative Cell Wall</a:t>
            </a:r>
          </a:p>
          <a:p>
            <a:r>
              <a:rPr lang="en-US" dirty="0"/>
              <a:t>Loses crystal violet but takes </a:t>
            </a:r>
            <a:r>
              <a:rPr lang="en-US" b="1" dirty="0"/>
              <a:t>safranin counterstain.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053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777B-92FB-73EB-3973-96D98716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 positive cell wall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30B243-91F0-439A-4071-16152286D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948966"/>
              </p:ext>
            </p:extLst>
          </p:nvPr>
        </p:nvGraphicFramePr>
        <p:xfrm>
          <a:off x="1023938" y="3200082"/>
          <a:ext cx="9720262" cy="21945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414314643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685627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79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Peptidoglycan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Thick (20–80 nm)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13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Teichoic acid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06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Outer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18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 stain color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46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Staphylococcus</a:t>
                      </a:r>
                      <a:r>
                        <a:rPr lang="en-IN" dirty="0"/>
                        <a:t>, </a:t>
                      </a:r>
                      <a:r>
                        <a:rPr lang="en-IN" i="1" dirty="0"/>
                        <a:t>Streptococcus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5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448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D88D1-98C0-AD7E-068E-F8A6F49A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BAC3-03CE-098F-814E-F2D3AF4A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 negative cell wall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2292E6-580C-40C1-371D-5B836F930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247374"/>
              </p:ext>
            </p:extLst>
          </p:nvPr>
        </p:nvGraphicFramePr>
        <p:xfrm>
          <a:off x="1023938" y="3017202"/>
          <a:ext cx="9720262" cy="256032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618664178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612181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17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Peptidoglycan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Thin (2–7 nm)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700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Outer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Present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75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Lipopolysaccharide (LPS)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 (endotoxin)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1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Porin proteins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2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Gram stain color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Pink/red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58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E. coli</a:t>
                      </a:r>
                      <a:r>
                        <a:rPr lang="en-IN" dirty="0"/>
                        <a:t>, </a:t>
                      </a:r>
                      <a:r>
                        <a:rPr lang="en-IN" i="1" dirty="0"/>
                        <a:t>Salmonella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65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65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39F5-A25D-4E94-C94A-1D0F374C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Types of Cell Walls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8F7A0D-5606-A17F-1F78-C054BA50E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213519"/>
              </p:ext>
            </p:extLst>
          </p:nvPr>
        </p:nvGraphicFramePr>
        <p:xfrm>
          <a:off x="1023938" y="3611562"/>
          <a:ext cx="9720261" cy="137160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94883567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14300902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64115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382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Acid-fast cell wall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</a:t>
                      </a:r>
                      <a:r>
                        <a:rPr lang="en-IN" b="1"/>
                        <a:t>mycolic acid</a:t>
                      </a:r>
                      <a:r>
                        <a:rPr lang="en-IN"/>
                        <a:t> (waxy)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Mycobacterium tuberculosis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959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Lacking cell wall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cell wall, flexible plasma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Mycoplasma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90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492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4307-6636-EA14-2E3B-1E25794D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Antibiotics Targeting Cell Wall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8623-5EF6-CF74-D8A1-113323A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Penicillin</a:t>
            </a:r>
            <a:endParaRPr lang="en-IN" dirty="0"/>
          </a:p>
          <a:p>
            <a:r>
              <a:rPr lang="en-IN" b="1" dirty="0"/>
              <a:t>Cephalosporins</a:t>
            </a:r>
            <a:endParaRPr lang="en-IN" dirty="0"/>
          </a:p>
          <a:p>
            <a:r>
              <a:rPr lang="en-IN" b="1" dirty="0"/>
              <a:t>Vancomycin</a:t>
            </a:r>
            <a:endParaRPr lang="en-IN" dirty="0"/>
          </a:p>
          <a:p>
            <a:r>
              <a:rPr lang="en-IN" b="1" dirty="0"/>
              <a:t>Bacitracin</a:t>
            </a:r>
            <a:endParaRPr lang="en-IN" dirty="0"/>
          </a:p>
          <a:p>
            <a:r>
              <a:rPr lang="en-IN" dirty="0"/>
              <a:t>These inhibit </a:t>
            </a:r>
            <a:r>
              <a:rPr lang="en-IN" b="1" dirty="0"/>
              <a:t>peptidoglycan synthesis</a:t>
            </a:r>
            <a:r>
              <a:rPr lang="en-IN" dirty="0"/>
              <a:t>, causing bacteria to die.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5124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8E96-6BA0-266E-BDBB-FE4EF71A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C4218-2C8F-DD73-DD7C-A747C04F8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74" t="6142" r="9913" b="4426"/>
          <a:stretch>
            <a:fillRect/>
          </a:stretch>
        </p:blipFill>
        <p:spPr>
          <a:xfrm>
            <a:off x="532635" y="2293176"/>
            <a:ext cx="11126729" cy="268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40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0F53-E1B7-1686-15D7-98E5E1F6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1B1C4-1247-A558-CBE0-619BBC31C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9907" y="0"/>
            <a:ext cx="6072186" cy="684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295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823C-2ABA-7534-B543-F8245265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Cytoplasmic Membrane (Plasma Membrane)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ED10-C41F-13FE-8403-373A3ACAA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6" y="2286000"/>
            <a:ext cx="10188616" cy="402336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cytoplasmic membrane</a:t>
            </a:r>
            <a:r>
              <a:rPr lang="en-US" dirty="0"/>
              <a:t> is a thin, flexible structure located </a:t>
            </a:r>
            <a:r>
              <a:rPr lang="en-US" b="1" dirty="0"/>
              <a:t>just beneath the cell wall</a:t>
            </a:r>
            <a:r>
              <a:rPr lang="en-US" dirty="0"/>
              <a:t> in bacteria.</a:t>
            </a:r>
            <a:br>
              <a:rPr lang="en-US" dirty="0"/>
            </a:br>
            <a:r>
              <a:rPr lang="en-US" dirty="0"/>
              <a:t>It controls the movement of substances in and out of the cell and plays a key role in metabolism.</a:t>
            </a:r>
          </a:p>
          <a:p>
            <a:r>
              <a:rPr lang="en-US" b="1" dirty="0"/>
              <a:t>Bacterial membranes DO NOT contain sterols</a:t>
            </a:r>
            <a:r>
              <a:rPr lang="en-US" dirty="0"/>
              <a:t>, except </a:t>
            </a:r>
            <a:r>
              <a:rPr lang="en-US" b="1" dirty="0"/>
              <a:t>Mycoplasma</a:t>
            </a:r>
            <a:r>
              <a:rPr lang="en-US" dirty="0"/>
              <a:t>, which contains cholesterol.</a:t>
            </a:r>
          </a:p>
          <a:p>
            <a:r>
              <a:rPr lang="en-US" sz="4800" b="1" dirty="0"/>
              <a:t>Structure</a:t>
            </a:r>
          </a:p>
          <a:p>
            <a:r>
              <a:rPr lang="en-US" dirty="0"/>
              <a:t>The membrane is made of a </a:t>
            </a:r>
            <a:r>
              <a:rPr lang="en-US" b="1" dirty="0"/>
              <a:t>phospholipid bilayer</a:t>
            </a:r>
            <a:r>
              <a:rPr lang="en-US" dirty="0"/>
              <a:t> with </a:t>
            </a:r>
            <a:r>
              <a:rPr lang="en-US" b="1" dirty="0"/>
              <a:t>proteins embedded</a:t>
            </a:r>
            <a:r>
              <a:rPr lang="en-US" dirty="0"/>
              <a:t> in it, known as the: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625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79F0-0775-481F-1408-41931D72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"Fluid Mosaic Model"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C52026-6F21-D9EA-EBD3-EFA349290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765511"/>
              </p:ext>
            </p:extLst>
          </p:nvPr>
        </p:nvGraphicFramePr>
        <p:xfrm>
          <a:off x="1023938" y="2084832"/>
          <a:ext cx="9720262" cy="1257011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1671437041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2288218813"/>
                    </a:ext>
                  </a:extLst>
                </a:gridCol>
              </a:tblGrid>
              <a:tr h="525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22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Phospholipids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 barrier; allow flexibility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04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Proteins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Transport, enzymes, receptors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6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751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AA09-FEA7-0BA1-2CE5-E271630E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cytoplasmic membrane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4A0906-E684-31CC-843E-E3B4CB8AB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356951"/>
              </p:ext>
            </p:extLst>
          </p:nvPr>
        </p:nvGraphicFramePr>
        <p:xfrm>
          <a:off x="1023938" y="2880042"/>
          <a:ext cx="9720262" cy="283464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539653918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589182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87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Selective permeability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Controls entry and exit of molecules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46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Transport mechanisms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 transport, facilitated diffusion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61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Electron transport chain (ETC)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Site of respiration (because bacteria lack mitochondria)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13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Biosynthesis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Synthesis of lipids and cell wall precursors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2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Secretion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Export of toxins, enzymes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84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Osmotic balance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Maintains cell integrity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679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703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0148-57C5-1E06-67E4-539CD44E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3677A-FC08-9DD9-9E24-2D43A6A7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Acts as a </a:t>
            </a:r>
            <a:r>
              <a:rPr lang="en-US" b="1" dirty="0"/>
              <a:t>semi-permeable membrane</a:t>
            </a:r>
            <a:endParaRPr lang="en-US" dirty="0"/>
          </a:p>
          <a:p>
            <a:r>
              <a:rPr lang="en-US" dirty="0"/>
              <a:t>Contains </a:t>
            </a:r>
            <a:r>
              <a:rPr lang="en-US" b="1" dirty="0"/>
              <a:t>membrane-bound enzymes</a:t>
            </a:r>
            <a:endParaRPr lang="en-US" dirty="0"/>
          </a:p>
          <a:p>
            <a:r>
              <a:rPr lang="en-US" dirty="0"/>
              <a:t>Essential for </a:t>
            </a:r>
            <a:r>
              <a:rPr lang="en-US" b="1" dirty="0"/>
              <a:t>energy production (ATP synthesis)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186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B616-F049-091A-8BB0-5F504D63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Transport Types in Bacteria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A6ED88-5CBC-463F-6AD7-20C0CFDDAA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996450"/>
              </p:ext>
            </p:extLst>
          </p:nvPr>
        </p:nvGraphicFramePr>
        <p:xfrm>
          <a:off x="1023938" y="3245802"/>
          <a:ext cx="9720262" cy="210312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85361746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4123168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863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Passive 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Osmosis, diffusion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04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Facilitated diffusion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Transport proteins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429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Active 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ATP-dependent pumps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160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Group translocation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PTS (Phosphotransferase system) – unique to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11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C1B5-6192-1D97-FE55-97022384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cytoplasm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80CF-F2D9-594F-53E1-6581AA3D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cytoplasm</a:t>
            </a:r>
            <a:r>
              <a:rPr lang="en-US" dirty="0"/>
              <a:t> is a </a:t>
            </a:r>
            <a:r>
              <a:rPr lang="en-US" b="1" dirty="0"/>
              <a:t>gel-like, semifluid substance</a:t>
            </a:r>
            <a:r>
              <a:rPr lang="en-US" dirty="0"/>
              <a:t> inside the bacterial cell, enclosed by the cytoplasmic membrane. It contains various essential cellular components required for growth, metabolism, and reproduction.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377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52D5-0CDA-1A02-B319-820CA9D1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E9EF9E-9506-A225-E4EC-A35281894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116109"/>
              </p:ext>
            </p:extLst>
          </p:nvPr>
        </p:nvGraphicFramePr>
        <p:xfrm>
          <a:off x="1023938" y="2514282"/>
          <a:ext cx="9720262" cy="35661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1660024936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26562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74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Water (80–90%)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 for biochemical reactions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52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Enzymes &amp; Metabolites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Carry out metabolic and biochemical 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66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Proteins, carbohydrates, lipids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Structural and functional molecules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00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Ribosomes (70S)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Site of protein synthesis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33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Nucleoid (DNA)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genetic material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77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Plasmids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Extra-chromosomal DNA; carries antibiotic resistance genes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25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Inclusion bodies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granules (glycogen, polyphosphate, sulfur)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97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Cytoskeleton elements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Maintain cell shape and assist in division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0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164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18F7-C709-3EA1-A8FA-8D44DA6E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Important Structures within Cytoplasm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D918E-A518-5117-25CD-7FFB2CAA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1. Nucleoid</a:t>
            </a:r>
          </a:p>
          <a:p>
            <a:r>
              <a:rPr lang="en-IN" dirty="0"/>
              <a:t>Contains </a:t>
            </a:r>
            <a:r>
              <a:rPr lang="en-IN" b="1" dirty="0"/>
              <a:t>single circular double-stranded DNA</a:t>
            </a:r>
            <a:r>
              <a:rPr lang="en-IN" dirty="0"/>
              <a:t>.</a:t>
            </a:r>
          </a:p>
          <a:p>
            <a:r>
              <a:rPr lang="en-IN" dirty="0"/>
              <a:t>No nuclear membrane.</a:t>
            </a:r>
          </a:p>
          <a:p>
            <a:r>
              <a:rPr lang="en-IN" b="1" dirty="0"/>
              <a:t>2. Ribosomes</a:t>
            </a:r>
          </a:p>
          <a:p>
            <a:r>
              <a:rPr lang="en-IN" b="1" dirty="0"/>
              <a:t>70S</a:t>
            </a:r>
            <a:r>
              <a:rPr lang="en-IN" dirty="0"/>
              <a:t> type (50S + 30S subunits).</a:t>
            </a:r>
          </a:p>
          <a:p>
            <a:r>
              <a:rPr lang="en-IN" dirty="0"/>
              <a:t>Target of antibiotics like tetracyclines and aminoglycosides.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86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FCFD-233A-F506-61CA-7C224978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18B3-09BE-2791-DE00-EF2C26BA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Important Structures within Cytoplasm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F188-DC52-FD66-9F99-F1F6E00D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3. Plasmids</a:t>
            </a:r>
          </a:p>
          <a:p>
            <a:r>
              <a:rPr lang="en-IN" dirty="0"/>
              <a:t>Small circular DNA.</a:t>
            </a:r>
          </a:p>
          <a:p>
            <a:r>
              <a:rPr lang="en-IN" dirty="0"/>
              <a:t>Provide resistance genes (</a:t>
            </a:r>
            <a:r>
              <a:rPr lang="en-IN" i="1" dirty="0"/>
              <a:t>R plasmids</a:t>
            </a:r>
            <a:r>
              <a:rPr lang="en-IN" dirty="0"/>
              <a:t>).</a:t>
            </a:r>
          </a:p>
          <a:p>
            <a:r>
              <a:rPr lang="en-IN" b="1" dirty="0"/>
              <a:t>4. Inclusion Bodies</a:t>
            </a:r>
          </a:p>
          <a:p>
            <a:r>
              <a:rPr lang="en-IN" dirty="0"/>
              <a:t>Examples:</a:t>
            </a:r>
          </a:p>
          <a:p>
            <a:r>
              <a:rPr lang="en-IN" b="1" dirty="0"/>
              <a:t>Volutin (metachromatic granules)</a:t>
            </a:r>
            <a:r>
              <a:rPr lang="en-IN" dirty="0"/>
              <a:t> → </a:t>
            </a:r>
            <a:r>
              <a:rPr lang="en-IN" i="1" dirty="0"/>
              <a:t>Corynebacterium diphtheriae</a:t>
            </a:r>
            <a:endParaRPr lang="en-IN" dirty="0"/>
          </a:p>
          <a:p>
            <a:r>
              <a:rPr lang="en-IN" b="1" dirty="0"/>
              <a:t>Glycogen granules</a:t>
            </a:r>
            <a:endParaRPr lang="en-IN" dirty="0"/>
          </a:p>
          <a:p>
            <a:r>
              <a:rPr lang="en-IN" b="1" dirty="0"/>
              <a:t>Gas vacuoles</a:t>
            </a:r>
            <a:r>
              <a:rPr lang="en-IN" dirty="0"/>
              <a:t> (in cyanobacteria)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6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80C5-30BB-E6E1-3C47-AE0E04CC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Functions of Cytoplasm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EE00C-C9E8-6CF2-363E-79BD88F8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Metabolic activity </a:t>
            </a:r>
            <a:r>
              <a:rPr lang="en-IN" b="1" dirty="0" err="1"/>
              <a:t>center</a:t>
            </a:r>
            <a:r>
              <a:rPr lang="en-IN" dirty="0"/>
              <a:t> (glycolysis, biosynthesis)</a:t>
            </a:r>
          </a:p>
          <a:p>
            <a:r>
              <a:rPr lang="en-IN" b="1" dirty="0"/>
              <a:t>Protein synthesis</a:t>
            </a:r>
            <a:endParaRPr lang="en-IN" dirty="0"/>
          </a:p>
          <a:p>
            <a:r>
              <a:rPr lang="en-IN" b="1" dirty="0"/>
              <a:t>Storage of nutrients</a:t>
            </a:r>
            <a:endParaRPr lang="en-IN" dirty="0"/>
          </a:p>
          <a:p>
            <a:r>
              <a:rPr lang="en-IN" b="1" dirty="0"/>
              <a:t>DNA replication and cell division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6269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A643-827E-6DF9-FAD1-3C117FEF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Ribosomes</a:t>
            </a:r>
            <a:br>
              <a:rPr lang="en-US" b="1" dirty="0"/>
            </a:br>
            <a:r>
              <a:rPr lang="en-US" sz="2700" dirty="0" err="1"/>
              <a:t>Ribosomes</a:t>
            </a:r>
            <a:r>
              <a:rPr lang="en-US" sz="2700" dirty="0"/>
              <a:t> are </a:t>
            </a:r>
            <a:r>
              <a:rPr lang="en-US" sz="2700" b="1" dirty="0"/>
              <a:t>small granular structures</a:t>
            </a:r>
            <a:r>
              <a:rPr lang="en-US" sz="2700" dirty="0"/>
              <a:t> present in the bacterial cytoplasm and are responsible for </a:t>
            </a:r>
            <a:r>
              <a:rPr lang="en-US" sz="2700" b="1" dirty="0"/>
              <a:t>protein synthesis</a:t>
            </a:r>
            <a:r>
              <a:rPr lang="en-US" sz="2700" dirty="0"/>
              <a:t>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09D0-536C-78CF-31B7-B3AF5430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157471" cy="4023360"/>
          </a:xfrm>
        </p:spPr>
        <p:txBody>
          <a:bodyPr/>
          <a:lstStyle/>
          <a:p>
            <a:r>
              <a:rPr lang="en-IN" dirty="0"/>
              <a:t>Key Features: in table</a:t>
            </a:r>
          </a:p>
          <a:p>
            <a:endParaRPr lang="en-IN" dirty="0"/>
          </a:p>
          <a:p>
            <a:r>
              <a:rPr lang="fr-FR" b="1" dirty="0"/>
              <a:t>Function: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b="1" dirty="0"/>
              <a:t>Protein synthesis</a:t>
            </a:r>
            <a:r>
              <a:rPr lang="fr-FR" dirty="0"/>
              <a:t> (translation).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dirty="0" err="1"/>
              <a:t>Converts</a:t>
            </a:r>
            <a:r>
              <a:rPr lang="fr-FR" dirty="0"/>
              <a:t> </a:t>
            </a:r>
            <a:r>
              <a:rPr lang="fr-FR" b="1" dirty="0" err="1"/>
              <a:t>mRNA</a:t>
            </a:r>
            <a:r>
              <a:rPr lang="fr-FR" b="1" dirty="0"/>
              <a:t> → </a:t>
            </a:r>
            <a:r>
              <a:rPr lang="fr-FR" b="1" dirty="0" err="1"/>
              <a:t>protein</a:t>
            </a:r>
            <a:r>
              <a:rPr lang="fr-FR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9E4837-7148-0034-E939-A14605689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401812"/>
              </p:ext>
            </p:extLst>
          </p:nvPr>
        </p:nvGraphicFramePr>
        <p:xfrm>
          <a:off x="5274469" y="2578100"/>
          <a:ext cx="5304631" cy="2743200"/>
        </p:xfrm>
        <a:graphic>
          <a:graphicData uri="http://schemas.openxmlformats.org/drawingml/2006/table">
            <a:tbl>
              <a:tblPr/>
              <a:tblGrid>
                <a:gridCol w="1452562">
                  <a:extLst>
                    <a:ext uri="{9D8B030D-6E8A-4147-A177-3AD203B41FA5}">
                      <a16:colId xmlns:a16="http://schemas.microsoft.com/office/drawing/2014/main" val="4033137950"/>
                    </a:ext>
                  </a:extLst>
                </a:gridCol>
                <a:gridCol w="3852069">
                  <a:extLst>
                    <a:ext uri="{9D8B030D-6E8A-4147-A177-3AD203B41FA5}">
                      <a16:colId xmlns:a16="http://schemas.microsoft.com/office/drawing/2014/main" val="4271462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70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70S ribosomes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56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Subunits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50S (large) + 30S (small)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94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rRNA (60%) + proteins (40%)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764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Free in cytoplasm (not membrane-bound)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4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Target of antibiotics like </a:t>
                      </a:r>
                      <a:r>
                        <a:rPr lang="en-US" b="1" dirty="0"/>
                        <a:t>tetracyclines, streptomycin, chloramphenicol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84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527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092F-3027-19CE-63FF-5D11894E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Mesosomes (chondroids)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2474B-52D9-0B56-838A-3BEF374F0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Mesosomes are </a:t>
            </a:r>
            <a:r>
              <a:rPr lang="en-US" b="1" dirty="0"/>
              <a:t>infoldings of the cytoplasmic membrane</a:t>
            </a:r>
            <a:r>
              <a:rPr lang="en-US" dirty="0"/>
              <a:t> seen mainly in Gram-positive bacteria.</a:t>
            </a:r>
          </a:p>
          <a:p>
            <a:r>
              <a:rPr lang="en-US" b="1" dirty="0"/>
              <a:t>Note:</a:t>
            </a:r>
            <a:r>
              <a:rPr lang="en-US" dirty="0"/>
              <a:t> Mesosomes are now considered </a:t>
            </a:r>
            <a:r>
              <a:rPr lang="en-US" b="1" dirty="0"/>
              <a:t>artifacts</a:t>
            </a:r>
            <a:r>
              <a:rPr lang="en-US" dirty="0"/>
              <a:t> produced during </a:t>
            </a:r>
            <a:r>
              <a:rPr lang="en-US" b="1" dirty="0"/>
              <a:t>chemical fixation</a:t>
            </a:r>
            <a:r>
              <a:rPr lang="en-US" dirty="0"/>
              <a:t> in electron microscopy, not natural structures.</a:t>
            </a:r>
          </a:p>
          <a:p>
            <a:r>
              <a:rPr lang="en-IN" dirty="0"/>
              <a:t>Types 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830503-4268-3A85-EE12-C3623DAA4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248332"/>
              </p:ext>
            </p:extLst>
          </p:nvPr>
        </p:nvGraphicFramePr>
        <p:xfrm>
          <a:off x="1023938" y="4498022"/>
          <a:ext cx="9720262" cy="10972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773225525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945338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76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Septal Mesosome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Associated with </a:t>
                      </a:r>
                      <a:r>
                        <a:rPr lang="en-US" b="1"/>
                        <a:t>cell division</a:t>
                      </a:r>
                      <a:r>
                        <a:rPr lang="en-US"/>
                        <a:t> (septum formation)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8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Lateral Mesosome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Associated with </a:t>
                      </a:r>
                      <a:r>
                        <a:rPr lang="en-US" b="1" dirty="0"/>
                        <a:t>DNA replication</a:t>
                      </a:r>
                      <a:r>
                        <a:rPr lang="en-US" dirty="0"/>
                        <a:t>, respiration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255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8572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685A-296A-8776-873B-A2A2CAB1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plasmids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F99E-566D-1343-AC9A-C5C0024BA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243072" cy="4023360"/>
          </a:xfrm>
        </p:spPr>
        <p:txBody>
          <a:bodyPr/>
          <a:lstStyle/>
          <a:p>
            <a:r>
              <a:rPr lang="en-US" dirty="0"/>
              <a:t>Plasmids are </a:t>
            </a:r>
            <a:r>
              <a:rPr lang="en-US" b="1" dirty="0"/>
              <a:t>small, circular, double-stranded DNA molecules</a:t>
            </a:r>
            <a:r>
              <a:rPr lang="en-US" dirty="0"/>
              <a:t> found in the cytoplasm of bacteria, separate from the main chromosome.</a:t>
            </a:r>
          </a:p>
          <a:p>
            <a:r>
              <a:rPr lang="en-US" dirty="0"/>
              <a:t>They are </a:t>
            </a:r>
            <a:r>
              <a:rPr lang="en-US" b="1" dirty="0"/>
              <a:t>self-replicating</a:t>
            </a:r>
            <a:r>
              <a:rPr lang="en-US" dirty="0"/>
              <a:t> and </a:t>
            </a:r>
            <a:r>
              <a:rPr lang="en-US" b="1" dirty="0"/>
              <a:t>not essential for survival</a:t>
            </a:r>
            <a:r>
              <a:rPr lang="en-US" dirty="0"/>
              <a:t>, but they provide </a:t>
            </a:r>
            <a:r>
              <a:rPr lang="en-US" b="1" dirty="0"/>
              <a:t>special advantages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FBDC36-2B98-0553-CCBD-F98FBB43B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604806"/>
              </p:ext>
            </p:extLst>
          </p:nvPr>
        </p:nvGraphicFramePr>
        <p:xfrm>
          <a:off x="4899820" y="2399982"/>
          <a:ext cx="6049962" cy="2743200"/>
        </p:xfrm>
        <a:graphic>
          <a:graphicData uri="http://schemas.openxmlformats.org/drawingml/2006/table">
            <a:tbl>
              <a:tblPr/>
              <a:tblGrid>
                <a:gridCol w="2532062">
                  <a:extLst>
                    <a:ext uri="{9D8B030D-6E8A-4147-A177-3AD203B41FA5}">
                      <a16:colId xmlns:a16="http://schemas.microsoft.com/office/drawing/2014/main" val="280098353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4167656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1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Circular, double-stranded DNA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138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Cytoplasm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4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Independent of bacterial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677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Essentiality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Not essential</a:t>
                      </a:r>
                      <a:r>
                        <a:rPr lang="en-IN"/>
                        <a:t>, but beneficial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80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be transferred between bacteria (conjugation)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189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639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859F-14E7-4C23-09B0-A0BD4FB5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of Plasmids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7A45-D3F2-504D-F510-5EAAF6F61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Carry genes for:</a:t>
            </a:r>
          </a:p>
          <a:p>
            <a:pPr lvl="1"/>
            <a:r>
              <a:rPr lang="en-US" b="1" dirty="0"/>
              <a:t>Antibiotic resistance</a:t>
            </a:r>
            <a:r>
              <a:rPr lang="en-US" dirty="0"/>
              <a:t> (R-plasmids)</a:t>
            </a:r>
          </a:p>
          <a:p>
            <a:pPr lvl="1"/>
            <a:r>
              <a:rPr lang="en-US" b="1" dirty="0"/>
              <a:t>Toxin production</a:t>
            </a:r>
            <a:endParaRPr lang="en-US" dirty="0"/>
          </a:p>
          <a:p>
            <a:pPr lvl="1"/>
            <a:r>
              <a:rPr lang="en-US" b="1" dirty="0"/>
              <a:t>Virulence factors</a:t>
            </a:r>
            <a:endParaRPr lang="en-US" dirty="0"/>
          </a:p>
          <a:p>
            <a:pPr lvl="1"/>
            <a:r>
              <a:rPr lang="en-US" b="1" dirty="0"/>
              <a:t>Metabolic enzymes</a:t>
            </a:r>
            <a:endParaRPr lang="en-US" dirty="0"/>
          </a:p>
          <a:p>
            <a:r>
              <a:rPr lang="en-US" dirty="0"/>
              <a:t>Help in </a:t>
            </a:r>
            <a:r>
              <a:rPr lang="en-US" b="1" dirty="0"/>
              <a:t>genetic exchange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8761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4D2E-D9E8-94F7-B8D3-19FFD1F05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Importance in Biotechnology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D454-652C-7960-7B68-30E042826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Plasmids are used as </a:t>
            </a:r>
            <a:r>
              <a:rPr lang="en-US" b="1" dirty="0"/>
              <a:t>vectors</a:t>
            </a:r>
            <a:r>
              <a:rPr lang="en-US" dirty="0"/>
              <a:t> in </a:t>
            </a:r>
            <a:r>
              <a:rPr lang="en-US" b="1" dirty="0"/>
              <a:t>genetic engineering</a:t>
            </a:r>
            <a:r>
              <a:rPr lang="en-US" dirty="0"/>
              <a:t> because:</a:t>
            </a:r>
          </a:p>
          <a:p>
            <a:r>
              <a:rPr lang="en-US" dirty="0"/>
              <a:t>Easy to isolate</a:t>
            </a:r>
          </a:p>
          <a:p>
            <a:r>
              <a:rPr lang="en-US" dirty="0"/>
              <a:t>Can carry foreign genes</a:t>
            </a:r>
          </a:p>
          <a:p>
            <a:r>
              <a:rPr lang="en-US" dirty="0"/>
              <a:t>Can replicate inside bacterial cells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432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91CD-D314-0079-9DC4-49656BC1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slime layer</a:t>
            </a:r>
            <a:r>
              <a:rPr lang="en-US" dirty="0"/>
              <a:t> and </a:t>
            </a:r>
            <a:r>
              <a:rPr lang="en-US" b="1" dirty="0"/>
              <a:t>capsule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4CE3F-E58A-852A-FDCC-E0791C64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Both </a:t>
            </a:r>
            <a:r>
              <a:rPr lang="en-US" b="1" dirty="0"/>
              <a:t>slime layer</a:t>
            </a:r>
            <a:r>
              <a:rPr lang="en-US" dirty="0"/>
              <a:t> and </a:t>
            </a:r>
            <a:r>
              <a:rPr lang="en-US" b="1" dirty="0"/>
              <a:t>capsule</a:t>
            </a:r>
            <a:r>
              <a:rPr lang="en-US" dirty="0"/>
              <a:t> are types of </a:t>
            </a:r>
            <a:r>
              <a:rPr lang="en-US" b="1" dirty="0"/>
              <a:t>glycocalyx</a:t>
            </a:r>
            <a:r>
              <a:rPr lang="en-US" dirty="0"/>
              <a:t> found outside the bacterial cell wall. They are made of </a:t>
            </a:r>
            <a:r>
              <a:rPr lang="en-US" b="1" dirty="0"/>
              <a:t>polysaccharides</a:t>
            </a:r>
            <a:r>
              <a:rPr lang="en-US" dirty="0"/>
              <a:t>, and sometimes </a:t>
            </a:r>
            <a:r>
              <a:rPr lang="en-US" b="1" dirty="0"/>
              <a:t>polypeptides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600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0DA7-7849-DF87-1931-63886949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Capsule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84B0-F5EB-BA4E-E40F-8494199E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capsule</a:t>
            </a:r>
            <a:r>
              <a:rPr lang="en-US" dirty="0"/>
              <a:t> is a </a:t>
            </a:r>
            <a:r>
              <a:rPr lang="en-US" b="1" dirty="0"/>
              <a:t>thick, well-defined, tightly bound</a:t>
            </a:r>
            <a:r>
              <a:rPr lang="en-US" dirty="0"/>
              <a:t> layer surrounding the bacterial cell.</a:t>
            </a:r>
          </a:p>
          <a:p>
            <a:r>
              <a:rPr lang="en-US" b="1" dirty="0"/>
              <a:t>Features:</a:t>
            </a:r>
          </a:p>
          <a:p>
            <a:r>
              <a:rPr lang="en-US" dirty="0"/>
              <a:t>Firmly attached to the cell wall</a:t>
            </a:r>
          </a:p>
          <a:p>
            <a:r>
              <a:rPr lang="en-US" dirty="0"/>
              <a:t>Organized and difficult to remove</a:t>
            </a:r>
          </a:p>
          <a:p>
            <a:r>
              <a:rPr lang="en-US" dirty="0"/>
              <a:t>Visible with </a:t>
            </a:r>
            <a:r>
              <a:rPr lang="en-US" b="1" dirty="0"/>
              <a:t>special stains</a:t>
            </a:r>
            <a:r>
              <a:rPr lang="en-US" dirty="0"/>
              <a:t> (e.g., India ink, Anthony’s stain)</a:t>
            </a:r>
          </a:p>
          <a:p>
            <a:r>
              <a:rPr lang="en-US" b="1" dirty="0"/>
              <a:t>Functions:</a:t>
            </a:r>
          </a:p>
          <a:p>
            <a:r>
              <a:rPr lang="en-US" b="1" dirty="0"/>
              <a:t>Protection from phagocytosis</a:t>
            </a:r>
            <a:r>
              <a:rPr lang="en-US" dirty="0"/>
              <a:t> → increases virulence</a:t>
            </a:r>
          </a:p>
          <a:p>
            <a:r>
              <a:rPr lang="en-US" dirty="0"/>
              <a:t>Prevents desiccation (drying)</a:t>
            </a:r>
          </a:p>
          <a:p>
            <a:r>
              <a:rPr lang="en-US" dirty="0"/>
              <a:t>Helps bacteria escape host immune response</a:t>
            </a:r>
          </a:p>
          <a:p>
            <a:r>
              <a:rPr lang="en-US" dirty="0"/>
              <a:t>Aids in attachment to host tissues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3504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9E9C-8CB0-8B8A-8BF3-F4EBF73A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Encapsulated Bacteria: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9F1B01-00E6-3FE6-3DC1-B3AA9E39B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470018"/>
              </p:ext>
            </p:extLst>
          </p:nvPr>
        </p:nvGraphicFramePr>
        <p:xfrm>
          <a:off x="1023938" y="3565842"/>
          <a:ext cx="9720262" cy="146304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2822954105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2130003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Capsule Composition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73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Streptococcus pneumoniae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Polysaccharide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3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Klebsiella pneumoniae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Polysaccharide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598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Bacillus anthracis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Polypeptide capsule (D-glutamic acid)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352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9218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F606-6250-48EE-A0C5-2057CC9C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Slime Layer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AE6F-C0F1-AD5E-398A-E897657C2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 </a:t>
            </a:r>
            <a:r>
              <a:rPr lang="en-IN" b="1" dirty="0"/>
              <a:t>slime layer</a:t>
            </a:r>
            <a:r>
              <a:rPr lang="en-IN" dirty="0"/>
              <a:t> is a </a:t>
            </a:r>
            <a:r>
              <a:rPr lang="en-IN" b="1" dirty="0"/>
              <a:t>thin, loosely attached, unorganized</a:t>
            </a:r>
            <a:r>
              <a:rPr lang="en-IN" dirty="0"/>
              <a:t> surface coating.</a:t>
            </a:r>
          </a:p>
          <a:p>
            <a:r>
              <a:rPr lang="en-IN" b="1" dirty="0"/>
              <a:t>Features:</a:t>
            </a:r>
          </a:p>
          <a:p>
            <a:r>
              <a:rPr lang="en-IN" dirty="0"/>
              <a:t>Loosely bound; can be easily washed off</a:t>
            </a:r>
          </a:p>
          <a:p>
            <a:r>
              <a:rPr lang="en-IN" dirty="0"/>
              <a:t>Thin and irregular</a:t>
            </a:r>
          </a:p>
          <a:p>
            <a:r>
              <a:rPr lang="en-IN" dirty="0"/>
              <a:t>Mostly polysaccharides</a:t>
            </a:r>
          </a:p>
          <a:p>
            <a:r>
              <a:rPr lang="en-IN" b="1" dirty="0"/>
              <a:t>Functions:</a:t>
            </a:r>
          </a:p>
          <a:p>
            <a:r>
              <a:rPr lang="en-IN" dirty="0"/>
              <a:t>Helps in </a:t>
            </a:r>
            <a:r>
              <a:rPr lang="en-IN" b="1" dirty="0"/>
              <a:t>adhesion to surfaces</a:t>
            </a:r>
            <a:endParaRPr lang="en-IN" dirty="0"/>
          </a:p>
          <a:p>
            <a:r>
              <a:rPr lang="en-IN" dirty="0"/>
              <a:t>Important for </a:t>
            </a:r>
            <a:r>
              <a:rPr lang="en-IN" b="1" dirty="0"/>
              <a:t>biofilm formation</a:t>
            </a:r>
            <a:r>
              <a:rPr lang="en-IN" dirty="0"/>
              <a:t> (e.g., plaque on teeth by </a:t>
            </a:r>
            <a:r>
              <a:rPr lang="en-IN" i="1" dirty="0"/>
              <a:t>Streptococcus mutans</a:t>
            </a:r>
            <a:r>
              <a:rPr lang="en-IN" dirty="0"/>
              <a:t>)</a:t>
            </a:r>
          </a:p>
          <a:p>
            <a:r>
              <a:rPr lang="en-IN" dirty="0"/>
              <a:t>Prevents drying (desiccation)</a:t>
            </a:r>
          </a:p>
          <a:p>
            <a:r>
              <a:rPr lang="en-IN" dirty="0"/>
              <a:t>Provides protection from chemicals and environmental stress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932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BAAD-08A1-D463-9757-286FB618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716C03-3A4C-1309-3FA0-AC89A56CA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028146"/>
              </p:ext>
            </p:extLst>
          </p:nvPr>
        </p:nvGraphicFramePr>
        <p:xfrm>
          <a:off x="1023938" y="2697162"/>
          <a:ext cx="9720261" cy="320040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37249384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71504740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200531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Capsule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Slime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2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Attachment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Tightly attached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Loosely attached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71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Well-organized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Unorganized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024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Thickness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85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 to remove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Easily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42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Visible with special stains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Often not visible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82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 in Virulence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to 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267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Streptococcus pneumoniae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Streptococcus mutans</a:t>
                      </a:r>
                      <a:r>
                        <a:rPr lang="en-IN" dirty="0"/>
                        <a:t> (dental plaque)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24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1341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CF6A-97BE-233E-F27F-612FB73D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flagella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8884B-FE47-1882-63C9-D74044A14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29" y="1778000"/>
            <a:ext cx="5122671" cy="449478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Flagella are </a:t>
            </a:r>
            <a:r>
              <a:rPr lang="en-US" b="1" dirty="0"/>
              <a:t>long, whip-like, thread-like appendages</a:t>
            </a:r>
            <a:r>
              <a:rPr lang="en-US" dirty="0"/>
              <a:t> present on the surface of some bacteria. They provide </a:t>
            </a:r>
            <a:r>
              <a:rPr lang="en-US" b="1" dirty="0"/>
              <a:t>motility</a:t>
            </a:r>
            <a:r>
              <a:rPr lang="en-US" dirty="0"/>
              <a:t> and help bacteria move toward nutrients or away from harmful substances (chemotaxis).</a:t>
            </a:r>
          </a:p>
          <a:p>
            <a:r>
              <a:rPr lang="en-US" sz="4400" b="1" dirty="0"/>
              <a:t>Composition</a:t>
            </a:r>
          </a:p>
          <a:p>
            <a:r>
              <a:rPr lang="en-US" dirty="0"/>
              <a:t>Flagella are made of a protein called </a:t>
            </a:r>
            <a:r>
              <a:rPr lang="en-US" b="1" dirty="0"/>
              <a:t>flagellin</a:t>
            </a:r>
            <a:r>
              <a:rPr lang="en-US" dirty="0"/>
              <a:t>.</a:t>
            </a:r>
          </a:p>
          <a:p>
            <a:r>
              <a:rPr lang="en-US" b="1" dirty="0"/>
              <a:t>Structure of Flagellum</a:t>
            </a:r>
          </a:p>
          <a:p>
            <a:r>
              <a:rPr lang="en-US" dirty="0"/>
              <a:t>A bacterial flagellum has </a:t>
            </a:r>
            <a:r>
              <a:rPr lang="en-US" b="1" dirty="0"/>
              <a:t>three main parts: in table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721A9B-CD5B-6285-D9CC-44A62D2AC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57011"/>
              </p:ext>
            </p:extLst>
          </p:nvPr>
        </p:nvGraphicFramePr>
        <p:xfrm>
          <a:off x="5562600" y="360680"/>
          <a:ext cx="6253162" cy="2834640"/>
        </p:xfrm>
        <a:graphic>
          <a:graphicData uri="http://schemas.openxmlformats.org/drawingml/2006/table">
            <a:tbl>
              <a:tblPr/>
              <a:tblGrid>
                <a:gridCol w="1960562">
                  <a:extLst>
                    <a:ext uri="{9D8B030D-6E8A-4147-A177-3AD203B41FA5}">
                      <a16:colId xmlns:a16="http://schemas.microsoft.com/office/drawing/2014/main" val="270769540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6264502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764882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81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Filament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Outside the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Long, helical structure made of flagellin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910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Hook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Attached to basal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Flexible connector between filament and basal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Basal body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Anchored in cell wall and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Acts as a </a:t>
                      </a:r>
                      <a:r>
                        <a:rPr lang="en-US" b="1" dirty="0"/>
                        <a:t>motor</a:t>
                      </a:r>
                      <a:r>
                        <a:rPr lang="en-US" dirty="0"/>
                        <a:t> that rotates the flagellum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59777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2C53B24-3CBE-6FE4-EF59-DCE6F882DAAE}"/>
              </a:ext>
            </a:extLst>
          </p:cNvPr>
          <p:cNvSpPr txBox="1">
            <a:spLocks/>
          </p:cNvSpPr>
          <p:nvPr/>
        </p:nvSpPr>
        <p:spPr>
          <a:xfrm>
            <a:off x="6787863" y="3751580"/>
            <a:ext cx="4576065" cy="2521204"/>
          </a:xfrm>
          <a:prstGeom prst="rect">
            <a:avLst/>
          </a:prstGeom>
          <a:ln>
            <a:solidFill>
              <a:schemeClr val="bg2"/>
            </a:solidFill>
          </a:ln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In </a:t>
            </a:r>
            <a:r>
              <a:rPr lang="en-US" altLang="en-US" sz="54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gram-negative bacteria</a:t>
            </a: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, the basal body has </a:t>
            </a:r>
            <a:r>
              <a:rPr lang="en-US" altLang="en-US" sz="54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4 rings (L, P, MS, C)</a:t>
            </a: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In </a:t>
            </a:r>
            <a:r>
              <a:rPr lang="en-US" altLang="en-US" sz="54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gram-positive bacteria</a:t>
            </a: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, it has </a:t>
            </a:r>
            <a:r>
              <a:rPr lang="en-US" altLang="en-US" sz="54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2 rings (MS, C)</a:t>
            </a:r>
            <a:r>
              <a:rPr lang="en-US" altLang="en-US" sz="5400" cap="none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1316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EB07-16FA-B180-E6D9-645A2081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 of Flagella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F605-8950-ED9E-C161-CECD7772A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</a:t>
            </a:r>
            <a:r>
              <a:rPr lang="en-US" b="1" dirty="0"/>
              <a:t>bacterial motility</a:t>
            </a:r>
            <a:endParaRPr lang="en-US" dirty="0"/>
          </a:p>
          <a:p>
            <a:r>
              <a:rPr lang="en-US" dirty="0"/>
              <a:t>Helps in </a:t>
            </a:r>
            <a:r>
              <a:rPr lang="en-US" b="1" dirty="0"/>
              <a:t>chemotaxis</a:t>
            </a:r>
            <a:r>
              <a:rPr lang="en-US" dirty="0"/>
              <a:t> (movement toward attractants like nutrients or away from toxins)</a:t>
            </a:r>
          </a:p>
          <a:p>
            <a:r>
              <a:rPr lang="en-US" dirty="0"/>
              <a:t>Aids in colonization and infection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3343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97AC-E9B1-1703-22E0-DDEFF328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flagellar movements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7B89DC-CE6E-637A-09FB-D58BEA39E5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925762"/>
          <a:ext cx="9720261" cy="274320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744529555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712002997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156417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74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Monotrichous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flagellum at one pole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Vibrio cholerae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038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Lophotrichous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Tuft (cluster) of flagella at one pole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Helicobacter pylori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33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Amphitrichous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or more flagella at both poles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Spirillum volutans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617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Peritrichous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Flagella all over the surface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/>
                        <a:t>E. coli</a:t>
                      </a:r>
                      <a:r>
                        <a:rPr lang="en-IN"/>
                        <a:t>, </a:t>
                      </a:r>
                      <a:r>
                        <a:rPr lang="en-IN" i="1"/>
                        <a:t>Proteus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332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Atrichous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flagella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Klebsiella</a:t>
                      </a:r>
                      <a:r>
                        <a:rPr lang="en-IN" dirty="0"/>
                        <a:t>, </a:t>
                      </a:r>
                      <a:r>
                        <a:rPr lang="en-IN" i="1" dirty="0"/>
                        <a:t>Shigella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617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3076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8247-2A00-1C46-39C1-D17C54E6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Detection of Flagella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7CFC-A4D2-077D-AC1D-771993300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Hanging drop method</a:t>
            </a:r>
            <a:r>
              <a:rPr lang="en-US" dirty="0"/>
              <a:t> → to observe motility</a:t>
            </a:r>
          </a:p>
          <a:p>
            <a:r>
              <a:rPr lang="en-US" b="1" dirty="0"/>
              <a:t>Flagella stain</a:t>
            </a:r>
            <a:r>
              <a:rPr lang="en-US" dirty="0"/>
              <a:t> (special stain)</a:t>
            </a:r>
          </a:p>
          <a:p>
            <a:r>
              <a:rPr lang="en-US" b="1" dirty="0"/>
              <a:t>Motility agar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0C16D-33BB-D740-9AA9-C85E241F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348" y="0"/>
            <a:ext cx="5035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439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C4AE-73B7-D6DF-089A-836CAC29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Fimbriae and pili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4DC1-D66C-F2BF-AAA4-EC1EC457F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Fimbriae and pili are </a:t>
            </a:r>
            <a:r>
              <a:rPr lang="en-US" b="1" dirty="0"/>
              <a:t>hair-like surface appendages</a:t>
            </a:r>
            <a:r>
              <a:rPr lang="en-US" dirty="0"/>
              <a:t> found in many bacteria. They are thinner and shorter than flagella and </a:t>
            </a:r>
            <a:r>
              <a:rPr lang="en-US" b="1" dirty="0"/>
              <a:t>do not provide motility</a:t>
            </a:r>
            <a:r>
              <a:rPr lang="en-US" dirty="0"/>
              <a:t> (except </a:t>
            </a:r>
            <a:r>
              <a:rPr lang="en-US" b="1" dirty="0"/>
              <a:t>sex pili used in conjugation</a:t>
            </a:r>
            <a:r>
              <a:rPr lang="en-US" dirty="0"/>
              <a:t>, not for movement).</a:t>
            </a:r>
          </a:p>
          <a:p>
            <a:r>
              <a:rPr lang="en-US" dirty="0"/>
              <a:t>Both are made mostly of a protein called </a:t>
            </a:r>
            <a:r>
              <a:rPr lang="en-US" b="1" dirty="0"/>
              <a:t>pilin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7123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F02A-7A6B-9B92-9E02-6B33DB81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fimbriae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D35DAB-F8CA-5898-9859-6D19F5C3C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330860"/>
              </p:ext>
            </p:extLst>
          </p:nvPr>
        </p:nvGraphicFramePr>
        <p:xfrm>
          <a:off x="1023938" y="3200082"/>
          <a:ext cx="9720262" cy="21945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378873012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3637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042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Numerous (100–300 per cell)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Short and thin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604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 the entire bacterial surface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75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Pilin protein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46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Mainly </a:t>
                      </a:r>
                      <a:r>
                        <a:rPr lang="en-IN" b="1" dirty="0"/>
                        <a:t>attachment (adhesion)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9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950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6B45-3E6B-C499-F8C3-A1178FC23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5BB0-DA5F-C47B-964A-2DA615179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fimbriae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F20797-ABC9-C0E9-3692-585129117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Function:</a:t>
            </a:r>
          </a:p>
          <a:p>
            <a:r>
              <a:rPr lang="en-IN" dirty="0"/>
              <a:t>Helps bacteria </a:t>
            </a:r>
            <a:r>
              <a:rPr lang="en-IN" b="1" dirty="0"/>
              <a:t>attach to host tissues</a:t>
            </a:r>
            <a:r>
              <a:rPr lang="en-IN" dirty="0"/>
              <a:t>, surfaces, and prosthetic devices.</a:t>
            </a:r>
          </a:p>
          <a:p>
            <a:r>
              <a:rPr lang="en-IN" dirty="0"/>
              <a:t>Important in establishing </a:t>
            </a:r>
            <a:r>
              <a:rPr lang="en-IN" b="1" dirty="0"/>
              <a:t>infection and colonization</a:t>
            </a:r>
            <a:r>
              <a:rPr lang="en-IN" dirty="0"/>
              <a:t>.</a:t>
            </a:r>
          </a:p>
          <a:p>
            <a:r>
              <a:rPr lang="en-IN" dirty="0"/>
              <a:t>Helps in </a:t>
            </a:r>
            <a:r>
              <a:rPr lang="en-IN" b="1" dirty="0"/>
              <a:t>biofilm formation</a:t>
            </a:r>
            <a:r>
              <a:rPr lang="en-IN" dirty="0"/>
              <a:t>.</a:t>
            </a:r>
          </a:p>
          <a:p>
            <a:r>
              <a:rPr lang="en-IN" b="1" dirty="0"/>
              <a:t>Examples:</a:t>
            </a:r>
          </a:p>
          <a:p>
            <a:r>
              <a:rPr lang="en-IN" b="1" dirty="0"/>
              <a:t>Neisseria gonorrhoeae</a:t>
            </a:r>
            <a:r>
              <a:rPr lang="en-IN" dirty="0"/>
              <a:t> uses fimbriae to attach to genital mucosa.</a:t>
            </a:r>
          </a:p>
          <a:p>
            <a:r>
              <a:rPr lang="en-IN" b="1" dirty="0"/>
              <a:t>E. coli</a:t>
            </a:r>
            <a:r>
              <a:rPr lang="en-IN" dirty="0"/>
              <a:t> fimbriae help in urinary tract infections.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0599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89AC-45FC-119A-A2C0-490B1B48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pili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8FB38B-E072-997A-83B4-AB9F5E0DD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363798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646806926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018284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109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Few (1–10 per cell)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771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Longer than fimbriae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71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Sex (F) pili</a:t>
                      </a:r>
                      <a:r>
                        <a:rPr lang="en-US"/>
                        <a:t> and </a:t>
                      </a:r>
                      <a:r>
                        <a:rPr lang="en-US" b="1"/>
                        <a:t>common pili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05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Conjugation and sometimes adhesion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709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5747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8A27-1321-0240-EB2A-81AEF0A6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833B-392C-1EE6-5229-7FF8FF80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pili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145B1C-7A8E-9382-015D-5C171FD8E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Sex (F) pilus</a:t>
            </a:r>
            <a:r>
              <a:rPr lang="en-US" dirty="0"/>
              <a:t> is involved in </a:t>
            </a:r>
            <a:r>
              <a:rPr lang="en-US" b="1" dirty="0"/>
              <a:t>bacterial conjugation</a:t>
            </a:r>
            <a:r>
              <a:rPr lang="en-US" dirty="0"/>
              <a:t> (transfer of DNA/plasmids from donor → recipient).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</a:t>
            </a:r>
            <a:r>
              <a:rPr lang="en-US" b="1" dirty="0"/>
              <a:t>antibiotic resistance gene transfer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pili help in </a:t>
            </a:r>
            <a:r>
              <a:rPr lang="en-US" b="1" dirty="0"/>
              <a:t>attachment</a:t>
            </a:r>
            <a:r>
              <a:rPr lang="en-US" dirty="0"/>
              <a:t>, but not as strongly as fimbriae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1135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7128-BCBB-1EA5-E451-66CABB65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615899-9DA5-7AD3-7C32-67C880CA9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1761" y="0"/>
            <a:ext cx="56284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073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1262-F43D-D42B-6F4A-F48A1EBA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Growth and Multiplication of Bacteria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8CAA-0CEE-099D-3139-48A073AB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Bacteria grow by </a:t>
            </a:r>
            <a:r>
              <a:rPr lang="en-US" b="1" dirty="0"/>
              <a:t>increase in cell mass</a:t>
            </a:r>
            <a:r>
              <a:rPr lang="en-US" dirty="0"/>
              <a:t> and multiply by </a:t>
            </a:r>
            <a:r>
              <a:rPr lang="en-US" b="1" dirty="0"/>
              <a:t>binary fission</a:t>
            </a:r>
            <a:r>
              <a:rPr lang="en-US" dirty="0"/>
              <a:t>, a simple asexual reproduction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9529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89D4-7E2E-E297-554E-1C754CAB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Binary Fission (Main Method of Multiplication)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C4C5-13FD-89B6-295D-2E1D417AB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Binary fission is a process where </a:t>
            </a:r>
            <a:r>
              <a:rPr lang="en-US" b="1" dirty="0"/>
              <a:t>one bacterial cell divides to form two identical daughter cells</a:t>
            </a:r>
            <a:r>
              <a:rPr lang="en-US" dirty="0"/>
              <a:t>.</a:t>
            </a:r>
          </a:p>
          <a:p>
            <a:r>
              <a:rPr lang="en-US" b="1" dirty="0"/>
              <a:t>Steps of Binary Fission:</a:t>
            </a:r>
          </a:p>
          <a:p>
            <a:r>
              <a:rPr lang="en-US" b="1" dirty="0"/>
              <a:t>Cell Growth</a:t>
            </a:r>
            <a:endParaRPr lang="en-US" dirty="0"/>
          </a:p>
          <a:p>
            <a:pPr lvl="1"/>
            <a:r>
              <a:rPr lang="en-US" dirty="0"/>
              <a:t>Bacterial cell increases in size.</a:t>
            </a:r>
          </a:p>
          <a:p>
            <a:r>
              <a:rPr lang="en-US" b="1" dirty="0"/>
              <a:t>DNA Replication</a:t>
            </a:r>
            <a:endParaRPr lang="en-US" dirty="0"/>
          </a:p>
          <a:p>
            <a:pPr lvl="1"/>
            <a:r>
              <a:rPr lang="en-US" dirty="0"/>
              <a:t>Chromosome duplicates and attaches to the cell membrane.</a:t>
            </a:r>
          </a:p>
          <a:p>
            <a:r>
              <a:rPr lang="en-US" b="1" dirty="0"/>
              <a:t>Segregation</a:t>
            </a:r>
            <a:endParaRPr lang="en-US" dirty="0"/>
          </a:p>
          <a:p>
            <a:pPr lvl="1"/>
            <a:r>
              <a:rPr lang="en-US" dirty="0"/>
              <a:t>Two DNA copies move to opposite poles of the cell.</a:t>
            </a:r>
          </a:p>
          <a:p>
            <a:r>
              <a:rPr lang="en-US" b="1" dirty="0"/>
              <a:t>Septum Formation</a:t>
            </a:r>
            <a:endParaRPr lang="en-US" dirty="0"/>
          </a:p>
          <a:p>
            <a:pPr lvl="1"/>
            <a:r>
              <a:rPr lang="en-US" dirty="0"/>
              <a:t>Cell membrane and wall invaginate and form a division septum.</a:t>
            </a:r>
          </a:p>
          <a:p>
            <a:r>
              <a:rPr lang="en-US" b="1" dirty="0"/>
              <a:t>Cell Separation</a:t>
            </a:r>
            <a:endParaRPr lang="en-US" dirty="0"/>
          </a:p>
          <a:p>
            <a:pPr lvl="1"/>
            <a:r>
              <a:rPr lang="en-US" dirty="0"/>
              <a:t>Parent cell splits into </a:t>
            </a:r>
            <a:r>
              <a:rPr lang="en-US" b="1" dirty="0"/>
              <a:t>two genetically identical daughter cells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7459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ABBA-8387-FF32-A117-6D63B653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Generation Time</a:t>
            </a:r>
            <a:br>
              <a:rPr lang="en-US" b="1" dirty="0"/>
            </a:br>
            <a:r>
              <a:rPr lang="en-US" sz="2700" dirty="0"/>
              <a:t>The time required for a bacterium to divide into two cells.</a:t>
            </a:r>
            <a:br>
              <a:rPr lang="en-US" sz="2700" dirty="0"/>
            </a:br>
            <a:r>
              <a:rPr lang="en-US" sz="2700" dirty="0"/>
              <a:t>Varies between species and conditions.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AC5602-5201-0DE7-3D2F-4130AE931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872104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666786518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681841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59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E. coli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643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Mycobacterium tuberculosis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18–24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04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Vibrio cholerae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92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Staphylococcus aureus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 minutes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7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36142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51F-C8DC-B1AC-7577-1010F480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Growth Curve of Bacteria</a:t>
            </a:r>
            <a:br>
              <a:rPr lang="en-US" b="1" dirty="0"/>
            </a:br>
            <a:r>
              <a:rPr lang="en-US" sz="2700" dirty="0"/>
              <a:t>When bacteria are cultured in a closed environment, they follow a </a:t>
            </a:r>
            <a:r>
              <a:rPr lang="en-US" sz="2700" b="1" dirty="0"/>
              <a:t>growth curve</a:t>
            </a:r>
            <a:r>
              <a:rPr lang="en-US" sz="2700" dirty="0"/>
              <a:t> with 4 phases.</a:t>
            </a:r>
            <a:br>
              <a:rPr lang="en-US" sz="2700" dirty="0"/>
            </a:br>
            <a:r>
              <a:rPr lang="en-IN" sz="2700" dirty="0"/>
              <a:t>S-shaped (sigmoid curve)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56DE84-BF26-9D34-091B-EF950EC9BD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676404"/>
              </p:ext>
            </p:extLst>
          </p:nvPr>
        </p:nvGraphicFramePr>
        <p:xfrm>
          <a:off x="4699322" y="2728414"/>
          <a:ext cx="7344558" cy="2926080"/>
        </p:xfrm>
        <a:graphic>
          <a:graphicData uri="http://schemas.openxmlformats.org/drawingml/2006/table">
            <a:tbl>
              <a:tblPr/>
              <a:tblGrid>
                <a:gridCol w="2182249">
                  <a:extLst>
                    <a:ext uri="{9D8B030D-6E8A-4147-A177-3AD203B41FA5}">
                      <a16:colId xmlns:a16="http://schemas.microsoft.com/office/drawing/2014/main" val="4099894271"/>
                    </a:ext>
                  </a:extLst>
                </a:gridCol>
                <a:gridCol w="2453833">
                  <a:extLst>
                    <a:ext uri="{9D8B030D-6E8A-4147-A177-3AD203B41FA5}">
                      <a16:colId xmlns:a16="http://schemas.microsoft.com/office/drawing/2014/main" val="4193233284"/>
                    </a:ext>
                  </a:extLst>
                </a:gridCol>
                <a:gridCol w="2708476">
                  <a:extLst>
                    <a:ext uri="{9D8B030D-6E8A-4147-A177-3AD203B41FA5}">
                      <a16:colId xmlns:a16="http://schemas.microsoft.com/office/drawing/2014/main" val="2130954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181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1. Lag Phase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Adaptation to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cell division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691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2. Log/Exponential Phase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Rapid binary fission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metabolic activity; most sensitive to antibiotics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38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Stationary Phase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Growth = Death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Nutrients deplete, toxins accumulate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805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Death/Decline Phase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Death &gt;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Cells die due to toxic waste and lack of nutrients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206210"/>
                  </a:ext>
                </a:extLst>
              </a:tr>
            </a:tbl>
          </a:graphicData>
        </a:graphic>
      </p:graphicFrame>
      <p:pic>
        <p:nvPicPr>
          <p:cNvPr id="35842" name="Picture 2">
            <a:extLst>
              <a:ext uri="{FF2B5EF4-FFF2-40B4-BE49-F238E27FC236}">
                <a16:creationId xmlns:a16="http://schemas.microsoft.com/office/drawing/2014/main" id="{75ABBD9C-203E-D6D4-DAD2-95FD297AE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9" y="2314937"/>
            <a:ext cx="4566175" cy="342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386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4AE1-C558-372C-8183-4FBD445C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9A0B4-9D72-1342-9AEA-5397C4576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6553" y="-6854"/>
            <a:ext cx="6738894" cy="686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814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801E-F7C7-8DFF-D4A8-4C42B104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growth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0E639B-B02C-2C44-3BFC-6E75C6032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341443"/>
              </p:ext>
            </p:extLst>
          </p:nvPr>
        </p:nvGraphicFramePr>
        <p:xfrm>
          <a:off x="1023938" y="3200082"/>
          <a:ext cx="9720262" cy="21945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457041834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610083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99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Psychrophiles, mesophiles, thermophiles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2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 bacteria prefer neutral pH (7.0)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00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Oxygen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Aerobes, anaerobes, facultative anaerobes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034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Moisture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Essential for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65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Nutrients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Carbon, nitrogen, minerals, vitamins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2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6513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E728-8A92-B265-A622-2B575E27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to measure bacterial growth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C678E8-EDCF-F962-6334-91CDC121F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205762"/>
              </p:ext>
            </p:extLst>
          </p:nvPr>
        </p:nvGraphicFramePr>
        <p:xfrm>
          <a:off x="1023938" y="3382962"/>
          <a:ext cx="9720262" cy="182880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1913516638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726137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0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Direct count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Microscopy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3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Viable count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Colony count (CFU)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936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Turbidometry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Spectrophotometer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07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Metabolic activity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CO₂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15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1480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D191-AAB8-0CF9-2A9E-D99165AA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B175B6-9CB1-AF6C-26D1-7FBF957F5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739" y="1339911"/>
            <a:ext cx="11252521" cy="417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99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1BCE-B8CE-C826-F1E3-9CCF70E2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Bacterial nutrition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46B00-5EA5-2422-8D72-79CEBE29B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Bacteria require nutrients for </a:t>
            </a:r>
            <a:r>
              <a:rPr lang="en-US" b="1" dirty="0"/>
              <a:t>growth, metabolism, reproduction, and energy production</a:t>
            </a:r>
            <a:r>
              <a:rPr lang="en-US" dirty="0"/>
              <a:t>. These nutrients come from the environment and vary based on the type of bacteria.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6F86F8-7101-EE99-FFE9-7B3C11654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146714"/>
              </p:ext>
            </p:extLst>
          </p:nvPr>
        </p:nvGraphicFramePr>
        <p:xfrm>
          <a:off x="1023938" y="3428682"/>
          <a:ext cx="9720261" cy="173736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183996555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802941056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213202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of Nutrient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Macronutrients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C, H, O, N, P,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 and cellular metabolism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9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Micronutrients (Trace elements)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Fe, Zn, Mn, Cu, Mg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Enzyme function and co-factors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2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Growth factors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Vitamins, amino acids, purines, pyrimidines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Required by some bacteria that cannot synthesize them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92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3172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E15B-6460-4C02-AF82-24434AB1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of energy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89CCCC-8C5B-DC42-FC94-8F933D583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620411"/>
              </p:ext>
            </p:extLst>
          </p:nvPr>
        </p:nvGraphicFramePr>
        <p:xfrm>
          <a:off x="1023939" y="2112962"/>
          <a:ext cx="9720261" cy="10972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40951867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14296442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30022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Bacteria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06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Phototrophs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Cyanobacteria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 b="1"/>
                        <a:t>sunlight</a:t>
                      </a:r>
                      <a:r>
                        <a:rPr lang="en-IN"/>
                        <a:t> as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9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Chemotrophs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Nitrifying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</a:t>
                      </a:r>
                      <a:r>
                        <a:rPr lang="en-IN" b="1" dirty="0"/>
                        <a:t>chemical compounds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37981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B435D1B-6CC4-4FF2-5220-2C426AB6F06F}"/>
              </a:ext>
            </a:extLst>
          </p:cNvPr>
          <p:cNvSpPr txBox="1">
            <a:spLocks/>
          </p:cNvSpPr>
          <p:nvPr/>
        </p:nvSpPr>
        <p:spPr>
          <a:xfrm>
            <a:off x="1023939" y="3273553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Source of carbon</a:t>
            </a:r>
            <a:endParaRPr lang="en-IN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EA4F9DE-A6EF-2AA9-5A42-AC3C9D7688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0056414"/>
              </p:ext>
            </p:extLst>
          </p:nvPr>
        </p:nvGraphicFramePr>
        <p:xfrm>
          <a:off x="1111024" y="4773169"/>
          <a:ext cx="9720261" cy="10972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70195288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288232283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84761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0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 b="1"/>
                        <a:t>CO₂</a:t>
                      </a:r>
                      <a:r>
                        <a:rPr lang="en-IN"/>
                        <a:t> as carbon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Cyanobacteria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342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Heterotrophs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 b="1"/>
                        <a:t>organic compounds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pathogenic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457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7108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E3EE39-13B3-20FC-EDC3-82AF106F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of electron (reducing power)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5C2D284-11F2-ABEB-A39C-4269240C50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857345"/>
              </p:ext>
            </p:extLst>
          </p:nvPr>
        </p:nvGraphicFramePr>
        <p:xfrm>
          <a:off x="1024128" y="2057400"/>
          <a:ext cx="9720261" cy="137160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73639951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62775532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058681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77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Lithotrophs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Inorganic substances (H₂, NH₃, Fe²⁺)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Nitrifying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16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Organotrophs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Organic compounds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human pathogens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606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3629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FABF-4D91-6A0F-2920-C651C7E1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Combining Carbon, Energy &amp; Electron Source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0A53E6-5BCA-F2F4-1CDD-5F5A63DA8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955870"/>
              </p:ext>
            </p:extLst>
          </p:nvPr>
        </p:nvGraphicFramePr>
        <p:xfrm>
          <a:off x="1023939" y="2971482"/>
          <a:ext cx="9720260" cy="2651760"/>
        </p:xfrm>
        <a:graphic>
          <a:graphicData uri="http://schemas.openxmlformats.org/drawingml/2006/table">
            <a:tbl>
              <a:tblPr/>
              <a:tblGrid>
                <a:gridCol w="1944052">
                  <a:extLst>
                    <a:ext uri="{9D8B030D-6E8A-4147-A177-3AD203B41FA5}">
                      <a16:colId xmlns:a16="http://schemas.microsoft.com/office/drawing/2014/main" val="1412473111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3963217435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2303277038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3586230342"/>
                    </a:ext>
                  </a:extLst>
                </a:gridCol>
                <a:gridCol w="1944052">
                  <a:extLst>
                    <a:ext uri="{9D8B030D-6E8A-4147-A177-3AD203B41FA5}">
                      <a16:colId xmlns:a16="http://schemas.microsoft.com/office/drawing/2014/main" val="891102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Carbon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5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Photoautotrophs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Cyanobacteria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33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Photoheterotrophs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Purple non-sulfur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25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Chemoautotrophs (Lithoautotrophs)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Chemicals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Nitrosomonas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74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Chemoheterotrophs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Chemicals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Most pathogenic bacteria (E.coli)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61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4392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7531-E77E-CE72-D5EF-216666EF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Oxygen requirement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F8765E-39FE-C333-295F-7F282F31F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55983"/>
              </p:ext>
            </p:extLst>
          </p:nvPr>
        </p:nvGraphicFramePr>
        <p:xfrm>
          <a:off x="1023938" y="3200082"/>
          <a:ext cx="9720261" cy="219456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8602296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6005529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018030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61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Obligate aerobes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 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Mycobacterium tuberculosis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95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Obligate anaerobes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Cannot tolerate 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Clostridium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44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Facultative anaerobes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Grow with or without 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E. coli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09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Microaerophiles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 low 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Helicobacter pylori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8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Aerotolerant anaerobes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 not use O₂ but tolerate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Lactobacillus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816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8211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0F78-500D-E12F-1489-11A5CB42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64478"/>
            <a:ext cx="9720072" cy="1499616"/>
          </a:xfrm>
        </p:spPr>
        <p:txBody>
          <a:bodyPr/>
          <a:lstStyle/>
          <a:p>
            <a:r>
              <a:rPr lang="en-US" dirty="0"/>
              <a:t>Nutritional Types Based on Growth Requirement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671FB0-6DF0-3BB0-9515-AF6EFCF3C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641353"/>
              </p:ext>
            </p:extLst>
          </p:nvPr>
        </p:nvGraphicFramePr>
        <p:xfrm>
          <a:off x="1023939" y="1681798"/>
          <a:ext cx="9720261" cy="137160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1813515296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0320982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487272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766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bacteria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 in minimal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E. coli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6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Fastidious bacteria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 special nutrients (blood, serum, vitamins)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Neisseria, Haemophilus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47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47838-C302-F2E3-EB10-9D3194BBE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740097"/>
              </p:ext>
            </p:extLst>
          </p:nvPr>
        </p:nvGraphicFramePr>
        <p:xfrm>
          <a:off x="1023939" y="4124642"/>
          <a:ext cx="9720261" cy="210312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72316007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74034908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478032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739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Passive diffusion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Gases, small molecules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6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Facilitated diffusion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Carrier protein, no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Glycerol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0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Active 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Energy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Amino acids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73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Group translocation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Substance chemically modified during 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Glucose → glucose-6-phosphate in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879470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57CA2A9-AB5A-8367-AC69-EFC1C0796CA8}"/>
              </a:ext>
            </a:extLst>
          </p:cNvPr>
          <p:cNvSpPr txBox="1">
            <a:spLocks/>
          </p:cNvSpPr>
          <p:nvPr/>
        </p:nvSpPr>
        <p:spPr>
          <a:xfrm>
            <a:off x="1023939" y="3022092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Transport of Nutrients</a:t>
            </a:r>
          </a:p>
        </p:txBody>
      </p:sp>
    </p:spTree>
    <p:extLst>
      <p:ext uri="{BB962C8B-B14F-4D97-AF65-F5344CB8AC3E}">
        <p14:creationId xmlns:p14="http://schemas.microsoft.com/office/powerpoint/2010/main" val="41248848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74F3-2702-155D-77B9-6402BC71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growth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3BA5A-41E8-5B48-BB59-99BBCD586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635760"/>
            <a:ext cx="9720073" cy="4023360"/>
          </a:xfrm>
        </p:spPr>
        <p:txBody>
          <a:bodyPr/>
          <a:lstStyle/>
          <a:p>
            <a:r>
              <a:rPr lang="en-US" dirty="0"/>
              <a:t>Bacterial growth is influenced by </a:t>
            </a:r>
            <a:r>
              <a:rPr lang="en-US" b="1" dirty="0"/>
              <a:t>physical, chemical, and nutritional factors</a:t>
            </a:r>
            <a:r>
              <a:rPr lang="en-US" dirty="0"/>
              <a:t> in their environment. Any change in these factors may inhibit growth or kill bacteria.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24298E-09A3-7DB5-046E-A7A26378F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77171"/>
              </p:ext>
            </p:extLst>
          </p:nvPr>
        </p:nvGraphicFramePr>
        <p:xfrm>
          <a:off x="1025472" y="2468640"/>
          <a:ext cx="9718728" cy="4023206"/>
        </p:xfrm>
        <a:graphic>
          <a:graphicData uri="http://schemas.openxmlformats.org/drawingml/2006/table">
            <a:tbl>
              <a:tblPr/>
              <a:tblGrid>
                <a:gridCol w="4859364">
                  <a:extLst>
                    <a:ext uri="{9D8B030D-6E8A-4147-A177-3AD203B41FA5}">
                      <a16:colId xmlns:a16="http://schemas.microsoft.com/office/drawing/2014/main" val="2751363973"/>
                    </a:ext>
                  </a:extLst>
                </a:gridCol>
                <a:gridCol w="4859364">
                  <a:extLst>
                    <a:ext uri="{9D8B030D-6E8A-4147-A177-3AD203B41FA5}">
                      <a16:colId xmlns:a16="http://schemas.microsoft.com/office/drawing/2014/main" val="2195956015"/>
                    </a:ext>
                  </a:extLst>
                </a:gridCol>
              </a:tblGrid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Factor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Effect on Growth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709500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Temperature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Controls enzyme activity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08121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pH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Affects membrane + enzyme function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051363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Oxygen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Needed or toxic depending on type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78940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Moisture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Necessary for metabolism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85481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Osmotic Pressure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 salt/sugar inhibits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10189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Light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UV kills; some need sunlight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99913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Pressure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Some adapted to high pressure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91162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Nutrients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Required for metabolism and reproduction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97056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Inhibitory Substances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Prevent growth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797300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Determines growth phase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14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5537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C6F5-0029-8FF2-CDCD-D79DDEF3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Temperature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6E045E-1A13-25BA-7F9D-72CE41049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006878"/>
              </p:ext>
            </p:extLst>
          </p:nvPr>
        </p:nvGraphicFramePr>
        <p:xfrm>
          <a:off x="1023939" y="1831022"/>
          <a:ext cx="9720261" cy="246888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3501833733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103847796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966581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Optimum Temp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Psychrophiles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0–20°C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Arctic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5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Psychrotrophs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20–30°C (grow in fridge)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41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Mesophiles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25–40°C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Most pathogens (E. coli, Staphylococcus)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311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Thermophiles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45–70°C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Compost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51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Hyperthermophiles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&gt;80°C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Hot spring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188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1699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EB75-4022-6209-CBEC-261D9AC8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026756-3E02-ACCE-AD2C-765911BAA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29371"/>
              </p:ext>
            </p:extLst>
          </p:nvPr>
        </p:nvGraphicFramePr>
        <p:xfrm>
          <a:off x="1023938" y="3565842"/>
          <a:ext cx="9720261" cy="146304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25595848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23628576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1500001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Preferred 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98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Neutrophiles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Pathogenic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164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Acidophiles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 &lt;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Lactobacillus (yogurt)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824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Alkaliphiles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 &gt;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Vibrio cholerae (optimal ~8.5–9)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9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6127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7E3A-CDAE-C8D7-02BC-EF98DB13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Oxygen requirement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4249F3-C216-B82E-2969-B8E9FDEB4C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3200082"/>
          <a:ext cx="9720261" cy="219456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167491313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371133686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15734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Oxygen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21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Obligate aerobes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 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Mycobacterium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795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Obligate anaerobes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Killed by 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Clostridium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61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Facultative anaerobes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Grow with or without 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E. coli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21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Microaerophiles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 low O₂ (5–10%)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Helicobacter pylori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578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Aerotolerant anaerobes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affected by 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Lactobacillus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594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2654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2FBE-479F-4E63-7A13-B47A6C0A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Moisture / Water Availability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B84C-CCDF-9AFB-D72B-68F588929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Water is essential for </a:t>
            </a:r>
            <a:r>
              <a:rPr lang="en-IN" b="1" dirty="0"/>
              <a:t>enzyme activity and nutrient transport</a:t>
            </a:r>
            <a:r>
              <a:rPr lang="en-IN" dirty="0"/>
              <a:t>.</a:t>
            </a:r>
          </a:p>
          <a:p>
            <a:r>
              <a:rPr lang="en-IN" b="1" dirty="0"/>
              <a:t>Dry conditions inhibit bacterial growth.</a:t>
            </a:r>
            <a:endParaRPr lang="en-IN" dirty="0"/>
          </a:p>
          <a:p>
            <a:r>
              <a:rPr lang="en-IN" dirty="0"/>
              <a:t>Exceptions: </a:t>
            </a:r>
            <a:r>
              <a:rPr lang="en-IN" b="1" dirty="0"/>
              <a:t>spores and some fungi can survive dryness.</a:t>
            </a:r>
            <a:endParaRPr lang="en-IN" dirty="0"/>
          </a:p>
          <a:p>
            <a:r>
              <a:rPr lang="en-IN" dirty="0"/>
              <a:t>Measured using </a:t>
            </a:r>
            <a:r>
              <a:rPr lang="en-IN" b="1" dirty="0"/>
              <a:t>water activity (Aw)</a:t>
            </a:r>
            <a:r>
              <a:rPr lang="en-IN" dirty="0"/>
              <a:t> → bacteria prefer </a:t>
            </a:r>
            <a:r>
              <a:rPr lang="en-IN" b="1" dirty="0"/>
              <a:t>Aw ≥ 0.97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08996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856C-81BB-A88E-5CB8-44B39AB6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Osmotic Pressure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23B5-55F7-C473-1A4B-D03A71BC3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Hypertonic environment (high salt/sugar) causes </a:t>
            </a:r>
            <a:r>
              <a:rPr lang="en-US" b="1" dirty="0"/>
              <a:t>plasmolysis</a:t>
            </a:r>
            <a:r>
              <a:rPr lang="en-US" dirty="0"/>
              <a:t> → cells shrink and stop growing.</a:t>
            </a:r>
          </a:p>
          <a:p>
            <a:pPr lvl="1"/>
            <a:r>
              <a:rPr lang="en-US" dirty="0"/>
              <a:t>Used in </a:t>
            </a:r>
            <a:r>
              <a:rPr lang="en-US" b="1" dirty="0"/>
              <a:t>salted meat, jams, pickles</a:t>
            </a:r>
            <a:r>
              <a:rPr lang="en-US" dirty="0"/>
              <a:t> for preservation.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6BF05-7B15-0F37-318F-63A2D5610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133088"/>
              </p:ext>
            </p:extLst>
          </p:nvPr>
        </p:nvGraphicFramePr>
        <p:xfrm>
          <a:off x="1023938" y="3748722"/>
          <a:ext cx="9720262" cy="109728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400167246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3632712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Adaptation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70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Halophiles (salt-loving)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Halobacterium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6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Non-halophiles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pathogens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096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35027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2EF0-3E4D-7224-6785-93AA39F9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Light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ACD9E-F068-CAD0-2A3B-DF781E43F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UV light</a:t>
            </a:r>
            <a:r>
              <a:rPr lang="en-IN" dirty="0"/>
              <a:t> causes DNA damage → thymine dimers → bacterial death.</a:t>
            </a:r>
          </a:p>
          <a:p>
            <a:r>
              <a:rPr lang="en-IN" dirty="0"/>
              <a:t>Some bacteria (cyanobacteria) need </a:t>
            </a:r>
            <a:r>
              <a:rPr lang="en-IN" b="1" dirty="0"/>
              <a:t>light for photosynthesis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Most bacteria grow at </a:t>
            </a:r>
            <a:r>
              <a:rPr lang="en-US" b="1" dirty="0"/>
              <a:t>normal atmospheric pressure</a:t>
            </a:r>
            <a:r>
              <a:rPr lang="en-US" dirty="0"/>
              <a:t>.</a:t>
            </a:r>
          </a:p>
          <a:p>
            <a:r>
              <a:rPr lang="en-US" b="1" dirty="0" err="1"/>
              <a:t>Barophiles</a:t>
            </a:r>
            <a:r>
              <a:rPr lang="en-US" b="1" dirty="0"/>
              <a:t> / Piezophiles</a:t>
            </a:r>
            <a:r>
              <a:rPr lang="en-US" dirty="0"/>
              <a:t> grow at high pressure (deep sea microbes).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DBFFD-0FF4-7068-BC5E-48147D7C3317}"/>
              </a:ext>
            </a:extLst>
          </p:cNvPr>
          <p:cNvSpPr txBox="1">
            <a:spLocks/>
          </p:cNvSpPr>
          <p:nvPr/>
        </p:nvSpPr>
        <p:spPr>
          <a:xfrm>
            <a:off x="1024128" y="3202433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Pressure</a:t>
            </a:r>
          </a:p>
        </p:txBody>
      </p:sp>
    </p:spTree>
    <p:extLst>
      <p:ext uri="{BB962C8B-B14F-4D97-AF65-F5344CB8AC3E}">
        <p14:creationId xmlns:p14="http://schemas.microsoft.com/office/powerpoint/2010/main" val="188257337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1EB5-8472-75AE-8D5E-FB36FBFA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Nutrients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E7459-2D12-4316-9126-37C611680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Growth depends on availability of:</a:t>
            </a:r>
          </a:p>
          <a:p>
            <a:r>
              <a:rPr lang="en-IN" dirty="0"/>
              <a:t>Carbon source</a:t>
            </a:r>
          </a:p>
          <a:p>
            <a:r>
              <a:rPr lang="en-IN" dirty="0"/>
              <a:t>Nitrogen</a:t>
            </a:r>
          </a:p>
          <a:p>
            <a:r>
              <a:rPr lang="en-IN" dirty="0"/>
              <a:t>Minerals (Fe, Mg, K, Ca, Zn)</a:t>
            </a:r>
          </a:p>
          <a:p>
            <a:r>
              <a:rPr lang="en-IN" dirty="0"/>
              <a:t>Vitamins and growth factors</a:t>
            </a:r>
          </a:p>
          <a:p>
            <a:r>
              <a:rPr lang="en-IN" b="1" dirty="0"/>
              <a:t>Fastidious organisms</a:t>
            </a:r>
            <a:r>
              <a:rPr lang="en-IN" dirty="0"/>
              <a:t> (e.g., </a:t>
            </a:r>
            <a:r>
              <a:rPr lang="en-IN" i="1" dirty="0"/>
              <a:t>Neisseria</a:t>
            </a:r>
            <a:r>
              <a:rPr lang="en-IN" dirty="0"/>
              <a:t>, </a:t>
            </a:r>
            <a:r>
              <a:rPr lang="en-IN" i="1" dirty="0"/>
              <a:t>Haemophilus</a:t>
            </a:r>
            <a:r>
              <a:rPr lang="en-IN" dirty="0"/>
              <a:t>) need enriched media like blood or serum.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8572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60D5-F893-8C0C-8C04-E14B6822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Inhibitory Substances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C1571E-527A-2C63-A469-BC8AFD747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255558"/>
              </p:ext>
            </p:extLst>
          </p:nvPr>
        </p:nvGraphicFramePr>
        <p:xfrm>
          <a:off x="1024128" y="2084832"/>
          <a:ext cx="9720262" cy="1737360"/>
        </p:xfrm>
        <a:graphic>
          <a:graphicData uri="http://schemas.openxmlformats.org/drawingml/2006/table">
            <a:tbl>
              <a:tblPr/>
              <a:tblGrid>
                <a:gridCol w="4860131">
                  <a:extLst>
                    <a:ext uri="{9D8B030D-6E8A-4147-A177-3AD203B41FA5}">
                      <a16:colId xmlns:a16="http://schemas.microsoft.com/office/drawing/2014/main" val="370418277"/>
                    </a:ext>
                  </a:extLst>
                </a:gridCol>
                <a:gridCol w="4860131">
                  <a:extLst>
                    <a:ext uri="{9D8B030D-6E8A-4147-A177-3AD203B41FA5}">
                      <a16:colId xmlns:a16="http://schemas.microsoft.com/office/drawing/2014/main" val="1669575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Substance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8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Antibiotics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Kill or inhibit bacteria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275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Disinfectants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Damage membrane or proteins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747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Waste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Acid accumulation inhibits growth (e.g., lactic acid from Lactobacillus)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7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2931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E8B9-DE65-0A23-B5C0-3DDB1B44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1A17-265D-3449-FB4A-9BCDCBE7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Bacteria require time to adapt and increase cell number (lag, log, stationary, death phases).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605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Custom 12">
      <a:dk1>
        <a:srgbClr val="E8E8E8"/>
      </a:dk1>
      <a:lt1>
        <a:srgbClr val="00206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E8E8E8"/>
      </a:accent6>
      <a:hlink>
        <a:srgbClr val="467886"/>
      </a:hlink>
      <a:folHlink>
        <a:srgbClr val="96607D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1620</TotalTime>
  <Words>3646</Words>
  <Application>Microsoft Office PowerPoint</Application>
  <PresentationFormat>Widescreen</PresentationFormat>
  <Paragraphs>895</Paragraphs>
  <Slides>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4" baseType="lpstr">
      <vt:lpstr>Arial</vt:lpstr>
      <vt:lpstr>Tw Cen MT</vt:lpstr>
      <vt:lpstr>Tw Cen MT Condensed</vt:lpstr>
      <vt:lpstr>Wingdings</vt:lpstr>
      <vt:lpstr>Wingdings 3</vt:lpstr>
      <vt:lpstr>Integral</vt:lpstr>
      <vt:lpstr>Morphology and physiology of bacteria</vt:lpstr>
      <vt:lpstr>Types of microorganisms</vt:lpstr>
      <vt:lpstr>bacteria</vt:lpstr>
      <vt:lpstr>Characteristics of bacteria</vt:lpstr>
      <vt:lpstr>Morphology of bacteria  Common shapes: </vt:lpstr>
      <vt:lpstr>PowerPoint Presentation</vt:lpstr>
      <vt:lpstr>Classification based on gram staining</vt:lpstr>
      <vt:lpstr>Nutrition types</vt:lpstr>
      <vt:lpstr>Reproduction</vt:lpstr>
      <vt:lpstr>Ueful Roles of Bacteria </vt:lpstr>
      <vt:lpstr>Diseases caused</vt:lpstr>
      <vt:lpstr>Laboratory Identification</vt:lpstr>
      <vt:lpstr>General size</vt:lpstr>
      <vt:lpstr>PowerPoint Presentation</vt:lpstr>
      <vt:lpstr>microscopy</vt:lpstr>
      <vt:lpstr>Types of microscope</vt:lpstr>
      <vt:lpstr>1. Light Microscopy </vt:lpstr>
      <vt:lpstr>1. Light Microscopy </vt:lpstr>
      <vt:lpstr>2. Electron Microscopy  Uses electrons instead of light → provides very high resolution. </vt:lpstr>
      <vt:lpstr>comparison: Light vs Electron Microscope</vt:lpstr>
      <vt:lpstr>Stained Preparation</vt:lpstr>
      <vt:lpstr>Purpose of Staining</vt:lpstr>
      <vt:lpstr>Types of Stained Preparation</vt:lpstr>
      <vt:lpstr>1. Simple Stain</vt:lpstr>
      <vt:lpstr>2. Differential Stains</vt:lpstr>
      <vt:lpstr>3. Special/Structural Stains</vt:lpstr>
      <vt:lpstr>General Steps in Stained Preparation</vt:lpstr>
      <vt:lpstr>Common stains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Bacterial anatomy</vt:lpstr>
      <vt:lpstr>Cell wall</vt:lpstr>
      <vt:lpstr>Functions of cellwall</vt:lpstr>
      <vt:lpstr>Chemical Composition</vt:lpstr>
      <vt:lpstr>Types of Bacterial Cell Walls</vt:lpstr>
      <vt:lpstr>Gram positive cell wall</vt:lpstr>
      <vt:lpstr>Gram negative cell wall</vt:lpstr>
      <vt:lpstr>Special Types of Cell Walls</vt:lpstr>
      <vt:lpstr>Antibiotics Targeting Cell Wall</vt:lpstr>
      <vt:lpstr>PowerPoint Presentation</vt:lpstr>
      <vt:lpstr>PowerPoint Presentation</vt:lpstr>
      <vt:lpstr>Cytoplasmic Membrane (Plasma Membrane)</vt:lpstr>
      <vt:lpstr>"Fluid Mosaic Model"</vt:lpstr>
      <vt:lpstr>Functions of cytoplasmic membrane</vt:lpstr>
      <vt:lpstr>Special Features</vt:lpstr>
      <vt:lpstr>Transport Types in Bacteria</vt:lpstr>
      <vt:lpstr>cytoplasm</vt:lpstr>
      <vt:lpstr>components</vt:lpstr>
      <vt:lpstr>Important Structures within Cytoplasm </vt:lpstr>
      <vt:lpstr>Important Structures within Cytoplasm </vt:lpstr>
      <vt:lpstr>Functions of Cytoplasm</vt:lpstr>
      <vt:lpstr>Ribosomes Ribosomes are small granular structures present in the bacterial cytoplasm and are responsible for protein synthesis. </vt:lpstr>
      <vt:lpstr>Mesosomes (chondroids)</vt:lpstr>
      <vt:lpstr>plasmids</vt:lpstr>
      <vt:lpstr>Functions of Plasmids</vt:lpstr>
      <vt:lpstr>Importance in Biotechnology</vt:lpstr>
      <vt:lpstr>slime layer and capsule</vt:lpstr>
      <vt:lpstr>Capsule</vt:lpstr>
      <vt:lpstr>Examples of Encapsulated Bacteria:</vt:lpstr>
      <vt:lpstr>Slime Layer</vt:lpstr>
      <vt:lpstr>differences</vt:lpstr>
      <vt:lpstr>flagella</vt:lpstr>
      <vt:lpstr>Function of Flagella</vt:lpstr>
      <vt:lpstr>Types of flagellar movements</vt:lpstr>
      <vt:lpstr>Detection of Flagella</vt:lpstr>
      <vt:lpstr>Fimbriae and pili</vt:lpstr>
      <vt:lpstr>fimbriae</vt:lpstr>
      <vt:lpstr>fimbriae</vt:lpstr>
      <vt:lpstr>pili</vt:lpstr>
      <vt:lpstr>pili</vt:lpstr>
      <vt:lpstr>PowerPoint Presentation</vt:lpstr>
      <vt:lpstr>Growth and Multiplication of Bacteria</vt:lpstr>
      <vt:lpstr>Binary Fission (Main Method of Multiplication)</vt:lpstr>
      <vt:lpstr>Generation Time The time required for a bacterium to divide into two cells. Varies between species and conditions. </vt:lpstr>
      <vt:lpstr>Growth Curve of Bacteria When bacteria are cultured in a closed environment, they follow a growth curve with 4 phases. S-shaped (sigmoid curve)</vt:lpstr>
      <vt:lpstr>PowerPoint Presentation</vt:lpstr>
      <vt:lpstr>Factors affecting growth</vt:lpstr>
      <vt:lpstr>Methods to measure bacterial growth</vt:lpstr>
      <vt:lpstr>PowerPoint Presentation</vt:lpstr>
      <vt:lpstr>Bacterial nutrition</vt:lpstr>
      <vt:lpstr>Source of energy</vt:lpstr>
      <vt:lpstr>Source of electron (reducing power)</vt:lpstr>
      <vt:lpstr>Classification Combining Carbon, Energy &amp; Electron Source</vt:lpstr>
      <vt:lpstr>Oxygen requirement</vt:lpstr>
      <vt:lpstr>Nutritional Types Based on Growth Requirement</vt:lpstr>
      <vt:lpstr>Factors affecting growth</vt:lpstr>
      <vt:lpstr>Temperature</vt:lpstr>
      <vt:lpstr>ph</vt:lpstr>
      <vt:lpstr>Oxygen requirement</vt:lpstr>
      <vt:lpstr>Moisture / Water Availability</vt:lpstr>
      <vt:lpstr>Osmotic Pressure</vt:lpstr>
      <vt:lpstr>Light</vt:lpstr>
      <vt:lpstr>Nutrients</vt:lpstr>
      <vt:lpstr>Inhibitory Substances</vt:lpstr>
      <vt:lpstr>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2025-11-30T10:34:43Z</dcterms:created>
  <dcterms:modified xsi:type="dcterms:W3CDTF">2025-12-01T13:41:17Z</dcterms:modified>
</cp:coreProperties>
</file>