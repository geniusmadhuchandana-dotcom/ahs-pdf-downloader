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488156-AF98-4740-ACF7-BC35A2E9C6B7}" v="27" dt="2025-11-30T10:30:45.1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1694612B-D053-41D4-BAFE-320B26B9213E}"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9970DE-A5AB-4243-AC9C-5F626EAEE9A1}"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542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4612B-D053-41D4-BAFE-320B26B9213E}"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9970DE-A5AB-4243-AC9C-5F626EAEE9A1}" type="slidenum">
              <a:rPr lang="en-IN" smtClean="0"/>
              <a:t>‹#›</a:t>
            </a:fld>
            <a:endParaRPr lang="en-IN"/>
          </a:p>
        </p:txBody>
      </p:sp>
    </p:spTree>
    <p:extLst>
      <p:ext uri="{BB962C8B-B14F-4D97-AF65-F5344CB8AC3E}">
        <p14:creationId xmlns:p14="http://schemas.microsoft.com/office/powerpoint/2010/main" val="2383023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4612B-D053-41D4-BAFE-320B26B9213E}"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9970DE-A5AB-4243-AC9C-5F626EAEE9A1}"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8953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4612B-D053-41D4-BAFE-320B26B9213E}" type="datetimeFigureOut">
              <a:rPr lang="en-IN" smtClean="0"/>
              <a:t>01-12-2025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9970DE-A5AB-4243-AC9C-5F626EAEE9A1}" type="slidenum">
              <a:rPr lang="en-IN" smtClean="0"/>
              <a:t>‹#›</a:t>
            </a:fld>
            <a:endParaRPr lang="en-IN"/>
          </a:p>
        </p:txBody>
      </p:sp>
    </p:spTree>
    <p:extLst>
      <p:ext uri="{BB962C8B-B14F-4D97-AF65-F5344CB8AC3E}">
        <p14:creationId xmlns:p14="http://schemas.microsoft.com/office/powerpoint/2010/main" val="1158121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4612B-D053-41D4-BAFE-320B26B9213E}" type="datetimeFigureOut">
              <a:rPr lang="en-IN" smtClean="0"/>
              <a:t>01-12-2025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49970DE-A5AB-4243-AC9C-5F626EAEE9A1}" type="slidenum">
              <a:rPr lang="en-IN" smtClean="0"/>
              <a:t>‹#›</a:t>
            </a:fld>
            <a:endParaRPr lang="en-IN"/>
          </a:p>
        </p:txBody>
      </p:sp>
    </p:spTree>
    <p:extLst>
      <p:ext uri="{BB962C8B-B14F-4D97-AF65-F5344CB8AC3E}">
        <p14:creationId xmlns:p14="http://schemas.microsoft.com/office/powerpoint/2010/main" val="3948631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4612B-D053-41D4-BAFE-320B26B9213E}" type="datetimeFigureOut">
              <a:rPr lang="en-IN" smtClean="0"/>
              <a:t>01-12-2025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49970DE-A5AB-4243-AC9C-5F626EAEE9A1}" type="slidenum">
              <a:rPr lang="en-IN" smtClean="0"/>
              <a:t>‹#›</a:t>
            </a:fld>
            <a:endParaRPr lang="en-IN"/>
          </a:p>
        </p:txBody>
      </p:sp>
    </p:spTree>
    <p:extLst>
      <p:ext uri="{BB962C8B-B14F-4D97-AF65-F5344CB8AC3E}">
        <p14:creationId xmlns:p14="http://schemas.microsoft.com/office/powerpoint/2010/main" val="1091076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94612B-D053-41D4-BAFE-320B26B9213E}" type="datetimeFigureOut">
              <a:rPr lang="en-IN" smtClean="0"/>
              <a:t>01-12-2025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49970DE-A5AB-4243-AC9C-5F626EAEE9A1}" type="slidenum">
              <a:rPr lang="en-IN" smtClean="0"/>
              <a:t>‹#›</a:t>
            </a:fld>
            <a:endParaRPr lang="en-IN"/>
          </a:p>
        </p:txBody>
      </p:sp>
    </p:spTree>
    <p:extLst>
      <p:ext uri="{BB962C8B-B14F-4D97-AF65-F5344CB8AC3E}">
        <p14:creationId xmlns:p14="http://schemas.microsoft.com/office/powerpoint/2010/main" val="3589834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4612B-D053-41D4-BAFE-320B26B9213E}" type="datetimeFigureOut">
              <a:rPr lang="en-IN" smtClean="0"/>
              <a:t>01-12-2025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9970DE-A5AB-4243-AC9C-5F626EAEE9A1}" type="slidenum">
              <a:rPr lang="en-IN" smtClean="0"/>
              <a:t>‹#›</a:t>
            </a:fld>
            <a:endParaRPr lang="en-IN"/>
          </a:p>
        </p:txBody>
      </p:sp>
    </p:spTree>
    <p:extLst>
      <p:ext uri="{BB962C8B-B14F-4D97-AF65-F5344CB8AC3E}">
        <p14:creationId xmlns:p14="http://schemas.microsoft.com/office/powerpoint/2010/main" val="2888673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94612B-D053-41D4-BAFE-320B26B9213E}" type="datetimeFigureOut">
              <a:rPr lang="en-IN" smtClean="0"/>
              <a:t>01-12-2025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9970DE-A5AB-4243-AC9C-5F626EAEE9A1}"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6292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4612B-D053-41D4-BAFE-320B26B9213E}"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9970DE-A5AB-4243-AC9C-5F626EAEE9A1}" type="slidenum">
              <a:rPr lang="en-IN" smtClean="0"/>
              <a:t>‹#›</a:t>
            </a:fld>
            <a:endParaRPr lang="en-IN"/>
          </a:p>
        </p:txBody>
      </p:sp>
    </p:spTree>
    <p:extLst>
      <p:ext uri="{BB962C8B-B14F-4D97-AF65-F5344CB8AC3E}">
        <p14:creationId xmlns:p14="http://schemas.microsoft.com/office/powerpoint/2010/main" val="2386069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4612B-D053-41D4-BAFE-320B26B9213E}"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9970DE-A5AB-4243-AC9C-5F626EAEE9A1}"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9286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694612B-D053-41D4-BAFE-320B26B9213E}" type="datetimeFigureOut">
              <a:rPr lang="en-IN" smtClean="0"/>
              <a:t>01-12-2025</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9970DE-A5AB-4243-AC9C-5F626EAEE9A1}"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82804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291B6-A639-4AD2-F44E-0624C7A9C60F}"/>
              </a:ext>
            </a:extLst>
          </p:cNvPr>
          <p:cNvSpPr>
            <a:spLocks noGrp="1"/>
          </p:cNvSpPr>
          <p:nvPr>
            <p:ph type="ctrTitle"/>
          </p:nvPr>
        </p:nvSpPr>
        <p:spPr/>
        <p:txBody>
          <a:bodyPr/>
          <a:lstStyle/>
          <a:p>
            <a:r>
              <a:rPr lang="en-US" dirty="0"/>
              <a:t>Introduction to microbiology</a:t>
            </a:r>
            <a:endParaRPr lang="en-IN" dirty="0"/>
          </a:p>
        </p:txBody>
      </p:sp>
      <p:sp>
        <p:nvSpPr>
          <p:cNvPr id="3" name="Subtitle 2">
            <a:extLst>
              <a:ext uri="{FF2B5EF4-FFF2-40B4-BE49-F238E27FC236}">
                <a16:creationId xmlns:a16="http://schemas.microsoft.com/office/drawing/2014/main" id="{0FA5A336-203F-1BAC-B118-BB02CC2747E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316347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BFA66-85EB-D6BE-D377-16BC4FBF0FF2}"/>
              </a:ext>
            </a:extLst>
          </p:cNvPr>
          <p:cNvSpPr>
            <a:spLocks noGrp="1"/>
          </p:cNvSpPr>
          <p:nvPr>
            <p:ph type="title"/>
          </p:nvPr>
        </p:nvSpPr>
        <p:spPr>
          <a:solidFill>
            <a:srgbClr val="00B0F0"/>
          </a:solidFill>
        </p:spPr>
        <p:txBody>
          <a:bodyPr/>
          <a:lstStyle/>
          <a:p>
            <a:r>
              <a:rPr lang="en-US" dirty="0">
                <a:solidFill>
                  <a:schemeClr val="tx1"/>
                </a:solidFill>
              </a:rPr>
              <a:t>Definition of microbiology</a:t>
            </a:r>
            <a:endParaRPr lang="en-IN" dirty="0">
              <a:solidFill>
                <a:schemeClr val="tx1"/>
              </a:solidFill>
            </a:endParaRPr>
          </a:p>
        </p:txBody>
      </p:sp>
      <p:sp>
        <p:nvSpPr>
          <p:cNvPr id="3" name="Content Placeholder 2">
            <a:extLst>
              <a:ext uri="{FF2B5EF4-FFF2-40B4-BE49-F238E27FC236}">
                <a16:creationId xmlns:a16="http://schemas.microsoft.com/office/drawing/2014/main" id="{D2E5CE4A-4305-AC13-7D04-F07066A6B0D1}"/>
              </a:ext>
            </a:extLst>
          </p:cNvPr>
          <p:cNvSpPr>
            <a:spLocks noGrp="1"/>
          </p:cNvSpPr>
          <p:nvPr>
            <p:ph idx="1"/>
          </p:nvPr>
        </p:nvSpPr>
        <p:spPr/>
        <p:txBody>
          <a:bodyPr>
            <a:normAutofit fontScale="47500" lnSpcReduction="20000"/>
          </a:bodyPr>
          <a:lstStyle/>
          <a:p>
            <a:pPr>
              <a:lnSpc>
                <a:spcPct val="100000"/>
              </a:lnSpc>
              <a:spcBef>
                <a:spcPct val="0"/>
              </a:spcBef>
              <a:buFont typeface="Arial" panose="020B0604020202020204" pitchFamily="34" charset="0"/>
              <a:buChar char="•"/>
            </a:pPr>
            <a:r>
              <a:rPr lang="en-US" sz="5000" cap="all" spc="100" dirty="0">
                <a:latin typeface="+mj-lt"/>
                <a:ea typeface="+mj-ea"/>
                <a:cs typeface="+mj-cs"/>
              </a:rPr>
              <a:t>Microbiology is the branch of science that deals with the study of microorganisms, which are too small to be seen with the naked eye.</a:t>
            </a:r>
          </a:p>
          <a:p>
            <a:pPr marL="0" indent="0">
              <a:lnSpc>
                <a:spcPct val="100000"/>
              </a:lnSpc>
              <a:spcBef>
                <a:spcPct val="0"/>
              </a:spcBef>
              <a:buNone/>
            </a:pPr>
            <a:r>
              <a:rPr lang="en-US" sz="5000" cap="all" spc="100" dirty="0">
                <a:latin typeface="+mj-lt"/>
                <a:ea typeface="+mj-ea"/>
                <a:cs typeface="+mj-cs"/>
              </a:rPr>
              <a:t>Microorganisms include:</a:t>
            </a:r>
          </a:p>
          <a:p>
            <a:pPr>
              <a:lnSpc>
                <a:spcPct val="100000"/>
              </a:lnSpc>
              <a:spcBef>
                <a:spcPct val="0"/>
              </a:spcBef>
              <a:buFont typeface="Wingdings" panose="05000000000000000000" pitchFamily="2" charset="2"/>
              <a:buChar char="v"/>
            </a:pPr>
            <a:r>
              <a:rPr lang="en-US" sz="5000" cap="all" spc="100" dirty="0">
                <a:latin typeface="+mj-lt"/>
                <a:ea typeface="+mj-ea"/>
                <a:cs typeface="+mj-cs"/>
              </a:rPr>
              <a:t>Bacteria</a:t>
            </a:r>
          </a:p>
          <a:p>
            <a:pPr>
              <a:lnSpc>
                <a:spcPct val="100000"/>
              </a:lnSpc>
              <a:spcBef>
                <a:spcPct val="0"/>
              </a:spcBef>
              <a:buFont typeface="Wingdings" panose="05000000000000000000" pitchFamily="2" charset="2"/>
              <a:buChar char="v"/>
            </a:pPr>
            <a:r>
              <a:rPr lang="en-US" sz="5000" cap="all" spc="100" dirty="0">
                <a:latin typeface="+mj-lt"/>
                <a:ea typeface="+mj-ea"/>
                <a:cs typeface="+mj-cs"/>
              </a:rPr>
              <a:t>Viruses</a:t>
            </a:r>
          </a:p>
          <a:p>
            <a:pPr>
              <a:lnSpc>
                <a:spcPct val="100000"/>
              </a:lnSpc>
              <a:spcBef>
                <a:spcPct val="0"/>
              </a:spcBef>
              <a:buFont typeface="Wingdings" panose="05000000000000000000" pitchFamily="2" charset="2"/>
              <a:buChar char="v"/>
            </a:pPr>
            <a:r>
              <a:rPr lang="en-US" sz="5000" cap="all" spc="100" dirty="0">
                <a:latin typeface="+mj-lt"/>
                <a:ea typeface="+mj-ea"/>
                <a:cs typeface="+mj-cs"/>
              </a:rPr>
              <a:t>Fungi</a:t>
            </a:r>
          </a:p>
          <a:p>
            <a:pPr>
              <a:lnSpc>
                <a:spcPct val="100000"/>
              </a:lnSpc>
              <a:spcBef>
                <a:spcPct val="0"/>
              </a:spcBef>
              <a:buFont typeface="Wingdings" panose="05000000000000000000" pitchFamily="2" charset="2"/>
              <a:buChar char="v"/>
            </a:pPr>
            <a:r>
              <a:rPr lang="en-US" sz="5000" cap="all" spc="100" dirty="0">
                <a:latin typeface="+mj-lt"/>
                <a:ea typeface="+mj-ea"/>
                <a:cs typeface="+mj-cs"/>
              </a:rPr>
              <a:t>Protozoa</a:t>
            </a:r>
          </a:p>
          <a:p>
            <a:pPr>
              <a:lnSpc>
                <a:spcPct val="100000"/>
              </a:lnSpc>
              <a:spcBef>
                <a:spcPct val="0"/>
              </a:spcBef>
              <a:buFont typeface="Wingdings" panose="05000000000000000000" pitchFamily="2" charset="2"/>
              <a:buChar char="v"/>
            </a:pPr>
            <a:r>
              <a:rPr lang="en-US" sz="5000" cap="all" spc="100" dirty="0">
                <a:latin typeface="+mj-lt"/>
                <a:ea typeface="+mj-ea"/>
                <a:cs typeface="+mj-cs"/>
              </a:rPr>
              <a:t>Algae</a:t>
            </a:r>
          </a:p>
          <a:p>
            <a:pPr>
              <a:lnSpc>
                <a:spcPct val="100000"/>
              </a:lnSpc>
              <a:spcBef>
                <a:spcPct val="0"/>
              </a:spcBef>
              <a:buFont typeface="Wingdings" panose="05000000000000000000" pitchFamily="2" charset="2"/>
              <a:buChar char="v"/>
            </a:pPr>
            <a:r>
              <a:rPr lang="en-US" sz="5000" cap="all" spc="100" dirty="0">
                <a:latin typeface="+mj-lt"/>
                <a:ea typeface="+mj-ea"/>
                <a:cs typeface="+mj-cs"/>
              </a:rPr>
              <a:t>Parasites</a:t>
            </a:r>
          </a:p>
          <a:p>
            <a:pPr marL="0" indent="0">
              <a:lnSpc>
                <a:spcPct val="100000"/>
              </a:lnSpc>
              <a:spcBef>
                <a:spcPct val="0"/>
              </a:spcBef>
              <a:buNone/>
            </a:pPr>
            <a:endParaRPr lang="en-US" sz="5000" cap="all" spc="100" dirty="0">
              <a:latin typeface="+mj-lt"/>
              <a:ea typeface="+mj-ea"/>
              <a:cs typeface="+mj-cs"/>
            </a:endParaRPr>
          </a:p>
          <a:p>
            <a:pPr marL="0" indent="0">
              <a:lnSpc>
                <a:spcPct val="100000"/>
              </a:lnSpc>
              <a:spcBef>
                <a:spcPct val="0"/>
              </a:spcBef>
              <a:buNone/>
            </a:pPr>
            <a:r>
              <a:rPr lang="en-US" sz="5000" cap="all" spc="100" dirty="0">
                <a:latin typeface="+mj-lt"/>
                <a:ea typeface="+mj-ea"/>
                <a:cs typeface="+mj-cs"/>
              </a:rPr>
              <a:t>In simple words, </a:t>
            </a:r>
          </a:p>
          <a:p>
            <a:pPr marL="1271016" lvl="8" indent="0">
              <a:lnSpc>
                <a:spcPct val="100000"/>
              </a:lnSpc>
              <a:spcBef>
                <a:spcPct val="0"/>
              </a:spcBef>
              <a:buNone/>
            </a:pPr>
            <a:r>
              <a:rPr lang="en-US" sz="5000" cap="all" spc="100" dirty="0">
                <a:latin typeface="+mj-lt"/>
                <a:ea typeface="+mj-ea"/>
                <a:cs typeface="+mj-cs"/>
              </a:rPr>
              <a:t>Study of living microscopic organism</a:t>
            </a:r>
          </a:p>
        </p:txBody>
      </p:sp>
    </p:spTree>
    <p:extLst>
      <p:ext uri="{BB962C8B-B14F-4D97-AF65-F5344CB8AC3E}">
        <p14:creationId xmlns:p14="http://schemas.microsoft.com/office/powerpoint/2010/main" val="664057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a:extLst>
            <a:ext uri="{FF2B5EF4-FFF2-40B4-BE49-F238E27FC236}">
              <a16:creationId xmlns:a16="http://schemas.microsoft.com/office/drawing/2014/main" id="{98C2CCD3-F082-BDBA-A3C5-7291C80F1E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35D7E7-46C0-8303-C00B-4C435BF4C84F}"/>
              </a:ext>
            </a:extLst>
          </p:cNvPr>
          <p:cNvSpPr>
            <a:spLocks noGrp="1"/>
          </p:cNvSpPr>
          <p:nvPr>
            <p:ph type="title"/>
          </p:nvPr>
        </p:nvSpPr>
        <p:spPr>
          <a:solidFill>
            <a:srgbClr val="00B0F0"/>
          </a:solidFill>
        </p:spPr>
        <p:txBody>
          <a:bodyPr/>
          <a:lstStyle/>
          <a:p>
            <a:r>
              <a:rPr lang="en-US" dirty="0">
                <a:solidFill>
                  <a:schemeClr val="tx1"/>
                </a:solidFill>
              </a:rPr>
              <a:t>Definition of  medical microbiology</a:t>
            </a:r>
            <a:endParaRPr lang="en-IN" dirty="0">
              <a:solidFill>
                <a:schemeClr val="tx1"/>
              </a:solidFill>
            </a:endParaRPr>
          </a:p>
        </p:txBody>
      </p:sp>
      <p:sp>
        <p:nvSpPr>
          <p:cNvPr id="3" name="Content Placeholder 2">
            <a:extLst>
              <a:ext uri="{FF2B5EF4-FFF2-40B4-BE49-F238E27FC236}">
                <a16:creationId xmlns:a16="http://schemas.microsoft.com/office/drawing/2014/main" id="{FE3DD5DF-E0B0-58C4-8573-DE75DFBFF007}"/>
              </a:ext>
            </a:extLst>
          </p:cNvPr>
          <p:cNvSpPr>
            <a:spLocks noGrp="1"/>
          </p:cNvSpPr>
          <p:nvPr>
            <p:ph idx="1"/>
          </p:nvPr>
        </p:nvSpPr>
        <p:spPr>
          <a:xfrm>
            <a:off x="1024128" y="1582994"/>
            <a:ext cx="9720073" cy="4726366"/>
          </a:xfrm>
        </p:spPr>
        <p:txBody>
          <a:bodyPr>
            <a:normAutofit/>
          </a:bodyPr>
          <a:lstStyle/>
          <a:p>
            <a:pPr>
              <a:buFont typeface="Wingdings" panose="05000000000000000000" pitchFamily="2" charset="2"/>
              <a:buChar char="q"/>
            </a:pPr>
            <a:r>
              <a:rPr lang="en-US" dirty="0"/>
              <a:t>Medical microbiology is the study of microbes that infect humans, the diseases they cause, their diagnosis, prevention and treatment. It also deals with the response of the human host to microbial and other antigens.</a:t>
            </a:r>
          </a:p>
          <a:p>
            <a:pPr>
              <a:buFont typeface="Wingdings" panose="05000000000000000000" pitchFamily="2" charset="2"/>
              <a:buChar char="q"/>
            </a:pPr>
            <a:r>
              <a:rPr lang="en-US" dirty="0"/>
              <a:t>It includes:</a:t>
            </a:r>
          </a:p>
          <a:p>
            <a:pPr lvl="2">
              <a:buFont typeface="Courier New" panose="02070309020205020404" pitchFamily="49" charset="0"/>
              <a:buChar char="o"/>
            </a:pPr>
            <a:r>
              <a:rPr lang="en-US" sz="1800" b="1" dirty="0"/>
              <a:t>Bacteriology</a:t>
            </a:r>
            <a:r>
              <a:rPr lang="en-US" sz="1800" dirty="0"/>
              <a:t> → Study of bacteria</a:t>
            </a:r>
          </a:p>
          <a:p>
            <a:pPr lvl="2">
              <a:buFont typeface="Courier New" panose="02070309020205020404" pitchFamily="49" charset="0"/>
              <a:buChar char="o"/>
            </a:pPr>
            <a:r>
              <a:rPr lang="en-US" sz="1800" b="1" dirty="0"/>
              <a:t>Virology</a:t>
            </a:r>
            <a:r>
              <a:rPr lang="en-US" sz="1800" dirty="0"/>
              <a:t> → Study of viruses</a:t>
            </a:r>
          </a:p>
          <a:p>
            <a:pPr lvl="2">
              <a:buFont typeface="Courier New" panose="02070309020205020404" pitchFamily="49" charset="0"/>
              <a:buChar char="o"/>
            </a:pPr>
            <a:r>
              <a:rPr lang="en-US" sz="1800" b="1" dirty="0"/>
              <a:t>Mycology</a:t>
            </a:r>
            <a:r>
              <a:rPr lang="en-US" sz="1800" dirty="0"/>
              <a:t> → Study of fungi</a:t>
            </a:r>
          </a:p>
          <a:p>
            <a:pPr lvl="2">
              <a:buFont typeface="Courier New" panose="02070309020205020404" pitchFamily="49" charset="0"/>
              <a:buChar char="o"/>
            </a:pPr>
            <a:r>
              <a:rPr lang="en-US" sz="1800" b="1" dirty="0"/>
              <a:t>Parasitology</a:t>
            </a:r>
            <a:r>
              <a:rPr lang="en-US" sz="1800" dirty="0"/>
              <a:t> → Study of parasites</a:t>
            </a:r>
          </a:p>
          <a:p>
            <a:pPr lvl="2">
              <a:buFont typeface="Courier New" panose="02070309020205020404" pitchFamily="49" charset="0"/>
              <a:buChar char="o"/>
            </a:pPr>
            <a:r>
              <a:rPr lang="en-US" sz="1800" b="1" dirty="0"/>
              <a:t>Immunology</a:t>
            </a:r>
            <a:r>
              <a:rPr lang="en-US" sz="1800" dirty="0"/>
              <a:t> → Study of immune response against infections</a:t>
            </a:r>
          </a:p>
          <a:p>
            <a:pPr>
              <a:buFont typeface="Wingdings" panose="05000000000000000000" pitchFamily="2" charset="2"/>
              <a:buChar char="q"/>
            </a:pPr>
            <a:r>
              <a:rPr lang="en-US" dirty="0"/>
              <a:t>Study of causative organisms of human infections, immunity, and prevention</a:t>
            </a:r>
          </a:p>
          <a:p>
            <a:pPr>
              <a:buFont typeface="Wingdings" panose="05000000000000000000" pitchFamily="2" charset="2"/>
              <a:buChar char="q"/>
            </a:pPr>
            <a:r>
              <a:rPr lang="en-US" dirty="0"/>
              <a:t>Microbiology progressed after microscope were discovered</a:t>
            </a:r>
          </a:p>
          <a:p>
            <a:pPr marL="0" indent="0">
              <a:buNone/>
            </a:pPr>
            <a:endParaRPr lang="en-IN" dirty="0"/>
          </a:p>
        </p:txBody>
      </p:sp>
    </p:spTree>
    <p:extLst>
      <p:ext uri="{BB962C8B-B14F-4D97-AF65-F5344CB8AC3E}">
        <p14:creationId xmlns:p14="http://schemas.microsoft.com/office/powerpoint/2010/main" val="4139226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2CE3D-0C6E-2CAA-FCEC-AB7AF7A84D42}"/>
              </a:ext>
            </a:extLst>
          </p:cNvPr>
          <p:cNvSpPr>
            <a:spLocks noGrp="1"/>
          </p:cNvSpPr>
          <p:nvPr>
            <p:ph type="title"/>
          </p:nvPr>
        </p:nvSpPr>
        <p:spPr/>
        <p:txBody>
          <a:bodyPr/>
          <a:lstStyle/>
          <a:p>
            <a:r>
              <a:rPr lang="en-US" dirty="0"/>
              <a:t>Fathers </a:t>
            </a:r>
            <a:endParaRPr lang="en-IN" dirty="0"/>
          </a:p>
        </p:txBody>
      </p:sp>
      <p:sp>
        <p:nvSpPr>
          <p:cNvPr id="3" name="Content Placeholder 2">
            <a:extLst>
              <a:ext uri="{FF2B5EF4-FFF2-40B4-BE49-F238E27FC236}">
                <a16:creationId xmlns:a16="http://schemas.microsoft.com/office/drawing/2014/main" id="{6333C2BA-AF1E-1939-44B6-15974DA7B16F}"/>
              </a:ext>
            </a:extLst>
          </p:cNvPr>
          <p:cNvSpPr>
            <a:spLocks noGrp="1"/>
          </p:cNvSpPr>
          <p:nvPr>
            <p:ph idx="1"/>
          </p:nvPr>
        </p:nvSpPr>
        <p:spPr/>
        <p:txBody>
          <a:bodyPr/>
          <a:lstStyle/>
          <a:p>
            <a:r>
              <a:rPr lang="en-US" dirty="0"/>
              <a:t>Father of microbiology – </a:t>
            </a:r>
            <a:r>
              <a:rPr lang="en-IN" b="1" dirty="0"/>
              <a:t>Antonie van Leeuwenhoek</a:t>
            </a:r>
            <a:r>
              <a:rPr lang="en-IN" dirty="0"/>
              <a:t>.</a:t>
            </a:r>
          </a:p>
          <a:p>
            <a:r>
              <a:rPr lang="en-US" dirty="0"/>
              <a:t>Modern Microbiology / Father of Germ Theory - </a:t>
            </a:r>
            <a:r>
              <a:rPr lang="en-IN" b="1" dirty="0"/>
              <a:t>Louis Pasteur</a:t>
            </a:r>
            <a:endParaRPr lang="en-IN" sz="1800" dirty="0"/>
          </a:p>
          <a:p>
            <a:r>
              <a:rPr lang="en-IN" dirty="0"/>
              <a:t>Father of Bacteriology – </a:t>
            </a:r>
            <a:r>
              <a:rPr lang="en-IN" b="1" dirty="0"/>
              <a:t>Robert Koch</a:t>
            </a:r>
          </a:p>
          <a:p>
            <a:r>
              <a:rPr lang="en-US" dirty="0"/>
              <a:t>Father of Vaccination - </a:t>
            </a:r>
            <a:r>
              <a:rPr lang="en-IN" b="1" dirty="0"/>
              <a:t>Edward Jenner</a:t>
            </a:r>
          </a:p>
          <a:p>
            <a:r>
              <a:rPr lang="en-US" dirty="0"/>
              <a:t>Father of Immunology – </a:t>
            </a:r>
            <a:r>
              <a:rPr lang="en-US" b="1" dirty="0"/>
              <a:t>Paul Ehrlich</a:t>
            </a:r>
            <a:endParaRPr lang="en-IN" b="1" dirty="0"/>
          </a:p>
        </p:txBody>
      </p:sp>
    </p:spTree>
    <p:extLst>
      <p:ext uri="{BB962C8B-B14F-4D97-AF65-F5344CB8AC3E}">
        <p14:creationId xmlns:p14="http://schemas.microsoft.com/office/powerpoint/2010/main" val="630298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a:extLst>
            <a:ext uri="{FF2B5EF4-FFF2-40B4-BE49-F238E27FC236}">
              <a16:creationId xmlns:a16="http://schemas.microsoft.com/office/drawing/2014/main" id="{22353BAF-A982-54C1-78E6-AC4F910E5E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1EAB5E-B201-F6D8-1B96-C0F4C0D0C2A0}"/>
              </a:ext>
            </a:extLst>
          </p:cNvPr>
          <p:cNvSpPr>
            <a:spLocks noGrp="1"/>
          </p:cNvSpPr>
          <p:nvPr>
            <p:ph type="title"/>
          </p:nvPr>
        </p:nvSpPr>
        <p:spPr/>
        <p:txBody>
          <a:bodyPr/>
          <a:lstStyle/>
          <a:p>
            <a:r>
              <a:rPr lang="en-US" dirty="0"/>
              <a:t>Louis </a:t>
            </a:r>
            <a:r>
              <a:rPr lang="en-US" dirty="0" err="1"/>
              <a:t>pasteur</a:t>
            </a:r>
            <a:endParaRPr lang="en-IN" dirty="0"/>
          </a:p>
        </p:txBody>
      </p:sp>
      <p:sp>
        <p:nvSpPr>
          <p:cNvPr id="3" name="Content Placeholder 2">
            <a:extLst>
              <a:ext uri="{FF2B5EF4-FFF2-40B4-BE49-F238E27FC236}">
                <a16:creationId xmlns:a16="http://schemas.microsoft.com/office/drawing/2014/main" id="{B0A3447A-9295-756D-7435-DF60244529FF}"/>
              </a:ext>
            </a:extLst>
          </p:cNvPr>
          <p:cNvSpPr>
            <a:spLocks noGrp="1"/>
          </p:cNvSpPr>
          <p:nvPr>
            <p:ph idx="1"/>
          </p:nvPr>
        </p:nvSpPr>
        <p:spPr/>
        <p:txBody>
          <a:bodyPr/>
          <a:lstStyle/>
          <a:p>
            <a:r>
              <a:rPr lang="en-US" dirty="0"/>
              <a:t>Louis Pasteur made several groundbreaking observations that changed microbiology. The most important one is related to </a:t>
            </a:r>
            <a:r>
              <a:rPr lang="en-US" b="1" dirty="0"/>
              <a:t>spontaneous generation and fermentation</a:t>
            </a:r>
            <a:r>
              <a:rPr lang="en-US" dirty="0"/>
              <a:t>.</a:t>
            </a:r>
          </a:p>
          <a:p>
            <a:r>
              <a:rPr lang="en-IN" dirty="0"/>
              <a:t>1. Observation on Fermentation</a:t>
            </a:r>
          </a:p>
          <a:p>
            <a:r>
              <a:rPr lang="en-US" dirty="0"/>
              <a:t>2. Swan-Neck Flask Experiment (Disproving Spontaneous Generation)</a:t>
            </a:r>
          </a:p>
          <a:p>
            <a:r>
              <a:rPr lang="en-US" dirty="0"/>
              <a:t>3. Observation Leading to Pasteurization</a:t>
            </a:r>
          </a:p>
          <a:p>
            <a:r>
              <a:rPr lang="en-IN" dirty="0"/>
              <a:t>4. Observation in Vaccination</a:t>
            </a:r>
          </a:p>
          <a:p>
            <a:r>
              <a:rPr lang="en-IN" dirty="0"/>
              <a:t>Developed vaccination </a:t>
            </a:r>
          </a:p>
          <a:p>
            <a:r>
              <a:rPr lang="en-IN" dirty="0"/>
              <a:t>Coined the term vaccine</a:t>
            </a:r>
          </a:p>
        </p:txBody>
      </p:sp>
    </p:spTree>
    <p:extLst>
      <p:ext uri="{BB962C8B-B14F-4D97-AF65-F5344CB8AC3E}">
        <p14:creationId xmlns:p14="http://schemas.microsoft.com/office/powerpoint/2010/main" val="3470647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a:extLst>
            <a:ext uri="{FF2B5EF4-FFF2-40B4-BE49-F238E27FC236}">
              <a16:creationId xmlns:a16="http://schemas.microsoft.com/office/drawing/2014/main" id="{D36801DF-F7BE-C0EB-E549-281D7C5FE7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6B872-255A-2C27-5B1F-881840D108C4}"/>
              </a:ext>
            </a:extLst>
          </p:cNvPr>
          <p:cNvSpPr>
            <a:spLocks noGrp="1"/>
          </p:cNvSpPr>
          <p:nvPr>
            <p:ph type="title"/>
          </p:nvPr>
        </p:nvSpPr>
        <p:spPr/>
        <p:txBody>
          <a:bodyPr/>
          <a:lstStyle/>
          <a:p>
            <a:r>
              <a:rPr lang="en-US" dirty="0"/>
              <a:t>OTHER IMPORTANT SCIENTIST</a:t>
            </a:r>
            <a:endParaRPr lang="en-IN" dirty="0"/>
          </a:p>
        </p:txBody>
      </p:sp>
      <p:sp>
        <p:nvSpPr>
          <p:cNvPr id="3" name="Content Placeholder 2">
            <a:extLst>
              <a:ext uri="{FF2B5EF4-FFF2-40B4-BE49-F238E27FC236}">
                <a16:creationId xmlns:a16="http://schemas.microsoft.com/office/drawing/2014/main" id="{E0DEB478-D005-E425-DABA-EDA0473190BD}"/>
              </a:ext>
            </a:extLst>
          </p:cNvPr>
          <p:cNvSpPr>
            <a:spLocks noGrp="1"/>
          </p:cNvSpPr>
          <p:nvPr>
            <p:ph idx="1"/>
          </p:nvPr>
        </p:nvSpPr>
        <p:spPr/>
        <p:txBody>
          <a:bodyPr/>
          <a:lstStyle/>
          <a:p>
            <a:r>
              <a:rPr lang="en-US" dirty="0"/>
              <a:t>Joseph Lister – Antiseptic technique in surgery using carbolic acid</a:t>
            </a:r>
          </a:p>
          <a:p>
            <a:r>
              <a:rPr lang="en-US" dirty="0"/>
              <a:t>Robert Koch – bacteriological techniques</a:t>
            </a:r>
          </a:p>
          <a:p>
            <a:r>
              <a:rPr lang="en-IN" dirty="0"/>
              <a:t>Beijerinck</a:t>
            </a:r>
            <a:r>
              <a:rPr lang="en-US" dirty="0"/>
              <a:t> – coined the term VIRUS</a:t>
            </a:r>
          </a:p>
          <a:p>
            <a:r>
              <a:rPr lang="en-US" dirty="0"/>
              <a:t>Ruska – invented electron  microscope</a:t>
            </a:r>
          </a:p>
          <a:p>
            <a:r>
              <a:rPr lang="en-US" dirty="0" err="1"/>
              <a:t>Twort</a:t>
            </a:r>
            <a:r>
              <a:rPr lang="en-US" dirty="0"/>
              <a:t> and </a:t>
            </a:r>
            <a:r>
              <a:rPr lang="en-US" dirty="0" err="1"/>
              <a:t>Herella</a:t>
            </a:r>
            <a:r>
              <a:rPr lang="en-US" dirty="0"/>
              <a:t> – found bacteriophages</a:t>
            </a:r>
          </a:p>
          <a:p>
            <a:pPr marL="0" indent="0">
              <a:buNone/>
            </a:pPr>
            <a:r>
              <a:rPr lang="en-US" dirty="0"/>
              <a:t> Edward Jenner – found vaccination</a:t>
            </a:r>
          </a:p>
          <a:p>
            <a:pPr marL="0" indent="0">
              <a:buNone/>
            </a:pPr>
            <a:r>
              <a:rPr lang="en-US" dirty="0"/>
              <a:t> Alexander Fleming – found </a:t>
            </a:r>
            <a:r>
              <a:rPr lang="en-US" dirty="0" err="1"/>
              <a:t>pencillin</a:t>
            </a:r>
            <a:endParaRPr lang="en-US" dirty="0"/>
          </a:p>
          <a:p>
            <a:pPr marL="0" indent="0">
              <a:buNone/>
            </a:pPr>
            <a:endParaRPr lang="en-US" dirty="0"/>
          </a:p>
          <a:p>
            <a:pPr marL="0" indent="0">
              <a:buNone/>
            </a:pPr>
            <a:endParaRPr lang="en-US" dirty="0"/>
          </a:p>
          <a:p>
            <a:endParaRPr lang="en-US" dirty="0"/>
          </a:p>
          <a:p>
            <a:endParaRPr lang="en-US" dirty="0"/>
          </a:p>
          <a:p>
            <a:endParaRPr lang="en-IN" dirty="0"/>
          </a:p>
        </p:txBody>
      </p:sp>
    </p:spTree>
    <p:extLst>
      <p:ext uri="{BB962C8B-B14F-4D97-AF65-F5344CB8AC3E}">
        <p14:creationId xmlns:p14="http://schemas.microsoft.com/office/powerpoint/2010/main" val="1678351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a:extLst>
            <a:ext uri="{FF2B5EF4-FFF2-40B4-BE49-F238E27FC236}">
              <a16:creationId xmlns:a16="http://schemas.microsoft.com/office/drawing/2014/main" id="{804EB0F4-F5BC-E2A4-A21E-14B2FE13E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32DF94-CD9C-5B94-A49D-1426C2DE25FC}"/>
              </a:ext>
            </a:extLst>
          </p:cNvPr>
          <p:cNvSpPr>
            <a:spLocks noGrp="1"/>
          </p:cNvSpPr>
          <p:nvPr>
            <p:ph type="title"/>
          </p:nvPr>
        </p:nvSpPr>
        <p:spPr/>
        <p:txBody>
          <a:bodyPr>
            <a:normAutofit/>
          </a:bodyPr>
          <a:lstStyle/>
          <a:p>
            <a:r>
              <a:rPr lang="en-IN" b="1" dirty="0"/>
              <a:t>Applications of Medical Microbiology</a:t>
            </a:r>
            <a:endParaRPr lang="en-IN" dirty="0"/>
          </a:p>
        </p:txBody>
      </p:sp>
      <p:sp>
        <p:nvSpPr>
          <p:cNvPr id="3" name="Content Placeholder 2">
            <a:extLst>
              <a:ext uri="{FF2B5EF4-FFF2-40B4-BE49-F238E27FC236}">
                <a16:creationId xmlns:a16="http://schemas.microsoft.com/office/drawing/2014/main" id="{2FACEB23-4F18-C7E9-8ABC-D460DE6C1390}"/>
              </a:ext>
            </a:extLst>
          </p:cNvPr>
          <p:cNvSpPr>
            <a:spLocks noGrp="1"/>
          </p:cNvSpPr>
          <p:nvPr>
            <p:ph idx="1"/>
          </p:nvPr>
        </p:nvSpPr>
        <p:spPr/>
        <p:txBody>
          <a:bodyPr/>
          <a:lstStyle/>
          <a:p>
            <a:pPr marL="0" indent="0">
              <a:buNone/>
            </a:pPr>
            <a:endParaRPr lang="en-US" dirty="0"/>
          </a:p>
          <a:p>
            <a:r>
              <a:rPr lang="en-IN" dirty="0"/>
              <a:t>✔ Infectious disease diagnosis</a:t>
            </a:r>
            <a:br>
              <a:rPr lang="en-IN" dirty="0"/>
            </a:br>
            <a:r>
              <a:rPr lang="en-IN" dirty="0"/>
              <a:t>✔ Vaccine development</a:t>
            </a:r>
            <a:br>
              <a:rPr lang="en-IN" dirty="0"/>
            </a:br>
            <a:r>
              <a:rPr lang="en-IN" dirty="0"/>
              <a:t>✔ Antibiotic discovery</a:t>
            </a:r>
            <a:br>
              <a:rPr lang="en-IN" dirty="0"/>
            </a:br>
            <a:r>
              <a:rPr lang="en-IN" dirty="0"/>
              <a:t>✔ Public health &amp; epidemiology</a:t>
            </a:r>
          </a:p>
          <a:p>
            <a:pPr marL="0" indent="0">
              <a:buNone/>
            </a:pPr>
            <a:endParaRPr lang="en-US" dirty="0"/>
          </a:p>
          <a:p>
            <a:endParaRPr lang="en-US" dirty="0"/>
          </a:p>
          <a:p>
            <a:endParaRPr lang="en-US" dirty="0"/>
          </a:p>
          <a:p>
            <a:endParaRPr lang="en-IN" dirty="0"/>
          </a:p>
        </p:txBody>
      </p:sp>
    </p:spTree>
    <p:extLst>
      <p:ext uri="{BB962C8B-B14F-4D97-AF65-F5344CB8AC3E}">
        <p14:creationId xmlns:p14="http://schemas.microsoft.com/office/powerpoint/2010/main" val="38266119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188</TotalTime>
  <Words>304</Words>
  <Application>Microsoft Office PowerPoint</Application>
  <PresentationFormat>Widescreen</PresentationFormat>
  <Paragraphs>53</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Courier New</vt:lpstr>
      <vt:lpstr>Tw Cen MT</vt:lpstr>
      <vt:lpstr>Tw Cen MT Condensed</vt:lpstr>
      <vt:lpstr>Wingdings</vt:lpstr>
      <vt:lpstr>Wingdings 3</vt:lpstr>
      <vt:lpstr>Integral</vt:lpstr>
      <vt:lpstr>Introduction to microbiology</vt:lpstr>
      <vt:lpstr>Definition of microbiology</vt:lpstr>
      <vt:lpstr>Definition of  medical microbiology</vt:lpstr>
      <vt:lpstr>Fathers </vt:lpstr>
      <vt:lpstr>Louis pasteur</vt:lpstr>
      <vt:lpstr>OTHER IMPORTANT SCIENTIST</vt:lpstr>
      <vt:lpstr>Applications of Medical Microbiology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2</cp:revision>
  <dcterms:created xsi:type="dcterms:W3CDTF">2025-11-30T05:15:04Z</dcterms:created>
  <dcterms:modified xsi:type="dcterms:W3CDTF">2025-12-01T13:40:53Z</dcterms:modified>
</cp:coreProperties>
</file>