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0" r:id="rId5"/>
    <p:sldId id="258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F6729D32-45C7-4917-BE51-386D3B8A27D5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316DCEC4-036F-4AA7-A06C-86C87F564E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8594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29D32-45C7-4917-BE51-386D3B8A27D5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DCEC4-036F-4AA7-A06C-86C87F564E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1653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29D32-45C7-4917-BE51-386D3B8A27D5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DCEC4-036F-4AA7-A06C-86C87F564E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6244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29D32-45C7-4917-BE51-386D3B8A27D5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DCEC4-036F-4AA7-A06C-86C87F564E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2494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29D32-45C7-4917-BE51-386D3B8A27D5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DCEC4-036F-4AA7-A06C-86C87F564E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9305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29D32-45C7-4917-BE51-386D3B8A27D5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DCEC4-036F-4AA7-A06C-86C87F564E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1366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29D32-45C7-4917-BE51-386D3B8A27D5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DCEC4-036F-4AA7-A06C-86C87F564E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6386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29D32-45C7-4917-BE51-386D3B8A27D5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DCEC4-036F-4AA7-A06C-86C87F564E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4309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29D32-45C7-4917-BE51-386D3B8A27D5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DCEC4-036F-4AA7-A06C-86C87F564E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2423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29D32-45C7-4917-BE51-386D3B8A27D5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DCEC4-036F-4AA7-A06C-86C87F564E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4798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29D32-45C7-4917-BE51-386D3B8A27D5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DCEC4-036F-4AA7-A06C-86C87F564E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93275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29D32-45C7-4917-BE51-386D3B8A27D5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DCEC4-036F-4AA7-A06C-86C87F564E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10816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29D32-45C7-4917-BE51-386D3B8A27D5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DCEC4-036F-4AA7-A06C-86C87F564E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48512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29D32-45C7-4917-BE51-386D3B8A27D5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DCEC4-036F-4AA7-A06C-86C87F564E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9910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29D32-45C7-4917-BE51-386D3B8A27D5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DCEC4-036F-4AA7-A06C-86C87F564E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26885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F6729D32-45C7-4917-BE51-386D3B8A27D5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DCEC4-036F-4AA7-A06C-86C87F564E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79642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F6729D32-45C7-4917-BE51-386D3B8A27D5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DCEC4-036F-4AA7-A06C-86C87F564E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2806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F6729D32-45C7-4917-BE51-386D3B8A27D5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316DCEC4-036F-4AA7-A06C-86C87F564E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1024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36421-BF87-321E-53D2-67C4C2780A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Bones and joints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3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AAC7A-A3D0-8505-74C5-933510286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Bones classification: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C0824A7-EC12-06EE-F4F2-8A5EB6CBCA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6799273"/>
              </p:ext>
            </p:extLst>
          </p:nvPr>
        </p:nvGraphicFramePr>
        <p:xfrm>
          <a:off x="2275473" y="2848897"/>
          <a:ext cx="5366166" cy="3416299"/>
        </p:xfrm>
        <a:graphic>
          <a:graphicData uri="http://schemas.openxmlformats.org/drawingml/2006/table">
            <a:tbl>
              <a:tblPr/>
              <a:tblGrid>
                <a:gridCol w="1788722">
                  <a:extLst>
                    <a:ext uri="{9D8B030D-6E8A-4147-A177-3AD203B41FA5}">
                      <a16:colId xmlns:a16="http://schemas.microsoft.com/office/drawing/2014/main" val="947299808"/>
                    </a:ext>
                  </a:extLst>
                </a:gridCol>
                <a:gridCol w="1788722">
                  <a:extLst>
                    <a:ext uri="{9D8B030D-6E8A-4147-A177-3AD203B41FA5}">
                      <a16:colId xmlns:a16="http://schemas.microsoft.com/office/drawing/2014/main" val="3271608486"/>
                    </a:ext>
                  </a:extLst>
                </a:gridCol>
                <a:gridCol w="1788722">
                  <a:extLst>
                    <a:ext uri="{9D8B030D-6E8A-4147-A177-3AD203B41FA5}">
                      <a16:colId xmlns:a16="http://schemas.microsoft.com/office/drawing/2014/main" val="4069014231"/>
                    </a:ext>
                  </a:extLst>
                </a:gridCol>
              </a:tblGrid>
              <a:tr h="2240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Bone Type</a:t>
                      </a:r>
                    </a:p>
                  </a:txBody>
                  <a:tcPr marL="56005" marR="56005" marT="28002" marB="28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Description</a:t>
                      </a:r>
                    </a:p>
                  </a:txBody>
                  <a:tcPr marL="56005" marR="56005" marT="28002" marB="28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Example</a:t>
                      </a:r>
                    </a:p>
                  </a:txBody>
                  <a:tcPr marL="56005" marR="56005" marT="28002" marB="28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3648480"/>
                  </a:ext>
                </a:extLst>
              </a:tr>
              <a:tr h="5600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/>
                        <a:t>Long Bones</a:t>
                      </a:r>
                      <a:endParaRPr lang="en-IN" sz="1100" dirty="0"/>
                    </a:p>
                  </a:txBody>
                  <a:tcPr marL="56005" marR="56005" marT="28002" marB="28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Longer than they are wide; act as levers for movement</a:t>
                      </a:r>
                    </a:p>
                  </a:txBody>
                  <a:tcPr marL="56005" marR="56005" marT="28002" marB="28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Femur, Humerus, Tibia, Radius</a:t>
                      </a:r>
                    </a:p>
                  </a:txBody>
                  <a:tcPr marL="56005" marR="56005" marT="28002" marB="28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6468772"/>
                  </a:ext>
                </a:extLst>
              </a:tr>
              <a:tr h="3920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/>
                        <a:t>Short Bones</a:t>
                      </a:r>
                      <a:endParaRPr lang="en-IN" sz="1100"/>
                    </a:p>
                  </a:txBody>
                  <a:tcPr marL="56005" marR="56005" marT="28002" marB="28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Cube-shaped; provide support and stability</a:t>
                      </a:r>
                    </a:p>
                  </a:txBody>
                  <a:tcPr marL="56005" marR="56005" marT="28002" marB="28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Carpals (wrist), Tarsals (ankle)</a:t>
                      </a:r>
                    </a:p>
                  </a:txBody>
                  <a:tcPr marL="56005" marR="56005" marT="28002" marB="28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3831900"/>
                  </a:ext>
                </a:extLst>
              </a:tr>
              <a:tr h="7280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/>
                        <a:t>Flat Bones</a:t>
                      </a:r>
                      <a:endParaRPr lang="en-IN" sz="1100"/>
                    </a:p>
                  </a:txBody>
                  <a:tcPr marL="56005" marR="56005" marT="28002" marB="28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Thin, flat, often curved; protect organs and provide attachment surfaces</a:t>
                      </a:r>
                    </a:p>
                  </a:txBody>
                  <a:tcPr marL="56005" marR="56005" marT="28002" marB="28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Skull bones, Sternum, Ribs, Scapula</a:t>
                      </a:r>
                    </a:p>
                  </a:txBody>
                  <a:tcPr marL="56005" marR="56005" marT="28002" marB="28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2307357"/>
                  </a:ext>
                </a:extLst>
              </a:tr>
              <a:tr h="5600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/>
                        <a:t>Irregular Bones</a:t>
                      </a:r>
                      <a:endParaRPr lang="en-IN" sz="1100"/>
                    </a:p>
                  </a:txBody>
                  <a:tcPr marL="56005" marR="56005" marT="28002" marB="28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Complex shapes that don’t fit other categories</a:t>
                      </a:r>
                    </a:p>
                  </a:txBody>
                  <a:tcPr marL="56005" marR="56005" marT="28002" marB="28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/>
                        <a:t>Vertebrae, Hip bone (coxal), Mandible</a:t>
                      </a:r>
                    </a:p>
                  </a:txBody>
                  <a:tcPr marL="56005" marR="56005" marT="28002" marB="28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5285756"/>
                  </a:ext>
                </a:extLst>
              </a:tr>
              <a:tr h="5600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/>
                        <a:t>Sesamoid Bones</a:t>
                      </a:r>
                      <a:endParaRPr lang="en-IN" sz="1100"/>
                    </a:p>
                  </a:txBody>
                  <a:tcPr marL="56005" marR="56005" marT="28002" marB="28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Small, round bones embedded in tendons; reduce friction</a:t>
                      </a:r>
                    </a:p>
                  </a:txBody>
                  <a:tcPr marL="56005" marR="56005" marT="28002" marB="28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Patella (kneecap) is the largest sesamoid</a:t>
                      </a:r>
                    </a:p>
                  </a:txBody>
                  <a:tcPr marL="56005" marR="56005" marT="28002" marB="28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4518412"/>
                  </a:ext>
                </a:extLst>
              </a:tr>
              <a:tr h="3920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/>
                        <a:t>Pneumatic Bones</a:t>
                      </a:r>
                      <a:endParaRPr lang="en-IN" sz="1100"/>
                    </a:p>
                  </a:txBody>
                  <a:tcPr marL="56005" marR="56005" marT="28002" marB="28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Contain air spaces to make bones lighter</a:t>
                      </a:r>
                    </a:p>
                  </a:txBody>
                  <a:tcPr marL="56005" marR="56005" marT="28002" marB="28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Maxilla, Ethmoid, Sphenoid, Frontal bone</a:t>
                      </a:r>
                    </a:p>
                  </a:txBody>
                  <a:tcPr marL="56005" marR="56005" marT="28002" marB="28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5339794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1C90615E-C095-F40E-44D8-BC618AE2D3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786" y="239169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Based on Shape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17974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EAD57-7061-8E48-C825-79985A5A7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6C67B-0770-01B1-3FF0-38ECB3FC5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Bones classification:</a:t>
            </a:r>
            <a:endParaRPr lang="en-IN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CDCCB9A-D333-3B69-6885-40D6A16337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786" y="2343298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4F73BA76-9513-5F0B-0A36-29A9AA3F24B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187450" y="3410268"/>
          <a:ext cx="8761413" cy="1920240"/>
        </p:xfrm>
        <a:graphic>
          <a:graphicData uri="http://schemas.openxmlformats.org/drawingml/2006/table">
            <a:tbl>
              <a:tblPr/>
              <a:tblGrid>
                <a:gridCol w="2920471">
                  <a:extLst>
                    <a:ext uri="{9D8B030D-6E8A-4147-A177-3AD203B41FA5}">
                      <a16:colId xmlns:a16="http://schemas.microsoft.com/office/drawing/2014/main" val="169127769"/>
                    </a:ext>
                  </a:extLst>
                </a:gridCol>
                <a:gridCol w="2920471">
                  <a:extLst>
                    <a:ext uri="{9D8B030D-6E8A-4147-A177-3AD203B41FA5}">
                      <a16:colId xmlns:a16="http://schemas.microsoft.com/office/drawing/2014/main" val="3475629612"/>
                    </a:ext>
                  </a:extLst>
                </a:gridCol>
                <a:gridCol w="2920471">
                  <a:extLst>
                    <a:ext uri="{9D8B030D-6E8A-4147-A177-3AD203B41FA5}">
                      <a16:colId xmlns:a16="http://schemas.microsoft.com/office/drawing/2014/main" val="8870935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25565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Compact (Cortical) Bone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Dense and strong outer layer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Shaft of long bones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53906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Spongy (Cancellous/Trabecular) Bone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Porous and lightweight, contains red marrow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Ends of long bones, interior of flat bones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6882021"/>
                  </a:ext>
                </a:extLst>
              </a:tr>
            </a:tbl>
          </a:graphicData>
        </a:graphic>
      </p:graphicFrame>
      <p:sp>
        <p:nvSpPr>
          <p:cNvPr id="8" name="Rectangle 1">
            <a:extLst>
              <a:ext uri="{FF2B5EF4-FFF2-40B4-BE49-F238E27FC236}">
                <a16:creationId xmlns:a16="http://schemas.microsoft.com/office/drawing/2014/main" id="{4C3E7970-0746-EB21-72BC-EE0CA91DAA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114" y="2668696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Based on Internal Structure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67973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34128-13CA-E5BE-2CCF-C5197861E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ED430-E52F-3DDC-FE8D-0E91F3436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Bones classification:</a:t>
            </a:r>
            <a:endParaRPr lang="en-IN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6859A8B-6A45-7526-CFD3-67C7C270D9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786" y="2343298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42EBDDD9-5765-BAA5-9D61-19F5296414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114" y="2620297"/>
            <a:ext cx="1521570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b="1" dirty="0">
                <a:latin typeface="Arial" panose="020B0604020202020204" pitchFamily="34" charset="0"/>
              </a:rPr>
              <a:t>Based on position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F09A65BB-74C1-B82B-A0B8-16E306951F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3439148"/>
              </p:ext>
            </p:extLst>
          </p:nvPr>
        </p:nvGraphicFramePr>
        <p:xfrm>
          <a:off x="1381096" y="3078685"/>
          <a:ext cx="8761412" cy="3291840"/>
        </p:xfrm>
        <a:graphic>
          <a:graphicData uri="http://schemas.openxmlformats.org/drawingml/2006/table">
            <a:tbl>
              <a:tblPr/>
              <a:tblGrid>
                <a:gridCol w="2190353">
                  <a:extLst>
                    <a:ext uri="{9D8B030D-6E8A-4147-A177-3AD203B41FA5}">
                      <a16:colId xmlns:a16="http://schemas.microsoft.com/office/drawing/2014/main" val="3950487456"/>
                    </a:ext>
                  </a:extLst>
                </a:gridCol>
                <a:gridCol w="2190353">
                  <a:extLst>
                    <a:ext uri="{9D8B030D-6E8A-4147-A177-3AD203B41FA5}">
                      <a16:colId xmlns:a16="http://schemas.microsoft.com/office/drawing/2014/main" val="3461861517"/>
                    </a:ext>
                  </a:extLst>
                </a:gridCol>
                <a:gridCol w="2190353">
                  <a:extLst>
                    <a:ext uri="{9D8B030D-6E8A-4147-A177-3AD203B41FA5}">
                      <a16:colId xmlns:a16="http://schemas.microsoft.com/office/drawing/2014/main" val="3191588601"/>
                    </a:ext>
                  </a:extLst>
                </a:gridCol>
                <a:gridCol w="2190353">
                  <a:extLst>
                    <a:ext uri="{9D8B030D-6E8A-4147-A177-3AD203B41FA5}">
                      <a16:colId xmlns:a16="http://schemas.microsoft.com/office/drawing/2014/main" val="25887974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Division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Location &amp; Function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Main Bones Included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Total Bones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60271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Axial Skeleton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Central axis of the body. Protects vital organs like brain, heart, lungs.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Skull, Vertebral Column, Ribs, Sternum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80 bones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26150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Appendicular Skeleton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Bones of limbs and girdles. Helps in movement and locomotion.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Upper &amp; Lower Limbs, Shoulder Girdle, Pelvic Girdle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126 bones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80757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58775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8DEE8-AF66-747E-D7EA-281C56A19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Bones classification: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46D57-BAD8-AF2E-355D-FB83E8CF24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Axial Skeleton (</a:t>
            </a:r>
            <a:r>
              <a:rPr lang="en-IN" dirty="0" err="1"/>
              <a:t>Center</a:t>
            </a:r>
            <a:r>
              <a:rPr lang="en-IN" dirty="0"/>
              <a:t>)</a:t>
            </a:r>
          </a:p>
          <a:p>
            <a:r>
              <a:rPr lang="en-IN" dirty="0"/>
              <a:t>     |— Skull</a:t>
            </a:r>
          </a:p>
          <a:p>
            <a:r>
              <a:rPr lang="en-IN" dirty="0"/>
              <a:t>     |— Vertebral Column</a:t>
            </a:r>
          </a:p>
          <a:p>
            <a:r>
              <a:rPr lang="en-IN" dirty="0"/>
              <a:t>     |— Ribs + Sternum</a:t>
            </a:r>
          </a:p>
          <a:p>
            <a:endParaRPr lang="en-IN" dirty="0"/>
          </a:p>
          <a:p>
            <a:r>
              <a:rPr lang="en-IN" dirty="0"/>
              <a:t>     Appendicular Skeleton (Attached)</a:t>
            </a:r>
          </a:p>
          <a:p>
            <a:r>
              <a:rPr lang="en-IN" dirty="0"/>
              <a:t>     |— Shoulder Girdle + Arms</a:t>
            </a:r>
          </a:p>
          <a:p>
            <a:r>
              <a:rPr lang="en-IN" dirty="0"/>
              <a:t>     |— Pelvic Girdle + Legs</a:t>
            </a:r>
          </a:p>
        </p:txBody>
      </p:sp>
    </p:spTree>
    <p:extLst>
      <p:ext uri="{BB962C8B-B14F-4D97-AF65-F5344CB8AC3E}">
        <p14:creationId xmlns:p14="http://schemas.microsoft.com/office/powerpoint/2010/main" val="3905267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FF7CF-AEA3-B2A0-6E3E-0C48F9CF7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Joints classification: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234547-C3BE-C7FF-1A0F-71E6BFA333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joint (articulation)</a:t>
            </a:r>
            <a:r>
              <a:rPr lang="en-US" dirty="0"/>
              <a:t> is a point where </a:t>
            </a:r>
            <a:r>
              <a:rPr lang="en-US" b="1" dirty="0"/>
              <a:t>two or more bones meet</a:t>
            </a:r>
            <a:r>
              <a:rPr lang="en-US" dirty="0"/>
              <a:t>. Joints allow movement and provide mechanical support.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600" b="1" dirty="0">
                <a:solidFill>
                  <a:schemeClr val="tx1"/>
                </a:solidFill>
                <a:latin typeface="Arial" panose="020B0604020202020204" pitchFamily="34" charset="0"/>
              </a:rPr>
              <a:t>Classification of Joints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I. Based on </a:t>
            </a:r>
            <a:r>
              <a:rPr lang="en-US" altLang="en-US" sz="1600" b="1" dirty="0">
                <a:solidFill>
                  <a:schemeClr val="tx1"/>
                </a:solidFill>
                <a:latin typeface="Arial" panose="020B0604020202020204" pitchFamily="34" charset="0"/>
              </a:rPr>
              <a:t>Structure (Anatomical Classification)</a:t>
            </a:r>
          </a:p>
          <a:p>
            <a:endParaRPr lang="en-US" dirty="0"/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E843EE2-3DC3-4134-3151-96ECA683C3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5035647"/>
              </p:ext>
            </p:extLst>
          </p:nvPr>
        </p:nvGraphicFramePr>
        <p:xfrm>
          <a:off x="1154954" y="3808730"/>
          <a:ext cx="8761412" cy="2834640"/>
        </p:xfrm>
        <a:graphic>
          <a:graphicData uri="http://schemas.openxmlformats.org/drawingml/2006/table">
            <a:tbl>
              <a:tblPr/>
              <a:tblGrid>
                <a:gridCol w="2190353">
                  <a:extLst>
                    <a:ext uri="{9D8B030D-6E8A-4147-A177-3AD203B41FA5}">
                      <a16:colId xmlns:a16="http://schemas.microsoft.com/office/drawing/2014/main" val="3037675332"/>
                    </a:ext>
                  </a:extLst>
                </a:gridCol>
                <a:gridCol w="2190353">
                  <a:extLst>
                    <a:ext uri="{9D8B030D-6E8A-4147-A177-3AD203B41FA5}">
                      <a16:colId xmlns:a16="http://schemas.microsoft.com/office/drawing/2014/main" val="1956473461"/>
                    </a:ext>
                  </a:extLst>
                </a:gridCol>
                <a:gridCol w="2190353">
                  <a:extLst>
                    <a:ext uri="{9D8B030D-6E8A-4147-A177-3AD203B41FA5}">
                      <a16:colId xmlns:a16="http://schemas.microsoft.com/office/drawing/2014/main" val="2838288724"/>
                    </a:ext>
                  </a:extLst>
                </a:gridCol>
                <a:gridCol w="2190353">
                  <a:extLst>
                    <a:ext uri="{9D8B030D-6E8A-4147-A177-3AD203B41FA5}">
                      <a16:colId xmlns:a16="http://schemas.microsoft.com/office/drawing/2014/main" val="33071033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Type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Connecting Material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Movement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Example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09946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Fibrous Joints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Dense connective tissue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Immovable (Synarthrosis)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Skull sutures, Teeth in sockets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89340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Cartilaginous Joints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Cartilage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Slightly movable (Amphiarthrosis)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Pubic symphysis, Intervertebral discs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96252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Synovial Joints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Synovial cavity + fluid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Freely movable (Diarthrosis)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Knee, Shoulder, Hip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35693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25977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017E6-7416-AAFD-B798-74DFBDA5F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32166-2D1B-3D31-7580-91DAF5849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Joints classification: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86CE94-5F4A-AAF9-9838-F3FBDD0DD8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A850B65-5C7C-9CD6-8A60-44DE48F630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2604163"/>
              </p:ext>
            </p:extLst>
          </p:nvPr>
        </p:nvGraphicFramePr>
        <p:xfrm>
          <a:off x="1154954" y="3808730"/>
          <a:ext cx="8761412" cy="1463040"/>
        </p:xfrm>
        <a:graphic>
          <a:graphicData uri="http://schemas.openxmlformats.org/drawingml/2006/table">
            <a:tbl>
              <a:tblPr/>
              <a:tblGrid>
                <a:gridCol w="2190353">
                  <a:extLst>
                    <a:ext uri="{9D8B030D-6E8A-4147-A177-3AD203B41FA5}">
                      <a16:colId xmlns:a16="http://schemas.microsoft.com/office/drawing/2014/main" val="3037675332"/>
                    </a:ext>
                  </a:extLst>
                </a:gridCol>
                <a:gridCol w="2190353">
                  <a:extLst>
                    <a:ext uri="{9D8B030D-6E8A-4147-A177-3AD203B41FA5}">
                      <a16:colId xmlns:a16="http://schemas.microsoft.com/office/drawing/2014/main" val="1956473461"/>
                    </a:ext>
                  </a:extLst>
                </a:gridCol>
                <a:gridCol w="2190353">
                  <a:extLst>
                    <a:ext uri="{9D8B030D-6E8A-4147-A177-3AD203B41FA5}">
                      <a16:colId xmlns:a16="http://schemas.microsoft.com/office/drawing/2014/main" val="2838288724"/>
                    </a:ext>
                  </a:extLst>
                </a:gridCol>
                <a:gridCol w="2190353">
                  <a:extLst>
                    <a:ext uri="{9D8B030D-6E8A-4147-A177-3AD203B41FA5}">
                      <a16:colId xmlns:a16="http://schemas.microsoft.com/office/drawing/2014/main" val="33071033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09946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89340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96252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356934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3591C25-4C17-FF28-C534-0832C8265B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6793355"/>
              </p:ext>
            </p:extLst>
          </p:nvPr>
        </p:nvGraphicFramePr>
        <p:xfrm>
          <a:off x="1977660" y="2855014"/>
          <a:ext cx="7116000" cy="3726072"/>
        </p:xfrm>
        <a:graphic>
          <a:graphicData uri="http://schemas.openxmlformats.org/drawingml/2006/table">
            <a:tbl>
              <a:tblPr/>
              <a:tblGrid>
                <a:gridCol w="1779000">
                  <a:extLst>
                    <a:ext uri="{9D8B030D-6E8A-4147-A177-3AD203B41FA5}">
                      <a16:colId xmlns:a16="http://schemas.microsoft.com/office/drawing/2014/main" val="3627086287"/>
                    </a:ext>
                  </a:extLst>
                </a:gridCol>
                <a:gridCol w="1779000">
                  <a:extLst>
                    <a:ext uri="{9D8B030D-6E8A-4147-A177-3AD203B41FA5}">
                      <a16:colId xmlns:a16="http://schemas.microsoft.com/office/drawing/2014/main" val="562228415"/>
                    </a:ext>
                  </a:extLst>
                </a:gridCol>
                <a:gridCol w="1779000">
                  <a:extLst>
                    <a:ext uri="{9D8B030D-6E8A-4147-A177-3AD203B41FA5}">
                      <a16:colId xmlns:a16="http://schemas.microsoft.com/office/drawing/2014/main" val="1465552316"/>
                    </a:ext>
                  </a:extLst>
                </a:gridCol>
                <a:gridCol w="1779000">
                  <a:extLst>
                    <a:ext uri="{9D8B030D-6E8A-4147-A177-3AD203B41FA5}">
                      <a16:colId xmlns:a16="http://schemas.microsoft.com/office/drawing/2014/main" val="2387832113"/>
                    </a:ext>
                  </a:extLst>
                </a:gridCol>
              </a:tblGrid>
              <a:tr h="2970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/>
                        <a:t>Type</a:t>
                      </a:r>
                      <a:endParaRPr lang="en-IN" sz="1500"/>
                    </a:p>
                  </a:txBody>
                  <a:tcPr marL="74267" marR="74267" marT="37134" marB="37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/>
                        <a:t>Description</a:t>
                      </a:r>
                      <a:endParaRPr lang="en-IN" sz="1500"/>
                    </a:p>
                  </a:txBody>
                  <a:tcPr marL="74267" marR="74267" marT="37134" marB="37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/>
                        <a:t>Example</a:t>
                      </a:r>
                      <a:endParaRPr lang="en-IN" sz="1500"/>
                    </a:p>
                  </a:txBody>
                  <a:tcPr marL="74267" marR="74267" marT="37134" marB="37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/>
                        <a:t>Movement</a:t>
                      </a:r>
                      <a:endParaRPr lang="en-IN" sz="1500"/>
                    </a:p>
                  </a:txBody>
                  <a:tcPr marL="74267" marR="74267" marT="37134" marB="37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1716872"/>
                  </a:ext>
                </a:extLst>
              </a:tr>
              <a:tr h="11882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dirty="0"/>
                        <a:t>1. Sutures</a:t>
                      </a:r>
                      <a:endParaRPr lang="en-IN" sz="1500" dirty="0"/>
                    </a:p>
                  </a:txBody>
                  <a:tcPr marL="74267" marR="74267" marT="37134" marB="37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Irregular, interlocking edges of bones connected by short fibers</a:t>
                      </a:r>
                    </a:p>
                  </a:txBody>
                  <a:tcPr marL="74267" marR="74267" marT="37134" marB="37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Skull bones (parietal, frontal, occipital)</a:t>
                      </a:r>
                    </a:p>
                  </a:txBody>
                  <a:tcPr marL="74267" marR="74267" marT="37134" marB="37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/>
                        <a:t>Immovable (Synarthrosis)</a:t>
                      </a:r>
                      <a:endParaRPr lang="en-IN" sz="1500"/>
                    </a:p>
                  </a:txBody>
                  <a:tcPr marL="74267" marR="74267" marT="37134" marB="37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596863"/>
                  </a:ext>
                </a:extLst>
              </a:tr>
              <a:tr h="9654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/>
                        <a:t>2. Syndesmosis</a:t>
                      </a:r>
                      <a:endParaRPr lang="en-IN" sz="1500"/>
                    </a:p>
                  </a:txBody>
                  <a:tcPr marL="74267" marR="74267" marT="37134" marB="37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Bones connected by a </a:t>
                      </a:r>
                      <a:r>
                        <a:rPr lang="en-US" sz="1500" b="1"/>
                        <a:t>ligament or interosseous membrane</a:t>
                      </a:r>
                      <a:endParaRPr lang="en-US" sz="1500"/>
                    </a:p>
                  </a:txBody>
                  <a:tcPr marL="74267" marR="74267" marT="37134" marB="37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Inferior tibiofibular joint, Radioulnar interosseous membrane</a:t>
                      </a:r>
                    </a:p>
                  </a:txBody>
                  <a:tcPr marL="74267" marR="74267" marT="37134" marB="37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/>
                        <a:t>Slight movement (Amphiarthrosis)</a:t>
                      </a:r>
                      <a:endParaRPr lang="en-IN" sz="1500"/>
                    </a:p>
                  </a:txBody>
                  <a:tcPr marL="74267" marR="74267" marT="37134" marB="37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7860470"/>
                  </a:ext>
                </a:extLst>
              </a:tr>
              <a:tr h="9654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/>
                        <a:t>3. Gomphosis</a:t>
                      </a:r>
                      <a:endParaRPr lang="en-IN" sz="1500"/>
                    </a:p>
                  </a:txBody>
                  <a:tcPr marL="74267" marR="74267" marT="37134" marB="37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Peg-in-socket type joint</a:t>
                      </a:r>
                    </a:p>
                  </a:txBody>
                  <a:tcPr marL="74267" marR="74267" marT="37134" marB="37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Teeth in alveolar sockets (held by periodontal ligament)</a:t>
                      </a:r>
                    </a:p>
                  </a:txBody>
                  <a:tcPr marL="74267" marR="74267" marT="37134" marB="37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dirty="0"/>
                        <a:t>Immovable (Synarthrosis)</a:t>
                      </a:r>
                      <a:endParaRPr lang="en-IN" sz="1500" dirty="0"/>
                    </a:p>
                  </a:txBody>
                  <a:tcPr marL="74267" marR="74267" marT="37134" marB="37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2533266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D841DCF3-93E0-73D4-2CAD-72828BFD04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3625" y="2428662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Types of Fibrous Joints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31179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4B67F-6130-A754-4CC6-183353585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CE340-2F8E-6A37-3EBB-F14FA5F1A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Joints classification: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C10162-FE26-3312-CC35-D36B3F3C48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F6FB3DE-790A-6211-9211-3C9E22948892}"/>
              </a:ext>
            </a:extLst>
          </p:cNvPr>
          <p:cNvGraphicFramePr>
            <a:graphicFrameLocks noGrp="1"/>
          </p:cNvGraphicFramePr>
          <p:nvPr/>
        </p:nvGraphicFramePr>
        <p:xfrm>
          <a:off x="1154954" y="3808730"/>
          <a:ext cx="8761412" cy="1463040"/>
        </p:xfrm>
        <a:graphic>
          <a:graphicData uri="http://schemas.openxmlformats.org/drawingml/2006/table">
            <a:tbl>
              <a:tblPr/>
              <a:tblGrid>
                <a:gridCol w="2190353">
                  <a:extLst>
                    <a:ext uri="{9D8B030D-6E8A-4147-A177-3AD203B41FA5}">
                      <a16:colId xmlns:a16="http://schemas.microsoft.com/office/drawing/2014/main" val="3037675332"/>
                    </a:ext>
                  </a:extLst>
                </a:gridCol>
                <a:gridCol w="2190353">
                  <a:extLst>
                    <a:ext uri="{9D8B030D-6E8A-4147-A177-3AD203B41FA5}">
                      <a16:colId xmlns:a16="http://schemas.microsoft.com/office/drawing/2014/main" val="1956473461"/>
                    </a:ext>
                  </a:extLst>
                </a:gridCol>
                <a:gridCol w="2190353">
                  <a:extLst>
                    <a:ext uri="{9D8B030D-6E8A-4147-A177-3AD203B41FA5}">
                      <a16:colId xmlns:a16="http://schemas.microsoft.com/office/drawing/2014/main" val="2838288724"/>
                    </a:ext>
                  </a:extLst>
                </a:gridCol>
                <a:gridCol w="2190353">
                  <a:extLst>
                    <a:ext uri="{9D8B030D-6E8A-4147-A177-3AD203B41FA5}">
                      <a16:colId xmlns:a16="http://schemas.microsoft.com/office/drawing/2014/main" val="33071033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09946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89340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96252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356934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D83CD64-64D2-0399-2CCD-52079C6F71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6782382"/>
              </p:ext>
            </p:extLst>
          </p:nvPr>
        </p:nvGraphicFramePr>
        <p:xfrm>
          <a:off x="128016" y="2603500"/>
          <a:ext cx="11770070" cy="4228366"/>
        </p:xfrm>
        <a:graphic>
          <a:graphicData uri="http://schemas.openxmlformats.org/drawingml/2006/table">
            <a:tbl>
              <a:tblPr/>
              <a:tblGrid>
                <a:gridCol w="2354014">
                  <a:extLst>
                    <a:ext uri="{9D8B030D-6E8A-4147-A177-3AD203B41FA5}">
                      <a16:colId xmlns:a16="http://schemas.microsoft.com/office/drawing/2014/main" val="3627086287"/>
                    </a:ext>
                  </a:extLst>
                </a:gridCol>
                <a:gridCol w="2354014">
                  <a:extLst>
                    <a:ext uri="{9D8B030D-6E8A-4147-A177-3AD203B41FA5}">
                      <a16:colId xmlns:a16="http://schemas.microsoft.com/office/drawing/2014/main" val="2651428681"/>
                    </a:ext>
                  </a:extLst>
                </a:gridCol>
                <a:gridCol w="2354014">
                  <a:extLst>
                    <a:ext uri="{9D8B030D-6E8A-4147-A177-3AD203B41FA5}">
                      <a16:colId xmlns:a16="http://schemas.microsoft.com/office/drawing/2014/main" val="562228415"/>
                    </a:ext>
                  </a:extLst>
                </a:gridCol>
                <a:gridCol w="2354014">
                  <a:extLst>
                    <a:ext uri="{9D8B030D-6E8A-4147-A177-3AD203B41FA5}">
                      <a16:colId xmlns:a16="http://schemas.microsoft.com/office/drawing/2014/main" val="1465552316"/>
                    </a:ext>
                  </a:extLst>
                </a:gridCol>
                <a:gridCol w="2354014">
                  <a:extLst>
                    <a:ext uri="{9D8B030D-6E8A-4147-A177-3AD203B41FA5}">
                      <a16:colId xmlns:a16="http://schemas.microsoft.com/office/drawing/2014/main" val="2387832113"/>
                    </a:ext>
                  </a:extLst>
                </a:gridCol>
              </a:tblGrid>
              <a:tr h="2847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Type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Cartilage Type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Description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Example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Movement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1716872"/>
                  </a:ext>
                </a:extLst>
              </a:tr>
              <a:tr h="19934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1. Synchondrosis (Primary Cartilaginous Joint)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Hyaline cartilage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Temporary or permanent union of bones with hyaline cartilage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- Epiphyseal plate (growth plate in long bones — temporary) </a:t>
                      </a:r>
                      <a:br>
                        <a:rPr lang="en-US"/>
                      </a:br>
                      <a:r>
                        <a:rPr lang="en-US"/>
                        <a:t>- Joint between </a:t>
                      </a:r>
                      <a:r>
                        <a:rPr lang="en-US" b="1"/>
                        <a:t>1st rib and sternum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Immovable (Synarthrosis)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596863"/>
                  </a:ext>
                </a:extLst>
              </a:tr>
              <a:tr h="15662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2. Symphysis (Secondary Cartilaginous Joint)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Fibrocartilage</a:t>
                      </a:r>
                      <a:r>
                        <a:rPr lang="en-US"/>
                        <a:t> (with hyaline cartilage on surfaces)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Bones are united by a pad of fibrocartilage, allowing slight movement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- </a:t>
                      </a:r>
                      <a:r>
                        <a:rPr lang="en-IN" b="1"/>
                        <a:t>Pubic symphysis</a:t>
                      </a:r>
                      <a:r>
                        <a:rPr lang="en-IN"/>
                        <a:t> </a:t>
                      </a:r>
                      <a:br>
                        <a:rPr lang="en-IN"/>
                      </a:br>
                      <a:r>
                        <a:rPr lang="en-IN"/>
                        <a:t>- </a:t>
                      </a:r>
                      <a:r>
                        <a:rPr lang="en-IN" b="1"/>
                        <a:t>Intervertebral discs</a:t>
                      </a:r>
                      <a:r>
                        <a:rPr lang="en-IN"/>
                        <a:t> </a:t>
                      </a:r>
                      <a:br>
                        <a:rPr lang="en-IN"/>
                      </a:br>
                      <a:r>
                        <a:rPr lang="en-IN"/>
                        <a:t>- </a:t>
                      </a:r>
                      <a:r>
                        <a:rPr lang="en-IN" b="1"/>
                        <a:t>Manubriosternal joint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Slightly movable (Amphiarthrosis)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7860470"/>
                  </a:ext>
                </a:extLst>
              </a:tr>
              <a:tr h="235812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500"/>
                    </a:p>
                  </a:txBody>
                  <a:tcPr marL="74267" marR="74267" marT="37134" marB="37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500"/>
                    </a:p>
                  </a:txBody>
                  <a:tcPr marL="74267" marR="74267" marT="37134" marB="37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500" dirty="0"/>
                    </a:p>
                  </a:txBody>
                  <a:tcPr marL="74267" marR="74267" marT="37134" marB="37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500"/>
                    </a:p>
                  </a:txBody>
                  <a:tcPr marL="74267" marR="74267" marT="37134" marB="37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500" dirty="0"/>
                    </a:p>
                  </a:txBody>
                  <a:tcPr marL="74267" marR="74267" marT="37134" marB="37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2533266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9A8967CE-DAA5-BB1D-F1DA-F35A6797DF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3625" y="2380263"/>
            <a:ext cx="2263568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Types of cartilaginous joints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41383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9F48D-BD29-C581-25E6-F91760813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B42A6-EC67-D469-3AA5-67A96F7F6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Joints classification: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E2CD3-E87B-97F3-A895-5D0C014C68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C38DB31-8986-4E62-3459-B2A4AAE88262}"/>
              </a:ext>
            </a:extLst>
          </p:cNvPr>
          <p:cNvGraphicFramePr>
            <a:graphicFrameLocks noGrp="1"/>
          </p:cNvGraphicFramePr>
          <p:nvPr/>
        </p:nvGraphicFramePr>
        <p:xfrm>
          <a:off x="1154954" y="3808730"/>
          <a:ext cx="8761412" cy="1463040"/>
        </p:xfrm>
        <a:graphic>
          <a:graphicData uri="http://schemas.openxmlformats.org/drawingml/2006/table">
            <a:tbl>
              <a:tblPr/>
              <a:tblGrid>
                <a:gridCol w="2190353">
                  <a:extLst>
                    <a:ext uri="{9D8B030D-6E8A-4147-A177-3AD203B41FA5}">
                      <a16:colId xmlns:a16="http://schemas.microsoft.com/office/drawing/2014/main" val="3037675332"/>
                    </a:ext>
                  </a:extLst>
                </a:gridCol>
                <a:gridCol w="2190353">
                  <a:extLst>
                    <a:ext uri="{9D8B030D-6E8A-4147-A177-3AD203B41FA5}">
                      <a16:colId xmlns:a16="http://schemas.microsoft.com/office/drawing/2014/main" val="1956473461"/>
                    </a:ext>
                  </a:extLst>
                </a:gridCol>
                <a:gridCol w="2190353">
                  <a:extLst>
                    <a:ext uri="{9D8B030D-6E8A-4147-A177-3AD203B41FA5}">
                      <a16:colId xmlns:a16="http://schemas.microsoft.com/office/drawing/2014/main" val="2838288724"/>
                    </a:ext>
                  </a:extLst>
                </a:gridCol>
                <a:gridCol w="2190353">
                  <a:extLst>
                    <a:ext uri="{9D8B030D-6E8A-4147-A177-3AD203B41FA5}">
                      <a16:colId xmlns:a16="http://schemas.microsoft.com/office/drawing/2014/main" val="33071033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09946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89340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96252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3569340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8FDA579C-72FA-2B23-40C7-1593D6252C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3625" y="2380263"/>
            <a:ext cx="1835567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Types of synovial joint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4723FAB-ED6F-4D8D-4F26-BA2BCA70E4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8580298"/>
              </p:ext>
            </p:extLst>
          </p:nvPr>
        </p:nvGraphicFramePr>
        <p:xfrm>
          <a:off x="2595772" y="2934261"/>
          <a:ext cx="6294924" cy="3431686"/>
        </p:xfrm>
        <a:graphic>
          <a:graphicData uri="http://schemas.openxmlformats.org/drawingml/2006/table">
            <a:tbl>
              <a:tblPr/>
              <a:tblGrid>
                <a:gridCol w="2098308">
                  <a:extLst>
                    <a:ext uri="{9D8B030D-6E8A-4147-A177-3AD203B41FA5}">
                      <a16:colId xmlns:a16="http://schemas.microsoft.com/office/drawing/2014/main" val="1588684740"/>
                    </a:ext>
                  </a:extLst>
                </a:gridCol>
                <a:gridCol w="2098308">
                  <a:extLst>
                    <a:ext uri="{9D8B030D-6E8A-4147-A177-3AD203B41FA5}">
                      <a16:colId xmlns:a16="http://schemas.microsoft.com/office/drawing/2014/main" val="1355001094"/>
                    </a:ext>
                  </a:extLst>
                </a:gridCol>
                <a:gridCol w="2098308">
                  <a:extLst>
                    <a:ext uri="{9D8B030D-6E8A-4147-A177-3AD203B41FA5}">
                      <a16:colId xmlns:a16="http://schemas.microsoft.com/office/drawing/2014/main" val="463758670"/>
                    </a:ext>
                  </a:extLst>
                </a:gridCol>
              </a:tblGrid>
              <a:tr h="2627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Joint Type</a:t>
                      </a:r>
                      <a:endParaRPr lang="en-IN" sz="1300"/>
                    </a:p>
                  </a:txBody>
                  <a:tcPr marL="65698" marR="65698" marT="32849" marB="32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Movement</a:t>
                      </a:r>
                      <a:endParaRPr lang="en-IN" sz="1300"/>
                    </a:p>
                  </a:txBody>
                  <a:tcPr marL="65698" marR="65698" marT="32849" marB="32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Example</a:t>
                      </a:r>
                      <a:endParaRPr lang="en-IN" sz="1300"/>
                    </a:p>
                  </a:txBody>
                  <a:tcPr marL="65698" marR="65698" marT="32849" marB="32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2101001"/>
                  </a:ext>
                </a:extLst>
              </a:tr>
              <a:tr h="4598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Hinge Joint</a:t>
                      </a:r>
                      <a:endParaRPr lang="en-IN" sz="1300"/>
                    </a:p>
                  </a:txBody>
                  <a:tcPr marL="65698" marR="65698" marT="32849" marB="32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Flexion and extension</a:t>
                      </a:r>
                    </a:p>
                  </a:txBody>
                  <a:tcPr marL="65698" marR="65698" marT="32849" marB="32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Elbow, Knee, Interphalangeal joints</a:t>
                      </a:r>
                    </a:p>
                  </a:txBody>
                  <a:tcPr marL="65698" marR="65698" marT="32849" marB="32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2800337"/>
                  </a:ext>
                </a:extLst>
              </a:tr>
              <a:tr h="4598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Ball and Socket Joint</a:t>
                      </a:r>
                      <a:endParaRPr lang="en-IN" sz="1300"/>
                    </a:p>
                  </a:txBody>
                  <a:tcPr marL="65698" marR="65698" marT="32849" marB="32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Movement in all directions + rotation</a:t>
                      </a:r>
                    </a:p>
                  </a:txBody>
                  <a:tcPr marL="65698" marR="65698" marT="32849" marB="32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Shoulder, Hip</a:t>
                      </a:r>
                    </a:p>
                  </a:txBody>
                  <a:tcPr marL="65698" marR="65698" marT="32849" marB="32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1294907"/>
                  </a:ext>
                </a:extLst>
              </a:tr>
              <a:tr h="6569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Pivot Joint</a:t>
                      </a:r>
                      <a:endParaRPr lang="en-IN" sz="1300"/>
                    </a:p>
                  </a:txBody>
                  <a:tcPr marL="65698" marR="65698" marT="32849" marB="32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Rotation around an axis</a:t>
                      </a:r>
                    </a:p>
                  </a:txBody>
                  <a:tcPr marL="65698" marR="65698" marT="32849" marB="32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Atlantoaxial joint (neck), Radius-ulna joint (supination/pronation)</a:t>
                      </a:r>
                    </a:p>
                  </a:txBody>
                  <a:tcPr marL="65698" marR="65698" marT="32849" marB="32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2620155"/>
                  </a:ext>
                </a:extLst>
              </a:tr>
              <a:tr h="4598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Condyloid (Ellipsoid) Joint</a:t>
                      </a:r>
                      <a:endParaRPr lang="en-IN" sz="1300"/>
                    </a:p>
                  </a:txBody>
                  <a:tcPr marL="65698" marR="65698" marT="32849" marB="32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Biaxial movement</a:t>
                      </a:r>
                    </a:p>
                  </a:txBody>
                  <a:tcPr marL="65698" marR="65698" marT="32849" marB="32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Wrist joint (Radiocarpal)</a:t>
                      </a:r>
                    </a:p>
                  </a:txBody>
                  <a:tcPr marL="65698" marR="65698" marT="32849" marB="32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4607063"/>
                  </a:ext>
                </a:extLst>
              </a:tr>
              <a:tr h="6569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Saddle Joint</a:t>
                      </a:r>
                      <a:endParaRPr lang="en-IN" sz="1300"/>
                    </a:p>
                  </a:txBody>
                  <a:tcPr marL="65698" marR="65698" marT="32849" marB="32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Biaxial (like riding a saddle)</a:t>
                      </a:r>
                    </a:p>
                  </a:txBody>
                  <a:tcPr marL="65698" marR="65698" marT="32849" marB="32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Thumb joint (Carpometacarpal of 1st digit)</a:t>
                      </a:r>
                    </a:p>
                  </a:txBody>
                  <a:tcPr marL="65698" marR="65698" marT="32849" marB="32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5095684"/>
                  </a:ext>
                </a:extLst>
              </a:tr>
              <a:tr h="4598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Gliding (Plane) Joint</a:t>
                      </a:r>
                      <a:endParaRPr lang="en-IN" sz="1300"/>
                    </a:p>
                  </a:txBody>
                  <a:tcPr marL="65698" marR="65698" marT="32849" marB="32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Sliding movements</a:t>
                      </a:r>
                    </a:p>
                  </a:txBody>
                  <a:tcPr marL="65698" marR="65698" marT="32849" marB="32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Intercarpal, Intertarsal, Vertebral facet joints</a:t>
                      </a:r>
                    </a:p>
                  </a:txBody>
                  <a:tcPr marL="65698" marR="65698" marT="32849" marB="32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33045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169842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TM02900722[[fn=Ion Boardroom]]</Template>
  <TotalTime>140</TotalTime>
  <Words>643</Words>
  <Application>Microsoft Office PowerPoint</Application>
  <PresentationFormat>Widescreen</PresentationFormat>
  <Paragraphs>136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Century Gothic</vt:lpstr>
      <vt:lpstr>Wingdings 3</vt:lpstr>
      <vt:lpstr>Ion Boardroom</vt:lpstr>
      <vt:lpstr>Bones and joints </vt:lpstr>
      <vt:lpstr>Bones classification:</vt:lpstr>
      <vt:lpstr>Bones classification:</vt:lpstr>
      <vt:lpstr>Bones classification:</vt:lpstr>
      <vt:lpstr>Bones classification:</vt:lpstr>
      <vt:lpstr>Joints classification:</vt:lpstr>
      <vt:lpstr>Joints classification:</vt:lpstr>
      <vt:lpstr>Joints classification:</vt:lpstr>
      <vt:lpstr>Joints classification: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Madhu Chandana Senthil Rajan</dc:creator>
  <cp:lastModifiedBy>Madhu Chandana Senthil Rajan</cp:lastModifiedBy>
  <cp:revision>1</cp:revision>
  <dcterms:created xsi:type="dcterms:W3CDTF">2025-10-19T09:19:43Z</dcterms:created>
  <dcterms:modified xsi:type="dcterms:W3CDTF">2025-11-19T12:54:31Z</dcterms:modified>
</cp:coreProperties>
</file>