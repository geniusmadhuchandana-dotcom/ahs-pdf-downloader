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C6FA8A34-2862-4E6F-9014-CB6141B1A91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4D912E87-0186-4B18-84E8-1C3B0FC4E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0909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A8A34-2862-4E6F-9014-CB6141B1A91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12E87-0186-4B18-84E8-1C3B0FC4E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527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A8A34-2862-4E6F-9014-CB6141B1A91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12E87-0186-4B18-84E8-1C3B0FC4E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357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A8A34-2862-4E6F-9014-CB6141B1A91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12E87-0186-4B18-84E8-1C3B0FC4E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986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A8A34-2862-4E6F-9014-CB6141B1A91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12E87-0186-4B18-84E8-1C3B0FC4E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538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A8A34-2862-4E6F-9014-CB6141B1A91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12E87-0186-4B18-84E8-1C3B0FC4E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941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A8A34-2862-4E6F-9014-CB6141B1A91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12E87-0186-4B18-84E8-1C3B0FC4E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765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A8A34-2862-4E6F-9014-CB6141B1A91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12E87-0186-4B18-84E8-1C3B0FC4E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661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A8A34-2862-4E6F-9014-CB6141B1A91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12E87-0186-4B18-84E8-1C3B0FC4E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058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A8A34-2862-4E6F-9014-CB6141B1A91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12E87-0186-4B18-84E8-1C3B0FC4E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811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A8A34-2862-4E6F-9014-CB6141B1A91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12E87-0186-4B18-84E8-1C3B0FC4E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515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A8A34-2862-4E6F-9014-CB6141B1A91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12E87-0186-4B18-84E8-1C3B0FC4E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8368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A8A34-2862-4E6F-9014-CB6141B1A91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12E87-0186-4B18-84E8-1C3B0FC4E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6312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A8A34-2862-4E6F-9014-CB6141B1A91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12E87-0186-4B18-84E8-1C3B0FC4E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9028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A8A34-2862-4E6F-9014-CB6141B1A91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12E87-0186-4B18-84E8-1C3B0FC4E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411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A8A34-2862-4E6F-9014-CB6141B1A91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12E87-0186-4B18-84E8-1C3B0FC4E39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1736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A8A34-2862-4E6F-9014-CB6141B1A91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12E87-0186-4B18-84E8-1C3B0FC4E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242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6FA8A34-2862-4E6F-9014-CB6141B1A91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D912E87-0186-4B18-84E8-1C3B0FC4E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0266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7C492-4608-D2AB-E574-5D293B7930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220" y="1964267"/>
            <a:ext cx="10117906" cy="2421464"/>
          </a:xfrm>
        </p:spPr>
        <p:txBody>
          <a:bodyPr>
            <a:normAutofit/>
          </a:bodyPr>
          <a:lstStyle/>
          <a:p>
            <a:r>
              <a:rPr lang="en-US" sz="7200" dirty="0">
                <a:latin typeface="Arial Rounded MT Bold" panose="020F0704030504030204" pitchFamily="34" charset="0"/>
              </a:rPr>
              <a:t>Endocrine system</a:t>
            </a:r>
            <a:endParaRPr lang="en-IN" sz="72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574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851C2-C9DD-BBB0-3582-A17A88202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Definition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E3FF3-3E59-EFEE-DAD6-FE0E0780A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6019799" cy="364913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endocrine system</a:t>
            </a:r>
            <a:r>
              <a:rPr lang="en-US" dirty="0"/>
              <a:t> consists of ductless glands that secrete </a:t>
            </a:r>
            <a:r>
              <a:rPr lang="en-US" b="1" dirty="0"/>
              <a:t>hormones</a:t>
            </a:r>
            <a:r>
              <a:rPr lang="en-US" dirty="0"/>
              <a:t> directly into the bloodstream to regulate various physiological functions like </a:t>
            </a:r>
            <a:r>
              <a:rPr lang="en-US" b="1" dirty="0"/>
              <a:t>growth, metabolism, reproduction, stress response, and homeostasis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3258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D79B0-4AC1-1ADB-68BE-C8F2695E4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61DAB-D55D-09EE-311F-ECE2DB9DF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Characteristics of Endocrine Glands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B7131-4F5F-C9C1-4DB7-D2FFD55F6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6000134" cy="3649133"/>
          </a:xfrm>
        </p:spPr>
        <p:txBody>
          <a:bodyPr/>
          <a:lstStyle/>
          <a:p>
            <a:r>
              <a:rPr lang="en-US" b="1" dirty="0"/>
              <a:t>Ductless glands</a:t>
            </a:r>
            <a:endParaRPr lang="en-US" dirty="0"/>
          </a:p>
          <a:p>
            <a:r>
              <a:rPr lang="en-US" b="1" dirty="0"/>
              <a:t>Rich blood supply</a:t>
            </a:r>
            <a:endParaRPr lang="en-US" dirty="0"/>
          </a:p>
          <a:p>
            <a:r>
              <a:rPr lang="en-US" b="1" dirty="0"/>
              <a:t>Secrete hormones in minute quantities</a:t>
            </a:r>
            <a:endParaRPr lang="en-US" dirty="0"/>
          </a:p>
          <a:p>
            <a:r>
              <a:rPr lang="en-US" b="1" dirty="0"/>
              <a:t>Regulated by feedback mechanisms</a:t>
            </a:r>
            <a:r>
              <a:rPr lang="en-US" dirty="0"/>
              <a:t> (mostly negative feedback)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5196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819E0-6CDA-B6B8-15CC-FB893AC95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cap="none" dirty="0">
                <a:ln>
                  <a:noFill/>
                </a:ln>
                <a:latin typeface="Arial" panose="020B0604020202020204" pitchFamily="34" charset="0"/>
              </a:rPr>
              <a:t>Major Endocrine Glands &amp; Hormones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C70968-6735-9A9C-3A65-823357786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010113"/>
              </p:ext>
            </p:extLst>
          </p:nvPr>
        </p:nvGraphicFramePr>
        <p:xfrm>
          <a:off x="424542" y="1690437"/>
          <a:ext cx="11179628" cy="4680800"/>
        </p:xfrm>
        <a:graphic>
          <a:graphicData uri="http://schemas.openxmlformats.org/drawingml/2006/table">
            <a:tbl>
              <a:tblPr/>
              <a:tblGrid>
                <a:gridCol w="2794907">
                  <a:extLst>
                    <a:ext uri="{9D8B030D-6E8A-4147-A177-3AD203B41FA5}">
                      <a16:colId xmlns:a16="http://schemas.microsoft.com/office/drawing/2014/main" val="44736732"/>
                    </a:ext>
                  </a:extLst>
                </a:gridCol>
                <a:gridCol w="2794907">
                  <a:extLst>
                    <a:ext uri="{9D8B030D-6E8A-4147-A177-3AD203B41FA5}">
                      <a16:colId xmlns:a16="http://schemas.microsoft.com/office/drawing/2014/main" val="3621386538"/>
                    </a:ext>
                  </a:extLst>
                </a:gridCol>
                <a:gridCol w="2794907">
                  <a:extLst>
                    <a:ext uri="{9D8B030D-6E8A-4147-A177-3AD203B41FA5}">
                      <a16:colId xmlns:a16="http://schemas.microsoft.com/office/drawing/2014/main" val="1652838706"/>
                    </a:ext>
                  </a:extLst>
                </a:gridCol>
                <a:gridCol w="2794907">
                  <a:extLst>
                    <a:ext uri="{9D8B030D-6E8A-4147-A177-3AD203B41FA5}">
                      <a16:colId xmlns:a16="http://schemas.microsoft.com/office/drawing/2014/main" val="1105826967"/>
                    </a:ext>
                  </a:extLst>
                </a:gridCol>
              </a:tblGrid>
              <a:tr h="232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Gland</a:t>
                      </a:r>
                      <a:endParaRPr lang="en-IN" sz="1400"/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Location</a:t>
                      </a:r>
                      <a:endParaRPr lang="en-IN" sz="1400"/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Hormones Secreted</a:t>
                      </a:r>
                      <a:endParaRPr lang="en-IN" sz="1400"/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Functions</a:t>
                      </a:r>
                      <a:endParaRPr lang="en-IN" sz="1400"/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066643"/>
                  </a:ext>
                </a:extLst>
              </a:tr>
              <a:tr h="581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Pituitary (Master Gland)</a:t>
                      </a:r>
                      <a:endParaRPr lang="en-IN" sz="1400"/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Base of brain</a:t>
                      </a:r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GH, TSH, ACTH, FSH, LH, Prolactin, ADH, Oxytocin</a:t>
                      </a:r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Regulates other glands, growth, lactation, water balance</a:t>
                      </a:r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943073"/>
                  </a:ext>
                </a:extLst>
              </a:tr>
              <a:tr h="407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Pineal Gland</a:t>
                      </a:r>
                      <a:endParaRPr lang="en-IN" sz="1400"/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Brain (roof of 3rd ventricle)</a:t>
                      </a:r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Melatonin</a:t>
                      </a:r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Regulates sleep-wake cycle</a:t>
                      </a:r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653952"/>
                  </a:ext>
                </a:extLst>
              </a:tr>
              <a:tr h="407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Thyroid</a:t>
                      </a:r>
                      <a:endParaRPr lang="en-IN" sz="1400"/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Neck (below larynx)</a:t>
                      </a:r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T3, T4, Calcitonin</a:t>
                      </a:r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Metabolism, growth, lowers blood calcium</a:t>
                      </a:r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101953"/>
                  </a:ext>
                </a:extLst>
              </a:tr>
              <a:tr h="232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Parathyroid</a:t>
                      </a:r>
                      <a:endParaRPr lang="en-IN" sz="1400"/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Posterior thyroid lobes</a:t>
                      </a:r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PTH</a:t>
                      </a:r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Increases blood calcium</a:t>
                      </a:r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364531"/>
                  </a:ext>
                </a:extLst>
              </a:tr>
              <a:tr h="756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Adrenal Glands</a:t>
                      </a:r>
                      <a:endParaRPr lang="en-IN" sz="1400"/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Above kidneys</a:t>
                      </a:r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Cortex – Aldosterone, Cortisol; Medulla – Adrenaline, Noradrenaline</a:t>
                      </a:r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Stress response, BP regulation, metabolism</a:t>
                      </a:r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212333"/>
                  </a:ext>
                </a:extLst>
              </a:tr>
              <a:tr h="581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Pancreas (Endocrine part – Islets of Langerhans)</a:t>
                      </a:r>
                      <a:endParaRPr lang="en-US" sz="1400"/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Behind stomach</a:t>
                      </a:r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Insulin, Glucagon, Somatostatin</a:t>
                      </a:r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Blood glucose regulation</a:t>
                      </a:r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5625210"/>
                  </a:ext>
                </a:extLst>
              </a:tr>
              <a:tr h="407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Gonads (Testes/Ovaries)</a:t>
                      </a:r>
                      <a:endParaRPr lang="en-IN" sz="1400"/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Reproductive organs</a:t>
                      </a:r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Testosterone, Estrogen, Progesterone</a:t>
                      </a:r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Sexual development &amp; reproduction</a:t>
                      </a:r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1212899"/>
                  </a:ext>
                </a:extLst>
              </a:tr>
              <a:tr h="407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Thymus</a:t>
                      </a:r>
                      <a:endParaRPr lang="en-IN" sz="1400"/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Behind sternum</a:t>
                      </a:r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Thymosin</a:t>
                      </a:r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Immune system (T-lymphocyte maturation)</a:t>
                      </a:r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391912"/>
                  </a:ext>
                </a:extLst>
              </a:tr>
              <a:tr h="407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Hypothalamus</a:t>
                      </a:r>
                      <a:endParaRPr lang="en-IN" sz="1400"/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Brain</a:t>
                      </a:r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Releasing &amp; Inhibiting hormones</a:t>
                      </a:r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Controls pituitary gland</a:t>
                      </a:r>
                    </a:p>
                  </a:txBody>
                  <a:tcPr marL="48022" marR="48022" marT="24011" marB="24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1010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7496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AE49A-1AB3-EE42-2D49-DF24DFDAC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Functions of Endocrine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8FC6A-3EF9-0186-2ADC-6454E571F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Metabolism regulation</a:t>
            </a:r>
            <a:r>
              <a:rPr lang="en-IN" dirty="0"/>
              <a:t> (Thyroid hormones)</a:t>
            </a:r>
          </a:p>
          <a:p>
            <a:r>
              <a:rPr lang="en-IN" b="1" dirty="0"/>
              <a:t>Growth and development</a:t>
            </a:r>
            <a:r>
              <a:rPr lang="en-IN" dirty="0"/>
              <a:t> (Growth hormone)</a:t>
            </a:r>
          </a:p>
          <a:p>
            <a:r>
              <a:rPr lang="en-IN" b="1" dirty="0"/>
              <a:t>Reproductive control</a:t>
            </a:r>
            <a:r>
              <a:rPr lang="en-IN" dirty="0"/>
              <a:t> (FSH, LH, Sex hormones)</a:t>
            </a:r>
          </a:p>
          <a:p>
            <a:r>
              <a:rPr lang="en-IN" b="1" dirty="0"/>
              <a:t>Stress adaptation</a:t>
            </a:r>
            <a:r>
              <a:rPr lang="en-IN" dirty="0"/>
              <a:t> (Cortisol, Adrenaline)</a:t>
            </a:r>
          </a:p>
          <a:p>
            <a:r>
              <a:rPr lang="en-IN" b="1" dirty="0"/>
              <a:t>Homeostasis</a:t>
            </a:r>
            <a:r>
              <a:rPr lang="en-IN" dirty="0"/>
              <a:t> (Insulin, PTH, ADH)</a:t>
            </a:r>
          </a:p>
          <a:p>
            <a:r>
              <a:rPr lang="en-IN" b="1" dirty="0"/>
              <a:t>Mood and sleep</a:t>
            </a:r>
            <a:r>
              <a:rPr lang="en-IN" dirty="0"/>
              <a:t> (Serotonin, Melatonin)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176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EFD71-97F0-9C64-97C4-4366E1FBB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1" y="2621280"/>
            <a:ext cx="10131425" cy="1456267"/>
          </a:xfrm>
        </p:spPr>
        <p:txBody>
          <a:bodyPr/>
          <a:lstStyle/>
          <a:p>
            <a:r>
              <a:rPr lang="en-IN" dirty="0"/>
              <a:t>Pituitary Gland (Hypophysis Cerebri)</a:t>
            </a:r>
          </a:p>
        </p:txBody>
      </p:sp>
    </p:spTree>
    <p:extLst>
      <p:ext uri="{BB962C8B-B14F-4D97-AF65-F5344CB8AC3E}">
        <p14:creationId xmlns:p14="http://schemas.microsoft.com/office/powerpoint/2010/main" val="1788789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C77BF-EE61-A4CA-3CCA-5A0D21F76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Situation / Location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56EC3-61B2-CE93-C0F2-0B952C9EC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Located in the </a:t>
            </a:r>
            <a:r>
              <a:rPr lang="en-US" b="1" dirty="0" err="1"/>
              <a:t>sella</a:t>
            </a:r>
            <a:r>
              <a:rPr lang="en-US" b="1" dirty="0"/>
              <a:t> turcica</a:t>
            </a:r>
            <a:r>
              <a:rPr lang="en-US" dirty="0"/>
              <a:t> of the </a:t>
            </a:r>
            <a:r>
              <a:rPr lang="en-US" b="1" dirty="0"/>
              <a:t>sphenoid bone</a:t>
            </a:r>
            <a:endParaRPr lang="en-US" dirty="0"/>
          </a:p>
          <a:p>
            <a:r>
              <a:rPr lang="en-US" dirty="0"/>
              <a:t>Suspended from </a:t>
            </a:r>
            <a:r>
              <a:rPr lang="en-US" b="1" dirty="0"/>
              <a:t>hypothalamus</a:t>
            </a:r>
            <a:r>
              <a:rPr lang="en-US" dirty="0"/>
              <a:t> by the </a:t>
            </a:r>
            <a:r>
              <a:rPr lang="en-US" b="1" dirty="0"/>
              <a:t>infundibulum</a:t>
            </a:r>
            <a:endParaRPr lang="en-US" dirty="0"/>
          </a:p>
          <a:p>
            <a:r>
              <a:rPr lang="en-US" dirty="0"/>
              <a:t>Lies </a:t>
            </a:r>
            <a:r>
              <a:rPr lang="en-US" b="1" dirty="0"/>
              <a:t>below the optic chiasma</a:t>
            </a:r>
            <a:endParaRPr lang="en-US" dirty="0"/>
          </a:p>
          <a:p>
            <a:r>
              <a:rPr lang="en-US" dirty="0"/>
              <a:t>Covered superiorly by a fold of dura called </a:t>
            </a:r>
            <a:r>
              <a:rPr lang="en-US" b="1" dirty="0"/>
              <a:t>Diaphragma Sellae</a:t>
            </a:r>
            <a:endParaRPr lang="en-US" dirty="0"/>
          </a:p>
          <a:p>
            <a:r>
              <a:rPr lang="en-US" dirty="0"/>
              <a:t>Weight: </a:t>
            </a:r>
            <a:r>
              <a:rPr lang="en-US" b="1" dirty="0"/>
              <a:t>500–600 mg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2141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D5C08-C874-BB23-B4CD-EDC1D76BD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sz="4000" b="1" cap="none" dirty="0">
                <a:ln>
                  <a:noFill/>
                </a:ln>
                <a:latin typeface="Arial" panose="020B0604020202020204" pitchFamily="34" charset="0"/>
              </a:rPr>
              <a:t>Gross Anatomy / Parts</a:t>
            </a:r>
            <a:br>
              <a:rPr lang="en-US" altLang="en-US" sz="4000" b="1" cap="none" dirty="0">
                <a:ln>
                  <a:noFill/>
                </a:ln>
                <a:latin typeface="Arial" panose="020B0604020202020204" pitchFamily="34" charset="0"/>
              </a:rPr>
            </a:br>
            <a:r>
              <a:rPr lang="en-US" altLang="en-US" sz="2700" cap="none" dirty="0">
                <a:ln>
                  <a:noFill/>
                </a:ln>
                <a:latin typeface="Arial" panose="020B0604020202020204" pitchFamily="34" charset="0"/>
              </a:rPr>
              <a:t>The pituitary has </a:t>
            </a:r>
            <a:r>
              <a:rPr lang="en-US" altLang="en-US" sz="2700" b="1" cap="none" dirty="0">
                <a:ln>
                  <a:noFill/>
                </a:ln>
                <a:latin typeface="Arial" panose="020B0604020202020204" pitchFamily="34" charset="0"/>
              </a:rPr>
              <a:t>two main parts (dual embryological origin):</a:t>
            </a:r>
            <a:br>
              <a:rPr lang="en-US" altLang="en-US" cap="none" dirty="0">
                <a:ln>
                  <a:noFill/>
                </a:ln>
                <a:latin typeface="Arial" panose="020B0604020202020204" pitchFamily="34" charset="0"/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A0ECF59-9D9E-18AD-DC5F-E5BAEE20BC3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2869089"/>
          <a:ext cx="10131424" cy="2194560"/>
        </p:xfrm>
        <a:graphic>
          <a:graphicData uri="http://schemas.openxmlformats.org/drawingml/2006/table">
            <a:tbl>
              <a:tblPr/>
              <a:tblGrid>
                <a:gridCol w="2532856">
                  <a:extLst>
                    <a:ext uri="{9D8B030D-6E8A-4147-A177-3AD203B41FA5}">
                      <a16:colId xmlns:a16="http://schemas.microsoft.com/office/drawing/2014/main" val="2490605314"/>
                    </a:ext>
                  </a:extLst>
                </a:gridCol>
                <a:gridCol w="2532856">
                  <a:extLst>
                    <a:ext uri="{9D8B030D-6E8A-4147-A177-3AD203B41FA5}">
                      <a16:colId xmlns:a16="http://schemas.microsoft.com/office/drawing/2014/main" val="2423422442"/>
                    </a:ext>
                  </a:extLst>
                </a:gridCol>
                <a:gridCol w="2532856">
                  <a:extLst>
                    <a:ext uri="{9D8B030D-6E8A-4147-A177-3AD203B41FA5}">
                      <a16:colId xmlns:a16="http://schemas.microsoft.com/office/drawing/2014/main" val="2253995977"/>
                    </a:ext>
                  </a:extLst>
                </a:gridCol>
                <a:gridCol w="2532856">
                  <a:extLst>
                    <a:ext uri="{9D8B030D-6E8A-4147-A177-3AD203B41FA5}">
                      <a16:colId xmlns:a16="http://schemas.microsoft.com/office/drawing/2014/main" val="22781773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Part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Origin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Structure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Hormones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7457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Adenohypophysis (Anterior Pituitary)</a:t>
                      </a:r>
                      <a:r>
                        <a:rPr lang="en-IN"/>
                        <a:t> – 75%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Oral ectoderm (Rathke’s pouch)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- Pars distalis (major) </a:t>
                      </a:r>
                      <a:br>
                        <a:rPr lang="en-IN"/>
                      </a:br>
                      <a:r>
                        <a:rPr lang="en-IN"/>
                        <a:t>- Pars intermedia </a:t>
                      </a:r>
                      <a:br>
                        <a:rPr lang="en-IN"/>
                      </a:br>
                      <a:r>
                        <a:rPr lang="en-IN"/>
                        <a:t>- Pars tuberalis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GH, TSH, ACTH, FSH, LH, Prolactin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9144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Neurohypophysis (Posterior Pituitary)</a:t>
                      </a:r>
                      <a:r>
                        <a:rPr lang="en-IN"/>
                        <a:t> – 25%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Neuroectoderm (from hypothalamus)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- Pars nervosa </a:t>
                      </a:r>
                      <a:br>
                        <a:rPr lang="en-IN"/>
                      </a:br>
                      <a:r>
                        <a:rPr lang="en-IN"/>
                        <a:t>- Infundibular stalk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Stores ADH &amp; Oxytocin (released from hypothalamus)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47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5626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B74D4-061B-1942-43CB-9DCC8969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Blood Supply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432E9-7B48-2C2F-2207-EEAD5D38E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Arterial Supply</a:t>
            </a:r>
          </a:p>
          <a:p>
            <a:r>
              <a:rPr lang="en-IN" b="1" dirty="0"/>
              <a:t>Superior hypophyseal artery</a:t>
            </a:r>
            <a:r>
              <a:rPr lang="en-IN" dirty="0"/>
              <a:t> (branch of internal carotid &amp; Circle of Willis) → supplies median eminence &amp; stalk → </a:t>
            </a:r>
            <a:r>
              <a:rPr lang="en-IN" b="1" dirty="0"/>
              <a:t>primary capillary plexus</a:t>
            </a:r>
            <a:endParaRPr lang="en-IN" dirty="0"/>
          </a:p>
          <a:p>
            <a:r>
              <a:rPr lang="en-IN" b="1" dirty="0"/>
              <a:t>Inferior hypophyseal artery</a:t>
            </a:r>
            <a:r>
              <a:rPr lang="en-IN" dirty="0"/>
              <a:t> → supplies </a:t>
            </a:r>
            <a:r>
              <a:rPr lang="en-IN" b="1" dirty="0"/>
              <a:t>neurohypophysis</a:t>
            </a:r>
            <a:r>
              <a:rPr lang="en-IN" dirty="0"/>
              <a:t> → </a:t>
            </a:r>
            <a:r>
              <a:rPr lang="en-IN" b="1" dirty="0"/>
              <a:t>secondary plexus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Venous Drainage</a:t>
            </a:r>
          </a:p>
          <a:p>
            <a:r>
              <a:rPr lang="en-IN" dirty="0"/>
              <a:t>Drains into </a:t>
            </a:r>
            <a:r>
              <a:rPr lang="en-IN" b="1" dirty="0"/>
              <a:t>cavernous sinus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Portal Circulation (Hypophyseal Portal System)</a:t>
            </a:r>
            <a:br>
              <a:rPr lang="en-IN" dirty="0"/>
            </a:br>
            <a:r>
              <a:rPr lang="en-IN" dirty="0"/>
              <a:t>Hypothalamic releasing hormones → primary plexus → portal veins → secondary plexus in anterior pituitary → </a:t>
            </a:r>
            <a:r>
              <a:rPr lang="en-IN" b="1" dirty="0"/>
              <a:t>regulates hormone release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36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41274-48FA-4EE8-BCDF-F52073985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sz="4000" b="1" cap="none" dirty="0">
                <a:ln>
                  <a:noFill/>
                </a:ln>
                <a:latin typeface="Arial" panose="020B0604020202020204" pitchFamily="34" charset="0"/>
              </a:rPr>
              <a:t>Histology</a:t>
            </a:r>
            <a:br>
              <a:rPr lang="en-US" altLang="en-US" sz="2400" b="1" cap="none" dirty="0">
                <a:ln>
                  <a:noFill/>
                </a:ln>
                <a:latin typeface="Arial" panose="020B0604020202020204" pitchFamily="34" charset="0"/>
              </a:rPr>
            </a:br>
            <a:r>
              <a:rPr lang="en-US" altLang="en-US" sz="1800" b="1" cap="none" dirty="0">
                <a:ln>
                  <a:noFill/>
                </a:ln>
                <a:latin typeface="Arial" panose="020B0604020202020204" pitchFamily="34" charset="0"/>
              </a:rPr>
              <a:t>Anterior Pituitary (Adenohypophysis)</a:t>
            </a:r>
            <a:br>
              <a:rPr lang="en-US" altLang="en-US" sz="1800" b="1" cap="none" dirty="0">
                <a:ln>
                  <a:noFill/>
                </a:ln>
                <a:latin typeface="Arial" panose="020B0604020202020204" pitchFamily="34" charset="0"/>
              </a:rPr>
            </a:br>
            <a:r>
              <a:rPr lang="en-US" altLang="en-US" sz="1800" cap="none" dirty="0">
                <a:ln>
                  <a:noFill/>
                </a:ln>
                <a:latin typeface="Arial" panose="020B0604020202020204" pitchFamily="34" charset="0"/>
              </a:rPr>
              <a:t>Highly vascular with </a:t>
            </a:r>
            <a:r>
              <a:rPr lang="en-US" altLang="en-US" sz="1800" b="1" cap="none" dirty="0">
                <a:ln>
                  <a:noFill/>
                </a:ln>
                <a:latin typeface="Arial" panose="020B0604020202020204" pitchFamily="34" charset="0"/>
              </a:rPr>
              <a:t>sinusoidal capillaries</a:t>
            </a:r>
            <a:br>
              <a:rPr lang="en-US" altLang="en-US" sz="1800" cap="none" dirty="0">
                <a:ln>
                  <a:noFill/>
                </a:ln>
                <a:latin typeface="Arial" panose="020B0604020202020204" pitchFamily="34" charset="0"/>
              </a:rPr>
            </a:br>
            <a:r>
              <a:rPr lang="en-US" altLang="en-US" sz="1800" cap="none" dirty="0">
                <a:ln>
                  <a:noFill/>
                </a:ln>
                <a:latin typeface="Arial" panose="020B0604020202020204" pitchFamily="34" charset="0"/>
              </a:rPr>
              <a:t>Contains </a:t>
            </a:r>
            <a:r>
              <a:rPr lang="en-US" altLang="en-US" sz="1800" b="1" cap="none" dirty="0">
                <a:ln>
                  <a:noFill/>
                </a:ln>
                <a:latin typeface="Arial" panose="020B0604020202020204" pitchFamily="34" charset="0"/>
              </a:rPr>
              <a:t>three types of cells</a:t>
            </a:r>
            <a:r>
              <a:rPr lang="en-US" altLang="en-US" sz="1800" cap="none" dirty="0">
                <a:ln>
                  <a:noFill/>
                </a:ln>
                <a:latin typeface="Arial" panose="020B0604020202020204" pitchFamily="34" charset="0"/>
              </a:rPr>
              <a:t> (based on staining):</a:t>
            </a:r>
            <a:endParaRPr lang="en-IN" sz="1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620D15-6B1F-0828-563C-D02BDD37187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2686209"/>
          <a:ext cx="10131426" cy="256032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2553182498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3606757956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96319829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Cell Type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Staining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Hormones Secreting Cells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75341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Chromophils (Acidophils)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Pink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Somatotrophs (GH), Lactotrophs (Prolactin)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59464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Chromophils (Basophils)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Purple/Blue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Gonadotrophs (FSH, LH), Thyrotrophs (TSH), Corticotrophs (ACTH)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0669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Chromophobes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Degranulated/inactive cells or stem cells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878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6575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ADBA7-872F-760D-FA47-A82015AFD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6D0EE-0021-ECDB-4C4E-4A79046CD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6" cy="1456267"/>
          </a:xfrm>
        </p:spPr>
        <p:txBody>
          <a:bodyPr>
            <a:normAutofit fontScale="90000"/>
          </a:bodyPr>
          <a:lstStyle/>
          <a:p>
            <a:r>
              <a:rPr lang="en-US" altLang="en-US" sz="4000" b="1" cap="none" dirty="0">
                <a:ln>
                  <a:noFill/>
                </a:ln>
                <a:latin typeface="Arial" panose="020B0604020202020204" pitchFamily="34" charset="0"/>
              </a:rPr>
              <a:t>Histology</a:t>
            </a:r>
            <a:br>
              <a:rPr lang="en-US" altLang="en-US" sz="2400" b="1" cap="none" dirty="0">
                <a:ln>
                  <a:noFill/>
                </a:ln>
                <a:latin typeface="Arial" panose="020B0604020202020204" pitchFamily="34" charset="0"/>
              </a:rPr>
            </a:br>
            <a:r>
              <a:rPr lang="en-IN" sz="1800" b="1" dirty="0">
                <a:latin typeface="Arial Rounded MT Bold" panose="020F0704030504030204" pitchFamily="34" charset="0"/>
              </a:rPr>
              <a:t>Posterior Pituitary (Neurohypophysis)</a:t>
            </a:r>
            <a:br>
              <a:rPr lang="en-IN" sz="1800" b="1" dirty="0">
                <a:latin typeface="Arial Rounded MT Bold" panose="020F0704030504030204" pitchFamily="34" charset="0"/>
              </a:rPr>
            </a:br>
            <a:r>
              <a:rPr lang="en-IN" sz="1800" dirty="0">
                <a:latin typeface="Arial Rounded MT Bold" panose="020F0704030504030204" pitchFamily="34" charset="0"/>
              </a:rPr>
              <a:t>Made up of:</a:t>
            </a:r>
            <a:br>
              <a:rPr lang="en-IN" sz="1800" dirty="0"/>
            </a:br>
            <a:endParaRPr lang="en-IN" sz="1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724292-5814-3502-7ACF-2A64174A7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Pituicytes</a:t>
            </a:r>
            <a:r>
              <a:rPr lang="en-IN" dirty="0"/>
              <a:t> (glial-like supporting cells)</a:t>
            </a:r>
            <a:br>
              <a:rPr lang="en-IN" dirty="0"/>
            </a:br>
            <a:r>
              <a:rPr lang="en-IN" b="1" dirty="0"/>
              <a:t>Nerve </a:t>
            </a:r>
            <a:r>
              <a:rPr lang="en-IN" b="1" dirty="0" err="1"/>
              <a:t>fibers</a:t>
            </a:r>
            <a:r>
              <a:rPr lang="en-IN" dirty="0"/>
              <a:t> (unmyelinated axons from hypothalamus)</a:t>
            </a:r>
            <a:br>
              <a:rPr lang="en-IN" dirty="0"/>
            </a:br>
            <a:r>
              <a:rPr lang="en-IN" b="1" dirty="0"/>
              <a:t>Herring bodies</a:t>
            </a:r>
            <a:r>
              <a:rPr lang="en-IN" dirty="0"/>
              <a:t> – dilated nerve endings storing </a:t>
            </a:r>
            <a:r>
              <a:rPr lang="en-IN" b="1" dirty="0"/>
              <a:t>ADH &amp; Oxytocin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8484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C9167-D456-C7E3-10CB-149AC2BF7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01F31-5D14-FE74-F2A3-381C7441C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6" cy="1456267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Applied Anatomy</a:t>
            </a:r>
            <a:br>
              <a:rPr lang="en-US" sz="4000" b="1" dirty="0"/>
            </a:br>
            <a:r>
              <a:rPr lang="en-US" sz="4000" b="1" dirty="0"/>
              <a:t>🔹 General Clinical Correlations</a:t>
            </a:r>
            <a:br>
              <a:rPr lang="en-IN" sz="1800" dirty="0">
                <a:latin typeface="Arial Rounded MT Bold" panose="020F0704030504030204" pitchFamily="34" charset="0"/>
              </a:rPr>
            </a:br>
            <a:br>
              <a:rPr lang="en-IN" sz="1800" dirty="0"/>
            </a:br>
            <a:endParaRPr lang="en-IN" sz="1800" dirty="0"/>
          </a:p>
        </p:txBody>
      </p:sp>
      <p:graphicFrame>
        <p:nvGraphicFramePr>
          <p:cNvPr id="64" name="Content Placeholder 63">
            <a:extLst>
              <a:ext uri="{FF2B5EF4-FFF2-40B4-BE49-F238E27FC236}">
                <a16:creationId xmlns:a16="http://schemas.microsoft.com/office/drawing/2014/main" id="{5EED6FF7-BA69-CE88-EDEB-B75DCCCBAD6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37495" y="2141538"/>
          <a:ext cx="9628035" cy="3649662"/>
        </p:xfrm>
        <a:graphic>
          <a:graphicData uri="http://schemas.openxmlformats.org/drawingml/2006/table">
            <a:tbl>
              <a:tblPr/>
              <a:tblGrid>
                <a:gridCol w="3209345">
                  <a:extLst>
                    <a:ext uri="{9D8B030D-6E8A-4147-A177-3AD203B41FA5}">
                      <a16:colId xmlns:a16="http://schemas.microsoft.com/office/drawing/2014/main" val="204119434"/>
                    </a:ext>
                  </a:extLst>
                </a:gridCol>
                <a:gridCol w="3209345">
                  <a:extLst>
                    <a:ext uri="{9D8B030D-6E8A-4147-A177-3AD203B41FA5}">
                      <a16:colId xmlns:a16="http://schemas.microsoft.com/office/drawing/2014/main" val="2196836503"/>
                    </a:ext>
                  </a:extLst>
                </a:gridCol>
                <a:gridCol w="3209345">
                  <a:extLst>
                    <a:ext uri="{9D8B030D-6E8A-4147-A177-3AD203B41FA5}">
                      <a16:colId xmlns:a16="http://schemas.microsoft.com/office/drawing/2014/main" val="939339693"/>
                    </a:ext>
                  </a:extLst>
                </a:gridCol>
              </a:tblGrid>
              <a:tr h="347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Condition</a:t>
                      </a:r>
                      <a:endParaRPr lang="en-IN" sz="1700"/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Cause</a:t>
                      </a:r>
                      <a:endParaRPr lang="en-IN" sz="1700"/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Effect</a:t>
                      </a:r>
                      <a:endParaRPr lang="en-IN" sz="1700"/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885954"/>
                  </a:ext>
                </a:extLst>
              </a:tr>
              <a:tr h="8689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Pituitary Adenoma</a:t>
                      </a:r>
                      <a:endParaRPr lang="en-IN" sz="1700"/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Benign tumor (commonly in anterior pituitary)</a:t>
                      </a:r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Visual field defects (bitemporal hemianopia due to optic chiasma compression), hormone excess</a:t>
                      </a:r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534332"/>
                  </a:ext>
                </a:extLst>
              </a:tr>
              <a:tr h="608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Hypopituitarism</a:t>
                      </a:r>
                      <a:endParaRPr lang="en-IN" sz="1700"/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Destruction of anterior lobe</a:t>
                      </a:r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Dwarfism, infertility, hypothyroidism</a:t>
                      </a:r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71157"/>
                  </a:ext>
                </a:extLst>
              </a:tr>
              <a:tr h="608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Hyperpituitarism</a:t>
                      </a:r>
                      <a:endParaRPr lang="en-IN" sz="1700"/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Overactivity</a:t>
                      </a:r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Gigantism (before epiphyseal fusion), Acromegaly (after fusion)</a:t>
                      </a:r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199234"/>
                  </a:ext>
                </a:extLst>
              </a:tr>
              <a:tr h="608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Sheehan Syndrome</a:t>
                      </a:r>
                      <a:endParaRPr lang="en-IN" sz="1700"/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Postpartum hemorrhage leading to ischemic necrosis</a:t>
                      </a:r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Failure of lactation, amenorrhea, pituitary failure</a:t>
                      </a:r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523914"/>
                  </a:ext>
                </a:extLst>
              </a:tr>
              <a:tr h="608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Craniopharyngioma</a:t>
                      </a:r>
                      <a:endParaRPr lang="en-IN" sz="1700"/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Tumor from remnants of Rathke’s pouch</a:t>
                      </a:r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Growth abnormalities in children</a:t>
                      </a:r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976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8758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A651F-6AA0-7E0A-DD85-A058AA05D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cap="none" dirty="0">
                <a:ln>
                  <a:noFill/>
                </a:ln>
                <a:latin typeface="Arial" panose="020B0604020202020204" pitchFamily="34" charset="0"/>
              </a:rPr>
              <a:t>🔹 Specific Hormone-Related Disorders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0AB5171-17B4-298A-1F2C-168EB015F22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2914809"/>
          <a:ext cx="10131426" cy="210312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4032953432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3575207920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98181418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Hormone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Hyposecretion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Hypersecretion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78752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Growth Hormone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Pituitary dwarfism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Gigantism/Acromegaly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32322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Prolactin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Failure of lactation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Galactorrhea, infertility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9857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ACTH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Secondary adrenal insufficiency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Cushing’s disease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538868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ADH (from posterior pituitary)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Diabetes insipidus (polyuria, polydipsia)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SIADH (water retention, hyponatremia)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5211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526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7D0D3-030B-0B06-989B-D3ED29ED8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821" y="3093720"/>
            <a:ext cx="10131425" cy="1456267"/>
          </a:xfrm>
        </p:spPr>
        <p:txBody>
          <a:bodyPr/>
          <a:lstStyle/>
          <a:p>
            <a:r>
              <a:rPr lang="en-US" dirty="0"/>
              <a:t>Thyroid gland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4638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89333-CB71-6ADB-561F-E475282EA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Situation / Location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BF4DA-0F94-A116-5582-D8D503A03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Located in </a:t>
            </a:r>
            <a:r>
              <a:rPr lang="en-US" b="1" dirty="0"/>
              <a:t>anterior neck</a:t>
            </a:r>
            <a:r>
              <a:rPr lang="en-US" dirty="0"/>
              <a:t> at the level of </a:t>
            </a:r>
            <a:r>
              <a:rPr lang="en-US" b="1" dirty="0"/>
              <a:t>C5–T1 vertebrae</a:t>
            </a:r>
            <a:endParaRPr lang="en-US" dirty="0"/>
          </a:p>
          <a:p>
            <a:r>
              <a:rPr lang="en-US" dirty="0"/>
              <a:t>Lies </a:t>
            </a:r>
            <a:r>
              <a:rPr lang="en-US" b="1" dirty="0"/>
              <a:t>below the larynx</a:t>
            </a:r>
            <a:r>
              <a:rPr lang="en-US" dirty="0"/>
              <a:t>, over </a:t>
            </a:r>
            <a:r>
              <a:rPr lang="en-US" b="1" dirty="0"/>
              <a:t>tracheal rings 2–4</a:t>
            </a:r>
            <a:endParaRPr lang="en-US" dirty="0"/>
          </a:p>
          <a:p>
            <a:r>
              <a:rPr lang="en-US" dirty="0"/>
              <a:t>Consists of:</a:t>
            </a:r>
          </a:p>
          <a:p>
            <a:pPr lvl="1"/>
            <a:r>
              <a:rPr lang="en-US" b="1" dirty="0"/>
              <a:t>Right lobe</a:t>
            </a:r>
            <a:endParaRPr lang="en-US" dirty="0"/>
          </a:p>
          <a:p>
            <a:pPr lvl="1"/>
            <a:r>
              <a:rPr lang="en-US" b="1" dirty="0"/>
              <a:t>Left lobe</a:t>
            </a:r>
            <a:endParaRPr lang="en-US" dirty="0"/>
          </a:p>
          <a:p>
            <a:pPr lvl="1"/>
            <a:r>
              <a:rPr lang="en-US" b="1" dirty="0"/>
              <a:t>Isthmus</a:t>
            </a:r>
            <a:r>
              <a:rPr lang="en-US" dirty="0"/>
              <a:t> (connects two lobes, lies over 2nd–4th tracheal rings)</a:t>
            </a:r>
          </a:p>
          <a:p>
            <a:pPr lvl="1"/>
            <a:r>
              <a:rPr lang="en-US" b="1" dirty="0"/>
              <a:t>Pyramidal lobe</a:t>
            </a:r>
            <a:r>
              <a:rPr lang="en-US" dirty="0"/>
              <a:t> (upward extension, remnant of thyroglossal duct) – </a:t>
            </a:r>
            <a:r>
              <a:rPr lang="en-US" i="1" dirty="0"/>
              <a:t>present in 50% cases</a:t>
            </a:r>
            <a:endParaRPr lang="en-US" dirty="0"/>
          </a:p>
          <a:p>
            <a:r>
              <a:rPr lang="en-US" b="1" dirty="0"/>
              <a:t>Weight</a:t>
            </a:r>
            <a:r>
              <a:rPr lang="en-US" dirty="0"/>
              <a:t>: 20–25g in adults; </a:t>
            </a:r>
            <a:r>
              <a:rPr lang="en-US" b="1" dirty="0"/>
              <a:t>larger in females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3484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10490-8CE7-D1A1-EE99-F29602D22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cap="none" dirty="0">
                <a:ln>
                  <a:noFill/>
                </a:ln>
                <a:latin typeface="Arial" panose="020B0604020202020204" pitchFamily="34" charset="0"/>
              </a:rPr>
              <a:t>Relations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4B3790-16CC-1226-54F6-ACC86DFF6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150428"/>
              </p:ext>
            </p:extLst>
          </p:nvPr>
        </p:nvGraphicFramePr>
        <p:xfrm>
          <a:off x="870995" y="2414694"/>
          <a:ext cx="10131424" cy="237744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348142627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202907852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Surface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Relations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288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Anterior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Strap muscles – </a:t>
                      </a:r>
                      <a:r>
                        <a:rPr lang="en-IN" sz="1800" i="1"/>
                        <a:t>Sternohyoid, sternothyroid, omohyoid,</a:t>
                      </a:r>
                      <a:r>
                        <a:rPr lang="en-IN" sz="1800"/>
                        <a:t> and </a:t>
                      </a:r>
                      <a:r>
                        <a:rPr lang="en-IN" sz="1800" i="1"/>
                        <a:t>skin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264079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Posterolateral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Carotid sheath</a:t>
                      </a:r>
                      <a:r>
                        <a:rPr lang="en-US" sz="1800"/>
                        <a:t> (CCA, IJV, vagus nerve)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63299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Medial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Trachea, esophagus, recurrent laryngeal nerve, cricothyroid muscle, inferior constrictor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934365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Posterior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Parathyroid glands</a:t>
                      </a:r>
                      <a:r>
                        <a:rPr lang="en-IN" sz="1800" dirty="0"/>
                        <a:t> (usually 4)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4523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8946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8C121-972D-8F7E-0BE1-3609EF47F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cap="none" dirty="0">
                <a:ln>
                  <a:noFill/>
                </a:ln>
                <a:latin typeface="Arial" panose="020B0604020202020204" pitchFamily="34" charset="0"/>
              </a:rPr>
              <a:t>Blood Supply</a:t>
            </a:r>
            <a:br>
              <a:rPr lang="en-US" altLang="en-US" b="1" cap="none" dirty="0">
                <a:ln>
                  <a:noFill/>
                </a:ln>
                <a:latin typeface="Arial" panose="020B0604020202020204" pitchFamily="34" charset="0"/>
              </a:rPr>
            </a:br>
            <a:r>
              <a:rPr lang="en-US" altLang="en-US" b="1" cap="none" dirty="0">
                <a:ln>
                  <a:noFill/>
                </a:ln>
                <a:latin typeface="Arial" panose="020B0604020202020204" pitchFamily="34" charset="0"/>
              </a:rPr>
              <a:t>Arterial</a:t>
            </a:r>
            <a:br>
              <a:rPr lang="en-US" altLang="en-US" b="1" cap="none" dirty="0">
                <a:ln>
                  <a:noFill/>
                </a:ln>
                <a:latin typeface="Arial" panose="020B0604020202020204" pitchFamily="34" charset="0"/>
              </a:rPr>
            </a:br>
            <a:r>
              <a:rPr lang="en-US" altLang="en-US" b="1" cap="none" dirty="0">
                <a:ln>
                  <a:noFill/>
                </a:ln>
                <a:latin typeface="Arial" panose="020B0604020202020204" pitchFamily="34" charset="0"/>
              </a:rPr>
              <a:t>Venous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BCEB0E-DD47-1E32-B456-EAF6964331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1323480"/>
              </p:ext>
            </p:extLst>
          </p:nvPr>
        </p:nvGraphicFramePr>
        <p:xfrm>
          <a:off x="685801" y="4117997"/>
          <a:ext cx="10131426" cy="201168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311377990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4128113875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60637285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Artery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Supplies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4442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Superior thyroid artery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External carotid artery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Upper pole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66502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Inferior thyroid artery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Thyrocervical trunk (from subclavian)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Lower pole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92511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 err="1"/>
                        <a:t>Thyroidea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dirty="0" err="1"/>
                        <a:t>ima</a:t>
                      </a:r>
                      <a:r>
                        <a:rPr lang="en-US" sz="1800" b="1" dirty="0"/>
                        <a:t> artery</a:t>
                      </a:r>
                      <a:r>
                        <a:rPr lang="en-US" sz="1800" dirty="0"/>
                        <a:t> (</a:t>
                      </a:r>
                      <a:r>
                        <a:rPr lang="en-US" sz="1800" i="1" dirty="0"/>
                        <a:t>in 10% cases</a:t>
                      </a:r>
                      <a:r>
                        <a:rPr lang="en-US" sz="18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From aorta/brachiocephalic trunk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Isthmus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519397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6E554049-2490-9349-3684-26AC658C3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400" y="2343585"/>
            <a:ext cx="5487400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Superior thyroid vein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Internal jugular vein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 thyroid vein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Internal jugular vein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Inferior thyroid vein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Brachiocephalic vein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157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29377-6877-203E-6104-5A81A9EB2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cap="none" dirty="0">
                <a:ln>
                  <a:noFill/>
                </a:ln>
                <a:latin typeface="Arial" panose="020B0604020202020204" pitchFamily="34" charset="0"/>
              </a:rPr>
              <a:t>Lymphatic Drainage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8E8165-F10D-EA21-3B79-7AC239616D3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3417729"/>
          <a:ext cx="10131424" cy="109728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1802060592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138662552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Region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Drainage to Lymph Nodes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3762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Upper pole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Prelaryngeal (Delphian node)</a:t>
                      </a:r>
                      <a:r>
                        <a:rPr lang="en-US" sz="1800"/>
                        <a:t> → Deep cervical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47671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Lower pole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 err="1"/>
                        <a:t>Pretracheal</a:t>
                      </a:r>
                      <a:r>
                        <a:rPr lang="en-US" sz="1800" b="1" dirty="0"/>
                        <a:t> &amp; paratracheal nodes</a:t>
                      </a:r>
                      <a:r>
                        <a:rPr lang="en-US" sz="1800" dirty="0"/>
                        <a:t> → Deep cervical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035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9594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8E670-7FB2-4E84-8197-612D0D80E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Nerve Supply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C9BB4-6497-A796-666C-E9B8E51C7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Sympathetic</a:t>
            </a:r>
            <a:r>
              <a:rPr lang="en-IN" dirty="0"/>
              <a:t>: Cervical sympathetic ganglia (vasomotor only)</a:t>
            </a:r>
          </a:p>
          <a:p>
            <a:r>
              <a:rPr lang="en-IN" b="1" dirty="0"/>
              <a:t>Parasympathetic/Hormonal control</a:t>
            </a:r>
            <a:r>
              <a:rPr lang="en-IN" dirty="0"/>
              <a:t>: </a:t>
            </a:r>
            <a:r>
              <a:rPr lang="en-IN" b="1" dirty="0"/>
              <a:t>No direct parasympathetic</a:t>
            </a:r>
            <a:r>
              <a:rPr lang="en-IN" dirty="0"/>
              <a:t> – hormone secretion controlled by </a:t>
            </a:r>
            <a:r>
              <a:rPr lang="en-IN" b="1" dirty="0"/>
              <a:t>TSH from pituitary</a:t>
            </a:r>
            <a:endParaRPr lang="en-IN" dirty="0"/>
          </a:p>
          <a:p>
            <a:r>
              <a:rPr lang="en-IN" b="1" dirty="0"/>
              <a:t>Surgical importance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External branch of superior laryngeal nerve</a:t>
            </a:r>
            <a:r>
              <a:rPr lang="en-IN" dirty="0"/>
              <a:t> → close to </a:t>
            </a:r>
            <a:r>
              <a:rPr lang="en-IN" b="1" dirty="0"/>
              <a:t>superior thyroid artery</a:t>
            </a:r>
            <a:r>
              <a:rPr lang="en-IN" dirty="0"/>
              <a:t> (supplies </a:t>
            </a:r>
            <a:r>
              <a:rPr lang="en-IN" b="1" dirty="0"/>
              <a:t>cricothyroid muscle</a:t>
            </a:r>
            <a:r>
              <a:rPr lang="en-IN" dirty="0"/>
              <a:t> → controls pitch)</a:t>
            </a:r>
          </a:p>
          <a:p>
            <a:pPr lvl="1"/>
            <a:r>
              <a:rPr lang="en-IN" b="1" dirty="0"/>
              <a:t>Recurrent laryngeal nerve</a:t>
            </a:r>
            <a:r>
              <a:rPr lang="en-IN" dirty="0"/>
              <a:t> → runs behind </a:t>
            </a:r>
            <a:r>
              <a:rPr lang="en-IN" b="1" dirty="0"/>
              <a:t>ligament of Berry</a:t>
            </a:r>
            <a:r>
              <a:rPr lang="en-IN" dirty="0"/>
              <a:t>, close to </a:t>
            </a:r>
            <a:r>
              <a:rPr lang="en-IN" b="1" dirty="0"/>
              <a:t>inferior thyroid artery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32177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254E-FD2C-A791-0B3C-FD20D13FD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Histology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0A2B4-5513-FB4D-EE0C-E662908FB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Covered by </a:t>
            </a:r>
            <a:r>
              <a:rPr lang="en-IN" b="1" dirty="0"/>
              <a:t>fibrous capsule → septa → lobules</a:t>
            </a:r>
            <a:endParaRPr lang="en-IN" dirty="0"/>
          </a:p>
          <a:p>
            <a:r>
              <a:rPr lang="en-IN" dirty="0"/>
              <a:t>Each lobule contains </a:t>
            </a:r>
            <a:r>
              <a:rPr lang="en-IN" b="1" dirty="0"/>
              <a:t>thyroid follicles</a:t>
            </a:r>
            <a:endParaRPr lang="en-IN" dirty="0"/>
          </a:p>
          <a:p>
            <a:r>
              <a:rPr lang="en-IN" b="1" dirty="0"/>
              <a:t>Thyroid follicle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Lined by </a:t>
            </a:r>
            <a:r>
              <a:rPr lang="en-IN" b="1" dirty="0"/>
              <a:t>simple cuboidal epithelium</a:t>
            </a:r>
            <a:endParaRPr lang="en-IN" dirty="0"/>
          </a:p>
          <a:p>
            <a:pPr lvl="1"/>
            <a:r>
              <a:rPr lang="en-IN" dirty="0"/>
              <a:t>Filled with </a:t>
            </a:r>
            <a:r>
              <a:rPr lang="en-IN" b="1" dirty="0"/>
              <a:t>colloid (thyroglobulin)</a:t>
            </a:r>
            <a:endParaRPr lang="en-IN" dirty="0"/>
          </a:p>
          <a:p>
            <a:r>
              <a:rPr lang="en-IN" b="1" dirty="0"/>
              <a:t>Parafollicular (C cells)</a:t>
            </a:r>
            <a:r>
              <a:rPr lang="en-IN" dirty="0"/>
              <a:t> → secrete </a:t>
            </a:r>
            <a:r>
              <a:rPr lang="en-IN" b="1" dirty="0"/>
              <a:t>Calcitonin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0973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A71F1-6D62-8525-1BF4-73DAA03D9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cap="none" dirty="0">
                <a:ln>
                  <a:noFill/>
                </a:ln>
                <a:latin typeface="Arial" panose="020B0604020202020204" pitchFamily="34" charset="0"/>
              </a:rPr>
              <a:t>Applied Anatomy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AE94390-808A-9BA8-FE73-A321140B0EA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37494" y="2141538"/>
          <a:ext cx="9628036" cy="3649663"/>
        </p:xfrm>
        <a:graphic>
          <a:graphicData uri="http://schemas.openxmlformats.org/drawingml/2006/table">
            <a:tbl>
              <a:tblPr/>
              <a:tblGrid>
                <a:gridCol w="4814018">
                  <a:extLst>
                    <a:ext uri="{9D8B030D-6E8A-4147-A177-3AD203B41FA5}">
                      <a16:colId xmlns:a16="http://schemas.microsoft.com/office/drawing/2014/main" val="789044806"/>
                    </a:ext>
                  </a:extLst>
                </a:gridCol>
                <a:gridCol w="4814018">
                  <a:extLst>
                    <a:ext uri="{9D8B030D-6E8A-4147-A177-3AD203B41FA5}">
                      <a16:colId xmlns:a16="http://schemas.microsoft.com/office/drawing/2014/main" val="3076724076"/>
                    </a:ext>
                  </a:extLst>
                </a:gridCol>
              </a:tblGrid>
              <a:tr h="347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Condition</a:t>
                      </a:r>
                      <a:endParaRPr lang="en-IN" sz="1700"/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Description / Effects</a:t>
                      </a:r>
                      <a:endParaRPr lang="en-IN" sz="1700"/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801141"/>
                  </a:ext>
                </a:extLst>
              </a:tr>
              <a:tr h="347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Goiter</a:t>
                      </a:r>
                      <a:endParaRPr lang="en-IN" sz="1700"/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Enlargement due to iodine deficiency</a:t>
                      </a:r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782182"/>
                  </a:ext>
                </a:extLst>
              </a:tr>
              <a:tr h="347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Graves' Disease</a:t>
                      </a:r>
                      <a:endParaRPr lang="en-IN" sz="1700"/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Autoimmune hyperthyroidism</a:t>
                      </a:r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527328"/>
                  </a:ext>
                </a:extLst>
              </a:tr>
              <a:tr h="347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Hashimoto’s Thyroiditis</a:t>
                      </a:r>
                      <a:endParaRPr lang="en-IN" sz="1700"/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Autoimmune hypothyroidism</a:t>
                      </a:r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444179"/>
                  </a:ext>
                </a:extLst>
              </a:tr>
              <a:tr h="347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Thyroglossal cyst/fistula</a:t>
                      </a:r>
                      <a:endParaRPr lang="en-IN" sz="1700"/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Remnant of thyroglossal duct</a:t>
                      </a:r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697398"/>
                  </a:ext>
                </a:extLst>
              </a:tr>
              <a:tr h="608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Thyroidectomy complication</a:t>
                      </a:r>
                      <a:endParaRPr lang="en-IN" sz="1700"/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Injury to </a:t>
                      </a:r>
                      <a:r>
                        <a:rPr lang="en-US" sz="1700" b="1"/>
                        <a:t>recurrent laryngeal nerve</a:t>
                      </a:r>
                      <a:r>
                        <a:rPr lang="en-US" sz="1700"/>
                        <a:t> → hoarseness of voice</a:t>
                      </a:r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650829"/>
                  </a:ext>
                </a:extLst>
              </a:tr>
              <a:tr h="347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Tetany after surgery</a:t>
                      </a:r>
                      <a:endParaRPr lang="en-IN" sz="1700"/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Accidental removal of parathyroid glands → ↓Ca²⁺</a:t>
                      </a:r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201201"/>
                  </a:ext>
                </a:extLst>
              </a:tr>
              <a:tr h="347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Thyroid storm</a:t>
                      </a:r>
                      <a:endParaRPr lang="en-IN" sz="1700"/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Acute hyperthyroid crisis (medical emergency)</a:t>
                      </a:r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2971506"/>
                  </a:ext>
                </a:extLst>
              </a:tr>
              <a:tr h="608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Carcinoma</a:t>
                      </a:r>
                      <a:endParaRPr lang="en-IN" sz="1700"/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Papillary (most common), Follicular, Medullary (from C cells – secretes calcitonin)</a:t>
                      </a:r>
                    </a:p>
                  </a:txBody>
                  <a:tcPr marL="86897" marR="86897" marT="43448" marB="43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584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6848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3C56F-D864-3F9E-0309-665E3C108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674" y="2612020"/>
            <a:ext cx="10131425" cy="1456267"/>
          </a:xfrm>
        </p:spPr>
        <p:txBody>
          <a:bodyPr/>
          <a:lstStyle/>
          <a:p>
            <a:r>
              <a:rPr lang="en-US" dirty="0"/>
              <a:t>Parathyroid glands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7131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68C1D-B326-4A74-8198-7FF3AA173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cap="none" dirty="0">
                <a:ln>
                  <a:noFill/>
                </a:ln>
                <a:latin typeface="Arial" panose="020B0604020202020204" pitchFamily="34" charset="0"/>
              </a:rPr>
              <a:t>Situation / Location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349B3F-13C4-68C5-93A5-7513B9D11C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4902263"/>
              </p:ext>
            </p:extLst>
          </p:nvPr>
        </p:nvGraphicFramePr>
        <p:xfrm>
          <a:off x="685802" y="4219855"/>
          <a:ext cx="10131424" cy="164592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47384677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233381129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Type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Location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35649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Superior parathyroid glands (2)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Constant position → near the middle of posterior border of thyroid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01410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Inferior parathyroid glands (2)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Variable → near inferior pole or sometimes within thymus or mediastinum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23665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E48882D3-DAC5-FBBE-0663-E375EDAD3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423" y="2412664"/>
            <a:ext cx="989565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Small, oval, yellowish-brown glands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located on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posterior surface of the thyroid gland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Usually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 in number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(can vary 2–6)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weighs about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30–40 mg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963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605F6-9594-E150-B0C7-5B0EF7964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Blood Supply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AAC37-36EA-582B-48D3-988C7CFAB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Arterial Supply</a:t>
            </a:r>
          </a:p>
          <a:p>
            <a:r>
              <a:rPr lang="en-IN" b="1" dirty="0"/>
              <a:t>Inferior thyroid artery</a:t>
            </a:r>
            <a:r>
              <a:rPr lang="en-IN" dirty="0"/>
              <a:t> (main source)</a:t>
            </a:r>
          </a:p>
          <a:p>
            <a:r>
              <a:rPr lang="en-IN" dirty="0"/>
              <a:t>Also small branches from </a:t>
            </a:r>
            <a:r>
              <a:rPr lang="en-IN" b="1" dirty="0"/>
              <a:t>superior thyroid artery</a:t>
            </a:r>
            <a:endParaRPr lang="en-IN" dirty="0"/>
          </a:p>
          <a:p>
            <a:r>
              <a:rPr lang="en-IN" dirty="0"/>
              <a:t>🔥 </a:t>
            </a:r>
            <a:r>
              <a:rPr lang="en-IN" b="1" dirty="0"/>
              <a:t>Surgical relevance</a:t>
            </a:r>
            <a:r>
              <a:rPr lang="en-IN" dirty="0"/>
              <a:t> → Careless ligation of inferior thyroid artery → may damage parathyroid blood supply → </a:t>
            </a:r>
            <a:r>
              <a:rPr lang="en-IN" b="1" dirty="0"/>
              <a:t>postoperative tetany</a:t>
            </a:r>
            <a:endParaRPr lang="en-IN" dirty="0"/>
          </a:p>
          <a:p>
            <a:r>
              <a:rPr lang="en-IN" b="1" dirty="0"/>
              <a:t>Venous Drainage</a:t>
            </a:r>
          </a:p>
          <a:p>
            <a:r>
              <a:rPr lang="en-IN" dirty="0"/>
              <a:t>→ </a:t>
            </a:r>
            <a:r>
              <a:rPr lang="en-IN" b="1" dirty="0"/>
              <a:t>Thyroid veins</a:t>
            </a:r>
            <a:r>
              <a:rPr lang="en-IN" dirty="0"/>
              <a:t> → </a:t>
            </a:r>
            <a:r>
              <a:rPr lang="en-IN" b="1" dirty="0"/>
              <a:t>Internal jugular vein &amp; brachiocephalic vein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4927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76BE0-6CD9-7828-11F6-2501D927A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Nerve supply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AA168-5677-C84B-3AEA-F3F30083C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Sympathetic fibers</a:t>
            </a:r>
            <a:r>
              <a:rPr lang="en-US" dirty="0"/>
              <a:t> from </a:t>
            </a:r>
            <a:r>
              <a:rPr lang="en-US" b="1" dirty="0"/>
              <a:t>middle and inferior cervical ganglia</a:t>
            </a:r>
            <a:endParaRPr lang="en-US" dirty="0"/>
          </a:p>
          <a:p>
            <a:r>
              <a:rPr lang="en-US" b="1" dirty="0"/>
              <a:t>Function is NOT controlled by nerves</a:t>
            </a:r>
            <a:r>
              <a:rPr lang="en-US" dirty="0"/>
              <a:t> — directly regulated by </a:t>
            </a:r>
            <a:r>
              <a:rPr lang="en-US" b="1" dirty="0"/>
              <a:t>serum calcium levels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5509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3D490-4C8F-80E0-E359-820808726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cap="none" dirty="0">
                <a:ln>
                  <a:noFill/>
                </a:ln>
                <a:latin typeface="Arial" panose="020B0604020202020204" pitchFamily="34" charset="0"/>
              </a:rPr>
              <a:t>Histology</a:t>
            </a:r>
            <a:br>
              <a:rPr lang="en-US" altLang="en-US" b="1" cap="none" dirty="0">
                <a:ln>
                  <a:noFill/>
                </a:ln>
                <a:latin typeface="Arial" panose="020B0604020202020204" pitchFamily="34" charset="0"/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68F166A-FF4D-C570-91C2-02F751F920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7713340"/>
              </p:ext>
            </p:extLst>
          </p:nvPr>
        </p:nvGraphicFramePr>
        <p:xfrm>
          <a:off x="685800" y="4220497"/>
          <a:ext cx="10131426" cy="164592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1987932014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345153745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114558267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Cell Type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Appearance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Function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34357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Chief cells (Principal cells)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Pale, small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Secrete </a:t>
                      </a:r>
                      <a:r>
                        <a:rPr lang="en-IN" sz="1800" b="1"/>
                        <a:t>Parathyroid Hormone (PTH)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93630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Oxyphil cells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Larger, eosinophilic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Function unclear (appear after puberty)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12297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C1EA0ED-3832-97E2-58E4-41EE4AB42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709" y="1727538"/>
            <a:ext cx="580069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Thin connective tissue capsule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major types of cells: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PTH Function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Increases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blood calcium level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↑ Bone resorption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↑ Calcium reabsorption in kidney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↑ Activation of Vitamin D → ↑ intestinal absorption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0119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995D-B6B5-B51F-B27C-19EDF9092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Applied anatomy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8575AA-5C83-0902-C5E9-0EADB180810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2183289"/>
          <a:ext cx="10131424" cy="356616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2449529007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230112387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Condition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Description / Effects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30548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Hyperparathyroidism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Excess PTH → </a:t>
                      </a:r>
                      <a:r>
                        <a:rPr lang="en-US" sz="1800" b="1"/>
                        <a:t>Bone resorption, kidney stones ("bone, stone, abdominal groan")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36714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Hypoparathyroidism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↓ PTH → </a:t>
                      </a:r>
                      <a:r>
                        <a:rPr lang="en-IN" sz="1800" b="1"/>
                        <a:t>Hypocalcemia → Tetany, positive Chvostek &amp; Trousseau sign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392762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Accidental removal</a:t>
                      </a:r>
                      <a:r>
                        <a:rPr lang="en-US" sz="1800"/>
                        <a:t> during </a:t>
                      </a:r>
                      <a:r>
                        <a:rPr lang="en-US" sz="1800" b="1"/>
                        <a:t>thyroid surgery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Leads to </a:t>
                      </a:r>
                      <a:r>
                        <a:rPr lang="en-US" sz="1800" b="1"/>
                        <a:t>tetany</a:t>
                      </a:r>
                      <a:r>
                        <a:rPr lang="en-US" sz="1800"/>
                        <a:t> due to calcium fall → </a:t>
                      </a:r>
                      <a:r>
                        <a:rPr lang="en-US" sz="1800" b="1"/>
                        <a:t>lifesaving calcium infusion needed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35502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Parathyroid adenoma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Most common cause of primary hyperparathyroidism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43174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Ectopic parathyroid glands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Especially </a:t>
                      </a:r>
                      <a:r>
                        <a:rPr lang="en-US" sz="1800" b="1" dirty="0"/>
                        <a:t>inferior glands</a:t>
                      </a:r>
                      <a:r>
                        <a:rPr lang="en-US" sz="1800" dirty="0"/>
                        <a:t> → found in </a:t>
                      </a:r>
                      <a:r>
                        <a:rPr lang="en-US" sz="1800" b="1" dirty="0"/>
                        <a:t>thymus</a:t>
                      </a:r>
                      <a:r>
                        <a:rPr lang="en-US" sz="1800" dirty="0"/>
                        <a:t> or </a:t>
                      </a:r>
                      <a:r>
                        <a:rPr lang="en-US" sz="1800" b="1" dirty="0"/>
                        <a:t>mediastinum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275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58238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5F3E7-651E-0E5C-62BF-BC0F9B3FB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6" y="2800350"/>
            <a:ext cx="10131425" cy="1456267"/>
          </a:xfrm>
        </p:spPr>
        <p:txBody>
          <a:bodyPr/>
          <a:lstStyle/>
          <a:p>
            <a:r>
              <a:rPr lang="en-IN" dirty="0"/>
              <a:t>Suprarenal Gland (Adrenal Gland)</a:t>
            </a:r>
          </a:p>
        </p:txBody>
      </p:sp>
    </p:spTree>
    <p:extLst>
      <p:ext uri="{BB962C8B-B14F-4D97-AF65-F5344CB8AC3E}">
        <p14:creationId xmlns:p14="http://schemas.microsoft.com/office/powerpoint/2010/main" val="4600594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3E329-BEF1-E226-9B8F-2648C3FCF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Situation / Location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6F160-6B24-01FF-E9B9-FB02EBA04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Pair of </a:t>
            </a:r>
            <a:r>
              <a:rPr lang="en-IN" b="1" dirty="0"/>
              <a:t>endocrine glands</a:t>
            </a:r>
            <a:r>
              <a:rPr lang="en-IN" dirty="0"/>
              <a:t> located on the </a:t>
            </a:r>
            <a:r>
              <a:rPr lang="en-IN" b="1" dirty="0"/>
              <a:t>superior poles of kidneys</a:t>
            </a:r>
            <a:endParaRPr lang="en-IN" dirty="0"/>
          </a:p>
          <a:p>
            <a:r>
              <a:rPr lang="en-IN" b="1" dirty="0"/>
              <a:t>Right gland</a:t>
            </a:r>
            <a:r>
              <a:rPr lang="en-IN" dirty="0"/>
              <a:t> → </a:t>
            </a:r>
            <a:r>
              <a:rPr lang="en-IN" b="1" dirty="0"/>
              <a:t>Triangular / pyramidal</a:t>
            </a:r>
            <a:r>
              <a:rPr lang="en-IN" dirty="0"/>
              <a:t>, lies </a:t>
            </a:r>
            <a:r>
              <a:rPr lang="en-IN" b="1" dirty="0"/>
              <a:t>behind IVC</a:t>
            </a:r>
            <a:endParaRPr lang="en-IN" dirty="0"/>
          </a:p>
          <a:p>
            <a:r>
              <a:rPr lang="en-IN" b="1" dirty="0"/>
              <a:t>Left gland</a:t>
            </a:r>
            <a:r>
              <a:rPr lang="en-IN" dirty="0"/>
              <a:t> → </a:t>
            </a:r>
            <a:r>
              <a:rPr lang="en-IN" b="1" dirty="0"/>
              <a:t>Crescent / semilunar</a:t>
            </a:r>
            <a:r>
              <a:rPr lang="en-IN" dirty="0"/>
              <a:t>, lies </a:t>
            </a:r>
            <a:r>
              <a:rPr lang="en-IN" b="1" dirty="0"/>
              <a:t>behind stomach &amp; pancreas</a:t>
            </a:r>
            <a:endParaRPr lang="en-IN" dirty="0"/>
          </a:p>
          <a:p>
            <a:r>
              <a:rPr lang="en-IN" dirty="0"/>
              <a:t>Located at the level of </a:t>
            </a:r>
            <a:r>
              <a:rPr lang="en-IN" b="1" dirty="0"/>
              <a:t>T11–L1 vertebrae</a:t>
            </a:r>
            <a:endParaRPr lang="en-IN" dirty="0"/>
          </a:p>
          <a:p>
            <a:r>
              <a:rPr lang="en-IN" dirty="0"/>
              <a:t>Each gland weighs </a:t>
            </a:r>
            <a:r>
              <a:rPr lang="en-IN" b="1" dirty="0"/>
              <a:t>4–6 grams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45880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A63D2-18BE-4436-B6F2-2766AB677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cap="none" dirty="0">
                <a:ln>
                  <a:noFill/>
                </a:ln>
                <a:latin typeface="Arial" panose="020B0604020202020204" pitchFamily="34" charset="0"/>
              </a:rPr>
              <a:t>Shape &amp; Relations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DC71036-3F83-914B-060E-A2AE0BFE82E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3280569"/>
          <a:ext cx="10131424" cy="1371600"/>
        </p:xfrm>
        <a:graphic>
          <a:graphicData uri="http://schemas.openxmlformats.org/drawingml/2006/table">
            <a:tbl>
              <a:tblPr/>
              <a:tblGrid>
                <a:gridCol w="2532856">
                  <a:extLst>
                    <a:ext uri="{9D8B030D-6E8A-4147-A177-3AD203B41FA5}">
                      <a16:colId xmlns:a16="http://schemas.microsoft.com/office/drawing/2014/main" val="812578669"/>
                    </a:ext>
                  </a:extLst>
                </a:gridCol>
                <a:gridCol w="2532856">
                  <a:extLst>
                    <a:ext uri="{9D8B030D-6E8A-4147-A177-3AD203B41FA5}">
                      <a16:colId xmlns:a16="http://schemas.microsoft.com/office/drawing/2014/main" val="1495756865"/>
                    </a:ext>
                  </a:extLst>
                </a:gridCol>
                <a:gridCol w="2532856">
                  <a:extLst>
                    <a:ext uri="{9D8B030D-6E8A-4147-A177-3AD203B41FA5}">
                      <a16:colId xmlns:a16="http://schemas.microsoft.com/office/drawing/2014/main" val="1275657763"/>
                    </a:ext>
                  </a:extLst>
                </a:gridCol>
                <a:gridCol w="2532856">
                  <a:extLst>
                    <a:ext uri="{9D8B030D-6E8A-4147-A177-3AD203B41FA5}">
                      <a16:colId xmlns:a16="http://schemas.microsoft.com/office/drawing/2014/main" val="336508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Gland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Shape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Anterior Relations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Posterior Relations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5762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Right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Pyramidal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Right lobe of liver, IVC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Diaphragm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18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Left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Semilunar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Stomach, pancreas, spleen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Diaphragm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663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30453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A56B4-41F5-5711-D2F4-C3B304CAC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Capsule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8D21E-1205-E87D-912F-A987980D0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Covered by </a:t>
            </a:r>
            <a:r>
              <a:rPr lang="en-US" b="1" dirty="0"/>
              <a:t>true capsule</a:t>
            </a:r>
            <a:r>
              <a:rPr lang="en-US" dirty="0"/>
              <a:t> (from gland tissue) and </a:t>
            </a:r>
            <a:r>
              <a:rPr lang="en-US" b="1" dirty="0"/>
              <a:t>false capsule</a:t>
            </a:r>
            <a:r>
              <a:rPr lang="en-US" dirty="0"/>
              <a:t> (from </a:t>
            </a:r>
            <a:r>
              <a:rPr lang="en-US" dirty="0" err="1"/>
              <a:t>Gerota's</a:t>
            </a:r>
            <a:r>
              <a:rPr lang="en-US" dirty="0"/>
              <a:t> fascia / renal fascia)</a:t>
            </a:r>
          </a:p>
          <a:p>
            <a:r>
              <a:rPr lang="en-US" dirty="0"/>
              <a:t>Separated from kidney by </a:t>
            </a:r>
            <a:r>
              <a:rPr lang="en-US" b="1" dirty="0"/>
              <a:t>perirenal fat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22254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D9BE-70A7-FE46-BCF6-A7EE3968E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cap="none" dirty="0">
                <a:ln>
                  <a:noFill/>
                </a:ln>
                <a:latin typeface="Arial" panose="020B0604020202020204" pitchFamily="34" charset="0"/>
              </a:rPr>
              <a:t>Structure (Two Distinct Parts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9BC357-5764-BEA0-7445-1BDA47198C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0301636"/>
              </p:ext>
            </p:extLst>
          </p:nvPr>
        </p:nvGraphicFramePr>
        <p:xfrm>
          <a:off x="847725" y="3295809"/>
          <a:ext cx="10131424" cy="1645920"/>
        </p:xfrm>
        <a:graphic>
          <a:graphicData uri="http://schemas.openxmlformats.org/drawingml/2006/table">
            <a:tbl>
              <a:tblPr/>
              <a:tblGrid>
                <a:gridCol w="2532856">
                  <a:extLst>
                    <a:ext uri="{9D8B030D-6E8A-4147-A177-3AD203B41FA5}">
                      <a16:colId xmlns:a16="http://schemas.microsoft.com/office/drawing/2014/main" val="844219084"/>
                    </a:ext>
                  </a:extLst>
                </a:gridCol>
                <a:gridCol w="2532856">
                  <a:extLst>
                    <a:ext uri="{9D8B030D-6E8A-4147-A177-3AD203B41FA5}">
                      <a16:colId xmlns:a16="http://schemas.microsoft.com/office/drawing/2014/main" val="3402116650"/>
                    </a:ext>
                  </a:extLst>
                </a:gridCol>
                <a:gridCol w="2532856">
                  <a:extLst>
                    <a:ext uri="{9D8B030D-6E8A-4147-A177-3AD203B41FA5}">
                      <a16:colId xmlns:a16="http://schemas.microsoft.com/office/drawing/2014/main" val="3117176141"/>
                    </a:ext>
                  </a:extLst>
                </a:gridCol>
                <a:gridCol w="2532856">
                  <a:extLst>
                    <a:ext uri="{9D8B030D-6E8A-4147-A177-3AD203B41FA5}">
                      <a16:colId xmlns:a16="http://schemas.microsoft.com/office/drawing/2014/main" val="39084743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Part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Origin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Appearance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Hormones Secreted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0256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Cortex (Outer 90%)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Mesoderm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Yellowish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Steroid hormones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19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Medulla (Inner 10%)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Neural crest (ectoderm)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Dark brown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Catecholamines (Adrenaline &amp; Noradrenaline)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642995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9D00C24-08B7-6324-88C3-71CD6720F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104001"/>
            <a:ext cx="235962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4725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A4D19-201B-C669-B77B-26BA19CB9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cap="none" dirty="0">
                <a:ln>
                  <a:noFill/>
                </a:ln>
                <a:latin typeface="Arial" panose="020B0604020202020204" pitchFamily="34" charset="0"/>
              </a:rPr>
              <a:t>Cortex Zones &amp; Secretions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A9F493-75E4-A83E-1D72-0D59D4D9178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2823369"/>
          <a:ext cx="10131424" cy="2286000"/>
        </p:xfrm>
        <a:graphic>
          <a:graphicData uri="http://schemas.openxmlformats.org/drawingml/2006/table">
            <a:tbl>
              <a:tblPr/>
              <a:tblGrid>
                <a:gridCol w="2532856">
                  <a:extLst>
                    <a:ext uri="{9D8B030D-6E8A-4147-A177-3AD203B41FA5}">
                      <a16:colId xmlns:a16="http://schemas.microsoft.com/office/drawing/2014/main" val="1771622677"/>
                    </a:ext>
                  </a:extLst>
                </a:gridCol>
                <a:gridCol w="2532856">
                  <a:extLst>
                    <a:ext uri="{9D8B030D-6E8A-4147-A177-3AD203B41FA5}">
                      <a16:colId xmlns:a16="http://schemas.microsoft.com/office/drawing/2014/main" val="1018365073"/>
                    </a:ext>
                  </a:extLst>
                </a:gridCol>
                <a:gridCol w="2532856">
                  <a:extLst>
                    <a:ext uri="{9D8B030D-6E8A-4147-A177-3AD203B41FA5}">
                      <a16:colId xmlns:a16="http://schemas.microsoft.com/office/drawing/2014/main" val="1323467362"/>
                    </a:ext>
                  </a:extLst>
                </a:gridCol>
                <a:gridCol w="2532856">
                  <a:extLst>
                    <a:ext uri="{9D8B030D-6E8A-4147-A177-3AD203B41FA5}">
                      <a16:colId xmlns:a16="http://schemas.microsoft.com/office/drawing/2014/main" val="1898349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Zone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Mnemonic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Hormone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Function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242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Zona Glomerulosa</a:t>
                      </a:r>
                      <a:r>
                        <a:rPr lang="en-IN"/>
                        <a:t> (outermost)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</a:t>
                      </a:r>
                      <a:r>
                        <a:rPr lang="en-IN"/>
                        <a:t> → "Salt"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Aldosterone</a:t>
                      </a:r>
                      <a:r>
                        <a:rPr lang="en-IN"/>
                        <a:t> (mineralocorticoid)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Na⁺ retention → BP regulation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155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Zona Fasciculata</a:t>
                      </a:r>
                      <a:r>
                        <a:rPr lang="en-IN"/>
                        <a:t> (middle, thickest)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</a:t>
                      </a:r>
                      <a:r>
                        <a:rPr lang="en-IN"/>
                        <a:t> → "Sugar"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Cortisol</a:t>
                      </a:r>
                      <a:r>
                        <a:rPr lang="en-IN"/>
                        <a:t> (glucocorticoid)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Stress, metabolism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574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Zona Reticularis</a:t>
                      </a:r>
                      <a:r>
                        <a:rPr lang="en-IN"/>
                        <a:t> (innermost)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</a:t>
                      </a:r>
                      <a:r>
                        <a:rPr lang="en-IN"/>
                        <a:t> → "Sex"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Androgens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Secondary sex characteristics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22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5469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1D3BF-A5B2-4C2B-1761-954645436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Medulla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CA642-AB13-9AB8-EA94-9E43FAE61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Chromaffin cells secrete </a:t>
            </a:r>
            <a:r>
              <a:rPr lang="en-IN" b="1" dirty="0"/>
              <a:t>Adrenaline (80%) &amp; Noradrenaline (20%)</a:t>
            </a:r>
            <a:endParaRPr lang="en-IN" dirty="0"/>
          </a:p>
          <a:p>
            <a:r>
              <a:rPr lang="en-IN" dirty="0"/>
              <a:t>Under </a:t>
            </a:r>
            <a:r>
              <a:rPr lang="en-IN" b="1" dirty="0"/>
              <a:t>sympathetic control</a:t>
            </a:r>
            <a:r>
              <a:rPr lang="en-IN" dirty="0"/>
              <a:t> → "Fight or Flight" response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22000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47D5F-32BC-E555-C9FD-39A7D6EC3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cap="none" dirty="0">
                <a:ln>
                  <a:noFill/>
                </a:ln>
                <a:latin typeface="Arial" panose="020B0604020202020204" pitchFamily="34" charset="0"/>
              </a:rPr>
              <a:t>Blood Supply</a:t>
            </a:r>
            <a:br>
              <a:rPr lang="en-US" altLang="en-US" b="1" cap="none" dirty="0">
                <a:ln>
                  <a:noFill/>
                </a:ln>
                <a:latin typeface="Arial" panose="020B0604020202020204" pitchFamily="34" charset="0"/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2158F0-8D4B-44F6-1B44-8FD5D3B2457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3234849"/>
          <a:ext cx="10131424" cy="146304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2481849762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253301242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Artery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962333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Superior suprarenal arteries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Inferior phrenic artery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00812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Middle suprarenal artery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Abdominal aorta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2802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Inferior suprarenal artery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Renal artery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269661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043A423-2807-D568-ADF2-EC552B153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766322"/>
              </p:ext>
            </p:extLst>
          </p:nvPr>
        </p:nvGraphicFramePr>
        <p:xfrm>
          <a:off x="685800" y="4943541"/>
          <a:ext cx="10131424" cy="109728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1180429364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419288292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Gland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Vein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65372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Right adrenal vein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Drains directly into </a:t>
                      </a:r>
                      <a:r>
                        <a:rPr lang="en-IN" sz="1800" b="1"/>
                        <a:t>IVC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6417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Left adrenal vein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Drains into </a:t>
                      </a:r>
                      <a:r>
                        <a:rPr lang="en-US" sz="1800" b="1" dirty="0"/>
                        <a:t>Left renal vein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587661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253BE486-6A26-54B0-3543-53587882A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40" y="1927368"/>
            <a:ext cx="587532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Arterial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🔺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Rich blood supply → rapid hormone 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Venous Drainage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Right vein is short – surgical risk of hemorrhage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824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E10AC-FA35-01F3-B456-B43884F51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Nerve Supply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8FADC-127E-DD53-F569-6ED41E7D2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Cortex</a:t>
            </a:r>
            <a:r>
              <a:rPr lang="en-IN" dirty="0"/>
              <a:t> → </a:t>
            </a:r>
            <a:r>
              <a:rPr lang="en-IN" b="1" dirty="0"/>
              <a:t>No direct nerve control</a:t>
            </a:r>
            <a:r>
              <a:rPr lang="en-IN" dirty="0"/>
              <a:t>, hormonal feedback by ACTH</a:t>
            </a:r>
          </a:p>
          <a:p>
            <a:r>
              <a:rPr lang="en-IN" b="1" dirty="0"/>
              <a:t>Medulla</a:t>
            </a:r>
            <a:r>
              <a:rPr lang="en-IN" dirty="0"/>
              <a:t> → </a:t>
            </a:r>
            <a:r>
              <a:rPr lang="en-IN" b="1" dirty="0"/>
              <a:t>Preganglionic sympathetic </a:t>
            </a:r>
            <a:r>
              <a:rPr lang="en-IN" b="1" dirty="0" err="1"/>
              <a:t>fibers</a:t>
            </a:r>
            <a:r>
              <a:rPr lang="en-IN" b="1" dirty="0"/>
              <a:t> (T10–L1)</a:t>
            </a:r>
            <a:r>
              <a:rPr lang="en-IN" dirty="0"/>
              <a:t> act like </a:t>
            </a:r>
            <a:r>
              <a:rPr lang="en-IN" b="1" dirty="0"/>
              <a:t>modified sympathetic ganglion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96344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2E189-A896-BB36-E839-DAF2B43C4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Histology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D852E-2818-8717-B5D6-F9D010F8A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Cortex shows </a:t>
            </a:r>
            <a:r>
              <a:rPr lang="en-IN" b="1" dirty="0"/>
              <a:t>3 concentric zones</a:t>
            </a:r>
            <a:endParaRPr lang="en-IN" dirty="0"/>
          </a:p>
          <a:p>
            <a:r>
              <a:rPr lang="en-IN" dirty="0"/>
              <a:t>Medulla contains:</a:t>
            </a:r>
          </a:p>
          <a:p>
            <a:pPr lvl="1"/>
            <a:r>
              <a:rPr lang="en-IN" b="1" dirty="0"/>
              <a:t>Chromaffin cells</a:t>
            </a:r>
            <a:endParaRPr lang="en-IN" dirty="0"/>
          </a:p>
          <a:p>
            <a:pPr lvl="1"/>
            <a:r>
              <a:rPr lang="en-IN" b="1" dirty="0"/>
              <a:t>Rich sinusoidal capillaries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77961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A9736-777C-238C-F67C-E348D7AF3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cap="none" dirty="0">
                <a:ln>
                  <a:noFill/>
                </a:ln>
                <a:latin typeface="Arial" panose="020B0604020202020204" pitchFamily="34" charset="0"/>
              </a:rPr>
              <a:t>Applied Anatomy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5B79EB-75B5-61F5-BA51-8E18913B866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49449" y="2114823"/>
          <a:ext cx="9404127" cy="3703092"/>
        </p:xfrm>
        <a:graphic>
          <a:graphicData uri="http://schemas.openxmlformats.org/drawingml/2006/table">
            <a:tbl>
              <a:tblPr/>
              <a:tblGrid>
                <a:gridCol w="3134709">
                  <a:extLst>
                    <a:ext uri="{9D8B030D-6E8A-4147-A177-3AD203B41FA5}">
                      <a16:colId xmlns:a16="http://schemas.microsoft.com/office/drawing/2014/main" val="1704207197"/>
                    </a:ext>
                  </a:extLst>
                </a:gridCol>
                <a:gridCol w="3134709">
                  <a:extLst>
                    <a:ext uri="{9D8B030D-6E8A-4147-A177-3AD203B41FA5}">
                      <a16:colId xmlns:a16="http://schemas.microsoft.com/office/drawing/2014/main" val="4161033231"/>
                    </a:ext>
                  </a:extLst>
                </a:gridCol>
                <a:gridCol w="3134709">
                  <a:extLst>
                    <a:ext uri="{9D8B030D-6E8A-4147-A177-3AD203B41FA5}">
                      <a16:colId xmlns:a16="http://schemas.microsoft.com/office/drawing/2014/main" val="1272611605"/>
                    </a:ext>
                  </a:extLst>
                </a:gridCol>
              </a:tblGrid>
              <a:tr h="339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Condition</a:t>
                      </a:r>
                      <a:endParaRPr lang="en-IN" sz="1700"/>
                    </a:p>
                  </a:txBody>
                  <a:tcPr marL="84876" marR="84876" marT="42438" marB="42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Pathology</a:t>
                      </a:r>
                      <a:endParaRPr lang="en-IN" sz="1700"/>
                    </a:p>
                  </a:txBody>
                  <a:tcPr marL="84876" marR="84876" marT="42438" marB="42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Effects</a:t>
                      </a:r>
                      <a:endParaRPr lang="en-IN" sz="1700"/>
                    </a:p>
                  </a:txBody>
                  <a:tcPr marL="84876" marR="84876" marT="42438" marB="42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3421877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Addison’s disease</a:t>
                      </a:r>
                      <a:endParaRPr lang="en-IN" sz="1700"/>
                    </a:p>
                  </a:txBody>
                  <a:tcPr marL="84876" marR="84876" marT="42438" marB="42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Cortical insufficiency</a:t>
                      </a:r>
                    </a:p>
                  </a:txBody>
                  <a:tcPr marL="84876" marR="84876" marT="42438" marB="42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Low BP, hyperpigmentation, weakness</a:t>
                      </a:r>
                    </a:p>
                  </a:txBody>
                  <a:tcPr marL="84876" marR="84876" marT="42438" marB="42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689048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Cushing’s syndrome</a:t>
                      </a:r>
                      <a:endParaRPr lang="en-IN" sz="1700"/>
                    </a:p>
                  </a:txBody>
                  <a:tcPr marL="84876" marR="84876" marT="42438" marB="42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Excess cortisol</a:t>
                      </a:r>
                    </a:p>
                  </a:txBody>
                  <a:tcPr marL="84876" marR="84876" marT="42438" marB="42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Moon face, buffalo hump, central obesity</a:t>
                      </a:r>
                    </a:p>
                  </a:txBody>
                  <a:tcPr marL="84876" marR="84876" marT="42438" marB="42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9812"/>
                  </a:ext>
                </a:extLst>
              </a:tr>
              <a:tr h="339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Conn’s syndrome</a:t>
                      </a:r>
                      <a:endParaRPr lang="en-IN" sz="1700"/>
                    </a:p>
                  </a:txBody>
                  <a:tcPr marL="84876" marR="84876" marT="42438" marB="42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Excess aldosterone</a:t>
                      </a:r>
                    </a:p>
                  </a:txBody>
                  <a:tcPr marL="84876" marR="84876" marT="42438" marB="42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Hypertension, hypokalemia</a:t>
                      </a:r>
                    </a:p>
                  </a:txBody>
                  <a:tcPr marL="84876" marR="84876" marT="42438" marB="42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567519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Pheochromocytoma</a:t>
                      </a:r>
                      <a:endParaRPr lang="en-IN" sz="1700"/>
                    </a:p>
                  </a:txBody>
                  <a:tcPr marL="84876" marR="84876" marT="42438" marB="42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Medullary tumor</a:t>
                      </a:r>
                    </a:p>
                  </a:txBody>
                  <a:tcPr marL="84876" marR="84876" marT="42438" marB="42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Episodic hypertension, sweating, palpitations</a:t>
                      </a:r>
                    </a:p>
                  </a:txBody>
                  <a:tcPr marL="84876" marR="84876" marT="42438" marB="42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665422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Waterhouse-Friedrichsen syndrome</a:t>
                      </a:r>
                      <a:endParaRPr lang="en-IN" sz="1700"/>
                    </a:p>
                  </a:txBody>
                  <a:tcPr marL="84876" marR="84876" marT="42438" marB="42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Hemorrhage due to meningococcemia</a:t>
                      </a:r>
                    </a:p>
                  </a:txBody>
                  <a:tcPr marL="84876" marR="84876" marT="42438" marB="42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Acute adrenal crisis</a:t>
                      </a:r>
                    </a:p>
                  </a:txBody>
                  <a:tcPr marL="84876" marR="84876" marT="42438" marB="42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8080855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700" b="1"/>
                        <a:t>Adrenal hyperplasia in congenital disorders</a:t>
                      </a:r>
                      <a:endParaRPr lang="it-IT" sz="1700"/>
                    </a:p>
                  </a:txBody>
                  <a:tcPr marL="84876" marR="84876" marT="42438" marB="42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Excess androgens</a:t>
                      </a:r>
                    </a:p>
                  </a:txBody>
                  <a:tcPr marL="84876" marR="84876" marT="42438" marB="42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Ambiguous genitalia in females</a:t>
                      </a:r>
                    </a:p>
                  </a:txBody>
                  <a:tcPr marL="84876" marR="84876" marT="42438" marB="42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448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42753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142</TotalTime>
  <Words>1783</Words>
  <Application>Microsoft Office PowerPoint</Application>
  <PresentationFormat>Widescreen</PresentationFormat>
  <Paragraphs>367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Arial Rounded MT Bold</vt:lpstr>
      <vt:lpstr>Calibri</vt:lpstr>
      <vt:lpstr>Calibri Light</vt:lpstr>
      <vt:lpstr>Celestial</vt:lpstr>
      <vt:lpstr>Endocrine system</vt:lpstr>
      <vt:lpstr>Definition</vt:lpstr>
      <vt:lpstr>Characteristics of Endocrine Glands</vt:lpstr>
      <vt:lpstr>Major Endocrine Glands &amp; Hormones</vt:lpstr>
      <vt:lpstr>Functions of Endocrine System</vt:lpstr>
      <vt:lpstr>Pituitary Gland (Hypophysis Cerebri)</vt:lpstr>
      <vt:lpstr>Situation / Location</vt:lpstr>
      <vt:lpstr>Gross Anatomy / Parts The pituitary has two main parts (dual embryological origin): </vt:lpstr>
      <vt:lpstr>Blood Supply</vt:lpstr>
      <vt:lpstr>Histology Anterior Pituitary (Adenohypophysis) Highly vascular with sinusoidal capillaries Contains three types of cells (based on staining):</vt:lpstr>
      <vt:lpstr>Histology Posterior Pituitary (Neurohypophysis) Made up of: </vt:lpstr>
      <vt:lpstr>Applied Anatomy 🔹 General Clinical Correlations  </vt:lpstr>
      <vt:lpstr>🔹 Specific Hormone-Related Disorders</vt:lpstr>
      <vt:lpstr>Thyroid gland</vt:lpstr>
      <vt:lpstr>Situation / Location</vt:lpstr>
      <vt:lpstr>Relations</vt:lpstr>
      <vt:lpstr>Blood Supply Arterial Venous</vt:lpstr>
      <vt:lpstr>Lymphatic Drainage</vt:lpstr>
      <vt:lpstr>Nerve Supply</vt:lpstr>
      <vt:lpstr>Histology</vt:lpstr>
      <vt:lpstr>Applied Anatomy</vt:lpstr>
      <vt:lpstr>Parathyroid glands</vt:lpstr>
      <vt:lpstr>Situation / Location</vt:lpstr>
      <vt:lpstr>Blood Supply</vt:lpstr>
      <vt:lpstr>Nerve supply</vt:lpstr>
      <vt:lpstr>Histology </vt:lpstr>
      <vt:lpstr>Applied anatomy</vt:lpstr>
      <vt:lpstr>Suprarenal Gland (Adrenal Gland)</vt:lpstr>
      <vt:lpstr>Situation / Location</vt:lpstr>
      <vt:lpstr>Shape &amp; Relations</vt:lpstr>
      <vt:lpstr>Capsule</vt:lpstr>
      <vt:lpstr>Structure (Two Distinct Parts</vt:lpstr>
      <vt:lpstr>Cortex Zones &amp; Secretions</vt:lpstr>
      <vt:lpstr>Medulla</vt:lpstr>
      <vt:lpstr>Blood Supply </vt:lpstr>
      <vt:lpstr>Nerve Supply</vt:lpstr>
      <vt:lpstr>Histology</vt:lpstr>
      <vt:lpstr>Applied Anatomy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 Chandana Senthil Rajan</dc:creator>
  <cp:lastModifiedBy>Madhu Chandana Senthil Rajan</cp:lastModifiedBy>
  <cp:revision>2</cp:revision>
  <dcterms:created xsi:type="dcterms:W3CDTF">2025-10-18T12:58:37Z</dcterms:created>
  <dcterms:modified xsi:type="dcterms:W3CDTF">2025-11-19T12:52:43Z</dcterms:modified>
</cp:coreProperties>
</file>