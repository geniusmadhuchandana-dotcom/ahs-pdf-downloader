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90" r:id="rId35"/>
    <p:sldId id="291" r:id="rId36"/>
    <p:sldId id="292" r:id="rId37"/>
    <p:sldId id="293" r:id="rId38"/>
    <p:sldId id="294" r:id="rId39"/>
    <p:sldId id="295" r:id="rId40"/>
    <p:sldId id="289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1584ADF-E0AA-4B70-B41B-E2281B4F6B3F}" v="138" dt="2025-10-08T16:02:27.4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121" autoAdjust="0"/>
    <p:restoredTop sz="94660"/>
  </p:normalViewPr>
  <p:slideViewPr>
    <p:cSldViewPr snapToGrid="0">
      <p:cViewPr varScale="1">
        <p:scale>
          <a:sx n="78" d="100"/>
          <a:sy n="78" d="100"/>
        </p:scale>
        <p:origin x="1013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microsoft.com/office/2015/10/relationships/revisionInfo" Target="revisionInfo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C22D7320-1462-418B-B412-4CE762645C83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A64F6A3E-8D16-427F-88EC-752321CCDE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92608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D7320-1462-418B-B412-4CE762645C83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F6A3E-8D16-427F-88EC-752321CCDE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07079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D7320-1462-418B-B412-4CE762645C83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F6A3E-8D16-427F-88EC-752321CCDE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66549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D7320-1462-418B-B412-4CE762645C83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F6A3E-8D16-427F-88EC-752321CCDE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67305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D7320-1462-418B-B412-4CE762645C83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F6A3E-8D16-427F-88EC-752321CCDE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85364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D7320-1462-418B-B412-4CE762645C83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F6A3E-8D16-427F-88EC-752321CCDE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39222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D7320-1462-418B-B412-4CE762645C83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F6A3E-8D16-427F-88EC-752321CCDE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53069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D7320-1462-418B-B412-4CE762645C83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F6A3E-8D16-427F-88EC-752321CCDE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69723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D7320-1462-418B-B412-4CE762645C83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F6A3E-8D16-427F-88EC-752321CCDE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54186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D7320-1462-418B-B412-4CE762645C83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F6A3E-8D16-427F-88EC-752321CCDE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51179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D7320-1462-418B-B412-4CE762645C83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F6A3E-8D16-427F-88EC-752321CCDE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86992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D7320-1462-418B-B412-4CE762645C83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F6A3E-8D16-427F-88EC-752321CCDE08}" type="slidenum">
              <a:rPr lang="en-IN" smtClean="0"/>
              <a:t>‹#›</a:t>
            </a:fld>
            <a:endParaRPr lang="en-IN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05375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D7320-1462-418B-B412-4CE762645C83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F6A3E-8D16-427F-88EC-752321CCDE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28408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D7320-1462-418B-B412-4CE762645C83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F6A3E-8D16-427F-88EC-752321CCDE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72408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D7320-1462-418B-B412-4CE762645C83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F6A3E-8D16-427F-88EC-752321CCDE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24885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D7320-1462-418B-B412-4CE762645C83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F6A3E-8D16-427F-88EC-752321CCDE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656852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2D7320-1462-418B-B412-4CE762645C83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F6A3E-8D16-427F-88EC-752321CCDE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12511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2D7320-1462-418B-B412-4CE762645C83}" type="datetimeFigureOut">
              <a:rPr lang="en-IN" smtClean="0"/>
              <a:t>19-11-2025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4F6A3E-8D16-427F-88EC-752321CCDE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121039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>
            <a:outerShdw blurRad="177800" dist="38100" dir="2700000" algn="tl">
              <a:srgbClr val="000000">
                <a:alpha val="24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effectLst>
            <a:outerShdw blurRad="152400" dist="38100" dir="2700000" algn="tl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152400" dist="38100" dir="2700000" algn="tl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152400" dist="38100" dir="2700000" algn="tl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152400" dist="38100" dir="2700000" algn="tl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152400" dist="38100" dir="2700000" algn="tl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91A4F1-DB1B-955B-EFFF-DAD49FF8FF2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7200" dirty="0">
                <a:solidFill>
                  <a:schemeClr val="bg2">
                    <a:lumMod val="50000"/>
                  </a:schemeClr>
                </a:solidFill>
                <a:latin typeface="Calisto MT" panose="02040603050505030304" pitchFamily="18" charset="0"/>
              </a:rPr>
              <a:t>Urinary system</a:t>
            </a:r>
            <a:endParaRPr lang="en-IN" sz="7200" dirty="0">
              <a:solidFill>
                <a:schemeClr val="bg2">
                  <a:lumMod val="50000"/>
                </a:schemeClr>
              </a:solidFill>
              <a:latin typeface="Calisto MT" panose="02040603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67425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A2ED2-7AB1-96DE-AF7A-A30600B468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>
                <a:solidFill>
                  <a:schemeClr val="bg2">
                    <a:lumMod val="50000"/>
                  </a:schemeClr>
                </a:solidFill>
                <a:latin typeface="Calisto MT" panose="02040603050505030304" pitchFamily="18" charset="0"/>
              </a:rPr>
              <a:t>Introduction</a:t>
            </a:r>
            <a:endParaRPr lang="en-IN" sz="4800" dirty="0">
              <a:solidFill>
                <a:schemeClr val="bg2">
                  <a:lumMod val="50000"/>
                </a:schemeClr>
              </a:solidFill>
              <a:latin typeface="Calisto MT" panose="0204060305050503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267DCC-9B35-6E9D-9E28-B2C8F31B59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0272" y="2249487"/>
            <a:ext cx="11002296" cy="3541714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b="1" dirty="0">
                <a:solidFill>
                  <a:schemeClr val="bg2">
                    <a:lumMod val="50000"/>
                  </a:schemeClr>
                </a:solidFill>
                <a:latin typeface="Calisto MT" panose="02040603050505030304" pitchFamily="18" charset="0"/>
              </a:rPr>
              <a:t>The urinary system (also called the excretory system) is a group of organs responsible for the production, storage, and elimination of urine.</a:t>
            </a:r>
            <a:br>
              <a:rPr lang="en-US" b="1" dirty="0">
                <a:solidFill>
                  <a:schemeClr val="bg2">
                    <a:lumMod val="50000"/>
                  </a:schemeClr>
                </a:solidFill>
                <a:latin typeface="Calisto MT" panose="02040603050505030304" pitchFamily="18" charset="0"/>
              </a:rPr>
            </a:br>
            <a:r>
              <a:rPr lang="en-US" b="1" dirty="0">
                <a:solidFill>
                  <a:schemeClr val="bg2">
                    <a:lumMod val="50000"/>
                  </a:schemeClr>
                </a:solidFill>
                <a:latin typeface="Calisto MT" panose="02040603050505030304" pitchFamily="18" charset="0"/>
              </a:rPr>
              <a:t>It helps remove metabolic wastes (especially nitrogenous wastes like urea, uric acid, and creatinine) from the body and maintains the chemical balance of blood.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b="1" dirty="0">
                <a:solidFill>
                  <a:schemeClr val="bg2">
                    <a:lumMod val="50000"/>
                  </a:schemeClr>
                </a:solidFill>
                <a:latin typeface="Calisto MT" panose="02040603050505030304" pitchFamily="18" charset="0"/>
              </a:rPr>
              <a:t>It is essential for:</a:t>
            </a:r>
          </a:p>
          <a:p>
            <a:pPr>
              <a:lnSpc>
                <a:spcPct val="100000"/>
              </a:lnSpc>
            </a:pPr>
            <a:r>
              <a:rPr lang="en-US" b="1" dirty="0">
                <a:solidFill>
                  <a:schemeClr val="bg2">
                    <a:lumMod val="50000"/>
                  </a:schemeClr>
                </a:solidFill>
                <a:latin typeface="Calisto MT" panose="02040603050505030304" pitchFamily="18" charset="0"/>
              </a:rPr>
              <a:t>Excretion of waste products</a:t>
            </a:r>
          </a:p>
          <a:p>
            <a:pPr>
              <a:lnSpc>
                <a:spcPct val="100000"/>
              </a:lnSpc>
            </a:pPr>
            <a:r>
              <a:rPr lang="en-US" b="1" dirty="0">
                <a:solidFill>
                  <a:schemeClr val="bg2">
                    <a:lumMod val="50000"/>
                  </a:schemeClr>
                </a:solidFill>
                <a:latin typeface="Calisto MT" panose="02040603050505030304" pitchFamily="18" charset="0"/>
              </a:rPr>
              <a:t>Regulation of blood volume, pressure, and composition</a:t>
            </a:r>
          </a:p>
          <a:p>
            <a:pPr>
              <a:lnSpc>
                <a:spcPct val="100000"/>
              </a:lnSpc>
            </a:pPr>
            <a:r>
              <a:rPr lang="en-US" b="1" dirty="0">
                <a:solidFill>
                  <a:schemeClr val="bg2">
                    <a:lumMod val="50000"/>
                  </a:schemeClr>
                </a:solidFill>
                <a:latin typeface="Calisto MT" panose="02040603050505030304" pitchFamily="18" charset="0"/>
              </a:rPr>
              <a:t>Maintenance of acid-base and electrolyte balance</a:t>
            </a:r>
          </a:p>
        </p:txBody>
      </p:sp>
    </p:spTree>
    <p:extLst>
      <p:ext uri="{BB962C8B-B14F-4D97-AF65-F5344CB8AC3E}">
        <p14:creationId xmlns:p14="http://schemas.microsoft.com/office/powerpoint/2010/main" val="32530974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989C3-DD42-7162-3EB6-BE9A6E58F1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800" b="1" dirty="0">
                <a:solidFill>
                  <a:schemeClr val="bg2">
                    <a:lumMod val="50000"/>
                  </a:schemeClr>
                </a:solidFill>
                <a:latin typeface="Calisto MT" panose="02040603050505030304" pitchFamily="18" charset="0"/>
              </a:rPr>
              <a:t>Main Parts of the Urinary System</a:t>
            </a:r>
            <a:endParaRPr lang="en-IN" sz="4800" b="1" dirty="0">
              <a:solidFill>
                <a:schemeClr val="bg2">
                  <a:lumMod val="50000"/>
                </a:schemeClr>
              </a:solidFill>
              <a:latin typeface="Calisto MT" panose="02040603050505030304" pitchFamily="18" charset="0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2857249-E513-8C35-3F5D-B92E1D005B6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68449087"/>
              </p:ext>
            </p:extLst>
          </p:nvPr>
        </p:nvGraphicFramePr>
        <p:xfrm>
          <a:off x="714703" y="1870841"/>
          <a:ext cx="10951780" cy="4498428"/>
        </p:xfrm>
        <a:graphic>
          <a:graphicData uri="http://schemas.openxmlformats.org/drawingml/2006/table">
            <a:tbl>
              <a:tblPr/>
              <a:tblGrid>
                <a:gridCol w="5738297">
                  <a:extLst>
                    <a:ext uri="{9D8B030D-6E8A-4147-A177-3AD203B41FA5}">
                      <a16:colId xmlns:a16="http://schemas.microsoft.com/office/drawing/2014/main" val="1802564081"/>
                    </a:ext>
                  </a:extLst>
                </a:gridCol>
                <a:gridCol w="5213483">
                  <a:extLst>
                    <a:ext uri="{9D8B030D-6E8A-4147-A177-3AD203B41FA5}">
                      <a16:colId xmlns:a16="http://schemas.microsoft.com/office/drawing/2014/main" val="3620829193"/>
                    </a:ext>
                  </a:extLst>
                </a:gridCol>
              </a:tblGrid>
              <a:tr h="3663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kern="120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>
                            <a:outerShdw blurRad="152400" dist="38100" dir="2700000" algn="tl">
                              <a:srgbClr val="000000">
                                <a:alpha val="36000"/>
                              </a:srgbClr>
                            </a:outerShdw>
                          </a:effectLst>
                          <a:latin typeface="Calisto MT" panose="02040603050505030304" pitchFamily="18" charset="0"/>
                          <a:ea typeface="+mn-ea"/>
                          <a:cs typeface="+mn-cs"/>
                        </a:rPr>
                        <a:t>Organ</a:t>
                      </a:r>
                    </a:p>
                  </a:txBody>
                  <a:tcPr marL="86383" marR="86383" marT="43192" marB="431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kern="1200">
                          <a:solidFill>
                            <a:schemeClr val="bg2">
                              <a:lumMod val="50000"/>
                            </a:schemeClr>
                          </a:solidFill>
                          <a:effectLst>
                            <a:outerShdw blurRad="152400" dist="38100" dir="2700000" algn="tl">
                              <a:srgbClr val="000000">
                                <a:alpha val="36000"/>
                              </a:srgbClr>
                            </a:outerShdw>
                          </a:effectLst>
                          <a:latin typeface="Calisto MT" panose="02040603050505030304" pitchFamily="18" charset="0"/>
                          <a:ea typeface="+mn-ea"/>
                          <a:cs typeface="+mn-cs"/>
                        </a:rPr>
                        <a:t>Description / Function</a:t>
                      </a:r>
                    </a:p>
                  </a:txBody>
                  <a:tcPr marL="86383" marR="86383" marT="43192" marB="431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262387"/>
                  </a:ext>
                </a:extLst>
              </a:tr>
              <a:tr h="15515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kern="120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>
                            <a:outerShdw blurRad="152400" dist="38100" dir="2700000" algn="tl">
                              <a:srgbClr val="000000">
                                <a:alpha val="36000"/>
                              </a:srgbClr>
                            </a:outerShdw>
                          </a:effectLst>
                          <a:latin typeface="Calisto MT" panose="02040603050505030304" pitchFamily="18" charset="0"/>
                          <a:ea typeface="+mn-ea"/>
                          <a:cs typeface="+mn-cs"/>
                        </a:rPr>
                        <a:t>1. Kidneys (2)</a:t>
                      </a:r>
                    </a:p>
                  </a:txBody>
                  <a:tcPr marL="86383" marR="86383" marT="43192" marB="431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kern="1200">
                          <a:solidFill>
                            <a:schemeClr val="bg2">
                              <a:lumMod val="50000"/>
                            </a:schemeClr>
                          </a:solidFill>
                          <a:effectLst>
                            <a:outerShdw blurRad="152400" dist="38100" dir="2700000" algn="tl">
                              <a:srgbClr val="000000">
                                <a:alpha val="36000"/>
                              </a:srgbClr>
                            </a:outerShdw>
                          </a:effectLst>
                          <a:latin typeface="Calisto MT" panose="02040603050505030304" pitchFamily="18" charset="0"/>
                          <a:ea typeface="+mn-ea"/>
                          <a:cs typeface="+mn-cs"/>
                        </a:rPr>
                        <a:t>Bean-shaped organs located on either side of the vertebral column in the posterior abdominal wall. They filter blood to form urine and maintain homeostasis.</a:t>
                      </a:r>
                    </a:p>
                  </a:txBody>
                  <a:tcPr marL="86383" marR="86383" marT="43192" marB="431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0441476"/>
                  </a:ext>
                </a:extLst>
              </a:tr>
              <a:tr h="9589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kern="120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>
                            <a:outerShdw blurRad="152400" dist="38100" dir="2700000" algn="tl">
                              <a:srgbClr val="000000">
                                <a:alpha val="36000"/>
                              </a:srgbClr>
                            </a:outerShdw>
                          </a:effectLst>
                          <a:latin typeface="Calisto MT" panose="02040603050505030304" pitchFamily="18" charset="0"/>
                          <a:ea typeface="+mn-ea"/>
                          <a:cs typeface="+mn-cs"/>
                        </a:rPr>
                        <a:t>2. Ureters (2)</a:t>
                      </a:r>
                    </a:p>
                  </a:txBody>
                  <a:tcPr marL="86383" marR="86383" marT="43192" marB="431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kern="1200">
                          <a:solidFill>
                            <a:schemeClr val="bg2">
                              <a:lumMod val="50000"/>
                            </a:schemeClr>
                          </a:solidFill>
                          <a:effectLst>
                            <a:outerShdw blurRad="152400" dist="38100" dir="2700000" algn="tl">
                              <a:srgbClr val="000000">
                                <a:alpha val="36000"/>
                              </a:srgbClr>
                            </a:outerShdw>
                          </a:effectLst>
                          <a:latin typeface="Calisto MT" panose="02040603050505030304" pitchFamily="18" charset="0"/>
                          <a:ea typeface="+mn-ea"/>
                          <a:cs typeface="+mn-cs"/>
                        </a:rPr>
                        <a:t>Muscular tubes that carry urine from each kidney to the urinary bladder by peristaltic movements.</a:t>
                      </a:r>
                    </a:p>
                  </a:txBody>
                  <a:tcPr marL="86383" marR="86383" marT="43192" marB="431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5193088"/>
                  </a:ext>
                </a:extLst>
              </a:tr>
              <a:tr h="6626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kern="1200">
                          <a:solidFill>
                            <a:schemeClr val="bg2">
                              <a:lumMod val="50000"/>
                            </a:schemeClr>
                          </a:solidFill>
                          <a:effectLst>
                            <a:outerShdw blurRad="152400" dist="38100" dir="2700000" algn="tl">
                              <a:srgbClr val="000000">
                                <a:alpha val="36000"/>
                              </a:srgbClr>
                            </a:outerShdw>
                          </a:effectLst>
                          <a:latin typeface="Calisto MT" panose="02040603050505030304" pitchFamily="18" charset="0"/>
                          <a:ea typeface="+mn-ea"/>
                          <a:cs typeface="+mn-cs"/>
                        </a:rPr>
                        <a:t>3. Urinary Bladder (1)</a:t>
                      </a:r>
                    </a:p>
                  </a:txBody>
                  <a:tcPr marL="86383" marR="86383" marT="43192" marB="431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kern="1200">
                          <a:solidFill>
                            <a:schemeClr val="bg2">
                              <a:lumMod val="50000"/>
                            </a:schemeClr>
                          </a:solidFill>
                          <a:effectLst>
                            <a:outerShdw blurRad="152400" dist="38100" dir="2700000" algn="tl">
                              <a:srgbClr val="000000">
                                <a:alpha val="36000"/>
                              </a:srgbClr>
                            </a:outerShdw>
                          </a:effectLst>
                          <a:latin typeface="Calisto MT" panose="02040603050505030304" pitchFamily="18" charset="0"/>
                          <a:ea typeface="+mn-ea"/>
                          <a:cs typeface="+mn-cs"/>
                        </a:rPr>
                        <a:t>A hollow muscular sac that stores urine temporarily until it is excreted.</a:t>
                      </a:r>
                    </a:p>
                  </a:txBody>
                  <a:tcPr marL="86383" marR="86383" marT="43192" marB="431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8721189"/>
                  </a:ext>
                </a:extLst>
              </a:tr>
              <a:tr h="9589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kern="1200">
                          <a:solidFill>
                            <a:schemeClr val="bg2">
                              <a:lumMod val="50000"/>
                            </a:schemeClr>
                          </a:solidFill>
                          <a:effectLst>
                            <a:outerShdw blurRad="152400" dist="38100" dir="2700000" algn="tl">
                              <a:srgbClr val="000000">
                                <a:alpha val="36000"/>
                              </a:srgbClr>
                            </a:outerShdw>
                          </a:effectLst>
                          <a:latin typeface="Calisto MT" panose="02040603050505030304" pitchFamily="18" charset="0"/>
                          <a:ea typeface="+mn-ea"/>
                          <a:cs typeface="+mn-cs"/>
                        </a:rPr>
                        <a:t>4. Urethra (1)</a:t>
                      </a:r>
                    </a:p>
                  </a:txBody>
                  <a:tcPr marL="86383" marR="86383" marT="43192" marB="431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kern="120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>
                            <a:outerShdw blurRad="152400" dist="38100" dir="2700000" algn="tl">
                              <a:srgbClr val="000000">
                                <a:alpha val="36000"/>
                              </a:srgbClr>
                            </a:outerShdw>
                          </a:effectLst>
                          <a:latin typeface="Calisto MT" panose="02040603050505030304" pitchFamily="18" charset="0"/>
                          <a:ea typeface="+mn-ea"/>
                          <a:cs typeface="+mn-cs"/>
                        </a:rPr>
                        <a:t>A muscular tube that carries urine from the bladder to the outside of the body during micturition (urination).</a:t>
                      </a:r>
                    </a:p>
                  </a:txBody>
                  <a:tcPr marL="86383" marR="86383" marT="43192" marB="431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79552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652606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FD64DE-B3DF-6090-5878-5075C716E2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001929-4F1D-CE0F-02C3-52753CBDF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5194" y="0"/>
            <a:ext cx="9905998" cy="147857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2">
                    <a:lumMod val="50000"/>
                  </a:schemeClr>
                </a:solidFill>
                <a:latin typeface="Calisto MT" panose="02040603050505030304" pitchFamily="18" charset="0"/>
              </a:rPr>
              <a:t>Functions of urinary system</a:t>
            </a:r>
            <a:endParaRPr lang="en-IN" b="1" dirty="0">
              <a:solidFill>
                <a:schemeClr val="bg2">
                  <a:lumMod val="50000"/>
                </a:schemeClr>
              </a:solidFill>
              <a:latin typeface="Calisto MT" panose="02040603050505030304" pitchFamily="18" charset="0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D6EF04C-69DE-1B82-D20B-EEE60A3D9EB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5761151"/>
              </p:ext>
            </p:extLst>
          </p:nvPr>
        </p:nvGraphicFramePr>
        <p:xfrm>
          <a:off x="409903" y="945931"/>
          <a:ext cx="11256580" cy="6035040"/>
        </p:xfrm>
        <a:graphic>
          <a:graphicData uri="http://schemas.openxmlformats.org/drawingml/2006/table">
            <a:tbl>
              <a:tblPr/>
              <a:tblGrid>
                <a:gridCol w="5898000">
                  <a:extLst>
                    <a:ext uri="{9D8B030D-6E8A-4147-A177-3AD203B41FA5}">
                      <a16:colId xmlns:a16="http://schemas.microsoft.com/office/drawing/2014/main" val="1802564081"/>
                    </a:ext>
                  </a:extLst>
                </a:gridCol>
                <a:gridCol w="5358580">
                  <a:extLst>
                    <a:ext uri="{9D8B030D-6E8A-4147-A177-3AD203B41FA5}">
                      <a16:colId xmlns:a16="http://schemas.microsoft.com/office/drawing/2014/main" val="3620829193"/>
                    </a:ext>
                  </a:extLst>
                </a:gridCol>
              </a:tblGrid>
              <a:tr h="3076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kern="120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>
                            <a:outerShdw blurRad="152400" dist="38100" dir="2700000" algn="tl">
                              <a:srgbClr val="000000">
                                <a:alpha val="36000"/>
                              </a:srgbClr>
                            </a:outerShdw>
                          </a:effectLst>
                          <a:latin typeface="Calisto MT" panose="02040603050505030304" pitchFamily="18" charset="0"/>
                          <a:ea typeface="+mn-ea"/>
                          <a:cs typeface="+mn-cs"/>
                        </a:rPr>
                        <a:t>Function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kern="1200">
                          <a:solidFill>
                            <a:schemeClr val="bg2">
                              <a:lumMod val="50000"/>
                            </a:schemeClr>
                          </a:solidFill>
                          <a:effectLst>
                            <a:outerShdw blurRad="152400" dist="38100" dir="2700000" algn="tl">
                              <a:srgbClr val="000000">
                                <a:alpha val="36000"/>
                              </a:srgbClr>
                            </a:outerShdw>
                          </a:effectLst>
                          <a:latin typeface="Calisto MT" panose="02040603050505030304" pitchFamily="18" charset="0"/>
                          <a:ea typeface="+mn-ea"/>
                          <a:cs typeface="+mn-cs"/>
                        </a:rPr>
                        <a:t>Explanation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262387"/>
                  </a:ext>
                </a:extLst>
              </a:tr>
              <a:tr h="5384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kern="120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>
                            <a:outerShdw blurRad="152400" dist="38100" dir="2700000" algn="tl">
                              <a:srgbClr val="000000">
                                <a:alpha val="36000"/>
                              </a:srgbClr>
                            </a:outerShdw>
                          </a:effectLst>
                          <a:latin typeface="Calisto MT" panose="02040603050505030304" pitchFamily="18" charset="0"/>
                          <a:ea typeface="+mn-ea"/>
                          <a:cs typeface="+mn-cs"/>
                        </a:rPr>
                        <a:t>1. Excretion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kern="1200">
                          <a:solidFill>
                            <a:schemeClr val="bg2">
                              <a:lumMod val="50000"/>
                            </a:schemeClr>
                          </a:solidFill>
                          <a:effectLst>
                            <a:outerShdw blurRad="152400" dist="38100" dir="2700000" algn="tl">
                              <a:srgbClr val="000000">
                                <a:alpha val="36000"/>
                              </a:srgbClr>
                            </a:outerShdw>
                          </a:effectLst>
                          <a:latin typeface="Calisto MT" panose="02040603050505030304" pitchFamily="18" charset="0"/>
                          <a:ea typeface="+mn-ea"/>
                          <a:cs typeface="+mn-cs"/>
                        </a:rPr>
                        <a:t>Removes nitrogenous wastes (urea, uric acid, creatinine) from the blood.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1098751"/>
                  </a:ext>
                </a:extLst>
              </a:tr>
              <a:tr h="5384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kern="120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>
                            <a:outerShdw blurRad="152400" dist="38100" dir="2700000" algn="tl">
                              <a:srgbClr val="000000">
                                <a:alpha val="36000"/>
                              </a:srgbClr>
                            </a:outerShdw>
                          </a:effectLst>
                          <a:latin typeface="Calisto MT" panose="02040603050505030304" pitchFamily="18" charset="0"/>
                          <a:ea typeface="+mn-ea"/>
                          <a:cs typeface="+mn-cs"/>
                        </a:rPr>
                        <a:t>2. Regulation of blood volume and pressure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kern="1200">
                          <a:solidFill>
                            <a:schemeClr val="bg2">
                              <a:lumMod val="50000"/>
                            </a:schemeClr>
                          </a:solidFill>
                          <a:effectLst>
                            <a:outerShdw blurRad="152400" dist="38100" dir="2700000" algn="tl">
                              <a:srgbClr val="000000">
                                <a:alpha val="36000"/>
                              </a:srgbClr>
                            </a:outerShdw>
                          </a:effectLst>
                          <a:latin typeface="Calisto MT" panose="02040603050505030304" pitchFamily="18" charset="0"/>
                          <a:ea typeface="+mn-ea"/>
                          <a:cs typeface="+mn-cs"/>
                        </a:rPr>
                        <a:t>By controlling water excretion and secretion of renin, which regulates blood pressure.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7071469"/>
                  </a:ext>
                </a:extLst>
              </a:tr>
              <a:tr h="5384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kern="120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>
                            <a:outerShdw blurRad="152400" dist="38100" dir="2700000" algn="tl">
                              <a:srgbClr val="000000">
                                <a:alpha val="36000"/>
                              </a:srgbClr>
                            </a:outerShdw>
                          </a:effectLst>
                          <a:latin typeface="Calisto MT" panose="02040603050505030304" pitchFamily="18" charset="0"/>
                          <a:ea typeface="+mn-ea"/>
                          <a:cs typeface="+mn-cs"/>
                        </a:rPr>
                        <a:t>3. Regulation of electrolyte balance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kern="1200">
                          <a:solidFill>
                            <a:schemeClr val="bg2">
                              <a:lumMod val="50000"/>
                            </a:schemeClr>
                          </a:solidFill>
                          <a:effectLst>
                            <a:outerShdw blurRad="152400" dist="38100" dir="2700000" algn="tl">
                              <a:srgbClr val="000000">
                                <a:alpha val="36000"/>
                              </a:srgbClr>
                            </a:outerShdw>
                          </a:effectLst>
                          <a:latin typeface="Calisto MT" panose="02040603050505030304" pitchFamily="18" charset="0"/>
                          <a:ea typeface="+mn-ea"/>
                          <a:cs typeface="+mn-cs"/>
                        </a:rPr>
                        <a:t>Maintains levels of sodium (Na⁺), potassium (K⁺), calcium (Ca²⁺), and chloride (Cl⁻) ions.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6243209"/>
                  </a:ext>
                </a:extLst>
              </a:tr>
              <a:tr h="5384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kern="120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>
                            <a:outerShdw blurRad="152400" dist="38100" dir="2700000" algn="tl">
                              <a:srgbClr val="000000">
                                <a:alpha val="36000"/>
                              </a:srgbClr>
                            </a:outerShdw>
                          </a:effectLst>
                          <a:latin typeface="Calisto MT" panose="02040603050505030304" pitchFamily="18" charset="0"/>
                          <a:ea typeface="+mn-ea"/>
                          <a:cs typeface="+mn-cs"/>
                        </a:rPr>
                        <a:t>4. Regulation of acid–base balance (pH)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kern="1200">
                          <a:solidFill>
                            <a:schemeClr val="bg2">
                              <a:lumMod val="50000"/>
                            </a:schemeClr>
                          </a:solidFill>
                          <a:effectLst>
                            <a:outerShdw blurRad="152400" dist="38100" dir="2700000" algn="tl">
                              <a:srgbClr val="000000">
                                <a:alpha val="36000"/>
                              </a:srgbClr>
                            </a:outerShdw>
                          </a:effectLst>
                          <a:latin typeface="Calisto MT" panose="02040603050505030304" pitchFamily="18" charset="0"/>
                          <a:ea typeface="+mn-ea"/>
                          <a:cs typeface="+mn-cs"/>
                        </a:rPr>
                        <a:t>Controls hydrogen ion (H⁺) and bicarbonate ion (HCO₃⁻) levels to maintain blood pH (~7.4).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5362161"/>
                  </a:ext>
                </a:extLst>
              </a:tr>
              <a:tr h="7691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kern="120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>
                            <a:outerShdw blurRad="152400" dist="38100" dir="2700000" algn="tl">
                              <a:srgbClr val="000000">
                                <a:alpha val="36000"/>
                              </a:srgbClr>
                            </a:outerShdw>
                          </a:effectLst>
                          <a:latin typeface="Calisto MT" panose="02040603050505030304" pitchFamily="18" charset="0"/>
                          <a:ea typeface="+mn-ea"/>
                          <a:cs typeface="+mn-cs"/>
                        </a:rPr>
                        <a:t>5. Erythropoietin secretion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kern="1200">
                          <a:solidFill>
                            <a:schemeClr val="bg2">
                              <a:lumMod val="50000"/>
                            </a:schemeClr>
                          </a:solidFill>
                          <a:effectLst>
                            <a:outerShdw blurRad="152400" dist="38100" dir="2700000" algn="tl">
                              <a:srgbClr val="000000">
                                <a:alpha val="36000"/>
                              </a:srgbClr>
                            </a:outerShdw>
                          </a:effectLst>
                          <a:latin typeface="Calisto MT" panose="02040603050505030304" pitchFamily="18" charset="0"/>
                          <a:ea typeface="+mn-ea"/>
                          <a:cs typeface="+mn-cs"/>
                        </a:rPr>
                        <a:t>The kidneys secrete erythropoietin, a hormone that stimulates red blood cell production in the bone marrow.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0441476"/>
                  </a:ext>
                </a:extLst>
              </a:tr>
              <a:tr h="7691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kern="120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>
                            <a:outerShdw blurRad="152400" dist="38100" dir="2700000" algn="tl">
                              <a:srgbClr val="000000">
                                <a:alpha val="36000"/>
                              </a:srgbClr>
                            </a:outerShdw>
                          </a:effectLst>
                          <a:latin typeface="Calisto MT" panose="02040603050505030304" pitchFamily="18" charset="0"/>
                          <a:ea typeface="+mn-ea"/>
                          <a:cs typeface="+mn-cs"/>
                        </a:rPr>
                        <a:t>6. Vitamin D activation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kern="1200">
                          <a:solidFill>
                            <a:schemeClr val="bg2">
                              <a:lumMod val="50000"/>
                            </a:schemeClr>
                          </a:solidFill>
                          <a:effectLst>
                            <a:outerShdw blurRad="152400" dist="38100" dir="2700000" algn="tl">
                              <a:srgbClr val="000000">
                                <a:alpha val="36000"/>
                              </a:srgbClr>
                            </a:outerShdw>
                          </a:effectLst>
                          <a:latin typeface="Calisto MT" panose="02040603050505030304" pitchFamily="18" charset="0"/>
                          <a:ea typeface="+mn-ea"/>
                          <a:cs typeface="+mn-cs"/>
                        </a:rPr>
                        <a:t>The kidneys convert inactive Vitamin D into its active form (calcitriol), essential for calcium absorption.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5193088"/>
                  </a:ext>
                </a:extLst>
              </a:tr>
              <a:tr h="5384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kern="120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>
                            <a:outerShdw blurRad="152400" dist="38100" dir="2700000" algn="tl">
                              <a:srgbClr val="000000">
                                <a:alpha val="36000"/>
                              </a:srgbClr>
                            </a:outerShdw>
                          </a:effectLst>
                          <a:latin typeface="Calisto MT" panose="02040603050505030304" pitchFamily="18" charset="0"/>
                          <a:ea typeface="+mn-ea"/>
                          <a:cs typeface="+mn-cs"/>
                        </a:rPr>
                        <a:t>7. Detoxification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kern="1200">
                          <a:solidFill>
                            <a:schemeClr val="bg2">
                              <a:lumMod val="50000"/>
                            </a:schemeClr>
                          </a:solidFill>
                          <a:effectLst>
                            <a:outerShdw blurRad="152400" dist="38100" dir="2700000" algn="tl">
                              <a:srgbClr val="000000">
                                <a:alpha val="36000"/>
                              </a:srgbClr>
                            </a:outerShdw>
                          </a:effectLst>
                          <a:latin typeface="Calisto MT" panose="02040603050505030304" pitchFamily="18" charset="0"/>
                          <a:ea typeface="+mn-ea"/>
                          <a:cs typeface="+mn-cs"/>
                        </a:rPr>
                        <a:t>Helps remove drugs and toxins from the bloodstream.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8721189"/>
                  </a:ext>
                </a:extLst>
              </a:tr>
              <a:tr h="5384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kern="120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>
                            <a:outerShdw blurRad="152400" dist="38100" dir="2700000" algn="tl">
                              <a:srgbClr val="000000">
                                <a:alpha val="36000"/>
                              </a:srgbClr>
                            </a:outerShdw>
                          </a:effectLst>
                          <a:latin typeface="Calisto MT" panose="02040603050505030304" pitchFamily="18" charset="0"/>
                          <a:ea typeface="+mn-ea"/>
                          <a:cs typeface="+mn-cs"/>
                        </a:rPr>
                        <a:t>8. Gluconeogenesis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kern="1200" dirty="0">
                          <a:solidFill>
                            <a:schemeClr val="bg2">
                              <a:lumMod val="50000"/>
                            </a:schemeClr>
                          </a:solidFill>
                          <a:effectLst>
                            <a:outerShdw blurRad="152400" dist="38100" dir="2700000" algn="tl">
                              <a:srgbClr val="000000">
                                <a:alpha val="36000"/>
                              </a:srgbClr>
                            </a:outerShdw>
                          </a:effectLst>
                          <a:latin typeface="Calisto MT" panose="02040603050505030304" pitchFamily="18" charset="0"/>
                          <a:ea typeface="+mn-ea"/>
                          <a:cs typeface="+mn-cs"/>
                        </a:rPr>
                        <a:t>During fasting, kidneys can produce glucose from amino acids.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79552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949530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42156D-A710-474E-0244-970FF3A85A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KIDNEY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9E023F-7973-BD8B-1280-F204409B02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Kidneys are the </a:t>
            </a:r>
            <a:r>
              <a:rPr lang="en-US" b="1" dirty="0"/>
              <a:t>main excretory organs</a:t>
            </a:r>
            <a:r>
              <a:rPr lang="en-US" dirty="0"/>
              <a:t> of the body.</a:t>
            </a:r>
            <a:br>
              <a:rPr lang="en-US" dirty="0"/>
            </a:br>
            <a:r>
              <a:rPr lang="en-US" dirty="0"/>
              <a:t>They remove waste products, regulate water and electrolyte balance, maintain acid–base equilibrium, and secrete important hormones such as </a:t>
            </a:r>
            <a:r>
              <a:rPr lang="en-US" b="1" dirty="0"/>
              <a:t>renin</a:t>
            </a:r>
            <a:r>
              <a:rPr lang="en-US" dirty="0"/>
              <a:t> and </a:t>
            </a:r>
            <a:r>
              <a:rPr lang="en-US" b="1" dirty="0"/>
              <a:t>erythropoietin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023276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4D2D4E-1B58-83E5-D3ED-E788F94302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Situation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316652-6DFF-3A7A-FD6E-A4B0BF651B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Two in number — </a:t>
            </a:r>
            <a:r>
              <a:rPr lang="en-US" b="1" dirty="0"/>
              <a:t>right and left</a:t>
            </a:r>
            <a:r>
              <a:rPr lang="en-US" dirty="0"/>
              <a:t>.</a:t>
            </a:r>
          </a:p>
          <a:p>
            <a:r>
              <a:rPr lang="en-US" dirty="0"/>
              <a:t>Located in the </a:t>
            </a:r>
            <a:r>
              <a:rPr lang="en-US" b="1" dirty="0"/>
              <a:t>posterior abdominal wall</a:t>
            </a:r>
            <a:r>
              <a:rPr lang="en-US" dirty="0"/>
              <a:t>, on either side of the </a:t>
            </a:r>
            <a:r>
              <a:rPr lang="en-US" b="1" dirty="0"/>
              <a:t>vertebral column</a:t>
            </a:r>
            <a:r>
              <a:rPr lang="en-US" dirty="0"/>
              <a:t>.</a:t>
            </a:r>
          </a:p>
          <a:p>
            <a:r>
              <a:rPr lang="en-US" b="1" dirty="0"/>
              <a:t>Level:</a:t>
            </a:r>
            <a:r>
              <a:rPr lang="en-US" dirty="0"/>
              <a:t> From </a:t>
            </a:r>
            <a:r>
              <a:rPr lang="en-US" b="1" dirty="0"/>
              <a:t>T12 to L3 vertebrae</a:t>
            </a:r>
            <a:r>
              <a:rPr lang="en-US" dirty="0"/>
              <a:t>.</a:t>
            </a:r>
          </a:p>
          <a:p>
            <a:r>
              <a:rPr lang="en-US" b="1" dirty="0"/>
              <a:t>Right kidney</a:t>
            </a:r>
            <a:r>
              <a:rPr lang="en-US" dirty="0"/>
              <a:t> is slightly </a:t>
            </a:r>
            <a:r>
              <a:rPr lang="en-US" b="1" dirty="0"/>
              <a:t>lower</a:t>
            </a:r>
            <a:r>
              <a:rPr lang="en-US" dirty="0"/>
              <a:t> than the left (due to the liver).</a:t>
            </a:r>
          </a:p>
          <a:p>
            <a:r>
              <a:rPr lang="en-US" b="1" dirty="0"/>
              <a:t>Retroperitoneal</a:t>
            </a:r>
            <a:r>
              <a:rPr lang="en-US" dirty="0"/>
              <a:t> in position (behind the peritoneum).</a:t>
            </a:r>
          </a:p>
        </p:txBody>
      </p:sp>
    </p:spTree>
    <p:extLst>
      <p:ext uri="{BB962C8B-B14F-4D97-AF65-F5344CB8AC3E}">
        <p14:creationId xmlns:p14="http://schemas.microsoft.com/office/powerpoint/2010/main" val="12261119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C3CD65-D1ED-FFF6-AA3B-C32F3115A2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C0126C-E6DF-9C8E-44F1-8CF9EA92DF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Shape, Size, Weight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3FE1CC8-7541-3EBC-155A-7FFD1BF1131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141413" y="2557304"/>
          <a:ext cx="9906000" cy="2926080"/>
        </p:xfrm>
        <a:graphic>
          <a:graphicData uri="http://schemas.openxmlformats.org/drawingml/2006/table">
            <a:tbl>
              <a:tblPr/>
              <a:tblGrid>
                <a:gridCol w="4953000">
                  <a:extLst>
                    <a:ext uri="{9D8B030D-6E8A-4147-A177-3AD203B41FA5}">
                      <a16:colId xmlns:a16="http://schemas.microsoft.com/office/drawing/2014/main" val="1510169240"/>
                    </a:ext>
                  </a:extLst>
                </a:gridCol>
                <a:gridCol w="4953000">
                  <a:extLst>
                    <a:ext uri="{9D8B030D-6E8A-4147-A177-3AD203B41FA5}">
                      <a16:colId xmlns:a16="http://schemas.microsoft.com/office/drawing/2014/main" val="39012901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Feature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35156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Shape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Bean-shaped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6335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Color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Reddish-brown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00777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Size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About </a:t>
                      </a:r>
                      <a:r>
                        <a:rPr lang="en-US" b="1"/>
                        <a:t>11 cm long</a:t>
                      </a:r>
                      <a:r>
                        <a:rPr lang="en-US"/>
                        <a:t>, </a:t>
                      </a:r>
                      <a:r>
                        <a:rPr lang="en-US" b="1"/>
                        <a:t>6 cm wide</a:t>
                      </a:r>
                      <a:r>
                        <a:rPr lang="en-US"/>
                        <a:t>, </a:t>
                      </a:r>
                      <a:r>
                        <a:rPr lang="en-US" b="1"/>
                        <a:t>3 cm thick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62254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Weight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About </a:t>
                      </a:r>
                      <a:r>
                        <a:rPr lang="en-US" b="1"/>
                        <a:t>150 g in males</a:t>
                      </a:r>
                      <a:r>
                        <a:rPr lang="en-US"/>
                        <a:t>, </a:t>
                      </a:r>
                      <a:r>
                        <a:rPr lang="en-US" b="1"/>
                        <a:t>135 g in females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72171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Poles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Upper (broader) and lower (narrower) poles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40552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Borders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Medial (concave, with hilum) and lateral (convex)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90137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Surfaces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Anterior and posterior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92747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780749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853C5-F0FA-F74A-51A2-6635C474FC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Coverings of Kidney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77137D-2AFE-13F7-94D4-AD881050B0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dirty="0"/>
              <a:t>From inside → outside:</a:t>
            </a:r>
          </a:p>
          <a:p>
            <a:r>
              <a:rPr lang="en-IN" b="1" dirty="0"/>
              <a:t>Fibrous capsule</a:t>
            </a:r>
            <a:r>
              <a:rPr lang="en-IN" dirty="0"/>
              <a:t> – thin, tough connective tissue closely adherent to the kidney.</a:t>
            </a:r>
          </a:p>
          <a:p>
            <a:r>
              <a:rPr lang="en-IN" b="1" dirty="0"/>
              <a:t>Perinephric (perirenal) fat</a:t>
            </a:r>
            <a:r>
              <a:rPr lang="en-IN" dirty="0"/>
              <a:t> – cushions and protects the kidney.</a:t>
            </a:r>
          </a:p>
          <a:p>
            <a:r>
              <a:rPr lang="en-IN" b="1" dirty="0"/>
              <a:t>Renal fascia (</a:t>
            </a:r>
            <a:r>
              <a:rPr lang="en-IN" b="1" dirty="0" err="1"/>
              <a:t>Gerota’s</a:t>
            </a:r>
            <a:r>
              <a:rPr lang="en-IN" b="1" dirty="0"/>
              <a:t> fascia)</a:t>
            </a:r>
            <a:r>
              <a:rPr lang="en-IN" dirty="0"/>
              <a:t> – fibrous sheath enclosing kidney and adrenal gland.</a:t>
            </a:r>
          </a:p>
          <a:p>
            <a:r>
              <a:rPr lang="en-IN" b="1" dirty="0"/>
              <a:t>Paranephric (pararenal) fat</a:t>
            </a:r>
            <a:r>
              <a:rPr lang="en-IN" dirty="0"/>
              <a:t> – outermost layer between renal fascia and posterior abdominal wall.</a:t>
            </a:r>
          </a:p>
        </p:txBody>
      </p:sp>
    </p:spTree>
    <p:extLst>
      <p:ext uri="{BB962C8B-B14F-4D97-AF65-F5344CB8AC3E}">
        <p14:creationId xmlns:p14="http://schemas.microsoft.com/office/powerpoint/2010/main" val="23984993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D5FA9-8D1F-90C3-310D-84F0A057B9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7"/>
            <a:ext cx="9905998" cy="2685791"/>
          </a:xfrm>
        </p:spPr>
        <p:txBody>
          <a:bodyPr/>
          <a:lstStyle/>
          <a:p>
            <a:r>
              <a:rPr lang="en-IN" b="1" dirty="0"/>
              <a:t>Relations</a:t>
            </a:r>
            <a:br>
              <a:rPr lang="en-IN" b="1" dirty="0"/>
            </a:br>
            <a:br>
              <a:rPr lang="en-IN" b="1" dirty="0"/>
            </a:br>
            <a:br>
              <a:rPr lang="en-IN" b="1" dirty="0"/>
            </a:br>
            <a:r>
              <a:rPr lang="en-IN" dirty="0"/>
              <a:t>1. Anterior relations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09183EE-E2C4-D78E-D216-99160B74AF6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141413" y="3197384"/>
          <a:ext cx="9906000" cy="1645920"/>
        </p:xfrm>
        <a:graphic>
          <a:graphicData uri="http://schemas.openxmlformats.org/drawingml/2006/table">
            <a:tbl>
              <a:tblPr/>
              <a:tblGrid>
                <a:gridCol w="4953000">
                  <a:extLst>
                    <a:ext uri="{9D8B030D-6E8A-4147-A177-3AD203B41FA5}">
                      <a16:colId xmlns:a16="http://schemas.microsoft.com/office/drawing/2014/main" val="2721008375"/>
                    </a:ext>
                  </a:extLst>
                </a:gridCol>
                <a:gridCol w="4953000">
                  <a:extLst>
                    <a:ext uri="{9D8B030D-6E8A-4147-A177-3AD203B41FA5}">
                      <a16:colId xmlns:a16="http://schemas.microsoft.com/office/drawing/2014/main" val="161993988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Kidney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Relations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08912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Right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Right suprarenal gland, liver, duodenum (2nd part), hepatic flexure of colon, small intestine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26556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Left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Left suprarenal gland, stomach, spleen, pancreas, splenic flexure of colon, jejunum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1041475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DC142610-8090-A458-BB39-4A8D546B2A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1. Anterior relations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18103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3D9FBC-6C7A-0DD5-FCE4-A46FA819F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Posterior relations (common features)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02852B-8F91-C2D3-4468-4CF7960282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Diaphragm</a:t>
            </a:r>
          </a:p>
          <a:p>
            <a:r>
              <a:rPr lang="en-IN" dirty="0"/>
              <a:t>Psoas major muscle</a:t>
            </a:r>
          </a:p>
          <a:p>
            <a:r>
              <a:rPr lang="en-IN" dirty="0"/>
              <a:t>Quadratus lumborum muscle</a:t>
            </a:r>
          </a:p>
          <a:p>
            <a:r>
              <a:rPr lang="en-IN" dirty="0"/>
              <a:t>Transversus abdominis muscle</a:t>
            </a:r>
          </a:p>
          <a:p>
            <a:r>
              <a:rPr lang="en-IN" dirty="0"/>
              <a:t>Subcostal vessels and nerves (subcostal nerve, iliohypogastric, ilioinguinal nerves)</a:t>
            </a:r>
          </a:p>
          <a:p>
            <a:r>
              <a:rPr lang="en-IN" dirty="0"/>
              <a:t>12th rib (and 11th rib for left kidney)</a:t>
            </a:r>
          </a:p>
        </p:txBody>
      </p:sp>
    </p:spTree>
    <p:extLst>
      <p:ext uri="{BB962C8B-B14F-4D97-AF65-F5344CB8AC3E}">
        <p14:creationId xmlns:p14="http://schemas.microsoft.com/office/powerpoint/2010/main" val="25231283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1FC2B8-0CE5-1668-52D0-445324F46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Structure of Kidney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6C9CF1-6FC3-09CD-F1F6-D6E2090DA0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7"/>
            <a:ext cx="9905999" cy="4296786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dirty="0"/>
              <a:t>Each kidney has:</a:t>
            </a:r>
          </a:p>
          <a:p>
            <a:r>
              <a:rPr lang="en-IN" b="1" dirty="0"/>
              <a:t>Hilum:</a:t>
            </a:r>
            <a:r>
              <a:rPr lang="en-IN" dirty="0"/>
              <a:t> Vertical slit on the medial border; gives entry/exit to:</a:t>
            </a:r>
          </a:p>
          <a:p>
            <a:pPr lvl="1"/>
            <a:r>
              <a:rPr lang="en-IN" dirty="0"/>
              <a:t>Renal vein (front)</a:t>
            </a:r>
          </a:p>
          <a:p>
            <a:pPr lvl="1"/>
            <a:r>
              <a:rPr lang="en-IN" dirty="0"/>
              <a:t>Renal artery (middle)</a:t>
            </a:r>
          </a:p>
          <a:p>
            <a:pPr lvl="1"/>
            <a:r>
              <a:rPr lang="en-IN" dirty="0"/>
              <a:t>Renal pelvis/ureter (behind)</a:t>
            </a:r>
          </a:p>
          <a:p>
            <a:r>
              <a:rPr lang="en-IN" b="1" dirty="0"/>
              <a:t>Internal structure:</a:t>
            </a:r>
            <a:endParaRPr lang="en-IN" dirty="0"/>
          </a:p>
          <a:p>
            <a:pPr lvl="1"/>
            <a:r>
              <a:rPr lang="en-IN" b="1" dirty="0"/>
              <a:t>Renal cortex</a:t>
            </a:r>
            <a:r>
              <a:rPr lang="en-IN" dirty="0"/>
              <a:t> – outer reddish zone; contains renal corpuscles and convoluted tubules.</a:t>
            </a:r>
          </a:p>
          <a:p>
            <a:pPr lvl="1"/>
            <a:r>
              <a:rPr lang="en-IN" b="1" dirty="0"/>
              <a:t>Renal medulla</a:t>
            </a:r>
            <a:r>
              <a:rPr lang="en-IN" dirty="0"/>
              <a:t> – inner darker zone; made of </a:t>
            </a:r>
            <a:r>
              <a:rPr lang="en-IN" b="1" dirty="0"/>
              <a:t>renal pyramids</a:t>
            </a:r>
            <a:r>
              <a:rPr lang="en-IN" dirty="0"/>
              <a:t> whose apices (papillae) open into </a:t>
            </a:r>
            <a:r>
              <a:rPr lang="en-IN" b="1" dirty="0"/>
              <a:t>minor calyces</a:t>
            </a:r>
            <a:r>
              <a:rPr lang="en-IN" dirty="0"/>
              <a:t>.</a:t>
            </a:r>
          </a:p>
          <a:p>
            <a:pPr lvl="1"/>
            <a:r>
              <a:rPr lang="en-IN" b="1" dirty="0"/>
              <a:t>Renal pelvis</a:t>
            </a:r>
            <a:r>
              <a:rPr lang="en-IN" dirty="0"/>
              <a:t> – funnel-shaped structure continuing as </a:t>
            </a:r>
            <a:r>
              <a:rPr lang="en-IN" b="1" dirty="0"/>
              <a:t>ureter</a:t>
            </a:r>
            <a:r>
              <a:rPr lang="en-IN" dirty="0"/>
              <a:t>.</a:t>
            </a:r>
          </a:p>
          <a:p>
            <a:pPr lvl="1"/>
            <a:r>
              <a:rPr lang="en-IN" b="1" dirty="0"/>
              <a:t>Nephrons</a:t>
            </a:r>
            <a:r>
              <a:rPr lang="en-IN" dirty="0"/>
              <a:t> – structural and functional units (~1–1.3 million per kidney).</a:t>
            </a:r>
          </a:p>
        </p:txBody>
      </p:sp>
    </p:spTree>
    <p:extLst>
      <p:ext uri="{BB962C8B-B14F-4D97-AF65-F5344CB8AC3E}">
        <p14:creationId xmlns:p14="http://schemas.microsoft.com/office/powerpoint/2010/main" val="9592813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081996-5436-F1AF-212F-2C2D292572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Nephron Structure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1AB069-3F31-4B9F-8BB5-EFB03EF6BC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Each nephron consists of:</a:t>
            </a:r>
          </a:p>
          <a:p>
            <a:r>
              <a:rPr lang="en-IN" b="1" dirty="0"/>
              <a:t>Renal corpuscle</a:t>
            </a:r>
            <a:r>
              <a:rPr lang="en-IN" dirty="0"/>
              <a:t> = </a:t>
            </a:r>
            <a:r>
              <a:rPr lang="en-IN" b="1" dirty="0"/>
              <a:t>Bowman’s capsule + Glomerulus</a:t>
            </a:r>
            <a:endParaRPr lang="en-IN" dirty="0"/>
          </a:p>
          <a:p>
            <a:r>
              <a:rPr lang="en-IN" b="1" dirty="0"/>
              <a:t>Renal tubule:</a:t>
            </a:r>
            <a:endParaRPr lang="en-IN" dirty="0"/>
          </a:p>
          <a:p>
            <a:pPr lvl="1"/>
            <a:r>
              <a:rPr lang="en-IN" b="1" dirty="0"/>
              <a:t>Proximal convoluted tubule (PCT)</a:t>
            </a:r>
            <a:endParaRPr lang="en-IN" dirty="0"/>
          </a:p>
          <a:p>
            <a:pPr lvl="1"/>
            <a:r>
              <a:rPr lang="en-IN" b="1" dirty="0"/>
              <a:t>Loop of Henle</a:t>
            </a:r>
            <a:r>
              <a:rPr lang="en-IN" dirty="0"/>
              <a:t> (descending &amp; ascending limbs)</a:t>
            </a:r>
          </a:p>
          <a:p>
            <a:pPr lvl="1"/>
            <a:r>
              <a:rPr lang="en-IN" b="1" dirty="0"/>
              <a:t>Distal convoluted tubule (DCT)</a:t>
            </a:r>
            <a:endParaRPr lang="en-IN" dirty="0"/>
          </a:p>
          <a:p>
            <a:pPr lvl="1"/>
            <a:r>
              <a:rPr lang="en-IN" b="1" dirty="0"/>
              <a:t>Collecting duct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431071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CD346-04D2-EACD-8FC9-CE015EAE9A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Process of Urine Formation / Excretion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1ABEC8-4444-D8AB-313F-044BCFC970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672936"/>
            <a:ext cx="9905999" cy="4998027"/>
          </a:xfrm>
        </p:spPr>
        <p:txBody>
          <a:bodyPr>
            <a:normAutofit fontScale="92500" lnSpcReduction="20000"/>
          </a:bodyPr>
          <a:lstStyle/>
          <a:p>
            <a:r>
              <a:rPr lang="en-IN" b="1" dirty="0"/>
              <a:t>Glomerular Filtration</a:t>
            </a:r>
            <a:endParaRPr lang="en-IN" dirty="0"/>
          </a:p>
          <a:p>
            <a:pPr lvl="1"/>
            <a:r>
              <a:rPr lang="en-IN" dirty="0"/>
              <a:t>Occurs in glomerulus.</a:t>
            </a:r>
          </a:p>
          <a:p>
            <a:pPr lvl="1"/>
            <a:r>
              <a:rPr lang="en-IN" dirty="0"/>
              <a:t>Blood plasma (except proteins) filters into Bowman’s capsule → forms </a:t>
            </a:r>
            <a:r>
              <a:rPr lang="en-IN" b="1" dirty="0"/>
              <a:t>glomerular filtrate</a:t>
            </a:r>
            <a:r>
              <a:rPr lang="en-IN" dirty="0"/>
              <a:t>.</a:t>
            </a:r>
          </a:p>
          <a:p>
            <a:pPr lvl="1"/>
            <a:r>
              <a:rPr lang="en-IN" b="1" dirty="0"/>
              <a:t>Driven by filtration pressure (NFP)</a:t>
            </a:r>
            <a:r>
              <a:rPr lang="en-IN" dirty="0"/>
              <a:t>.</a:t>
            </a:r>
          </a:p>
          <a:p>
            <a:r>
              <a:rPr lang="en-IN" b="1" dirty="0"/>
              <a:t>Tubular Reabsorption</a:t>
            </a:r>
            <a:endParaRPr lang="en-IN" dirty="0"/>
          </a:p>
          <a:p>
            <a:pPr lvl="1"/>
            <a:r>
              <a:rPr lang="en-IN" dirty="0"/>
              <a:t>Useful substances (glucose, amino acids, ions, water) reabsorbed mainly in </a:t>
            </a:r>
            <a:r>
              <a:rPr lang="en-IN" b="1" dirty="0"/>
              <a:t>PCT</a:t>
            </a:r>
            <a:r>
              <a:rPr lang="en-IN" dirty="0"/>
              <a:t>.</a:t>
            </a:r>
          </a:p>
          <a:p>
            <a:r>
              <a:rPr lang="en-IN" b="1" dirty="0"/>
              <a:t>Tubular Secretion</a:t>
            </a:r>
            <a:endParaRPr lang="en-IN" dirty="0"/>
          </a:p>
          <a:p>
            <a:pPr lvl="1"/>
            <a:r>
              <a:rPr lang="en-IN" dirty="0"/>
              <a:t>Certain ions (H⁺, K⁺, NH₃, creatinine) secreted into tubule for excretion.</a:t>
            </a:r>
          </a:p>
          <a:p>
            <a:r>
              <a:rPr lang="en-IN" b="1" dirty="0"/>
              <a:t>Concentration of Urine</a:t>
            </a:r>
            <a:endParaRPr lang="en-IN" dirty="0"/>
          </a:p>
          <a:p>
            <a:pPr lvl="1"/>
            <a:r>
              <a:rPr lang="en-IN" dirty="0"/>
              <a:t>Occurs in </a:t>
            </a:r>
            <a:r>
              <a:rPr lang="en-IN" b="1" dirty="0"/>
              <a:t>Loop of Henle</a:t>
            </a:r>
            <a:r>
              <a:rPr lang="en-IN" dirty="0"/>
              <a:t> and </a:t>
            </a:r>
            <a:r>
              <a:rPr lang="en-IN" b="1" dirty="0"/>
              <a:t>collecting ducts</a:t>
            </a:r>
            <a:r>
              <a:rPr lang="en-IN" dirty="0"/>
              <a:t> under influence of </a:t>
            </a:r>
            <a:r>
              <a:rPr lang="en-IN" b="1" dirty="0"/>
              <a:t>ADH</a:t>
            </a:r>
            <a:r>
              <a:rPr lang="en-IN" dirty="0"/>
              <a:t> (antidiuretic hormone).</a:t>
            </a:r>
          </a:p>
          <a:p>
            <a:r>
              <a:rPr lang="en-IN" dirty="0"/>
              <a:t>Final urine → minor calyx → major calyx → renal pelvis → ureter → bladder → urethra → exterior.</a:t>
            </a:r>
          </a:p>
        </p:txBody>
      </p:sp>
    </p:spTree>
    <p:extLst>
      <p:ext uri="{BB962C8B-B14F-4D97-AF65-F5344CB8AC3E}">
        <p14:creationId xmlns:p14="http://schemas.microsoft.com/office/powerpoint/2010/main" val="5935489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DD65C1-941A-0532-AB62-4F3587DD5B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Blood Supply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EFDA72D-397C-DF1D-F5D0-243BE5C48D9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141413" y="2923064"/>
          <a:ext cx="9906000" cy="2194560"/>
        </p:xfrm>
        <a:graphic>
          <a:graphicData uri="http://schemas.openxmlformats.org/drawingml/2006/table">
            <a:tbl>
              <a:tblPr/>
              <a:tblGrid>
                <a:gridCol w="4953000">
                  <a:extLst>
                    <a:ext uri="{9D8B030D-6E8A-4147-A177-3AD203B41FA5}">
                      <a16:colId xmlns:a16="http://schemas.microsoft.com/office/drawing/2014/main" val="3584901910"/>
                    </a:ext>
                  </a:extLst>
                </a:gridCol>
                <a:gridCol w="4953000">
                  <a:extLst>
                    <a:ext uri="{9D8B030D-6E8A-4147-A177-3AD203B41FA5}">
                      <a16:colId xmlns:a16="http://schemas.microsoft.com/office/drawing/2014/main" val="383154484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Aspect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Details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01922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Arterial supply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Renal artery</a:t>
                      </a:r>
                      <a:r>
                        <a:rPr lang="en-IN"/>
                        <a:t> from abdominal aorta → divides into segmental → interlobar → arcuate → interlobular → afferent arteriole → glomerulus → efferent arteriole → peritubular capillaries/vasa recta.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13120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Venous drainage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Reverse of arterial path → interlobular → arcuate → interlobar → </a:t>
                      </a:r>
                      <a:r>
                        <a:rPr lang="en-IN" b="1" dirty="0"/>
                        <a:t>renal vein</a:t>
                      </a:r>
                      <a:r>
                        <a:rPr lang="en-IN" dirty="0"/>
                        <a:t> → inferior vena cava.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29746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418698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B328A-F602-BE52-22AB-F14C076B9D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Lymphatic Drainage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1EB5CD-01B5-E737-C62B-32C480A621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Lymph vessels → </a:t>
            </a:r>
            <a:r>
              <a:rPr lang="en-IN" b="1" dirty="0"/>
              <a:t>lateral aortic (lumbar) lymph nodes</a:t>
            </a:r>
            <a:r>
              <a:rPr lang="en-IN" dirty="0"/>
              <a:t> along the abdominal aorta.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649662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D10858-6ED2-F02D-276E-742269E5E1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Nerve Supply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FB2BFE-51AF-C722-F86D-D55487E9E4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Renal plexus</a:t>
            </a:r>
            <a:r>
              <a:rPr lang="en-IN" dirty="0"/>
              <a:t> (autonomic nerves):</a:t>
            </a:r>
          </a:p>
          <a:p>
            <a:pPr lvl="1"/>
            <a:r>
              <a:rPr lang="en-IN" b="1" dirty="0"/>
              <a:t>Sympathetic </a:t>
            </a:r>
            <a:r>
              <a:rPr lang="en-IN" b="1" dirty="0" err="1"/>
              <a:t>fibers</a:t>
            </a:r>
            <a:r>
              <a:rPr lang="en-IN" dirty="0"/>
              <a:t> → from thoracic (T10–L1) segments → regulate blood flow and renin secretion.</a:t>
            </a:r>
          </a:p>
          <a:p>
            <a:pPr lvl="1"/>
            <a:r>
              <a:rPr lang="en-IN" b="1" dirty="0"/>
              <a:t>Parasympathetic </a:t>
            </a:r>
            <a:r>
              <a:rPr lang="en-IN" b="1" dirty="0" err="1"/>
              <a:t>fibers</a:t>
            </a:r>
            <a:r>
              <a:rPr lang="en-IN" dirty="0"/>
              <a:t> → via </a:t>
            </a:r>
            <a:r>
              <a:rPr lang="en-IN" b="1" dirty="0" err="1"/>
              <a:t>vagus</a:t>
            </a:r>
            <a:r>
              <a:rPr lang="en-IN" b="1" dirty="0"/>
              <a:t> nerve</a:t>
            </a:r>
            <a:r>
              <a:rPr lang="en-IN" dirty="0"/>
              <a:t> (minor).</a:t>
            </a:r>
          </a:p>
          <a:p>
            <a:pPr lvl="1"/>
            <a:r>
              <a:rPr lang="en-IN" b="1" dirty="0"/>
              <a:t>Sensory </a:t>
            </a:r>
            <a:r>
              <a:rPr lang="en-IN" b="1" dirty="0" err="1"/>
              <a:t>fibers</a:t>
            </a:r>
            <a:r>
              <a:rPr lang="en-IN" dirty="0"/>
              <a:t> → convey pain from kidney (referred to flank or groin).</a:t>
            </a:r>
          </a:p>
        </p:txBody>
      </p:sp>
    </p:spTree>
    <p:extLst>
      <p:ext uri="{BB962C8B-B14F-4D97-AF65-F5344CB8AC3E}">
        <p14:creationId xmlns:p14="http://schemas.microsoft.com/office/powerpoint/2010/main" val="6273154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7E606E-0FB8-C9DC-1608-C0D8C6AD9C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Development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42D503-4DFE-1407-2ED1-965B1BED12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Derived from </a:t>
            </a:r>
            <a:r>
              <a:rPr lang="en-IN" b="1" dirty="0"/>
              <a:t>intermediate mesoderm</a:t>
            </a:r>
            <a:r>
              <a:rPr lang="en-IN" dirty="0"/>
              <a:t>.</a:t>
            </a:r>
          </a:p>
          <a:p>
            <a:r>
              <a:rPr lang="en-IN" dirty="0"/>
              <a:t>Develops through three successive stages:</a:t>
            </a:r>
          </a:p>
          <a:p>
            <a:pPr lvl="1"/>
            <a:r>
              <a:rPr lang="en-IN" b="1" dirty="0"/>
              <a:t>Pronephros</a:t>
            </a:r>
            <a:r>
              <a:rPr lang="en-IN" dirty="0"/>
              <a:t> – rudimentary and non-functional.</a:t>
            </a:r>
          </a:p>
          <a:p>
            <a:pPr lvl="1"/>
            <a:r>
              <a:rPr lang="en-IN" b="1" dirty="0"/>
              <a:t>Mesonephros</a:t>
            </a:r>
            <a:r>
              <a:rPr lang="en-IN" dirty="0"/>
              <a:t> – temporary kidney in embryo.</a:t>
            </a:r>
          </a:p>
          <a:p>
            <a:pPr lvl="1"/>
            <a:r>
              <a:rPr lang="en-IN" b="1" dirty="0"/>
              <a:t>Metanephros</a:t>
            </a:r>
            <a:r>
              <a:rPr lang="en-IN" dirty="0"/>
              <a:t> – permanent kidney (appears at 5th week).</a:t>
            </a:r>
          </a:p>
          <a:p>
            <a:r>
              <a:rPr lang="en-IN" b="1" dirty="0"/>
              <a:t>Collecting system</a:t>
            </a:r>
            <a:r>
              <a:rPr lang="en-IN" dirty="0"/>
              <a:t> develops from </a:t>
            </a:r>
            <a:r>
              <a:rPr lang="en-IN" b="1" dirty="0"/>
              <a:t>ureteric bud</a:t>
            </a:r>
            <a:r>
              <a:rPr lang="en-IN" dirty="0"/>
              <a:t>.</a:t>
            </a:r>
          </a:p>
          <a:p>
            <a:r>
              <a:rPr lang="en-IN" b="1" dirty="0"/>
              <a:t>Excretory part (nephrons)</a:t>
            </a:r>
            <a:r>
              <a:rPr lang="en-IN" dirty="0"/>
              <a:t> from </a:t>
            </a:r>
            <a:r>
              <a:rPr lang="en-IN" b="1" dirty="0"/>
              <a:t>metanephric blastema</a:t>
            </a:r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303054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9E7324-4AF9-87CD-B5EC-8F48C713D6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Developmental Anomalies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82A2555-4B02-058C-FAF6-9D308D65115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141413" y="2465864"/>
          <a:ext cx="9906000" cy="3108960"/>
        </p:xfrm>
        <a:graphic>
          <a:graphicData uri="http://schemas.openxmlformats.org/drawingml/2006/table">
            <a:tbl>
              <a:tblPr/>
              <a:tblGrid>
                <a:gridCol w="4953000">
                  <a:extLst>
                    <a:ext uri="{9D8B030D-6E8A-4147-A177-3AD203B41FA5}">
                      <a16:colId xmlns:a16="http://schemas.microsoft.com/office/drawing/2014/main" val="3517587517"/>
                    </a:ext>
                  </a:extLst>
                </a:gridCol>
                <a:gridCol w="4953000">
                  <a:extLst>
                    <a:ext uri="{9D8B030D-6E8A-4147-A177-3AD203B41FA5}">
                      <a16:colId xmlns:a16="http://schemas.microsoft.com/office/drawing/2014/main" val="231929032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Anomaly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04917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Renal agenesis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Absence of one (unilateral) or both (bilateral) kidneys.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19983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Ectopic kidney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Located in abnormal position (e.g., pelvis).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43955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Horseshoe kidney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Lower poles fused together across midline.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54764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Polycystic kidney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Multiple cysts due to abnormal nephron development.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19161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Supernumerary kidney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Extra kidney present.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86703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Double ureter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Duplication of ureter due to bifid ureteric bud.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73084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87151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5E2C07AA-385C-4575-12B8-39D8AA7AF7C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41412" y="3835678"/>
            <a:ext cx="24878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D0670DE-D66C-CE49-9E62-E1B7CA263BE0}"/>
              </a:ext>
            </a:extLst>
          </p:cNvPr>
          <p:cNvSpPr txBox="1">
            <a:spLocks/>
          </p:cNvSpPr>
          <p:nvPr/>
        </p:nvSpPr>
        <p:spPr>
          <a:xfrm>
            <a:off x="1293813" y="7709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>
                  <a:outerShdw blurRad="177800" dist="38100" dir="2700000" algn="tl">
                    <a:srgbClr val="000000">
                      <a:alpha val="24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IN" b="1"/>
              <a:t>Applied Anatomy</a:t>
            </a:r>
            <a:endParaRPr lang="en-IN" dirty="0"/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E1F8A352-4F23-26ED-CE05-3D8A4126F7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78631" y="2173685"/>
            <a:ext cx="11536362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Renal pain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Felt in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loin → groin region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(T10–L1 dermatomes).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Renal colic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Severe pain due to stones in ureter (ureteric calculi).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Hydronephrosis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Dilatation of renal pelvis due to obstruction of urine outflow.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Pyelonephritis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Inflammation/infection of kidney and renal pelvis.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Renal failure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Loss of kidney function → uremia.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Kidney transplantation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Done in end-stage renal disease.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Surgical importance: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Kidneys are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retroperitoneal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; right kidney approached through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right lumbar region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367872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029404-5FC3-603F-AD64-FFB418697C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URETERS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125E0F3-EA0A-BD51-2EB4-4DE03250D90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24454" y="899152"/>
            <a:ext cx="9905999" cy="35417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ureters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are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paired muscular tubes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that carry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urine from the kidneys to the urinary bladder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They conduct urine by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peristaltic contractions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of their muscular walls.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Each ureter is a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retroperitoneal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structure throughout its course.</a:t>
            </a:r>
          </a:p>
        </p:txBody>
      </p:sp>
    </p:spTree>
    <p:extLst>
      <p:ext uri="{BB962C8B-B14F-4D97-AF65-F5344CB8AC3E}">
        <p14:creationId xmlns:p14="http://schemas.microsoft.com/office/powerpoint/2010/main" val="15559892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5A9182-856C-DEC5-2B76-8293765126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Situation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050482-FFE0-D4BA-EEC3-73632199DC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Located in the </a:t>
            </a:r>
            <a:r>
              <a:rPr lang="en-US" b="1" dirty="0"/>
              <a:t>posterior abdominal wall</a:t>
            </a:r>
            <a:r>
              <a:rPr lang="en-US" dirty="0"/>
              <a:t> and </a:t>
            </a:r>
            <a:r>
              <a:rPr lang="en-US" b="1" dirty="0"/>
              <a:t>pelvic cavity</a:t>
            </a:r>
            <a:r>
              <a:rPr lang="en-US" dirty="0"/>
              <a:t>.</a:t>
            </a:r>
          </a:p>
          <a:p>
            <a:r>
              <a:rPr lang="en-US" dirty="0"/>
              <a:t>Extend from the </a:t>
            </a:r>
            <a:r>
              <a:rPr lang="en-US" b="1" dirty="0"/>
              <a:t>renal pelvis</a:t>
            </a:r>
            <a:r>
              <a:rPr lang="en-US" dirty="0"/>
              <a:t> (at the hilum of the kidney) to the </a:t>
            </a:r>
            <a:r>
              <a:rPr lang="en-US" b="1" dirty="0"/>
              <a:t>posterior surface of the urinary bladder</a:t>
            </a:r>
            <a:r>
              <a:rPr lang="en-US" dirty="0"/>
              <a:t>.</a:t>
            </a:r>
          </a:p>
          <a:p>
            <a:r>
              <a:rPr lang="en-US" b="1" dirty="0"/>
              <a:t>Right ureter</a:t>
            </a:r>
            <a:r>
              <a:rPr lang="en-US" dirty="0"/>
              <a:t> lies slightly lower due to the lower position of the right kidney.</a:t>
            </a:r>
          </a:p>
        </p:txBody>
      </p:sp>
    </p:spTree>
    <p:extLst>
      <p:ext uri="{BB962C8B-B14F-4D97-AF65-F5344CB8AC3E}">
        <p14:creationId xmlns:p14="http://schemas.microsoft.com/office/powerpoint/2010/main" val="33624522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D75443-DECA-AFCC-F760-2276642407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Length and Size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4674D42-7E42-B064-93F0-ACA64C040B5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0834092"/>
              </p:ext>
            </p:extLst>
          </p:nvPr>
        </p:nvGraphicFramePr>
        <p:xfrm>
          <a:off x="1056353" y="1982083"/>
          <a:ext cx="9906000" cy="1737360"/>
        </p:xfrm>
        <a:graphic>
          <a:graphicData uri="http://schemas.openxmlformats.org/drawingml/2006/table">
            <a:tbl>
              <a:tblPr/>
              <a:tblGrid>
                <a:gridCol w="4953000">
                  <a:extLst>
                    <a:ext uri="{9D8B030D-6E8A-4147-A177-3AD203B41FA5}">
                      <a16:colId xmlns:a16="http://schemas.microsoft.com/office/drawing/2014/main" val="2553531324"/>
                    </a:ext>
                  </a:extLst>
                </a:gridCol>
                <a:gridCol w="4953000">
                  <a:extLst>
                    <a:ext uri="{9D8B030D-6E8A-4147-A177-3AD203B41FA5}">
                      <a16:colId xmlns:a16="http://schemas.microsoft.com/office/drawing/2014/main" val="13523706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Feature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93188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Length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About </a:t>
                      </a:r>
                      <a:r>
                        <a:rPr lang="en-US" b="1"/>
                        <a:t>25–30 cm (10–12 inches)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44360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Diameter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About </a:t>
                      </a:r>
                      <a:r>
                        <a:rPr lang="en-US" b="1"/>
                        <a:t>3 mm</a:t>
                      </a:r>
                      <a:r>
                        <a:rPr lang="en-US"/>
                        <a:t>, but slightly variable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93519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Direction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Downward, forward, and medially from kidney to bladder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24711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150882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46810-85DE-AFE0-3CE1-645178E762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Course of Ureter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159A02-A2B9-3DE4-815B-8A93ADF2A0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730478"/>
            <a:ext cx="9905999" cy="4826186"/>
          </a:xfrm>
        </p:spPr>
        <p:txBody>
          <a:bodyPr>
            <a:normAutofit fontScale="70000" lnSpcReduction="20000"/>
          </a:bodyPr>
          <a:lstStyle/>
          <a:p>
            <a:r>
              <a:rPr lang="en-IN" dirty="0"/>
              <a:t>Each ureter is divided into two main parts:</a:t>
            </a:r>
          </a:p>
          <a:p>
            <a:r>
              <a:rPr lang="en-IN" b="1" dirty="0"/>
              <a:t>1️⃣ Abdominal part</a:t>
            </a:r>
          </a:p>
          <a:p>
            <a:r>
              <a:rPr lang="en-IN" dirty="0"/>
              <a:t>Extends from </a:t>
            </a:r>
            <a:r>
              <a:rPr lang="en-IN" b="1" dirty="0"/>
              <a:t>renal pelvis</a:t>
            </a:r>
            <a:r>
              <a:rPr lang="en-IN" dirty="0"/>
              <a:t> to the </a:t>
            </a:r>
            <a:r>
              <a:rPr lang="en-IN" b="1" dirty="0"/>
              <a:t>pelvic brim</a:t>
            </a:r>
            <a:r>
              <a:rPr lang="en-IN" dirty="0"/>
              <a:t> (sacroiliac joint level).</a:t>
            </a:r>
          </a:p>
          <a:p>
            <a:r>
              <a:rPr lang="en-IN" dirty="0"/>
              <a:t>Lies </a:t>
            </a:r>
            <a:r>
              <a:rPr lang="en-IN" b="1" dirty="0"/>
              <a:t>anterior to psoas major muscle</a:t>
            </a:r>
            <a:r>
              <a:rPr lang="en-IN" dirty="0"/>
              <a:t> and </a:t>
            </a:r>
            <a:r>
              <a:rPr lang="en-IN" b="1" dirty="0"/>
              <a:t>posterior to peritoneum</a:t>
            </a:r>
            <a:r>
              <a:rPr lang="en-IN" dirty="0"/>
              <a:t>.</a:t>
            </a:r>
          </a:p>
          <a:p>
            <a:r>
              <a:rPr lang="en-IN" dirty="0"/>
              <a:t>Crossed by:</a:t>
            </a:r>
          </a:p>
          <a:p>
            <a:pPr lvl="1"/>
            <a:r>
              <a:rPr lang="en-IN" b="1" dirty="0"/>
              <a:t>Gonadal (testicular/ovarian) vessels</a:t>
            </a:r>
            <a:r>
              <a:rPr lang="en-IN" dirty="0"/>
              <a:t> in front.</a:t>
            </a:r>
          </a:p>
          <a:p>
            <a:pPr lvl="1"/>
            <a:r>
              <a:rPr lang="en-IN" b="1" dirty="0"/>
              <a:t>Genitofemoral nerve</a:t>
            </a:r>
            <a:r>
              <a:rPr lang="en-IN" dirty="0"/>
              <a:t> lies lateral to it.</a:t>
            </a:r>
          </a:p>
          <a:p>
            <a:r>
              <a:rPr lang="en-IN" dirty="0"/>
              <a:t>Enters the pelvis by crossing </a:t>
            </a:r>
            <a:r>
              <a:rPr lang="en-IN" b="1" dirty="0"/>
              <a:t>bifurcation of the common iliac artery</a:t>
            </a:r>
            <a:r>
              <a:rPr lang="en-IN" dirty="0"/>
              <a:t> (or beginning of external iliac artery).</a:t>
            </a:r>
          </a:p>
          <a:p>
            <a:r>
              <a:rPr lang="en-IN" b="1" dirty="0"/>
              <a:t>2️⃣ Pelvic part</a:t>
            </a:r>
          </a:p>
          <a:p>
            <a:r>
              <a:rPr lang="en-IN" dirty="0"/>
              <a:t>Begins at pelvic brim → runs </a:t>
            </a:r>
            <a:r>
              <a:rPr lang="en-IN" b="1" dirty="0"/>
              <a:t>downward and forward</a:t>
            </a:r>
            <a:r>
              <a:rPr lang="en-IN" dirty="0"/>
              <a:t> along lateral pelvic wall.</a:t>
            </a:r>
          </a:p>
          <a:p>
            <a:r>
              <a:rPr lang="en-IN" dirty="0"/>
              <a:t>In males → passes </a:t>
            </a:r>
            <a:r>
              <a:rPr lang="en-IN" b="1" dirty="0"/>
              <a:t>under vas deferens</a:t>
            </a:r>
            <a:r>
              <a:rPr lang="en-IN" dirty="0"/>
              <a:t> (→ </a:t>
            </a:r>
            <a:r>
              <a:rPr lang="en-IN" i="1" dirty="0"/>
              <a:t>“water under the bridge”</a:t>
            </a:r>
            <a:r>
              <a:rPr lang="en-IN" dirty="0"/>
              <a:t>).</a:t>
            </a:r>
          </a:p>
          <a:p>
            <a:r>
              <a:rPr lang="en-IN" dirty="0"/>
              <a:t>In females → passes </a:t>
            </a:r>
            <a:r>
              <a:rPr lang="en-IN" b="1" dirty="0"/>
              <a:t>under the uterine artery</a:t>
            </a:r>
            <a:r>
              <a:rPr lang="en-IN" dirty="0"/>
              <a:t> (→ </a:t>
            </a:r>
            <a:r>
              <a:rPr lang="en-IN" i="1" dirty="0"/>
              <a:t>same mnemonic</a:t>
            </a:r>
            <a:r>
              <a:rPr lang="en-IN" dirty="0"/>
              <a:t>).</a:t>
            </a:r>
          </a:p>
          <a:p>
            <a:r>
              <a:rPr lang="en-IN" dirty="0"/>
              <a:t>Pierces the bladder wall </a:t>
            </a:r>
            <a:r>
              <a:rPr lang="en-IN" b="1" dirty="0"/>
              <a:t>obliquely</a:t>
            </a:r>
            <a:r>
              <a:rPr lang="en-IN" dirty="0"/>
              <a:t> at its posterolateral angle to prevent backflow (reflux) of urine.</a:t>
            </a:r>
          </a:p>
        </p:txBody>
      </p:sp>
    </p:spTree>
    <p:extLst>
      <p:ext uri="{BB962C8B-B14F-4D97-AF65-F5344CB8AC3E}">
        <p14:creationId xmlns:p14="http://schemas.microsoft.com/office/powerpoint/2010/main" val="220665470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B13D24-5490-3E43-8205-9F76A9D49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9C0A20-84A7-A9D9-5748-D2AF45A674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Constrictions of Ureter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B9DB48F-52FE-E0D1-EF5D-C5729DB0AA6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27493824"/>
              </p:ext>
            </p:extLst>
          </p:nvPr>
        </p:nvGraphicFramePr>
        <p:xfrm>
          <a:off x="1285769" y="2877344"/>
          <a:ext cx="9906000" cy="2286000"/>
        </p:xfrm>
        <a:graphic>
          <a:graphicData uri="http://schemas.openxmlformats.org/drawingml/2006/table">
            <a:tbl>
              <a:tblPr/>
              <a:tblGrid>
                <a:gridCol w="4953000">
                  <a:extLst>
                    <a:ext uri="{9D8B030D-6E8A-4147-A177-3AD203B41FA5}">
                      <a16:colId xmlns:a16="http://schemas.microsoft.com/office/drawing/2014/main" val="701817869"/>
                    </a:ext>
                  </a:extLst>
                </a:gridCol>
                <a:gridCol w="4953000">
                  <a:extLst>
                    <a:ext uri="{9D8B030D-6E8A-4147-A177-3AD203B41FA5}">
                      <a16:colId xmlns:a16="http://schemas.microsoft.com/office/drawing/2014/main" val="426785851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Site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Description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80583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1️⃣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At pelvi-ureteric junction (PUJ)</a:t>
                      </a:r>
                      <a:r>
                        <a:rPr lang="en-IN"/>
                        <a:t> — where renal pelvis becomes ureter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21462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2️⃣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At pelvic brim</a:t>
                      </a:r>
                      <a:r>
                        <a:rPr lang="en-US"/>
                        <a:t> — where ureter crosses the iliac vessels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93560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3️⃣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At </a:t>
                      </a:r>
                      <a:r>
                        <a:rPr lang="en-IN" b="1" dirty="0" err="1"/>
                        <a:t>vesico</a:t>
                      </a:r>
                      <a:r>
                        <a:rPr lang="en-IN" b="1" dirty="0"/>
                        <a:t>-ureteric junction (VUJ)</a:t>
                      </a:r>
                      <a:r>
                        <a:rPr lang="en-IN" dirty="0"/>
                        <a:t> — where ureter enters bladder wall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28831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5663446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C24E19-11B4-3966-9DC1-C38D3CFB70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93897-53CC-36F5-FF50-76B33C7456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Blood Supply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C8AFE70-D504-582A-4010-554ACB5A1E9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21319522"/>
              </p:ext>
            </p:extLst>
          </p:nvPr>
        </p:nvGraphicFramePr>
        <p:xfrm>
          <a:off x="1141413" y="3151664"/>
          <a:ext cx="9906000" cy="1737360"/>
        </p:xfrm>
        <a:graphic>
          <a:graphicData uri="http://schemas.openxmlformats.org/drawingml/2006/table">
            <a:tbl>
              <a:tblPr/>
              <a:tblGrid>
                <a:gridCol w="4953000">
                  <a:extLst>
                    <a:ext uri="{9D8B030D-6E8A-4147-A177-3AD203B41FA5}">
                      <a16:colId xmlns:a16="http://schemas.microsoft.com/office/drawing/2014/main" val="1849342937"/>
                    </a:ext>
                  </a:extLst>
                </a:gridCol>
                <a:gridCol w="4953000">
                  <a:extLst>
                    <a:ext uri="{9D8B030D-6E8A-4147-A177-3AD203B41FA5}">
                      <a16:colId xmlns:a16="http://schemas.microsoft.com/office/drawing/2014/main" val="350423939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Region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Arterial Supply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76762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Upper part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Renal artery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42143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Middle part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Gonadal artery, abdominal aorta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46611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Lower part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Internal iliac artery, superior &amp; inferior vesical arteries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84475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7244625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D2A229-A51A-C98B-290C-1B9A44517E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0BF19E-7BDA-F582-A98E-307A26C11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Venous drainage: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9150E5-72D0-629C-A96D-B83D7956E7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Corresponds to arteries → renal, gonadal, and vesical veins.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0413606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E9E8C8-A03D-1500-FC40-E4FDC4ABC7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215D8D-81AD-B6C5-FE62-649F1C6267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Lymphatic Drainage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9955AE2-A5DD-BFEA-29CC-AD439B52955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41413" y="536434"/>
            <a:ext cx="9905999" cy="35417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Upper part: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Lateral aortic (lumbar) lymph nodes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Middle part: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Common iliac nodes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Lower part: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Internal iliac nodes</a:t>
            </a:r>
          </a:p>
        </p:txBody>
      </p:sp>
    </p:spTree>
    <p:extLst>
      <p:ext uri="{BB962C8B-B14F-4D97-AF65-F5344CB8AC3E}">
        <p14:creationId xmlns:p14="http://schemas.microsoft.com/office/powerpoint/2010/main" val="195283824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B8F810-5261-AD1F-4D89-2C674273FA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F7A3C9-03F4-4326-C22D-5CA3D7D473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Nerve Supply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6E0C358-4D37-71F5-52E9-8E25ECE0DA7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41412" y="618518"/>
            <a:ext cx="9905999" cy="35417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Derived from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renal, aortic, superior &amp; inferior hypogastric plexuses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Sympathetic fibers: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T10–L2 → cause vasoconstriction &amp; modulate peristalsis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Parasympathetic fibers: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S2–S4 (pelvic splanchnic nerves) → stimulate peristalsis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Pain fibers: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Travel with sympathetic nerves → pain referred to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loin → groin → scrotum/labia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036302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41831F-D4F3-A74A-0FF8-E9795D320B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BD3625-70BD-5F9C-ADD0-036EBEAA9D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Histology of Ureter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2C435D7-A1B2-4AB3-F7CF-9AEEA4FB2AD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141413" y="2740184"/>
          <a:ext cx="9906000" cy="2560320"/>
        </p:xfrm>
        <a:graphic>
          <a:graphicData uri="http://schemas.openxmlformats.org/drawingml/2006/table">
            <a:tbl>
              <a:tblPr/>
              <a:tblGrid>
                <a:gridCol w="4953000">
                  <a:extLst>
                    <a:ext uri="{9D8B030D-6E8A-4147-A177-3AD203B41FA5}">
                      <a16:colId xmlns:a16="http://schemas.microsoft.com/office/drawing/2014/main" val="253438172"/>
                    </a:ext>
                  </a:extLst>
                </a:gridCol>
                <a:gridCol w="4953000">
                  <a:extLst>
                    <a:ext uri="{9D8B030D-6E8A-4147-A177-3AD203B41FA5}">
                      <a16:colId xmlns:a16="http://schemas.microsoft.com/office/drawing/2014/main" val="396852841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Layer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Description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29838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1. Mucosa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Lined by </a:t>
                      </a:r>
                      <a:r>
                        <a:rPr lang="en-US" b="1"/>
                        <a:t>transitional epithelium (urothelium)</a:t>
                      </a:r>
                      <a:r>
                        <a:rPr lang="en-US"/>
                        <a:t>; folded when empty.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44317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2. Muscular layer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Inner </a:t>
                      </a:r>
                      <a:r>
                        <a:rPr lang="en-US" b="1"/>
                        <a:t>longitudinal</a:t>
                      </a:r>
                      <a:r>
                        <a:rPr lang="en-US"/>
                        <a:t> and outer </a:t>
                      </a:r>
                      <a:r>
                        <a:rPr lang="en-US" b="1"/>
                        <a:t>circular</a:t>
                      </a:r>
                      <a:r>
                        <a:rPr lang="en-US"/>
                        <a:t> smooth muscle (opposite of GIT). In lower third → </a:t>
                      </a:r>
                      <a:r>
                        <a:rPr lang="en-US" b="1"/>
                        <a:t>extra outer longitudinal</a:t>
                      </a:r>
                      <a:r>
                        <a:rPr lang="en-US"/>
                        <a:t> layer added.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60259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3. Adventitia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Outer fibrous connective tissue containing blood vessels, lymphatics, and nerves.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46753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283838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5CCE86-EB49-27A9-BB5F-C65798B2D7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7B115A-ABC1-AF38-A5DD-D3BF878582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Functions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0C43308-9E5D-6A57-1593-9E5E2275C1C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80308" y="1995700"/>
            <a:ext cx="6792244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Conduct urine from kidney to bladder by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peristaltic movement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Prevent reflux due to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oblique entry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into bladder wall.</a:t>
            </a:r>
          </a:p>
        </p:txBody>
      </p:sp>
    </p:spTree>
    <p:extLst>
      <p:ext uri="{BB962C8B-B14F-4D97-AF65-F5344CB8AC3E}">
        <p14:creationId xmlns:p14="http://schemas.microsoft.com/office/powerpoint/2010/main" val="150851734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66976B-51C0-BF40-B730-7E2DAE1187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CC4008-FA71-7756-9993-724EA83097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Applied Anatomy</a:t>
            </a:r>
            <a:endParaRPr lang="en-IN" dirty="0"/>
          </a:p>
        </p:txBody>
      </p:sp>
      <p:graphicFrame>
        <p:nvGraphicFramePr>
          <p:cNvPr id="25" name="Content Placeholder 24">
            <a:extLst>
              <a:ext uri="{FF2B5EF4-FFF2-40B4-BE49-F238E27FC236}">
                <a16:creationId xmlns:a16="http://schemas.microsoft.com/office/drawing/2014/main" id="{57D59BF6-6731-9ED7-88B8-02BDED84CCF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298345" y="2249488"/>
          <a:ext cx="9592136" cy="3541713"/>
        </p:xfrm>
        <a:graphic>
          <a:graphicData uri="http://schemas.openxmlformats.org/drawingml/2006/table">
            <a:tbl>
              <a:tblPr/>
              <a:tblGrid>
                <a:gridCol w="4796068">
                  <a:extLst>
                    <a:ext uri="{9D8B030D-6E8A-4147-A177-3AD203B41FA5}">
                      <a16:colId xmlns:a16="http://schemas.microsoft.com/office/drawing/2014/main" val="4005325782"/>
                    </a:ext>
                  </a:extLst>
                </a:gridCol>
                <a:gridCol w="4796068">
                  <a:extLst>
                    <a:ext uri="{9D8B030D-6E8A-4147-A177-3AD203B41FA5}">
                      <a16:colId xmlns:a16="http://schemas.microsoft.com/office/drawing/2014/main" val="3595256077"/>
                    </a:ext>
                  </a:extLst>
                </a:gridCol>
              </a:tblGrid>
              <a:tr h="3541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b="1"/>
                        <a:t>Condition</a:t>
                      </a:r>
                      <a:endParaRPr lang="en-IN" sz="1700"/>
                    </a:p>
                  </a:txBody>
                  <a:tcPr marL="88543" marR="88543" marT="44271" marB="442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b="1"/>
                        <a:t>Description</a:t>
                      </a:r>
                      <a:endParaRPr lang="en-IN" sz="1700"/>
                    </a:p>
                  </a:txBody>
                  <a:tcPr marL="88543" marR="88543" marT="44271" marB="442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2306355"/>
                  </a:ext>
                </a:extLst>
              </a:tr>
              <a:tr h="619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b="1"/>
                        <a:t>Ureteric colic</a:t>
                      </a:r>
                      <a:endParaRPr lang="en-IN" sz="1700"/>
                    </a:p>
                  </a:txBody>
                  <a:tcPr marL="88543" marR="88543" marT="44271" marB="442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Severe pain caused by passage of </a:t>
                      </a:r>
                      <a:r>
                        <a:rPr lang="en-US" sz="1700" b="1"/>
                        <a:t>renal/ureteric stones</a:t>
                      </a:r>
                      <a:r>
                        <a:rPr lang="en-US" sz="1700"/>
                        <a:t> through constrictions.</a:t>
                      </a:r>
                    </a:p>
                  </a:txBody>
                  <a:tcPr marL="88543" marR="88543" marT="44271" marB="442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173273"/>
                  </a:ext>
                </a:extLst>
              </a:tr>
              <a:tr h="619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b="1"/>
                        <a:t>Referred pain</a:t>
                      </a:r>
                      <a:endParaRPr lang="en-IN" sz="1700"/>
                    </a:p>
                  </a:txBody>
                  <a:tcPr marL="88543" marR="88543" marT="44271" marB="442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/>
                        <a:t>Felt in </a:t>
                      </a:r>
                      <a:r>
                        <a:rPr lang="en-IN" sz="1700" b="1"/>
                        <a:t>loin → groin → scrotum/labia</a:t>
                      </a:r>
                      <a:r>
                        <a:rPr lang="en-IN" sz="1700"/>
                        <a:t> regions (T11–L2 dermatomes).</a:t>
                      </a:r>
                    </a:p>
                  </a:txBody>
                  <a:tcPr marL="88543" marR="88543" marT="44271" marB="442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291133"/>
                  </a:ext>
                </a:extLst>
              </a:tr>
              <a:tr h="619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b="1"/>
                        <a:t>Injury during surgery</a:t>
                      </a:r>
                      <a:endParaRPr lang="en-IN" sz="1700"/>
                    </a:p>
                  </a:txBody>
                  <a:tcPr marL="88543" marR="88543" marT="44271" marB="442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Common during </a:t>
                      </a:r>
                      <a:r>
                        <a:rPr lang="en-US" sz="1700" b="1"/>
                        <a:t>hysterectomy</a:t>
                      </a:r>
                      <a:r>
                        <a:rPr lang="en-US" sz="1700"/>
                        <a:t> (crossing under uterine artery).</a:t>
                      </a:r>
                    </a:p>
                  </a:txBody>
                  <a:tcPr marL="88543" marR="88543" marT="44271" marB="442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1284131"/>
                  </a:ext>
                </a:extLst>
              </a:tr>
              <a:tr h="3541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b="1"/>
                        <a:t>Hydronephrosis</a:t>
                      </a:r>
                      <a:endParaRPr lang="en-IN" sz="1700"/>
                    </a:p>
                  </a:txBody>
                  <a:tcPr marL="88543" marR="88543" marT="44271" marB="442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Dilation of renal pelvis due to </a:t>
                      </a:r>
                      <a:r>
                        <a:rPr lang="en-US" sz="1700" b="1"/>
                        <a:t>ureteral obstruction</a:t>
                      </a:r>
                      <a:r>
                        <a:rPr lang="en-US" sz="1700"/>
                        <a:t>.</a:t>
                      </a:r>
                    </a:p>
                  </a:txBody>
                  <a:tcPr marL="88543" marR="88543" marT="44271" marB="442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7327535"/>
                  </a:ext>
                </a:extLst>
              </a:tr>
              <a:tr h="619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b="1"/>
                        <a:t>Vesicoureteral reflux</a:t>
                      </a:r>
                      <a:endParaRPr lang="en-IN" sz="1700"/>
                    </a:p>
                  </a:txBody>
                  <a:tcPr marL="88543" marR="88543" marT="44271" marB="442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Backflow of urine into ureter due to defective vesico-ureteric valve.</a:t>
                      </a:r>
                    </a:p>
                  </a:txBody>
                  <a:tcPr marL="88543" marR="88543" marT="44271" marB="442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6483377"/>
                  </a:ext>
                </a:extLst>
              </a:tr>
              <a:tr h="3541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700" b="1"/>
                        <a:t>Congenital anomalies</a:t>
                      </a:r>
                      <a:endParaRPr lang="en-IN" sz="1700"/>
                    </a:p>
                  </a:txBody>
                  <a:tcPr marL="88543" marR="88543" marT="44271" marB="442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b-NO" sz="1700" dirty="0"/>
                        <a:t>Double ureter, ectopic ureter, ureteral stenosis.</a:t>
                      </a:r>
                    </a:p>
                  </a:txBody>
                  <a:tcPr marL="88543" marR="88543" marT="44271" marB="442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66064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432729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4F9E0D-0ABF-11F6-B773-A870E5DB90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C28B7F-4241-9C28-B2D3-4CDA24E16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URINARY BLADDER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AB0FEE73-79A6-5AD0-57E8-30BD10732FD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83121" y="1904446"/>
            <a:ext cx="10022581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urinary bladder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hollow muscular organ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that acts as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reservoir for urine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before it is expelled through the urethra.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is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distensible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muscular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lined by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transitional epithelium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(urothelium).</a:t>
            </a:r>
          </a:p>
        </p:txBody>
      </p:sp>
    </p:spTree>
    <p:extLst>
      <p:ext uri="{BB962C8B-B14F-4D97-AF65-F5344CB8AC3E}">
        <p14:creationId xmlns:p14="http://schemas.microsoft.com/office/powerpoint/2010/main" val="215835406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2A554A-BC30-3E08-A9B7-A661F3A55E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C72CC-77B2-FBD8-5AA7-9BC62F5F81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Situation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9E9CE3-B585-6EB4-0BE8-BD93114470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Located in the </a:t>
            </a:r>
            <a:r>
              <a:rPr lang="en-US" b="1" dirty="0"/>
              <a:t>pelvic cavity</a:t>
            </a:r>
            <a:r>
              <a:rPr lang="en-US" dirty="0"/>
              <a:t>, </a:t>
            </a:r>
            <a:r>
              <a:rPr lang="en-US" b="1" dirty="0"/>
              <a:t>behind the pubic symphysis</a:t>
            </a:r>
            <a:r>
              <a:rPr lang="en-US" dirty="0"/>
              <a:t> and </a:t>
            </a:r>
            <a:r>
              <a:rPr lang="en-US" b="1" dirty="0"/>
              <a:t>in front of the rectum</a:t>
            </a:r>
            <a:r>
              <a:rPr lang="en-US" dirty="0"/>
              <a:t> in males / </a:t>
            </a:r>
            <a:r>
              <a:rPr lang="en-US" b="1" dirty="0"/>
              <a:t>in front of the uterus and vagina</a:t>
            </a:r>
            <a:r>
              <a:rPr lang="en-US" dirty="0"/>
              <a:t> in females.</a:t>
            </a:r>
          </a:p>
          <a:p>
            <a:r>
              <a:rPr lang="en-US" dirty="0"/>
              <a:t>When full, it rises into the </a:t>
            </a:r>
            <a:r>
              <a:rPr lang="en-US" b="1" dirty="0"/>
              <a:t>abdominal cavity</a:t>
            </a:r>
            <a:r>
              <a:rPr lang="en-US" dirty="0"/>
              <a:t> (up to the umbilicus).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8178306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CC5E40-3901-DDE5-8666-4145650C15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CB7C45-F443-194B-BAC0-5E4C528D9F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Shape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2B4CA14-BE96-2A60-2F1D-D0312BF7A45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51101" y="326231"/>
            <a:ext cx="9905999" cy="35417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When empty →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pyramidal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 shape.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When full →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ovoid / spherical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253107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878176-D291-1998-8441-DCBD6ECDE3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DF42D3-0551-28EE-968A-815D947773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Capacity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1D6A75-6646-7BD0-8157-D5962EAD0D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Average capacity:</a:t>
            </a:r>
            <a:r>
              <a:rPr lang="en-US" dirty="0"/>
              <a:t> 300–500 </a:t>
            </a:r>
            <a:r>
              <a:rPr lang="en-US" dirty="0" err="1"/>
              <a:t>mL.</a:t>
            </a:r>
            <a:endParaRPr lang="en-US" dirty="0"/>
          </a:p>
          <a:p>
            <a:r>
              <a:rPr lang="en-US" b="1" dirty="0"/>
              <a:t>Desire to micturate:</a:t>
            </a:r>
            <a:r>
              <a:rPr lang="en-US" dirty="0"/>
              <a:t> at about 250–300 </a:t>
            </a:r>
            <a:r>
              <a:rPr lang="en-US" dirty="0" err="1"/>
              <a:t>mL.</a:t>
            </a:r>
            <a:endParaRPr lang="en-US" dirty="0"/>
          </a:p>
          <a:p>
            <a:r>
              <a:rPr lang="en-US" b="1" dirty="0"/>
              <a:t>Maximum capacity:</a:t>
            </a:r>
            <a:r>
              <a:rPr lang="en-US" dirty="0"/>
              <a:t> ~800 mL (in adults).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5880344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67E997-F26B-308F-B323-7D329AA81B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08C170-C1D2-DBD6-8B61-71B15DDB7D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Relations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E2689A-3286-8ED0-9D7D-0A2D99CCD7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Apex</a:t>
            </a:r>
          </a:p>
          <a:p>
            <a:r>
              <a:rPr lang="en-US" dirty="0"/>
              <a:t>Directed </a:t>
            </a:r>
            <a:r>
              <a:rPr lang="en-US" b="1" dirty="0"/>
              <a:t>forward and upward</a:t>
            </a:r>
            <a:r>
              <a:rPr lang="en-US" dirty="0"/>
              <a:t> toward the anterior abdominal wall.</a:t>
            </a:r>
          </a:p>
          <a:p>
            <a:r>
              <a:rPr lang="en-US" dirty="0"/>
              <a:t>Connected to the </a:t>
            </a:r>
            <a:r>
              <a:rPr lang="en-US" b="1" dirty="0"/>
              <a:t>umbilicus</a:t>
            </a:r>
            <a:r>
              <a:rPr lang="en-US" dirty="0"/>
              <a:t> by the </a:t>
            </a:r>
            <a:r>
              <a:rPr lang="en-US" b="1" dirty="0"/>
              <a:t>median umbilical ligament</a:t>
            </a:r>
            <a:r>
              <a:rPr lang="en-US" dirty="0"/>
              <a:t> (remnant of urachus).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1935538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D1439E-8607-88AA-D788-36CB652700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87E2A9-B6B4-DD5C-8225-F23FC5AF81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817699-1C28-90E0-C798-28BA5FBB4B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Neck</a:t>
            </a:r>
          </a:p>
          <a:p>
            <a:r>
              <a:rPr lang="en-US" dirty="0"/>
              <a:t>Most </a:t>
            </a:r>
            <a:r>
              <a:rPr lang="en-US" b="1" dirty="0"/>
              <a:t>fixed</a:t>
            </a:r>
            <a:r>
              <a:rPr lang="en-US" dirty="0"/>
              <a:t> part of bladder.</a:t>
            </a:r>
          </a:p>
          <a:p>
            <a:r>
              <a:rPr lang="en-US" dirty="0"/>
              <a:t>Lies </a:t>
            </a:r>
            <a:r>
              <a:rPr lang="en-US" b="1" dirty="0"/>
              <a:t>lowest</a:t>
            </a:r>
            <a:r>
              <a:rPr lang="en-US" dirty="0"/>
              <a:t>, resting on the </a:t>
            </a:r>
            <a:r>
              <a:rPr lang="en-US" b="1" dirty="0"/>
              <a:t>prostate (in males)</a:t>
            </a:r>
            <a:r>
              <a:rPr lang="en-US" dirty="0"/>
              <a:t> / </a:t>
            </a:r>
            <a:r>
              <a:rPr lang="en-US" b="1" dirty="0"/>
              <a:t>urogenital diaphragm (in females)</a:t>
            </a:r>
            <a:r>
              <a:rPr lang="en-US" dirty="0"/>
              <a:t>.</a:t>
            </a:r>
          </a:p>
          <a:p>
            <a:r>
              <a:rPr lang="en-US" dirty="0"/>
              <a:t>Surrounds the </a:t>
            </a:r>
            <a:r>
              <a:rPr lang="en-US" b="1" dirty="0"/>
              <a:t>internal urethral orifice</a:t>
            </a:r>
            <a:r>
              <a:rPr lang="en-US" dirty="0"/>
              <a:t>.</a:t>
            </a:r>
          </a:p>
          <a:p>
            <a:r>
              <a:rPr lang="en-US" dirty="0"/>
              <a:t>Continuous with the </a:t>
            </a:r>
            <a:r>
              <a:rPr lang="en-US" b="1" dirty="0"/>
              <a:t>urethra</a:t>
            </a:r>
            <a:r>
              <a:rPr lang="en-US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8754559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BD81F8-5279-6F36-331D-C7DC842D78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D3A0B5-9DE3-EFD2-E62F-271CE5394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553937-8FFB-2879-E4F9-15A2DF1D18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Superior Surface</a:t>
            </a:r>
          </a:p>
          <a:p>
            <a:r>
              <a:rPr lang="en-US" dirty="0"/>
              <a:t>Triangular in shape.</a:t>
            </a:r>
          </a:p>
          <a:p>
            <a:r>
              <a:rPr lang="en-US" dirty="0"/>
              <a:t>Covered by </a:t>
            </a:r>
            <a:r>
              <a:rPr lang="en-US" b="1" dirty="0"/>
              <a:t>peritoneum</a:t>
            </a:r>
            <a:r>
              <a:rPr lang="en-US" dirty="0"/>
              <a:t>.</a:t>
            </a:r>
          </a:p>
          <a:p>
            <a:r>
              <a:rPr lang="en-US" dirty="0"/>
              <a:t>Related to:</a:t>
            </a:r>
          </a:p>
          <a:p>
            <a:pPr lvl="1"/>
            <a:r>
              <a:rPr lang="en-US" b="1" dirty="0"/>
              <a:t>Males:</a:t>
            </a:r>
            <a:r>
              <a:rPr lang="en-US" dirty="0"/>
              <a:t> coils of </a:t>
            </a:r>
            <a:r>
              <a:rPr lang="en-US" b="1" dirty="0"/>
              <a:t>ileum and sigmoid colon</a:t>
            </a:r>
            <a:r>
              <a:rPr lang="en-US" dirty="0"/>
              <a:t>.</a:t>
            </a:r>
          </a:p>
          <a:p>
            <a:pPr lvl="1"/>
            <a:r>
              <a:rPr lang="en-US" b="1" dirty="0"/>
              <a:t>Females:</a:t>
            </a:r>
            <a:r>
              <a:rPr lang="en-US" dirty="0"/>
              <a:t> body of </a:t>
            </a:r>
            <a:r>
              <a:rPr lang="en-US" b="1" dirty="0"/>
              <a:t>uterus</a:t>
            </a:r>
            <a:r>
              <a:rPr lang="en-US" dirty="0"/>
              <a:t> (forms </a:t>
            </a:r>
            <a:r>
              <a:rPr lang="en-US" dirty="0" err="1"/>
              <a:t>vesicouterine</a:t>
            </a:r>
            <a:r>
              <a:rPr lang="en-US" dirty="0"/>
              <a:t> pouch).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2180543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041254-0763-578B-46C8-88804C87E8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225CD6-4795-16EF-B160-318F0F5038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57DC1A-AC5A-4F9D-92EF-9B177F7185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Inferolateral Surfaces (2)</a:t>
            </a:r>
          </a:p>
          <a:p>
            <a:r>
              <a:rPr lang="en-IN" dirty="0"/>
              <a:t>Rest on the </a:t>
            </a:r>
            <a:r>
              <a:rPr lang="en-IN" b="1" dirty="0"/>
              <a:t>levator ani</a:t>
            </a:r>
            <a:r>
              <a:rPr lang="en-IN" dirty="0"/>
              <a:t> and </a:t>
            </a:r>
            <a:r>
              <a:rPr lang="en-IN" b="1" dirty="0"/>
              <a:t>obturator internus muscles</a:t>
            </a:r>
            <a:r>
              <a:rPr lang="en-IN" dirty="0"/>
              <a:t>.</a:t>
            </a:r>
          </a:p>
          <a:p>
            <a:r>
              <a:rPr lang="en-IN" dirty="0"/>
              <a:t>Related anteriorly to the </a:t>
            </a:r>
            <a:r>
              <a:rPr lang="en-IN" b="1" dirty="0"/>
              <a:t>pubic bones</a:t>
            </a:r>
            <a:r>
              <a:rPr lang="en-IN" dirty="0"/>
              <a:t> and </a:t>
            </a:r>
            <a:r>
              <a:rPr lang="en-IN" b="1" dirty="0"/>
              <a:t>retropubic fat pad</a:t>
            </a:r>
            <a:r>
              <a:rPr lang="en-IN" dirty="0"/>
              <a:t>.</a:t>
            </a:r>
          </a:p>
          <a:p>
            <a:r>
              <a:rPr lang="en-IN" dirty="0"/>
              <a:t>Posteriorly related to </a:t>
            </a:r>
            <a:r>
              <a:rPr lang="en-IN" b="1" dirty="0"/>
              <a:t>seminal vesicles and vasa </a:t>
            </a:r>
            <a:r>
              <a:rPr lang="en-IN" b="1" dirty="0" err="1"/>
              <a:t>deferentia</a:t>
            </a:r>
            <a:r>
              <a:rPr lang="en-IN" dirty="0"/>
              <a:t> (in males) / </a:t>
            </a:r>
            <a:r>
              <a:rPr lang="en-IN" b="1" dirty="0"/>
              <a:t>vagina</a:t>
            </a:r>
            <a:r>
              <a:rPr lang="en-IN" dirty="0"/>
              <a:t> (in females).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0672696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2A554A-BC30-3E08-A9B7-A661F3A55E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C72CC-77B2-FBD8-5AA7-9BC62F5F81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9E9CE3-B585-6EB4-0BE8-BD93114470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Posterior Surface (Base or Fundus)</a:t>
            </a:r>
          </a:p>
          <a:p>
            <a:r>
              <a:rPr lang="en-US" dirty="0"/>
              <a:t>Triangular and directed backward and downward.</a:t>
            </a:r>
          </a:p>
          <a:p>
            <a:r>
              <a:rPr lang="en-US" b="1" dirty="0"/>
              <a:t>Males:</a:t>
            </a:r>
            <a:r>
              <a:rPr lang="en-US" dirty="0"/>
              <a:t> related to </a:t>
            </a:r>
            <a:r>
              <a:rPr lang="en-US" b="1" dirty="0"/>
              <a:t>seminal vesicles</a:t>
            </a:r>
            <a:r>
              <a:rPr lang="en-US" dirty="0"/>
              <a:t>, </a:t>
            </a:r>
            <a:r>
              <a:rPr lang="en-US" b="1" dirty="0"/>
              <a:t>ampullae of vas deferens</a:t>
            </a:r>
            <a:r>
              <a:rPr lang="en-US" dirty="0"/>
              <a:t>, and </a:t>
            </a:r>
            <a:r>
              <a:rPr lang="en-US" b="1" dirty="0"/>
              <a:t>rectum</a:t>
            </a:r>
            <a:r>
              <a:rPr lang="en-US" dirty="0"/>
              <a:t> (forms rectovesical pouch).</a:t>
            </a:r>
          </a:p>
          <a:p>
            <a:r>
              <a:rPr lang="en-US" b="1" dirty="0"/>
              <a:t>Females:</a:t>
            </a:r>
            <a:r>
              <a:rPr lang="en-US" dirty="0"/>
              <a:t> related to </a:t>
            </a:r>
            <a:r>
              <a:rPr lang="en-US" b="1" dirty="0"/>
              <a:t>anterior wall of vagina</a:t>
            </a:r>
            <a:r>
              <a:rPr lang="en-US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6115057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4E8279-D88F-F665-6DFD-308042357D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Blood Supply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7ABAB2F-6EBE-2784-F08A-737A37B589F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34551493"/>
              </p:ext>
            </p:extLst>
          </p:nvPr>
        </p:nvGraphicFramePr>
        <p:xfrm>
          <a:off x="1141413" y="1954477"/>
          <a:ext cx="9906000" cy="1828800"/>
        </p:xfrm>
        <a:graphic>
          <a:graphicData uri="http://schemas.openxmlformats.org/drawingml/2006/table">
            <a:tbl>
              <a:tblPr/>
              <a:tblGrid>
                <a:gridCol w="4953000">
                  <a:extLst>
                    <a:ext uri="{9D8B030D-6E8A-4147-A177-3AD203B41FA5}">
                      <a16:colId xmlns:a16="http://schemas.microsoft.com/office/drawing/2014/main" val="1949910116"/>
                    </a:ext>
                  </a:extLst>
                </a:gridCol>
                <a:gridCol w="4953000">
                  <a:extLst>
                    <a:ext uri="{9D8B030D-6E8A-4147-A177-3AD203B41FA5}">
                      <a16:colId xmlns:a16="http://schemas.microsoft.com/office/drawing/2014/main" val="246358813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Source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Arteries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82071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Main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Superior vesical arteries (from internal iliac)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52042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Additional (Males)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Inferior vesical artery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43051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Additional (Females)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Vaginal artery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96269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Venous drainage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dirty="0" err="1"/>
                        <a:t>Vesical</a:t>
                      </a:r>
                      <a:r>
                        <a:rPr lang="fr-FR" dirty="0"/>
                        <a:t> </a:t>
                      </a:r>
                      <a:r>
                        <a:rPr lang="fr-FR" dirty="0" err="1"/>
                        <a:t>venous</a:t>
                      </a:r>
                      <a:r>
                        <a:rPr lang="fr-FR" dirty="0"/>
                        <a:t> plexus → </a:t>
                      </a:r>
                      <a:r>
                        <a:rPr lang="fr-FR" dirty="0" err="1"/>
                        <a:t>internal</a:t>
                      </a:r>
                      <a:r>
                        <a:rPr lang="fr-FR" dirty="0"/>
                        <a:t> </a:t>
                      </a:r>
                      <a:r>
                        <a:rPr lang="fr-FR" dirty="0" err="1"/>
                        <a:t>iliac</a:t>
                      </a:r>
                      <a:r>
                        <a:rPr lang="fr-FR" dirty="0"/>
                        <a:t> </a:t>
                      </a:r>
                      <a:r>
                        <a:rPr lang="fr-FR" dirty="0" err="1"/>
                        <a:t>vein</a:t>
                      </a:r>
                      <a:endParaRPr lang="fr-FR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119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7630897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C06939-BDE9-1276-7ABD-63A857B70C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876DE7-37CD-EFDF-0383-A71F510697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Lymphatic Drainage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330678-375F-22A1-AB0F-340264A230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Mainly to </a:t>
            </a:r>
            <a:r>
              <a:rPr lang="en-US" b="1" dirty="0"/>
              <a:t>internal iliac lymph nodes</a:t>
            </a:r>
            <a:r>
              <a:rPr lang="en-US" dirty="0"/>
              <a:t>.</a:t>
            </a:r>
          </a:p>
          <a:p>
            <a:r>
              <a:rPr lang="en-US" dirty="0"/>
              <a:t>Some drainage to </a:t>
            </a:r>
            <a:r>
              <a:rPr lang="en-US" b="1" dirty="0"/>
              <a:t>external iliac</a:t>
            </a:r>
            <a:r>
              <a:rPr lang="en-US" dirty="0"/>
              <a:t> and </a:t>
            </a:r>
            <a:r>
              <a:rPr lang="en-US" b="1" dirty="0"/>
              <a:t>sacral nodes</a:t>
            </a:r>
            <a:r>
              <a:rPr lang="en-US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548532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954A84-D398-3CB1-9700-E37C2AFB98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2E0948-3F0B-7793-FA7F-184E4F4E5F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Nerve Supply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051B137-F327-4623-9440-89F49707B12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51373165"/>
              </p:ext>
            </p:extLst>
          </p:nvPr>
        </p:nvGraphicFramePr>
        <p:xfrm>
          <a:off x="1141411" y="1564579"/>
          <a:ext cx="9906000" cy="365760"/>
        </p:xfrm>
        <a:graphic>
          <a:graphicData uri="http://schemas.openxmlformats.org/drawingml/2006/table">
            <a:tbl>
              <a:tblPr/>
              <a:tblGrid>
                <a:gridCol w="4953000">
                  <a:extLst>
                    <a:ext uri="{9D8B030D-6E8A-4147-A177-3AD203B41FA5}">
                      <a16:colId xmlns:a16="http://schemas.microsoft.com/office/drawing/2014/main" val="309035034"/>
                    </a:ext>
                  </a:extLst>
                </a:gridCol>
                <a:gridCol w="4953000">
                  <a:extLst>
                    <a:ext uri="{9D8B030D-6E8A-4147-A177-3AD203B41FA5}">
                      <a16:colId xmlns:a16="http://schemas.microsoft.com/office/drawing/2014/main" val="366671567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Type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Origin / Function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811472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6EAFCEA-1EA7-76FB-B970-2650AD5F5B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1639172"/>
              </p:ext>
            </p:extLst>
          </p:nvPr>
        </p:nvGraphicFramePr>
        <p:xfrm>
          <a:off x="1141411" y="2845082"/>
          <a:ext cx="9906000" cy="640080"/>
        </p:xfrm>
        <a:graphic>
          <a:graphicData uri="http://schemas.openxmlformats.org/drawingml/2006/table">
            <a:tbl>
              <a:tblPr/>
              <a:tblGrid>
                <a:gridCol w="4953000">
                  <a:extLst>
                    <a:ext uri="{9D8B030D-6E8A-4147-A177-3AD203B41FA5}">
                      <a16:colId xmlns:a16="http://schemas.microsoft.com/office/drawing/2014/main" val="1909548223"/>
                    </a:ext>
                  </a:extLst>
                </a:gridCol>
                <a:gridCol w="4953000">
                  <a:extLst>
                    <a:ext uri="{9D8B030D-6E8A-4147-A177-3AD203B41FA5}">
                      <a16:colId xmlns:a16="http://schemas.microsoft.com/office/drawing/2014/main" val="62846554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Parasympathetic (Pelvic splanchnic nerves – S2, S3, S4)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Motor to detrusor muscle; inhibitory to internal sphincter (→ micturition).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3314344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736B680-FD24-81CC-784B-6F3FA48C6A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9614884"/>
              </p:ext>
            </p:extLst>
          </p:nvPr>
        </p:nvGraphicFramePr>
        <p:xfrm>
          <a:off x="1141411" y="2318990"/>
          <a:ext cx="9906000" cy="640080"/>
        </p:xfrm>
        <a:graphic>
          <a:graphicData uri="http://schemas.openxmlformats.org/drawingml/2006/table">
            <a:tbl>
              <a:tblPr/>
              <a:tblGrid>
                <a:gridCol w="4953000">
                  <a:extLst>
                    <a:ext uri="{9D8B030D-6E8A-4147-A177-3AD203B41FA5}">
                      <a16:colId xmlns:a16="http://schemas.microsoft.com/office/drawing/2014/main" val="3162009446"/>
                    </a:ext>
                  </a:extLst>
                </a:gridCol>
                <a:gridCol w="4953000">
                  <a:extLst>
                    <a:ext uri="{9D8B030D-6E8A-4147-A177-3AD203B41FA5}">
                      <a16:colId xmlns:a16="http://schemas.microsoft.com/office/drawing/2014/main" val="90542674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Sympathetic (T11–L2)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Inhibitory to detrusor; motor to internal sphincter (→ urine retention).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7518771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04B9389-8D9A-3887-CCC8-4E51828156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0923296"/>
              </p:ext>
            </p:extLst>
          </p:nvPr>
        </p:nvGraphicFramePr>
        <p:xfrm>
          <a:off x="1141411" y="1998919"/>
          <a:ext cx="9906000" cy="365760"/>
        </p:xfrm>
        <a:graphic>
          <a:graphicData uri="http://schemas.openxmlformats.org/drawingml/2006/table">
            <a:tbl>
              <a:tblPr/>
              <a:tblGrid>
                <a:gridCol w="4953000">
                  <a:extLst>
                    <a:ext uri="{9D8B030D-6E8A-4147-A177-3AD203B41FA5}">
                      <a16:colId xmlns:a16="http://schemas.microsoft.com/office/drawing/2014/main" val="1537794634"/>
                    </a:ext>
                  </a:extLst>
                </a:gridCol>
                <a:gridCol w="4953000">
                  <a:extLst>
                    <a:ext uri="{9D8B030D-6E8A-4147-A177-3AD203B41FA5}">
                      <a16:colId xmlns:a16="http://schemas.microsoft.com/office/drawing/2014/main" val="397151025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Sensory (Afferents)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Convey sensation of bladder filling and pain.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7597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4966886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616015-0255-1477-4607-ED0827097B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07945B-96CE-D19F-AC59-379688B457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Histology of Urinary Bladder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4C27233-4907-6C82-EF9E-7BED9298F2B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89841469"/>
              </p:ext>
            </p:extLst>
          </p:nvPr>
        </p:nvGraphicFramePr>
        <p:xfrm>
          <a:off x="1141413" y="1881664"/>
          <a:ext cx="9906000" cy="2651760"/>
        </p:xfrm>
        <a:graphic>
          <a:graphicData uri="http://schemas.openxmlformats.org/drawingml/2006/table">
            <a:tbl>
              <a:tblPr/>
              <a:tblGrid>
                <a:gridCol w="4953000">
                  <a:extLst>
                    <a:ext uri="{9D8B030D-6E8A-4147-A177-3AD203B41FA5}">
                      <a16:colId xmlns:a16="http://schemas.microsoft.com/office/drawing/2014/main" val="167224069"/>
                    </a:ext>
                  </a:extLst>
                </a:gridCol>
                <a:gridCol w="4953000">
                  <a:extLst>
                    <a:ext uri="{9D8B030D-6E8A-4147-A177-3AD203B41FA5}">
                      <a16:colId xmlns:a16="http://schemas.microsoft.com/office/drawing/2014/main" val="1268613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Layer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Features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5849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1. Mucosa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Lined by </a:t>
                      </a:r>
                      <a:r>
                        <a:rPr lang="en-US" b="1"/>
                        <a:t>transitional epithelium (urothelium)</a:t>
                      </a:r>
                      <a:r>
                        <a:rPr lang="en-US"/>
                        <a:t>, folded into </a:t>
                      </a:r>
                      <a:r>
                        <a:rPr lang="en-US" b="1"/>
                        <a:t>rugae</a:t>
                      </a:r>
                      <a:r>
                        <a:rPr lang="en-US"/>
                        <a:t> when empty.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0813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2. Lamina propria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Loose connective tissue, blood vessels, elastic fibers.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74430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3. Muscular layer (Detrusor muscle)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Three ill-defined layers of smooth muscle: inner longitudinal, middle circular, outer longitudinal.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43327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4. Adventitia / Serosa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Outer connective tissue; </a:t>
                      </a:r>
                      <a:r>
                        <a:rPr lang="en-US" b="1" dirty="0"/>
                        <a:t>superior surface</a:t>
                      </a:r>
                      <a:r>
                        <a:rPr lang="en-US" dirty="0"/>
                        <a:t> covered by </a:t>
                      </a:r>
                      <a:r>
                        <a:rPr lang="en-US" b="1" dirty="0"/>
                        <a:t>peritoneum</a:t>
                      </a:r>
                      <a:r>
                        <a:rPr lang="en-US" dirty="0"/>
                        <a:t>, rest by </a:t>
                      </a:r>
                      <a:r>
                        <a:rPr lang="en-US" b="1" dirty="0"/>
                        <a:t>fibrous adventitia</a:t>
                      </a:r>
                      <a:r>
                        <a:rPr lang="en-US" dirty="0"/>
                        <a:t>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91822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2718657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36F3AA-C644-3646-1690-DDD04BB285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639586-FD3D-359A-C2E1-6DA471F76A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Ligaments of the Bladder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ED0077A-6C21-C648-4502-9ACB25462A5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33303913"/>
              </p:ext>
            </p:extLst>
          </p:nvPr>
        </p:nvGraphicFramePr>
        <p:xfrm>
          <a:off x="1141411" y="1960911"/>
          <a:ext cx="9906000" cy="365760"/>
        </p:xfrm>
        <a:graphic>
          <a:graphicData uri="http://schemas.openxmlformats.org/drawingml/2006/table">
            <a:tbl>
              <a:tblPr/>
              <a:tblGrid>
                <a:gridCol w="4953000">
                  <a:extLst>
                    <a:ext uri="{9D8B030D-6E8A-4147-A177-3AD203B41FA5}">
                      <a16:colId xmlns:a16="http://schemas.microsoft.com/office/drawing/2014/main" val="483881997"/>
                    </a:ext>
                  </a:extLst>
                </a:gridCol>
                <a:gridCol w="4953000">
                  <a:extLst>
                    <a:ext uri="{9D8B030D-6E8A-4147-A177-3AD203B41FA5}">
                      <a16:colId xmlns:a16="http://schemas.microsoft.com/office/drawing/2014/main" val="258131091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Ligament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Description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5759993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66E0A8E-636B-D2A6-8B23-A2CA6F969B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5531385"/>
              </p:ext>
            </p:extLst>
          </p:nvPr>
        </p:nvGraphicFramePr>
        <p:xfrm>
          <a:off x="1141411" y="3773311"/>
          <a:ext cx="9906000" cy="365760"/>
        </p:xfrm>
        <a:graphic>
          <a:graphicData uri="http://schemas.openxmlformats.org/drawingml/2006/table">
            <a:tbl>
              <a:tblPr/>
              <a:tblGrid>
                <a:gridCol w="4953000">
                  <a:extLst>
                    <a:ext uri="{9D8B030D-6E8A-4147-A177-3AD203B41FA5}">
                      <a16:colId xmlns:a16="http://schemas.microsoft.com/office/drawing/2014/main" val="702666128"/>
                    </a:ext>
                  </a:extLst>
                </a:gridCol>
                <a:gridCol w="4953000">
                  <a:extLst>
                    <a:ext uri="{9D8B030D-6E8A-4147-A177-3AD203B41FA5}">
                      <a16:colId xmlns:a16="http://schemas.microsoft.com/office/drawing/2014/main" val="394491274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Median umbilical ligament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From apex to umbilicus (remnant of urachus).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9392578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E71CAA5-3AEA-AA2A-5D22-F4C7CF52F7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6919749"/>
              </p:ext>
            </p:extLst>
          </p:nvPr>
        </p:nvGraphicFramePr>
        <p:xfrm>
          <a:off x="1141411" y="3133231"/>
          <a:ext cx="9906000" cy="640080"/>
        </p:xfrm>
        <a:graphic>
          <a:graphicData uri="http://schemas.openxmlformats.org/drawingml/2006/table">
            <a:tbl>
              <a:tblPr/>
              <a:tblGrid>
                <a:gridCol w="4953000">
                  <a:extLst>
                    <a:ext uri="{9D8B030D-6E8A-4147-A177-3AD203B41FA5}">
                      <a16:colId xmlns:a16="http://schemas.microsoft.com/office/drawing/2014/main" val="383342559"/>
                    </a:ext>
                  </a:extLst>
                </a:gridCol>
                <a:gridCol w="4953000">
                  <a:extLst>
                    <a:ext uri="{9D8B030D-6E8A-4147-A177-3AD203B41FA5}">
                      <a16:colId xmlns:a16="http://schemas.microsoft.com/office/drawing/2014/main" val="212831006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Medial umbilical ligaments (2)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Lateral to median ligament (obliterated umbilical arteries).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9754530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6BB31BF-7294-3E70-4814-061673B4F6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5753238"/>
              </p:ext>
            </p:extLst>
          </p:nvPr>
        </p:nvGraphicFramePr>
        <p:xfrm>
          <a:off x="1141411" y="2700496"/>
          <a:ext cx="9906000" cy="640080"/>
        </p:xfrm>
        <a:graphic>
          <a:graphicData uri="http://schemas.openxmlformats.org/drawingml/2006/table">
            <a:tbl>
              <a:tblPr/>
              <a:tblGrid>
                <a:gridCol w="4953000">
                  <a:extLst>
                    <a:ext uri="{9D8B030D-6E8A-4147-A177-3AD203B41FA5}">
                      <a16:colId xmlns:a16="http://schemas.microsoft.com/office/drawing/2014/main" val="2951975348"/>
                    </a:ext>
                  </a:extLst>
                </a:gridCol>
                <a:gridCol w="4953000">
                  <a:extLst>
                    <a:ext uri="{9D8B030D-6E8A-4147-A177-3AD203B41FA5}">
                      <a16:colId xmlns:a16="http://schemas.microsoft.com/office/drawing/2014/main" val="237358720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Puboprostatic (♂) / </a:t>
                      </a:r>
                      <a:r>
                        <a:rPr lang="en-IN" b="1" dirty="0" err="1"/>
                        <a:t>Pubovesical</a:t>
                      </a:r>
                      <a:r>
                        <a:rPr lang="en-IN" b="1" dirty="0"/>
                        <a:t> (♀) ligaments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From neck of bladder to pubic bone, provide support.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8338925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8B0A7611-D673-5316-1955-5E748AF94C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0289183"/>
              </p:ext>
            </p:extLst>
          </p:nvPr>
        </p:nvGraphicFramePr>
        <p:xfrm>
          <a:off x="1141413" y="2350056"/>
          <a:ext cx="9906000" cy="365760"/>
        </p:xfrm>
        <a:graphic>
          <a:graphicData uri="http://schemas.openxmlformats.org/drawingml/2006/table">
            <a:tbl>
              <a:tblPr/>
              <a:tblGrid>
                <a:gridCol w="4953000">
                  <a:extLst>
                    <a:ext uri="{9D8B030D-6E8A-4147-A177-3AD203B41FA5}">
                      <a16:colId xmlns:a16="http://schemas.microsoft.com/office/drawing/2014/main" val="1298151434"/>
                    </a:ext>
                  </a:extLst>
                </a:gridCol>
                <a:gridCol w="4953000">
                  <a:extLst>
                    <a:ext uri="{9D8B030D-6E8A-4147-A177-3AD203B41FA5}">
                      <a16:colId xmlns:a16="http://schemas.microsoft.com/office/drawing/2014/main" val="184988124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Lateral ligaments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Thickenings of pelvic fascia.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56157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7026060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DE9BB5-B351-954D-6E4A-8BB5EF57AD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FA1135-755B-D366-554B-0F5E09F4A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Process of Urine Storage </a:t>
            </a:r>
            <a:r>
              <a:rPr lang="en-US"/>
              <a:t>and Micturition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92BF38-39FB-1FF6-57B2-CFC2DE0548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6053815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531D33-30B0-F9EC-8C56-8E15E68FCA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1ED21-2989-A1FE-BA17-AE99A531A7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755745-638C-820B-69EA-A4EBCF4E0A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315596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973395-1CBB-314B-F039-E4F35B4BFA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1440AB-ADD3-5CB4-79D5-B448A984BA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008C6E-51AE-42E9-BCDE-6EF16B6F3F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751344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0B487A-2BA9-04E2-ECE8-211D58F27C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3F0A1-FC19-CDC4-FA27-1F1AE7869C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9B4EEA-438B-9F49-31D0-3593202FAE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010336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5E7D27-904E-6E87-2487-F594255FE6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26937-E991-61CD-0FFA-B80D113DA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217279-450E-DFDA-CF05-3AE6E0B832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360907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CD7343-5627-B21A-EA3C-7A426F978D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DC789-CDC7-9BD4-6FC7-83E9203CE8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026172-5760-D137-55CB-40C17E5E7A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504155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F2EB78-B49E-5D82-7D5C-D22E475705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E7E1C-8CD4-D756-6134-4A63C84234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3FF328-8AA8-F8B2-FFEE-8BF5AF04C6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958896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04FDAD-8109-BCE5-4A2B-D1E4224F2A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11C1D-155E-71BD-FDDD-5735B347D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9D7047-9825-8FE5-9B13-CF3574AD57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061102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2B5F27"/>
      </a:dk2>
      <a:lt2>
        <a:srgbClr val="D8FC68"/>
      </a:lt2>
      <a:accent1>
        <a:srgbClr val="DDC855"/>
      </a:accent1>
      <a:accent2>
        <a:srgbClr val="FCA03D"/>
      </a:accent2>
      <a:accent3>
        <a:srgbClr val="E36439"/>
      </a:accent3>
      <a:accent4>
        <a:srgbClr val="C2935B"/>
      </a:accent4>
      <a:accent5>
        <a:srgbClr val="88C25C"/>
      </a:accent5>
      <a:accent6>
        <a:srgbClr val="BFCC86"/>
      </a:accent6>
      <a:hlink>
        <a:srgbClr val="FFCE23"/>
      </a:hlink>
      <a:folHlink>
        <a:srgbClr val="FDEB86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88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82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97ECCC31-8429-4523-BE8D-8F09B7A4D4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4603</TotalTime>
  <Words>2428</Words>
  <Application>Microsoft Office PowerPoint</Application>
  <PresentationFormat>Widescreen</PresentationFormat>
  <Paragraphs>329</Paragraphs>
  <Slides>53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57" baseType="lpstr">
      <vt:lpstr>Arial</vt:lpstr>
      <vt:lpstr>Calisto MT</vt:lpstr>
      <vt:lpstr>Tw Cen MT</vt:lpstr>
      <vt:lpstr>Circuit</vt:lpstr>
      <vt:lpstr>Urinary system</vt:lpstr>
      <vt:lpstr>Introduction</vt:lpstr>
      <vt:lpstr>Main Parts of the Urinary System</vt:lpstr>
      <vt:lpstr>Functions of urinary system</vt:lpstr>
      <vt:lpstr>KIDNEY</vt:lpstr>
      <vt:lpstr>Situation</vt:lpstr>
      <vt:lpstr>Shape, Size, Weight</vt:lpstr>
      <vt:lpstr>Coverings of Kidney</vt:lpstr>
      <vt:lpstr>Relations   1. Anterior relations</vt:lpstr>
      <vt:lpstr>2. Posterior relations (common features)</vt:lpstr>
      <vt:lpstr>Structure of Kidney</vt:lpstr>
      <vt:lpstr>Nephron Structure</vt:lpstr>
      <vt:lpstr>Process of Urine Formation / Excretion</vt:lpstr>
      <vt:lpstr>Blood Supply</vt:lpstr>
      <vt:lpstr>Lymphatic Drainage</vt:lpstr>
      <vt:lpstr>Nerve Supply</vt:lpstr>
      <vt:lpstr>Development</vt:lpstr>
      <vt:lpstr>Developmental Anomalies</vt:lpstr>
      <vt:lpstr>Renal pain: Felt in loin → groin region (T10–L1 dermatomes). Renal colic: Severe pain due to stones in ureter (ureteric calculi). Hydronephrosis: Dilatation of renal pelvis due to obstruction of urine outflow. Pyelonephritis: Inflammation/infection of kidney and renal pelvis. Renal failure: Loss of kidney function → uremia. Kidney transplantation: Done in end-stage renal disease. Surgical importance: Kidneys are retroperitoneal; right kidney approached through right lumbar region.</vt:lpstr>
      <vt:lpstr>URETERS</vt:lpstr>
      <vt:lpstr>Situation</vt:lpstr>
      <vt:lpstr>Length and Size</vt:lpstr>
      <vt:lpstr>Course of Ureter</vt:lpstr>
      <vt:lpstr>Constrictions of Ureter</vt:lpstr>
      <vt:lpstr>Blood Supply</vt:lpstr>
      <vt:lpstr>Venous drainage:</vt:lpstr>
      <vt:lpstr>Lymphatic Drainage</vt:lpstr>
      <vt:lpstr>Nerve Supply</vt:lpstr>
      <vt:lpstr>Histology of Ureter</vt:lpstr>
      <vt:lpstr>Functions</vt:lpstr>
      <vt:lpstr>Applied Anatomy</vt:lpstr>
      <vt:lpstr>URINARY BLADDER</vt:lpstr>
      <vt:lpstr>Situation</vt:lpstr>
      <vt:lpstr>Shape</vt:lpstr>
      <vt:lpstr>Capacity</vt:lpstr>
      <vt:lpstr>Relations</vt:lpstr>
      <vt:lpstr>PowerPoint Presentation</vt:lpstr>
      <vt:lpstr>PowerPoint Presentation</vt:lpstr>
      <vt:lpstr>PowerPoint Presentation</vt:lpstr>
      <vt:lpstr>PowerPoint Presentation</vt:lpstr>
      <vt:lpstr>Blood Supply</vt:lpstr>
      <vt:lpstr>Lymphatic Drainage</vt:lpstr>
      <vt:lpstr>Nerve Supply</vt:lpstr>
      <vt:lpstr>Histology of Urinary Bladder</vt:lpstr>
      <vt:lpstr>Ligaments of the Bladder</vt:lpstr>
      <vt:lpstr>Process of Urine Storage and Micturition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Madhu Chandana Senthil Rajan</dc:creator>
  <cp:lastModifiedBy>Madhu Chandana Senthil Rajan</cp:lastModifiedBy>
  <cp:revision>2</cp:revision>
  <dcterms:created xsi:type="dcterms:W3CDTF">2025-10-04T14:53:23Z</dcterms:created>
  <dcterms:modified xsi:type="dcterms:W3CDTF">2025-11-19T12:55:41Z</dcterms:modified>
</cp:coreProperties>
</file>