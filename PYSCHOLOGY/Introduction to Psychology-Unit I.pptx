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4" r:id="rId8"/>
    <p:sldId id="265" r:id="rId9"/>
    <p:sldId id="266" r:id="rId10"/>
    <p:sldId id="267" r:id="rId11"/>
    <p:sldId id="261"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660"/>
  </p:normalViewPr>
  <p:slideViewPr>
    <p:cSldViewPr snapToGrid="0">
      <p:cViewPr varScale="1">
        <p:scale>
          <a:sx n="78" d="100"/>
          <a:sy n="78" d="100"/>
        </p:scale>
        <p:origin x="38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E1542DE-BE28-4E8A-B562-725B171003AB}"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941761F-3CD2-466E-98A6-041B20D3C45F}" type="slidenum">
              <a:rPr lang="en-IN" smtClean="0"/>
              <a:t>‹#›</a:t>
            </a:fld>
            <a:endParaRPr lang="en-IN"/>
          </a:p>
        </p:txBody>
      </p:sp>
    </p:spTree>
    <p:extLst>
      <p:ext uri="{BB962C8B-B14F-4D97-AF65-F5344CB8AC3E}">
        <p14:creationId xmlns:p14="http://schemas.microsoft.com/office/powerpoint/2010/main" val="315901106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1542DE-BE28-4E8A-B562-725B171003AB}"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1714487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E1542DE-BE28-4E8A-B562-725B171003AB}"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84760407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1542DE-BE28-4E8A-B562-725B171003AB}"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416796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1542DE-BE28-4E8A-B562-725B171003AB}"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33901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1542DE-BE28-4E8A-B562-725B171003AB}"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130573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1542DE-BE28-4E8A-B562-725B171003AB}"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308045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E1542DE-BE28-4E8A-B562-725B171003AB}"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941761F-3CD2-466E-98A6-041B20D3C45F}"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9793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E1542DE-BE28-4E8A-B562-725B171003AB}"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941761F-3CD2-466E-98A6-041B20D3C45F}"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10316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542DE-BE28-4E8A-B562-725B171003AB}"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3249482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542DE-BE28-4E8A-B562-725B171003AB}"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41761F-3CD2-466E-98A6-041B20D3C45F}" type="slidenum">
              <a:rPr lang="en-IN" smtClean="0"/>
              <a:t>‹#›</a:t>
            </a:fld>
            <a:endParaRPr lang="en-IN"/>
          </a:p>
        </p:txBody>
      </p:sp>
    </p:spTree>
    <p:extLst>
      <p:ext uri="{BB962C8B-B14F-4D97-AF65-F5344CB8AC3E}">
        <p14:creationId xmlns:p14="http://schemas.microsoft.com/office/powerpoint/2010/main" val="358557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E1542DE-BE28-4E8A-B562-725B171003AB}"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941761F-3CD2-466E-98A6-041B20D3C45F}" type="slidenum">
              <a:rPr lang="en-IN" smtClean="0"/>
              <a:t>‹#›</a:t>
            </a:fld>
            <a:endParaRPr lang="en-IN"/>
          </a:p>
        </p:txBody>
      </p:sp>
    </p:spTree>
    <p:extLst>
      <p:ext uri="{BB962C8B-B14F-4D97-AF65-F5344CB8AC3E}">
        <p14:creationId xmlns:p14="http://schemas.microsoft.com/office/powerpoint/2010/main" val="2101437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3251-F0DD-AD65-4C82-6F737B0BAC6C}"/>
              </a:ext>
            </a:extLst>
          </p:cNvPr>
          <p:cNvSpPr>
            <a:spLocks noGrp="1"/>
          </p:cNvSpPr>
          <p:nvPr>
            <p:ph type="ctrTitle"/>
          </p:nvPr>
        </p:nvSpPr>
        <p:spPr/>
        <p:txBody>
          <a:bodyPr/>
          <a:lstStyle/>
          <a:p>
            <a:r>
              <a:rPr lang="en-US" dirty="0"/>
              <a:t>Introduction to Psychology-Unit I </a:t>
            </a:r>
            <a:endParaRPr lang="en-IN" dirty="0"/>
          </a:p>
        </p:txBody>
      </p:sp>
      <p:sp>
        <p:nvSpPr>
          <p:cNvPr id="3" name="Subtitle 2">
            <a:extLst>
              <a:ext uri="{FF2B5EF4-FFF2-40B4-BE49-F238E27FC236}">
                <a16:creationId xmlns:a16="http://schemas.microsoft.com/office/drawing/2014/main" id="{25C91BE4-125D-C2E3-B4B7-CABFA647F93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1621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673C9-A018-6FF4-E4F9-8D0B4D59A3DA}"/>
              </a:ext>
            </a:extLst>
          </p:cNvPr>
          <p:cNvSpPr>
            <a:spLocks noGrp="1"/>
          </p:cNvSpPr>
          <p:nvPr>
            <p:ph type="title"/>
          </p:nvPr>
        </p:nvSpPr>
        <p:spPr/>
        <p:txBody>
          <a:bodyPr/>
          <a:lstStyle/>
          <a:p>
            <a:r>
              <a:rPr lang="en-US" dirty="0"/>
              <a:t>Introduction :</a:t>
            </a:r>
            <a:endParaRPr lang="en-IN" dirty="0"/>
          </a:p>
        </p:txBody>
      </p:sp>
      <p:sp>
        <p:nvSpPr>
          <p:cNvPr id="3" name="Content Placeholder 2">
            <a:extLst>
              <a:ext uri="{FF2B5EF4-FFF2-40B4-BE49-F238E27FC236}">
                <a16:creationId xmlns:a16="http://schemas.microsoft.com/office/drawing/2014/main" id="{6AB000A9-35A1-B7AF-E0C5-9B9235803773}"/>
              </a:ext>
            </a:extLst>
          </p:cNvPr>
          <p:cNvSpPr>
            <a:spLocks noGrp="1"/>
          </p:cNvSpPr>
          <p:nvPr>
            <p:ph idx="1"/>
          </p:nvPr>
        </p:nvSpPr>
        <p:spPr/>
        <p:txBody>
          <a:bodyPr/>
          <a:lstStyle/>
          <a:p>
            <a:pPr marL="0" indent="0" algn="just">
              <a:buNone/>
            </a:pPr>
            <a:r>
              <a:rPr lang="en-US" dirty="0"/>
              <a:t>Psychology is the scientific study of mind and behavior. The term originates from the Greek words '</a:t>
            </a:r>
            <a:r>
              <a:rPr lang="en-US" dirty="0" err="1"/>
              <a:t>psychē</a:t>
            </a:r>
            <a:r>
              <a:rPr lang="en-US" dirty="0"/>
              <a:t>' meaning soul and 'logia' meaning study. Historically rooted in philosophy, psychology emerged as a distinct scientific discipline in the late 19th century. Wilhelm Wundt is widely regarded as the father of modern psychology. Today, psychology spans both theoretical and applied domains, encompassing the understanding of cognitive functions, emotional processes, and behavioral patterns. </a:t>
            </a:r>
          </a:p>
          <a:p>
            <a:r>
              <a:rPr lang="en-US" b="1" dirty="0"/>
              <a:t>Major Goals of Psychology</a:t>
            </a:r>
          </a:p>
          <a:p>
            <a:r>
              <a:rPr lang="en-US" b="1" dirty="0"/>
              <a:t>Describe</a:t>
            </a:r>
            <a:r>
              <a:rPr lang="en-US" dirty="0"/>
              <a:t> behavior</a:t>
            </a:r>
          </a:p>
          <a:p>
            <a:r>
              <a:rPr lang="en-US" b="1" dirty="0"/>
              <a:t>Explain</a:t>
            </a:r>
            <a:r>
              <a:rPr lang="en-US" dirty="0"/>
              <a:t> why it occurs</a:t>
            </a:r>
          </a:p>
          <a:p>
            <a:r>
              <a:rPr lang="en-US" b="1" dirty="0"/>
              <a:t>Predict</a:t>
            </a:r>
            <a:r>
              <a:rPr lang="en-US" dirty="0"/>
              <a:t> future behavior</a:t>
            </a:r>
          </a:p>
          <a:p>
            <a:r>
              <a:rPr lang="en-US" b="1" dirty="0"/>
              <a:t>Control/Modify</a:t>
            </a:r>
            <a:r>
              <a:rPr lang="en-US" dirty="0"/>
              <a:t> behavior to improve well-</a:t>
            </a:r>
            <a:r>
              <a:rPr lang="en-US" dirty="0" err="1"/>
              <a:t>bein</a:t>
            </a:r>
            <a:endParaRPr lang="en-US" dirty="0"/>
          </a:p>
          <a:p>
            <a:pPr marL="0" indent="0">
              <a:buNone/>
            </a:pPr>
            <a:endParaRPr lang="en-IN" dirty="0"/>
          </a:p>
        </p:txBody>
      </p:sp>
    </p:spTree>
    <p:extLst>
      <p:ext uri="{BB962C8B-B14F-4D97-AF65-F5344CB8AC3E}">
        <p14:creationId xmlns:p14="http://schemas.microsoft.com/office/powerpoint/2010/main" val="399330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0A9BB8E3-9B2B-C840-FB9C-842D85C9D4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76E496-6C05-CCEF-7B5A-F840AAB2F40A}"/>
              </a:ext>
            </a:extLst>
          </p:cNvPr>
          <p:cNvSpPr>
            <a:spLocks noGrp="1"/>
          </p:cNvSpPr>
          <p:nvPr>
            <p:ph idx="1"/>
          </p:nvPr>
        </p:nvSpPr>
        <p:spPr>
          <a:xfrm>
            <a:off x="370390" y="133109"/>
            <a:ext cx="11076972" cy="6591782"/>
          </a:xfrm>
        </p:spPr>
        <p:txBody>
          <a:bodyPr>
            <a:normAutofit fontScale="85000" lnSpcReduction="20000"/>
          </a:bodyPr>
          <a:lstStyle/>
          <a:p>
            <a:pPr marL="0" indent="0">
              <a:buNone/>
            </a:pPr>
            <a:r>
              <a:rPr lang="en-US" sz="1900" b="1" dirty="0"/>
              <a:t>Branches of Psychology</a:t>
            </a:r>
          </a:p>
          <a:p>
            <a:r>
              <a:rPr lang="en-US" sz="1900" b="1" dirty="0"/>
              <a:t>Biological Psychology</a:t>
            </a:r>
            <a:br>
              <a:rPr lang="en-US" sz="1900" dirty="0"/>
            </a:br>
            <a:r>
              <a:rPr lang="en-US" sz="1900" dirty="0"/>
              <a:t>Studies how the brain, nerves, hormones affect behavior and mental processes.</a:t>
            </a:r>
          </a:p>
          <a:p>
            <a:r>
              <a:rPr lang="en-US" sz="1900" b="1" dirty="0"/>
              <a:t>Cognitive Psychology</a:t>
            </a:r>
            <a:br>
              <a:rPr lang="en-US" sz="1900" dirty="0"/>
            </a:br>
            <a:r>
              <a:rPr lang="en-US" sz="1900" dirty="0"/>
              <a:t>Focuses on mental processes like perception, memory, thinking, learning, and problem-solving.</a:t>
            </a:r>
          </a:p>
          <a:p>
            <a:r>
              <a:rPr lang="en-US" sz="1900" b="1" dirty="0"/>
              <a:t>Developmental Psychology</a:t>
            </a:r>
            <a:br>
              <a:rPr lang="en-US" sz="1900" dirty="0"/>
            </a:br>
            <a:r>
              <a:rPr lang="en-US" sz="1900" dirty="0"/>
              <a:t>Examines how humans grow and change across the lifespan—from infancy to old age.</a:t>
            </a:r>
          </a:p>
          <a:p>
            <a:r>
              <a:rPr lang="en-US" sz="1900" b="1" dirty="0"/>
              <a:t>Social Psychology</a:t>
            </a:r>
            <a:br>
              <a:rPr lang="en-US" sz="1900" dirty="0"/>
            </a:br>
            <a:r>
              <a:rPr lang="en-US" sz="1900" dirty="0"/>
              <a:t>Studies how people behave in social situations—conformity, attitudes, prejudice, relationships, group behavior.</a:t>
            </a:r>
          </a:p>
          <a:p>
            <a:r>
              <a:rPr lang="en-US" sz="1900" b="1" dirty="0"/>
              <a:t>Personality Psychology</a:t>
            </a:r>
            <a:br>
              <a:rPr lang="en-US" sz="1900" dirty="0"/>
            </a:br>
            <a:r>
              <a:rPr lang="en-US" sz="1900" dirty="0"/>
              <a:t>Explores patterns of thoughts and behavior that make each person unique.</a:t>
            </a:r>
          </a:p>
          <a:p>
            <a:r>
              <a:rPr lang="en-US" sz="1900" b="1" dirty="0"/>
              <a:t>Clinical and Counseling Psychology</a:t>
            </a:r>
            <a:br>
              <a:rPr lang="en-US" sz="1900" dirty="0"/>
            </a:br>
            <a:r>
              <a:rPr lang="en-US" sz="1900" dirty="0"/>
              <a:t>Focuses on diagnosing and treating mental disorders, stress, emotional difficulties.</a:t>
            </a:r>
          </a:p>
          <a:p>
            <a:r>
              <a:rPr lang="en-US" sz="1900" b="1" dirty="0"/>
              <a:t>Educational Psychology</a:t>
            </a:r>
            <a:br>
              <a:rPr lang="en-US" sz="1900" dirty="0"/>
            </a:br>
            <a:r>
              <a:rPr lang="en-US" sz="1900" dirty="0"/>
              <a:t>Deals with learning processes, teaching methods, and student behavior.</a:t>
            </a:r>
          </a:p>
          <a:p>
            <a:r>
              <a:rPr lang="en-US" sz="1900" b="1" dirty="0"/>
              <a:t>Industrial–Organizational Psychology</a:t>
            </a:r>
            <a:br>
              <a:rPr lang="en-US" sz="1900" dirty="0"/>
            </a:br>
            <a:r>
              <a:rPr lang="en-US" sz="1900" dirty="0"/>
              <a:t>Applies psychological principles in workplaces—motivation, leadership, job performance.</a:t>
            </a:r>
            <a:br>
              <a:rPr lang="en-US" sz="1900" dirty="0"/>
            </a:br>
            <a:endParaRPr lang="en-US" sz="1900" dirty="0"/>
          </a:p>
          <a:p>
            <a:pPr marL="0" indent="0">
              <a:buNone/>
            </a:pPr>
            <a:r>
              <a:rPr lang="en-US" sz="1900" b="1" dirty="0"/>
              <a:t>Key Methods Used in Psychology</a:t>
            </a:r>
          </a:p>
          <a:p>
            <a:r>
              <a:rPr lang="en-US" sz="1900" dirty="0"/>
              <a:t>Experiments</a:t>
            </a:r>
          </a:p>
          <a:p>
            <a:r>
              <a:rPr lang="en-US" sz="1900" dirty="0"/>
              <a:t>Observations</a:t>
            </a:r>
          </a:p>
          <a:p>
            <a:r>
              <a:rPr lang="en-US" sz="1900" dirty="0"/>
              <a:t>Surveys and interviews</a:t>
            </a:r>
          </a:p>
          <a:p>
            <a:r>
              <a:rPr lang="en-US" sz="1900" dirty="0"/>
              <a:t>Case studies</a:t>
            </a:r>
          </a:p>
          <a:p>
            <a:r>
              <a:rPr lang="en-US" sz="1900" dirty="0"/>
              <a:t>Psychological tests</a:t>
            </a:r>
          </a:p>
          <a:p>
            <a:endParaRPr lang="en-IN" dirty="0"/>
          </a:p>
        </p:txBody>
      </p:sp>
    </p:spTree>
    <p:extLst>
      <p:ext uri="{BB962C8B-B14F-4D97-AF65-F5344CB8AC3E}">
        <p14:creationId xmlns:p14="http://schemas.microsoft.com/office/powerpoint/2010/main" val="398517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FF2873E1-7BF8-5995-D4A9-70CAB847B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2C66B-AD47-8FF3-7911-16769B622B35}"/>
              </a:ext>
            </a:extLst>
          </p:cNvPr>
          <p:cNvSpPr>
            <a:spLocks noGrp="1"/>
          </p:cNvSpPr>
          <p:nvPr>
            <p:ph type="title"/>
          </p:nvPr>
        </p:nvSpPr>
        <p:spPr>
          <a:xfrm>
            <a:off x="605742" y="561372"/>
            <a:ext cx="10058400" cy="1371600"/>
          </a:xfrm>
        </p:spPr>
        <p:txBody>
          <a:bodyPr/>
          <a:lstStyle/>
          <a:p>
            <a:r>
              <a:rPr lang="en-IN" dirty="0"/>
              <a:t>Schools of Psychology </a:t>
            </a:r>
          </a:p>
        </p:txBody>
      </p:sp>
      <p:sp>
        <p:nvSpPr>
          <p:cNvPr id="26" name="Content Placeholder 25">
            <a:extLst>
              <a:ext uri="{FF2B5EF4-FFF2-40B4-BE49-F238E27FC236}">
                <a16:creationId xmlns:a16="http://schemas.microsoft.com/office/drawing/2014/main" id="{BB8513E8-36D3-4D41-9333-AA54283D328A}"/>
              </a:ext>
            </a:extLst>
          </p:cNvPr>
          <p:cNvSpPr>
            <a:spLocks noGrp="1"/>
          </p:cNvSpPr>
          <p:nvPr>
            <p:ph idx="1"/>
          </p:nvPr>
        </p:nvSpPr>
        <p:spPr/>
        <p:txBody>
          <a:bodyPr/>
          <a:lstStyle/>
          <a:p>
            <a:r>
              <a:rPr lang="en-US" b="1" dirty="0"/>
              <a:t>1. Structuralism</a:t>
            </a:r>
          </a:p>
          <a:p>
            <a:r>
              <a:rPr lang="en-US" b="1" dirty="0"/>
              <a:t>Founders:</a:t>
            </a:r>
            <a:r>
              <a:rPr lang="en-US" dirty="0"/>
              <a:t> Wilhelm Wundt and Edward Titchener</a:t>
            </a:r>
            <a:br>
              <a:rPr lang="en-US" dirty="0"/>
            </a:br>
            <a:r>
              <a:rPr lang="en-US" b="1" dirty="0"/>
              <a:t>Focus:</a:t>
            </a:r>
            <a:r>
              <a:rPr lang="en-US" dirty="0"/>
              <a:t> Structure of the mind</a:t>
            </a:r>
            <a:br>
              <a:rPr lang="en-US" dirty="0"/>
            </a:br>
            <a:r>
              <a:rPr lang="en-US" b="1" dirty="0"/>
              <a:t>Main method:</a:t>
            </a:r>
            <a:r>
              <a:rPr lang="en-US" dirty="0"/>
              <a:t> </a:t>
            </a:r>
            <a:r>
              <a:rPr lang="en-US" i="1" dirty="0"/>
              <a:t>Introspection</a:t>
            </a:r>
            <a:r>
              <a:rPr lang="en-US" dirty="0"/>
              <a:t> (examining one’s own conscious experience)</a:t>
            </a:r>
          </a:p>
          <a:p>
            <a:r>
              <a:rPr lang="en-US" dirty="0"/>
              <a:t>Tried to break consciousness into basic elements: sensations, images, and feelings.</a:t>
            </a:r>
          </a:p>
          <a:p>
            <a:r>
              <a:rPr lang="en-US" dirty="0"/>
              <a:t>First major school in psychology.</a:t>
            </a:r>
          </a:p>
          <a:p>
            <a:r>
              <a:rPr lang="en-US" b="1" dirty="0"/>
              <a:t>2. Functionalism</a:t>
            </a:r>
          </a:p>
          <a:p>
            <a:r>
              <a:rPr lang="en-US" b="1" dirty="0"/>
              <a:t>Founder:</a:t>
            </a:r>
            <a:r>
              <a:rPr lang="en-US" dirty="0"/>
              <a:t> William James (also influenced by Charles Darwin)</a:t>
            </a:r>
            <a:br>
              <a:rPr lang="en-US" dirty="0"/>
            </a:br>
            <a:r>
              <a:rPr lang="en-US" b="1" dirty="0"/>
              <a:t>Focus:</a:t>
            </a:r>
            <a:r>
              <a:rPr lang="en-US" dirty="0"/>
              <a:t> Purpose or function of mental processes and behavior</a:t>
            </a:r>
            <a:br>
              <a:rPr lang="en-US" dirty="0"/>
            </a:br>
            <a:r>
              <a:rPr lang="en-US" b="1" dirty="0"/>
              <a:t>Key Idea:</a:t>
            </a:r>
            <a:r>
              <a:rPr lang="en-US" dirty="0"/>
              <a:t> </a:t>
            </a:r>
            <a:r>
              <a:rPr lang="en-US" i="1" dirty="0"/>
              <a:t>How does the mind help us adapt to the environment?</a:t>
            </a:r>
            <a:endParaRPr lang="en-US" dirty="0"/>
          </a:p>
          <a:p>
            <a:r>
              <a:rPr lang="en-US" dirty="0"/>
              <a:t>Studied emotions, habits, will, consciousness, etc.</a:t>
            </a:r>
          </a:p>
          <a:p>
            <a:endParaRPr lang="en-IN" dirty="0"/>
          </a:p>
        </p:txBody>
      </p:sp>
    </p:spTree>
    <p:extLst>
      <p:ext uri="{BB962C8B-B14F-4D97-AF65-F5344CB8AC3E}">
        <p14:creationId xmlns:p14="http://schemas.microsoft.com/office/powerpoint/2010/main" val="2573539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7A6080D6-885B-7248-6D50-BEEA8A74B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A9F2E-A87B-2338-C5F7-E53D8C555645}"/>
              </a:ext>
            </a:extLst>
          </p:cNvPr>
          <p:cNvSpPr>
            <a:spLocks noGrp="1"/>
          </p:cNvSpPr>
          <p:nvPr>
            <p:ph type="title"/>
          </p:nvPr>
        </p:nvSpPr>
        <p:spPr>
          <a:xfrm>
            <a:off x="605742" y="561372"/>
            <a:ext cx="10058400" cy="1371600"/>
          </a:xfrm>
        </p:spPr>
        <p:txBody>
          <a:bodyPr/>
          <a:lstStyle/>
          <a:p>
            <a:r>
              <a:rPr lang="en-IN" dirty="0"/>
              <a:t>Schools of Psychology </a:t>
            </a:r>
          </a:p>
        </p:txBody>
      </p:sp>
      <p:sp>
        <p:nvSpPr>
          <p:cNvPr id="26" name="Content Placeholder 25">
            <a:extLst>
              <a:ext uri="{FF2B5EF4-FFF2-40B4-BE49-F238E27FC236}">
                <a16:creationId xmlns:a16="http://schemas.microsoft.com/office/drawing/2014/main" id="{A0C588C0-2D74-1C5C-D736-37D84F18F555}"/>
              </a:ext>
            </a:extLst>
          </p:cNvPr>
          <p:cNvSpPr>
            <a:spLocks noGrp="1"/>
          </p:cNvSpPr>
          <p:nvPr>
            <p:ph idx="1"/>
          </p:nvPr>
        </p:nvSpPr>
        <p:spPr/>
        <p:txBody>
          <a:bodyPr/>
          <a:lstStyle/>
          <a:p>
            <a:pPr marL="0" indent="0">
              <a:buNone/>
            </a:pPr>
            <a:r>
              <a:rPr lang="en-IN" b="1" dirty="0"/>
              <a:t>3. Psychoanalysis</a:t>
            </a:r>
          </a:p>
          <a:p>
            <a:r>
              <a:rPr lang="en-IN" b="1" dirty="0"/>
              <a:t>Founder:</a:t>
            </a:r>
            <a:r>
              <a:rPr lang="en-IN" dirty="0"/>
              <a:t> Sigmund Freud</a:t>
            </a:r>
            <a:br>
              <a:rPr lang="en-IN" dirty="0"/>
            </a:br>
            <a:r>
              <a:rPr lang="en-IN" b="1" dirty="0"/>
              <a:t>Focus:</a:t>
            </a:r>
            <a:r>
              <a:rPr lang="en-IN" dirty="0"/>
              <a:t> Unconscious mind and inner conflicts</a:t>
            </a:r>
            <a:br>
              <a:rPr lang="en-IN" dirty="0"/>
            </a:br>
            <a:r>
              <a:rPr lang="en-IN" b="1" dirty="0"/>
              <a:t>Key Concepts:</a:t>
            </a:r>
            <a:endParaRPr lang="en-IN" dirty="0"/>
          </a:p>
          <a:p>
            <a:r>
              <a:rPr lang="en-IN" dirty="0"/>
              <a:t>Id, Ego, Superego</a:t>
            </a:r>
          </a:p>
          <a:p>
            <a:r>
              <a:rPr lang="en-IN" dirty="0"/>
              <a:t>Repression</a:t>
            </a:r>
          </a:p>
          <a:p>
            <a:r>
              <a:rPr lang="en-IN" dirty="0"/>
              <a:t>Childhood experiences</a:t>
            </a:r>
          </a:p>
          <a:p>
            <a:r>
              <a:rPr lang="en-IN" dirty="0"/>
              <a:t>Psychosexual stages</a:t>
            </a:r>
          </a:p>
          <a:p>
            <a:r>
              <a:rPr lang="en-IN" dirty="0"/>
              <a:t>Psychoanalysis emphasized that human </a:t>
            </a:r>
            <a:r>
              <a:rPr lang="en-IN" dirty="0" err="1"/>
              <a:t>behavior</a:t>
            </a:r>
            <a:r>
              <a:rPr lang="en-IN" dirty="0"/>
              <a:t> is largely influenced by unconscious desires.</a:t>
            </a:r>
          </a:p>
          <a:p>
            <a:endParaRPr lang="en-IN" dirty="0"/>
          </a:p>
        </p:txBody>
      </p:sp>
    </p:spTree>
    <p:extLst>
      <p:ext uri="{BB962C8B-B14F-4D97-AF65-F5344CB8AC3E}">
        <p14:creationId xmlns:p14="http://schemas.microsoft.com/office/powerpoint/2010/main" val="3672357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FF8018C4-C0DC-7BA6-2104-617512D36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6FB31-C72F-1636-20C8-05C6F3E68B5F}"/>
              </a:ext>
            </a:extLst>
          </p:cNvPr>
          <p:cNvSpPr>
            <a:spLocks noGrp="1"/>
          </p:cNvSpPr>
          <p:nvPr>
            <p:ph type="title"/>
          </p:nvPr>
        </p:nvSpPr>
        <p:spPr>
          <a:xfrm>
            <a:off x="605742" y="561372"/>
            <a:ext cx="10058400" cy="1371600"/>
          </a:xfrm>
        </p:spPr>
        <p:txBody>
          <a:bodyPr/>
          <a:lstStyle/>
          <a:p>
            <a:r>
              <a:rPr lang="en-IN" dirty="0"/>
              <a:t>Schools of Psychology </a:t>
            </a:r>
          </a:p>
        </p:txBody>
      </p:sp>
      <p:sp>
        <p:nvSpPr>
          <p:cNvPr id="26" name="Content Placeholder 25">
            <a:extLst>
              <a:ext uri="{FF2B5EF4-FFF2-40B4-BE49-F238E27FC236}">
                <a16:creationId xmlns:a16="http://schemas.microsoft.com/office/drawing/2014/main" id="{2D46FEFC-C56B-5DAB-16C7-CE2843951687}"/>
              </a:ext>
            </a:extLst>
          </p:cNvPr>
          <p:cNvSpPr>
            <a:spLocks noGrp="1"/>
          </p:cNvSpPr>
          <p:nvPr>
            <p:ph idx="1"/>
          </p:nvPr>
        </p:nvSpPr>
        <p:spPr/>
        <p:txBody>
          <a:bodyPr>
            <a:normAutofit lnSpcReduction="10000"/>
          </a:bodyPr>
          <a:lstStyle/>
          <a:p>
            <a:pPr marL="0" indent="0">
              <a:buNone/>
            </a:pPr>
            <a:r>
              <a:rPr lang="en-US" b="1" dirty="0"/>
              <a:t>4. Behaviorism</a:t>
            </a:r>
          </a:p>
          <a:p>
            <a:r>
              <a:rPr lang="en-US" b="1" dirty="0"/>
              <a:t>Founders:</a:t>
            </a:r>
            <a:r>
              <a:rPr lang="en-US" dirty="0"/>
              <a:t> John B. Watson, later B.F. Skinner</a:t>
            </a:r>
            <a:br>
              <a:rPr lang="en-US" dirty="0"/>
            </a:br>
            <a:r>
              <a:rPr lang="en-US" b="1" dirty="0"/>
              <a:t>Focus:</a:t>
            </a:r>
            <a:r>
              <a:rPr lang="en-US" dirty="0"/>
              <a:t> Observable behavior (rejects study of mind)</a:t>
            </a:r>
            <a:br>
              <a:rPr lang="en-US" dirty="0"/>
            </a:br>
            <a:r>
              <a:rPr lang="en-US" b="1" dirty="0"/>
              <a:t>Key Ideas:</a:t>
            </a:r>
            <a:endParaRPr lang="en-US" dirty="0"/>
          </a:p>
          <a:p>
            <a:r>
              <a:rPr lang="en-US" dirty="0"/>
              <a:t>Behavior is learned from the environment</a:t>
            </a:r>
          </a:p>
          <a:p>
            <a:r>
              <a:rPr lang="en-US" dirty="0"/>
              <a:t>Conditioning (classical and operant)</a:t>
            </a:r>
          </a:p>
          <a:p>
            <a:r>
              <a:rPr lang="en-US" dirty="0"/>
              <a:t>"Psychology should be a science of behavior, not consciousness."</a:t>
            </a:r>
          </a:p>
          <a:p>
            <a:pPr marL="0" indent="0">
              <a:buNone/>
            </a:pPr>
            <a:r>
              <a:rPr lang="en-US" b="1" dirty="0"/>
              <a:t>5. Gestalt Psychology</a:t>
            </a:r>
          </a:p>
          <a:p>
            <a:r>
              <a:rPr lang="en-US" b="1" dirty="0"/>
              <a:t>Founders:</a:t>
            </a:r>
            <a:r>
              <a:rPr lang="en-US" dirty="0"/>
              <a:t> Max Wertheimer, Wolfgang Köhler, Kurt Koffka</a:t>
            </a:r>
            <a:br>
              <a:rPr lang="en-US" dirty="0"/>
            </a:br>
            <a:r>
              <a:rPr lang="en-US" b="1" dirty="0"/>
              <a:t>Focus:</a:t>
            </a:r>
            <a:r>
              <a:rPr lang="en-US" dirty="0"/>
              <a:t> Perception and organization of experience</a:t>
            </a:r>
            <a:br>
              <a:rPr lang="en-US" dirty="0"/>
            </a:br>
            <a:r>
              <a:rPr lang="en-US" b="1" dirty="0"/>
              <a:t>Principle:</a:t>
            </a:r>
            <a:r>
              <a:rPr lang="en-US" dirty="0"/>
              <a:t> </a:t>
            </a:r>
            <a:r>
              <a:rPr lang="en-US" i="1" dirty="0"/>
              <a:t>“The whole is greater than the sum of its parts.”</a:t>
            </a:r>
            <a:endParaRPr lang="en-US" dirty="0"/>
          </a:p>
          <a:p>
            <a:r>
              <a:rPr lang="en-US" dirty="0"/>
              <a:t>Studied how people perceive patterns, illusions, and meaningful wholes.</a:t>
            </a:r>
          </a:p>
          <a:p>
            <a:endParaRPr lang="en-IN" dirty="0"/>
          </a:p>
        </p:txBody>
      </p:sp>
    </p:spTree>
    <p:extLst>
      <p:ext uri="{BB962C8B-B14F-4D97-AF65-F5344CB8AC3E}">
        <p14:creationId xmlns:p14="http://schemas.microsoft.com/office/powerpoint/2010/main" val="702907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CAB7923C-6E1A-BA8E-BAC3-483082CD5665}"/>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3A0FB14-F6B8-ED75-52F0-8370CA89A5EC}"/>
              </a:ext>
            </a:extLst>
          </p:cNvPr>
          <p:cNvPicPr>
            <a:picLocks noGrp="1" noChangeAspect="1"/>
          </p:cNvPicPr>
          <p:nvPr>
            <p:ph idx="1"/>
          </p:nvPr>
        </p:nvPicPr>
        <p:blipFill>
          <a:blip r:embed="rId2"/>
          <a:stretch>
            <a:fillRect/>
          </a:stretch>
        </p:blipFill>
        <p:spPr>
          <a:xfrm>
            <a:off x="1066799" y="1828134"/>
            <a:ext cx="10058399" cy="1991002"/>
          </a:xfrm>
          <a:prstGeom prst="rect">
            <a:avLst/>
          </a:prstGeom>
        </p:spPr>
      </p:pic>
      <p:sp>
        <p:nvSpPr>
          <p:cNvPr id="4" name="Title 3">
            <a:extLst>
              <a:ext uri="{FF2B5EF4-FFF2-40B4-BE49-F238E27FC236}">
                <a16:creationId xmlns:a16="http://schemas.microsoft.com/office/drawing/2014/main" id="{7D29D8DC-8DE7-214F-4FD0-E47AE103CF9D}"/>
              </a:ext>
            </a:extLst>
          </p:cNvPr>
          <p:cNvSpPr>
            <a:spLocks noGrp="1"/>
          </p:cNvSpPr>
          <p:nvPr>
            <p:ph type="title"/>
          </p:nvPr>
        </p:nvSpPr>
        <p:spPr/>
        <p:txBody>
          <a:bodyPr/>
          <a:lstStyle/>
          <a:p>
            <a:r>
              <a:rPr lang="en-US" dirty="0"/>
              <a:t>Gestalt psychology</a:t>
            </a:r>
            <a:endParaRPr lang="en-IN" dirty="0"/>
          </a:p>
        </p:txBody>
      </p:sp>
      <p:pic>
        <p:nvPicPr>
          <p:cNvPr id="8" name="Picture 7">
            <a:extLst>
              <a:ext uri="{FF2B5EF4-FFF2-40B4-BE49-F238E27FC236}">
                <a16:creationId xmlns:a16="http://schemas.microsoft.com/office/drawing/2014/main" id="{43ECD5F9-A5A5-81C6-C630-05F4A50A897C}"/>
              </a:ext>
            </a:extLst>
          </p:cNvPr>
          <p:cNvPicPr>
            <a:picLocks noChangeAspect="1"/>
          </p:cNvPicPr>
          <p:nvPr/>
        </p:nvPicPr>
        <p:blipFill>
          <a:blip r:embed="rId3"/>
          <a:stretch>
            <a:fillRect/>
          </a:stretch>
        </p:blipFill>
        <p:spPr>
          <a:xfrm>
            <a:off x="1066799" y="3819136"/>
            <a:ext cx="10058399" cy="1991003"/>
          </a:xfrm>
          <a:prstGeom prst="rect">
            <a:avLst/>
          </a:prstGeom>
        </p:spPr>
      </p:pic>
    </p:spTree>
    <p:extLst>
      <p:ext uri="{BB962C8B-B14F-4D97-AF65-F5344CB8AC3E}">
        <p14:creationId xmlns:p14="http://schemas.microsoft.com/office/powerpoint/2010/main" val="2641991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0FDD3560-1583-B28C-2A3E-E0297AE5A3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BED182-00B5-81CF-A58E-6409439F1484}"/>
              </a:ext>
            </a:extLst>
          </p:cNvPr>
          <p:cNvSpPr>
            <a:spLocks noGrp="1"/>
          </p:cNvSpPr>
          <p:nvPr>
            <p:ph type="title"/>
          </p:nvPr>
        </p:nvSpPr>
        <p:spPr/>
        <p:txBody>
          <a:bodyPr/>
          <a:lstStyle/>
          <a:p>
            <a:r>
              <a:rPr lang="en-US" dirty="0"/>
              <a:t>Gestalt psychology</a:t>
            </a:r>
            <a:endParaRPr lang="en-IN" dirty="0"/>
          </a:p>
        </p:txBody>
      </p:sp>
      <p:pic>
        <p:nvPicPr>
          <p:cNvPr id="8" name="Picture 7">
            <a:extLst>
              <a:ext uri="{FF2B5EF4-FFF2-40B4-BE49-F238E27FC236}">
                <a16:creationId xmlns:a16="http://schemas.microsoft.com/office/drawing/2014/main" id="{F6CDAA65-B746-2CA7-28F8-7A33F9329AF0}"/>
              </a:ext>
            </a:extLst>
          </p:cNvPr>
          <p:cNvPicPr>
            <a:picLocks noChangeAspect="1"/>
          </p:cNvPicPr>
          <p:nvPr/>
        </p:nvPicPr>
        <p:blipFill>
          <a:blip r:embed="rId2"/>
          <a:stretch>
            <a:fillRect/>
          </a:stretch>
        </p:blipFill>
        <p:spPr>
          <a:xfrm>
            <a:off x="1066799" y="3819136"/>
            <a:ext cx="10058399" cy="1991003"/>
          </a:xfrm>
          <a:prstGeom prst="rect">
            <a:avLst/>
          </a:prstGeom>
        </p:spPr>
      </p:pic>
      <p:pic>
        <p:nvPicPr>
          <p:cNvPr id="7" name="Content Placeholder 6">
            <a:extLst>
              <a:ext uri="{FF2B5EF4-FFF2-40B4-BE49-F238E27FC236}">
                <a16:creationId xmlns:a16="http://schemas.microsoft.com/office/drawing/2014/main" id="{9E83719F-5015-BCC3-27D3-ACB75C61DF17}"/>
              </a:ext>
            </a:extLst>
          </p:cNvPr>
          <p:cNvPicPr>
            <a:picLocks noGrp="1" noChangeAspect="1"/>
          </p:cNvPicPr>
          <p:nvPr>
            <p:ph idx="1"/>
          </p:nvPr>
        </p:nvPicPr>
        <p:blipFill>
          <a:blip r:embed="rId3"/>
          <a:stretch>
            <a:fillRect/>
          </a:stretch>
        </p:blipFill>
        <p:spPr>
          <a:xfrm>
            <a:off x="1066798" y="2014194"/>
            <a:ext cx="10058399" cy="3932237"/>
          </a:xfrm>
          <a:prstGeom prst="rect">
            <a:avLst/>
          </a:prstGeom>
        </p:spPr>
      </p:pic>
    </p:spTree>
    <p:extLst>
      <p:ext uri="{BB962C8B-B14F-4D97-AF65-F5344CB8AC3E}">
        <p14:creationId xmlns:p14="http://schemas.microsoft.com/office/powerpoint/2010/main" val="190494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163898E9-2909-B1A4-DB5A-BCABD24AF3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2DD096A-15C7-F5E4-A90E-46AE4383A186}"/>
              </a:ext>
            </a:extLst>
          </p:cNvPr>
          <p:cNvSpPr>
            <a:spLocks noGrp="1"/>
          </p:cNvSpPr>
          <p:nvPr>
            <p:ph type="title"/>
          </p:nvPr>
        </p:nvSpPr>
        <p:spPr/>
        <p:txBody>
          <a:bodyPr/>
          <a:lstStyle/>
          <a:p>
            <a:r>
              <a:rPr lang="en-US" dirty="0"/>
              <a:t>Gestalt psychology</a:t>
            </a:r>
            <a:endParaRPr lang="en-IN" dirty="0"/>
          </a:p>
        </p:txBody>
      </p:sp>
      <p:pic>
        <p:nvPicPr>
          <p:cNvPr id="8" name="Picture 7">
            <a:extLst>
              <a:ext uri="{FF2B5EF4-FFF2-40B4-BE49-F238E27FC236}">
                <a16:creationId xmlns:a16="http://schemas.microsoft.com/office/drawing/2014/main" id="{4BD0F6CB-5854-7F8B-9783-A19FBF1626B8}"/>
              </a:ext>
            </a:extLst>
          </p:cNvPr>
          <p:cNvPicPr>
            <a:picLocks noChangeAspect="1"/>
          </p:cNvPicPr>
          <p:nvPr/>
        </p:nvPicPr>
        <p:blipFill>
          <a:blip r:embed="rId2"/>
          <a:stretch>
            <a:fillRect/>
          </a:stretch>
        </p:blipFill>
        <p:spPr>
          <a:xfrm>
            <a:off x="1066799" y="3819136"/>
            <a:ext cx="10058399" cy="1991003"/>
          </a:xfrm>
          <a:prstGeom prst="rect">
            <a:avLst/>
          </a:prstGeom>
        </p:spPr>
      </p:pic>
      <p:pic>
        <p:nvPicPr>
          <p:cNvPr id="6" name="Content Placeholder 5">
            <a:extLst>
              <a:ext uri="{FF2B5EF4-FFF2-40B4-BE49-F238E27FC236}">
                <a16:creationId xmlns:a16="http://schemas.microsoft.com/office/drawing/2014/main" id="{6EF480D8-1F02-8A0B-E215-EC5DBCADD2FA}"/>
              </a:ext>
            </a:extLst>
          </p:cNvPr>
          <p:cNvPicPr>
            <a:picLocks noGrp="1" noChangeAspect="1"/>
          </p:cNvPicPr>
          <p:nvPr>
            <p:ph idx="1"/>
          </p:nvPr>
        </p:nvPicPr>
        <p:blipFill>
          <a:blip r:embed="rId3"/>
          <a:stretch>
            <a:fillRect/>
          </a:stretch>
        </p:blipFill>
        <p:spPr>
          <a:xfrm>
            <a:off x="1066799" y="1886178"/>
            <a:ext cx="10058399" cy="1152686"/>
          </a:xfrm>
          <a:prstGeom prst="rect">
            <a:avLst/>
          </a:prstGeom>
        </p:spPr>
      </p:pic>
      <p:pic>
        <p:nvPicPr>
          <p:cNvPr id="10" name="Picture 9">
            <a:extLst>
              <a:ext uri="{FF2B5EF4-FFF2-40B4-BE49-F238E27FC236}">
                <a16:creationId xmlns:a16="http://schemas.microsoft.com/office/drawing/2014/main" id="{1FFE8D69-8B23-35FD-B12B-C9AF0275301E}"/>
              </a:ext>
            </a:extLst>
          </p:cNvPr>
          <p:cNvPicPr>
            <a:picLocks noChangeAspect="1"/>
          </p:cNvPicPr>
          <p:nvPr/>
        </p:nvPicPr>
        <p:blipFill>
          <a:blip r:embed="rId4"/>
          <a:stretch>
            <a:fillRect/>
          </a:stretch>
        </p:blipFill>
        <p:spPr>
          <a:xfrm>
            <a:off x="1066799" y="3038864"/>
            <a:ext cx="10058399" cy="3342855"/>
          </a:xfrm>
          <a:prstGeom prst="rect">
            <a:avLst/>
          </a:prstGeom>
        </p:spPr>
      </p:pic>
    </p:spTree>
    <p:extLst>
      <p:ext uri="{BB962C8B-B14F-4D97-AF65-F5344CB8AC3E}">
        <p14:creationId xmlns:p14="http://schemas.microsoft.com/office/powerpoint/2010/main" val="3324330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A38754E0-42A4-95A2-B8DE-44E1EB6050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554AC4-C133-3B43-4610-D33232DF6B92}"/>
              </a:ext>
            </a:extLst>
          </p:cNvPr>
          <p:cNvSpPr>
            <a:spLocks noGrp="1"/>
          </p:cNvSpPr>
          <p:nvPr>
            <p:ph type="title"/>
          </p:nvPr>
        </p:nvSpPr>
        <p:spPr/>
        <p:txBody>
          <a:bodyPr/>
          <a:lstStyle/>
          <a:p>
            <a:r>
              <a:rPr lang="en-US" dirty="0"/>
              <a:t>Gestalt psychology</a:t>
            </a:r>
            <a:endParaRPr lang="en-IN" dirty="0"/>
          </a:p>
        </p:txBody>
      </p:sp>
      <p:pic>
        <p:nvPicPr>
          <p:cNvPr id="8" name="Picture 7">
            <a:extLst>
              <a:ext uri="{FF2B5EF4-FFF2-40B4-BE49-F238E27FC236}">
                <a16:creationId xmlns:a16="http://schemas.microsoft.com/office/drawing/2014/main" id="{AEFCC165-3674-B772-9BC5-C73E0141C829}"/>
              </a:ext>
            </a:extLst>
          </p:cNvPr>
          <p:cNvPicPr>
            <a:picLocks noChangeAspect="1"/>
          </p:cNvPicPr>
          <p:nvPr/>
        </p:nvPicPr>
        <p:blipFill>
          <a:blip r:embed="rId2"/>
          <a:stretch>
            <a:fillRect/>
          </a:stretch>
        </p:blipFill>
        <p:spPr>
          <a:xfrm>
            <a:off x="1066799" y="3819136"/>
            <a:ext cx="10058399" cy="1991003"/>
          </a:xfrm>
          <a:prstGeom prst="rect">
            <a:avLst/>
          </a:prstGeom>
        </p:spPr>
      </p:pic>
      <p:sp>
        <p:nvSpPr>
          <p:cNvPr id="3" name="Content Placeholder 2">
            <a:extLst>
              <a:ext uri="{FF2B5EF4-FFF2-40B4-BE49-F238E27FC236}">
                <a16:creationId xmlns:a16="http://schemas.microsoft.com/office/drawing/2014/main" id="{E6A605B4-151A-99DF-8686-80A5D6F27ADE}"/>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415CD6D3-DC70-89D6-9B48-72B070184CC8}"/>
              </a:ext>
            </a:extLst>
          </p:cNvPr>
          <p:cNvPicPr>
            <a:picLocks noChangeAspect="1"/>
          </p:cNvPicPr>
          <p:nvPr/>
        </p:nvPicPr>
        <p:blipFill>
          <a:blip r:embed="rId3"/>
          <a:stretch>
            <a:fillRect/>
          </a:stretch>
        </p:blipFill>
        <p:spPr>
          <a:xfrm>
            <a:off x="1066797" y="2014295"/>
            <a:ext cx="10058399" cy="4201111"/>
          </a:xfrm>
          <a:prstGeom prst="rect">
            <a:avLst/>
          </a:prstGeom>
        </p:spPr>
      </p:pic>
    </p:spTree>
    <p:extLst>
      <p:ext uri="{BB962C8B-B14F-4D97-AF65-F5344CB8AC3E}">
        <p14:creationId xmlns:p14="http://schemas.microsoft.com/office/powerpoint/2010/main" val="3172305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18E0301B-F667-2AEB-1B77-BD5760804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E783C-8B60-C98E-4C63-E6E8795379A2}"/>
              </a:ext>
            </a:extLst>
          </p:cNvPr>
          <p:cNvSpPr>
            <a:spLocks noGrp="1"/>
          </p:cNvSpPr>
          <p:nvPr>
            <p:ph type="title"/>
          </p:nvPr>
        </p:nvSpPr>
        <p:spPr>
          <a:xfrm>
            <a:off x="605742" y="561372"/>
            <a:ext cx="10058400" cy="1371600"/>
          </a:xfrm>
        </p:spPr>
        <p:txBody>
          <a:bodyPr/>
          <a:lstStyle/>
          <a:p>
            <a:r>
              <a:rPr lang="en-IN" dirty="0"/>
              <a:t>Schools of Psychology </a:t>
            </a:r>
          </a:p>
        </p:txBody>
      </p:sp>
      <p:sp>
        <p:nvSpPr>
          <p:cNvPr id="26" name="Content Placeholder 25">
            <a:extLst>
              <a:ext uri="{FF2B5EF4-FFF2-40B4-BE49-F238E27FC236}">
                <a16:creationId xmlns:a16="http://schemas.microsoft.com/office/drawing/2014/main" id="{CF34D0E7-1213-072A-12DE-65A6687D43EC}"/>
              </a:ext>
            </a:extLst>
          </p:cNvPr>
          <p:cNvSpPr>
            <a:spLocks noGrp="1"/>
          </p:cNvSpPr>
          <p:nvPr>
            <p:ph idx="1"/>
          </p:nvPr>
        </p:nvSpPr>
        <p:spPr/>
        <p:txBody>
          <a:bodyPr/>
          <a:lstStyle/>
          <a:p>
            <a:pPr marL="0" indent="0">
              <a:buNone/>
            </a:pPr>
            <a:r>
              <a:rPr lang="en-US" b="1" dirty="0"/>
              <a:t>6. Humanistic Psychology </a:t>
            </a:r>
            <a:r>
              <a:rPr lang="en-US" b="1" i="1" dirty="0"/>
              <a:t>(considered early by some, but mainly mid-20th century)</a:t>
            </a:r>
            <a:endParaRPr lang="en-US" b="1" dirty="0"/>
          </a:p>
          <a:p>
            <a:r>
              <a:rPr lang="en-US" b="1" dirty="0"/>
              <a:t>Founders:</a:t>
            </a:r>
            <a:r>
              <a:rPr lang="en-US" dirty="0"/>
              <a:t> Abraham Maslow, Carl Rogers</a:t>
            </a:r>
            <a:br>
              <a:rPr lang="en-US" dirty="0"/>
            </a:br>
            <a:r>
              <a:rPr lang="en-US" b="1" dirty="0"/>
              <a:t>Focus:</a:t>
            </a:r>
            <a:r>
              <a:rPr lang="en-US" dirty="0"/>
              <a:t> Human growth, free will, self-actualization</a:t>
            </a:r>
          </a:p>
          <a:p>
            <a:r>
              <a:rPr lang="en-US" dirty="0"/>
              <a:t>Reaction against psychoanalysis and behaviorism.</a:t>
            </a:r>
          </a:p>
          <a:p>
            <a:endParaRPr lang="en-IN" dirty="0"/>
          </a:p>
        </p:txBody>
      </p:sp>
    </p:spTree>
    <p:extLst>
      <p:ext uri="{BB962C8B-B14F-4D97-AF65-F5344CB8AC3E}">
        <p14:creationId xmlns:p14="http://schemas.microsoft.com/office/powerpoint/2010/main" val="3451862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6D292984-7511-5B7D-139F-C263A44A2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CBF7F-42BB-4E53-AB81-A37647DE6EFC}"/>
              </a:ext>
            </a:extLst>
          </p:cNvPr>
          <p:cNvSpPr>
            <a:spLocks noGrp="1"/>
          </p:cNvSpPr>
          <p:nvPr>
            <p:ph type="title"/>
          </p:nvPr>
        </p:nvSpPr>
        <p:spPr>
          <a:xfrm>
            <a:off x="605742" y="561372"/>
            <a:ext cx="10058400" cy="1371600"/>
          </a:xfrm>
        </p:spPr>
        <p:txBody>
          <a:bodyPr/>
          <a:lstStyle/>
          <a:p>
            <a:r>
              <a:rPr lang="en-IN" dirty="0"/>
              <a:t>Methods of psychology</a:t>
            </a:r>
          </a:p>
        </p:txBody>
      </p:sp>
      <p:sp>
        <p:nvSpPr>
          <p:cNvPr id="3" name="Rectangle 1">
            <a:extLst>
              <a:ext uri="{FF2B5EF4-FFF2-40B4-BE49-F238E27FC236}">
                <a16:creationId xmlns:a16="http://schemas.microsoft.com/office/drawing/2014/main" id="{BB778ACA-09D9-1E7D-8184-171DC2A46099}"/>
              </a:ext>
            </a:extLst>
          </p:cNvPr>
          <p:cNvSpPr>
            <a:spLocks noGrp="1" noChangeArrowheads="1"/>
          </p:cNvSpPr>
          <p:nvPr>
            <p:ph idx="1"/>
          </p:nvPr>
        </p:nvSpPr>
        <p:spPr bwMode="auto">
          <a:xfrm>
            <a:off x="830826" y="1783360"/>
            <a:ext cx="1030912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Experimental Method:</a:t>
            </a:r>
            <a:r>
              <a:rPr kumimoji="0" lang="en-US" altLang="en-US" sz="1800" b="0" i="0" u="none" strike="noStrike" cap="none" normalizeH="0" baseline="0" dirty="0">
                <a:ln>
                  <a:noFill/>
                </a:ln>
                <a:solidFill>
                  <a:schemeClr val="tx1"/>
                </a:solidFill>
                <a:effectLst/>
                <a:latin typeface="Arial" panose="020B0604020202020204" pitchFamily="34" charset="0"/>
              </a:rPr>
              <a:t> Studies cause–effect relationships by manipulating variables under controlled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Observation Method:</a:t>
            </a:r>
            <a:r>
              <a:rPr kumimoji="0" lang="en-US" altLang="en-US" sz="1800" b="0" i="0" u="none" strike="noStrike" cap="none" normalizeH="0" baseline="0" dirty="0">
                <a:ln>
                  <a:noFill/>
                </a:ln>
                <a:solidFill>
                  <a:schemeClr val="tx1"/>
                </a:solidFill>
                <a:effectLst/>
                <a:latin typeface="Arial" panose="020B0604020202020204" pitchFamily="34" charset="0"/>
              </a:rPr>
              <a:t> Involves watching and recording behavior in natural or controlled settings.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Case Study Method:</a:t>
            </a:r>
            <a:r>
              <a:rPr kumimoji="0" lang="en-US" altLang="en-US" sz="1800" b="0" i="0" u="none" strike="noStrike" cap="none" normalizeH="0" baseline="0" dirty="0">
                <a:ln>
                  <a:noFill/>
                </a:ln>
                <a:solidFill>
                  <a:schemeClr val="tx1"/>
                </a:solidFill>
                <a:effectLst/>
                <a:latin typeface="Arial" panose="020B0604020202020204" pitchFamily="34" charset="0"/>
              </a:rPr>
              <a:t> Provides an in-depth and detailed study of a single individual or small group.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Survey Method:</a:t>
            </a:r>
            <a:r>
              <a:rPr kumimoji="0" lang="en-US" altLang="en-US" sz="1800" b="0" i="0" u="none" strike="noStrike" cap="none" normalizeH="0" baseline="0" dirty="0">
                <a:ln>
                  <a:noFill/>
                </a:ln>
                <a:solidFill>
                  <a:schemeClr val="tx1"/>
                </a:solidFill>
                <a:effectLst/>
                <a:latin typeface="Arial" panose="020B0604020202020204" pitchFamily="34" charset="0"/>
              </a:rPr>
              <a:t> Collects information from large groups using questionnaires or interviews.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Interview Method:</a:t>
            </a:r>
            <a:r>
              <a:rPr kumimoji="0" lang="en-US" altLang="en-US" sz="1800" b="0" i="0" u="none" strike="noStrike" cap="none" normalizeH="0" baseline="0" dirty="0">
                <a:ln>
                  <a:noFill/>
                </a:ln>
                <a:solidFill>
                  <a:schemeClr val="tx1"/>
                </a:solidFill>
                <a:effectLst/>
                <a:latin typeface="Arial" panose="020B0604020202020204" pitchFamily="34" charset="0"/>
              </a:rPr>
              <a:t> Gathers detailed information through direct verbal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Psychological Testing:</a:t>
            </a:r>
            <a:r>
              <a:rPr kumimoji="0" lang="en-US" altLang="en-US" sz="1800" b="0" i="0" u="none" strike="noStrike" cap="none" normalizeH="0" baseline="0" dirty="0">
                <a:ln>
                  <a:noFill/>
                </a:ln>
                <a:solidFill>
                  <a:schemeClr val="tx1"/>
                </a:solidFill>
                <a:effectLst/>
                <a:latin typeface="Arial" panose="020B0604020202020204" pitchFamily="34" charset="0"/>
              </a:rPr>
              <a:t> Measures psychological traits like intelligence, personality, and aptitude using standardized tests.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Correlational Method:</a:t>
            </a:r>
            <a:r>
              <a:rPr kumimoji="0" lang="en-US" altLang="en-US" sz="1800" b="0" i="0" u="none" strike="noStrike" cap="none" normalizeH="0" baseline="0" dirty="0">
                <a:ln>
                  <a:noFill/>
                </a:ln>
                <a:solidFill>
                  <a:schemeClr val="tx1"/>
                </a:solidFill>
                <a:effectLst/>
                <a:latin typeface="Arial" panose="020B0604020202020204" pitchFamily="34" charset="0"/>
              </a:rPr>
              <a:t> Examines the relationship between two variables without manipulation.</a:t>
            </a:r>
          </a:p>
        </p:txBody>
      </p:sp>
    </p:spTree>
    <p:extLst>
      <p:ext uri="{BB962C8B-B14F-4D97-AF65-F5344CB8AC3E}">
        <p14:creationId xmlns:p14="http://schemas.microsoft.com/office/powerpoint/2010/main" val="252548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7C1855AF-2C7C-8127-0BA9-C7B395C37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DF140-EA71-26C2-E032-39B514889438}"/>
              </a:ext>
            </a:extLst>
          </p:cNvPr>
          <p:cNvSpPr>
            <a:spLocks noGrp="1"/>
          </p:cNvSpPr>
          <p:nvPr>
            <p:ph type="title"/>
          </p:nvPr>
        </p:nvSpPr>
        <p:spPr>
          <a:xfrm>
            <a:off x="605742" y="561372"/>
            <a:ext cx="10058400" cy="1371600"/>
          </a:xfrm>
        </p:spPr>
        <p:txBody>
          <a:bodyPr/>
          <a:lstStyle/>
          <a:p>
            <a:r>
              <a:rPr lang="en-IN" dirty="0"/>
              <a:t>Scope /fields of psychology:</a:t>
            </a:r>
          </a:p>
        </p:txBody>
      </p:sp>
      <p:sp>
        <p:nvSpPr>
          <p:cNvPr id="3" name="Rectangle 1">
            <a:extLst>
              <a:ext uri="{FF2B5EF4-FFF2-40B4-BE49-F238E27FC236}">
                <a16:creationId xmlns:a16="http://schemas.microsoft.com/office/drawing/2014/main" id="{15D10204-DA2C-3948-F6D0-D6DD83819A1D}"/>
              </a:ext>
            </a:extLst>
          </p:cNvPr>
          <p:cNvSpPr>
            <a:spLocks noGrp="1" noChangeArrowheads="1"/>
          </p:cNvSpPr>
          <p:nvPr>
            <p:ph idx="1"/>
          </p:nvPr>
        </p:nvSpPr>
        <p:spPr bwMode="auto">
          <a:xfrm>
            <a:off x="811162" y="1809465"/>
            <a:ext cx="1030912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FontTx/>
              <a:buChar char="•"/>
            </a:pPr>
            <a:r>
              <a:rPr lang="en-US" altLang="en-US" b="1" dirty="0">
                <a:latin typeface="Arial" panose="020B0604020202020204" pitchFamily="34" charset="0"/>
              </a:rPr>
              <a:t>Clinical Psychology:</a:t>
            </a:r>
            <a:r>
              <a:rPr lang="en-US" altLang="en-US" dirty="0">
                <a:latin typeface="Arial" panose="020B0604020202020204" pitchFamily="34" charset="0"/>
              </a:rPr>
              <a:t> Diagnosing and treating mental and emotional disorders.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Counselling Psychology:</a:t>
            </a:r>
            <a:r>
              <a:rPr lang="en-US" altLang="en-US" dirty="0">
                <a:latin typeface="Arial" panose="020B0604020202020204" pitchFamily="34" charset="0"/>
              </a:rPr>
              <a:t> Helping people solve personal, social, and adjustment problems.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Educational Psychology:</a:t>
            </a:r>
            <a:r>
              <a:rPr lang="en-US" altLang="en-US" dirty="0">
                <a:latin typeface="Arial" panose="020B0604020202020204" pitchFamily="34" charset="0"/>
              </a:rPr>
              <a:t> Studying learning processes to improve teaching and education.</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Developmental Psychology:</a:t>
            </a:r>
            <a:r>
              <a:rPr lang="en-US" altLang="en-US" dirty="0">
                <a:latin typeface="Arial" panose="020B0604020202020204" pitchFamily="34" charset="0"/>
              </a:rPr>
              <a:t> Understanding human growth from infancy to old age.</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Social Psychology:</a:t>
            </a:r>
            <a:r>
              <a:rPr lang="en-US" altLang="en-US" dirty="0">
                <a:latin typeface="Arial" panose="020B0604020202020204" pitchFamily="34" charset="0"/>
              </a:rPr>
              <a:t> Studying how people think, feel, and behave in social situations.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Industrial/Organizational Psychology:</a:t>
            </a:r>
            <a:r>
              <a:rPr lang="en-US" altLang="en-US" dirty="0">
                <a:latin typeface="Arial" panose="020B0604020202020204" pitchFamily="34" charset="0"/>
              </a:rPr>
              <a:t> Improving workplace behavior, productivity, and employee well-being.</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Health Psychology:</a:t>
            </a:r>
            <a:r>
              <a:rPr lang="en-US" altLang="en-US" dirty="0">
                <a:latin typeface="Arial" panose="020B0604020202020204" pitchFamily="34" charset="0"/>
              </a:rPr>
              <a:t> Exploring how psychological factors affect physical health and illness.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Cognitive Psychology:</a:t>
            </a:r>
            <a:r>
              <a:rPr lang="en-US" altLang="en-US" dirty="0">
                <a:latin typeface="Arial" panose="020B0604020202020204" pitchFamily="34" charset="0"/>
              </a:rPr>
              <a:t> Studying mental processes like memory, thinking, and problem-solving.</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Biological Psychology:</a:t>
            </a:r>
            <a:r>
              <a:rPr lang="en-US" altLang="en-US" dirty="0">
                <a:latin typeface="Arial" panose="020B0604020202020204" pitchFamily="34" charset="0"/>
              </a:rPr>
              <a:t> Examining how the brain and nervous system influence behavior.</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Forensic Psychology:</a:t>
            </a:r>
            <a:r>
              <a:rPr lang="en-US" altLang="en-US" dirty="0">
                <a:latin typeface="Arial" panose="020B0604020202020204" pitchFamily="34" charset="0"/>
              </a:rPr>
              <a:t> Applying psychology in legal and criminal justice settings.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Sports Psychology:</a:t>
            </a:r>
            <a:r>
              <a:rPr lang="en-US" altLang="en-US" dirty="0">
                <a:latin typeface="Arial" panose="020B0604020202020204" pitchFamily="34" charset="0"/>
              </a:rPr>
              <a:t> Enhancing performance and motivation in athletes.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Environmental Psychology:</a:t>
            </a:r>
            <a:r>
              <a:rPr lang="en-US" altLang="en-US" dirty="0">
                <a:latin typeface="Arial" panose="020B0604020202020204" pitchFamily="34" charset="0"/>
              </a:rPr>
              <a:t> Studying how surroundings affect human behavior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30B8F604-C5C6-0D85-BDBF-D9243F6548B8}"/>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10889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5B5B"/>
        </a:solidFill>
        <a:effectLst/>
      </p:bgPr>
    </p:bg>
    <p:spTree>
      <p:nvGrpSpPr>
        <p:cNvPr id="1" name="">
          <a:extLst>
            <a:ext uri="{FF2B5EF4-FFF2-40B4-BE49-F238E27FC236}">
              <a16:creationId xmlns:a16="http://schemas.microsoft.com/office/drawing/2014/main" id="{2635F495-64BF-09D3-9423-4D0B86A9C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0B50B-9CD3-8A00-0144-873B864B7709}"/>
              </a:ext>
            </a:extLst>
          </p:cNvPr>
          <p:cNvSpPr>
            <a:spLocks noGrp="1"/>
          </p:cNvSpPr>
          <p:nvPr>
            <p:ph type="title"/>
          </p:nvPr>
        </p:nvSpPr>
        <p:spPr>
          <a:xfrm>
            <a:off x="605742" y="561372"/>
            <a:ext cx="10058400" cy="1371600"/>
          </a:xfrm>
        </p:spPr>
        <p:txBody>
          <a:bodyPr/>
          <a:lstStyle/>
          <a:p>
            <a:r>
              <a:rPr lang="en-IN" dirty="0"/>
              <a:t>Scope /fields of psychology:</a:t>
            </a:r>
          </a:p>
        </p:txBody>
      </p:sp>
      <p:sp>
        <p:nvSpPr>
          <p:cNvPr id="3" name="Rectangle 1">
            <a:extLst>
              <a:ext uri="{FF2B5EF4-FFF2-40B4-BE49-F238E27FC236}">
                <a16:creationId xmlns:a16="http://schemas.microsoft.com/office/drawing/2014/main" id="{81EF37A0-F6F2-8561-0C57-95FCB79BB8B4}"/>
              </a:ext>
            </a:extLst>
          </p:cNvPr>
          <p:cNvSpPr>
            <a:spLocks noGrp="1" noChangeArrowheads="1"/>
          </p:cNvSpPr>
          <p:nvPr>
            <p:ph idx="1"/>
          </p:nvPr>
        </p:nvSpPr>
        <p:spPr bwMode="auto">
          <a:xfrm>
            <a:off x="811162" y="1809465"/>
            <a:ext cx="1030912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FontTx/>
              <a:buChar char="•"/>
            </a:pPr>
            <a:r>
              <a:rPr lang="en-US" altLang="en-US" b="1" dirty="0">
                <a:latin typeface="Arial" panose="020B0604020202020204" pitchFamily="34" charset="0"/>
              </a:rPr>
              <a:t>Clinical Psychology:</a:t>
            </a:r>
            <a:r>
              <a:rPr lang="en-US" altLang="en-US" dirty="0">
                <a:latin typeface="Arial" panose="020B0604020202020204" pitchFamily="34" charset="0"/>
              </a:rPr>
              <a:t> Diagnosing and treating mental and emotional disorders.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Counselling Psychology:</a:t>
            </a:r>
            <a:r>
              <a:rPr lang="en-US" altLang="en-US" dirty="0">
                <a:latin typeface="Arial" panose="020B0604020202020204" pitchFamily="34" charset="0"/>
              </a:rPr>
              <a:t> Helping people solve personal, social, and adjustment problems.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Educational Psychology:</a:t>
            </a:r>
            <a:r>
              <a:rPr lang="en-US" altLang="en-US" dirty="0">
                <a:latin typeface="Arial" panose="020B0604020202020204" pitchFamily="34" charset="0"/>
              </a:rPr>
              <a:t> Studying learning processes to improve teaching and education.</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Developmental Psychology:</a:t>
            </a:r>
            <a:r>
              <a:rPr lang="en-US" altLang="en-US" dirty="0">
                <a:latin typeface="Arial" panose="020B0604020202020204" pitchFamily="34" charset="0"/>
              </a:rPr>
              <a:t> Understanding human growth from infancy to old age.</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Social Psychology:</a:t>
            </a:r>
            <a:r>
              <a:rPr lang="en-US" altLang="en-US" dirty="0">
                <a:latin typeface="Arial" panose="020B0604020202020204" pitchFamily="34" charset="0"/>
              </a:rPr>
              <a:t> Studying how people think, feel, and behave in social situations.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Industrial/Organizational Psychology:</a:t>
            </a:r>
            <a:r>
              <a:rPr lang="en-US" altLang="en-US" dirty="0">
                <a:latin typeface="Arial" panose="020B0604020202020204" pitchFamily="34" charset="0"/>
              </a:rPr>
              <a:t> Improving workplace behavior, productivity, and employee well-being.</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Health Psychology:</a:t>
            </a:r>
            <a:r>
              <a:rPr lang="en-US" altLang="en-US" dirty="0">
                <a:latin typeface="Arial" panose="020B0604020202020204" pitchFamily="34" charset="0"/>
              </a:rPr>
              <a:t> Exploring how psychological factors affect physical health and illness.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Cognitive Psychology:</a:t>
            </a:r>
            <a:r>
              <a:rPr lang="en-US" altLang="en-US" dirty="0">
                <a:latin typeface="Arial" panose="020B0604020202020204" pitchFamily="34" charset="0"/>
              </a:rPr>
              <a:t> Studying mental processes like memory, thinking, and problem-solving.</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Biological Psychology:</a:t>
            </a:r>
            <a:r>
              <a:rPr lang="en-US" altLang="en-US" dirty="0">
                <a:latin typeface="Arial" panose="020B0604020202020204" pitchFamily="34" charset="0"/>
              </a:rPr>
              <a:t> Examining how the brain and nervous system influence behavior.</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Forensic Psychology:</a:t>
            </a:r>
            <a:r>
              <a:rPr lang="en-US" altLang="en-US" dirty="0">
                <a:latin typeface="Arial" panose="020B0604020202020204" pitchFamily="34" charset="0"/>
              </a:rPr>
              <a:t> Applying psychology in legal and criminal justice settings.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Sports Psychology:</a:t>
            </a:r>
            <a:r>
              <a:rPr lang="en-US" altLang="en-US" dirty="0">
                <a:latin typeface="Arial" panose="020B0604020202020204" pitchFamily="34" charset="0"/>
              </a:rPr>
              <a:t> Enhancing performance and motivation in athletes.</a:t>
            </a:r>
          </a:p>
          <a:p>
            <a:pPr marL="0" lvl="0" indent="0" eaLnBrk="0" fontAlgn="base" hangingPunct="0">
              <a:spcBef>
                <a:spcPct val="0"/>
              </a:spcBef>
              <a:spcAft>
                <a:spcPct val="0"/>
              </a:spcAft>
              <a:buClrTx/>
              <a:buFontTx/>
              <a:buChar char="•"/>
            </a:pPr>
            <a:r>
              <a:rPr lang="en-US" altLang="en-US" b="1" dirty="0">
                <a:latin typeface="Arial" panose="020B0604020202020204" pitchFamily="34" charset="0"/>
              </a:rPr>
              <a:t>Environmental Psychology:</a:t>
            </a:r>
            <a:r>
              <a:rPr lang="en-US" altLang="en-US" dirty="0">
                <a:latin typeface="Arial" panose="020B0604020202020204" pitchFamily="34" charset="0"/>
              </a:rPr>
              <a:t> Studying how surroundings affect human behavior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CE64C01C-144B-BFBB-BD1E-2627EBC83710}"/>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5081264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29</TotalTime>
  <Words>991</Words>
  <Application>Microsoft Office PowerPoint</Application>
  <PresentationFormat>Widescreen</PresentationFormat>
  <Paragraphs>92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Garamond</vt:lpstr>
      <vt:lpstr>Savon</vt:lpstr>
      <vt:lpstr>Introduction to Psychology-Unit I </vt:lpstr>
      <vt:lpstr>Introduction :</vt:lpstr>
      <vt:lpstr>PowerPoint Presentation</vt:lpstr>
      <vt:lpstr>Schools of Psychology </vt:lpstr>
      <vt:lpstr>Schools of Psychology </vt:lpstr>
      <vt:lpstr>Schools of Psychology </vt:lpstr>
      <vt:lpstr>Gestalt psychology</vt:lpstr>
      <vt:lpstr>Gestalt psychology</vt:lpstr>
      <vt:lpstr>Gestalt psychology</vt:lpstr>
      <vt:lpstr>Gestalt psychology</vt:lpstr>
      <vt:lpstr>Schools of Psychology </vt:lpstr>
      <vt:lpstr>Methods of psychology</vt:lpstr>
      <vt:lpstr>Scope /fields of psychology:</vt:lpstr>
      <vt:lpstr>Scope /fields of psychology: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2025-11-20T11:52:51Z</dcterms:created>
  <dcterms:modified xsi:type="dcterms:W3CDTF">2025-11-20T14:11:46Z</dcterms:modified>
</cp:coreProperties>
</file>