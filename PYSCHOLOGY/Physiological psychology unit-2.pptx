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9" r:id="rId4"/>
    <p:sldId id="258" r:id="rId5"/>
    <p:sldId id="259" r:id="rId6"/>
    <p:sldId id="260" r:id="rId7"/>
    <p:sldId id="261" r:id="rId8"/>
    <p:sldId id="262" r:id="rId9"/>
    <p:sldId id="263" r:id="rId10"/>
    <p:sldId id="264" r:id="rId11"/>
    <p:sldId id="265" r:id="rId12"/>
    <p:sldId id="266" r:id="rId13"/>
    <p:sldId id="267" r:id="rId14"/>
    <p:sldId id="268"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03B2A86F-9FB5-4578-B22F-DDF7B7D5A8CF}" type="datetimeFigureOut">
              <a:rPr lang="en-IN" smtClean="0"/>
              <a:t>20-11-2025</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FF2331EE-C12D-4031-A0DB-8122DE8EEF70}" type="slidenum">
              <a:rPr lang="en-IN" smtClean="0"/>
              <a:t>‹#›</a:t>
            </a:fld>
            <a:endParaRPr lang="en-IN"/>
          </a:p>
        </p:txBody>
      </p:sp>
    </p:spTree>
    <p:extLst>
      <p:ext uri="{BB962C8B-B14F-4D97-AF65-F5344CB8AC3E}">
        <p14:creationId xmlns:p14="http://schemas.microsoft.com/office/powerpoint/2010/main" val="229147587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B2A86F-9FB5-4578-B22F-DDF7B7D5A8CF}"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2331EE-C12D-4031-A0DB-8122DE8EEF70}" type="slidenum">
              <a:rPr lang="en-IN" smtClean="0"/>
              <a:t>‹#›</a:t>
            </a:fld>
            <a:endParaRPr lang="en-IN"/>
          </a:p>
        </p:txBody>
      </p:sp>
    </p:spTree>
    <p:extLst>
      <p:ext uri="{BB962C8B-B14F-4D97-AF65-F5344CB8AC3E}">
        <p14:creationId xmlns:p14="http://schemas.microsoft.com/office/powerpoint/2010/main" val="4273766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03B2A86F-9FB5-4578-B22F-DDF7B7D5A8CF}" type="datetimeFigureOut">
              <a:rPr lang="en-IN" smtClean="0"/>
              <a:t>20-11-2025</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FF2331EE-C12D-4031-A0DB-8122DE8EEF70}" type="slidenum">
              <a:rPr lang="en-IN" smtClean="0"/>
              <a:t>‹#›</a:t>
            </a:fld>
            <a:endParaRPr lang="en-IN"/>
          </a:p>
        </p:txBody>
      </p:sp>
    </p:spTree>
    <p:extLst>
      <p:ext uri="{BB962C8B-B14F-4D97-AF65-F5344CB8AC3E}">
        <p14:creationId xmlns:p14="http://schemas.microsoft.com/office/powerpoint/2010/main" val="132529418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B2A86F-9FB5-4578-B22F-DDF7B7D5A8CF}"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2331EE-C12D-4031-A0DB-8122DE8EEF70}" type="slidenum">
              <a:rPr lang="en-IN" smtClean="0"/>
              <a:t>‹#›</a:t>
            </a:fld>
            <a:endParaRPr lang="en-IN"/>
          </a:p>
        </p:txBody>
      </p:sp>
    </p:spTree>
    <p:extLst>
      <p:ext uri="{BB962C8B-B14F-4D97-AF65-F5344CB8AC3E}">
        <p14:creationId xmlns:p14="http://schemas.microsoft.com/office/powerpoint/2010/main" val="3785145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B2A86F-9FB5-4578-B22F-DDF7B7D5A8CF}"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2331EE-C12D-4031-A0DB-8122DE8EEF70}" type="slidenum">
              <a:rPr lang="en-IN" smtClean="0"/>
              <a:t>‹#›</a:t>
            </a:fld>
            <a:endParaRPr lang="en-IN"/>
          </a:p>
        </p:txBody>
      </p:sp>
    </p:spTree>
    <p:extLst>
      <p:ext uri="{BB962C8B-B14F-4D97-AF65-F5344CB8AC3E}">
        <p14:creationId xmlns:p14="http://schemas.microsoft.com/office/powerpoint/2010/main" val="2663369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B2A86F-9FB5-4578-B22F-DDF7B7D5A8CF}"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2331EE-C12D-4031-A0DB-8122DE8EEF70}" type="slidenum">
              <a:rPr lang="en-IN" smtClean="0"/>
              <a:t>‹#›</a:t>
            </a:fld>
            <a:endParaRPr lang="en-IN"/>
          </a:p>
        </p:txBody>
      </p:sp>
    </p:spTree>
    <p:extLst>
      <p:ext uri="{BB962C8B-B14F-4D97-AF65-F5344CB8AC3E}">
        <p14:creationId xmlns:p14="http://schemas.microsoft.com/office/powerpoint/2010/main" val="1157327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B2A86F-9FB5-4578-B22F-DDF7B7D5A8CF}"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2331EE-C12D-4031-A0DB-8122DE8EEF70}" type="slidenum">
              <a:rPr lang="en-IN" smtClean="0"/>
              <a:t>‹#›</a:t>
            </a:fld>
            <a:endParaRPr lang="en-IN"/>
          </a:p>
        </p:txBody>
      </p:sp>
    </p:spTree>
    <p:extLst>
      <p:ext uri="{BB962C8B-B14F-4D97-AF65-F5344CB8AC3E}">
        <p14:creationId xmlns:p14="http://schemas.microsoft.com/office/powerpoint/2010/main" val="527487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03B2A86F-9FB5-4578-B22F-DDF7B7D5A8CF}" type="datetimeFigureOut">
              <a:rPr lang="en-IN" smtClean="0"/>
              <a:t>20-11-2025</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FF2331EE-C12D-4031-A0DB-8122DE8EEF70}"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06693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03B2A86F-9FB5-4578-B22F-DDF7B7D5A8CF}" type="datetimeFigureOut">
              <a:rPr lang="en-IN" smtClean="0"/>
              <a:t>20-11-2025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FF2331EE-C12D-4031-A0DB-8122DE8EEF70}"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46670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B2A86F-9FB5-4578-B22F-DDF7B7D5A8CF}"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331EE-C12D-4031-A0DB-8122DE8EEF70}" type="slidenum">
              <a:rPr lang="en-IN" smtClean="0"/>
              <a:t>‹#›</a:t>
            </a:fld>
            <a:endParaRPr lang="en-IN"/>
          </a:p>
        </p:txBody>
      </p:sp>
    </p:spTree>
    <p:extLst>
      <p:ext uri="{BB962C8B-B14F-4D97-AF65-F5344CB8AC3E}">
        <p14:creationId xmlns:p14="http://schemas.microsoft.com/office/powerpoint/2010/main" val="4117414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B2A86F-9FB5-4578-B22F-DDF7B7D5A8CF}"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331EE-C12D-4031-A0DB-8122DE8EEF70}" type="slidenum">
              <a:rPr lang="en-IN" smtClean="0"/>
              <a:t>‹#›</a:t>
            </a:fld>
            <a:endParaRPr lang="en-IN"/>
          </a:p>
        </p:txBody>
      </p:sp>
    </p:spTree>
    <p:extLst>
      <p:ext uri="{BB962C8B-B14F-4D97-AF65-F5344CB8AC3E}">
        <p14:creationId xmlns:p14="http://schemas.microsoft.com/office/powerpoint/2010/main" val="4056093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03B2A86F-9FB5-4578-B22F-DDF7B7D5A8CF}" type="datetimeFigureOut">
              <a:rPr lang="en-IN" smtClean="0"/>
              <a:t>20-11-2025</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F2331EE-C12D-4031-A0DB-8122DE8EEF70}" type="slidenum">
              <a:rPr lang="en-IN" smtClean="0"/>
              <a:t>‹#›</a:t>
            </a:fld>
            <a:endParaRPr lang="en-IN"/>
          </a:p>
        </p:txBody>
      </p:sp>
    </p:spTree>
    <p:extLst>
      <p:ext uri="{BB962C8B-B14F-4D97-AF65-F5344CB8AC3E}">
        <p14:creationId xmlns:p14="http://schemas.microsoft.com/office/powerpoint/2010/main" val="17617780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71351-D940-E907-0890-9063701A7CAB}"/>
              </a:ext>
            </a:extLst>
          </p:cNvPr>
          <p:cNvSpPr>
            <a:spLocks noGrp="1"/>
          </p:cNvSpPr>
          <p:nvPr>
            <p:ph type="ctrTitle"/>
          </p:nvPr>
        </p:nvSpPr>
        <p:spPr/>
        <p:txBody>
          <a:bodyPr/>
          <a:lstStyle/>
          <a:p>
            <a:r>
              <a:rPr lang="en-US" sz="6600" dirty="0"/>
              <a:t>Physiological psychology unit-2</a:t>
            </a:r>
            <a:endParaRPr lang="en-IN" sz="6600" dirty="0"/>
          </a:p>
        </p:txBody>
      </p:sp>
      <p:sp>
        <p:nvSpPr>
          <p:cNvPr id="3" name="Subtitle 2">
            <a:extLst>
              <a:ext uri="{FF2B5EF4-FFF2-40B4-BE49-F238E27FC236}">
                <a16:creationId xmlns:a16="http://schemas.microsoft.com/office/drawing/2014/main" id="{7CFC83D1-E212-6F3C-CB1D-ED4A3AF5C3A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61361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9218D-6E41-EADE-AC84-8D45C6F0E2F3}"/>
              </a:ext>
            </a:extLst>
          </p:cNvPr>
          <p:cNvSpPr>
            <a:spLocks noGrp="1"/>
          </p:cNvSpPr>
          <p:nvPr>
            <p:ph type="title"/>
          </p:nvPr>
        </p:nvSpPr>
        <p:spPr/>
        <p:txBody>
          <a:bodyPr>
            <a:normAutofit/>
          </a:bodyPr>
          <a:lstStyle/>
          <a:p>
            <a:r>
              <a:rPr lang="en-US" b="1" dirty="0"/>
              <a:t>Biopsychology </a:t>
            </a:r>
            <a:endParaRPr lang="en-IN" dirty="0"/>
          </a:p>
        </p:txBody>
      </p:sp>
      <p:sp>
        <p:nvSpPr>
          <p:cNvPr id="3" name="Content Placeholder 2">
            <a:extLst>
              <a:ext uri="{FF2B5EF4-FFF2-40B4-BE49-F238E27FC236}">
                <a16:creationId xmlns:a16="http://schemas.microsoft.com/office/drawing/2014/main" id="{B59A306E-9C75-3063-9931-70C928E2AD77}"/>
              </a:ext>
            </a:extLst>
          </p:cNvPr>
          <p:cNvSpPr>
            <a:spLocks noGrp="1"/>
          </p:cNvSpPr>
          <p:nvPr>
            <p:ph idx="1"/>
          </p:nvPr>
        </p:nvSpPr>
        <p:spPr/>
        <p:txBody>
          <a:bodyPr/>
          <a:lstStyle/>
          <a:p>
            <a:r>
              <a:rPr lang="en-IN" i="1" dirty="0"/>
              <a:t>Definition</a:t>
            </a:r>
            <a:r>
              <a:rPr lang="en-IN" dirty="0"/>
              <a:t>: It is the systematic study of the interaction between biology, behaviour and the environment. </a:t>
            </a:r>
            <a:r>
              <a:rPr lang="en-US" dirty="0"/>
              <a:t>Biopsychology is a branch of psychology that analyzes how the brain, neurotransmitters, and other aspects of our biology influence our behaviors, thoughts, and feelings. It can also be known as Biological Psychology, Psychobiology, Physiological Psychology or </a:t>
            </a:r>
            <a:r>
              <a:rPr lang="en-US" dirty="0" err="1"/>
              <a:t>Behavioural</a:t>
            </a:r>
            <a:r>
              <a:rPr lang="en-US" dirty="0"/>
              <a:t> Neuroscience.</a:t>
            </a:r>
          </a:p>
          <a:p>
            <a:r>
              <a:rPr lang="en-IN" dirty="0">
                <a:latin typeface="Times New Roman" panose="02020603050405020304" pitchFamily="18" charset="0"/>
                <a:cs typeface="Times New Roman" panose="02020603050405020304" pitchFamily="18" charset="0"/>
              </a:rPr>
              <a:t>AKA</a:t>
            </a:r>
          </a:p>
          <a:p>
            <a:pPr lvl="1"/>
            <a:r>
              <a:rPr lang="en-IN" dirty="0">
                <a:latin typeface="Times New Roman" panose="02020603050405020304" pitchFamily="18" charset="0"/>
                <a:cs typeface="Times New Roman" panose="02020603050405020304" pitchFamily="18" charset="0"/>
              </a:rPr>
              <a:t>Biological Psychology / Biopsychology</a:t>
            </a:r>
          </a:p>
          <a:p>
            <a:pPr lvl="2"/>
            <a:r>
              <a:rPr lang="en-IN" dirty="0">
                <a:latin typeface="Times New Roman" panose="02020603050405020304" pitchFamily="18" charset="0"/>
                <a:cs typeface="Times New Roman" panose="02020603050405020304" pitchFamily="18" charset="0"/>
              </a:rPr>
              <a:t>Neuropsychology</a:t>
            </a:r>
          </a:p>
          <a:p>
            <a:pPr lvl="1"/>
            <a:r>
              <a:rPr lang="en-IN" dirty="0">
                <a:latin typeface="Times New Roman" panose="02020603050405020304" pitchFamily="18" charset="0"/>
                <a:cs typeface="Times New Roman" panose="02020603050405020304" pitchFamily="18" charset="0"/>
              </a:rPr>
              <a:t>Psychobiology</a:t>
            </a:r>
          </a:p>
          <a:p>
            <a:pPr lvl="1"/>
            <a:r>
              <a:rPr lang="en-IN" dirty="0">
                <a:latin typeface="Times New Roman" panose="02020603050405020304" pitchFamily="18" charset="0"/>
                <a:cs typeface="Times New Roman" panose="02020603050405020304" pitchFamily="18" charset="0"/>
              </a:rPr>
              <a:t>Physiological Psychology</a:t>
            </a:r>
          </a:p>
          <a:p>
            <a:pPr lvl="1"/>
            <a:r>
              <a:rPr lang="en-IN" dirty="0">
                <a:latin typeface="Times New Roman" panose="02020603050405020304" pitchFamily="18" charset="0"/>
                <a:cs typeface="Times New Roman" panose="02020603050405020304" pitchFamily="18" charset="0"/>
              </a:rPr>
              <a:t>Behavioural Neuroscience (Select Branch)</a:t>
            </a:r>
          </a:p>
        </p:txBody>
      </p:sp>
    </p:spTree>
    <p:extLst>
      <p:ext uri="{BB962C8B-B14F-4D97-AF65-F5344CB8AC3E}">
        <p14:creationId xmlns:p14="http://schemas.microsoft.com/office/powerpoint/2010/main" val="2766234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33D1AEDF-E68A-0320-6A1E-9D00401E3C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0F81C7-9611-E8E5-200E-EB04EF2D4725}"/>
              </a:ext>
            </a:extLst>
          </p:cNvPr>
          <p:cNvSpPr>
            <a:spLocks noGrp="1"/>
          </p:cNvSpPr>
          <p:nvPr>
            <p:ph type="title"/>
          </p:nvPr>
        </p:nvSpPr>
        <p:spPr/>
        <p:txBody>
          <a:bodyPr>
            <a:normAutofit/>
          </a:bodyPr>
          <a:lstStyle/>
          <a:p>
            <a:r>
              <a:rPr lang="en-US" b="1" dirty="0"/>
              <a:t>Biopsychology </a:t>
            </a:r>
            <a:endParaRPr lang="en-IN" dirty="0"/>
          </a:p>
        </p:txBody>
      </p:sp>
      <p:pic>
        <p:nvPicPr>
          <p:cNvPr id="5" name="Content Placeholder 4">
            <a:extLst>
              <a:ext uri="{FF2B5EF4-FFF2-40B4-BE49-F238E27FC236}">
                <a16:creationId xmlns:a16="http://schemas.microsoft.com/office/drawing/2014/main" id="{FC5AC6C9-3BBF-D0A2-0056-0EA767B343A0}"/>
              </a:ext>
            </a:extLst>
          </p:cNvPr>
          <p:cNvPicPr>
            <a:picLocks noGrp="1" noChangeAspect="1"/>
          </p:cNvPicPr>
          <p:nvPr>
            <p:ph idx="1"/>
          </p:nvPr>
        </p:nvPicPr>
        <p:blipFill>
          <a:blip r:embed="rId2"/>
          <a:stretch>
            <a:fillRect/>
          </a:stretch>
        </p:blipFill>
        <p:spPr>
          <a:xfrm>
            <a:off x="3111658" y="2103438"/>
            <a:ext cx="5968683" cy="3932237"/>
          </a:xfrm>
          <a:prstGeom prst="rect">
            <a:avLst/>
          </a:prstGeom>
        </p:spPr>
      </p:pic>
    </p:spTree>
    <p:extLst>
      <p:ext uri="{BB962C8B-B14F-4D97-AF65-F5344CB8AC3E}">
        <p14:creationId xmlns:p14="http://schemas.microsoft.com/office/powerpoint/2010/main" val="3621836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86EF5C0C-B4B3-6FC3-B7C6-D99FC39A8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10E180-9016-6AD2-90D4-8F85C86A541F}"/>
              </a:ext>
            </a:extLst>
          </p:cNvPr>
          <p:cNvSpPr>
            <a:spLocks noGrp="1"/>
          </p:cNvSpPr>
          <p:nvPr>
            <p:ph type="title"/>
          </p:nvPr>
        </p:nvSpPr>
        <p:spPr/>
        <p:txBody>
          <a:bodyPr>
            <a:normAutofit/>
          </a:bodyPr>
          <a:lstStyle/>
          <a:p>
            <a:r>
              <a:rPr lang="en-US" b="1" dirty="0"/>
              <a:t>Biopsychology </a:t>
            </a:r>
            <a:endParaRPr lang="en-IN" dirty="0"/>
          </a:p>
        </p:txBody>
      </p:sp>
      <p:sp>
        <p:nvSpPr>
          <p:cNvPr id="3" name="Content Placeholder 2">
            <a:extLst>
              <a:ext uri="{FF2B5EF4-FFF2-40B4-BE49-F238E27FC236}">
                <a16:creationId xmlns:a16="http://schemas.microsoft.com/office/drawing/2014/main" id="{2DF76364-8F4E-DF2C-F8FE-50C23A816D12}"/>
              </a:ext>
            </a:extLst>
          </p:cNvPr>
          <p:cNvSpPr>
            <a:spLocks noGrp="1"/>
          </p:cNvSpPr>
          <p:nvPr>
            <p:ph idx="1"/>
          </p:nvPr>
        </p:nvSpPr>
        <p:spPr>
          <a:xfrm>
            <a:off x="1066800" y="1637731"/>
            <a:ext cx="10058400" cy="4397309"/>
          </a:xfrm>
        </p:spPr>
        <p:txBody>
          <a:bodyPr/>
          <a:lstStyle/>
          <a:p>
            <a:r>
              <a:rPr lang="en-US" b="1" dirty="0"/>
              <a:t>The Brain &amp; Nervous System</a:t>
            </a:r>
          </a:p>
          <a:p>
            <a:endParaRPr lang="en-IN" dirty="0"/>
          </a:p>
        </p:txBody>
      </p:sp>
      <p:pic>
        <p:nvPicPr>
          <p:cNvPr id="5" name="Picture 4">
            <a:extLst>
              <a:ext uri="{FF2B5EF4-FFF2-40B4-BE49-F238E27FC236}">
                <a16:creationId xmlns:a16="http://schemas.microsoft.com/office/drawing/2014/main" id="{3128F877-8756-B232-2C7F-B9AB79D04BFE}"/>
              </a:ext>
            </a:extLst>
          </p:cNvPr>
          <p:cNvPicPr>
            <a:picLocks noChangeAspect="1"/>
          </p:cNvPicPr>
          <p:nvPr/>
        </p:nvPicPr>
        <p:blipFill>
          <a:blip r:embed="rId2"/>
          <a:stretch>
            <a:fillRect/>
          </a:stretch>
        </p:blipFill>
        <p:spPr>
          <a:xfrm>
            <a:off x="891540" y="2014194"/>
            <a:ext cx="10613523" cy="4378986"/>
          </a:xfrm>
          <a:prstGeom prst="rect">
            <a:avLst/>
          </a:prstGeom>
        </p:spPr>
      </p:pic>
    </p:spTree>
    <p:extLst>
      <p:ext uri="{BB962C8B-B14F-4D97-AF65-F5344CB8AC3E}">
        <p14:creationId xmlns:p14="http://schemas.microsoft.com/office/powerpoint/2010/main" val="2999521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F001567C-659D-74FD-3447-98C5538A71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CBE28-1AC1-F648-369C-966EDF602C7B}"/>
              </a:ext>
            </a:extLst>
          </p:cNvPr>
          <p:cNvSpPr>
            <a:spLocks noGrp="1"/>
          </p:cNvSpPr>
          <p:nvPr>
            <p:ph type="title"/>
          </p:nvPr>
        </p:nvSpPr>
        <p:spPr/>
        <p:txBody>
          <a:bodyPr>
            <a:normAutofit/>
          </a:bodyPr>
          <a:lstStyle/>
          <a:p>
            <a:r>
              <a:rPr lang="en-US" b="1" dirty="0"/>
              <a:t>Biopsychology </a:t>
            </a:r>
            <a:endParaRPr lang="en-IN" dirty="0"/>
          </a:p>
        </p:txBody>
      </p:sp>
      <p:sp>
        <p:nvSpPr>
          <p:cNvPr id="3" name="Content Placeholder 2">
            <a:extLst>
              <a:ext uri="{FF2B5EF4-FFF2-40B4-BE49-F238E27FC236}">
                <a16:creationId xmlns:a16="http://schemas.microsoft.com/office/drawing/2014/main" id="{40506B18-F310-F45E-471B-D99CCCFC10B5}"/>
              </a:ext>
            </a:extLst>
          </p:cNvPr>
          <p:cNvSpPr>
            <a:spLocks noGrp="1"/>
          </p:cNvSpPr>
          <p:nvPr>
            <p:ph idx="1"/>
          </p:nvPr>
        </p:nvSpPr>
        <p:spPr>
          <a:xfrm>
            <a:off x="1066800" y="1910687"/>
            <a:ext cx="10058400" cy="4124353"/>
          </a:xfrm>
        </p:spPr>
        <p:txBody>
          <a:bodyPr/>
          <a:lstStyle/>
          <a:p>
            <a:r>
              <a:rPr lang="en-US" dirty="0"/>
              <a:t>For vertebrates, we distinguish the central nervous system from the peripheral nervous system. The central nervous system (CNS) is the brain and the spinal cord. The peripheral nervous system consists of the nerves outside the brain and spinal cord. Part of the PNS is the somatic nervous system, which consists of the axons conveying messages from the sense organs to the CNS and from the CNS to the muscles. Another part of the PNS, the autonomic nervous system, controls the heart, the intestines, and other organs. The autonomic nervous system has some of its cell bodies within the brain or spinal cord and some in clusters along the sides of the spinal cord.</a:t>
            </a:r>
            <a:endParaRPr lang="en-IN" dirty="0"/>
          </a:p>
          <a:p>
            <a:endParaRPr lang="en-IN" dirty="0"/>
          </a:p>
        </p:txBody>
      </p:sp>
    </p:spTree>
    <p:extLst>
      <p:ext uri="{BB962C8B-B14F-4D97-AF65-F5344CB8AC3E}">
        <p14:creationId xmlns:p14="http://schemas.microsoft.com/office/powerpoint/2010/main" val="784188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A5B5114A-23E7-156C-812E-CE0352A62D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97AF01-62C0-A429-6649-7AFE46EE84C0}"/>
              </a:ext>
            </a:extLst>
          </p:cNvPr>
          <p:cNvSpPr>
            <a:spLocks noGrp="1"/>
          </p:cNvSpPr>
          <p:nvPr>
            <p:ph type="title"/>
          </p:nvPr>
        </p:nvSpPr>
        <p:spPr/>
        <p:txBody>
          <a:bodyPr>
            <a:normAutofit/>
          </a:bodyPr>
          <a:lstStyle/>
          <a:p>
            <a:r>
              <a:rPr lang="en-US" b="1" dirty="0"/>
              <a:t>Biopsychology </a:t>
            </a:r>
            <a:endParaRPr lang="en-IN" dirty="0"/>
          </a:p>
        </p:txBody>
      </p:sp>
      <p:graphicFrame>
        <p:nvGraphicFramePr>
          <p:cNvPr id="4" name="Content Placeholder 3">
            <a:extLst>
              <a:ext uri="{FF2B5EF4-FFF2-40B4-BE49-F238E27FC236}">
                <a16:creationId xmlns:a16="http://schemas.microsoft.com/office/drawing/2014/main" id="{91C83666-6317-EE9B-38B2-DADB29A193F0}"/>
              </a:ext>
            </a:extLst>
          </p:cNvPr>
          <p:cNvGraphicFramePr>
            <a:graphicFrameLocks noGrp="1"/>
          </p:cNvGraphicFramePr>
          <p:nvPr>
            <p:ph idx="1"/>
            <p:extLst>
              <p:ext uri="{D42A27DB-BD31-4B8C-83A1-F6EECF244321}">
                <p14:modId xmlns:p14="http://schemas.microsoft.com/office/powerpoint/2010/main" val="1703087831"/>
              </p:ext>
            </p:extLst>
          </p:nvPr>
        </p:nvGraphicFramePr>
        <p:xfrm>
          <a:off x="518615" y="2156347"/>
          <a:ext cx="11382233" cy="4503759"/>
        </p:xfrm>
        <a:graphic>
          <a:graphicData uri="http://schemas.openxmlformats.org/drawingml/2006/table">
            <a:tbl>
              <a:tblPr firstRow="1" firstCol="1" bandRow="1">
                <a:tableStyleId>{5C22544A-7EE6-4342-B048-85BDC9FD1C3A}</a:tableStyleId>
              </a:tblPr>
              <a:tblGrid>
                <a:gridCol w="2175900">
                  <a:extLst>
                    <a:ext uri="{9D8B030D-6E8A-4147-A177-3AD203B41FA5}">
                      <a16:colId xmlns:a16="http://schemas.microsoft.com/office/drawing/2014/main" val="2714024622"/>
                    </a:ext>
                  </a:extLst>
                </a:gridCol>
                <a:gridCol w="3728175">
                  <a:extLst>
                    <a:ext uri="{9D8B030D-6E8A-4147-A177-3AD203B41FA5}">
                      <a16:colId xmlns:a16="http://schemas.microsoft.com/office/drawing/2014/main" val="2051021853"/>
                    </a:ext>
                  </a:extLst>
                </a:gridCol>
                <a:gridCol w="5478158">
                  <a:extLst>
                    <a:ext uri="{9D8B030D-6E8A-4147-A177-3AD203B41FA5}">
                      <a16:colId xmlns:a16="http://schemas.microsoft.com/office/drawing/2014/main" val="4235534691"/>
                    </a:ext>
                  </a:extLst>
                </a:gridCol>
              </a:tblGrid>
              <a:tr h="180150">
                <a:tc>
                  <a:txBody>
                    <a:bodyPr/>
                    <a:lstStyle/>
                    <a:p>
                      <a:pPr algn="ctr">
                        <a:lnSpc>
                          <a:spcPct val="107000"/>
                        </a:lnSpc>
                        <a:buNone/>
                      </a:pPr>
                      <a:r>
                        <a:rPr lang="en-US" sz="1000">
                          <a:effectLst/>
                        </a:rPr>
                        <a:t>Feature</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gn="ctr">
                        <a:lnSpc>
                          <a:spcPct val="107000"/>
                        </a:lnSpc>
                        <a:buNone/>
                      </a:pPr>
                      <a:r>
                        <a:rPr lang="en-US" sz="1000">
                          <a:effectLst/>
                        </a:rPr>
                        <a:t>Sympathetic Nervous System</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gn="ctr">
                        <a:lnSpc>
                          <a:spcPct val="107000"/>
                        </a:lnSpc>
                        <a:buNone/>
                      </a:pPr>
                      <a:r>
                        <a:rPr lang="en-US" sz="1000" dirty="0">
                          <a:effectLst/>
                        </a:rPr>
                        <a:t>Parasympathetic Nervous System</a:t>
                      </a:r>
                      <a:endParaRPr lang="en-IN" sz="1000" dirty="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extLst>
                  <a:ext uri="{0D108BD9-81ED-4DB2-BD59-A6C34878D82A}">
                    <a16:rowId xmlns:a16="http://schemas.microsoft.com/office/drawing/2014/main" val="3382422829"/>
                  </a:ext>
                </a:extLst>
              </a:tr>
              <a:tr h="540451">
                <a:tc>
                  <a:txBody>
                    <a:bodyPr/>
                    <a:lstStyle/>
                    <a:p>
                      <a:pPr>
                        <a:lnSpc>
                          <a:spcPct val="107000"/>
                        </a:lnSpc>
                        <a:buNone/>
                      </a:pPr>
                      <a:r>
                        <a:rPr lang="en-US" sz="1000">
                          <a:effectLst/>
                        </a:rPr>
                        <a:t>Main Function</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The sympathetic nervous system prepares the body for stressful or emergency situations.</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The parasympathetic nervous system helps the body relax and recover after stress or activity.</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extLst>
                  <a:ext uri="{0D108BD9-81ED-4DB2-BD59-A6C34878D82A}">
                    <a16:rowId xmlns:a16="http://schemas.microsoft.com/office/drawing/2014/main" val="1119064192"/>
                  </a:ext>
                </a:extLst>
              </a:tr>
              <a:tr h="360301">
                <a:tc>
                  <a:txBody>
                    <a:bodyPr/>
                    <a:lstStyle/>
                    <a:p>
                      <a:pPr>
                        <a:lnSpc>
                          <a:spcPct val="107000"/>
                        </a:lnSpc>
                        <a:buNone/>
                      </a:pPr>
                      <a:r>
                        <a:rPr lang="en-US" sz="1000">
                          <a:effectLst/>
                        </a:rPr>
                        <a:t>Heart Rate</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It increases the heart rate to supply more oxygen to muscles.</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dirty="0">
                          <a:effectLst/>
                        </a:rPr>
                        <a:t>It decreases the heart rate to conserve energy.</a:t>
                      </a:r>
                      <a:endParaRPr lang="en-IN" sz="1000" dirty="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extLst>
                  <a:ext uri="{0D108BD9-81ED-4DB2-BD59-A6C34878D82A}">
                    <a16:rowId xmlns:a16="http://schemas.microsoft.com/office/drawing/2014/main" val="2560605508"/>
                  </a:ext>
                </a:extLst>
              </a:tr>
              <a:tr h="540451">
                <a:tc>
                  <a:txBody>
                    <a:bodyPr/>
                    <a:lstStyle/>
                    <a:p>
                      <a:pPr>
                        <a:lnSpc>
                          <a:spcPct val="107000"/>
                        </a:lnSpc>
                        <a:buNone/>
                      </a:pPr>
                      <a:r>
                        <a:rPr lang="en-US" sz="1000">
                          <a:effectLst/>
                        </a:rPr>
                        <a:t>Respiration</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It increases the breathing rate and dilates the airways to enhance oxygen intake.</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It slows down the breathing rate and constricts the airways to maintain normal respiration.</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extLst>
                  <a:ext uri="{0D108BD9-81ED-4DB2-BD59-A6C34878D82A}">
                    <a16:rowId xmlns:a16="http://schemas.microsoft.com/office/drawing/2014/main" val="24212004"/>
                  </a:ext>
                </a:extLst>
              </a:tr>
              <a:tr h="540451">
                <a:tc>
                  <a:txBody>
                    <a:bodyPr/>
                    <a:lstStyle/>
                    <a:p>
                      <a:pPr>
                        <a:lnSpc>
                          <a:spcPct val="107000"/>
                        </a:lnSpc>
                        <a:buNone/>
                      </a:pPr>
                      <a:r>
                        <a:rPr lang="en-US" sz="1000">
                          <a:effectLst/>
                        </a:rPr>
                        <a:t>Pupil Size</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It dilates the pupils to improve vision in low-light or danger situations.</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It constricts the pupils to support normal vision in safe and restful conditions.</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extLst>
                  <a:ext uri="{0D108BD9-81ED-4DB2-BD59-A6C34878D82A}">
                    <a16:rowId xmlns:a16="http://schemas.microsoft.com/office/drawing/2014/main" val="3784006360"/>
                  </a:ext>
                </a:extLst>
              </a:tr>
              <a:tr h="540451">
                <a:tc>
                  <a:txBody>
                    <a:bodyPr/>
                    <a:lstStyle/>
                    <a:p>
                      <a:pPr>
                        <a:lnSpc>
                          <a:spcPct val="107000"/>
                        </a:lnSpc>
                        <a:buNone/>
                      </a:pPr>
                      <a:r>
                        <a:rPr lang="en-US" sz="1000">
                          <a:effectLst/>
                        </a:rPr>
                        <a:t>Digestive Activity</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It slows down or inhibits digestion to prioritize energy for immediate action.</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It stimulates digestion to promote rest, recovery, and energy storage.</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extLst>
                  <a:ext uri="{0D108BD9-81ED-4DB2-BD59-A6C34878D82A}">
                    <a16:rowId xmlns:a16="http://schemas.microsoft.com/office/drawing/2014/main" val="3444514274"/>
                  </a:ext>
                </a:extLst>
              </a:tr>
              <a:tr h="540451">
                <a:tc>
                  <a:txBody>
                    <a:bodyPr/>
                    <a:lstStyle/>
                    <a:p>
                      <a:pPr>
                        <a:lnSpc>
                          <a:spcPct val="107000"/>
                        </a:lnSpc>
                        <a:buNone/>
                      </a:pPr>
                      <a:r>
                        <a:rPr lang="en-US" sz="1000">
                          <a:effectLst/>
                        </a:rPr>
                        <a:t>Saliva Production</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It reduces saliva production, as digestion is not a priority during stress.</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It increases saliva production to aid in digestion.</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extLst>
                  <a:ext uri="{0D108BD9-81ED-4DB2-BD59-A6C34878D82A}">
                    <a16:rowId xmlns:a16="http://schemas.microsoft.com/office/drawing/2014/main" val="2630089419"/>
                  </a:ext>
                </a:extLst>
              </a:tr>
              <a:tr h="360301">
                <a:tc>
                  <a:txBody>
                    <a:bodyPr/>
                    <a:lstStyle/>
                    <a:p>
                      <a:pPr>
                        <a:lnSpc>
                          <a:spcPct val="107000"/>
                        </a:lnSpc>
                        <a:buNone/>
                      </a:pPr>
                      <a:r>
                        <a:rPr lang="en-US" sz="1000">
                          <a:effectLst/>
                        </a:rPr>
                        <a:t>Bladder Function</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It relaxes the bladder, temporarily inhibiting urination during stress.</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It contracts the bladder and promotes normal urination.</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extLst>
                  <a:ext uri="{0D108BD9-81ED-4DB2-BD59-A6C34878D82A}">
                    <a16:rowId xmlns:a16="http://schemas.microsoft.com/office/drawing/2014/main" val="3072280057"/>
                  </a:ext>
                </a:extLst>
              </a:tr>
              <a:tr h="540451">
                <a:tc>
                  <a:txBody>
                    <a:bodyPr/>
                    <a:lstStyle/>
                    <a:p>
                      <a:pPr>
                        <a:lnSpc>
                          <a:spcPct val="107000"/>
                        </a:lnSpc>
                        <a:buNone/>
                      </a:pPr>
                      <a:r>
                        <a:rPr lang="en-US" sz="1000">
                          <a:effectLst/>
                        </a:rPr>
                        <a:t>Energy Use</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It mobilizes energy by increasing glucose release into the bloodstream.</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It conserves energy by encouraging the storage and slow release of glucose.</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extLst>
                  <a:ext uri="{0D108BD9-81ED-4DB2-BD59-A6C34878D82A}">
                    <a16:rowId xmlns:a16="http://schemas.microsoft.com/office/drawing/2014/main" val="2804624525"/>
                  </a:ext>
                </a:extLst>
              </a:tr>
              <a:tr h="360301">
                <a:tc>
                  <a:txBody>
                    <a:bodyPr/>
                    <a:lstStyle/>
                    <a:p>
                      <a:pPr>
                        <a:lnSpc>
                          <a:spcPct val="107000"/>
                        </a:lnSpc>
                        <a:buNone/>
                      </a:pPr>
                      <a:r>
                        <a:rPr lang="en-US" sz="1000">
                          <a:effectLst/>
                        </a:rPr>
                        <a:t>Neurotransmitter Used</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a:effectLst/>
                        </a:rPr>
                        <a:t>It primarily uses norepinephrine as its neurotransmitter.</a:t>
                      </a:r>
                      <a:endParaRPr lang="en-IN" sz="100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tc>
                  <a:txBody>
                    <a:bodyPr/>
                    <a:lstStyle/>
                    <a:p>
                      <a:pPr>
                        <a:lnSpc>
                          <a:spcPct val="107000"/>
                        </a:lnSpc>
                        <a:buNone/>
                      </a:pPr>
                      <a:r>
                        <a:rPr lang="en-US" sz="1000" dirty="0">
                          <a:effectLst/>
                        </a:rPr>
                        <a:t>It primarily uses acetylcholine as its neurotransmitter.</a:t>
                      </a:r>
                      <a:endParaRPr lang="en-IN" sz="1000" dirty="0">
                        <a:effectLst/>
                        <a:latin typeface="Arial" panose="020B0604020202020204" pitchFamily="34" charset="0"/>
                        <a:ea typeface="Arial" panose="020B0604020202020204" pitchFamily="34" charset="0"/>
                        <a:cs typeface="Times New Roman" panose="02020603050405020304" pitchFamily="18" charset="0"/>
                      </a:endParaRPr>
                    </a:p>
                  </a:txBody>
                  <a:tcPr marL="61865" marR="61865" marT="0" marB="0" anchor="ctr"/>
                </a:tc>
                <a:extLst>
                  <a:ext uri="{0D108BD9-81ED-4DB2-BD59-A6C34878D82A}">
                    <a16:rowId xmlns:a16="http://schemas.microsoft.com/office/drawing/2014/main" val="4183862208"/>
                  </a:ext>
                </a:extLst>
              </a:tr>
            </a:tbl>
          </a:graphicData>
        </a:graphic>
      </p:graphicFrame>
      <p:sp>
        <p:nvSpPr>
          <p:cNvPr id="5" name="Rectangle 1">
            <a:extLst>
              <a:ext uri="{FF2B5EF4-FFF2-40B4-BE49-F238E27FC236}">
                <a16:creationId xmlns:a16="http://schemas.microsoft.com/office/drawing/2014/main" id="{2661A470-AA4D-1A8B-80BB-F9E9BCD38EB9}"/>
              </a:ext>
            </a:extLst>
          </p:cNvPr>
          <p:cNvSpPr>
            <a:spLocks noChangeArrowheads="1"/>
          </p:cNvSpPr>
          <p:nvPr/>
        </p:nvSpPr>
        <p:spPr bwMode="auto">
          <a:xfrm>
            <a:off x="423080" y="1552529"/>
            <a:ext cx="1138223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Sympathetic &amp; Parasympathetic NS.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The sympathetic and parasympathetic nervous systems are two branches of the autonomic nervous system, which controls involuntary bodily functions. They work in opposition to maintain homeostasis.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04619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3FEA5-FB87-FBC1-E597-3B2A245EAC2D}"/>
              </a:ext>
            </a:extLst>
          </p:cNvPr>
          <p:cNvSpPr>
            <a:spLocks noGrp="1"/>
          </p:cNvSpPr>
          <p:nvPr>
            <p:ph type="title"/>
          </p:nvPr>
        </p:nvSpPr>
        <p:spPr/>
        <p:txBody>
          <a:bodyPr>
            <a:normAutofit/>
          </a:bodyPr>
          <a:lstStyle/>
          <a:p>
            <a:r>
              <a:rPr lang="en-US" b="1" dirty="0"/>
              <a:t>Structure of the Neuron</a:t>
            </a:r>
            <a:endParaRPr lang="en-IN" dirty="0"/>
          </a:p>
        </p:txBody>
      </p:sp>
      <p:pic>
        <p:nvPicPr>
          <p:cNvPr id="5" name="Content Placeholder 4">
            <a:extLst>
              <a:ext uri="{FF2B5EF4-FFF2-40B4-BE49-F238E27FC236}">
                <a16:creationId xmlns:a16="http://schemas.microsoft.com/office/drawing/2014/main" id="{37D2C6C8-76DB-9ECE-7F11-1EB798D8E4A1}"/>
              </a:ext>
            </a:extLst>
          </p:cNvPr>
          <p:cNvPicPr>
            <a:picLocks noGrp="1" noChangeAspect="1"/>
          </p:cNvPicPr>
          <p:nvPr>
            <p:ph idx="1"/>
          </p:nvPr>
        </p:nvPicPr>
        <p:blipFill>
          <a:blip r:embed="rId2"/>
          <a:stretch>
            <a:fillRect/>
          </a:stretch>
        </p:blipFill>
        <p:spPr>
          <a:xfrm>
            <a:off x="3089951" y="2014194"/>
            <a:ext cx="6012098" cy="3932237"/>
          </a:xfrm>
          <a:prstGeom prst="rect">
            <a:avLst/>
          </a:prstGeom>
        </p:spPr>
      </p:pic>
    </p:spTree>
    <p:extLst>
      <p:ext uri="{BB962C8B-B14F-4D97-AF65-F5344CB8AC3E}">
        <p14:creationId xmlns:p14="http://schemas.microsoft.com/office/powerpoint/2010/main" val="1489850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639C3A65-C02D-3795-4239-6D6004117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0E46A-F0A5-D05E-7D23-F5245EA60424}"/>
              </a:ext>
            </a:extLst>
          </p:cNvPr>
          <p:cNvSpPr>
            <a:spLocks noGrp="1"/>
          </p:cNvSpPr>
          <p:nvPr>
            <p:ph type="title"/>
          </p:nvPr>
        </p:nvSpPr>
        <p:spPr/>
        <p:txBody>
          <a:bodyPr>
            <a:normAutofit/>
          </a:bodyPr>
          <a:lstStyle/>
          <a:p>
            <a:r>
              <a:rPr lang="en-US" b="1" dirty="0"/>
              <a:t>Structure of the Neuron</a:t>
            </a:r>
            <a:endParaRPr lang="en-IN" dirty="0"/>
          </a:p>
        </p:txBody>
      </p:sp>
      <p:sp>
        <p:nvSpPr>
          <p:cNvPr id="7" name="TextBox 6">
            <a:extLst>
              <a:ext uri="{FF2B5EF4-FFF2-40B4-BE49-F238E27FC236}">
                <a16:creationId xmlns:a16="http://schemas.microsoft.com/office/drawing/2014/main" id="{7A81D919-5B2B-3878-2549-1064C58F734F}"/>
              </a:ext>
            </a:extLst>
          </p:cNvPr>
          <p:cNvSpPr txBox="1"/>
          <p:nvPr/>
        </p:nvSpPr>
        <p:spPr>
          <a:xfrm>
            <a:off x="852668" y="1509146"/>
            <a:ext cx="10486663" cy="5755935"/>
          </a:xfrm>
          <a:prstGeom prst="rect">
            <a:avLst/>
          </a:prstGeom>
          <a:noFill/>
        </p:spPr>
        <p:txBody>
          <a:bodyPr wrap="square">
            <a:spAutoFit/>
          </a:bodyPr>
          <a:lstStyle/>
          <a:p>
            <a:pPr algn="just">
              <a:lnSpc>
                <a:spcPct val="150000"/>
              </a:lnSpc>
              <a:spcAft>
                <a:spcPts val="600"/>
              </a:spcAft>
              <a:buNone/>
            </a:pPr>
            <a:r>
              <a:rPr lang="en-US" sz="1800" dirty="0">
                <a:effectLst/>
                <a:latin typeface="Times New Roman" panose="02020603050405020304" pitchFamily="18" charset="0"/>
                <a:ea typeface="Arial" panose="020B0604020202020204" pitchFamily="34" charset="0"/>
              </a:rPr>
              <a:t>In addition to having all the normal components of a cell (nucleus, organelles, etc.) neurons also contain unique structures for receiving and sending the electrical signals that make neuronal communication possible.</a:t>
            </a:r>
            <a:endParaRPr lang="en-IN" sz="1600" dirty="0">
              <a:effectLst/>
              <a:latin typeface="Arial" panose="020B0604020202020204" pitchFamily="34" charset="0"/>
              <a:ea typeface="Arial" panose="020B0604020202020204" pitchFamily="34" charset="0"/>
            </a:endParaRPr>
          </a:p>
          <a:p>
            <a:pPr algn="just">
              <a:lnSpc>
                <a:spcPct val="150000"/>
              </a:lnSpc>
              <a:buNone/>
            </a:pPr>
            <a:r>
              <a:rPr lang="en-US" sz="1800" dirty="0">
                <a:effectLst/>
                <a:latin typeface="Times New Roman" panose="02020603050405020304" pitchFamily="18" charset="0"/>
                <a:ea typeface="Arial" panose="020B0604020202020204" pitchFamily="34" charset="0"/>
              </a:rPr>
              <a:t>Dendrite: Dendrites are branch-like structures extending away from the cell body, and their job is to receive messages from other neurons and allow those messages to travel to the cell body. Although some neurons do not have any dendrites, other types of neurons have multiple dendrites. Dendrites can have small protrusions called dendritic spines, which further increase surface area for possible connections with other neurons.</a:t>
            </a:r>
          </a:p>
          <a:p>
            <a:pPr>
              <a:lnSpc>
                <a:spcPct val="150000"/>
              </a:lnSpc>
            </a:pPr>
            <a:r>
              <a:rPr lang="en-US" dirty="0">
                <a:latin typeface="Times New Roman" panose="02020603050405020304" pitchFamily="18" charset="0"/>
              </a:rPr>
              <a:t>Cell Body :Like other cells, each neuron has a cell body (or soma) that contains a nucleus, smooth and rough endoplasmic reticulum, Golgi apparatus, mitochondria, and other cellular components.</a:t>
            </a:r>
            <a:endParaRPr lang="en-IN" dirty="0">
              <a:latin typeface="Times New Roman" panose="02020603050405020304" pitchFamily="18" charset="0"/>
            </a:endParaRPr>
          </a:p>
          <a:p>
            <a:pPr>
              <a:lnSpc>
                <a:spcPct val="150000"/>
              </a:lnSpc>
            </a:pPr>
            <a:r>
              <a:rPr lang="en-US" dirty="0">
                <a:latin typeface="Times New Roman" panose="02020603050405020304" pitchFamily="18" charset="0"/>
              </a:rPr>
              <a:t>Axon : An axon, at its most basic, is a tube-like structure that carries an electrical impulse from the cell body (or from another cell’s dendrites) to the structures at opposite end of the neuron—axon terminals, which can then pass the impulse to another neuron. The cell body contains a specialized structure, the axon hillock, which serves as a junction between the cell body and the axon.</a:t>
            </a:r>
            <a:endParaRPr lang="en-IN" dirty="0">
              <a:latin typeface="Times New Roman" panose="02020603050405020304" pitchFamily="18" charset="0"/>
            </a:endParaRPr>
          </a:p>
          <a:p>
            <a:r>
              <a:rPr lang="en-US" dirty="0">
                <a:latin typeface="Times New Roman" panose="02020603050405020304" pitchFamily="18" charset="0"/>
              </a:rPr>
              <a:t> </a:t>
            </a:r>
            <a:endParaRPr lang="en-IN" dirty="0">
              <a:latin typeface="Times New Roman" panose="02020603050405020304" pitchFamily="18" charset="0"/>
            </a:endParaRPr>
          </a:p>
          <a:p>
            <a:pPr algn="just">
              <a:lnSpc>
                <a:spcPct val="150000"/>
              </a:lnSpc>
              <a:buNone/>
            </a:pPr>
            <a:endParaRPr lang="en-IN" sz="16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807094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73E2E8AC-9FE9-988C-DE6B-F9DFB1D52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472693-AC78-B9CE-ABD4-91EF37633A3A}"/>
              </a:ext>
            </a:extLst>
          </p:cNvPr>
          <p:cNvSpPr>
            <a:spLocks noGrp="1"/>
          </p:cNvSpPr>
          <p:nvPr>
            <p:ph type="title"/>
          </p:nvPr>
        </p:nvSpPr>
        <p:spPr/>
        <p:txBody>
          <a:bodyPr>
            <a:normAutofit/>
          </a:bodyPr>
          <a:lstStyle/>
          <a:p>
            <a:r>
              <a:rPr lang="en-US" b="1" dirty="0"/>
              <a:t>Structure of the Neuron</a:t>
            </a:r>
            <a:endParaRPr lang="en-IN" dirty="0"/>
          </a:p>
        </p:txBody>
      </p:sp>
      <p:sp>
        <p:nvSpPr>
          <p:cNvPr id="7" name="TextBox 6">
            <a:extLst>
              <a:ext uri="{FF2B5EF4-FFF2-40B4-BE49-F238E27FC236}">
                <a16:creationId xmlns:a16="http://schemas.microsoft.com/office/drawing/2014/main" id="{25434D05-D436-C8D2-CEF1-6310CADCA6B2}"/>
              </a:ext>
            </a:extLst>
          </p:cNvPr>
          <p:cNvSpPr txBox="1"/>
          <p:nvPr/>
        </p:nvSpPr>
        <p:spPr>
          <a:xfrm>
            <a:off x="852668" y="1965760"/>
            <a:ext cx="10486663" cy="1200329"/>
          </a:xfrm>
          <a:prstGeom prst="rect">
            <a:avLst/>
          </a:prstGeom>
          <a:noFill/>
        </p:spPr>
        <p:txBody>
          <a:bodyPr wrap="square">
            <a:spAutoFit/>
          </a:bodyPr>
          <a:lstStyle/>
          <a:p>
            <a:r>
              <a:rPr lang="en-US" dirty="0"/>
              <a:t>Synapse: The synapse is the chemical junction between the axon terminals of one neuron and the dendrites of the next. It is a gap where specialized chemical interactions can occur, rather than an actual structure.</a:t>
            </a:r>
            <a:endParaRPr lang="en-IN" dirty="0"/>
          </a:p>
          <a:p>
            <a:endParaRPr lang="en-IN" dirty="0">
              <a:latin typeface="Times New Roman" panose="02020603050405020304" pitchFamily="18" charset="0"/>
            </a:endParaRPr>
          </a:p>
        </p:txBody>
      </p:sp>
      <p:pic>
        <p:nvPicPr>
          <p:cNvPr id="3" name="Picture 2">
            <a:extLst>
              <a:ext uri="{FF2B5EF4-FFF2-40B4-BE49-F238E27FC236}">
                <a16:creationId xmlns:a16="http://schemas.microsoft.com/office/drawing/2014/main" id="{D8E54DB5-46D3-D5D0-3AAB-F7205CE43F2E}"/>
              </a:ext>
            </a:extLst>
          </p:cNvPr>
          <p:cNvPicPr>
            <a:picLocks noChangeAspect="1"/>
          </p:cNvPicPr>
          <p:nvPr/>
        </p:nvPicPr>
        <p:blipFill>
          <a:blip r:embed="rId2"/>
          <a:stretch>
            <a:fillRect/>
          </a:stretch>
        </p:blipFill>
        <p:spPr>
          <a:xfrm>
            <a:off x="3964525" y="3489767"/>
            <a:ext cx="3637915" cy="2118360"/>
          </a:xfrm>
          <a:prstGeom prst="rect">
            <a:avLst/>
          </a:prstGeom>
        </p:spPr>
      </p:pic>
    </p:spTree>
    <p:extLst>
      <p:ext uri="{BB962C8B-B14F-4D97-AF65-F5344CB8AC3E}">
        <p14:creationId xmlns:p14="http://schemas.microsoft.com/office/powerpoint/2010/main" val="3016493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504D96F2-47CD-247E-DB66-36E60ACC4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5C6A77-7B09-67EF-A849-14D18EEA9777}"/>
              </a:ext>
            </a:extLst>
          </p:cNvPr>
          <p:cNvSpPr>
            <a:spLocks noGrp="1"/>
          </p:cNvSpPr>
          <p:nvPr>
            <p:ph type="title"/>
          </p:nvPr>
        </p:nvSpPr>
        <p:spPr/>
        <p:txBody>
          <a:bodyPr>
            <a:normAutofit/>
          </a:bodyPr>
          <a:lstStyle/>
          <a:p>
            <a:r>
              <a:rPr lang="en-US" b="1" dirty="0"/>
              <a:t>NEUROTRANSMITTERS</a:t>
            </a:r>
            <a:endParaRPr lang="en-IN" dirty="0"/>
          </a:p>
        </p:txBody>
      </p:sp>
      <p:sp>
        <p:nvSpPr>
          <p:cNvPr id="7" name="TextBox 6">
            <a:extLst>
              <a:ext uri="{FF2B5EF4-FFF2-40B4-BE49-F238E27FC236}">
                <a16:creationId xmlns:a16="http://schemas.microsoft.com/office/drawing/2014/main" id="{4EF020B3-B2B0-076F-F69A-8BFB07D52B03}"/>
              </a:ext>
            </a:extLst>
          </p:cNvPr>
          <p:cNvSpPr txBox="1"/>
          <p:nvPr/>
        </p:nvSpPr>
        <p:spPr>
          <a:xfrm>
            <a:off x="852668" y="1965760"/>
            <a:ext cx="10486663" cy="3693319"/>
          </a:xfrm>
          <a:prstGeom prst="rect">
            <a:avLst/>
          </a:prstGeom>
          <a:noFill/>
        </p:spPr>
        <p:txBody>
          <a:bodyPr wrap="square">
            <a:spAutoFit/>
          </a:bodyPr>
          <a:lstStyle/>
          <a:p>
            <a:r>
              <a:rPr lang="en-US" b="1" i="1" dirty="0"/>
              <a:t>Neurotransmitters are endogenous chemical messengers that transmit signals from a neuron to a target cell across a synapse.</a:t>
            </a:r>
            <a:endParaRPr lang="en-IN" dirty="0"/>
          </a:p>
          <a:p>
            <a:r>
              <a:rPr lang="en-IN" b="1" dirty="0"/>
              <a:t>Neurotransmitters</a:t>
            </a:r>
            <a:r>
              <a:rPr lang="en-IN" dirty="0"/>
              <a:t> are chemical messengers that transmit signals across synapses from one neuron to another. They play a key role in regulating mood, </a:t>
            </a:r>
            <a:r>
              <a:rPr lang="en-IN" dirty="0" err="1"/>
              <a:t>behavior</a:t>
            </a:r>
            <a:r>
              <a:rPr lang="en-IN" dirty="0"/>
              <a:t>, cognition, and bodily functions.</a:t>
            </a:r>
          </a:p>
          <a:p>
            <a:r>
              <a:rPr lang="en-US" dirty="0"/>
              <a:t>Types of Neurotransmitters:</a:t>
            </a:r>
            <a:endParaRPr lang="en-IN" b="1" dirty="0"/>
          </a:p>
          <a:p>
            <a:pPr lvl="0"/>
            <a:r>
              <a:rPr lang="en-IN" b="1" dirty="0"/>
              <a:t>Excitatory Neurotransmitters</a:t>
            </a:r>
            <a:r>
              <a:rPr lang="en-IN" dirty="0"/>
              <a:t> – Increase the likelihood of the receiving neuron firing.</a:t>
            </a:r>
          </a:p>
          <a:p>
            <a:r>
              <a:rPr lang="en-IN" i="1" dirty="0"/>
              <a:t>Example:</a:t>
            </a:r>
            <a:r>
              <a:rPr lang="en-IN" dirty="0"/>
              <a:t> </a:t>
            </a:r>
            <a:r>
              <a:rPr lang="en-IN" b="1" dirty="0"/>
              <a:t>Glutamate</a:t>
            </a:r>
            <a:r>
              <a:rPr lang="en-IN" dirty="0"/>
              <a:t> – involved in learning and memory.</a:t>
            </a:r>
          </a:p>
          <a:p>
            <a:pPr lvl="0"/>
            <a:r>
              <a:rPr lang="en-IN" b="1" dirty="0"/>
              <a:t>Inhibitory Neurotransmitters</a:t>
            </a:r>
            <a:r>
              <a:rPr lang="en-IN" dirty="0"/>
              <a:t> – Decrease the likelihood of the receiving neuron firing.</a:t>
            </a:r>
          </a:p>
          <a:p>
            <a:r>
              <a:rPr lang="en-IN" i="1" dirty="0"/>
              <a:t>Example:</a:t>
            </a:r>
            <a:r>
              <a:rPr lang="en-IN" dirty="0"/>
              <a:t> </a:t>
            </a:r>
            <a:r>
              <a:rPr lang="en-IN" b="1" dirty="0"/>
              <a:t>GABA (Gamma-Aminobutyric Acid)</a:t>
            </a:r>
            <a:r>
              <a:rPr lang="en-IN" dirty="0"/>
              <a:t> – calms neural activity, reduces anxiety.</a:t>
            </a:r>
          </a:p>
          <a:p>
            <a:pPr lvl="0"/>
            <a:r>
              <a:rPr lang="en-IN" b="1" dirty="0"/>
              <a:t>Modulatory Neurotransmitters</a:t>
            </a:r>
            <a:r>
              <a:rPr lang="en-IN" dirty="0"/>
              <a:t> – Influence large numbers of neurons and modulate other neurotransmitters.</a:t>
            </a:r>
          </a:p>
          <a:p>
            <a:r>
              <a:rPr lang="en-IN" i="1" dirty="0"/>
              <a:t>Example:</a:t>
            </a:r>
            <a:r>
              <a:rPr lang="en-IN" dirty="0"/>
              <a:t> </a:t>
            </a:r>
            <a:r>
              <a:rPr lang="en-IN" b="1" dirty="0"/>
              <a:t>Dopamine</a:t>
            </a:r>
            <a:r>
              <a:rPr lang="en-IN" dirty="0"/>
              <a:t>, </a:t>
            </a:r>
            <a:r>
              <a:rPr lang="en-IN" b="1" dirty="0"/>
              <a:t>Serotonin</a:t>
            </a:r>
            <a:r>
              <a:rPr lang="en-IN" dirty="0"/>
              <a:t> – affect mood, motivation, and arousal.</a:t>
            </a:r>
          </a:p>
        </p:txBody>
      </p:sp>
    </p:spTree>
    <p:extLst>
      <p:ext uri="{BB962C8B-B14F-4D97-AF65-F5344CB8AC3E}">
        <p14:creationId xmlns:p14="http://schemas.microsoft.com/office/powerpoint/2010/main" val="824221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1DFBC068-9818-7881-081C-D6EBC6627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CDD59-43CA-1EB5-9391-081C9455190D}"/>
              </a:ext>
            </a:extLst>
          </p:cNvPr>
          <p:cNvSpPr>
            <a:spLocks noGrp="1"/>
          </p:cNvSpPr>
          <p:nvPr>
            <p:ph type="title"/>
          </p:nvPr>
        </p:nvSpPr>
        <p:spPr/>
        <p:txBody>
          <a:bodyPr>
            <a:normAutofit/>
          </a:bodyPr>
          <a:lstStyle/>
          <a:p>
            <a:r>
              <a:rPr lang="en-US" b="1" dirty="0"/>
              <a:t>Sensation :</a:t>
            </a:r>
            <a:endParaRPr lang="en-IN" dirty="0"/>
          </a:p>
        </p:txBody>
      </p:sp>
      <p:sp>
        <p:nvSpPr>
          <p:cNvPr id="7" name="TextBox 6">
            <a:extLst>
              <a:ext uri="{FF2B5EF4-FFF2-40B4-BE49-F238E27FC236}">
                <a16:creationId xmlns:a16="http://schemas.microsoft.com/office/drawing/2014/main" id="{3676C49C-3A08-2227-3555-CF328FC4B4C8}"/>
              </a:ext>
            </a:extLst>
          </p:cNvPr>
          <p:cNvSpPr txBox="1"/>
          <p:nvPr/>
        </p:nvSpPr>
        <p:spPr>
          <a:xfrm>
            <a:off x="852668" y="1965760"/>
            <a:ext cx="10486663" cy="3693319"/>
          </a:xfrm>
          <a:prstGeom prst="rect">
            <a:avLst/>
          </a:prstGeom>
          <a:noFill/>
        </p:spPr>
        <p:txBody>
          <a:bodyPr wrap="square">
            <a:spAutoFit/>
          </a:bodyPr>
          <a:lstStyle/>
          <a:p>
            <a:r>
              <a:rPr lang="en-US" b="1" dirty="0"/>
              <a:t>Sensation</a:t>
            </a:r>
            <a:endParaRPr lang="en-IN" dirty="0"/>
          </a:p>
          <a:p>
            <a:r>
              <a:rPr lang="en-US" dirty="0"/>
              <a:t>Everything we experience comes to us by means of our sense organs. These may be thought of as receiving stations for stimuli which come from outside and from within our body. It is the process that occurs when special receptors in the sense organs are activated, allowing various forms of outside stimuli to become neural signals in the brain.</a:t>
            </a:r>
            <a:endParaRPr lang="en-IN" dirty="0"/>
          </a:p>
          <a:p>
            <a:r>
              <a:rPr lang="en-US" b="1" dirty="0"/>
              <a:t> </a:t>
            </a:r>
            <a:endParaRPr lang="en-IN" dirty="0"/>
          </a:p>
          <a:p>
            <a:r>
              <a:rPr lang="en-US" b="1" dirty="0"/>
              <a:t>Sensation is the process by which our sensory receptors and nervous system receive and transmit information from the environment to the brain. </a:t>
            </a:r>
            <a:endParaRPr lang="en-IN" dirty="0"/>
          </a:p>
          <a:p>
            <a:r>
              <a:rPr lang="en-US" dirty="0"/>
              <a:t> </a:t>
            </a:r>
            <a:endParaRPr lang="en-IN" dirty="0"/>
          </a:p>
          <a:p>
            <a:r>
              <a:rPr lang="en-US" dirty="0"/>
              <a:t>What is stimulus?</a:t>
            </a:r>
            <a:endParaRPr lang="en-IN" dirty="0"/>
          </a:p>
          <a:p>
            <a:r>
              <a:rPr lang="en-IN" dirty="0"/>
              <a:t>A </a:t>
            </a:r>
            <a:r>
              <a:rPr lang="en-IN" b="1" dirty="0"/>
              <a:t>stimulus </a:t>
            </a:r>
            <a:r>
              <a:rPr lang="en-IN" dirty="0"/>
              <a:t>is any kind of mechanical, physical, or chemical change that acts upon a sense organ. The important feature is the element of 'change'.</a:t>
            </a:r>
          </a:p>
          <a:p>
            <a:r>
              <a:rPr lang="en-IN" dirty="0"/>
              <a:t> </a:t>
            </a:r>
          </a:p>
        </p:txBody>
      </p:sp>
    </p:spTree>
    <p:extLst>
      <p:ext uri="{BB962C8B-B14F-4D97-AF65-F5344CB8AC3E}">
        <p14:creationId xmlns:p14="http://schemas.microsoft.com/office/powerpoint/2010/main" val="1406785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E96C4569-940D-0B25-FAD4-3AD82F4BB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C56BFE-2E9A-7082-405E-A83EBA66DDD4}"/>
              </a:ext>
            </a:extLst>
          </p:cNvPr>
          <p:cNvSpPr>
            <a:spLocks noGrp="1"/>
          </p:cNvSpPr>
          <p:nvPr>
            <p:ph type="title"/>
          </p:nvPr>
        </p:nvSpPr>
        <p:spPr/>
        <p:txBody>
          <a:bodyPr>
            <a:normAutofit/>
          </a:bodyPr>
          <a:lstStyle/>
          <a:p>
            <a:r>
              <a:rPr lang="en-US" b="1" dirty="0"/>
              <a:t>Perception :</a:t>
            </a:r>
            <a:endParaRPr lang="en-IN" dirty="0"/>
          </a:p>
        </p:txBody>
      </p:sp>
      <p:sp>
        <p:nvSpPr>
          <p:cNvPr id="7" name="TextBox 6">
            <a:extLst>
              <a:ext uri="{FF2B5EF4-FFF2-40B4-BE49-F238E27FC236}">
                <a16:creationId xmlns:a16="http://schemas.microsoft.com/office/drawing/2014/main" id="{09590E00-F78B-20CC-76FD-99E6D15638BD}"/>
              </a:ext>
            </a:extLst>
          </p:cNvPr>
          <p:cNvSpPr txBox="1"/>
          <p:nvPr/>
        </p:nvSpPr>
        <p:spPr>
          <a:xfrm>
            <a:off x="852668" y="1965760"/>
            <a:ext cx="10486663" cy="2585323"/>
          </a:xfrm>
          <a:prstGeom prst="rect">
            <a:avLst/>
          </a:prstGeom>
          <a:noFill/>
        </p:spPr>
        <p:txBody>
          <a:bodyPr wrap="square">
            <a:spAutoFit/>
          </a:bodyPr>
          <a:lstStyle/>
          <a:p>
            <a:r>
              <a:rPr lang="en-IN" b="1" dirty="0"/>
              <a:t>Perception is the organisation, identification and interpretation of sensory information in order to represent and understand the presented information. </a:t>
            </a:r>
            <a:r>
              <a:rPr lang="en-IN" dirty="0"/>
              <a:t>Sensation occurs when energy in the external environment or the body stimulates receptors in the sense organs. All perception involves signals that go through the nervous system, which in turn results from physical or chemical stimulation of the sensory system. Perception is not only the passive receipt of these signals, but it is also shaped by the recipient’s learning, memory, expectation, attention and emotion. </a:t>
            </a:r>
          </a:p>
          <a:p>
            <a:r>
              <a:rPr lang="en-IN" dirty="0"/>
              <a:t> </a:t>
            </a:r>
          </a:p>
          <a:p>
            <a:r>
              <a:rPr lang="en-IN" dirty="0"/>
              <a:t> </a:t>
            </a:r>
          </a:p>
        </p:txBody>
      </p:sp>
    </p:spTree>
    <p:extLst>
      <p:ext uri="{BB962C8B-B14F-4D97-AF65-F5344CB8AC3E}">
        <p14:creationId xmlns:p14="http://schemas.microsoft.com/office/powerpoint/2010/main" val="1398075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2EC0FF69-2499-F229-181D-18CC5F893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BB3C9E-C459-4490-CCBE-ECDAB8DA4887}"/>
              </a:ext>
            </a:extLst>
          </p:cNvPr>
          <p:cNvSpPr>
            <a:spLocks noGrp="1"/>
          </p:cNvSpPr>
          <p:nvPr>
            <p:ph type="title"/>
          </p:nvPr>
        </p:nvSpPr>
        <p:spPr/>
        <p:txBody>
          <a:bodyPr>
            <a:normAutofit/>
          </a:bodyPr>
          <a:lstStyle/>
          <a:p>
            <a:r>
              <a:rPr lang="en-US" b="1" dirty="0"/>
              <a:t>Sensation vs Perception :</a:t>
            </a:r>
            <a:endParaRPr lang="en-IN" dirty="0"/>
          </a:p>
        </p:txBody>
      </p:sp>
      <p:sp>
        <p:nvSpPr>
          <p:cNvPr id="7" name="TextBox 6">
            <a:extLst>
              <a:ext uri="{FF2B5EF4-FFF2-40B4-BE49-F238E27FC236}">
                <a16:creationId xmlns:a16="http://schemas.microsoft.com/office/drawing/2014/main" id="{2B08BD61-F094-E3EE-55F8-9DCD85918B33}"/>
              </a:ext>
            </a:extLst>
          </p:cNvPr>
          <p:cNvSpPr txBox="1"/>
          <p:nvPr/>
        </p:nvSpPr>
        <p:spPr>
          <a:xfrm>
            <a:off x="852668" y="1965760"/>
            <a:ext cx="10486663" cy="646331"/>
          </a:xfrm>
          <a:prstGeom prst="rect">
            <a:avLst/>
          </a:prstGeom>
          <a:noFill/>
        </p:spPr>
        <p:txBody>
          <a:bodyPr wrap="square">
            <a:spAutoFit/>
          </a:bodyPr>
          <a:lstStyle/>
          <a:p>
            <a:r>
              <a:rPr lang="en-IN" dirty="0"/>
              <a:t> </a:t>
            </a:r>
          </a:p>
          <a:p>
            <a:r>
              <a:rPr lang="en-IN" dirty="0"/>
              <a:t> </a:t>
            </a:r>
          </a:p>
        </p:txBody>
      </p:sp>
      <p:graphicFrame>
        <p:nvGraphicFramePr>
          <p:cNvPr id="3" name="Table 2">
            <a:extLst>
              <a:ext uri="{FF2B5EF4-FFF2-40B4-BE49-F238E27FC236}">
                <a16:creationId xmlns:a16="http://schemas.microsoft.com/office/drawing/2014/main" id="{81262574-D880-3632-FD6B-40F9054CA2C8}"/>
              </a:ext>
            </a:extLst>
          </p:cNvPr>
          <p:cNvGraphicFramePr>
            <a:graphicFrameLocks noGrp="1"/>
          </p:cNvGraphicFramePr>
          <p:nvPr>
            <p:extLst>
              <p:ext uri="{D42A27DB-BD31-4B8C-83A1-F6EECF244321}">
                <p14:modId xmlns:p14="http://schemas.microsoft.com/office/powerpoint/2010/main" val="2345871626"/>
              </p:ext>
            </p:extLst>
          </p:nvPr>
        </p:nvGraphicFramePr>
        <p:xfrm>
          <a:off x="2348933" y="1965759"/>
          <a:ext cx="6748175" cy="4095072"/>
        </p:xfrm>
        <a:graphic>
          <a:graphicData uri="http://schemas.openxmlformats.org/drawingml/2006/table">
            <a:tbl>
              <a:tblPr firstRow="1" firstCol="1" bandRow="1">
                <a:tableStyleId>{5C22544A-7EE6-4342-B048-85BDC9FD1C3A}</a:tableStyleId>
              </a:tblPr>
              <a:tblGrid>
                <a:gridCol w="3373703">
                  <a:extLst>
                    <a:ext uri="{9D8B030D-6E8A-4147-A177-3AD203B41FA5}">
                      <a16:colId xmlns:a16="http://schemas.microsoft.com/office/drawing/2014/main" val="622945464"/>
                    </a:ext>
                  </a:extLst>
                </a:gridCol>
                <a:gridCol w="3374472">
                  <a:extLst>
                    <a:ext uri="{9D8B030D-6E8A-4147-A177-3AD203B41FA5}">
                      <a16:colId xmlns:a16="http://schemas.microsoft.com/office/drawing/2014/main" val="143130102"/>
                    </a:ext>
                  </a:extLst>
                </a:gridCol>
              </a:tblGrid>
              <a:tr h="315141">
                <a:tc>
                  <a:txBody>
                    <a:bodyPr/>
                    <a:lstStyle/>
                    <a:p>
                      <a:pPr algn="ctr">
                        <a:lnSpc>
                          <a:spcPct val="150000"/>
                        </a:lnSpc>
                        <a:spcAft>
                          <a:spcPts val="600"/>
                        </a:spcAft>
                        <a:buNone/>
                      </a:pPr>
                      <a:r>
                        <a:rPr lang="en-US" sz="1200">
                          <a:effectLst/>
                        </a:rPr>
                        <a:t>Sensation</a:t>
                      </a:r>
                      <a:endParaRPr lang="en-IN" sz="11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algn="ctr">
                        <a:lnSpc>
                          <a:spcPct val="150000"/>
                        </a:lnSpc>
                        <a:buNone/>
                      </a:pPr>
                      <a:r>
                        <a:rPr lang="en-US" sz="1200">
                          <a:effectLst/>
                        </a:rPr>
                        <a:t>Perception</a:t>
                      </a:r>
                      <a:endParaRPr lang="en-IN" sz="11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66952624"/>
                  </a:ext>
                </a:extLst>
              </a:tr>
              <a:tr h="1034889">
                <a:tc>
                  <a:txBody>
                    <a:bodyPr/>
                    <a:lstStyle/>
                    <a:p>
                      <a:pPr algn="just">
                        <a:lnSpc>
                          <a:spcPct val="150000"/>
                        </a:lnSpc>
                        <a:buNone/>
                      </a:pPr>
                      <a:r>
                        <a:rPr lang="en-US" sz="1200">
                          <a:effectLst/>
                        </a:rPr>
                        <a:t>The process of receiving information through your senses, which can be interpreted by your brain.</a:t>
                      </a:r>
                      <a:endParaRPr lang="en-IN" sz="11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indent="22860" algn="just">
                        <a:lnSpc>
                          <a:spcPct val="150000"/>
                        </a:lnSpc>
                        <a:buNone/>
                      </a:pPr>
                      <a:r>
                        <a:rPr lang="en-US" sz="1200">
                          <a:effectLst/>
                        </a:rPr>
                        <a:t>The process of interpreting the information received by the sensation process.</a:t>
                      </a:r>
                      <a:endParaRPr lang="en-IN" sz="11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50995681"/>
                  </a:ext>
                </a:extLst>
              </a:tr>
              <a:tr h="1034972">
                <a:tc>
                  <a:txBody>
                    <a:bodyPr/>
                    <a:lstStyle/>
                    <a:p>
                      <a:pPr algn="just">
                        <a:lnSpc>
                          <a:spcPct val="150000"/>
                        </a:lnSpc>
                        <a:buNone/>
                      </a:pPr>
                      <a:r>
                        <a:rPr lang="en-US" sz="1200">
                          <a:effectLst/>
                        </a:rPr>
                        <a:t>The source is the stimuli received by your senses </a:t>
                      </a:r>
                      <a:endParaRPr lang="en-IN" sz="1100">
                        <a:effectLst/>
                      </a:endParaRPr>
                    </a:p>
                    <a:p>
                      <a:pPr algn="just">
                        <a:lnSpc>
                          <a:spcPct val="150000"/>
                        </a:lnSpc>
                        <a:buNone/>
                      </a:pPr>
                      <a:r>
                        <a:rPr lang="en-US" sz="1200">
                          <a:effectLst/>
                        </a:rPr>
                        <a:t> </a:t>
                      </a:r>
                      <a:endParaRPr lang="en-IN" sz="11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indent="22860" algn="just">
                        <a:lnSpc>
                          <a:spcPct val="150000"/>
                        </a:lnSpc>
                        <a:buNone/>
                      </a:pPr>
                      <a:r>
                        <a:rPr lang="en-US" sz="1200" dirty="0">
                          <a:effectLst/>
                        </a:rPr>
                        <a:t>The source is the information sent to the brain through sensation </a:t>
                      </a:r>
                      <a:endParaRPr lang="en-IN" sz="1100" dirty="0">
                        <a:effectLst/>
                      </a:endParaRPr>
                    </a:p>
                    <a:p>
                      <a:pPr indent="22860" algn="just">
                        <a:lnSpc>
                          <a:spcPct val="150000"/>
                        </a:lnSpc>
                        <a:buNone/>
                      </a:pPr>
                      <a:r>
                        <a:rPr lang="en-US" sz="1200" dirty="0">
                          <a:effectLst/>
                        </a:rPr>
                        <a:t> </a:t>
                      </a:r>
                      <a:endParaRPr lang="en-IN" sz="11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40412137"/>
                  </a:ext>
                </a:extLst>
              </a:tr>
              <a:tr h="675098">
                <a:tc>
                  <a:txBody>
                    <a:bodyPr/>
                    <a:lstStyle/>
                    <a:p>
                      <a:pPr algn="just">
                        <a:lnSpc>
                          <a:spcPct val="150000"/>
                        </a:lnSpc>
                        <a:buNone/>
                      </a:pPr>
                      <a:r>
                        <a:rPr lang="en-US" sz="1200">
                          <a:effectLst/>
                        </a:rPr>
                        <a:t>Sensation results in raw information from your senses </a:t>
                      </a:r>
                      <a:endParaRPr lang="en-IN" sz="11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indent="22860" algn="just">
                        <a:lnSpc>
                          <a:spcPct val="150000"/>
                        </a:lnSpc>
                        <a:buNone/>
                      </a:pPr>
                      <a:r>
                        <a:rPr lang="en-US" sz="1200">
                          <a:effectLst/>
                        </a:rPr>
                        <a:t>Perception results in meaning of that information </a:t>
                      </a:r>
                      <a:endParaRPr lang="en-IN" sz="11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54915019"/>
                  </a:ext>
                </a:extLst>
              </a:tr>
              <a:tr h="1034972">
                <a:tc>
                  <a:txBody>
                    <a:bodyPr/>
                    <a:lstStyle/>
                    <a:p>
                      <a:pPr algn="just">
                        <a:lnSpc>
                          <a:spcPct val="150000"/>
                        </a:lnSpc>
                        <a:buNone/>
                      </a:pPr>
                      <a:r>
                        <a:rPr lang="en-US" sz="1200">
                          <a:effectLst/>
                        </a:rPr>
                        <a:t>Sensation is a general biological process</a:t>
                      </a:r>
                      <a:endParaRPr lang="en-IN" sz="11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indent="22860" algn="just">
                        <a:lnSpc>
                          <a:spcPct val="150000"/>
                        </a:lnSpc>
                        <a:buNone/>
                      </a:pPr>
                      <a:r>
                        <a:rPr lang="en-US" sz="1200" dirty="0">
                          <a:effectLst/>
                        </a:rPr>
                        <a:t>Perception is a more psychological process because information that is already stored within your brain affects the outcome</a:t>
                      </a:r>
                      <a:endParaRPr lang="en-IN" sz="11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44666079"/>
                  </a:ext>
                </a:extLst>
              </a:tr>
            </a:tbl>
          </a:graphicData>
        </a:graphic>
      </p:graphicFrame>
      <p:sp>
        <p:nvSpPr>
          <p:cNvPr id="4" name="Rectangle 1">
            <a:extLst>
              <a:ext uri="{FF2B5EF4-FFF2-40B4-BE49-F238E27FC236}">
                <a16:creationId xmlns:a16="http://schemas.microsoft.com/office/drawing/2014/main" id="{B8F6C240-62EF-9537-8E30-348FA3DBB842}"/>
              </a:ext>
            </a:extLst>
          </p:cNvPr>
          <p:cNvSpPr>
            <a:spLocks noChangeArrowheads="1"/>
          </p:cNvSpPr>
          <p:nvPr/>
        </p:nvSpPr>
        <p:spPr bwMode="auto">
          <a:xfrm>
            <a:off x="2348615" y="1965126"/>
            <a:ext cx="1262175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4286549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54375568-6BBE-F804-B225-219C35EBE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1CFEF-6A1D-D487-5276-8145029D6725}"/>
              </a:ext>
            </a:extLst>
          </p:cNvPr>
          <p:cNvSpPr>
            <a:spLocks noGrp="1"/>
          </p:cNvSpPr>
          <p:nvPr>
            <p:ph type="title"/>
          </p:nvPr>
        </p:nvSpPr>
        <p:spPr/>
        <p:txBody>
          <a:bodyPr>
            <a:normAutofit/>
          </a:bodyPr>
          <a:lstStyle/>
          <a:p>
            <a:r>
              <a:rPr lang="en-US" b="1" dirty="0"/>
              <a:t>Attention :</a:t>
            </a:r>
            <a:endParaRPr lang="en-IN" dirty="0"/>
          </a:p>
        </p:txBody>
      </p:sp>
      <p:sp>
        <p:nvSpPr>
          <p:cNvPr id="7" name="TextBox 6">
            <a:extLst>
              <a:ext uri="{FF2B5EF4-FFF2-40B4-BE49-F238E27FC236}">
                <a16:creationId xmlns:a16="http://schemas.microsoft.com/office/drawing/2014/main" id="{C53B82F4-593A-036B-B996-88CB16DCCA87}"/>
              </a:ext>
            </a:extLst>
          </p:cNvPr>
          <p:cNvSpPr txBox="1"/>
          <p:nvPr/>
        </p:nvSpPr>
        <p:spPr>
          <a:xfrm>
            <a:off x="852668" y="1965760"/>
            <a:ext cx="10486663" cy="4247317"/>
          </a:xfrm>
          <a:prstGeom prst="rect">
            <a:avLst/>
          </a:prstGeom>
          <a:noFill/>
        </p:spPr>
        <p:txBody>
          <a:bodyPr wrap="square">
            <a:spAutoFit/>
          </a:bodyPr>
          <a:lstStyle/>
          <a:p>
            <a:r>
              <a:rPr lang="en-US" b="1" dirty="0"/>
              <a:t>Attention</a:t>
            </a:r>
            <a:endParaRPr lang="en-IN" dirty="0"/>
          </a:p>
          <a:p>
            <a:r>
              <a:rPr lang="en-US" dirty="0"/>
              <a:t> “Attention can be defined as a process which compels the individual to select some particular stimulus according to his interest and attitude out of the multiplicity of the stimuli present in the environment” – Sharma R.N (1967).</a:t>
            </a:r>
            <a:endParaRPr lang="en-IN" dirty="0"/>
          </a:p>
          <a:p>
            <a:r>
              <a:rPr lang="en-US" dirty="0"/>
              <a:t>Attention is the ability to actively process specific information in the environment while tuning out other details. Attention is limited in terms of both capacity and duration.</a:t>
            </a:r>
            <a:endParaRPr lang="en-IN" dirty="0"/>
          </a:p>
          <a:p>
            <a:r>
              <a:rPr lang="en-US" dirty="0"/>
              <a:t> </a:t>
            </a:r>
            <a:endParaRPr lang="en-IN" dirty="0"/>
          </a:p>
          <a:p>
            <a:r>
              <a:rPr lang="en-US" dirty="0"/>
              <a:t>Determinants of Attention:</a:t>
            </a:r>
            <a:endParaRPr lang="en-IN" dirty="0"/>
          </a:p>
          <a:p>
            <a:r>
              <a:rPr lang="en-US" dirty="0"/>
              <a:t>There are a number of factors that determine if and how much attention a stimulus is capable of attracting and maintaining. </a:t>
            </a:r>
            <a:endParaRPr lang="en-IN" dirty="0"/>
          </a:p>
          <a:p>
            <a:r>
              <a:rPr lang="en-US" dirty="0"/>
              <a:t>The factors that influence attention of an individual may be classified into External and Internal Factors.</a:t>
            </a:r>
            <a:endParaRPr lang="en-IN" dirty="0"/>
          </a:p>
          <a:p>
            <a:r>
              <a:rPr lang="en-US" dirty="0"/>
              <a:t> </a:t>
            </a:r>
            <a:endParaRPr lang="en-IN" dirty="0"/>
          </a:p>
          <a:p>
            <a:r>
              <a:rPr lang="en-IN" dirty="0"/>
              <a:t> </a:t>
            </a:r>
          </a:p>
          <a:p>
            <a:r>
              <a:rPr lang="en-IN" dirty="0"/>
              <a:t> </a:t>
            </a:r>
          </a:p>
        </p:txBody>
      </p:sp>
    </p:spTree>
    <p:extLst>
      <p:ext uri="{BB962C8B-B14F-4D97-AF65-F5344CB8AC3E}">
        <p14:creationId xmlns:p14="http://schemas.microsoft.com/office/powerpoint/2010/main" val="793678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A2244CB5-27BA-B59B-8267-BF31E9A21F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4F411-D268-9AA2-623A-374FF6DE770F}"/>
              </a:ext>
            </a:extLst>
          </p:cNvPr>
          <p:cNvSpPr>
            <a:spLocks noGrp="1"/>
          </p:cNvSpPr>
          <p:nvPr>
            <p:ph type="title"/>
          </p:nvPr>
        </p:nvSpPr>
        <p:spPr>
          <a:xfrm>
            <a:off x="363415" y="0"/>
            <a:ext cx="10058400" cy="1371600"/>
          </a:xfrm>
        </p:spPr>
        <p:txBody>
          <a:bodyPr>
            <a:normAutofit/>
          </a:bodyPr>
          <a:lstStyle/>
          <a:p>
            <a:r>
              <a:rPr lang="en-US" b="1" dirty="0"/>
              <a:t>Attention :</a:t>
            </a:r>
            <a:endParaRPr lang="en-IN" dirty="0"/>
          </a:p>
        </p:txBody>
      </p:sp>
      <p:sp>
        <p:nvSpPr>
          <p:cNvPr id="7" name="TextBox 6">
            <a:extLst>
              <a:ext uri="{FF2B5EF4-FFF2-40B4-BE49-F238E27FC236}">
                <a16:creationId xmlns:a16="http://schemas.microsoft.com/office/drawing/2014/main" id="{58821007-7A07-2F3C-95AF-32C0C00BFBBB}"/>
              </a:ext>
            </a:extLst>
          </p:cNvPr>
          <p:cNvSpPr txBox="1"/>
          <p:nvPr/>
        </p:nvSpPr>
        <p:spPr>
          <a:xfrm>
            <a:off x="363415" y="1086529"/>
            <a:ext cx="11558953" cy="5909310"/>
          </a:xfrm>
          <a:prstGeom prst="rect">
            <a:avLst/>
          </a:prstGeom>
          <a:noFill/>
        </p:spPr>
        <p:txBody>
          <a:bodyPr wrap="square">
            <a:spAutoFit/>
          </a:bodyPr>
          <a:lstStyle/>
          <a:p>
            <a:r>
              <a:rPr lang="en-US" b="1" u="sng" dirty="0"/>
              <a:t>Objective / External factors:</a:t>
            </a:r>
            <a:endParaRPr lang="en-IN" dirty="0"/>
          </a:p>
          <a:p>
            <a:r>
              <a:rPr lang="en-US" u="sng" dirty="0"/>
              <a:t>Intensity of the stimulus</a:t>
            </a:r>
            <a:r>
              <a:rPr lang="en-US" dirty="0"/>
              <a:t>: It is the most important factor. When it persists for a prolong time it may be neglected. in contrast the sudden decrease in intensity may get attention. Example: A loud sound or a bright light that demands an attention.</a:t>
            </a:r>
            <a:endParaRPr lang="en-IN" dirty="0"/>
          </a:p>
          <a:p>
            <a:r>
              <a:rPr lang="en-US" u="sng" dirty="0"/>
              <a:t>Novelty</a:t>
            </a:r>
            <a:r>
              <a:rPr lang="en-US" dirty="0"/>
              <a:t>: New objects create awareness easily and it creates an interest and curiosity. Example: when a new student enters a classroom where other old students are there. So, the new student is a stimulus there which captures everyone’s attention.</a:t>
            </a:r>
            <a:endParaRPr lang="en-IN" dirty="0"/>
          </a:p>
          <a:p>
            <a:r>
              <a:rPr lang="en-US" u="sng" dirty="0"/>
              <a:t>Extensity or size:</a:t>
            </a:r>
            <a:r>
              <a:rPr lang="en-US" dirty="0"/>
              <a:t> A bigger object captures attention better than a smaller one. Example: a full-page advertisement in the newspaper, advertisement in a small space may go unnoticed</a:t>
            </a:r>
            <a:endParaRPr lang="en-IN" dirty="0"/>
          </a:p>
          <a:p>
            <a:r>
              <a:rPr lang="en-US" u="sng" dirty="0"/>
              <a:t>Change</a:t>
            </a:r>
            <a:r>
              <a:rPr lang="en-US" dirty="0"/>
              <a:t>: Change in the stimulus is likely to attract attention. Example: change in voice of a person during a speech</a:t>
            </a:r>
            <a:endParaRPr lang="en-IN" dirty="0"/>
          </a:p>
          <a:p>
            <a:r>
              <a:rPr lang="en-US" u="sng" dirty="0"/>
              <a:t>Movement</a:t>
            </a:r>
            <a:r>
              <a:rPr lang="en-US" dirty="0"/>
              <a:t>: Objects in motion attracts our attention. Example: when we are waiting in a railway platform and as soon as the train comes, we will pay attention to it</a:t>
            </a:r>
            <a:endParaRPr lang="en-IN" dirty="0"/>
          </a:p>
          <a:p>
            <a:r>
              <a:rPr lang="en-US" u="sng" dirty="0"/>
              <a:t>Contrast</a:t>
            </a:r>
            <a:r>
              <a:rPr lang="en-US" dirty="0"/>
              <a:t>: A contrasting stimulus will capture our attention soon. according to Guilford, “contrast in color or sound produces immediate awareness and leads to concentration and</a:t>
            </a:r>
            <a:endParaRPr lang="en-IN" dirty="0"/>
          </a:p>
          <a:p>
            <a:r>
              <a:rPr lang="en-US" dirty="0"/>
              <a:t>attention”. Example: the presence single boy in a group of girls.</a:t>
            </a:r>
            <a:endParaRPr lang="en-IN" dirty="0"/>
          </a:p>
          <a:p>
            <a:r>
              <a:rPr lang="en-US" u="sng" dirty="0"/>
              <a:t>Repetition</a:t>
            </a:r>
            <a:r>
              <a:rPr lang="en-US" dirty="0"/>
              <a:t>: If a stimulus is repeated, it is more likely to attract our attention than a non- repeated one. Example: waiting for the same bus stand where the bus stood there for several times</a:t>
            </a:r>
            <a:endParaRPr lang="en-IN" dirty="0"/>
          </a:p>
          <a:p>
            <a:r>
              <a:rPr lang="en-US" dirty="0"/>
              <a:t> </a:t>
            </a:r>
            <a:endParaRPr lang="en-IN" dirty="0"/>
          </a:p>
          <a:p>
            <a:r>
              <a:rPr lang="en-IN" dirty="0"/>
              <a:t> </a:t>
            </a:r>
          </a:p>
          <a:p>
            <a:r>
              <a:rPr lang="en-IN" dirty="0"/>
              <a:t> </a:t>
            </a:r>
          </a:p>
        </p:txBody>
      </p:sp>
    </p:spTree>
    <p:extLst>
      <p:ext uri="{BB962C8B-B14F-4D97-AF65-F5344CB8AC3E}">
        <p14:creationId xmlns:p14="http://schemas.microsoft.com/office/powerpoint/2010/main" val="4217041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D3F96045-43F3-8DBF-9639-6945A26135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6708C-F929-73A7-B6EC-49D2634BE5BC}"/>
              </a:ext>
            </a:extLst>
          </p:cNvPr>
          <p:cNvSpPr>
            <a:spLocks noGrp="1"/>
          </p:cNvSpPr>
          <p:nvPr>
            <p:ph type="title"/>
          </p:nvPr>
        </p:nvSpPr>
        <p:spPr>
          <a:xfrm>
            <a:off x="363415" y="0"/>
            <a:ext cx="10058400" cy="1371600"/>
          </a:xfrm>
        </p:spPr>
        <p:txBody>
          <a:bodyPr>
            <a:normAutofit/>
          </a:bodyPr>
          <a:lstStyle/>
          <a:p>
            <a:r>
              <a:rPr lang="en-US" b="1" dirty="0"/>
              <a:t>Attention :</a:t>
            </a:r>
            <a:endParaRPr lang="en-IN" dirty="0"/>
          </a:p>
        </p:txBody>
      </p:sp>
      <p:sp>
        <p:nvSpPr>
          <p:cNvPr id="7" name="TextBox 6">
            <a:extLst>
              <a:ext uri="{FF2B5EF4-FFF2-40B4-BE49-F238E27FC236}">
                <a16:creationId xmlns:a16="http://schemas.microsoft.com/office/drawing/2014/main" id="{2349B126-6562-D548-702E-7A7EF463947D}"/>
              </a:ext>
            </a:extLst>
          </p:cNvPr>
          <p:cNvSpPr txBox="1"/>
          <p:nvPr/>
        </p:nvSpPr>
        <p:spPr>
          <a:xfrm>
            <a:off x="363415" y="1086529"/>
            <a:ext cx="11558953" cy="4247317"/>
          </a:xfrm>
          <a:prstGeom prst="rect">
            <a:avLst/>
          </a:prstGeom>
          <a:noFill/>
        </p:spPr>
        <p:txBody>
          <a:bodyPr wrap="square">
            <a:spAutoFit/>
          </a:bodyPr>
          <a:lstStyle/>
          <a:p>
            <a:r>
              <a:rPr lang="en-US" b="1" u="sng" dirty="0"/>
              <a:t>Internal stimulus:</a:t>
            </a:r>
            <a:endParaRPr lang="en-IN" dirty="0"/>
          </a:p>
          <a:p>
            <a:r>
              <a:rPr lang="en-US" u="sng" dirty="0"/>
              <a:t>Interest</a:t>
            </a:r>
            <a:r>
              <a:rPr lang="en-US" dirty="0"/>
              <a:t>: It is a most important factor. Where we pay more attention and concentrate on a thing which is more interesting one.</a:t>
            </a:r>
            <a:endParaRPr lang="en-IN" dirty="0"/>
          </a:p>
          <a:p>
            <a:r>
              <a:rPr lang="en-US" u="sng" dirty="0"/>
              <a:t>Instinct</a:t>
            </a:r>
            <a:r>
              <a:rPr lang="en-US" dirty="0"/>
              <a:t>: Instincts are the “primary - movers” of our behavior. so, the things which suits or appeals to our instinct will attract attention</a:t>
            </a:r>
            <a:endParaRPr lang="en-IN" dirty="0"/>
          </a:p>
          <a:p>
            <a:r>
              <a:rPr lang="en-US" u="sng" dirty="0"/>
              <a:t>Emotions and sentiments</a:t>
            </a:r>
            <a:r>
              <a:rPr lang="en-US" dirty="0"/>
              <a:t>: These are said to be “internal motivations” of attention.</a:t>
            </a:r>
            <a:endParaRPr lang="en-IN" dirty="0"/>
          </a:p>
          <a:p>
            <a:r>
              <a:rPr lang="en-US" u="sng" dirty="0"/>
              <a:t>Habits</a:t>
            </a:r>
            <a:r>
              <a:rPr lang="en-US" dirty="0"/>
              <a:t>: Habits is a great incentive in attention. In the case of some people, it is difficult to get rid of a particular habit and they must attend to such a task throughout the day whatever be the seriousness of other task. Example: alcoholism</a:t>
            </a:r>
            <a:endParaRPr lang="en-IN" dirty="0"/>
          </a:p>
          <a:p>
            <a:r>
              <a:rPr lang="en-US" u="sng" dirty="0"/>
              <a:t>Temperament</a:t>
            </a:r>
            <a:r>
              <a:rPr lang="en-US" dirty="0"/>
              <a:t>: People of different temperament attend to different objects. Example: An extrovert will attend different things while an introvert will not even notice their existence</a:t>
            </a:r>
            <a:endParaRPr lang="en-IN" dirty="0"/>
          </a:p>
          <a:p>
            <a:r>
              <a:rPr lang="en-US" u="sng" dirty="0"/>
              <a:t>Physiological condition</a:t>
            </a:r>
            <a:r>
              <a:rPr lang="en-US" dirty="0"/>
              <a:t>: fatigue and illness destroy attention and interest</a:t>
            </a:r>
            <a:endParaRPr lang="en-IN" dirty="0"/>
          </a:p>
          <a:p>
            <a:r>
              <a:rPr lang="en-US" dirty="0"/>
              <a:t> </a:t>
            </a:r>
            <a:endParaRPr lang="en-IN" dirty="0"/>
          </a:p>
          <a:p>
            <a:r>
              <a:rPr lang="en-IN" dirty="0"/>
              <a:t> </a:t>
            </a:r>
          </a:p>
          <a:p>
            <a:r>
              <a:rPr lang="en-IN" dirty="0"/>
              <a:t> </a:t>
            </a:r>
          </a:p>
        </p:txBody>
      </p:sp>
    </p:spTree>
    <p:extLst>
      <p:ext uri="{BB962C8B-B14F-4D97-AF65-F5344CB8AC3E}">
        <p14:creationId xmlns:p14="http://schemas.microsoft.com/office/powerpoint/2010/main" val="1968153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5667CB9E-7B3A-15EE-F48B-715354165A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4132D-73F2-9783-C91A-740E40EAA4E8}"/>
              </a:ext>
            </a:extLst>
          </p:cNvPr>
          <p:cNvSpPr>
            <a:spLocks noGrp="1"/>
          </p:cNvSpPr>
          <p:nvPr>
            <p:ph type="title"/>
          </p:nvPr>
        </p:nvSpPr>
        <p:spPr>
          <a:xfrm>
            <a:off x="363415" y="0"/>
            <a:ext cx="10058400" cy="1371600"/>
          </a:xfrm>
        </p:spPr>
        <p:txBody>
          <a:bodyPr>
            <a:normAutofit/>
          </a:bodyPr>
          <a:lstStyle/>
          <a:p>
            <a:r>
              <a:rPr lang="en-US" b="1" dirty="0"/>
              <a:t>TYPES OF ATTENTION</a:t>
            </a:r>
            <a:endParaRPr lang="en-IN" dirty="0"/>
          </a:p>
        </p:txBody>
      </p:sp>
      <p:sp>
        <p:nvSpPr>
          <p:cNvPr id="7" name="TextBox 6">
            <a:extLst>
              <a:ext uri="{FF2B5EF4-FFF2-40B4-BE49-F238E27FC236}">
                <a16:creationId xmlns:a16="http://schemas.microsoft.com/office/drawing/2014/main" id="{4DD707FF-72A0-43E7-46D4-30903F84B57F}"/>
              </a:ext>
            </a:extLst>
          </p:cNvPr>
          <p:cNvSpPr txBox="1"/>
          <p:nvPr/>
        </p:nvSpPr>
        <p:spPr>
          <a:xfrm>
            <a:off x="363415" y="1086529"/>
            <a:ext cx="11558953" cy="4801314"/>
          </a:xfrm>
          <a:prstGeom prst="rect">
            <a:avLst/>
          </a:prstGeom>
          <a:noFill/>
        </p:spPr>
        <p:txBody>
          <a:bodyPr wrap="square">
            <a:spAutoFit/>
          </a:bodyPr>
          <a:lstStyle/>
          <a:p>
            <a:r>
              <a:rPr lang="en-US" b="1" dirty="0"/>
              <a:t>Sustained Attention</a:t>
            </a:r>
            <a:r>
              <a:rPr lang="en-US" dirty="0"/>
              <a:t> </a:t>
            </a:r>
            <a:endParaRPr lang="en-IN" dirty="0"/>
          </a:p>
          <a:p>
            <a:r>
              <a:rPr lang="en-US" dirty="0"/>
              <a:t> Sustained attention means focusing on a person, task or activity for a certain time or until the relevant conversation, task or activity is complete. For example, we learn to hone this type of attention at school by engaging with fellow learners and teachers. Another example is when we learn through studying and writing tests and exams.</a:t>
            </a:r>
            <a:endParaRPr lang="en-IN" dirty="0"/>
          </a:p>
          <a:p>
            <a:r>
              <a:rPr lang="en-US" b="1" dirty="0"/>
              <a:t>Selective Attention</a:t>
            </a:r>
            <a:endParaRPr lang="en-IN" dirty="0"/>
          </a:p>
          <a:p>
            <a:r>
              <a:rPr lang="en-US" dirty="0"/>
              <a:t>Selective attention involves being able to focus on a specific task while simultaneously being able to block out any background noise or stimuli. One example includes being able to read a book while there is loud background noise around you. </a:t>
            </a:r>
            <a:endParaRPr lang="en-IN" dirty="0"/>
          </a:p>
          <a:p>
            <a:r>
              <a:rPr lang="en-US" b="1" dirty="0"/>
              <a:t>Alternating Attention</a:t>
            </a:r>
            <a:endParaRPr lang="en-IN" b="1" dirty="0"/>
          </a:p>
          <a:p>
            <a:r>
              <a:rPr lang="en-US" dirty="0"/>
              <a:t>This is the ability to shift focus back and forth between different tasks or mental demands. It requires mental flexibility. Example</a:t>
            </a:r>
            <a:r>
              <a:rPr lang="en-US" i="1" dirty="0"/>
              <a:t>:</a:t>
            </a:r>
            <a:r>
              <a:rPr lang="en-US" dirty="0"/>
              <a:t> Switching between solving a math problem and answering a phone call.</a:t>
            </a:r>
            <a:endParaRPr lang="en-IN" dirty="0"/>
          </a:p>
          <a:p>
            <a:r>
              <a:rPr lang="en-US" b="1" dirty="0"/>
              <a:t>Divided Attention</a:t>
            </a:r>
            <a:endParaRPr lang="en-IN" b="1" dirty="0"/>
          </a:p>
          <a:p>
            <a:r>
              <a:rPr lang="en-US" dirty="0"/>
              <a:t>This is the ability to respond to multiple tasks or stimuli at the same time. It involves multitasking and processing information from several sources simultaneously. Example</a:t>
            </a:r>
            <a:r>
              <a:rPr lang="en-US" i="1" dirty="0"/>
              <a:t>:</a:t>
            </a:r>
            <a:r>
              <a:rPr lang="en-US" dirty="0"/>
              <a:t> Talking on the phone while cooking.</a:t>
            </a:r>
            <a:r>
              <a:rPr lang="en-IN" dirty="0"/>
              <a:t> </a:t>
            </a:r>
          </a:p>
          <a:p>
            <a:r>
              <a:rPr lang="en-IN" dirty="0"/>
              <a:t> </a:t>
            </a:r>
          </a:p>
        </p:txBody>
      </p:sp>
    </p:spTree>
    <p:extLst>
      <p:ext uri="{BB962C8B-B14F-4D97-AF65-F5344CB8AC3E}">
        <p14:creationId xmlns:p14="http://schemas.microsoft.com/office/powerpoint/2010/main" val="21852423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18</TotalTime>
  <Words>1968</Words>
  <Application>Microsoft Office PowerPoint</Application>
  <PresentationFormat>Widescreen</PresentationFormat>
  <Paragraphs>139</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Century Gothic</vt:lpstr>
      <vt:lpstr>Garamond</vt:lpstr>
      <vt:lpstr>Times New Roman</vt:lpstr>
      <vt:lpstr>Savon</vt:lpstr>
      <vt:lpstr>Physiological psychology unit-2</vt:lpstr>
      <vt:lpstr>Biopsychology </vt:lpstr>
      <vt:lpstr>Biopsychology </vt:lpstr>
      <vt:lpstr>Biopsychology </vt:lpstr>
      <vt:lpstr>Biopsychology </vt:lpstr>
      <vt:lpstr>Biopsychology </vt:lpstr>
      <vt:lpstr>Structure of the Neuron</vt:lpstr>
      <vt:lpstr>Structure of the Neuron</vt:lpstr>
      <vt:lpstr>Structure of the Neuron</vt:lpstr>
      <vt:lpstr>NEUROTRANSMITTERS</vt:lpstr>
      <vt:lpstr>Sensation :</vt:lpstr>
      <vt:lpstr>Perception :</vt:lpstr>
      <vt:lpstr>Sensation vs Perception :</vt:lpstr>
      <vt:lpstr>Attention :</vt:lpstr>
      <vt:lpstr>Attention :</vt:lpstr>
      <vt:lpstr>Attention :</vt:lpstr>
      <vt:lpstr>TYPES OF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2025-11-20T12:22:40Z</dcterms:created>
  <dcterms:modified xsi:type="dcterms:W3CDTF">2025-11-20T14:11:23Z</dcterms:modified>
</cp:coreProperties>
</file>