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6284DE-503B-41AD-A3DE-2515623E31C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8E9815A-4F01-4B78-8950-0456879D807A}">
      <dgm:prSet/>
      <dgm:spPr/>
      <dgm:t>
        <a:bodyPr/>
        <a:lstStyle/>
        <a:p>
          <a:r>
            <a:rPr lang="en-US" b="1" dirty="0">
              <a:solidFill>
                <a:schemeClr val="tx1"/>
              </a:solidFill>
            </a:rPr>
            <a:t>Physiological Arousal </a:t>
          </a:r>
          <a:r>
            <a:rPr lang="en-US" dirty="0">
              <a:solidFill>
                <a:schemeClr val="tx1"/>
              </a:solidFill>
            </a:rPr>
            <a:t>– Bodily changes such as heart rate, hormone activity</a:t>
          </a:r>
          <a:r>
            <a:rPr lang="en-US" dirty="0"/>
            <a:t>.</a:t>
          </a:r>
        </a:p>
      </dgm:t>
    </dgm:pt>
    <dgm:pt modelId="{AED4A41F-61E4-46B1-8993-226F3A543DF8}" type="parTrans" cxnId="{97361CC7-03F6-4C8B-BC09-AD57C9469768}">
      <dgm:prSet/>
      <dgm:spPr/>
      <dgm:t>
        <a:bodyPr/>
        <a:lstStyle/>
        <a:p>
          <a:endParaRPr lang="en-US"/>
        </a:p>
      </dgm:t>
    </dgm:pt>
    <dgm:pt modelId="{E7B007A3-75DE-4927-A10E-04E2DED6D34C}" type="sibTrans" cxnId="{97361CC7-03F6-4C8B-BC09-AD57C9469768}">
      <dgm:prSet/>
      <dgm:spPr/>
      <dgm:t>
        <a:bodyPr/>
        <a:lstStyle/>
        <a:p>
          <a:endParaRPr lang="en-US"/>
        </a:p>
      </dgm:t>
    </dgm:pt>
    <dgm:pt modelId="{C60CB451-F150-4141-BF08-E238DC531472}">
      <dgm:prSet/>
      <dgm:spPr/>
      <dgm:t>
        <a:bodyPr/>
        <a:lstStyle/>
        <a:p>
          <a:r>
            <a:rPr lang="en-US" b="1" dirty="0">
              <a:solidFill>
                <a:schemeClr val="tx1"/>
              </a:solidFill>
            </a:rPr>
            <a:t>Cognitive Appraisal </a:t>
          </a:r>
          <a:r>
            <a:rPr lang="en-US" dirty="0">
              <a:solidFill>
                <a:schemeClr val="tx1"/>
              </a:solidFill>
            </a:rPr>
            <a:t>– Interpretation and labeling of emotional experiences</a:t>
          </a:r>
          <a:r>
            <a:rPr lang="en-US" dirty="0"/>
            <a:t>.</a:t>
          </a:r>
        </a:p>
      </dgm:t>
    </dgm:pt>
    <dgm:pt modelId="{77022AF6-2380-4EA7-83C2-88F2A0B46947}" type="parTrans" cxnId="{1A560545-802F-4D17-A646-12B004F13908}">
      <dgm:prSet/>
      <dgm:spPr/>
      <dgm:t>
        <a:bodyPr/>
        <a:lstStyle/>
        <a:p>
          <a:endParaRPr lang="en-US"/>
        </a:p>
      </dgm:t>
    </dgm:pt>
    <dgm:pt modelId="{4B25B7C3-21B9-4E87-AF04-D5DD85C93786}" type="sibTrans" cxnId="{1A560545-802F-4D17-A646-12B004F13908}">
      <dgm:prSet/>
      <dgm:spPr/>
      <dgm:t>
        <a:bodyPr/>
        <a:lstStyle/>
        <a:p>
          <a:endParaRPr lang="en-US"/>
        </a:p>
      </dgm:t>
    </dgm:pt>
    <dgm:pt modelId="{713E7275-FE9A-4306-A579-521BE7C5BC30}">
      <dgm:prSet/>
      <dgm:spPr/>
      <dgm:t>
        <a:bodyPr/>
        <a:lstStyle/>
        <a:p>
          <a:r>
            <a:rPr lang="en-US" b="1" dirty="0">
              <a:solidFill>
                <a:schemeClr val="tx1"/>
              </a:solidFill>
            </a:rPr>
            <a:t>Behavioral Expression </a:t>
          </a:r>
          <a:r>
            <a:rPr lang="en-US" dirty="0">
              <a:solidFill>
                <a:schemeClr val="tx1"/>
              </a:solidFill>
            </a:rPr>
            <a:t>– Facial expressions, gestures, body language.</a:t>
          </a:r>
        </a:p>
      </dgm:t>
    </dgm:pt>
    <dgm:pt modelId="{D2A6409F-6F39-42D1-99E8-A9FF99691779}" type="parTrans" cxnId="{6A96BB9D-657F-480C-A0B6-A9D4577B046E}">
      <dgm:prSet/>
      <dgm:spPr/>
      <dgm:t>
        <a:bodyPr/>
        <a:lstStyle/>
        <a:p>
          <a:endParaRPr lang="en-US"/>
        </a:p>
      </dgm:t>
    </dgm:pt>
    <dgm:pt modelId="{752F204A-8373-48C6-BDB1-29ECE056A733}" type="sibTrans" cxnId="{6A96BB9D-657F-480C-A0B6-A9D4577B046E}">
      <dgm:prSet/>
      <dgm:spPr/>
      <dgm:t>
        <a:bodyPr/>
        <a:lstStyle/>
        <a:p>
          <a:endParaRPr lang="en-US"/>
        </a:p>
      </dgm:t>
    </dgm:pt>
    <dgm:pt modelId="{51453E37-C8CF-4647-AECB-0E502536AE9A}" type="pres">
      <dgm:prSet presAssocID="{F46284DE-503B-41AD-A3DE-2515623E31CC}" presName="vert0" presStyleCnt="0">
        <dgm:presLayoutVars>
          <dgm:dir/>
          <dgm:animOne val="branch"/>
          <dgm:animLvl val="lvl"/>
        </dgm:presLayoutVars>
      </dgm:prSet>
      <dgm:spPr/>
    </dgm:pt>
    <dgm:pt modelId="{603CF573-226D-5B45-94F6-6897C678555A}" type="pres">
      <dgm:prSet presAssocID="{28E9815A-4F01-4B78-8950-0456879D807A}" presName="thickLine" presStyleLbl="alignNode1" presStyleIdx="0" presStyleCnt="3"/>
      <dgm:spPr/>
    </dgm:pt>
    <dgm:pt modelId="{CB5E463B-4CF5-3F4E-9AF2-4C040281D7B3}" type="pres">
      <dgm:prSet presAssocID="{28E9815A-4F01-4B78-8950-0456879D807A}" presName="horz1" presStyleCnt="0"/>
      <dgm:spPr/>
    </dgm:pt>
    <dgm:pt modelId="{D216D9D3-6F6A-E14F-ACB6-07A94722A190}" type="pres">
      <dgm:prSet presAssocID="{28E9815A-4F01-4B78-8950-0456879D807A}" presName="tx1" presStyleLbl="revTx" presStyleIdx="0" presStyleCnt="3"/>
      <dgm:spPr/>
    </dgm:pt>
    <dgm:pt modelId="{425DADBA-8CF3-A847-B8F4-4389DC72C10B}" type="pres">
      <dgm:prSet presAssocID="{28E9815A-4F01-4B78-8950-0456879D807A}" presName="vert1" presStyleCnt="0"/>
      <dgm:spPr/>
    </dgm:pt>
    <dgm:pt modelId="{3BB17413-3BE5-7F4E-8AAF-D09375F03EF2}" type="pres">
      <dgm:prSet presAssocID="{C60CB451-F150-4141-BF08-E238DC531472}" presName="thickLine" presStyleLbl="alignNode1" presStyleIdx="1" presStyleCnt="3"/>
      <dgm:spPr/>
    </dgm:pt>
    <dgm:pt modelId="{5450433E-A9A7-F54D-9790-5863CA54234C}" type="pres">
      <dgm:prSet presAssocID="{C60CB451-F150-4141-BF08-E238DC531472}" presName="horz1" presStyleCnt="0"/>
      <dgm:spPr/>
    </dgm:pt>
    <dgm:pt modelId="{91ECC5A4-EDC0-2E42-9D03-B82E65BB85EB}" type="pres">
      <dgm:prSet presAssocID="{C60CB451-F150-4141-BF08-E238DC531472}" presName="tx1" presStyleLbl="revTx" presStyleIdx="1" presStyleCnt="3"/>
      <dgm:spPr/>
    </dgm:pt>
    <dgm:pt modelId="{60F53CFE-1B2C-3B4C-BD58-6E7041EF6517}" type="pres">
      <dgm:prSet presAssocID="{C60CB451-F150-4141-BF08-E238DC531472}" presName="vert1" presStyleCnt="0"/>
      <dgm:spPr/>
    </dgm:pt>
    <dgm:pt modelId="{03072A2E-3899-5A4E-8F12-92BFD7ABEFFB}" type="pres">
      <dgm:prSet presAssocID="{713E7275-FE9A-4306-A579-521BE7C5BC30}" presName="thickLine" presStyleLbl="alignNode1" presStyleIdx="2" presStyleCnt="3"/>
      <dgm:spPr/>
    </dgm:pt>
    <dgm:pt modelId="{158BBA58-E5B0-CB4F-9870-50ECEA9711FC}" type="pres">
      <dgm:prSet presAssocID="{713E7275-FE9A-4306-A579-521BE7C5BC30}" presName="horz1" presStyleCnt="0"/>
      <dgm:spPr/>
    </dgm:pt>
    <dgm:pt modelId="{DDADF576-3893-DD4A-97E2-7C1B17BB6C7D}" type="pres">
      <dgm:prSet presAssocID="{713E7275-FE9A-4306-A579-521BE7C5BC30}" presName="tx1" presStyleLbl="revTx" presStyleIdx="2" presStyleCnt="3"/>
      <dgm:spPr/>
    </dgm:pt>
    <dgm:pt modelId="{8A00C67A-6EB2-D649-9EE2-26B4A43E373C}" type="pres">
      <dgm:prSet presAssocID="{713E7275-FE9A-4306-A579-521BE7C5BC30}" presName="vert1" presStyleCnt="0"/>
      <dgm:spPr/>
    </dgm:pt>
  </dgm:ptLst>
  <dgm:cxnLst>
    <dgm:cxn modelId="{05D3363C-BF2E-404B-BA89-45EA50199892}" type="presOf" srcId="{713E7275-FE9A-4306-A579-521BE7C5BC30}" destId="{DDADF576-3893-DD4A-97E2-7C1B17BB6C7D}" srcOrd="0" destOrd="0" presId="urn:microsoft.com/office/officeart/2008/layout/LinedList"/>
    <dgm:cxn modelId="{1A560545-802F-4D17-A646-12B004F13908}" srcId="{F46284DE-503B-41AD-A3DE-2515623E31CC}" destId="{C60CB451-F150-4141-BF08-E238DC531472}" srcOrd="1" destOrd="0" parTransId="{77022AF6-2380-4EA7-83C2-88F2A0B46947}" sibTransId="{4B25B7C3-21B9-4E87-AF04-D5DD85C93786}"/>
    <dgm:cxn modelId="{0AC5A64A-FD4C-0343-ACEC-7F964A9B7721}" type="presOf" srcId="{F46284DE-503B-41AD-A3DE-2515623E31CC}" destId="{51453E37-C8CF-4647-AECB-0E502536AE9A}" srcOrd="0" destOrd="0" presId="urn:microsoft.com/office/officeart/2008/layout/LinedList"/>
    <dgm:cxn modelId="{62C3DA8F-FBE6-CB43-B1B2-B9AFF8754415}" type="presOf" srcId="{C60CB451-F150-4141-BF08-E238DC531472}" destId="{91ECC5A4-EDC0-2E42-9D03-B82E65BB85EB}" srcOrd="0" destOrd="0" presId="urn:microsoft.com/office/officeart/2008/layout/LinedList"/>
    <dgm:cxn modelId="{6A96BB9D-657F-480C-A0B6-A9D4577B046E}" srcId="{F46284DE-503B-41AD-A3DE-2515623E31CC}" destId="{713E7275-FE9A-4306-A579-521BE7C5BC30}" srcOrd="2" destOrd="0" parTransId="{D2A6409F-6F39-42D1-99E8-A9FF99691779}" sibTransId="{752F204A-8373-48C6-BDB1-29ECE056A733}"/>
    <dgm:cxn modelId="{97361CC7-03F6-4C8B-BC09-AD57C9469768}" srcId="{F46284DE-503B-41AD-A3DE-2515623E31CC}" destId="{28E9815A-4F01-4B78-8950-0456879D807A}" srcOrd="0" destOrd="0" parTransId="{AED4A41F-61E4-46B1-8993-226F3A543DF8}" sibTransId="{E7B007A3-75DE-4927-A10E-04E2DED6D34C}"/>
    <dgm:cxn modelId="{E92CE7F2-A9B3-DE45-93BB-127E8F8E43EA}" type="presOf" srcId="{28E9815A-4F01-4B78-8950-0456879D807A}" destId="{D216D9D3-6F6A-E14F-ACB6-07A94722A190}" srcOrd="0" destOrd="0" presId="urn:microsoft.com/office/officeart/2008/layout/LinedList"/>
    <dgm:cxn modelId="{30F65EE5-21C4-C040-840B-9131A9ED9C47}" type="presParOf" srcId="{51453E37-C8CF-4647-AECB-0E502536AE9A}" destId="{603CF573-226D-5B45-94F6-6897C678555A}" srcOrd="0" destOrd="0" presId="urn:microsoft.com/office/officeart/2008/layout/LinedList"/>
    <dgm:cxn modelId="{9E039D23-4419-424F-9C79-9CF265F2AA3F}" type="presParOf" srcId="{51453E37-C8CF-4647-AECB-0E502536AE9A}" destId="{CB5E463B-4CF5-3F4E-9AF2-4C040281D7B3}" srcOrd="1" destOrd="0" presId="urn:microsoft.com/office/officeart/2008/layout/LinedList"/>
    <dgm:cxn modelId="{9623EC27-D615-3446-8ED7-BE04449C8982}" type="presParOf" srcId="{CB5E463B-4CF5-3F4E-9AF2-4C040281D7B3}" destId="{D216D9D3-6F6A-E14F-ACB6-07A94722A190}" srcOrd="0" destOrd="0" presId="urn:microsoft.com/office/officeart/2008/layout/LinedList"/>
    <dgm:cxn modelId="{5E8F8AE0-488F-6243-A94E-1F36E22A1255}" type="presParOf" srcId="{CB5E463B-4CF5-3F4E-9AF2-4C040281D7B3}" destId="{425DADBA-8CF3-A847-B8F4-4389DC72C10B}" srcOrd="1" destOrd="0" presId="urn:microsoft.com/office/officeart/2008/layout/LinedList"/>
    <dgm:cxn modelId="{A4C85BAC-BEBD-1042-8AAC-560C2FEE4B96}" type="presParOf" srcId="{51453E37-C8CF-4647-AECB-0E502536AE9A}" destId="{3BB17413-3BE5-7F4E-8AAF-D09375F03EF2}" srcOrd="2" destOrd="0" presId="urn:microsoft.com/office/officeart/2008/layout/LinedList"/>
    <dgm:cxn modelId="{2FF441EF-01ED-8246-97E3-7A62464C39F0}" type="presParOf" srcId="{51453E37-C8CF-4647-AECB-0E502536AE9A}" destId="{5450433E-A9A7-F54D-9790-5863CA54234C}" srcOrd="3" destOrd="0" presId="urn:microsoft.com/office/officeart/2008/layout/LinedList"/>
    <dgm:cxn modelId="{89464363-86E1-0D40-A87A-D3A87FB8C923}" type="presParOf" srcId="{5450433E-A9A7-F54D-9790-5863CA54234C}" destId="{91ECC5A4-EDC0-2E42-9D03-B82E65BB85EB}" srcOrd="0" destOrd="0" presId="urn:microsoft.com/office/officeart/2008/layout/LinedList"/>
    <dgm:cxn modelId="{FFC00714-910F-B848-AD71-B0A03672D603}" type="presParOf" srcId="{5450433E-A9A7-F54D-9790-5863CA54234C}" destId="{60F53CFE-1B2C-3B4C-BD58-6E7041EF6517}" srcOrd="1" destOrd="0" presId="urn:microsoft.com/office/officeart/2008/layout/LinedList"/>
    <dgm:cxn modelId="{146B2F68-0776-B24D-8620-B81B0C6ACC53}" type="presParOf" srcId="{51453E37-C8CF-4647-AECB-0E502536AE9A}" destId="{03072A2E-3899-5A4E-8F12-92BFD7ABEFFB}" srcOrd="4" destOrd="0" presId="urn:microsoft.com/office/officeart/2008/layout/LinedList"/>
    <dgm:cxn modelId="{75847127-DCF7-F943-84A1-CCB178642895}" type="presParOf" srcId="{51453E37-C8CF-4647-AECB-0E502536AE9A}" destId="{158BBA58-E5B0-CB4F-9870-50ECEA9711FC}" srcOrd="5" destOrd="0" presId="urn:microsoft.com/office/officeart/2008/layout/LinedList"/>
    <dgm:cxn modelId="{0F90B9A3-7375-0B4C-BCE5-8C922B05AD70}" type="presParOf" srcId="{158BBA58-E5B0-CB4F-9870-50ECEA9711FC}" destId="{DDADF576-3893-DD4A-97E2-7C1B17BB6C7D}" srcOrd="0" destOrd="0" presId="urn:microsoft.com/office/officeart/2008/layout/LinedList"/>
    <dgm:cxn modelId="{3FC3D64E-9421-C045-97F6-C8949E4D08D9}" type="presParOf" srcId="{158BBA58-E5B0-CB4F-9870-50ECEA9711FC}" destId="{8A00C67A-6EB2-D649-9EE2-26B4A43E373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3CF573-226D-5B45-94F6-6897C678555A}">
      <dsp:nvSpPr>
        <dsp:cNvPr id="0" name=""/>
        <dsp:cNvSpPr/>
      </dsp:nvSpPr>
      <dsp:spPr>
        <a:xfrm>
          <a:off x="0" y="2222"/>
          <a:ext cx="94583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16D9D3-6F6A-E14F-ACB6-07A94722A190}">
      <dsp:nvSpPr>
        <dsp:cNvPr id="0" name=""/>
        <dsp:cNvSpPr/>
      </dsp:nvSpPr>
      <dsp:spPr>
        <a:xfrm>
          <a:off x="0" y="2222"/>
          <a:ext cx="9458325" cy="151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b="1" kern="1200" dirty="0">
              <a:solidFill>
                <a:schemeClr val="tx1"/>
              </a:solidFill>
            </a:rPr>
            <a:t>Physiological Arousal </a:t>
          </a:r>
          <a:r>
            <a:rPr lang="en-US" sz="3700" kern="1200" dirty="0">
              <a:solidFill>
                <a:schemeClr val="tx1"/>
              </a:solidFill>
            </a:rPr>
            <a:t>– Bodily changes such as heart rate, hormone activity</a:t>
          </a:r>
          <a:r>
            <a:rPr lang="en-US" sz="3700" kern="1200" dirty="0"/>
            <a:t>.</a:t>
          </a:r>
        </a:p>
      </dsp:txBody>
      <dsp:txXfrm>
        <a:off x="0" y="2222"/>
        <a:ext cx="9458325" cy="1515639"/>
      </dsp:txXfrm>
    </dsp:sp>
    <dsp:sp modelId="{3BB17413-3BE5-7F4E-8AAF-D09375F03EF2}">
      <dsp:nvSpPr>
        <dsp:cNvPr id="0" name=""/>
        <dsp:cNvSpPr/>
      </dsp:nvSpPr>
      <dsp:spPr>
        <a:xfrm>
          <a:off x="0" y="1517861"/>
          <a:ext cx="94583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ECC5A4-EDC0-2E42-9D03-B82E65BB85EB}">
      <dsp:nvSpPr>
        <dsp:cNvPr id="0" name=""/>
        <dsp:cNvSpPr/>
      </dsp:nvSpPr>
      <dsp:spPr>
        <a:xfrm>
          <a:off x="0" y="1517861"/>
          <a:ext cx="9458325" cy="151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b="1" kern="1200" dirty="0">
              <a:solidFill>
                <a:schemeClr val="tx1"/>
              </a:solidFill>
            </a:rPr>
            <a:t>Cognitive Appraisal </a:t>
          </a:r>
          <a:r>
            <a:rPr lang="en-US" sz="3700" kern="1200" dirty="0">
              <a:solidFill>
                <a:schemeClr val="tx1"/>
              </a:solidFill>
            </a:rPr>
            <a:t>– Interpretation and labeling of emotional experiences</a:t>
          </a:r>
          <a:r>
            <a:rPr lang="en-US" sz="3700" kern="1200" dirty="0"/>
            <a:t>.</a:t>
          </a:r>
        </a:p>
      </dsp:txBody>
      <dsp:txXfrm>
        <a:off x="0" y="1517861"/>
        <a:ext cx="9458325" cy="1515639"/>
      </dsp:txXfrm>
    </dsp:sp>
    <dsp:sp modelId="{03072A2E-3899-5A4E-8F12-92BFD7ABEFFB}">
      <dsp:nvSpPr>
        <dsp:cNvPr id="0" name=""/>
        <dsp:cNvSpPr/>
      </dsp:nvSpPr>
      <dsp:spPr>
        <a:xfrm>
          <a:off x="0" y="3033501"/>
          <a:ext cx="94583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ADF576-3893-DD4A-97E2-7C1B17BB6C7D}">
      <dsp:nvSpPr>
        <dsp:cNvPr id="0" name=""/>
        <dsp:cNvSpPr/>
      </dsp:nvSpPr>
      <dsp:spPr>
        <a:xfrm>
          <a:off x="0" y="3033501"/>
          <a:ext cx="9458325" cy="151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b="1" kern="1200" dirty="0">
              <a:solidFill>
                <a:schemeClr val="tx1"/>
              </a:solidFill>
            </a:rPr>
            <a:t>Behavioral Expression </a:t>
          </a:r>
          <a:r>
            <a:rPr lang="en-US" sz="3700" kern="1200" dirty="0">
              <a:solidFill>
                <a:schemeClr val="tx1"/>
              </a:solidFill>
            </a:rPr>
            <a:t>– Facial expressions, gestures, body language.</a:t>
          </a:r>
        </a:p>
      </dsp:txBody>
      <dsp:txXfrm>
        <a:off x="0" y="3033501"/>
        <a:ext cx="9458325" cy="151563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C8C8FD2F-167C-4CB9-8E92-2D9C0BF5C346}" type="datetimeFigureOut">
              <a:rPr lang="en-IN" smtClean="0"/>
              <a:t>20-11-2025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EB0D0157-B8F0-4B66-B05A-90177694FBB2}" type="slidenum">
              <a:rPr lang="en-IN" smtClean="0"/>
              <a:t>‹#›</a:t>
            </a:fld>
            <a:endParaRPr lang="en-IN"/>
          </a:p>
        </p:txBody>
      </p:sp>
    </p:spTree>
    <p:extLst>
      <p:ext uri="{BB962C8B-B14F-4D97-AF65-F5344CB8AC3E}">
        <p14:creationId xmlns:p14="http://schemas.microsoft.com/office/powerpoint/2010/main" val="171034623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C8FD2F-167C-4CB9-8E92-2D9C0BF5C346}"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2312531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8C8FD2F-167C-4CB9-8E92-2D9C0BF5C346}" type="datetimeFigureOut">
              <a:rPr lang="en-IN" smtClean="0"/>
              <a:t>20-11-2025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2581026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C8FD2F-167C-4CB9-8E92-2D9C0BF5C346}"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162292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C8FD2F-167C-4CB9-8E92-2D9C0BF5C346}"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228404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8FD2F-167C-4CB9-8E92-2D9C0BF5C346}"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3378549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C8FD2F-167C-4CB9-8E92-2D9C0BF5C346}"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4139159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8C8FD2F-167C-4CB9-8E92-2D9C0BF5C346}"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EB0D0157-B8F0-4B66-B05A-90177694FBB2}"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3604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8C8FD2F-167C-4CB9-8E92-2D9C0BF5C346}"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EB0D0157-B8F0-4B66-B05A-90177694FBB2}"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08538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C8FD2F-167C-4CB9-8E92-2D9C0BF5C346}"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3139249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C8FD2F-167C-4CB9-8E92-2D9C0BF5C346}"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0D0157-B8F0-4B66-B05A-90177694FBB2}" type="slidenum">
              <a:rPr lang="en-IN" smtClean="0"/>
              <a:t>‹#›</a:t>
            </a:fld>
            <a:endParaRPr lang="en-IN"/>
          </a:p>
        </p:txBody>
      </p:sp>
    </p:spTree>
    <p:extLst>
      <p:ext uri="{BB962C8B-B14F-4D97-AF65-F5344CB8AC3E}">
        <p14:creationId xmlns:p14="http://schemas.microsoft.com/office/powerpoint/2010/main" val="3704697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8C8FD2F-167C-4CB9-8E92-2D9C0BF5C346}" type="datetimeFigureOut">
              <a:rPr lang="en-IN" smtClean="0"/>
              <a:t>20-11-2025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EB0D0157-B8F0-4B66-B05A-90177694FBB2}" type="slidenum">
              <a:rPr lang="en-IN" smtClean="0"/>
              <a:t>‹#›</a:t>
            </a:fld>
            <a:endParaRPr lang="en-IN"/>
          </a:p>
        </p:txBody>
      </p:sp>
    </p:spTree>
    <p:extLst>
      <p:ext uri="{BB962C8B-B14F-4D97-AF65-F5344CB8AC3E}">
        <p14:creationId xmlns:p14="http://schemas.microsoft.com/office/powerpoint/2010/main" val="3262355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3B904-D8C3-47E0-1185-70932038C476}"/>
              </a:ext>
            </a:extLst>
          </p:cNvPr>
          <p:cNvSpPr>
            <a:spLocks noGrp="1"/>
          </p:cNvSpPr>
          <p:nvPr>
            <p:ph type="ctrTitle"/>
          </p:nvPr>
        </p:nvSpPr>
        <p:spPr/>
        <p:txBody>
          <a:bodyPr/>
          <a:lstStyle/>
          <a:p>
            <a:r>
              <a:rPr lang="en-US" dirty="0"/>
              <a:t>Personality, motivation and emotion unit-5</a:t>
            </a:r>
            <a:endParaRPr lang="en-IN" dirty="0"/>
          </a:p>
        </p:txBody>
      </p:sp>
      <p:sp>
        <p:nvSpPr>
          <p:cNvPr id="3" name="Subtitle 2">
            <a:extLst>
              <a:ext uri="{FF2B5EF4-FFF2-40B4-BE49-F238E27FC236}">
                <a16:creationId xmlns:a16="http://schemas.microsoft.com/office/drawing/2014/main" id="{D5AAC373-1FF3-B174-1977-274F88F685D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93754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2F8B3-E2BE-E8D3-870D-C044B97257AC}"/>
              </a:ext>
            </a:extLst>
          </p:cNvPr>
          <p:cNvSpPr>
            <a:spLocks noGrp="1"/>
          </p:cNvSpPr>
          <p:nvPr>
            <p:ph type="title"/>
          </p:nvPr>
        </p:nvSpPr>
        <p:spPr/>
        <p:txBody>
          <a:bodyPr/>
          <a:lstStyle/>
          <a:p>
            <a:r>
              <a:rPr lang="en-US" dirty="0"/>
              <a:t>Personality </a:t>
            </a:r>
            <a:endParaRPr lang="en-IN" dirty="0"/>
          </a:p>
        </p:txBody>
      </p:sp>
      <p:sp>
        <p:nvSpPr>
          <p:cNvPr id="3" name="Content Placeholder 2">
            <a:extLst>
              <a:ext uri="{FF2B5EF4-FFF2-40B4-BE49-F238E27FC236}">
                <a16:creationId xmlns:a16="http://schemas.microsoft.com/office/drawing/2014/main" id="{F4C4E7E1-7AB4-9F3A-D80F-A364F252DFF9}"/>
              </a:ext>
            </a:extLst>
          </p:cNvPr>
          <p:cNvSpPr>
            <a:spLocks noGrp="1"/>
          </p:cNvSpPr>
          <p:nvPr>
            <p:ph idx="1"/>
          </p:nvPr>
        </p:nvSpPr>
        <p:spPr/>
        <p:txBody>
          <a:bodyPr/>
          <a:lstStyle/>
          <a:p>
            <a:r>
              <a:rPr lang="en-US" dirty="0"/>
              <a:t>The term personality is derived from the Latin word </a:t>
            </a:r>
            <a:r>
              <a:rPr lang="en-US" b="1" dirty="0">
                <a:latin typeface="Times New Roman" panose="02020603050405020304" pitchFamily="18" charset="0"/>
                <a:cs typeface="Times New Roman" panose="02020603050405020304" pitchFamily="18" charset="0"/>
              </a:rPr>
              <a:t>persona </a:t>
            </a:r>
            <a:r>
              <a:rPr lang="en-US" dirty="0"/>
              <a:t>which means mask.</a:t>
            </a:r>
          </a:p>
          <a:p>
            <a:r>
              <a:rPr lang="en-US" b="1" dirty="0">
                <a:cs typeface="Times New Roman" pitchFamily="18" charset="0"/>
              </a:rPr>
              <a:t>Personality</a:t>
            </a:r>
            <a:r>
              <a:rPr lang="en-US" dirty="0">
                <a:cs typeface="Times New Roman" pitchFamily="18" charset="0"/>
              </a:rPr>
              <a:t> -It refers to individual differences in characteristic patterns of thinking, feeling and behaving.</a:t>
            </a:r>
          </a:p>
          <a:p>
            <a:r>
              <a:rPr lang="en-US" dirty="0"/>
              <a:t>Personality is the combination of behavior, emotion, motivation, and thought patterns that define an individual</a:t>
            </a:r>
            <a:r>
              <a:rPr lang="en-US" dirty="0">
                <a:solidFill>
                  <a:srgbClr val="0070C0"/>
                </a:solidFill>
              </a:rPr>
              <a:t>.</a:t>
            </a:r>
          </a:p>
          <a:p>
            <a:endParaRPr lang="en-IN" dirty="0"/>
          </a:p>
        </p:txBody>
      </p:sp>
    </p:spTree>
    <p:extLst>
      <p:ext uri="{BB962C8B-B14F-4D97-AF65-F5344CB8AC3E}">
        <p14:creationId xmlns:p14="http://schemas.microsoft.com/office/powerpoint/2010/main" val="508596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ACCC5-A53C-5C37-004E-9F6BE9C94362}"/>
              </a:ext>
            </a:extLst>
          </p:cNvPr>
          <p:cNvSpPr>
            <a:spLocks noGrp="1"/>
          </p:cNvSpPr>
          <p:nvPr>
            <p:ph type="title"/>
          </p:nvPr>
        </p:nvSpPr>
        <p:spPr/>
        <p:txBody>
          <a:bodyPr/>
          <a:lstStyle/>
          <a:p>
            <a:r>
              <a:rPr lang="en-US" dirty="0"/>
              <a:t>Psychoanalysis</a:t>
            </a:r>
            <a:endParaRPr lang="en-IN" dirty="0"/>
          </a:p>
        </p:txBody>
      </p:sp>
      <p:sp>
        <p:nvSpPr>
          <p:cNvPr id="3" name="Content Placeholder 2">
            <a:extLst>
              <a:ext uri="{FF2B5EF4-FFF2-40B4-BE49-F238E27FC236}">
                <a16:creationId xmlns:a16="http://schemas.microsoft.com/office/drawing/2014/main" id="{D28C697D-E675-EF17-C21B-84E011108C7D}"/>
              </a:ext>
            </a:extLst>
          </p:cNvPr>
          <p:cNvSpPr>
            <a:spLocks noGrp="1"/>
          </p:cNvSpPr>
          <p:nvPr>
            <p:ph idx="1"/>
          </p:nvPr>
        </p:nvSpPr>
        <p:spPr/>
        <p:txBody>
          <a:bodyPr/>
          <a:lstStyle/>
          <a:p>
            <a:r>
              <a:rPr lang="en-US" b="1" dirty="0"/>
              <a:t>Psychoanalysis</a:t>
            </a:r>
            <a:r>
              <a:rPr lang="en-US" dirty="0"/>
              <a:t> is a theory of personality and a method of psychotherapy developed by </a:t>
            </a:r>
            <a:r>
              <a:rPr lang="en-US" b="1" dirty="0"/>
              <a:t>Sigmund Freud</a:t>
            </a:r>
            <a:r>
              <a:rPr lang="en-US" dirty="0"/>
              <a:t>.</a:t>
            </a:r>
            <a:br>
              <a:rPr lang="en-US" dirty="0"/>
            </a:br>
            <a:r>
              <a:rPr lang="en-US" dirty="0"/>
              <a:t>It explains human </a:t>
            </a:r>
            <a:r>
              <a:rPr lang="en-US" dirty="0" err="1"/>
              <a:t>behaviour</a:t>
            </a:r>
            <a:r>
              <a:rPr lang="en-US" dirty="0"/>
              <a:t> in terms of </a:t>
            </a:r>
            <a:r>
              <a:rPr lang="en-US" b="1" dirty="0"/>
              <a:t>unconscious motives, childhood experiences, inner conflicts, and repressed desires</a:t>
            </a:r>
            <a:r>
              <a:rPr lang="en-US" dirty="0"/>
              <a:t>.</a:t>
            </a:r>
          </a:p>
          <a:p>
            <a:endParaRPr lang="en-IN" dirty="0"/>
          </a:p>
        </p:txBody>
      </p:sp>
    </p:spTree>
    <p:extLst>
      <p:ext uri="{BB962C8B-B14F-4D97-AF65-F5344CB8AC3E}">
        <p14:creationId xmlns:p14="http://schemas.microsoft.com/office/powerpoint/2010/main" val="3250285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9FD2A-EB62-55B1-6027-1F0C0516B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9F474-AE0F-3C08-93B6-F3460C998388}"/>
              </a:ext>
            </a:extLst>
          </p:cNvPr>
          <p:cNvSpPr>
            <a:spLocks noGrp="1"/>
          </p:cNvSpPr>
          <p:nvPr>
            <p:ph type="title"/>
          </p:nvPr>
        </p:nvSpPr>
        <p:spPr/>
        <p:txBody>
          <a:bodyPr/>
          <a:lstStyle/>
          <a:p>
            <a:r>
              <a:rPr lang="en-US" dirty="0"/>
              <a:t>Psychoanalysis</a:t>
            </a:r>
            <a:endParaRPr lang="en-IN" dirty="0"/>
          </a:p>
        </p:txBody>
      </p:sp>
      <p:sp>
        <p:nvSpPr>
          <p:cNvPr id="3" name="Content Placeholder 2">
            <a:extLst>
              <a:ext uri="{FF2B5EF4-FFF2-40B4-BE49-F238E27FC236}">
                <a16:creationId xmlns:a16="http://schemas.microsoft.com/office/drawing/2014/main" id="{8F611C06-2247-86A3-5C2C-971CEE6255C9}"/>
              </a:ext>
            </a:extLst>
          </p:cNvPr>
          <p:cNvSpPr>
            <a:spLocks noGrp="1"/>
          </p:cNvSpPr>
          <p:nvPr>
            <p:ph idx="1"/>
          </p:nvPr>
        </p:nvSpPr>
        <p:spPr/>
        <p:txBody>
          <a:bodyPr>
            <a:normAutofit fontScale="92500" lnSpcReduction="20000"/>
          </a:bodyPr>
          <a:lstStyle/>
          <a:p>
            <a:pPr marL="0" indent="0">
              <a:buNone/>
            </a:pPr>
            <a:r>
              <a:rPr lang="en-US" b="1" dirty="0"/>
              <a:t>1. Structure of Personality</a:t>
            </a:r>
          </a:p>
          <a:p>
            <a:r>
              <a:rPr lang="en-US" b="1" dirty="0"/>
              <a:t>Id</a:t>
            </a:r>
            <a:r>
              <a:rPr lang="en-US" dirty="0"/>
              <a:t> – pleasure-seeking, instinctual part</a:t>
            </a:r>
          </a:p>
          <a:p>
            <a:r>
              <a:rPr lang="en-US" b="1" dirty="0"/>
              <a:t>Ego</a:t>
            </a:r>
            <a:r>
              <a:rPr lang="en-US" dirty="0"/>
              <a:t> – realistic, decision-making part</a:t>
            </a:r>
          </a:p>
          <a:p>
            <a:r>
              <a:rPr lang="en-US" b="1" dirty="0"/>
              <a:t>Superego</a:t>
            </a:r>
            <a:r>
              <a:rPr lang="en-US" dirty="0"/>
              <a:t> – moral and ideal standards</a:t>
            </a:r>
          </a:p>
          <a:p>
            <a:r>
              <a:rPr lang="en-US" dirty="0"/>
              <a:t>These three constantly interact and create internal conflicts.</a:t>
            </a:r>
          </a:p>
          <a:p>
            <a:pPr marL="0" indent="0">
              <a:buNone/>
            </a:pPr>
            <a:r>
              <a:rPr lang="en-US" b="1" dirty="0"/>
              <a:t>2. Levels of Mind</a:t>
            </a:r>
          </a:p>
          <a:p>
            <a:r>
              <a:rPr lang="en-US" b="1" dirty="0"/>
              <a:t>Conscious</a:t>
            </a:r>
            <a:r>
              <a:rPr lang="en-US" dirty="0"/>
              <a:t> – what we are aware of</a:t>
            </a:r>
          </a:p>
          <a:p>
            <a:r>
              <a:rPr lang="en-US" b="1" dirty="0"/>
              <a:t>Preconscious</a:t>
            </a:r>
            <a:r>
              <a:rPr lang="en-US" dirty="0"/>
              <a:t> – stored memories</a:t>
            </a:r>
          </a:p>
          <a:p>
            <a:r>
              <a:rPr lang="en-US" b="1" dirty="0"/>
              <a:t>Unconscious</a:t>
            </a:r>
            <a:r>
              <a:rPr lang="en-US" dirty="0"/>
              <a:t> – hidden desires, fears, and repressed thoughts (most important)</a:t>
            </a:r>
          </a:p>
          <a:p>
            <a:pPr marL="0" indent="0">
              <a:buNone/>
            </a:pPr>
            <a:r>
              <a:rPr lang="en-US" b="1" dirty="0"/>
              <a:t>Psychosexual Stages</a:t>
            </a:r>
          </a:p>
          <a:p>
            <a:r>
              <a:rPr lang="en-US" dirty="0"/>
              <a:t>Personality develops through five stages:</a:t>
            </a:r>
            <a:br>
              <a:rPr lang="en-US" dirty="0"/>
            </a:br>
            <a:r>
              <a:rPr lang="en-US" b="1" dirty="0"/>
              <a:t>Oral → Anal → Phallic → Latency → Genital</a:t>
            </a:r>
            <a:br>
              <a:rPr lang="en-US" dirty="0"/>
            </a:br>
            <a:r>
              <a:rPr lang="en-US" dirty="0"/>
              <a:t>Fixation at any stage can affect adult </a:t>
            </a:r>
            <a:r>
              <a:rPr lang="en-US" dirty="0" err="1"/>
              <a:t>behaviour</a:t>
            </a:r>
            <a:r>
              <a:rPr lang="en-US" dirty="0"/>
              <a:t>.</a:t>
            </a:r>
          </a:p>
          <a:p>
            <a:endParaRPr lang="en-IN" dirty="0"/>
          </a:p>
        </p:txBody>
      </p:sp>
    </p:spTree>
    <p:extLst>
      <p:ext uri="{BB962C8B-B14F-4D97-AF65-F5344CB8AC3E}">
        <p14:creationId xmlns:p14="http://schemas.microsoft.com/office/powerpoint/2010/main" val="3913636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38F90-5F54-F326-5182-3D7B80941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70E5D-F7EE-4B9D-B5E4-2DF59BD03180}"/>
              </a:ext>
            </a:extLst>
          </p:cNvPr>
          <p:cNvSpPr>
            <a:spLocks noGrp="1"/>
          </p:cNvSpPr>
          <p:nvPr>
            <p:ph type="title"/>
          </p:nvPr>
        </p:nvSpPr>
        <p:spPr/>
        <p:txBody>
          <a:bodyPr/>
          <a:lstStyle/>
          <a:p>
            <a:r>
              <a:rPr lang="en-US" dirty="0"/>
              <a:t>Psychosexual stages</a:t>
            </a:r>
            <a:endParaRPr lang="en-IN" dirty="0"/>
          </a:p>
        </p:txBody>
      </p:sp>
      <p:graphicFrame>
        <p:nvGraphicFramePr>
          <p:cNvPr id="4" name="Content Placeholder 3">
            <a:extLst>
              <a:ext uri="{FF2B5EF4-FFF2-40B4-BE49-F238E27FC236}">
                <a16:creationId xmlns:a16="http://schemas.microsoft.com/office/drawing/2014/main" id="{129FE07F-28C1-65E8-2D6E-A9D75B9DC1B3}"/>
              </a:ext>
            </a:extLst>
          </p:cNvPr>
          <p:cNvGraphicFramePr>
            <a:graphicFrameLocks noGrp="1"/>
          </p:cNvGraphicFramePr>
          <p:nvPr>
            <p:ph idx="1"/>
            <p:extLst>
              <p:ext uri="{D42A27DB-BD31-4B8C-83A1-F6EECF244321}">
                <p14:modId xmlns:p14="http://schemas.microsoft.com/office/powerpoint/2010/main" val="2846913201"/>
              </p:ext>
            </p:extLst>
          </p:nvPr>
        </p:nvGraphicFramePr>
        <p:xfrm>
          <a:off x="660400" y="2102623"/>
          <a:ext cx="10546080" cy="3932237"/>
        </p:xfrm>
        <a:graphic>
          <a:graphicData uri="http://schemas.openxmlformats.org/drawingml/2006/table">
            <a:tbl>
              <a:tblPr/>
              <a:tblGrid>
                <a:gridCol w="2109216">
                  <a:extLst>
                    <a:ext uri="{9D8B030D-6E8A-4147-A177-3AD203B41FA5}">
                      <a16:colId xmlns:a16="http://schemas.microsoft.com/office/drawing/2014/main" val="1009930928"/>
                    </a:ext>
                  </a:extLst>
                </a:gridCol>
                <a:gridCol w="2109216">
                  <a:extLst>
                    <a:ext uri="{9D8B030D-6E8A-4147-A177-3AD203B41FA5}">
                      <a16:colId xmlns:a16="http://schemas.microsoft.com/office/drawing/2014/main" val="4075269248"/>
                    </a:ext>
                  </a:extLst>
                </a:gridCol>
                <a:gridCol w="1623568">
                  <a:extLst>
                    <a:ext uri="{9D8B030D-6E8A-4147-A177-3AD203B41FA5}">
                      <a16:colId xmlns:a16="http://schemas.microsoft.com/office/drawing/2014/main" val="2011351829"/>
                    </a:ext>
                  </a:extLst>
                </a:gridCol>
                <a:gridCol w="1849120">
                  <a:extLst>
                    <a:ext uri="{9D8B030D-6E8A-4147-A177-3AD203B41FA5}">
                      <a16:colId xmlns:a16="http://schemas.microsoft.com/office/drawing/2014/main" val="3039809102"/>
                    </a:ext>
                  </a:extLst>
                </a:gridCol>
                <a:gridCol w="2854960">
                  <a:extLst>
                    <a:ext uri="{9D8B030D-6E8A-4147-A177-3AD203B41FA5}">
                      <a16:colId xmlns:a16="http://schemas.microsoft.com/office/drawing/2014/main" val="2378946125"/>
                    </a:ext>
                  </a:extLst>
                </a:gridCol>
              </a:tblGrid>
              <a:tr h="316387">
                <a:tc>
                  <a:txBody>
                    <a:bodyPr/>
                    <a:lstStyle/>
                    <a:p>
                      <a:pPr>
                        <a:buNone/>
                      </a:pPr>
                      <a:r>
                        <a:rPr lang="en-IN" sz="1400" b="1"/>
                        <a:t>Stage</a:t>
                      </a:r>
                      <a:endParaRPr lang="en-IN" sz="1400"/>
                    </a:p>
                  </a:txBody>
                  <a:tcPr marL="45198" marR="45198" marT="22599" marB="22599" anchor="ctr">
                    <a:lnL>
                      <a:noFill/>
                    </a:lnL>
                    <a:lnR>
                      <a:noFill/>
                    </a:lnR>
                    <a:lnT>
                      <a:noFill/>
                    </a:lnT>
                    <a:lnB>
                      <a:noFill/>
                    </a:lnB>
                    <a:noFill/>
                  </a:tcPr>
                </a:tc>
                <a:tc>
                  <a:txBody>
                    <a:bodyPr/>
                    <a:lstStyle/>
                    <a:p>
                      <a:pPr>
                        <a:buNone/>
                      </a:pPr>
                      <a:r>
                        <a:rPr lang="en-IN" sz="1400" b="1"/>
                        <a:t>Age Range</a:t>
                      </a:r>
                      <a:endParaRPr lang="en-IN" sz="1400"/>
                    </a:p>
                  </a:txBody>
                  <a:tcPr marL="45198" marR="45198" marT="22599" marB="22599" anchor="ctr">
                    <a:lnL>
                      <a:noFill/>
                    </a:lnL>
                    <a:lnR>
                      <a:noFill/>
                    </a:lnR>
                    <a:lnT>
                      <a:noFill/>
                    </a:lnT>
                    <a:lnB>
                      <a:noFill/>
                    </a:lnB>
                    <a:noFill/>
                  </a:tcPr>
                </a:tc>
                <a:tc>
                  <a:txBody>
                    <a:bodyPr/>
                    <a:lstStyle/>
                    <a:p>
                      <a:pPr>
                        <a:buNone/>
                      </a:pPr>
                      <a:r>
                        <a:rPr lang="en-IN" sz="1400" b="1"/>
                        <a:t>Erogenous Zone</a:t>
                      </a:r>
                      <a:endParaRPr lang="en-IN" sz="1400"/>
                    </a:p>
                  </a:txBody>
                  <a:tcPr marL="45198" marR="45198" marT="22599" marB="22599" anchor="ctr">
                    <a:lnL>
                      <a:noFill/>
                    </a:lnL>
                    <a:lnR>
                      <a:noFill/>
                    </a:lnR>
                    <a:lnT>
                      <a:noFill/>
                    </a:lnT>
                    <a:lnB>
                      <a:noFill/>
                    </a:lnB>
                    <a:noFill/>
                  </a:tcPr>
                </a:tc>
                <a:tc>
                  <a:txBody>
                    <a:bodyPr/>
                    <a:lstStyle/>
                    <a:p>
                      <a:pPr>
                        <a:buNone/>
                      </a:pPr>
                      <a:r>
                        <a:rPr lang="en-IN" sz="1400" b="1"/>
                        <a:t>Key Conflict / Focus</a:t>
                      </a:r>
                      <a:endParaRPr lang="en-IN" sz="1400"/>
                    </a:p>
                  </a:txBody>
                  <a:tcPr marL="45198" marR="45198" marT="22599" marB="22599" anchor="ctr">
                    <a:lnL>
                      <a:noFill/>
                    </a:lnL>
                    <a:lnR>
                      <a:noFill/>
                    </a:lnR>
                    <a:lnT>
                      <a:noFill/>
                    </a:lnT>
                    <a:lnB>
                      <a:noFill/>
                    </a:lnB>
                    <a:noFill/>
                  </a:tcPr>
                </a:tc>
                <a:tc>
                  <a:txBody>
                    <a:bodyPr/>
                    <a:lstStyle/>
                    <a:p>
                      <a:pPr>
                        <a:buNone/>
                      </a:pPr>
                      <a:r>
                        <a:rPr lang="en-IN" sz="1400" b="1"/>
                        <a:t>Adult Fixation / Outcomes</a:t>
                      </a:r>
                      <a:endParaRPr lang="en-IN" sz="1400"/>
                    </a:p>
                  </a:txBody>
                  <a:tcPr marL="45198" marR="45198" marT="22599" marB="22599" anchor="ctr">
                    <a:lnL>
                      <a:noFill/>
                    </a:lnL>
                    <a:lnR>
                      <a:noFill/>
                    </a:lnR>
                    <a:lnT>
                      <a:noFill/>
                    </a:lnT>
                    <a:lnB>
                      <a:noFill/>
                    </a:lnB>
                    <a:noFill/>
                  </a:tcPr>
                </a:tc>
                <a:extLst>
                  <a:ext uri="{0D108BD9-81ED-4DB2-BD59-A6C34878D82A}">
                    <a16:rowId xmlns:a16="http://schemas.microsoft.com/office/drawing/2014/main" val="3443102890"/>
                  </a:ext>
                </a:extLst>
              </a:tr>
              <a:tr h="587576">
                <a:tc>
                  <a:txBody>
                    <a:bodyPr/>
                    <a:lstStyle/>
                    <a:p>
                      <a:pPr>
                        <a:buNone/>
                      </a:pPr>
                      <a:r>
                        <a:rPr lang="en-IN" sz="1400" b="1"/>
                        <a:t>Oral</a:t>
                      </a:r>
                      <a:endParaRPr lang="en-IN" sz="1400"/>
                    </a:p>
                  </a:txBody>
                  <a:tcPr marL="45198" marR="45198" marT="22599" marB="22599" anchor="ctr">
                    <a:lnL>
                      <a:noFill/>
                    </a:lnL>
                    <a:lnR>
                      <a:noFill/>
                    </a:lnR>
                    <a:lnT>
                      <a:noFill/>
                    </a:lnT>
                    <a:lnB>
                      <a:noFill/>
                    </a:lnB>
                    <a:noFill/>
                  </a:tcPr>
                </a:tc>
                <a:tc>
                  <a:txBody>
                    <a:bodyPr/>
                    <a:lstStyle/>
                    <a:p>
                      <a:pPr>
                        <a:buNone/>
                      </a:pPr>
                      <a:r>
                        <a:rPr lang="en-IN" sz="1400"/>
                        <a:t>0 – 1.5 years</a:t>
                      </a:r>
                    </a:p>
                  </a:txBody>
                  <a:tcPr marL="45198" marR="45198" marT="22599" marB="22599" anchor="ctr">
                    <a:lnL>
                      <a:noFill/>
                    </a:lnL>
                    <a:lnR>
                      <a:noFill/>
                    </a:lnR>
                    <a:lnT>
                      <a:noFill/>
                    </a:lnT>
                    <a:lnB>
                      <a:noFill/>
                    </a:lnB>
                    <a:noFill/>
                  </a:tcPr>
                </a:tc>
                <a:tc>
                  <a:txBody>
                    <a:bodyPr/>
                    <a:lstStyle/>
                    <a:p>
                      <a:pPr>
                        <a:buNone/>
                      </a:pPr>
                      <a:r>
                        <a:rPr lang="en-IN" sz="1400"/>
                        <a:t>Mouth (sucking, biting)</a:t>
                      </a:r>
                    </a:p>
                  </a:txBody>
                  <a:tcPr marL="45198" marR="45198" marT="22599" marB="22599" anchor="ctr">
                    <a:lnL>
                      <a:noFill/>
                    </a:lnL>
                    <a:lnR>
                      <a:noFill/>
                    </a:lnR>
                    <a:lnT>
                      <a:noFill/>
                    </a:lnT>
                    <a:lnB>
                      <a:noFill/>
                    </a:lnB>
                    <a:noFill/>
                  </a:tcPr>
                </a:tc>
                <a:tc>
                  <a:txBody>
                    <a:bodyPr/>
                    <a:lstStyle/>
                    <a:p>
                      <a:pPr>
                        <a:buNone/>
                      </a:pPr>
                      <a:r>
                        <a:rPr lang="en-IN" sz="1400"/>
                        <a:t>Weaning</a:t>
                      </a:r>
                    </a:p>
                  </a:txBody>
                  <a:tcPr marL="45198" marR="45198" marT="22599" marB="22599" anchor="ctr">
                    <a:lnL>
                      <a:noFill/>
                    </a:lnL>
                    <a:lnR>
                      <a:noFill/>
                    </a:lnR>
                    <a:lnT>
                      <a:noFill/>
                    </a:lnT>
                    <a:lnB>
                      <a:noFill/>
                    </a:lnB>
                    <a:noFill/>
                  </a:tcPr>
                </a:tc>
                <a:tc>
                  <a:txBody>
                    <a:bodyPr/>
                    <a:lstStyle/>
                    <a:p>
                      <a:pPr>
                        <a:buNone/>
                      </a:pPr>
                      <a:r>
                        <a:rPr lang="en-IN" sz="1400"/>
                        <a:t>Smoking, overeating, nail-biting, dependency</a:t>
                      </a:r>
                    </a:p>
                  </a:txBody>
                  <a:tcPr marL="45198" marR="45198" marT="22599" marB="22599" anchor="ctr">
                    <a:lnL>
                      <a:noFill/>
                    </a:lnL>
                    <a:lnR>
                      <a:noFill/>
                    </a:lnR>
                    <a:lnT>
                      <a:noFill/>
                    </a:lnT>
                    <a:lnB>
                      <a:noFill/>
                    </a:lnB>
                    <a:noFill/>
                  </a:tcPr>
                </a:tc>
                <a:extLst>
                  <a:ext uri="{0D108BD9-81ED-4DB2-BD59-A6C34878D82A}">
                    <a16:rowId xmlns:a16="http://schemas.microsoft.com/office/drawing/2014/main" val="2651349174"/>
                  </a:ext>
                </a:extLst>
              </a:tr>
              <a:tr h="858764">
                <a:tc>
                  <a:txBody>
                    <a:bodyPr/>
                    <a:lstStyle/>
                    <a:p>
                      <a:pPr>
                        <a:buNone/>
                      </a:pPr>
                      <a:r>
                        <a:rPr lang="en-IN" sz="1400" b="1"/>
                        <a:t>Anal</a:t>
                      </a:r>
                      <a:endParaRPr lang="en-IN" sz="1400"/>
                    </a:p>
                  </a:txBody>
                  <a:tcPr marL="45198" marR="45198" marT="22599" marB="22599" anchor="ctr">
                    <a:lnL>
                      <a:noFill/>
                    </a:lnL>
                    <a:lnR>
                      <a:noFill/>
                    </a:lnR>
                    <a:lnT>
                      <a:noFill/>
                    </a:lnT>
                    <a:lnB>
                      <a:noFill/>
                    </a:lnB>
                    <a:noFill/>
                  </a:tcPr>
                </a:tc>
                <a:tc>
                  <a:txBody>
                    <a:bodyPr/>
                    <a:lstStyle/>
                    <a:p>
                      <a:pPr>
                        <a:buNone/>
                      </a:pPr>
                      <a:r>
                        <a:rPr lang="en-IN" sz="1400"/>
                        <a:t>1.5 – 3 years</a:t>
                      </a:r>
                    </a:p>
                  </a:txBody>
                  <a:tcPr marL="45198" marR="45198" marT="22599" marB="22599" anchor="ctr">
                    <a:lnL>
                      <a:noFill/>
                    </a:lnL>
                    <a:lnR>
                      <a:noFill/>
                    </a:lnR>
                    <a:lnT>
                      <a:noFill/>
                    </a:lnT>
                    <a:lnB>
                      <a:noFill/>
                    </a:lnB>
                    <a:noFill/>
                  </a:tcPr>
                </a:tc>
                <a:tc>
                  <a:txBody>
                    <a:bodyPr/>
                    <a:lstStyle/>
                    <a:p>
                      <a:pPr>
                        <a:buNone/>
                      </a:pPr>
                      <a:r>
                        <a:rPr lang="en-IN" sz="1400"/>
                        <a:t>Bowel &amp; bladder control</a:t>
                      </a:r>
                    </a:p>
                  </a:txBody>
                  <a:tcPr marL="45198" marR="45198" marT="22599" marB="22599" anchor="ctr">
                    <a:lnL>
                      <a:noFill/>
                    </a:lnL>
                    <a:lnR>
                      <a:noFill/>
                    </a:lnR>
                    <a:lnT>
                      <a:noFill/>
                    </a:lnT>
                    <a:lnB>
                      <a:noFill/>
                    </a:lnB>
                    <a:noFill/>
                  </a:tcPr>
                </a:tc>
                <a:tc>
                  <a:txBody>
                    <a:bodyPr/>
                    <a:lstStyle/>
                    <a:p>
                      <a:pPr>
                        <a:buNone/>
                      </a:pPr>
                      <a:r>
                        <a:rPr lang="en-IN" sz="1400"/>
                        <a:t>Toilet training</a:t>
                      </a:r>
                    </a:p>
                  </a:txBody>
                  <a:tcPr marL="45198" marR="45198" marT="22599" marB="22599" anchor="ctr">
                    <a:lnL>
                      <a:noFill/>
                    </a:lnL>
                    <a:lnR>
                      <a:noFill/>
                    </a:lnR>
                    <a:lnT>
                      <a:noFill/>
                    </a:lnT>
                    <a:lnB>
                      <a:noFill/>
                    </a:lnB>
                    <a:noFill/>
                  </a:tcPr>
                </a:tc>
                <a:tc>
                  <a:txBody>
                    <a:bodyPr/>
                    <a:lstStyle/>
                    <a:p>
                      <a:pPr>
                        <a:buNone/>
                      </a:pPr>
                      <a:r>
                        <a:rPr lang="en-US" sz="1400" dirty="0"/>
                        <a:t>Anal-retentive (perfectionist, orderly) OR Anal-expulsive (messy, careless)</a:t>
                      </a:r>
                    </a:p>
                  </a:txBody>
                  <a:tcPr marL="45198" marR="45198" marT="22599" marB="22599" anchor="ctr">
                    <a:lnL>
                      <a:noFill/>
                    </a:lnL>
                    <a:lnR>
                      <a:noFill/>
                    </a:lnR>
                    <a:lnT>
                      <a:noFill/>
                    </a:lnT>
                    <a:lnB>
                      <a:noFill/>
                    </a:lnB>
                    <a:noFill/>
                  </a:tcPr>
                </a:tc>
                <a:extLst>
                  <a:ext uri="{0D108BD9-81ED-4DB2-BD59-A6C34878D82A}">
                    <a16:rowId xmlns:a16="http://schemas.microsoft.com/office/drawing/2014/main" val="3412714875"/>
                  </a:ext>
                </a:extLst>
              </a:tr>
              <a:tr h="723170">
                <a:tc>
                  <a:txBody>
                    <a:bodyPr/>
                    <a:lstStyle/>
                    <a:p>
                      <a:pPr>
                        <a:buNone/>
                      </a:pPr>
                      <a:r>
                        <a:rPr lang="en-IN" sz="1400" b="1"/>
                        <a:t>Phallic</a:t>
                      </a:r>
                      <a:endParaRPr lang="en-IN" sz="1400"/>
                    </a:p>
                  </a:txBody>
                  <a:tcPr marL="45198" marR="45198" marT="22599" marB="22599" anchor="ctr">
                    <a:lnL>
                      <a:noFill/>
                    </a:lnL>
                    <a:lnR>
                      <a:noFill/>
                    </a:lnR>
                    <a:lnT>
                      <a:noFill/>
                    </a:lnT>
                    <a:lnB>
                      <a:noFill/>
                    </a:lnB>
                    <a:noFill/>
                  </a:tcPr>
                </a:tc>
                <a:tc>
                  <a:txBody>
                    <a:bodyPr/>
                    <a:lstStyle/>
                    <a:p>
                      <a:pPr>
                        <a:buNone/>
                      </a:pPr>
                      <a:r>
                        <a:rPr lang="en-IN" sz="1400"/>
                        <a:t>3 – 6 years</a:t>
                      </a:r>
                    </a:p>
                  </a:txBody>
                  <a:tcPr marL="45198" marR="45198" marT="22599" marB="22599" anchor="ctr">
                    <a:lnL>
                      <a:noFill/>
                    </a:lnL>
                    <a:lnR>
                      <a:noFill/>
                    </a:lnR>
                    <a:lnT>
                      <a:noFill/>
                    </a:lnT>
                    <a:lnB>
                      <a:noFill/>
                    </a:lnB>
                    <a:noFill/>
                  </a:tcPr>
                </a:tc>
                <a:tc>
                  <a:txBody>
                    <a:bodyPr/>
                    <a:lstStyle/>
                    <a:p>
                      <a:pPr>
                        <a:buNone/>
                      </a:pPr>
                      <a:r>
                        <a:rPr lang="en-IN" sz="1400"/>
                        <a:t>Genitals</a:t>
                      </a:r>
                    </a:p>
                  </a:txBody>
                  <a:tcPr marL="45198" marR="45198" marT="22599" marB="22599" anchor="ctr">
                    <a:lnL>
                      <a:noFill/>
                    </a:lnL>
                    <a:lnR>
                      <a:noFill/>
                    </a:lnR>
                    <a:lnT>
                      <a:noFill/>
                    </a:lnT>
                    <a:lnB>
                      <a:noFill/>
                    </a:lnB>
                    <a:noFill/>
                  </a:tcPr>
                </a:tc>
                <a:tc>
                  <a:txBody>
                    <a:bodyPr/>
                    <a:lstStyle/>
                    <a:p>
                      <a:pPr>
                        <a:buNone/>
                      </a:pPr>
                      <a:r>
                        <a:rPr lang="en-IN" sz="1400"/>
                        <a:t>Oedipus/Electra complex</a:t>
                      </a:r>
                    </a:p>
                  </a:txBody>
                  <a:tcPr marL="45198" marR="45198" marT="22599" marB="22599" anchor="ctr">
                    <a:lnL>
                      <a:noFill/>
                    </a:lnL>
                    <a:lnR>
                      <a:noFill/>
                    </a:lnR>
                    <a:lnT>
                      <a:noFill/>
                    </a:lnT>
                    <a:lnB>
                      <a:noFill/>
                    </a:lnB>
                    <a:noFill/>
                  </a:tcPr>
                </a:tc>
                <a:tc>
                  <a:txBody>
                    <a:bodyPr/>
                    <a:lstStyle/>
                    <a:p>
                      <a:pPr>
                        <a:buNone/>
                      </a:pPr>
                      <a:r>
                        <a:rPr lang="en-US" sz="1400"/>
                        <a:t>Vanity, recklessness, problems with authority, sexual confusion</a:t>
                      </a:r>
                    </a:p>
                  </a:txBody>
                  <a:tcPr marL="45198" marR="45198" marT="22599" marB="22599" anchor="ctr">
                    <a:lnL>
                      <a:noFill/>
                    </a:lnL>
                    <a:lnR>
                      <a:noFill/>
                    </a:lnR>
                    <a:lnT>
                      <a:noFill/>
                    </a:lnT>
                    <a:lnB>
                      <a:noFill/>
                    </a:lnB>
                    <a:noFill/>
                  </a:tcPr>
                </a:tc>
                <a:extLst>
                  <a:ext uri="{0D108BD9-81ED-4DB2-BD59-A6C34878D82A}">
                    <a16:rowId xmlns:a16="http://schemas.microsoft.com/office/drawing/2014/main" val="2751676608"/>
                  </a:ext>
                </a:extLst>
              </a:tr>
              <a:tr h="723170">
                <a:tc>
                  <a:txBody>
                    <a:bodyPr/>
                    <a:lstStyle/>
                    <a:p>
                      <a:pPr>
                        <a:buNone/>
                      </a:pPr>
                      <a:r>
                        <a:rPr lang="en-IN" sz="1400" b="1"/>
                        <a:t>Latency</a:t>
                      </a:r>
                      <a:endParaRPr lang="en-IN" sz="1400"/>
                    </a:p>
                  </a:txBody>
                  <a:tcPr marL="45198" marR="45198" marT="22599" marB="22599" anchor="ctr">
                    <a:lnL>
                      <a:noFill/>
                    </a:lnL>
                    <a:lnR>
                      <a:noFill/>
                    </a:lnR>
                    <a:lnT>
                      <a:noFill/>
                    </a:lnT>
                    <a:lnB>
                      <a:noFill/>
                    </a:lnB>
                    <a:noFill/>
                  </a:tcPr>
                </a:tc>
                <a:tc>
                  <a:txBody>
                    <a:bodyPr/>
                    <a:lstStyle/>
                    <a:p>
                      <a:pPr>
                        <a:buNone/>
                      </a:pPr>
                      <a:r>
                        <a:rPr lang="en-IN" sz="1400"/>
                        <a:t>6 – 12 years</a:t>
                      </a:r>
                    </a:p>
                  </a:txBody>
                  <a:tcPr marL="45198" marR="45198" marT="22599" marB="22599" anchor="ctr">
                    <a:lnL>
                      <a:noFill/>
                    </a:lnL>
                    <a:lnR>
                      <a:noFill/>
                    </a:lnR>
                    <a:lnT>
                      <a:noFill/>
                    </a:lnT>
                    <a:lnB>
                      <a:noFill/>
                    </a:lnB>
                    <a:noFill/>
                  </a:tcPr>
                </a:tc>
                <a:tc>
                  <a:txBody>
                    <a:bodyPr/>
                    <a:lstStyle/>
                    <a:p>
                      <a:pPr>
                        <a:buNone/>
                      </a:pPr>
                      <a:r>
                        <a:rPr lang="en-IN" sz="1400"/>
                        <a:t>Dormant sexual energy</a:t>
                      </a:r>
                    </a:p>
                  </a:txBody>
                  <a:tcPr marL="45198" marR="45198" marT="22599" marB="22599" anchor="ctr">
                    <a:lnL>
                      <a:noFill/>
                    </a:lnL>
                    <a:lnR>
                      <a:noFill/>
                    </a:lnR>
                    <a:lnT>
                      <a:noFill/>
                    </a:lnT>
                    <a:lnB>
                      <a:noFill/>
                    </a:lnB>
                    <a:noFill/>
                  </a:tcPr>
                </a:tc>
                <a:tc>
                  <a:txBody>
                    <a:bodyPr/>
                    <a:lstStyle/>
                    <a:p>
                      <a:pPr>
                        <a:buNone/>
                      </a:pPr>
                      <a:r>
                        <a:rPr lang="en-IN" sz="1400"/>
                        <a:t>Social &amp; academic development</a:t>
                      </a:r>
                    </a:p>
                  </a:txBody>
                  <a:tcPr marL="45198" marR="45198" marT="22599" marB="22599" anchor="ctr">
                    <a:lnL>
                      <a:noFill/>
                    </a:lnL>
                    <a:lnR>
                      <a:noFill/>
                    </a:lnR>
                    <a:lnT>
                      <a:noFill/>
                    </a:lnT>
                    <a:lnB>
                      <a:noFill/>
                    </a:lnB>
                    <a:noFill/>
                  </a:tcPr>
                </a:tc>
                <a:tc>
                  <a:txBody>
                    <a:bodyPr/>
                    <a:lstStyle/>
                    <a:p>
                      <a:pPr>
                        <a:buNone/>
                      </a:pPr>
                      <a:r>
                        <a:rPr lang="en-US" sz="1400"/>
                        <a:t>No major fixation; focus on social and cognitive growth</a:t>
                      </a:r>
                    </a:p>
                  </a:txBody>
                  <a:tcPr marL="45198" marR="45198" marT="22599" marB="22599" anchor="ctr">
                    <a:lnL>
                      <a:noFill/>
                    </a:lnL>
                    <a:lnR>
                      <a:noFill/>
                    </a:lnR>
                    <a:lnT>
                      <a:noFill/>
                    </a:lnT>
                    <a:lnB>
                      <a:noFill/>
                    </a:lnB>
                    <a:noFill/>
                  </a:tcPr>
                </a:tc>
                <a:extLst>
                  <a:ext uri="{0D108BD9-81ED-4DB2-BD59-A6C34878D82A}">
                    <a16:rowId xmlns:a16="http://schemas.microsoft.com/office/drawing/2014/main" val="830642597"/>
                  </a:ext>
                </a:extLst>
              </a:tr>
              <a:tr h="723170">
                <a:tc>
                  <a:txBody>
                    <a:bodyPr/>
                    <a:lstStyle/>
                    <a:p>
                      <a:pPr>
                        <a:buNone/>
                      </a:pPr>
                      <a:r>
                        <a:rPr lang="en-IN" sz="1400" b="1"/>
                        <a:t>Genital</a:t>
                      </a:r>
                      <a:endParaRPr lang="en-IN" sz="1400"/>
                    </a:p>
                  </a:txBody>
                  <a:tcPr marL="45198" marR="45198" marT="22599" marB="22599" anchor="ctr">
                    <a:lnL>
                      <a:noFill/>
                    </a:lnL>
                    <a:lnR>
                      <a:noFill/>
                    </a:lnR>
                    <a:lnT>
                      <a:noFill/>
                    </a:lnT>
                    <a:lnB>
                      <a:noFill/>
                    </a:lnB>
                    <a:noFill/>
                  </a:tcPr>
                </a:tc>
                <a:tc>
                  <a:txBody>
                    <a:bodyPr/>
                    <a:lstStyle/>
                    <a:p>
                      <a:pPr>
                        <a:buNone/>
                      </a:pPr>
                      <a:r>
                        <a:rPr lang="en-IN" sz="1400"/>
                        <a:t>12+ years</a:t>
                      </a:r>
                    </a:p>
                  </a:txBody>
                  <a:tcPr marL="45198" marR="45198" marT="22599" marB="22599" anchor="ctr">
                    <a:lnL>
                      <a:noFill/>
                    </a:lnL>
                    <a:lnR>
                      <a:noFill/>
                    </a:lnR>
                    <a:lnT>
                      <a:noFill/>
                    </a:lnT>
                    <a:lnB>
                      <a:noFill/>
                    </a:lnB>
                    <a:noFill/>
                  </a:tcPr>
                </a:tc>
                <a:tc>
                  <a:txBody>
                    <a:bodyPr/>
                    <a:lstStyle/>
                    <a:p>
                      <a:pPr>
                        <a:buNone/>
                      </a:pPr>
                      <a:r>
                        <a:rPr lang="en-IN" sz="1400"/>
                        <a:t>Genitals (mature sexuality)</a:t>
                      </a:r>
                    </a:p>
                  </a:txBody>
                  <a:tcPr marL="45198" marR="45198" marT="22599" marB="22599" anchor="ctr">
                    <a:lnL>
                      <a:noFill/>
                    </a:lnL>
                    <a:lnR>
                      <a:noFill/>
                    </a:lnR>
                    <a:lnT>
                      <a:noFill/>
                    </a:lnT>
                    <a:lnB>
                      <a:noFill/>
                    </a:lnB>
                    <a:noFill/>
                  </a:tcPr>
                </a:tc>
                <a:tc>
                  <a:txBody>
                    <a:bodyPr/>
                    <a:lstStyle/>
                    <a:p>
                      <a:pPr>
                        <a:buNone/>
                      </a:pPr>
                      <a:r>
                        <a:rPr lang="en-IN" sz="1400"/>
                        <a:t>Establishing intimate relationships</a:t>
                      </a:r>
                    </a:p>
                  </a:txBody>
                  <a:tcPr marL="45198" marR="45198" marT="22599" marB="22599" anchor="ctr">
                    <a:lnL>
                      <a:noFill/>
                    </a:lnL>
                    <a:lnR>
                      <a:noFill/>
                    </a:lnR>
                    <a:lnT>
                      <a:noFill/>
                    </a:lnT>
                    <a:lnB>
                      <a:noFill/>
                    </a:lnB>
                    <a:noFill/>
                  </a:tcPr>
                </a:tc>
                <a:tc>
                  <a:txBody>
                    <a:bodyPr/>
                    <a:lstStyle/>
                    <a:p>
                      <a:pPr>
                        <a:buNone/>
                      </a:pPr>
                      <a:r>
                        <a:rPr lang="en-US" sz="1400" dirty="0"/>
                        <a:t>Well-balanced personality OR unresolved earlier conflicts reappear</a:t>
                      </a:r>
                    </a:p>
                  </a:txBody>
                  <a:tcPr marL="45198" marR="45198" marT="22599" marB="22599" anchor="ctr">
                    <a:lnL>
                      <a:noFill/>
                    </a:lnL>
                    <a:lnR>
                      <a:noFill/>
                    </a:lnR>
                    <a:lnT>
                      <a:noFill/>
                    </a:lnT>
                    <a:lnB>
                      <a:noFill/>
                    </a:lnB>
                    <a:noFill/>
                  </a:tcPr>
                </a:tc>
                <a:extLst>
                  <a:ext uri="{0D108BD9-81ED-4DB2-BD59-A6C34878D82A}">
                    <a16:rowId xmlns:a16="http://schemas.microsoft.com/office/drawing/2014/main" val="1627027405"/>
                  </a:ext>
                </a:extLst>
              </a:tr>
            </a:tbl>
          </a:graphicData>
        </a:graphic>
      </p:graphicFrame>
    </p:spTree>
    <p:extLst>
      <p:ext uri="{BB962C8B-B14F-4D97-AF65-F5344CB8AC3E}">
        <p14:creationId xmlns:p14="http://schemas.microsoft.com/office/powerpoint/2010/main" val="4228175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98562-FCF6-BE44-457B-ECD12766A7C8}"/>
              </a:ext>
            </a:extLst>
          </p:cNvPr>
          <p:cNvSpPr>
            <a:spLocks noGrp="1"/>
          </p:cNvSpPr>
          <p:nvPr>
            <p:ph type="title"/>
          </p:nvPr>
        </p:nvSpPr>
        <p:spPr/>
        <p:txBody>
          <a:bodyPr/>
          <a:lstStyle/>
          <a:p>
            <a:r>
              <a:rPr lang="en-US" dirty="0"/>
              <a:t>Psychosocial development</a:t>
            </a:r>
            <a:endParaRPr lang="en-IN" dirty="0"/>
          </a:p>
        </p:txBody>
      </p:sp>
      <p:sp>
        <p:nvSpPr>
          <p:cNvPr id="3" name="Content Placeholder 2">
            <a:extLst>
              <a:ext uri="{FF2B5EF4-FFF2-40B4-BE49-F238E27FC236}">
                <a16:creationId xmlns:a16="http://schemas.microsoft.com/office/drawing/2014/main" id="{1C44F766-1B87-2AB7-4DE2-BED58DDBC0B9}"/>
              </a:ext>
            </a:extLst>
          </p:cNvPr>
          <p:cNvSpPr>
            <a:spLocks noGrp="1"/>
          </p:cNvSpPr>
          <p:nvPr>
            <p:ph idx="1"/>
          </p:nvPr>
        </p:nvSpPr>
        <p:spPr/>
        <p:txBody>
          <a:bodyPr/>
          <a:lstStyle/>
          <a:p>
            <a:r>
              <a:rPr lang="en-US" dirty="0"/>
              <a:t>Erikson proposed </a:t>
            </a:r>
            <a:r>
              <a:rPr lang="en-US" b="1" dirty="0"/>
              <a:t>eight stages</a:t>
            </a:r>
            <a:r>
              <a:rPr lang="en-US" dirty="0"/>
              <a:t> of human development, from infancy to old age.</a:t>
            </a:r>
            <a:br>
              <a:rPr lang="en-US" dirty="0"/>
            </a:br>
            <a:r>
              <a:rPr lang="en-US" dirty="0"/>
              <a:t>Each stage presents a </a:t>
            </a:r>
            <a:r>
              <a:rPr lang="en-US" b="1" dirty="0"/>
              <a:t>psychosocial crisis</a:t>
            </a:r>
            <a:r>
              <a:rPr lang="en-US" dirty="0"/>
              <a:t> that must be resolved for healthy personality development.</a:t>
            </a:r>
            <a:br>
              <a:rPr lang="en-US" dirty="0"/>
            </a:br>
            <a:r>
              <a:rPr lang="en-US" dirty="0"/>
              <a:t>Successful resolution leads to </a:t>
            </a:r>
            <a:r>
              <a:rPr lang="en-US" b="1" dirty="0"/>
              <a:t>virtues</a:t>
            </a:r>
            <a:r>
              <a:rPr lang="en-US" dirty="0"/>
              <a:t>, while failure leads to difficulties in later stages.</a:t>
            </a:r>
          </a:p>
          <a:p>
            <a:endParaRPr lang="en-IN" dirty="0"/>
          </a:p>
        </p:txBody>
      </p:sp>
    </p:spTree>
    <p:extLst>
      <p:ext uri="{BB962C8B-B14F-4D97-AF65-F5344CB8AC3E}">
        <p14:creationId xmlns:p14="http://schemas.microsoft.com/office/powerpoint/2010/main" val="2096286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8B27-4294-953C-6E1D-1C11AC17B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A38F2-70DE-7549-AA14-CD3DE858234A}"/>
              </a:ext>
            </a:extLst>
          </p:cNvPr>
          <p:cNvSpPr>
            <a:spLocks noGrp="1"/>
          </p:cNvSpPr>
          <p:nvPr>
            <p:ph type="title"/>
          </p:nvPr>
        </p:nvSpPr>
        <p:spPr/>
        <p:txBody>
          <a:bodyPr/>
          <a:lstStyle/>
          <a:p>
            <a:r>
              <a:rPr lang="en-US" dirty="0"/>
              <a:t>Psychosocial development</a:t>
            </a:r>
            <a:endParaRPr lang="en-IN" dirty="0"/>
          </a:p>
        </p:txBody>
      </p:sp>
      <p:graphicFrame>
        <p:nvGraphicFramePr>
          <p:cNvPr id="4" name="Content Placeholder 3">
            <a:extLst>
              <a:ext uri="{FF2B5EF4-FFF2-40B4-BE49-F238E27FC236}">
                <a16:creationId xmlns:a16="http://schemas.microsoft.com/office/drawing/2014/main" id="{3940DD68-7A53-402B-76EA-2D86B11D1E84}"/>
              </a:ext>
            </a:extLst>
          </p:cNvPr>
          <p:cNvGraphicFramePr>
            <a:graphicFrameLocks noGrp="1"/>
          </p:cNvGraphicFramePr>
          <p:nvPr>
            <p:ph idx="1"/>
            <p:extLst>
              <p:ext uri="{D42A27DB-BD31-4B8C-83A1-F6EECF244321}">
                <p14:modId xmlns:p14="http://schemas.microsoft.com/office/powerpoint/2010/main" val="2847893057"/>
              </p:ext>
            </p:extLst>
          </p:nvPr>
        </p:nvGraphicFramePr>
        <p:xfrm>
          <a:off x="883920" y="1686560"/>
          <a:ext cx="10424160" cy="4966360"/>
        </p:xfrm>
        <a:graphic>
          <a:graphicData uri="http://schemas.openxmlformats.org/drawingml/2006/table">
            <a:tbl>
              <a:tblPr/>
              <a:tblGrid>
                <a:gridCol w="2084832">
                  <a:extLst>
                    <a:ext uri="{9D8B030D-6E8A-4147-A177-3AD203B41FA5}">
                      <a16:colId xmlns:a16="http://schemas.microsoft.com/office/drawing/2014/main" val="1156410475"/>
                    </a:ext>
                  </a:extLst>
                </a:gridCol>
                <a:gridCol w="2084832">
                  <a:extLst>
                    <a:ext uri="{9D8B030D-6E8A-4147-A177-3AD203B41FA5}">
                      <a16:colId xmlns:a16="http://schemas.microsoft.com/office/drawing/2014/main" val="1971877198"/>
                    </a:ext>
                  </a:extLst>
                </a:gridCol>
                <a:gridCol w="2084832">
                  <a:extLst>
                    <a:ext uri="{9D8B030D-6E8A-4147-A177-3AD203B41FA5}">
                      <a16:colId xmlns:a16="http://schemas.microsoft.com/office/drawing/2014/main" val="3924617619"/>
                    </a:ext>
                  </a:extLst>
                </a:gridCol>
                <a:gridCol w="2084832">
                  <a:extLst>
                    <a:ext uri="{9D8B030D-6E8A-4147-A177-3AD203B41FA5}">
                      <a16:colId xmlns:a16="http://schemas.microsoft.com/office/drawing/2014/main" val="1440455084"/>
                    </a:ext>
                  </a:extLst>
                </a:gridCol>
                <a:gridCol w="2084832">
                  <a:extLst>
                    <a:ext uri="{9D8B030D-6E8A-4147-A177-3AD203B41FA5}">
                      <a16:colId xmlns:a16="http://schemas.microsoft.com/office/drawing/2014/main" val="1458802653"/>
                    </a:ext>
                  </a:extLst>
                </a:gridCol>
              </a:tblGrid>
              <a:tr h="648885">
                <a:tc>
                  <a:txBody>
                    <a:bodyPr/>
                    <a:lstStyle/>
                    <a:p>
                      <a:pPr>
                        <a:buNone/>
                      </a:pPr>
                      <a:r>
                        <a:rPr lang="en-IN" sz="1400" b="1"/>
                        <a:t>Stage</a:t>
                      </a:r>
                      <a:endParaRPr lang="en-IN" sz="1400"/>
                    </a:p>
                  </a:txBody>
                  <a:tcPr marL="52430" marR="52430" marT="26215" marB="26215" anchor="ctr">
                    <a:lnL>
                      <a:noFill/>
                    </a:lnL>
                    <a:lnR>
                      <a:noFill/>
                    </a:lnR>
                    <a:lnT>
                      <a:noFill/>
                    </a:lnT>
                    <a:lnB>
                      <a:noFill/>
                    </a:lnB>
                    <a:noFill/>
                  </a:tcPr>
                </a:tc>
                <a:tc>
                  <a:txBody>
                    <a:bodyPr/>
                    <a:lstStyle/>
                    <a:p>
                      <a:pPr>
                        <a:buNone/>
                      </a:pPr>
                      <a:r>
                        <a:rPr lang="en-IN" sz="1400" b="1"/>
                        <a:t>Age Range</a:t>
                      </a:r>
                      <a:endParaRPr lang="en-IN" sz="1400"/>
                    </a:p>
                  </a:txBody>
                  <a:tcPr marL="52430" marR="52430" marT="26215" marB="26215" anchor="ctr">
                    <a:lnL>
                      <a:noFill/>
                    </a:lnL>
                    <a:lnR>
                      <a:noFill/>
                    </a:lnR>
                    <a:lnT>
                      <a:noFill/>
                    </a:lnT>
                    <a:lnB>
                      <a:noFill/>
                    </a:lnB>
                    <a:noFill/>
                  </a:tcPr>
                </a:tc>
                <a:tc>
                  <a:txBody>
                    <a:bodyPr/>
                    <a:lstStyle/>
                    <a:p>
                      <a:pPr>
                        <a:buNone/>
                      </a:pPr>
                      <a:r>
                        <a:rPr lang="en-IN" sz="1400" b="1"/>
                        <a:t>Crisis (Conflict)</a:t>
                      </a:r>
                      <a:endParaRPr lang="en-IN" sz="1400"/>
                    </a:p>
                  </a:txBody>
                  <a:tcPr marL="52430" marR="52430" marT="26215" marB="26215" anchor="ctr">
                    <a:lnL>
                      <a:noFill/>
                    </a:lnL>
                    <a:lnR>
                      <a:noFill/>
                    </a:lnR>
                    <a:lnT>
                      <a:noFill/>
                    </a:lnT>
                    <a:lnB>
                      <a:noFill/>
                    </a:lnB>
                    <a:noFill/>
                  </a:tcPr>
                </a:tc>
                <a:tc>
                  <a:txBody>
                    <a:bodyPr/>
                    <a:lstStyle/>
                    <a:p>
                      <a:pPr>
                        <a:buNone/>
                      </a:pPr>
                      <a:r>
                        <a:rPr lang="en-IN" sz="1400" b="1"/>
                        <a:t>Positive Outcome (Virtue)</a:t>
                      </a:r>
                      <a:endParaRPr lang="en-IN" sz="1400"/>
                    </a:p>
                  </a:txBody>
                  <a:tcPr marL="52430" marR="52430" marT="26215" marB="26215" anchor="ctr">
                    <a:lnL>
                      <a:noFill/>
                    </a:lnL>
                    <a:lnR>
                      <a:noFill/>
                    </a:lnR>
                    <a:lnT>
                      <a:noFill/>
                    </a:lnT>
                    <a:lnB>
                      <a:noFill/>
                    </a:lnB>
                    <a:noFill/>
                  </a:tcPr>
                </a:tc>
                <a:tc>
                  <a:txBody>
                    <a:bodyPr/>
                    <a:lstStyle/>
                    <a:p>
                      <a:pPr>
                        <a:buNone/>
                      </a:pPr>
                      <a:r>
                        <a:rPr lang="en-IN" sz="1400" b="1"/>
                        <a:t>Negative Outcome</a:t>
                      </a:r>
                      <a:endParaRPr lang="en-IN" sz="1400"/>
                    </a:p>
                  </a:txBody>
                  <a:tcPr marL="52430" marR="52430" marT="26215" marB="26215" anchor="ctr">
                    <a:lnL>
                      <a:noFill/>
                    </a:lnL>
                    <a:lnR>
                      <a:noFill/>
                    </a:lnR>
                    <a:lnT>
                      <a:noFill/>
                    </a:lnT>
                    <a:lnB>
                      <a:noFill/>
                    </a:lnB>
                    <a:noFill/>
                  </a:tcPr>
                </a:tc>
                <a:extLst>
                  <a:ext uri="{0D108BD9-81ED-4DB2-BD59-A6C34878D82A}">
                    <a16:rowId xmlns:a16="http://schemas.microsoft.com/office/drawing/2014/main" val="2778308847"/>
                  </a:ext>
                </a:extLst>
              </a:tr>
              <a:tr h="454220">
                <a:tc>
                  <a:txBody>
                    <a:bodyPr/>
                    <a:lstStyle/>
                    <a:p>
                      <a:pPr>
                        <a:buNone/>
                      </a:pPr>
                      <a:r>
                        <a:rPr lang="en-IN" sz="1400" b="1"/>
                        <a:t>1. Trust vs. Mistrust</a:t>
                      </a:r>
                      <a:endParaRPr lang="en-IN" sz="1400"/>
                    </a:p>
                  </a:txBody>
                  <a:tcPr marL="52430" marR="52430" marT="26215" marB="26215" anchor="ctr">
                    <a:lnL>
                      <a:noFill/>
                    </a:lnL>
                    <a:lnR>
                      <a:noFill/>
                    </a:lnR>
                    <a:lnT>
                      <a:noFill/>
                    </a:lnT>
                    <a:lnB>
                      <a:noFill/>
                    </a:lnB>
                    <a:noFill/>
                  </a:tcPr>
                </a:tc>
                <a:tc>
                  <a:txBody>
                    <a:bodyPr/>
                    <a:lstStyle/>
                    <a:p>
                      <a:pPr>
                        <a:buNone/>
                      </a:pPr>
                      <a:r>
                        <a:rPr lang="en-IN" sz="1400"/>
                        <a:t>0 – 1 year</a:t>
                      </a:r>
                    </a:p>
                  </a:txBody>
                  <a:tcPr marL="52430" marR="52430" marT="26215" marB="26215" anchor="ctr">
                    <a:lnL>
                      <a:noFill/>
                    </a:lnL>
                    <a:lnR>
                      <a:noFill/>
                    </a:lnR>
                    <a:lnT>
                      <a:noFill/>
                    </a:lnT>
                    <a:lnB>
                      <a:noFill/>
                    </a:lnB>
                    <a:noFill/>
                  </a:tcPr>
                </a:tc>
                <a:tc>
                  <a:txBody>
                    <a:bodyPr/>
                    <a:lstStyle/>
                    <a:p>
                      <a:pPr>
                        <a:buNone/>
                      </a:pPr>
                      <a:r>
                        <a:rPr lang="en-IN" sz="1400"/>
                        <a:t>Developing trust in caregivers</a:t>
                      </a:r>
                    </a:p>
                  </a:txBody>
                  <a:tcPr marL="52430" marR="52430" marT="26215" marB="26215" anchor="ctr">
                    <a:lnL>
                      <a:noFill/>
                    </a:lnL>
                    <a:lnR>
                      <a:noFill/>
                    </a:lnR>
                    <a:lnT>
                      <a:noFill/>
                    </a:lnT>
                    <a:lnB>
                      <a:noFill/>
                    </a:lnB>
                    <a:noFill/>
                  </a:tcPr>
                </a:tc>
                <a:tc>
                  <a:txBody>
                    <a:bodyPr/>
                    <a:lstStyle/>
                    <a:p>
                      <a:pPr>
                        <a:buNone/>
                      </a:pPr>
                      <a:r>
                        <a:rPr lang="en-IN" sz="1400" b="1"/>
                        <a:t>Hope</a:t>
                      </a:r>
                      <a:endParaRPr lang="en-IN" sz="1400"/>
                    </a:p>
                  </a:txBody>
                  <a:tcPr marL="52430" marR="52430" marT="26215" marB="26215" anchor="ctr">
                    <a:lnL>
                      <a:noFill/>
                    </a:lnL>
                    <a:lnR>
                      <a:noFill/>
                    </a:lnR>
                    <a:lnT>
                      <a:noFill/>
                    </a:lnT>
                    <a:lnB>
                      <a:noFill/>
                    </a:lnB>
                    <a:noFill/>
                  </a:tcPr>
                </a:tc>
                <a:tc>
                  <a:txBody>
                    <a:bodyPr/>
                    <a:lstStyle/>
                    <a:p>
                      <a:pPr>
                        <a:buNone/>
                      </a:pPr>
                      <a:r>
                        <a:rPr lang="en-IN" sz="1400"/>
                        <a:t>Fear, insecurity</a:t>
                      </a:r>
                    </a:p>
                  </a:txBody>
                  <a:tcPr marL="52430" marR="52430" marT="26215" marB="26215" anchor="ctr">
                    <a:lnL>
                      <a:noFill/>
                    </a:lnL>
                    <a:lnR>
                      <a:noFill/>
                    </a:lnR>
                    <a:lnT>
                      <a:noFill/>
                    </a:lnT>
                    <a:lnB>
                      <a:noFill/>
                    </a:lnB>
                    <a:noFill/>
                  </a:tcPr>
                </a:tc>
                <a:extLst>
                  <a:ext uri="{0D108BD9-81ED-4DB2-BD59-A6C34878D82A}">
                    <a16:rowId xmlns:a16="http://schemas.microsoft.com/office/drawing/2014/main" val="3330891315"/>
                  </a:ext>
                </a:extLst>
              </a:tr>
              <a:tr h="648885">
                <a:tc>
                  <a:txBody>
                    <a:bodyPr/>
                    <a:lstStyle/>
                    <a:p>
                      <a:pPr>
                        <a:buNone/>
                      </a:pPr>
                      <a:r>
                        <a:rPr lang="en-US" sz="1400" b="1"/>
                        <a:t>2. Autonomy vs. Shame &amp; Doubt</a:t>
                      </a:r>
                      <a:endParaRPr lang="en-US" sz="1400"/>
                    </a:p>
                  </a:txBody>
                  <a:tcPr marL="52430" marR="52430" marT="26215" marB="26215" anchor="ctr">
                    <a:lnL>
                      <a:noFill/>
                    </a:lnL>
                    <a:lnR>
                      <a:noFill/>
                    </a:lnR>
                    <a:lnT>
                      <a:noFill/>
                    </a:lnT>
                    <a:lnB>
                      <a:noFill/>
                    </a:lnB>
                    <a:noFill/>
                  </a:tcPr>
                </a:tc>
                <a:tc>
                  <a:txBody>
                    <a:bodyPr/>
                    <a:lstStyle/>
                    <a:p>
                      <a:pPr>
                        <a:buNone/>
                      </a:pPr>
                      <a:r>
                        <a:rPr lang="en-IN" sz="1400"/>
                        <a:t>1 – 3 years</a:t>
                      </a:r>
                    </a:p>
                  </a:txBody>
                  <a:tcPr marL="52430" marR="52430" marT="26215" marB="26215" anchor="ctr">
                    <a:lnL>
                      <a:noFill/>
                    </a:lnL>
                    <a:lnR>
                      <a:noFill/>
                    </a:lnR>
                    <a:lnT>
                      <a:noFill/>
                    </a:lnT>
                    <a:lnB>
                      <a:noFill/>
                    </a:lnB>
                    <a:noFill/>
                  </a:tcPr>
                </a:tc>
                <a:tc>
                  <a:txBody>
                    <a:bodyPr/>
                    <a:lstStyle/>
                    <a:p>
                      <a:pPr>
                        <a:buNone/>
                      </a:pPr>
                      <a:r>
                        <a:rPr lang="en-IN" sz="1400"/>
                        <a:t>Independence in walking, choosing</a:t>
                      </a:r>
                    </a:p>
                  </a:txBody>
                  <a:tcPr marL="52430" marR="52430" marT="26215" marB="26215" anchor="ctr">
                    <a:lnL>
                      <a:noFill/>
                    </a:lnL>
                    <a:lnR>
                      <a:noFill/>
                    </a:lnR>
                    <a:lnT>
                      <a:noFill/>
                    </a:lnT>
                    <a:lnB>
                      <a:noFill/>
                    </a:lnB>
                    <a:noFill/>
                  </a:tcPr>
                </a:tc>
                <a:tc>
                  <a:txBody>
                    <a:bodyPr/>
                    <a:lstStyle/>
                    <a:p>
                      <a:pPr>
                        <a:buNone/>
                      </a:pPr>
                      <a:r>
                        <a:rPr lang="en-IN" sz="1400" b="1"/>
                        <a:t>Willpower</a:t>
                      </a:r>
                      <a:endParaRPr lang="en-IN" sz="1400"/>
                    </a:p>
                  </a:txBody>
                  <a:tcPr marL="52430" marR="52430" marT="26215" marB="26215" anchor="ctr">
                    <a:lnL>
                      <a:noFill/>
                    </a:lnL>
                    <a:lnR>
                      <a:noFill/>
                    </a:lnR>
                    <a:lnT>
                      <a:noFill/>
                    </a:lnT>
                    <a:lnB>
                      <a:noFill/>
                    </a:lnB>
                    <a:noFill/>
                  </a:tcPr>
                </a:tc>
                <a:tc>
                  <a:txBody>
                    <a:bodyPr/>
                    <a:lstStyle/>
                    <a:p>
                      <a:pPr>
                        <a:buNone/>
                      </a:pPr>
                      <a:r>
                        <a:rPr lang="en-IN" sz="1400"/>
                        <a:t>Shame, doubt, dependence</a:t>
                      </a:r>
                    </a:p>
                  </a:txBody>
                  <a:tcPr marL="52430" marR="52430" marT="26215" marB="26215" anchor="ctr">
                    <a:lnL>
                      <a:noFill/>
                    </a:lnL>
                    <a:lnR>
                      <a:noFill/>
                    </a:lnR>
                    <a:lnT>
                      <a:noFill/>
                    </a:lnT>
                    <a:lnB>
                      <a:noFill/>
                    </a:lnB>
                    <a:noFill/>
                  </a:tcPr>
                </a:tc>
                <a:extLst>
                  <a:ext uri="{0D108BD9-81ED-4DB2-BD59-A6C34878D82A}">
                    <a16:rowId xmlns:a16="http://schemas.microsoft.com/office/drawing/2014/main" val="2794732982"/>
                  </a:ext>
                </a:extLst>
              </a:tr>
              <a:tr h="454220">
                <a:tc>
                  <a:txBody>
                    <a:bodyPr/>
                    <a:lstStyle/>
                    <a:p>
                      <a:pPr>
                        <a:buNone/>
                      </a:pPr>
                      <a:r>
                        <a:rPr lang="en-IN" sz="1400" b="1"/>
                        <a:t>3. Initiative vs. Guilt</a:t>
                      </a:r>
                      <a:endParaRPr lang="en-IN" sz="1400"/>
                    </a:p>
                  </a:txBody>
                  <a:tcPr marL="52430" marR="52430" marT="26215" marB="26215" anchor="ctr">
                    <a:lnL>
                      <a:noFill/>
                    </a:lnL>
                    <a:lnR>
                      <a:noFill/>
                    </a:lnR>
                    <a:lnT>
                      <a:noFill/>
                    </a:lnT>
                    <a:lnB>
                      <a:noFill/>
                    </a:lnB>
                    <a:noFill/>
                  </a:tcPr>
                </a:tc>
                <a:tc>
                  <a:txBody>
                    <a:bodyPr/>
                    <a:lstStyle/>
                    <a:p>
                      <a:pPr>
                        <a:buNone/>
                      </a:pPr>
                      <a:r>
                        <a:rPr lang="en-IN" sz="1400"/>
                        <a:t>3 – 6 years</a:t>
                      </a:r>
                    </a:p>
                  </a:txBody>
                  <a:tcPr marL="52430" marR="52430" marT="26215" marB="26215" anchor="ctr">
                    <a:lnL>
                      <a:noFill/>
                    </a:lnL>
                    <a:lnR>
                      <a:noFill/>
                    </a:lnR>
                    <a:lnT>
                      <a:noFill/>
                    </a:lnT>
                    <a:lnB>
                      <a:noFill/>
                    </a:lnB>
                    <a:noFill/>
                  </a:tcPr>
                </a:tc>
                <a:tc>
                  <a:txBody>
                    <a:bodyPr/>
                    <a:lstStyle/>
                    <a:p>
                      <a:pPr>
                        <a:buNone/>
                      </a:pPr>
                      <a:r>
                        <a:rPr lang="en-US" sz="1400"/>
                        <a:t>Taking initiative in play, activities</a:t>
                      </a:r>
                    </a:p>
                  </a:txBody>
                  <a:tcPr marL="52430" marR="52430" marT="26215" marB="26215" anchor="ctr">
                    <a:lnL>
                      <a:noFill/>
                    </a:lnL>
                    <a:lnR>
                      <a:noFill/>
                    </a:lnR>
                    <a:lnT>
                      <a:noFill/>
                    </a:lnT>
                    <a:lnB>
                      <a:noFill/>
                    </a:lnB>
                    <a:noFill/>
                  </a:tcPr>
                </a:tc>
                <a:tc>
                  <a:txBody>
                    <a:bodyPr/>
                    <a:lstStyle/>
                    <a:p>
                      <a:pPr>
                        <a:buNone/>
                      </a:pPr>
                      <a:r>
                        <a:rPr lang="en-IN" sz="1400" b="1"/>
                        <a:t>Purpose</a:t>
                      </a:r>
                      <a:endParaRPr lang="en-IN" sz="1400"/>
                    </a:p>
                  </a:txBody>
                  <a:tcPr marL="52430" marR="52430" marT="26215" marB="26215" anchor="ctr">
                    <a:lnL>
                      <a:noFill/>
                    </a:lnL>
                    <a:lnR>
                      <a:noFill/>
                    </a:lnR>
                    <a:lnT>
                      <a:noFill/>
                    </a:lnT>
                    <a:lnB>
                      <a:noFill/>
                    </a:lnB>
                    <a:noFill/>
                  </a:tcPr>
                </a:tc>
                <a:tc>
                  <a:txBody>
                    <a:bodyPr/>
                    <a:lstStyle/>
                    <a:p>
                      <a:pPr>
                        <a:buNone/>
                      </a:pPr>
                      <a:r>
                        <a:rPr lang="en-IN" sz="1400"/>
                        <a:t>Guilt, overcontrol</a:t>
                      </a:r>
                    </a:p>
                  </a:txBody>
                  <a:tcPr marL="52430" marR="52430" marT="26215" marB="26215" anchor="ctr">
                    <a:lnL>
                      <a:noFill/>
                    </a:lnL>
                    <a:lnR>
                      <a:noFill/>
                    </a:lnR>
                    <a:lnT>
                      <a:noFill/>
                    </a:lnT>
                    <a:lnB>
                      <a:noFill/>
                    </a:lnB>
                    <a:noFill/>
                  </a:tcPr>
                </a:tc>
                <a:extLst>
                  <a:ext uri="{0D108BD9-81ED-4DB2-BD59-A6C34878D82A}">
                    <a16:rowId xmlns:a16="http://schemas.microsoft.com/office/drawing/2014/main" val="2430068612"/>
                  </a:ext>
                </a:extLst>
              </a:tr>
              <a:tr h="454220">
                <a:tc>
                  <a:txBody>
                    <a:bodyPr/>
                    <a:lstStyle/>
                    <a:p>
                      <a:pPr>
                        <a:buNone/>
                      </a:pPr>
                      <a:r>
                        <a:rPr lang="en-IN" sz="1400" b="1"/>
                        <a:t>4. Industry vs. Inferiority</a:t>
                      </a:r>
                      <a:endParaRPr lang="en-IN" sz="1400"/>
                    </a:p>
                  </a:txBody>
                  <a:tcPr marL="52430" marR="52430" marT="26215" marB="26215" anchor="ctr">
                    <a:lnL>
                      <a:noFill/>
                    </a:lnL>
                    <a:lnR>
                      <a:noFill/>
                    </a:lnR>
                    <a:lnT>
                      <a:noFill/>
                    </a:lnT>
                    <a:lnB>
                      <a:noFill/>
                    </a:lnB>
                    <a:noFill/>
                  </a:tcPr>
                </a:tc>
                <a:tc>
                  <a:txBody>
                    <a:bodyPr/>
                    <a:lstStyle/>
                    <a:p>
                      <a:pPr>
                        <a:buNone/>
                      </a:pPr>
                      <a:r>
                        <a:rPr lang="en-IN" sz="1400"/>
                        <a:t>6 – 12 years</a:t>
                      </a:r>
                    </a:p>
                  </a:txBody>
                  <a:tcPr marL="52430" marR="52430" marT="26215" marB="26215" anchor="ctr">
                    <a:lnL>
                      <a:noFill/>
                    </a:lnL>
                    <a:lnR>
                      <a:noFill/>
                    </a:lnR>
                    <a:lnT>
                      <a:noFill/>
                    </a:lnT>
                    <a:lnB>
                      <a:noFill/>
                    </a:lnB>
                    <a:noFill/>
                  </a:tcPr>
                </a:tc>
                <a:tc>
                  <a:txBody>
                    <a:bodyPr/>
                    <a:lstStyle/>
                    <a:p>
                      <a:pPr>
                        <a:buNone/>
                      </a:pPr>
                      <a:r>
                        <a:rPr lang="en-IN" sz="1400"/>
                        <a:t>Learning skills, school activities</a:t>
                      </a:r>
                    </a:p>
                  </a:txBody>
                  <a:tcPr marL="52430" marR="52430" marT="26215" marB="26215" anchor="ctr">
                    <a:lnL>
                      <a:noFill/>
                    </a:lnL>
                    <a:lnR>
                      <a:noFill/>
                    </a:lnR>
                    <a:lnT>
                      <a:noFill/>
                    </a:lnT>
                    <a:lnB>
                      <a:noFill/>
                    </a:lnB>
                    <a:noFill/>
                  </a:tcPr>
                </a:tc>
                <a:tc>
                  <a:txBody>
                    <a:bodyPr/>
                    <a:lstStyle/>
                    <a:p>
                      <a:pPr>
                        <a:buNone/>
                      </a:pPr>
                      <a:r>
                        <a:rPr lang="en-IN" sz="1400" b="1"/>
                        <a:t>Competence</a:t>
                      </a:r>
                      <a:endParaRPr lang="en-IN" sz="1400"/>
                    </a:p>
                  </a:txBody>
                  <a:tcPr marL="52430" marR="52430" marT="26215" marB="26215" anchor="ctr">
                    <a:lnL>
                      <a:noFill/>
                    </a:lnL>
                    <a:lnR>
                      <a:noFill/>
                    </a:lnR>
                    <a:lnT>
                      <a:noFill/>
                    </a:lnT>
                    <a:lnB>
                      <a:noFill/>
                    </a:lnB>
                    <a:noFill/>
                  </a:tcPr>
                </a:tc>
                <a:tc>
                  <a:txBody>
                    <a:bodyPr/>
                    <a:lstStyle/>
                    <a:p>
                      <a:pPr>
                        <a:buNone/>
                      </a:pPr>
                      <a:r>
                        <a:rPr lang="en-IN" sz="1400" dirty="0"/>
                        <a:t>Inferiority, failure feelings</a:t>
                      </a:r>
                    </a:p>
                  </a:txBody>
                  <a:tcPr marL="52430" marR="52430" marT="26215" marB="26215" anchor="ctr">
                    <a:lnL>
                      <a:noFill/>
                    </a:lnL>
                    <a:lnR>
                      <a:noFill/>
                    </a:lnR>
                    <a:lnT>
                      <a:noFill/>
                    </a:lnT>
                    <a:lnB>
                      <a:noFill/>
                    </a:lnB>
                    <a:noFill/>
                  </a:tcPr>
                </a:tc>
                <a:extLst>
                  <a:ext uri="{0D108BD9-81ED-4DB2-BD59-A6C34878D82A}">
                    <a16:rowId xmlns:a16="http://schemas.microsoft.com/office/drawing/2014/main" val="1291998893"/>
                  </a:ext>
                </a:extLst>
              </a:tr>
              <a:tr h="648885">
                <a:tc>
                  <a:txBody>
                    <a:bodyPr/>
                    <a:lstStyle/>
                    <a:p>
                      <a:pPr>
                        <a:buNone/>
                      </a:pPr>
                      <a:r>
                        <a:rPr lang="fr-FR" sz="1400" b="1"/>
                        <a:t>5. Identity vs. Role Confusion</a:t>
                      </a:r>
                      <a:endParaRPr lang="fr-FR" sz="1400"/>
                    </a:p>
                  </a:txBody>
                  <a:tcPr marL="52430" marR="52430" marT="26215" marB="26215" anchor="ctr">
                    <a:lnL>
                      <a:noFill/>
                    </a:lnL>
                    <a:lnR>
                      <a:noFill/>
                    </a:lnR>
                    <a:lnT>
                      <a:noFill/>
                    </a:lnT>
                    <a:lnB>
                      <a:noFill/>
                    </a:lnB>
                    <a:noFill/>
                  </a:tcPr>
                </a:tc>
                <a:tc>
                  <a:txBody>
                    <a:bodyPr/>
                    <a:lstStyle/>
                    <a:p>
                      <a:pPr>
                        <a:buNone/>
                      </a:pPr>
                      <a:r>
                        <a:rPr lang="en-IN" sz="1400"/>
                        <a:t>12 – 18 years</a:t>
                      </a:r>
                    </a:p>
                  </a:txBody>
                  <a:tcPr marL="52430" marR="52430" marT="26215" marB="26215" anchor="ctr">
                    <a:lnL>
                      <a:noFill/>
                    </a:lnL>
                    <a:lnR>
                      <a:noFill/>
                    </a:lnR>
                    <a:lnT>
                      <a:noFill/>
                    </a:lnT>
                    <a:lnB>
                      <a:noFill/>
                    </a:lnB>
                    <a:noFill/>
                  </a:tcPr>
                </a:tc>
                <a:tc>
                  <a:txBody>
                    <a:bodyPr/>
                    <a:lstStyle/>
                    <a:p>
                      <a:pPr>
                        <a:buNone/>
                      </a:pPr>
                      <a:r>
                        <a:rPr lang="en-IN" sz="1400"/>
                        <a:t>Developing personal identity</a:t>
                      </a:r>
                    </a:p>
                  </a:txBody>
                  <a:tcPr marL="52430" marR="52430" marT="26215" marB="26215" anchor="ctr">
                    <a:lnL>
                      <a:noFill/>
                    </a:lnL>
                    <a:lnR>
                      <a:noFill/>
                    </a:lnR>
                    <a:lnT>
                      <a:noFill/>
                    </a:lnT>
                    <a:lnB>
                      <a:noFill/>
                    </a:lnB>
                    <a:noFill/>
                  </a:tcPr>
                </a:tc>
                <a:tc>
                  <a:txBody>
                    <a:bodyPr/>
                    <a:lstStyle/>
                    <a:p>
                      <a:pPr>
                        <a:buNone/>
                      </a:pPr>
                      <a:r>
                        <a:rPr lang="en-IN" sz="1400" b="1"/>
                        <a:t>Fidelity</a:t>
                      </a:r>
                      <a:endParaRPr lang="en-IN" sz="1400"/>
                    </a:p>
                  </a:txBody>
                  <a:tcPr marL="52430" marR="52430" marT="26215" marB="26215" anchor="ctr">
                    <a:lnL>
                      <a:noFill/>
                    </a:lnL>
                    <a:lnR>
                      <a:noFill/>
                    </a:lnR>
                    <a:lnT>
                      <a:noFill/>
                    </a:lnT>
                    <a:lnB>
                      <a:noFill/>
                    </a:lnB>
                    <a:noFill/>
                  </a:tcPr>
                </a:tc>
                <a:tc>
                  <a:txBody>
                    <a:bodyPr/>
                    <a:lstStyle/>
                    <a:p>
                      <a:pPr>
                        <a:buNone/>
                      </a:pPr>
                      <a:r>
                        <a:rPr lang="en-IN" sz="1400"/>
                        <a:t>Confusion about self</a:t>
                      </a:r>
                    </a:p>
                  </a:txBody>
                  <a:tcPr marL="52430" marR="52430" marT="26215" marB="26215" anchor="ctr">
                    <a:lnL>
                      <a:noFill/>
                    </a:lnL>
                    <a:lnR>
                      <a:noFill/>
                    </a:lnR>
                    <a:lnT>
                      <a:noFill/>
                    </a:lnT>
                    <a:lnB>
                      <a:noFill/>
                    </a:lnB>
                    <a:noFill/>
                  </a:tcPr>
                </a:tc>
                <a:extLst>
                  <a:ext uri="{0D108BD9-81ED-4DB2-BD59-A6C34878D82A}">
                    <a16:rowId xmlns:a16="http://schemas.microsoft.com/office/drawing/2014/main" val="2737468436"/>
                  </a:ext>
                </a:extLst>
              </a:tr>
              <a:tr h="454220">
                <a:tc>
                  <a:txBody>
                    <a:bodyPr/>
                    <a:lstStyle/>
                    <a:p>
                      <a:pPr>
                        <a:buNone/>
                      </a:pPr>
                      <a:r>
                        <a:rPr lang="en-IN" sz="1400" b="1"/>
                        <a:t>6. Intimacy vs. Isolation</a:t>
                      </a:r>
                      <a:endParaRPr lang="en-IN" sz="1400"/>
                    </a:p>
                  </a:txBody>
                  <a:tcPr marL="52430" marR="52430" marT="26215" marB="26215" anchor="ctr">
                    <a:lnL>
                      <a:noFill/>
                    </a:lnL>
                    <a:lnR>
                      <a:noFill/>
                    </a:lnR>
                    <a:lnT>
                      <a:noFill/>
                    </a:lnT>
                    <a:lnB>
                      <a:noFill/>
                    </a:lnB>
                    <a:noFill/>
                  </a:tcPr>
                </a:tc>
                <a:tc>
                  <a:txBody>
                    <a:bodyPr/>
                    <a:lstStyle/>
                    <a:p>
                      <a:pPr>
                        <a:buNone/>
                      </a:pPr>
                      <a:r>
                        <a:rPr lang="en-IN" sz="1400"/>
                        <a:t>18 – 40 years</a:t>
                      </a:r>
                    </a:p>
                  </a:txBody>
                  <a:tcPr marL="52430" marR="52430" marT="26215" marB="26215" anchor="ctr">
                    <a:lnL>
                      <a:noFill/>
                    </a:lnL>
                    <a:lnR>
                      <a:noFill/>
                    </a:lnR>
                    <a:lnT>
                      <a:noFill/>
                    </a:lnT>
                    <a:lnB>
                      <a:noFill/>
                    </a:lnB>
                    <a:noFill/>
                  </a:tcPr>
                </a:tc>
                <a:tc>
                  <a:txBody>
                    <a:bodyPr/>
                    <a:lstStyle/>
                    <a:p>
                      <a:pPr>
                        <a:buNone/>
                      </a:pPr>
                      <a:r>
                        <a:rPr lang="en-IN" sz="1400"/>
                        <a:t>Forming close relationships</a:t>
                      </a:r>
                    </a:p>
                  </a:txBody>
                  <a:tcPr marL="52430" marR="52430" marT="26215" marB="26215" anchor="ctr">
                    <a:lnL>
                      <a:noFill/>
                    </a:lnL>
                    <a:lnR>
                      <a:noFill/>
                    </a:lnR>
                    <a:lnT>
                      <a:noFill/>
                    </a:lnT>
                    <a:lnB>
                      <a:noFill/>
                    </a:lnB>
                    <a:noFill/>
                  </a:tcPr>
                </a:tc>
                <a:tc>
                  <a:txBody>
                    <a:bodyPr/>
                    <a:lstStyle/>
                    <a:p>
                      <a:pPr>
                        <a:buNone/>
                      </a:pPr>
                      <a:r>
                        <a:rPr lang="en-IN" sz="1400" b="1"/>
                        <a:t>Love</a:t>
                      </a:r>
                      <a:endParaRPr lang="en-IN" sz="1400"/>
                    </a:p>
                  </a:txBody>
                  <a:tcPr marL="52430" marR="52430" marT="26215" marB="26215" anchor="ctr">
                    <a:lnL>
                      <a:noFill/>
                    </a:lnL>
                    <a:lnR>
                      <a:noFill/>
                    </a:lnR>
                    <a:lnT>
                      <a:noFill/>
                    </a:lnT>
                    <a:lnB>
                      <a:noFill/>
                    </a:lnB>
                    <a:noFill/>
                  </a:tcPr>
                </a:tc>
                <a:tc>
                  <a:txBody>
                    <a:bodyPr/>
                    <a:lstStyle/>
                    <a:p>
                      <a:pPr>
                        <a:buNone/>
                      </a:pPr>
                      <a:r>
                        <a:rPr lang="en-IN" sz="1400"/>
                        <a:t>Loneliness, isolation</a:t>
                      </a:r>
                    </a:p>
                  </a:txBody>
                  <a:tcPr marL="52430" marR="52430" marT="26215" marB="26215" anchor="ctr">
                    <a:lnL>
                      <a:noFill/>
                    </a:lnL>
                    <a:lnR>
                      <a:noFill/>
                    </a:lnR>
                    <a:lnT>
                      <a:noFill/>
                    </a:lnT>
                    <a:lnB>
                      <a:noFill/>
                    </a:lnB>
                    <a:noFill/>
                  </a:tcPr>
                </a:tc>
                <a:extLst>
                  <a:ext uri="{0D108BD9-81ED-4DB2-BD59-A6C34878D82A}">
                    <a16:rowId xmlns:a16="http://schemas.microsoft.com/office/drawing/2014/main" val="2387447403"/>
                  </a:ext>
                </a:extLst>
              </a:tr>
              <a:tr h="648885">
                <a:tc>
                  <a:txBody>
                    <a:bodyPr/>
                    <a:lstStyle/>
                    <a:p>
                      <a:pPr>
                        <a:buNone/>
                      </a:pPr>
                      <a:r>
                        <a:rPr lang="en-IN" sz="1400" b="1"/>
                        <a:t>7. Generativity vs. Stagnation</a:t>
                      </a:r>
                      <a:endParaRPr lang="en-IN" sz="1400"/>
                    </a:p>
                  </a:txBody>
                  <a:tcPr marL="52430" marR="52430" marT="26215" marB="26215" anchor="ctr">
                    <a:lnL>
                      <a:noFill/>
                    </a:lnL>
                    <a:lnR>
                      <a:noFill/>
                    </a:lnR>
                    <a:lnT>
                      <a:noFill/>
                    </a:lnT>
                    <a:lnB>
                      <a:noFill/>
                    </a:lnB>
                    <a:noFill/>
                  </a:tcPr>
                </a:tc>
                <a:tc>
                  <a:txBody>
                    <a:bodyPr/>
                    <a:lstStyle/>
                    <a:p>
                      <a:pPr>
                        <a:buNone/>
                      </a:pPr>
                      <a:r>
                        <a:rPr lang="en-IN" sz="1400"/>
                        <a:t>40 – 65 years</a:t>
                      </a:r>
                    </a:p>
                  </a:txBody>
                  <a:tcPr marL="52430" marR="52430" marT="26215" marB="26215" anchor="ctr">
                    <a:lnL>
                      <a:noFill/>
                    </a:lnL>
                    <a:lnR>
                      <a:noFill/>
                    </a:lnR>
                    <a:lnT>
                      <a:noFill/>
                    </a:lnT>
                    <a:lnB>
                      <a:noFill/>
                    </a:lnB>
                    <a:noFill/>
                  </a:tcPr>
                </a:tc>
                <a:tc>
                  <a:txBody>
                    <a:bodyPr/>
                    <a:lstStyle/>
                    <a:p>
                      <a:pPr>
                        <a:buNone/>
                      </a:pPr>
                      <a:r>
                        <a:rPr lang="en-US" sz="1400"/>
                        <a:t>Contributing to society, work, family</a:t>
                      </a:r>
                    </a:p>
                  </a:txBody>
                  <a:tcPr marL="52430" marR="52430" marT="26215" marB="26215" anchor="ctr">
                    <a:lnL>
                      <a:noFill/>
                    </a:lnL>
                    <a:lnR>
                      <a:noFill/>
                    </a:lnR>
                    <a:lnT>
                      <a:noFill/>
                    </a:lnT>
                    <a:lnB>
                      <a:noFill/>
                    </a:lnB>
                    <a:noFill/>
                  </a:tcPr>
                </a:tc>
                <a:tc>
                  <a:txBody>
                    <a:bodyPr/>
                    <a:lstStyle/>
                    <a:p>
                      <a:pPr>
                        <a:buNone/>
                      </a:pPr>
                      <a:r>
                        <a:rPr lang="en-IN" sz="1400" b="1"/>
                        <a:t>Care</a:t>
                      </a:r>
                      <a:endParaRPr lang="en-IN" sz="1400"/>
                    </a:p>
                  </a:txBody>
                  <a:tcPr marL="52430" marR="52430" marT="26215" marB="26215" anchor="ctr">
                    <a:lnL>
                      <a:noFill/>
                    </a:lnL>
                    <a:lnR>
                      <a:noFill/>
                    </a:lnR>
                    <a:lnT>
                      <a:noFill/>
                    </a:lnT>
                    <a:lnB>
                      <a:noFill/>
                    </a:lnB>
                    <a:noFill/>
                  </a:tcPr>
                </a:tc>
                <a:tc>
                  <a:txBody>
                    <a:bodyPr/>
                    <a:lstStyle/>
                    <a:p>
                      <a:pPr>
                        <a:buNone/>
                      </a:pPr>
                      <a:r>
                        <a:rPr lang="en-IN" sz="1400"/>
                        <a:t>Stagnation, unproductiveness</a:t>
                      </a:r>
                    </a:p>
                  </a:txBody>
                  <a:tcPr marL="52430" marR="52430" marT="26215" marB="26215" anchor="ctr">
                    <a:lnL>
                      <a:noFill/>
                    </a:lnL>
                    <a:lnR>
                      <a:noFill/>
                    </a:lnR>
                    <a:lnT>
                      <a:noFill/>
                    </a:lnT>
                    <a:lnB>
                      <a:noFill/>
                    </a:lnB>
                    <a:noFill/>
                  </a:tcPr>
                </a:tc>
                <a:extLst>
                  <a:ext uri="{0D108BD9-81ED-4DB2-BD59-A6C34878D82A}">
                    <a16:rowId xmlns:a16="http://schemas.microsoft.com/office/drawing/2014/main" val="2509248996"/>
                  </a:ext>
                </a:extLst>
              </a:tr>
              <a:tr h="454220">
                <a:tc>
                  <a:txBody>
                    <a:bodyPr/>
                    <a:lstStyle/>
                    <a:p>
                      <a:pPr>
                        <a:buNone/>
                      </a:pPr>
                      <a:r>
                        <a:rPr lang="en-IN" sz="1400" b="1"/>
                        <a:t>8. Integrity vs. Despair</a:t>
                      </a:r>
                      <a:endParaRPr lang="en-IN" sz="1400"/>
                    </a:p>
                  </a:txBody>
                  <a:tcPr marL="52430" marR="52430" marT="26215" marB="26215" anchor="ctr">
                    <a:lnL>
                      <a:noFill/>
                    </a:lnL>
                    <a:lnR>
                      <a:noFill/>
                    </a:lnR>
                    <a:lnT>
                      <a:noFill/>
                    </a:lnT>
                    <a:lnB>
                      <a:noFill/>
                    </a:lnB>
                    <a:noFill/>
                  </a:tcPr>
                </a:tc>
                <a:tc>
                  <a:txBody>
                    <a:bodyPr/>
                    <a:lstStyle/>
                    <a:p>
                      <a:pPr>
                        <a:buNone/>
                      </a:pPr>
                      <a:r>
                        <a:rPr lang="en-IN" sz="1400"/>
                        <a:t>65+ years</a:t>
                      </a:r>
                    </a:p>
                  </a:txBody>
                  <a:tcPr marL="52430" marR="52430" marT="26215" marB="26215" anchor="ctr">
                    <a:lnL>
                      <a:noFill/>
                    </a:lnL>
                    <a:lnR>
                      <a:noFill/>
                    </a:lnR>
                    <a:lnT>
                      <a:noFill/>
                    </a:lnT>
                    <a:lnB>
                      <a:noFill/>
                    </a:lnB>
                    <a:noFill/>
                  </a:tcPr>
                </a:tc>
                <a:tc>
                  <a:txBody>
                    <a:bodyPr/>
                    <a:lstStyle/>
                    <a:p>
                      <a:pPr>
                        <a:buNone/>
                      </a:pPr>
                      <a:r>
                        <a:rPr lang="en-IN" sz="1400"/>
                        <a:t>Reflecting on life</a:t>
                      </a:r>
                    </a:p>
                  </a:txBody>
                  <a:tcPr marL="52430" marR="52430" marT="26215" marB="26215" anchor="ctr">
                    <a:lnL>
                      <a:noFill/>
                    </a:lnL>
                    <a:lnR>
                      <a:noFill/>
                    </a:lnR>
                    <a:lnT>
                      <a:noFill/>
                    </a:lnT>
                    <a:lnB>
                      <a:noFill/>
                    </a:lnB>
                    <a:noFill/>
                  </a:tcPr>
                </a:tc>
                <a:tc>
                  <a:txBody>
                    <a:bodyPr/>
                    <a:lstStyle/>
                    <a:p>
                      <a:pPr>
                        <a:buNone/>
                      </a:pPr>
                      <a:r>
                        <a:rPr lang="en-IN" sz="1400" b="1"/>
                        <a:t>Wisdom</a:t>
                      </a:r>
                      <a:endParaRPr lang="en-IN" sz="1400"/>
                    </a:p>
                  </a:txBody>
                  <a:tcPr marL="52430" marR="52430" marT="26215" marB="26215" anchor="ctr">
                    <a:lnL>
                      <a:noFill/>
                    </a:lnL>
                    <a:lnR>
                      <a:noFill/>
                    </a:lnR>
                    <a:lnT>
                      <a:noFill/>
                    </a:lnT>
                    <a:lnB>
                      <a:noFill/>
                    </a:lnB>
                    <a:noFill/>
                  </a:tcPr>
                </a:tc>
                <a:tc>
                  <a:txBody>
                    <a:bodyPr/>
                    <a:lstStyle/>
                    <a:p>
                      <a:pPr>
                        <a:buNone/>
                      </a:pPr>
                      <a:r>
                        <a:rPr lang="en-IN" sz="1400" dirty="0"/>
                        <a:t>Regret, dissatisfaction</a:t>
                      </a:r>
                    </a:p>
                  </a:txBody>
                  <a:tcPr marL="52430" marR="52430" marT="26215" marB="26215" anchor="ctr">
                    <a:lnL>
                      <a:noFill/>
                    </a:lnL>
                    <a:lnR>
                      <a:noFill/>
                    </a:lnR>
                    <a:lnT>
                      <a:noFill/>
                    </a:lnT>
                    <a:lnB>
                      <a:noFill/>
                    </a:lnB>
                    <a:noFill/>
                  </a:tcPr>
                </a:tc>
                <a:extLst>
                  <a:ext uri="{0D108BD9-81ED-4DB2-BD59-A6C34878D82A}">
                    <a16:rowId xmlns:a16="http://schemas.microsoft.com/office/drawing/2014/main" val="1368620168"/>
                  </a:ext>
                </a:extLst>
              </a:tr>
            </a:tbl>
          </a:graphicData>
        </a:graphic>
      </p:graphicFrame>
    </p:spTree>
    <p:extLst>
      <p:ext uri="{BB962C8B-B14F-4D97-AF65-F5344CB8AC3E}">
        <p14:creationId xmlns:p14="http://schemas.microsoft.com/office/powerpoint/2010/main" val="163618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3DBEF-E492-88DB-EB0F-EFB004BA6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A5266-5BDC-E88E-5845-E1B46FAC6ABC}"/>
              </a:ext>
            </a:extLst>
          </p:cNvPr>
          <p:cNvSpPr>
            <a:spLocks noGrp="1"/>
          </p:cNvSpPr>
          <p:nvPr>
            <p:ph type="title"/>
          </p:nvPr>
        </p:nvSpPr>
        <p:spPr>
          <a:xfrm>
            <a:off x="985777" y="144882"/>
            <a:ext cx="10058400" cy="1371600"/>
          </a:xfrm>
        </p:spPr>
        <p:txBody>
          <a:bodyPr/>
          <a:lstStyle/>
          <a:p>
            <a:r>
              <a:rPr lang="en-IN" b="1" dirty="0"/>
              <a:t>Big 5 Personality Theory</a:t>
            </a:r>
            <a:endParaRPr lang="en-IN" dirty="0"/>
          </a:p>
        </p:txBody>
      </p:sp>
      <p:pic>
        <p:nvPicPr>
          <p:cNvPr id="6" name="Content Placeholder 5">
            <a:extLst>
              <a:ext uri="{FF2B5EF4-FFF2-40B4-BE49-F238E27FC236}">
                <a16:creationId xmlns:a16="http://schemas.microsoft.com/office/drawing/2014/main" id="{A4CDD5C9-052F-474D-9850-BE3A22327426}"/>
              </a:ext>
            </a:extLst>
          </p:cNvPr>
          <p:cNvPicPr>
            <a:picLocks noGrp="1" noChangeAspect="1"/>
          </p:cNvPicPr>
          <p:nvPr>
            <p:ph idx="1"/>
          </p:nvPr>
        </p:nvPicPr>
        <p:blipFill>
          <a:blip r:embed="rId2"/>
          <a:srcRect/>
          <a:stretch>
            <a:fillRect/>
          </a:stretch>
        </p:blipFill>
        <p:spPr bwMode="auto">
          <a:xfrm>
            <a:off x="2222339" y="1180618"/>
            <a:ext cx="7986531" cy="5440101"/>
          </a:xfrm>
          <a:prstGeom prst="rect">
            <a:avLst/>
          </a:prstGeom>
          <a:noFill/>
          <a:ln w="9525">
            <a:noFill/>
            <a:miter lim="800000"/>
            <a:headEnd/>
            <a:tailEnd/>
          </a:ln>
          <a:effectLst/>
        </p:spPr>
      </p:pic>
    </p:spTree>
    <p:extLst>
      <p:ext uri="{BB962C8B-B14F-4D97-AF65-F5344CB8AC3E}">
        <p14:creationId xmlns:p14="http://schemas.microsoft.com/office/powerpoint/2010/main" val="2072782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17A5C-4252-85AC-6BEC-63EAA5A26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EB2DC-5C73-95A8-1DD5-2FC954221594}"/>
              </a:ext>
            </a:extLst>
          </p:cNvPr>
          <p:cNvSpPr>
            <a:spLocks noGrp="1"/>
          </p:cNvSpPr>
          <p:nvPr>
            <p:ph type="title"/>
          </p:nvPr>
        </p:nvSpPr>
        <p:spPr>
          <a:xfrm>
            <a:off x="1066800" y="526846"/>
            <a:ext cx="10058400" cy="1371600"/>
          </a:xfrm>
        </p:spPr>
        <p:txBody>
          <a:bodyPr>
            <a:normAutofit fontScale="90000"/>
          </a:bodyPr>
          <a:lstStyle/>
          <a:p>
            <a:r>
              <a:rPr lang="en-US" b="1" dirty="0"/>
              <a:t>Jung’s Personality Theory of  Extraverts/ Introverts</a:t>
            </a:r>
            <a:endParaRPr lang="en-IN" dirty="0"/>
          </a:p>
        </p:txBody>
      </p:sp>
      <p:sp>
        <p:nvSpPr>
          <p:cNvPr id="8" name="Content Placeholder 7">
            <a:extLst>
              <a:ext uri="{FF2B5EF4-FFF2-40B4-BE49-F238E27FC236}">
                <a16:creationId xmlns:a16="http://schemas.microsoft.com/office/drawing/2014/main" id="{B955BAB9-81C4-1C64-1D1F-885797B1D741}"/>
              </a:ext>
            </a:extLst>
          </p:cNvPr>
          <p:cNvSpPr>
            <a:spLocks noGrp="1"/>
          </p:cNvSpPr>
          <p:nvPr>
            <p:ph idx="1"/>
          </p:nvPr>
        </p:nvSpPr>
        <p:spPr/>
        <p:txBody>
          <a:bodyPr/>
          <a:lstStyle/>
          <a:p>
            <a:r>
              <a:rPr lang="en-IN" b="1" dirty="0"/>
              <a:t>Introvert and extravert</a:t>
            </a:r>
            <a:r>
              <a:rPr lang="en-IN" dirty="0"/>
              <a:t>, basic personality types according to the theories of the 20th-century Swiss psychiatrist Carl Jung. According to these theories, an introvert is a person whose interest is generally directed inward toward his own feelings and thoughts, in contrast to an extravert, whose attention is directed toward other people and the outside world. The typical introvert is shy, contemplative, and reserved and tends to have difficulty adjusting to social situations. Excessive daydreaming and introspection, careful balancing of considerations before reaching decisions, and withdrawal under stress are also typical of the introverted personality. The extravert, by contrast, is characterized by outgoingness, responsiveness to other persons, activity, aggressiveness, and the ability to make quick decisions.</a:t>
            </a:r>
          </a:p>
          <a:p>
            <a:endParaRPr lang="en-IN" dirty="0"/>
          </a:p>
        </p:txBody>
      </p:sp>
    </p:spTree>
    <p:extLst>
      <p:ext uri="{BB962C8B-B14F-4D97-AF65-F5344CB8AC3E}">
        <p14:creationId xmlns:p14="http://schemas.microsoft.com/office/powerpoint/2010/main" val="3012644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133D5-EB32-D89C-D74D-52E0BB81A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94277-8DFE-89AF-C782-D02483A1BE2C}"/>
              </a:ext>
            </a:extLst>
          </p:cNvPr>
          <p:cNvSpPr>
            <a:spLocks noGrp="1"/>
          </p:cNvSpPr>
          <p:nvPr>
            <p:ph type="title"/>
          </p:nvPr>
        </p:nvSpPr>
        <p:spPr>
          <a:xfrm>
            <a:off x="1066800" y="526846"/>
            <a:ext cx="10058400" cy="1371600"/>
          </a:xfrm>
        </p:spPr>
        <p:txBody>
          <a:bodyPr>
            <a:normAutofit fontScale="90000"/>
          </a:bodyPr>
          <a:lstStyle/>
          <a:p>
            <a:r>
              <a:rPr lang="en-IN" dirty="0"/>
              <a:t> </a:t>
            </a:r>
            <a:br>
              <a:rPr lang="en-IN" dirty="0"/>
            </a:br>
            <a:r>
              <a:rPr lang="en-US" b="1" dirty="0"/>
              <a:t>Type A / Type B Theory of Personality by Meyer Friedman and Ray Rosenman</a:t>
            </a:r>
            <a:endParaRPr lang="en-IN" dirty="0"/>
          </a:p>
        </p:txBody>
      </p:sp>
      <p:sp>
        <p:nvSpPr>
          <p:cNvPr id="8" name="Content Placeholder 7">
            <a:extLst>
              <a:ext uri="{FF2B5EF4-FFF2-40B4-BE49-F238E27FC236}">
                <a16:creationId xmlns:a16="http://schemas.microsoft.com/office/drawing/2014/main" id="{21237243-B88D-F6AE-DB93-22467B7D79B1}"/>
              </a:ext>
            </a:extLst>
          </p:cNvPr>
          <p:cNvSpPr>
            <a:spLocks noGrp="1"/>
          </p:cNvSpPr>
          <p:nvPr>
            <p:ph idx="1"/>
          </p:nvPr>
        </p:nvSpPr>
        <p:spPr>
          <a:xfrm>
            <a:off x="1066800" y="2832325"/>
            <a:ext cx="10058400" cy="3931920"/>
          </a:xfrm>
        </p:spPr>
        <p:txBody>
          <a:bodyPr>
            <a:normAutofit/>
          </a:bodyPr>
          <a:lstStyle/>
          <a:p>
            <a:r>
              <a:rPr lang="en-IN" dirty="0"/>
              <a:t>This type of personality concerns how people respond to stress. </a:t>
            </a:r>
          </a:p>
          <a:p>
            <a:endParaRPr lang="en-IN" dirty="0"/>
          </a:p>
        </p:txBody>
      </p:sp>
    </p:spTree>
    <p:extLst>
      <p:ext uri="{BB962C8B-B14F-4D97-AF65-F5344CB8AC3E}">
        <p14:creationId xmlns:p14="http://schemas.microsoft.com/office/powerpoint/2010/main" val="3915580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7C5EE-6776-C909-012A-2E4477183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BB477-4E4B-E84A-C1DF-EC04F60BF0B3}"/>
              </a:ext>
            </a:extLst>
          </p:cNvPr>
          <p:cNvSpPr>
            <a:spLocks noGrp="1"/>
          </p:cNvSpPr>
          <p:nvPr>
            <p:ph type="title"/>
          </p:nvPr>
        </p:nvSpPr>
        <p:spPr>
          <a:xfrm>
            <a:off x="1066800" y="526846"/>
            <a:ext cx="10058400" cy="1371600"/>
          </a:xfrm>
        </p:spPr>
        <p:txBody>
          <a:bodyPr>
            <a:normAutofit fontScale="90000"/>
          </a:bodyPr>
          <a:lstStyle/>
          <a:p>
            <a:r>
              <a:rPr lang="en-IN" dirty="0"/>
              <a:t> </a:t>
            </a:r>
            <a:br>
              <a:rPr lang="en-IN" dirty="0"/>
            </a:br>
            <a:r>
              <a:rPr lang="en-US" b="1" dirty="0"/>
              <a:t>Type A / Type B Theory of Personality by Meyer Friedman and Ray Rosenman</a:t>
            </a:r>
            <a:endParaRPr lang="en-IN" dirty="0"/>
          </a:p>
        </p:txBody>
      </p:sp>
      <p:sp>
        <p:nvSpPr>
          <p:cNvPr id="8" name="Content Placeholder 7">
            <a:extLst>
              <a:ext uri="{FF2B5EF4-FFF2-40B4-BE49-F238E27FC236}">
                <a16:creationId xmlns:a16="http://schemas.microsoft.com/office/drawing/2014/main" id="{CAD8717A-EBD5-4072-E489-D4197072929D}"/>
              </a:ext>
            </a:extLst>
          </p:cNvPr>
          <p:cNvSpPr>
            <a:spLocks noGrp="1"/>
          </p:cNvSpPr>
          <p:nvPr>
            <p:ph idx="1"/>
          </p:nvPr>
        </p:nvSpPr>
        <p:spPr>
          <a:xfrm>
            <a:off x="1066800" y="2832325"/>
            <a:ext cx="10058400" cy="3931920"/>
          </a:xfrm>
        </p:spPr>
        <p:txBody>
          <a:bodyPr>
            <a:normAutofit/>
          </a:bodyPr>
          <a:lstStyle/>
          <a:p>
            <a:pPr marL="0" indent="0">
              <a:buNone/>
            </a:pPr>
            <a:r>
              <a:rPr lang="en-IN" b="1" dirty="0"/>
              <a:t>Type A Personality</a:t>
            </a:r>
            <a:endParaRPr lang="en-IN" dirty="0"/>
          </a:p>
          <a:p>
            <a:r>
              <a:rPr lang="en-IN" dirty="0"/>
              <a:t>Type A personality is characterized by a constant feeling of working against the clock and a strong sense of competitiveness. Individuals with a Type A personality generally experience a higher stress level, hate failure and find it difficult to stop working, even when they have achieved their goals. Type A individuals tend to be very competitive and self-critical. They strive toward goals without feeling a sense of joy in their efforts or accomplishments. Interrelated with this is the presence of a significant life imbalance.  This is characterized by a high work involvement.  Type A individuals are easily ‘wound up’ and tend to overreact. They also tend to have high blood pressure (hypertension). Type A individuals tend to be easily aroused to anger or hostility, which they may or may not express overtly. Such individuals tend to see the worse in others, displaying anger, envy and a lack of compassion.</a:t>
            </a:r>
          </a:p>
          <a:p>
            <a:endParaRPr lang="en-IN" dirty="0"/>
          </a:p>
        </p:txBody>
      </p:sp>
    </p:spTree>
    <p:extLst>
      <p:ext uri="{BB962C8B-B14F-4D97-AF65-F5344CB8AC3E}">
        <p14:creationId xmlns:p14="http://schemas.microsoft.com/office/powerpoint/2010/main" val="995439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4E40A-20C3-B42E-2054-5ED5C3CF3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12C19-89B0-DFFD-4D69-A097AF344EE1}"/>
              </a:ext>
            </a:extLst>
          </p:cNvPr>
          <p:cNvSpPr>
            <a:spLocks noGrp="1"/>
          </p:cNvSpPr>
          <p:nvPr>
            <p:ph type="title"/>
          </p:nvPr>
        </p:nvSpPr>
        <p:spPr>
          <a:xfrm>
            <a:off x="1066800" y="526846"/>
            <a:ext cx="10058400" cy="1371600"/>
          </a:xfrm>
        </p:spPr>
        <p:txBody>
          <a:bodyPr>
            <a:normAutofit fontScale="90000"/>
          </a:bodyPr>
          <a:lstStyle/>
          <a:p>
            <a:r>
              <a:rPr lang="en-IN" dirty="0"/>
              <a:t> </a:t>
            </a:r>
            <a:br>
              <a:rPr lang="en-IN" dirty="0"/>
            </a:br>
            <a:r>
              <a:rPr lang="en-US" b="1" dirty="0"/>
              <a:t>Type A / Type B Theory of Personality by Meyer Friedman and Ray Rosenman</a:t>
            </a:r>
            <a:endParaRPr lang="en-IN" dirty="0"/>
          </a:p>
        </p:txBody>
      </p:sp>
      <p:sp>
        <p:nvSpPr>
          <p:cNvPr id="8" name="Content Placeholder 7">
            <a:extLst>
              <a:ext uri="{FF2B5EF4-FFF2-40B4-BE49-F238E27FC236}">
                <a16:creationId xmlns:a16="http://schemas.microsoft.com/office/drawing/2014/main" id="{0847EE9B-20FA-2F9C-D7DE-7155852C93BC}"/>
              </a:ext>
            </a:extLst>
          </p:cNvPr>
          <p:cNvSpPr>
            <a:spLocks noGrp="1"/>
          </p:cNvSpPr>
          <p:nvPr>
            <p:ph idx="1"/>
          </p:nvPr>
        </p:nvSpPr>
        <p:spPr>
          <a:xfrm>
            <a:off x="1066800" y="2832325"/>
            <a:ext cx="10058400" cy="3931920"/>
          </a:xfrm>
        </p:spPr>
        <p:txBody>
          <a:bodyPr>
            <a:normAutofit/>
          </a:bodyPr>
          <a:lstStyle/>
          <a:p>
            <a:pPr marL="0" indent="0">
              <a:buNone/>
            </a:pPr>
            <a:r>
              <a:rPr lang="en-IN" b="1" dirty="0"/>
              <a:t>Type B  Personality</a:t>
            </a:r>
          </a:p>
          <a:p>
            <a:r>
              <a:rPr lang="en-IN" dirty="0"/>
              <a:t>Type B personality is characterized by a relaxed, patient, and easy-going nature. Individuals with a Type B personality work steadily, enjoying achievements, but do not tend to become stress when goals are not achieved. People with Type B personality tend to be more tolerant of others, are more relaxed than Type A individuals, more reflective, experience lower levels of anxiety and display a higher level of imagination and creativity.</a:t>
            </a:r>
          </a:p>
          <a:p>
            <a:endParaRPr lang="en-IN" dirty="0"/>
          </a:p>
        </p:txBody>
      </p:sp>
    </p:spTree>
    <p:extLst>
      <p:ext uri="{BB962C8B-B14F-4D97-AF65-F5344CB8AC3E}">
        <p14:creationId xmlns:p14="http://schemas.microsoft.com/office/powerpoint/2010/main" val="1290772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31B4B-B82F-3CC4-ACBB-C5135E39D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33079-6F61-506C-E6F2-36C4D9637845}"/>
              </a:ext>
            </a:extLst>
          </p:cNvPr>
          <p:cNvSpPr>
            <a:spLocks noGrp="1"/>
          </p:cNvSpPr>
          <p:nvPr>
            <p:ph type="title"/>
          </p:nvPr>
        </p:nvSpPr>
        <p:spPr>
          <a:xfrm>
            <a:off x="1066800" y="526846"/>
            <a:ext cx="10058400" cy="1371600"/>
          </a:xfrm>
        </p:spPr>
        <p:txBody>
          <a:bodyPr>
            <a:normAutofit fontScale="90000"/>
          </a:bodyPr>
          <a:lstStyle/>
          <a:p>
            <a:r>
              <a:rPr lang="en-IN" b="1" dirty="0"/>
              <a:t>Bandura’s Social Learning Theory of Personality</a:t>
            </a:r>
            <a:endParaRPr lang="en-IN" dirty="0"/>
          </a:p>
        </p:txBody>
      </p:sp>
      <p:sp>
        <p:nvSpPr>
          <p:cNvPr id="8" name="Content Placeholder 7">
            <a:extLst>
              <a:ext uri="{FF2B5EF4-FFF2-40B4-BE49-F238E27FC236}">
                <a16:creationId xmlns:a16="http://schemas.microsoft.com/office/drawing/2014/main" id="{726CAFD2-DEDC-9F88-6D0C-F4285FB30E12}"/>
              </a:ext>
            </a:extLst>
          </p:cNvPr>
          <p:cNvSpPr>
            <a:spLocks noGrp="1"/>
          </p:cNvSpPr>
          <p:nvPr>
            <p:ph idx="1"/>
          </p:nvPr>
        </p:nvSpPr>
        <p:spPr>
          <a:xfrm>
            <a:off x="1066800" y="2010523"/>
            <a:ext cx="10058400" cy="3931920"/>
          </a:xfrm>
        </p:spPr>
        <p:txBody>
          <a:bodyPr>
            <a:normAutofit fontScale="92500" lnSpcReduction="20000"/>
          </a:bodyPr>
          <a:lstStyle/>
          <a:p>
            <a:r>
              <a:rPr lang="en-IN" dirty="0"/>
              <a:t>Bandura’s Social Learning Theory of Personality is based on the premise that human behaviour is largely acquired and that the principles of learning are sufficient to account for the development and maintenance of behaviour. But the earlier learning theorists were unable to pay sufficient attention about the social context in which behaviour is taking place. Bandura has done a great deal of work on social learning throughout his career and is famous for his “Social Learning Theory” which he has recently renamed, “Social Cognitive Theory”. </a:t>
            </a:r>
          </a:p>
          <a:p>
            <a:r>
              <a:rPr lang="en-IN" dirty="0"/>
              <a:t>Bandura is seen by many as a cognitive psychologist because of his focus on motivational factors and self-regulatory mechanisms that contribute to a person’s behaviour, rather than just environmental factors. This focus on cognition is what differentiates social cognitive theory from Skinner’s purely behaviouristic viewpoint.</a:t>
            </a:r>
          </a:p>
          <a:p>
            <a:r>
              <a:rPr lang="en-IN" dirty="0"/>
              <a:t>Bandura theory of social learning can be explained under the following three headings:</a:t>
            </a:r>
          </a:p>
          <a:p>
            <a:r>
              <a:rPr lang="en-IN" dirty="0"/>
              <a:t>1) Reciprocal determinism</a:t>
            </a:r>
          </a:p>
          <a:p>
            <a:r>
              <a:rPr lang="en-IN" dirty="0"/>
              <a:t>2) Self-system</a:t>
            </a:r>
          </a:p>
          <a:p>
            <a:r>
              <a:rPr lang="en-IN" dirty="0"/>
              <a:t>3) Principles of observational learning</a:t>
            </a:r>
          </a:p>
          <a:p>
            <a:endParaRPr lang="en-IN" dirty="0"/>
          </a:p>
        </p:txBody>
      </p:sp>
    </p:spTree>
    <p:extLst>
      <p:ext uri="{BB962C8B-B14F-4D97-AF65-F5344CB8AC3E}">
        <p14:creationId xmlns:p14="http://schemas.microsoft.com/office/powerpoint/2010/main" val="1413988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D74B-27B1-B130-743F-0C7B9F24F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55F79-1D46-5FCD-9E41-FA74356FE2C6}"/>
              </a:ext>
            </a:extLst>
          </p:cNvPr>
          <p:cNvSpPr>
            <a:spLocks noGrp="1"/>
          </p:cNvSpPr>
          <p:nvPr>
            <p:ph type="title"/>
          </p:nvPr>
        </p:nvSpPr>
        <p:spPr>
          <a:xfrm>
            <a:off x="1066800" y="526846"/>
            <a:ext cx="10058400" cy="1371600"/>
          </a:xfrm>
        </p:spPr>
        <p:txBody>
          <a:bodyPr>
            <a:normAutofit/>
          </a:bodyPr>
          <a:lstStyle/>
          <a:p>
            <a:r>
              <a:rPr lang="en-US" dirty="0"/>
              <a:t>Motivation </a:t>
            </a:r>
            <a:endParaRPr lang="en-IN" dirty="0"/>
          </a:p>
        </p:txBody>
      </p:sp>
      <p:sp>
        <p:nvSpPr>
          <p:cNvPr id="8" name="Content Placeholder 7">
            <a:extLst>
              <a:ext uri="{FF2B5EF4-FFF2-40B4-BE49-F238E27FC236}">
                <a16:creationId xmlns:a16="http://schemas.microsoft.com/office/drawing/2014/main" id="{9B8BB558-B29F-A06C-6170-ECF8B4A0B959}"/>
              </a:ext>
            </a:extLst>
          </p:cNvPr>
          <p:cNvSpPr>
            <a:spLocks noGrp="1"/>
          </p:cNvSpPr>
          <p:nvPr>
            <p:ph idx="1"/>
          </p:nvPr>
        </p:nvSpPr>
        <p:spPr>
          <a:xfrm>
            <a:off x="1066800" y="2010523"/>
            <a:ext cx="10058400" cy="3931920"/>
          </a:xfrm>
        </p:spPr>
        <p:txBody>
          <a:bodyPr>
            <a:normAutofit/>
          </a:bodyPr>
          <a:lstStyle/>
          <a:p>
            <a:r>
              <a:rPr lang="en-US" dirty="0"/>
              <a:t>The word ‘motivation’ comes from the Latin word ‘movere’, which means to move. In other words, they reside within the individual and initiate them to move for the fulfillment of needs. Needs, wants and desire of a man are also called motives. Some of these motives exist from the beginning of the life of an individual. Other motives are acquired in the course of one’s life and development, and it also appears to be a part of an individual’s personality. When a motive is aroused and organism is driven towards a goal, it produces tension within the individual. The state of tension continues as long as the goal is not reached.</a:t>
            </a:r>
            <a:endParaRPr lang="en-IN" dirty="0"/>
          </a:p>
          <a:p>
            <a:r>
              <a:rPr lang="en-US" i="1" dirty="0"/>
              <a:t>Motivation is thus a biological, emotional, cognitive and social force which causes a behavior to occur.</a:t>
            </a:r>
            <a:endParaRPr lang="en-IN" dirty="0"/>
          </a:p>
          <a:p>
            <a:endParaRPr lang="en-IN" dirty="0"/>
          </a:p>
        </p:txBody>
      </p:sp>
    </p:spTree>
    <p:extLst>
      <p:ext uri="{BB962C8B-B14F-4D97-AF65-F5344CB8AC3E}">
        <p14:creationId xmlns:p14="http://schemas.microsoft.com/office/powerpoint/2010/main" val="2630419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95F4-1B83-6135-9D69-D902FFF8F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5F826-79BF-D48E-D508-362147409E99}"/>
              </a:ext>
            </a:extLst>
          </p:cNvPr>
          <p:cNvSpPr>
            <a:spLocks noGrp="1"/>
          </p:cNvSpPr>
          <p:nvPr>
            <p:ph type="title"/>
          </p:nvPr>
        </p:nvSpPr>
        <p:spPr>
          <a:xfrm>
            <a:off x="1066800" y="526846"/>
            <a:ext cx="10058400" cy="1371600"/>
          </a:xfrm>
        </p:spPr>
        <p:txBody>
          <a:bodyPr>
            <a:normAutofit/>
          </a:bodyPr>
          <a:lstStyle/>
          <a:p>
            <a:r>
              <a:rPr lang="en-US" dirty="0"/>
              <a:t>Factors of Motivation </a:t>
            </a:r>
            <a:endParaRPr lang="en-IN" dirty="0"/>
          </a:p>
        </p:txBody>
      </p:sp>
      <p:sp>
        <p:nvSpPr>
          <p:cNvPr id="8" name="Content Placeholder 7">
            <a:extLst>
              <a:ext uri="{FF2B5EF4-FFF2-40B4-BE49-F238E27FC236}">
                <a16:creationId xmlns:a16="http://schemas.microsoft.com/office/drawing/2014/main" id="{2A17F65D-4B7C-40EE-0121-D5DC72A78D70}"/>
              </a:ext>
            </a:extLst>
          </p:cNvPr>
          <p:cNvSpPr>
            <a:spLocks noGrp="1"/>
          </p:cNvSpPr>
          <p:nvPr>
            <p:ph idx="1"/>
          </p:nvPr>
        </p:nvSpPr>
        <p:spPr>
          <a:xfrm>
            <a:off x="1066800" y="2010523"/>
            <a:ext cx="10058400" cy="3931920"/>
          </a:xfrm>
        </p:spPr>
        <p:txBody>
          <a:bodyPr>
            <a:normAutofit fontScale="92500" lnSpcReduction="10000"/>
          </a:bodyPr>
          <a:lstStyle/>
          <a:p>
            <a:r>
              <a:rPr lang="en-US" dirty="0"/>
              <a:t>Need: Need is that condition which is essential for survival. Need leads to physical and psychological tension within us that motivates us to act in order to fulfill needs and reduce tension.</a:t>
            </a:r>
            <a:endParaRPr lang="en-IN" dirty="0"/>
          </a:p>
          <a:p>
            <a:r>
              <a:rPr lang="en-US" i="1" dirty="0"/>
              <a:t>Drive</a:t>
            </a:r>
            <a:r>
              <a:rPr lang="en-US" dirty="0"/>
              <a:t>: We sometimes have an internal state of tension that motivates us to engage in activities that should (hopefully) reduce this tension. This tension is called drive (Hull,. 1943). There are two kinds of drives, viz., primary drive and acquired drive. Primary drive is also known as survival need of the body like hunger, thirst, sex, sleep, air, etc. Acquired drives are learned drive, such as need for security, affection, status etc.</a:t>
            </a:r>
            <a:endParaRPr lang="en-IN" dirty="0"/>
          </a:p>
          <a:p>
            <a:r>
              <a:rPr lang="en-US" i="1" dirty="0"/>
              <a:t>Goal</a:t>
            </a:r>
            <a:r>
              <a:rPr lang="en-US" dirty="0"/>
              <a:t>: The states of tension continue until we reach the goal or fulfill our needs. Food taken by a hungry man seems to be an achieved goal. </a:t>
            </a:r>
            <a:endParaRPr lang="en-IN" dirty="0"/>
          </a:p>
          <a:p>
            <a:r>
              <a:rPr lang="en-US" i="1" dirty="0"/>
              <a:t>Incentives</a:t>
            </a:r>
            <a:r>
              <a:rPr lang="en-US" dirty="0"/>
              <a:t>: Incentives attract or lure people into action and the </a:t>
            </a:r>
            <a:r>
              <a:rPr lang="en-US" dirty="0" err="1"/>
              <a:t>behaviour</a:t>
            </a:r>
            <a:r>
              <a:rPr lang="en-US" dirty="0"/>
              <a:t>. It is explained in terms of the external stimulus and its rewarding properties.</a:t>
            </a:r>
            <a:endParaRPr lang="en-IN" dirty="0"/>
          </a:p>
          <a:p>
            <a:r>
              <a:rPr lang="en-US" i="1" dirty="0"/>
              <a:t>Instinct</a:t>
            </a:r>
            <a:r>
              <a:rPr lang="en-US" dirty="0"/>
              <a:t>: The instinct is responsible for sexual </a:t>
            </a:r>
            <a:r>
              <a:rPr lang="en-US" dirty="0" err="1"/>
              <a:t>behaviour</a:t>
            </a:r>
            <a:r>
              <a:rPr lang="en-US" dirty="0"/>
              <a:t>, territorial protection, etc. It may be related to aggressive </a:t>
            </a:r>
            <a:r>
              <a:rPr lang="en-US" dirty="0" err="1"/>
              <a:t>behaviour</a:t>
            </a:r>
            <a:r>
              <a:rPr lang="en-US" dirty="0"/>
              <a:t>.</a:t>
            </a:r>
            <a:endParaRPr lang="en-IN" dirty="0"/>
          </a:p>
          <a:p>
            <a:endParaRPr lang="en-IN" dirty="0"/>
          </a:p>
        </p:txBody>
      </p:sp>
    </p:spTree>
    <p:extLst>
      <p:ext uri="{BB962C8B-B14F-4D97-AF65-F5344CB8AC3E}">
        <p14:creationId xmlns:p14="http://schemas.microsoft.com/office/powerpoint/2010/main" val="4083996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FA322-E6CE-2350-7903-4E0D2FEF6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618EA-664B-427C-EA30-2BCFCB8C0E89}"/>
              </a:ext>
            </a:extLst>
          </p:cNvPr>
          <p:cNvSpPr>
            <a:spLocks noGrp="1"/>
          </p:cNvSpPr>
          <p:nvPr>
            <p:ph type="title"/>
          </p:nvPr>
        </p:nvSpPr>
        <p:spPr>
          <a:xfrm>
            <a:off x="1066800" y="526846"/>
            <a:ext cx="10058400" cy="1371600"/>
          </a:xfrm>
        </p:spPr>
        <p:txBody>
          <a:bodyPr>
            <a:normAutofit/>
          </a:bodyPr>
          <a:lstStyle/>
          <a:p>
            <a:r>
              <a:rPr lang="en-US" dirty="0"/>
              <a:t>Types of Motivation </a:t>
            </a:r>
            <a:endParaRPr lang="en-IN" dirty="0"/>
          </a:p>
        </p:txBody>
      </p:sp>
      <p:sp>
        <p:nvSpPr>
          <p:cNvPr id="8" name="Content Placeholder 7">
            <a:extLst>
              <a:ext uri="{FF2B5EF4-FFF2-40B4-BE49-F238E27FC236}">
                <a16:creationId xmlns:a16="http://schemas.microsoft.com/office/drawing/2014/main" id="{6411B249-2CA5-0DFC-2380-494BEDFD9A41}"/>
              </a:ext>
            </a:extLst>
          </p:cNvPr>
          <p:cNvSpPr>
            <a:spLocks noGrp="1"/>
          </p:cNvSpPr>
          <p:nvPr>
            <p:ph idx="1"/>
          </p:nvPr>
        </p:nvSpPr>
        <p:spPr>
          <a:xfrm>
            <a:off x="1066800" y="2010523"/>
            <a:ext cx="10058400" cy="3931920"/>
          </a:xfrm>
        </p:spPr>
        <p:txBody>
          <a:bodyPr>
            <a:normAutofit/>
          </a:bodyPr>
          <a:lstStyle/>
          <a:p>
            <a:pPr marL="0" indent="0">
              <a:buNone/>
            </a:pPr>
            <a:r>
              <a:rPr lang="en-US" b="1" dirty="0"/>
              <a:t>1. Intrinsic Motivation</a:t>
            </a:r>
          </a:p>
          <a:p>
            <a:r>
              <a:rPr lang="en-US" dirty="0"/>
              <a:t>Comes from </a:t>
            </a:r>
            <a:r>
              <a:rPr lang="en-US" b="1" dirty="0"/>
              <a:t>within the individual</a:t>
            </a:r>
            <a:r>
              <a:rPr lang="en-US" dirty="0"/>
              <a:t>.</a:t>
            </a:r>
          </a:p>
          <a:p>
            <a:r>
              <a:rPr lang="en-US" dirty="0"/>
              <a:t>Driven by interest, enjoyment, or personal satisfaction.</a:t>
            </a:r>
            <a:br>
              <a:rPr lang="en-US" dirty="0"/>
            </a:br>
            <a:r>
              <a:rPr lang="en-US" b="1" dirty="0"/>
              <a:t>Example:</a:t>
            </a:r>
            <a:r>
              <a:rPr lang="en-US" dirty="0"/>
              <a:t> Studying because you love learning.</a:t>
            </a:r>
          </a:p>
          <a:p>
            <a:pPr marL="0" indent="0">
              <a:buNone/>
            </a:pPr>
            <a:r>
              <a:rPr lang="en-US" b="1" dirty="0"/>
              <a:t>2. Extrinsic Motivation</a:t>
            </a:r>
          </a:p>
          <a:p>
            <a:r>
              <a:rPr lang="en-US" dirty="0"/>
              <a:t>Comes from </a:t>
            </a:r>
            <a:r>
              <a:rPr lang="en-US" b="1" dirty="0"/>
              <a:t>external rewards or pressures</a:t>
            </a:r>
            <a:r>
              <a:rPr lang="en-US" dirty="0"/>
              <a:t>.</a:t>
            </a:r>
          </a:p>
          <a:p>
            <a:r>
              <a:rPr lang="en-US" dirty="0"/>
              <a:t>Includes money, grades, praise, prizes, or fear of punishment.</a:t>
            </a:r>
            <a:br>
              <a:rPr lang="en-US" dirty="0"/>
            </a:br>
            <a:r>
              <a:rPr lang="en-US" b="1" dirty="0"/>
              <a:t>Example:</a:t>
            </a:r>
            <a:r>
              <a:rPr lang="en-US" dirty="0"/>
              <a:t> Studying to get good marks.</a:t>
            </a:r>
          </a:p>
          <a:p>
            <a:pPr marL="0" indent="0">
              <a:buNone/>
            </a:pPr>
            <a:r>
              <a:rPr lang="en-US" b="1" dirty="0"/>
              <a:t>3. Primary (Biological) Motivation</a:t>
            </a:r>
          </a:p>
          <a:p>
            <a:r>
              <a:rPr lang="en-US" dirty="0"/>
              <a:t>Based on </a:t>
            </a:r>
            <a:r>
              <a:rPr lang="en-US" b="1" dirty="0"/>
              <a:t>biological needs</a:t>
            </a:r>
            <a:r>
              <a:rPr lang="en-US" dirty="0"/>
              <a:t> essential for survival.</a:t>
            </a:r>
            <a:br>
              <a:rPr lang="en-US" dirty="0"/>
            </a:br>
            <a:r>
              <a:rPr lang="en-US" b="1" dirty="0"/>
              <a:t>Examples:</a:t>
            </a:r>
            <a:r>
              <a:rPr lang="en-US" dirty="0"/>
              <a:t> Hunger, thirst, sleep, sex, avoidance of pain.</a:t>
            </a:r>
          </a:p>
          <a:p>
            <a:endParaRPr lang="en-IN" dirty="0"/>
          </a:p>
        </p:txBody>
      </p:sp>
    </p:spTree>
    <p:extLst>
      <p:ext uri="{BB962C8B-B14F-4D97-AF65-F5344CB8AC3E}">
        <p14:creationId xmlns:p14="http://schemas.microsoft.com/office/powerpoint/2010/main" val="4200475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EE1BA-7219-41CF-241E-DE525EE4F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04D62-37E2-6E6D-0E7D-E5D9CC20B0CF}"/>
              </a:ext>
            </a:extLst>
          </p:cNvPr>
          <p:cNvSpPr>
            <a:spLocks noGrp="1"/>
          </p:cNvSpPr>
          <p:nvPr>
            <p:ph type="title"/>
          </p:nvPr>
        </p:nvSpPr>
        <p:spPr>
          <a:xfrm>
            <a:off x="1066800" y="526846"/>
            <a:ext cx="10058400" cy="1371600"/>
          </a:xfrm>
        </p:spPr>
        <p:txBody>
          <a:bodyPr>
            <a:normAutofit/>
          </a:bodyPr>
          <a:lstStyle/>
          <a:p>
            <a:r>
              <a:rPr lang="en-US" dirty="0"/>
              <a:t>Types of Motivation </a:t>
            </a:r>
            <a:endParaRPr lang="en-IN" dirty="0"/>
          </a:p>
        </p:txBody>
      </p:sp>
      <p:sp>
        <p:nvSpPr>
          <p:cNvPr id="8" name="Content Placeholder 7">
            <a:extLst>
              <a:ext uri="{FF2B5EF4-FFF2-40B4-BE49-F238E27FC236}">
                <a16:creationId xmlns:a16="http://schemas.microsoft.com/office/drawing/2014/main" id="{87DF0436-E8E3-4191-E08D-54DEBBA1A2F1}"/>
              </a:ext>
            </a:extLst>
          </p:cNvPr>
          <p:cNvSpPr>
            <a:spLocks noGrp="1"/>
          </p:cNvSpPr>
          <p:nvPr>
            <p:ph idx="1"/>
          </p:nvPr>
        </p:nvSpPr>
        <p:spPr>
          <a:xfrm>
            <a:off x="1066800" y="2010523"/>
            <a:ext cx="10058400" cy="3931920"/>
          </a:xfrm>
        </p:spPr>
        <p:txBody>
          <a:bodyPr>
            <a:normAutofit/>
          </a:bodyPr>
          <a:lstStyle/>
          <a:p>
            <a:pPr marL="0" indent="0">
              <a:buNone/>
            </a:pPr>
            <a:r>
              <a:rPr lang="en-US" b="1" dirty="0"/>
              <a:t>4. Secondary (Social) Motivation</a:t>
            </a:r>
          </a:p>
          <a:p>
            <a:r>
              <a:rPr lang="en-US" dirty="0"/>
              <a:t>Learned through society and culture.</a:t>
            </a:r>
            <a:br>
              <a:rPr lang="en-US" dirty="0"/>
            </a:br>
            <a:r>
              <a:rPr lang="en-US" b="1" dirty="0"/>
              <a:t>Examples:</a:t>
            </a:r>
            <a:r>
              <a:rPr lang="en-US" dirty="0"/>
              <a:t> Achievement, power, affiliation, status.</a:t>
            </a:r>
          </a:p>
          <a:p>
            <a:pPr marL="0" indent="0">
              <a:buNone/>
            </a:pPr>
            <a:r>
              <a:rPr lang="en-US" b="1" dirty="0"/>
              <a:t>5. Incentive Motivation</a:t>
            </a:r>
          </a:p>
          <a:p>
            <a:r>
              <a:rPr lang="en-US" dirty="0" err="1"/>
              <a:t>Behaviour</a:t>
            </a:r>
            <a:r>
              <a:rPr lang="en-US" dirty="0"/>
              <a:t> driven by </a:t>
            </a:r>
            <a:r>
              <a:rPr lang="en-US" b="1" dirty="0"/>
              <a:t>rewards</a:t>
            </a:r>
            <a:r>
              <a:rPr lang="en-US" dirty="0"/>
              <a:t> or avoiding </a:t>
            </a:r>
            <a:r>
              <a:rPr lang="en-US" b="1" dirty="0"/>
              <a:t>punishments</a:t>
            </a:r>
            <a:r>
              <a:rPr lang="en-US" dirty="0"/>
              <a:t>.</a:t>
            </a:r>
            <a:br>
              <a:rPr lang="en-US" dirty="0"/>
            </a:br>
            <a:r>
              <a:rPr lang="en-US" b="1" dirty="0"/>
              <a:t>Example:</a:t>
            </a:r>
            <a:r>
              <a:rPr lang="en-US" dirty="0"/>
              <a:t> Working harder for a bonus.</a:t>
            </a:r>
          </a:p>
          <a:p>
            <a:pPr marL="0" indent="0">
              <a:buNone/>
            </a:pPr>
            <a:r>
              <a:rPr lang="en-US" b="1" dirty="0"/>
              <a:t>6. Fear Motivation</a:t>
            </a:r>
          </a:p>
          <a:p>
            <a:r>
              <a:rPr lang="en-US" dirty="0" err="1"/>
              <a:t>Behaviour</a:t>
            </a:r>
            <a:r>
              <a:rPr lang="en-US" dirty="0"/>
              <a:t> driven by fear of negative outcomes.</a:t>
            </a:r>
            <a:br>
              <a:rPr lang="en-US" dirty="0"/>
            </a:br>
            <a:r>
              <a:rPr lang="en-US" b="1" dirty="0"/>
              <a:t>Example:</a:t>
            </a:r>
            <a:r>
              <a:rPr lang="en-US" dirty="0"/>
              <a:t> Obeying rules to avoid punishment.</a:t>
            </a:r>
          </a:p>
          <a:p>
            <a:endParaRPr lang="en-IN" dirty="0"/>
          </a:p>
        </p:txBody>
      </p:sp>
    </p:spTree>
    <p:extLst>
      <p:ext uri="{BB962C8B-B14F-4D97-AF65-F5344CB8AC3E}">
        <p14:creationId xmlns:p14="http://schemas.microsoft.com/office/powerpoint/2010/main" val="3297749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0780D-177A-052F-02EB-A7355C5EF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C38C2-BF8A-ACA8-D87E-BE65F1960C50}"/>
              </a:ext>
            </a:extLst>
          </p:cNvPr>
          <p:cNvSpPr>
            <a:spLocks noGrp="1"/>
          </p:cNvSpPr>
          <p:nvPr>
            <p:ph type="title"/>
          </p:nvPr>
        </p:nvSpPr>
        <p:spPr>
          <a:xfrm>
            <a:off x="1066800" y="526846"/>
            <a:ext cx="10058400" cy="1371600"/>
          </a:xfrm>
        </p:spPr>
        <p:txBody>
          <a:bodyPr>
            <a:normAutofit fontScale="90000"/>
          </a:bodyPr>
          <a:lstStyle/>
          <a:p>
            <a:r>
              <a:rPr lang="en-US" b="1" dirty="0"/>
              <a:t>Maslow’s Law of Motivation (Hierarchy of Needs)</a:t>
            </a:r>
          </a:p>
        </p:txBody>
      </p:sp>
      <p:sp>
        <p:nvSpPr>
          <p:cNvPr id="8" name="Content Placeholder 7">
            <a:extLst>
              <a:ext uri="{FF2B5EF4-FFF2-40B4-BE49-F238E27FC236}">
                <a16:creationId xmlns:a16="http://schemas.microsoft.com/office/drawing/2014/main" id="{6A85A953-F1F9-8653-F796-A98C8DF321CA}"/>
              </a:ext>
            </a:extLst>
          </p:cNvPr>
          <p:cNvSpPr>
            <a:spLocks noGrp="1"/>
          </p:cNvSpPr>
          <p:nvPr>
            <p:ph idx="1"/>
          </p:nvPr>
        </p:nvSpPr>
        <p:spPr>
          <a:xfrm>
            <a:off x="1066800" y="2010523"/>
            <a:ext cx="10058400" cy="3931920"/>
          </a:xfrm>
        </p:spPr>
        <p:txBody>
          <a:bodyPr>
            <a:normAutofit/>
          </a:bodyPr>
          <a:lstStyle/>
          <a:p>
            <a:r>
              <a:rPr lang="en-US" dirty="0"/>
              <a:t>Abraham Maslow proposed that human motivation is based on a </a:t>
            </a:r>
            <a:r>
              <a:rPr lang="en-US" b="1" dirty="0"/>
              <a:t>hierarchy of needs</a:t>
            </a:r>
            <a:r>
              <a:rPr lang="en-US" dirty="0"/>
              <a:t> arranged in a pyramid.</a:t>
            </a:r>
            <a:br>
              <a:rPr lang="en-US" dirty="0"/>
            </a:br>
            <a:r>
              <a:rPr lang="en-US" dirty="0"/>
              <a:t>According to Maslow, people must satisfy </a:t>
            </a:r>
            <a:r>
              <a:rPr lang="en-US" b="1" dirty="0"/>
              <a:t>lower-level needs first</a:t>
            </a:r>
            <a:r>
              <a:rPr lang="en-US" dirty="0"/>
              <a:t> before moving to higher-level needs.</a:t>
            </a:r>
          </a:p>
          <a:p>
            <a:r>
              <a:rPr lang="en-US" dirty="0"/>
              <a:t>He arranged needs in </a:t>
            </a:r>
            <a:r>
              <a:rPr lang="en-US" b="1" dirty="0"/>
              <a:t>five levels</a:t>
            </a:r>
            <a:r>
              <a:rPr lang="en-US" dirty="0"/>
              <a:t>, from basic survival to personal growth.</a:t>
            </a:r>
          </a:p>
          <a:p>
            <a:endParaRPr lang="en-IN" dirty="0"/>
          </a:p>
        </p:txBody>
      </p:sp>
    </p:spTree>
    <p:extLst>
      <p:ext uri="{BB962C8B-B14F-4D97-AF65-F5344CB8AC3E}">
        <p14:creationId xmlns:p14="http://schemas.microsoft.com/office/powerpoint/2010/main" val="2137855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92C54-0E54-3C8D-275C-9B50B1B9B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C818C-2890-9D67-1065-9AD74B25B548}"/>
              </a:ext>
            </a:extLst>
          </p:cNvPr>
          <p:cNvSpPr>
            <a:spLocks noGrp="1"/>
          </p:cNvSpPr>
          <p:nvPr>
            <p:ph type="title"/>
          </p:nvPr>
        </p:nvSpPr>
        <p:spPr>
          <a:xfrm>
            <a:off x="1066800" y="526846"/>
            <a:ext cx="10058400" cy="1371600"/>
          </a:xfrm>
        </p:spPr>
        <p:txBody>
          <a:bodyPr>
            <a:normAutofit fontScale="90000"/>
          </a:bodyPr>
          <a:lstStyle/>
          <a:p>
            <a:r>
              <a:rPr lang="en-US" b="1" dirty="0"/>
              <a:t>Maslow’s Law of Motivation (Hierarchy of Needs)</a:t>
            </a:r>
          </a:p>
        </p:txBody>
      </p:sp>
      <p:sp>
        <p:nvSpPr>
          <p:cNvPr id="8" name="Content Placeholder 7">
            <a:extLst>
              <a:ext uri="{FF2B5EF4-FFF2-40B4-BE49-F238E27FC236}">
                <a16:creationId xmlns:a16="http://schemas.microsoft.com/office/drawing/2014/main" id="{094E200B-2799-0C22-2F69-5F2B5EB56FAF}"/>
              </a:ext>
            </a:extLst>
          </p:cNvPr>
          <p:cNvSpPr>
            <a:spLocks noGrp="1"/>
          </p:cNvSpPr>
          <p:nvPr>
            <p:ph idx="1"/>
          </p:nvPr>
        </p:nvSpPr>
        <p:spPr>
          <a:xfrm>
            <a:off x="1666754" y="1987372"/>
            <a:ext cx="10720086" cy="4552323"/>
          </a:xfrm>
        </p:spPr>
        <p:txBody>
          <a:bodyPr>
            <a:normAutofit fontScale="77500" lnSpcReduction="20000"/>
          </a:bodyPr>
          <a:lstStyle/>
          <a:p>
            <a:pPr marL="0" indent="0">
              <a:buNone/>
            </a:pPr>
            <a:r>
              <a:rPr lang="en-US" b="1" dirty="0"/>
              <a:t>Maslow’s Hierarchy of Needs</a:t>
            </a:r>
          </a:p>
          <a:p>
            <a:pPr marL="0" indent="0">
              <a:buNone/>
            </a:pPr>
            <a:r>
              <a:rPr lang="en-US" b="1" dirty="0"/>
              <a:t>1. Physiological Needs (Basic Needs)</a:t>
            </a:r>
          </a:p>
          <a:p>
            <a:r>
              <a:rPr lang="en-US" dirty="0"/>
              <a:t>These are survival needs: food, water, air, sleep, shelter.</a:t>
            </a:r>
          </a:p>
          <a:p>
            <a:r>
              <a:rPr lang="en-US" dirty="0"/>
              <a:t>They are the </a:t>
            </a:r>
            <a:r>
              <a:rPr lang="en-US" b="1" dirty="0"/>
              <a:t>strongest</a:t>
            </a:r>
            <a:r>
              <a:rPr lang="en-US" dirty="0"/>
              <a:t> needs and must be met first.</a:t>
            </a:r>
          </a:p>
          <a:p>
            <a:pPr marL="0" indent="0">
              <a:buNone/>
            </a:pPr>
            <a:r>
              <a:rPr lang="en-US" b="1" dirty="0"/>
              <a:t>2. Safety Needs</a:t>
            </a:r>
          </a:p>
          <a:p>
            <a:r>
              <a:rPr lang="en-US" dirty="0"/>
              <a:t>Need for protection, security, stability, and freedom from fear.</a:t>
            </a:r>
          </a:p>
          <a:p>
            <a:r>
              <a:rPr lang="en-US" dirty="0"/>
              <a:t>Includes job security, health, and financial safety.</a:t>
            </a:r>
          </a:p>
          <a:p>
            <a:pPr marL="0" indent="0">
              <a:buNone/>
            </a:pPr>
            <a:r>
              <a:rPr lang="en-US" b="1" dirty="0"/>
              <a:t>3. Love and Belongingness Needs</a:t>
            </a:r>
          </a:p>
          <a:p>
            <a:r>
              <a:rPr lang="en-US" dirty="0"/>
              <a:t>Need for relationships, affection, friendship, family, and social acceptance.</a:t>
            </a:r>
          </a:p>
          <a:p>
            <a:r>
              <a:rPr lang="en-US" dirty="0"/>
              <a:t>Humans are social beings who need connection.</a:t>
            </a:r>
          </a:p>
          <a:p>
            <a:pPr marL="0" indent="0">
              <a:buNone/>
            </a:pPr>
            <a:r>
              <a:rPr lang="en-US" b="1" dirty="0"/>
              <a:t>4. Esteem Needs</a:t>
            </a:r>
          </a:p>
          <a:p>
            <a:r>
              <a:rPr lang="en-US" dirty="0"/>
              <a:t>Need for self-respect, confidence, recognition, status, and achievement.</a:t>
            </a:r>
          </a:p>
          <a:p>
            <a:r>
              <a:rPr lang="en-US" dirty="0"/>
              <a:t>Includes internal esteem (self-worth) and external esteem (respect from others).</a:t>
            </a:r>
          </a:p>
          <a:p>
            <a:pPr marL="0" indent="0">
              <a:buNone/>
            </a:pPr>
            <a:r>
              <a:rPr lang="en-US" b="1" dirty="0"/>
              <a:t>5. Self-Actualization Needs (Highest Level)</a:t>
            </a:r>
          </a:p>
          <a:p>
            <a:r>
              <a:rPr lang="en-US" dirty="0"/>
              <a:t>Need to realize one’s full potential, creativity, and personal growth.</a:t>
            </a:r>
          </a:p>
          <a:p>
            <a:r>
              <a:rPr lang="en-US" dirty="0"/>
              <a:t>Becoming the best version of oneself.</a:t>
            </a:r>
          </a:p>
          <a:p>
            <a:endParaRPr lang="en-IN" dirty="0"/>
          </a:p>
        </p:txBody>
      </p:sp>
    </p:spTree>
    <p:extLst>
      <p:ext uri="{BB962C8B-B14F-4D97-AF65-F5344CB8AC3E}">
        <p14:creationId xmlns:p14="http://schemas.microsoft.com/office/powerpoint/2010/main" val="678546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4B9B8-3CD7-D4F0-EA6D-62FF77A28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D0B2F-FE55-7FD0-CFDE-40096C29D429}"/>
              </a:ext>
            </a:extLst>
          </p:cNvPr>
          <p:cNvSpPr>
            <a:spLocks noGrp="1"/>
          </p:cNvSpPr>
          <p:nvPr>
            <p:ph type="title"/>
          </p:nvPr>
        </p:nvSpPr>
        <p:spPr>
          <a:xfrm>
            <a:off x="1066800" y="526846"/>
            <a:ext cx="10058400" cy="1371600"/>
          </a:xfrm>
        </p:spPr>
        <p:txBody>
          <a:bodyPr>
            <a:normAutofit/>
          </a:bodyPr>
          <a:lstStyle/>
          <a:p>
            <a:r>
              <a:rPr lang="en-US" b="1" dirty="0"/>
              <a:t>Emotion </a:t>
            </a:r>
          </a:p>
        </p:txBody>
      </p:sp>
      <p:sp>
        <p:nvSpPr>
          <p:cNvPr id="8" name="Content Placeholder 7">
            <a:extLst>
              <a:ext uri="{FF2B5EF4-FFF2-40B4-BE49-F238E27FC236}">
                <a16:creationId xmlns:a16="http://schemas.microsoft.com/office/drawing/2014/main" id="{4511B144-43B3-6E78-DDCC-0E0BF04C938D}"/>
              </a:ext>
            </a:extLst>
          </p:cNvPr>
          <p:cNvSpPr>
            <a:spLocks noGrp="1"/>
          </p:cNvSpPr>
          <p:nvPr>
            <p:ph idx="1"/>
          </p:nvPr>
        </p:nvSpPr>
        <p:spPr>
          <a:xfrm>
            <a:off x="1066800" y="1466511"/>
            <a:ext cx="10646780" cy="4552323"/>
          </a:xfrm>
        </p:spPr>
        <p:txBody>
          <a:bodyPr>
            <a:normAutofit/>
          </a:bodyPr>
          <a:lstStyle/>
          <a:p>
            <a:pPr marL="0" indent="0">
              <a:buNone/>
            </a:pPr>
            <a:r>
              <a:rPr lang="en-US" b="1" dirty="0"/>
              <a:t>Emotion</a:t>
            </a:r>
            <a:r>
              <a:rPr lang="en-US" dirty="0"/>
              <a:t> is a complex state of feeling that involves </a:t>
            </a:r>
            <a:r>
              <a:rPr lang="en-US" b="1" dirty="0"/>
              <a:t>physiological arousal</a:t>
            </a:r>
            <a:r>
              <a:rPr lang="en-US" dirty="0"/>
              <a:t>, </a:t>
            </a:r>
            <a:r>
              <a:rPr lang="en-US" b="1" dirty="0"/>
              <a:t>expressive behavior</a:t>
            </a:r>
            <a:r>
              <a:rPr lang="en-US" dirty="0"/>
              <a:t>, and </a:t>
            </a:r>
            <a:r>
              <a:rPr lang="en-US" b="1" dirty="0"/>
              <a:t>conscious experience</a:t>
            </a:r>
            <a:r>
              <a:rPr lang="en-US" dirty="0"/>
              <a:t>, which helps a person respond to important events or situations.</a:t>
            </a:r>
            <a:endParaRPr lang="en-IN" dirty="0"/>
          </a:p>
        </p:txBody>
      </p:sp>
      <p:graphicFrame>
        <p:nvGraphicFramePr>
          <p:cNvPr id="3" name="Table 2">
            <a:extLst>
              <a:ext uri="{FF2B5EF4-FFF2-40B4-BE49-F238E27FC236}">
                <a16:creationId xmlns:a16="http://schemas.microsoft.com/office/drawing/2014/main" id="{EFCB228C-C103-80B3-7D14-6ECFED36528B}"/>
              </a:ext>
            </a:extLst>
          </p:cNvPr>
          <p:cNvGraphicFramePr>
            <a:graphicFrameLocks noGrp="1"/>
          </p:cNvGraphicFramePr>
          <p:nvPr/>
        </p:nvGraphicFramePr>
        <p:xfrm>
          <a:off x="1066800" y="2560796"/>
          <a:ext cx="10058400" cy="3017520"/>
        </p:xfrm>
        <a:graphic>
          <a:graphicData uri="http://schemas.openxmlformats.org/drawingml/2006/table">
            <a:tbl>
              <a:tblPr/>
              <a:tblGrid>
                <a:gridCol w="5029200">
                  <a:extLst>
                    <a:ext uri="{9D8B030D-6E8A-4147-A177-3AD203B41FA5}">
                      <a16:colId xmlns:a16="http://schemas.microsoft.com/office/drawing/2014/main" val="2938257462"/>
                    </a:ext>
                  </a:extLst>
                </a:gridCol>
                <a:gridCol w="5029200">
                  <a:extLst>
                    <a:ext uri="{9D8B030D-6E8A-4147-A177-3AD203B41FA5}">
                      <a16:colId xmlns:a16="http://schemas.microsoft.com/office/drawing/2014/main" val="3043292922"/>
                    </a:ext>
                  </a:extLst>
                </a:gridCol>
              </a:tblGrid>
              <a:tr h="0">
                <a:tc>
                  <a:txBody>
                    <a:bodyPr/>
                    <a:lstStyle/>
                    <a:p>
                      <a:pPr>
                        <a:buNone/>
                      </a:pPr>
                      <a:r>
                        <a:rPr lang="en-IN" b="1"/>
                        <a:t>Emotion</a:t>
                      </a:r>
                      <a:endParaRPr lang="en-IN"/>
                    </a:p>
                  </a:txBody>
                  <a:tcPr anchor="ctr">
                    <a:lnL>
                      <a:noFill/>
                    </a:lnL>
                    <a:lnR>
                      <a:noFill/>
                    </a:lnR>
                    <a:lnT>
                      <a:noFill/>
                    </a:lnT>
                    <a:lnB>
                      <a:noFill/>
                    </a:lnB>
                    <a:noFill/>
                  </a:tcPr>
                </a:tc>
                <a:tc>
                  <a:txBody>
                    <a:bodyPr/>
                    <a:lstStyle/>
                    <a:p>
                      <a:pPr>
                        <a:buNone/>
                      </a:pPr>
                      <a:r>
                        <a:rPr lang="en-IN" b="1"/>
                        <a:t>Feeling</a:t>
                      </a:r>
                      <a:endParaRPr lang="en-IN"/>
                    </a:p>
                  </a:txBody>
                  <a:tcPr anchor="ctr">
                    <a:lnL>
                      <a:noFill/>
                    </a:lnL>
                    <a:lnR>
                      <a:noFill/>
                    </a:lnR>
                    <a:lnT>
                      <a:noFill/>
                    </a:lnT>
                    <a:lnB>
                      <a:noFill/>
                    </a:lnB>
                    <a:noFill/>
                  </a:tcPr>
                </a:tc>
                <a:extLst>
                  <a:ext uri="{0D108BD9-81ED-4DB2-BD59-A6C34878D82A}">
                    <a16:rowId xmlns:a16="http://schemas.microsoft.com/office/drawing/2014/main" val="2419914923"/>
                  </a:ext>
                </a:extLst>
              </a:tr>
              <a:tr h="0">
                <a:tc>
                  <a:txBody>
                    <a:bodyPr/>
                    <a:lstStyle/>
                    <a:p>
                      <a:pPr>
                        <a:buNone/>
                      </a:pPr>
                      <a:r>
                        <a:rPr lang="en-US"/>
                        <a:t>Emotion is a strong, immediate reaction to a situation or stimulus.</a:t>
                      </a:r>
                    </a:p>
                  </a:txBody>
                  <a:tcPr anchor="ctr">
                    <a:lnL>
                      <a:noFill/>
                    </a:lnL>
                    <a:lnR>
                      <a:noFill/>
                    </a:lnR>
                    <a:lnT>
                      <a:noFill/>
                    </a:lnT>
                    <a:lnB>
                      <a:noFill/>
                    </a:lnB>
                    <a:noFill/>
                  </a:tcPr>
                </a:tc>
                <a:tc>
                  <a:txBody>
                    <a:bodyPr/>
                    <a:lstStyle/>
                    <a:p>
                      <a:pPr>
                        <a:buNone/>
                      </a:pPr>
                      <a:r>
                        <a:rPr lang="en-US"/>
                        <a:t>Feeling is the personal experience or interpretation of an emotion.</a:t>
                      </a:r>
                    </a:p>
                  </a:txBody>
                  <a:tcPr anchor="ctr">
                    <a:lnL>
                      <a:noFill/>
                    </a:lnL>
                    <a:lnR>
                      <a:noFill/>
                    </a:lnR>
                    <a:lnT>
                      <a:noFill/>
                    </a:lnT>
                    <a:lnB>
                      <a:noFill/>
                    </a:lnB>
                    <a:noFill/>
                  </a:tcPr>
                </a:tc>
                <a:extLst>
                  <a:ext uri="{0D108BD9-81ED-4DB2-BD59-A6C34878D82A}">
                    <a16:rowId xmlns:a16="http://schemas.microsoft.com/office/drawing/2014/main" val="2770447406"/>
                  </a:ext>
                </a:extLst>
              </a:tr>
              <a:tr h="0">
                <a:tc>
                  <a:txBody>
                    <a:bodyPr/>
                    <a:lstStyle/>
                    <a:p>
                      <a:pPr>
                        <a:buNone/>
                      </a:pPr>
                      <a:r>
                        <a:rPr lang="en-IN"/>
                        <a:t>Short-lived and intense.</a:t>
                      </a:r>
                    </a:p>
                  </a:txBody>
                  <a:tcPr anchor="ctr">
                    <a:lnL>
                      <a:noFill/>
                    </a:lnL>
                    <a:lnR>
                      <a:noFill/>
                    </a:lnR>
                    <a:lnT>
                      <a:noFill/>
                    </a:lnT>
                    <a:lnB>
                      <a:noFill/>
                    </a:lnB>
                    <a:noFill/>
                  </a:tcPr>
                </a:tc>
                <a:tc>
                  <a:txBody>
                    <a:bodyPr/>
                    <a:lstStyle/>
                    <a:p>
                      <a:pPr>
                        <a:buNone/>
                      </a:pPr>
                      <a:r>
                        <a:rPr lang="en-IN"/>
                        <a:t>Longer-lasting and more subtle.</a:t>
                      </a:r>
                    </a:p>
                  </a:txBody>
                  <a:tcPr anchor="ctr">
                    <a:lnL>
                      <a:noFill/>
                    </a:lnL>
                    <a:lnR>
                      <a:noFill/>
                    </a:lnR>
                    <a:lnT>
                      <a:noFill/>
                    </a:lnT>
                    <a:lnB>
                      <a:noFill/>
                    </a:lnB>
                    <a:noFill/>
                  </a:tcPr>
                </a:tc>
                <a:extLst>
                  <a:ext uri="{0D108BD9-81ED-4DB2-BD59-A6C34878D82A}">
                    <a16:rowId xmlns:a16="http://schemas.microsoft.com/office/drawing/2014/main" val="1884641716"/>
                  </a:ext>
                </a:extLst>
              </a:tr>
              <a:tr h="0">
                <a:tc>
                  <a:txBody>
                    <a:bodyPr/>
                    <a:lstStyle/>
                    <a:p>
                      <a:pPr>
                        <a:buNone/>
                      </a:pPr>
                      <a:r>
                        <a:rPr lang="en-US"/>
                        <a:t>Includes physical changes (heart rate, sweating, facial expressions).</a:t>
                      </a:r>
                    </a:p>
                  </a:txBody>
                  <a:tcPr anchor="ctr">
                    <a:lnL>
                      <a:noFill/>
                    </a:lnL>
                    <a:lnR>
                      <a:noFill/>
                    </a:lnR>
                    <a:lnT>
                      <a:noFill/>
                    </a:lnT>
                    <a:lnB>
                      <a:noFill/>
                    </a:lnB>
                    <a:noFill/>
                  </a:tcPr>
                </a:tc>
                <a:tc>
                  <a:txBody>
                    <a:bodyPr/>
                    <a:lstStyle/>
                    <a:p>
                      <a:pPr>
                        <a:buNone/>
                      </a:pPr>
                      <a:r>
                        <a:rPr lang="en-US"/>
                        <a:t>Mainly mental and internal, without strong physical reactions.</a:t>
                      </a:r>
                    </a:p>
                  </a:txBody>
                  <a:tcPr anchor="ctr">
                    <a:lnL>
                      <a:noFill/>
                    </a:lnL>
                    <a:lnR>
                      <a:noFill/>
                    </a:lnR>
                    <a:lnT>
                      <a:noFill/>
                    </a:lnT>
                    <a:lnB>
                      <a:noFill/>
                    </a:lnB>
                    <a:noFill/>
                  </a:tcPr>
                </a:tc>
                <a:extLst>
                  <a:ext uri="{0D108BD9-81ED-4DB2-BD59-A6C34878D82A}">
                    <a16:rowId xmlns:a16="http://schemas.microsoft.com/office/drawing/2014/main" val="3613174361"/>
                  </a:ext>
                </a:extLst>
              </a:tr>
              <a:tr h="0">
                <a:tc>
                  <a:txBody>
                    <a:bodyPr/>
                    <a:lstStyle/>
                    <a:p>
                      <a:pPr>
                        <a:buNone/>
                      </a:pPr>
                      <a:r>
                        <a:rPr lang="en-IN"/>
                        <a:t>More automatic and uncontrolled.</a:t>
                      </a:r>
                    </a:p>
                  </a:txBody>
                  <a:tcPr anchor="ctr">
                    <a:lnL>
                      <a:noFill/>
                    </a:lnL>
                    <a:lnR>
                      <a:noFill/>
                    </a:lnR>
                    <a:lnT>
                      <a:noFill/>
                    </a:lnT>
                    <a:lnB>
                      <a:noFill/>
                    </a:lnB>
                    <a:noFill/>
                  </a:tcPr>
                </a:tc>
                <a:tc>
                  <a:txBody>
                    <a:bodyPr/>
                    <a:lstStyle/>
                    <a:p>
                      <a:pPr>
                        <a:buNone/>
                      </a:pPr>
                      <a:r>
                        <a:rPr lang="en-IN"/>
                        <a:t>More conscious and controlled.</a:t>
                      </a:r>
                    </a:p>
                  </a:txBody>
                  <a:tcPr anchor="ctr">
                    <a:lnL>
                      <a:noFill/>
                    </a:lnL>
                    <a:lnR>
                      <a:noFill/>
                    </a:lnR>
                    <a:lnT>
                      <a:noFill/>
                    </a:lnT>
                    <a:lnB>
                      <a:noFill/>
                    </a:lnB>
                    <a:noFill/>
                  </a:tcPr>
                </a:tc>
                <a:extLst>
                  <a:ext uri="{0D108BD9-81ED-4DB2-BD59-A6C34878D82A}">
                    <a16:rowId xmlns:a16="http://schemas.microsoft.com/office/drawing/2014/main" val="3309178302"/>
                  </a:ext>
                </a:extLst>
              </a:tr>
              <a:tr h="0">
                <a:tc>
                  <a:txBody>
                    <a:bodyPr/>
                    <a:lstStyle/>
                    <a:p>
                      <a:pPr>
                        <a:buNone/>
                      </a:pPr>
                      <a:r>
                        <a:rPr lang="en-US"/>
                        <a:t>Universal across cultures (e.g., fear, anger, joy).</a:t>
                      </a:r>
                    </a:p>
                  </a:txBody>
                  <a:tcPr anchor="ctr">
                    <a:lnL>
                      <a:noFill/>
                    </a:lnL>
                    <a:lnR>
                      <a:noFill/>
                    </a:lnR>
                    <a:lnT>
                      <a:noFill/>
                    </a:lnT>
                    <a:lnB>
                      <a:noFill/>
                    </a:lnB>
                    <a:noFill/>
                  </a:tcPr>
                </a:tc>
                <a:tc>
                  <a:txBody>
                    <a:bodyPr/>
                    <a:lstStyle/>
                    <a:p>
                      <a:pPr>
                        <a:buNone/>
                      </a:pPr>
                      <a:r>
                        <a:rPr lang="en-US" dirty="0"/>
                        <a:t>Can vary from person to person (e.g., feeling loved, lonely, proud).</a:t>
                      </a:r>
                    </a:p>
                  </a:txBody>
                  <a:tcPr anchor="ctr">
                    <a:lnL>
                      <a:noFill/>
                    </a:lnL>
                    <a:lnR>
                      <a:noFill/>
                    </a:lnR>
                    <a:lnT>
                      <a:noFill/>
                    </a:lnT>
                    <a:lnB>
                      <a:noFill/>
                    </a:lnB>
                    <a:noFill/>
                  </a:tcPr>
                </a:tc>
                <a:extLst>
                  <a:ext uri="{0D108BD9-81ED-4DB2-BD59-A6C34878D82A}">
                    <a16:rowId xmlns:a16="http://schemas.microsoft.com/office/drawing/2014/main" val="1396267128"/>
                  </a:ext>
                </a:extLst>
              </a:tr>
            </a:tbl>
          </a:graphicData>
        </a:graphic>
      </p:graphicFrame>
    </p:spTree>
    <p:extLst>
      <p:ext uri="{BB962C8B-B14F-4D97-AF65-F5344CB8AC3E}">
        <p14:creationId xmlns:p14="http://schemas.microsoft.com/office/powerpoint/2010/main" val="1570648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0B87-EDE9-86E3-E807-CC17FF6DE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D34BF-CC62-9571-BE15-691AAA055C66}"/>
              </a:ext>
            </a:extLst>
          </p:cNvPr>
          <p:cNvSpPr>
            <a:spLocks noGrp="1"/>
          </p:cNvSpPr>
          <p:nvPr>
            <p:ph type="title"/>
          </p:nvPr>
        </p:nvSpPr>
        <p:spPr>
          <a:xfrm>
            <a:off x="1066800" y="526846"/>
            <a:ext cx="10058400" cy="1371600"/>
          </a:xfrm>
        </p:spPr>
        <p:txBody>
          <a:bodyPr>
            <a:normAutofit/>
          </a:bodyPr>
          <a:lstStyle/>
          <a:p>
            <a:r>
              <a:rPr lang="en-IN" dirty="0"/>
              <a:t>Components of Emotion</a:t>
            </a:r>
            <a:r>
              <a:rPr lang="en-US" b="1" dirty="0"/>
              <a:t> </a:t>
            </a:r>
          </a:p>
        </p:txBody>
      </p:sp>
      <p:graphicFrame>
        <p:nvGraphicFramePr>
          <p:cNvPr id="3" name="Content Placeholder 2">
            <a:extLst>
              <a:ext uri="{FF2B5EF4-FFF2-40B4-BE49-F238E27FC236}">
                <a16:creationId xmlns:a16="http://schemas.microsoft.com/office/drawing/2014/main" id="{3B919D51-2B9F-4310-C7AD-EBEAA099999C}"/>
              </a:ext>
            </a:extLst>
          </p:cNvPr>
          <p:cNvGraphicFramePr>
            <a:graphicFrameLocks noGrp="1"/>
          </p:cNvGraphicFramePr>
          <p:nvPr>
            <p:ph idx="1"/>
            <p:extLst>
              <p:ext uri="{D42A27DB-BD31-4B8C-83A1-F6EECF244321}">
                <p14:modId xmlns:p14="http://schemas.microsoft.com/office/powerpoint/2010/main" val="1424557453"/>
              </p:ext>
            </p:extLst>
          </p:nvPr>
        </p:nvGraphicFramePr>
        <p:xfrm>
          <a:off x="1666875" y="1987550"/>
          <a:ext cx="9458325" cy="4551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2380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117D-9DDC-3FF6-4BE3-CA328F0744BD}"/>
              </a:ext>
            </a:extLst>
          </p:cNvPr>
          <p:cNvSpPr>
            <a:spLocks noGrp="1"/>
          </p:cNvSpPr>
          <p:nvPr>
            <p:ph type="title"/>
          </p:nvPr>
        </p:nvSpPr>
        <p:spPr/>
        <p:txBody>
          <a:bodyPr/>
          <a:lstStyle/>
          <a:p>
            <a:r>
              <a:rPr lang="en-US" dirty="0"/>
              <a:t>Brain and emotion</a:t>
            </a:r>
            <a:endParaRPr lang="en-IN" dirty="0"/>
          </a:p>
        </p:txBody>
      </p:sp>
      <p:sp>
        <p:nvSpPr>
          <p:cNvPr id="3" name="Content Placeholder 2">
            <a:extLst>
              <a:ext uri="{FF2B5EF4-FFF2-40B4-BE49-F238E27FC236}">
                <a16:creationId xmlns:a16="http://schemas.microsoft.com/office/drawing/2014/main" id="{DDC5F45B-265A-E48F-56C5-824FFCC01C31}"/>
              </a:ext>
            </a:extLst>
          </p:cNvPr>
          <p:cNvSpPr>
            <a:spLocks noGrp="1"/>
          </p:cNvSpPr>
          <p:nvPr>
            <p:ph idx="1"/>
          </p:nvPr>
        </p:nvSpPr>
        <p:spPr>
          <a:xfrm>
            <a:off x="941407" y="1559110"/>
            <a:ext cx="10058400" cy="3931920"/>
          </a:xfrm>
        </p:spPr>
        <p:txBody>
          <a:bodyPr/>
          <a:lstStyle/>
          <a:p>
            <a:r>
              <a:rPr lang="en-IN" b="1" dirty="0">
                <a:latin typeface="Times New Roman" panose="02020603050405020304" pitchFamily="18" charset="0"/>
                <a:cs typeface="Times New Roman" panose="02020603050405020304" pitchFamily="18" charset="0"/>
              </a:rPr>
              <a:t>Amygdala: </a:t>
            </a:r>
            <a:r>
              <a:rPr lang="en-IN" dirty="0">
                <a:latin typeface="Times New Roman" panose="02020603050405020304" pitchFamily="18" charset="0"/>
                <a:cs typeface="Times New Roman" panose="02020603050405020304" pitchFamily="18" charset="0"/>
              </a:rPr>
              <a:t>Processes fear and threat-related stimuli.</a:t>
            </a:r>
          </a:p>
          <a:p>
            <a:r>
              <a:rPr lang="en-IN" b="1" dirty="0">
                <a:latin typeface="Times New Roman" panose="02020603050405020304" pitchFamily="18" charset="0"/>
                <a:cs typeface="Times New Roman" panose="02020603050405020304" pitchFamily="18" charset="0"/>
              </a:rPr>
              <a:t>Hypothalamus</a:t>
            </a:r>
            <a:r>
              <a:rPr lang="en-IN" dirty="0">
                <a:latin typeface="Times New Roman" panose="02020603050405020304" pitchFamily="18" charset="0"/>
                <a:cs typeface="Times New Roman" panose="02020603050405020304" pitchFamily="18" charset="0"/>
              </a:rPr>
              <a:t>: Regulates physiological responses.</a:t>
            </a:r>
          </a:p>
          <a:p>
            <a:r>
              <a:rPr lang="en-IN" b="1" dirty="0">
                <a:latin typeface="Times New Roman" panose="02020603050405020304" pitchFamily="18" charset="0"/>
                <a:cs typeface="Times New Roman" panose="02020603050405020304" pitchFamily="18" charset="0"/>
              </a:rPr>
              <a:t>Prefrontal Cortex</a:t>
            </a:r>
            <a:r>
              <a:rPr lang="en-IN" dirty="0">
                <a:latin typeface="Times New Roman" panose="02020603050405020304" pitchFamily="18" charset="0"/>
                <a:cs typeface="Times New Roman" panose="02020603050405020304" pitchFamily="18" charset="0"/>
              </a:rPr>
              <a:t>: Modulates emotional control and decision-making.</a:t>
            </a:r>
          </a:p>
          <a:p>
            <a:r>
              <a:rPr lang="en-IN" b="1" dirty="0">
                <a:latin typeface="Times New Roman" panose="02020603050405020304" pitchFamily="18" charset="0"/>
                <a:cs typeface="Times New Roman" panose="02020603050405020304" pitchFamily="18" charset="0"/>
              </a:rPr>
              <a:t>Limbic System</a:t>
            </a:r>
            <a:r>
              <a:rPr lang="en-IN" dirty="0">
                <a:latin typeface="Times New Roman" panose="02020603050405020304" pitchFamily="18" charset="0"/>
                <a:cs typeface="Times New Roman" panose="02020603050405020304" pitchFamily="18" charset="0"/>
              </a:rPr>
              <a:t>: Coordinates emotional responses</a:t>
            </a:r>
            <a:endParaRPr lang="en-IN" dirty="0"/>
          </a:p>
        </p:txBody>
      </p:sp>
      <p:pic>
        <p:nvPicPr>
          <p:cNvPr id="4" name="table">
            <a:extLst>
              <a:ext uri="{FF2B5EF4-FFF2-40B4-BE49-F238E27FC236}">
                <a16:creationId xmlns:a16="http://schemas.microsoft.com/office/drawing/2014/main" id="{95E1D06C-8183-46AE-88C3-0AF9663D1F5C}"/>
              </a:ext>
            </a:extLst>
          </p:cNvPr>
          <p:cNvPicPr>
            <a:picLocks noChangeAspect="1"/>
          </p:cNvPicPr>
          <p:nvPr/>
        </p:nvPicPr>
        <p:blipFill>
          <a:blip r:embed="rId2"/>
          <a:stretch>
            <a:fillRect/>
          </a:stretch>
        </p:blipFill>
        <p:spPr>
          <a:xfrm>
            <a:off x="4215113" y="3050213"/>
            <a:ext cx="7174375" cy="3587188"/>
          </a:xfrm>
          <a:prstGeom prst="rect">
            <a:avLst/>
          </a:prstGeom>
        </p:spPr>
      </p:pic>
    </p:spTree>
    <p:extLst>
      <p:ext uri="{BB962C8B-B14F-4D97-AF65-F5344CB8AC3E}">
        <p14:creationId xmlns:p14="http://schemas.microsoft.com/office/powerpoint/2010/main" val="639517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6EFC2-A501-231B-EED8-BF51055F3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C55FD-9090-E0C7-EC62-45E81AB259F4}"/>
              </a:ext>
            </a:extLst>
          </p:cNvPr>
          <p:cNvSpPr>
            <a:spLocks noGrp="1"/>
          </p:cNvSpPr>
          <p:nvPr>
            <p:ph type="title"/>
          </p:nvPr>
        </p:nvSpPr>
        <p:spPr/>
        <p:txBody>
          <a:bodyPr/>
          <a:lstStyle/>
          <a:p>
            <a:r>
              <a:rPr lang="en-US" dirty="0"/>
              <a:t>Brain and emotion</a:t>
            </a:r>
            <a:endParaRPr lang="en-IN" dirty="0"/>
          </a:p>
        </p:txBody>
      </p:sp>
      <p:sp>
        <p:nvSpPr>
          <p:cNvPr id="3" name="Content Placeholder 2">
            <a:extLst>
              <a:ext uri="{FF2B5EF4-FFF2-40B4-BE49-F238E27FC236}">
                <a16:creationId xmlns:a16="http://schemas.microsoft.com/office/drawing/2014/main" id="{2CD9FE67-29D0-CCE0-C363-0EEFEED221C5}"/>
              </a:ext>
            </a:extLst>
          </p:cNvPr>
          <p:cNvSpPr>
            <a:spLocks noGrp="1"/>
          </p:cNvSpPr>
          <p:nvPr>
            <p:ph idx="1"/>
          </p:nvPr>
        </p:nvSpPr>
        <p:spPr>
          <a:xfrm>
            <a:off x="941407" y="1559110"/>
            <a:ext cx="10058400" cy="3931920"/>
          </a:xfrm>
        </p:spPr>
        <p:txBody>
          <a:bodyPr/>
          <a:lstStyle/>
          <a:p>
            <a:r>
              <a:rPr lang="en-IN" b="1" dirty="0">
                <a:latin typeface="Times New Roman" panose="02020603050405020304" pitchFamily="18" charset="0"/>
                <a:cs typeface="Times New Roman" panose="02020603050405020304" pitchFamily="18" charset="0"/>
              </a:rPr>
              <a:t>Amygdala: </a:t>
            </a:r>
            <a:r>
              <a:rPr lang="en-IN" dirty="0">
                <a:latin typeface="Times New Roman" panose="02020603050405020304" pitchFamily="18" charset="0"/>
                <a:cs typeface="Times New Roman" panose="02020603050405020304" pitchFamily="18" charset="0"/>
              </a:rPr>
              <a:t>Processes fear and threat-related stimuli.</a:t>
            </a:r>
          </a:p>
          <a:p>
            <a:r>
              <a:rPr lang="en-IN" b="1" dirty="0">
                <a:latin typeface="Times New Roman" panose="02020603050405020304" pitchFamily="18" charset="0"/>
                <a:cs typeface="Times New Roman" panose="02020603050405020304" pitchFamily="18" charset="0"/>
              </a:rPr>
              <a:t>Hypothalamus</a:t>
            </a:r>
            <a:r>
              <a:rPr lang="en-IN" dirty="0">
                <a:latin typeface="Times New Roman" panose="02020603050405020304" pitchFamily="18" charset="0"/>
                <a:cs typeface="Times New Roman" panose="02020603050405020304" pitchFamily="18" charset="0"/>
              </a:rPr>
              <a:t>: Regulates physiological responses.</a:t>
            </a:r>
          </a:p>
          <a:p>
            <a:r>
              <a:rPr lang="en-IN" b="1" dirty="0">
                <a:latin typeface="Times New Roman" panose="02020603050405020304" pitchFamily="18" charset="0"/>
                <a:cs typeface="Times New Roman" panose="02020603050405020304" pitchFamily="18" charset="0"/>
              </a:rPr>
              <a:t>Prefrontal Cortex</a:t>
            </a:r>
            <a:r>
              <a:rPr lang="en-IN" dirty="0">
                <a:latin typeface="Times New Roman" panose="02020603050405020304" pitchFamily="18" charset="0"/>
                <a:cs typeface="Times New Roman" panose="02020603050405020304" pitchFamily="18" charset="0"/>
              </a:rPr>
              <a:t>: Modulates emotional control and decision-making.</a:t>
            </a:r>
          </a:p>
          <a:p>
            <a:r>
              <a:rPr lang="en-IN" b="1" dirty="0">
                <a:latin typeface="Times New Roman" panose="02020603050405020304" pitchFamily="18" charset="0"/>
                <a:cs typeface="Times New Roman" panose="02020603050405020304" pitchFamily="18" charset="0"/>
              </a:rPr>
              <a:t>Limbic System</a:t>
            </a:r>
            <a:r>
              <a:rPr lang="en-IN" dirty="0">
                <a:latin typeface="Times New Roman" panose="02020603050405020304" pitchFamily="18" charset="0"/>
                <a:cs typeface="Times New Roman" panose="02020603050405020304" pitchFamily="18" charset="0"/>
              </a:rPr>
              <a:t>: Coordinates emotional responses</a:t>
            </a:r>
            <a:endParaRPr lang="en-IN" dirty="0"/>
          </a:p>
        </p:txBody>
      </p:sp>
      <p:pic>
        <p:nvPicPr>
          <p:cNvPr id="4" name="table">
            <a:extLst>
              <a:ext uri="{FF2B5EF4-FFF2-40B4-BE49-F238E27FC236}">
                <a16:creationId xmlns:a16="http://schemas.microsoft.com/office/drawing/2014/main" id="{42814840-D724-8B66-D6A0-A81AA1DDFAF9}"/>
              </a:ext>
            </a:extLst>
          </p:cNvPr>
          <p:cNvPicPr>
            <a:picLocks noChangeAspect="1"/>
          </p:cNvPicPr>
          <p:nvPr/>
        </p:nvPicPr>
        <p:blipFill>
          <a:blip r:embed="rId2"/>
          <a:stretch>
            <a:fillRect/>
          </a:stretch>
        </p:blipFill>
        <p:spPr>
          <a:xfrm>
            <a:off x="4215113" y="3050213"/>
            <a:ext cx="7174375" cy="3587188"/>
          </a:xfrm>
          <a:prstGeom prst="rect">
            <a:avLst/>
          </a:prstGeom>
        </p:spPr>
      </p:pic>
    </p:spTree>
    <p:extLst>
      <p:ext uri="{BB962C8B-B14F-4D97-AF65-F5344CB8AC3E}">
        <p14:creationId xmlns:p14="http://schemas.microsoft.com/office/powerpoint/2010/main" val="1334955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28</TotalTime>
  <Words>2121</Words>
  <Application>Microsoft Office PowerPoint</Application>
  <PresentationFormat>Widescreen</PresentationFormat>
  <Paragraphs>189</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Century Gothic</vt:lpstr>
      <vt:lpstr>Garamond</vt:lpstr>
      <vt:lpstr>Times New Roman</vt:lpstr>
      <vt:lpstr>Savon</vt:lpstr>
      <vt:lpstr>Personality, motivation and emotion unit-5</vt:lpstr>
      <vt:lpstr>Personality </vt:lpstr>
      <vt:lpstr>Psychoanalysis</vt:lpstr>
      <vt:lpstr>Psychoanalysis</vt:lpstr>
      <vt:lpstr>Psychosexual stages</vt:lpstr>
      <vt:lpstr>Psychosocial development</vt:lpstr>
      <vt:lpstr>Psychosocial development</vt:lpstr>
      <vt:lpstr>Big 5 Personality Theory</vt:lpstr>
      <vt:lpstr>Jung’s Personality Theory of  Extraverts/ Introverts</vt:lpstr>
      <vt:lpstr>  Type A / Type B Theory of Personality by Meyer Friedman and Ray Rosenman</vt:lpstr>
      <vt:lpstr>  Type A / Type B Theory of Personality by Meyer Friedman and Ray Rosenman</vt:lpstr>
      <vt:lpstr>  Type A / Type B Theory of Personality by Meyer Friedman and Ray Rosenman</vt:lpstr>
      <vt:lpstr>Bandura’s Social Learning Theory of Personality</vt:lpstr>
      <vt:lpstr>Motivation </vt:lpstr>
      <vt:lpstr>Factors of Motivation </vt:lpstr>
      <vt:lpstr>Types of Motivation </vt:lpstr>
      <vt:lpstr>Types of Motivation </vt:lpstr>
      <vt:lpstr>Maslow’s Law of Motivation (Hierarchy of Needs)</vt:lpstr>
      <vt:lpstr>Maslow’s Law of Motivation (Hierarchy of Needs)</vt:lpstr>
      <vt:lpstr>Emotion </vt:lpstr>
      <vt:lpstr>Components of Emotion </vt:lpstr>
      <vt:lpstr>Brain and emotion</vt:lpstr>
      <vt:lpstr>Brain and emotion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2025-11-20T13:25:47Z</dcterms:created>
  <dcterms:modified xsi:type="dcterms:W3CDTF">2025-11-20T14:10:20Z</dcterms:modified>
</cp:coreProperties>
</file>