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EB90D366-8056-4C70-B096-76DAB70A64B9}" type="datetimeFigureOut">
              <a:rPr lang="en-IN" smtClean="0"/>
              <a:t>20-11-2025</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CF053CD7-1BD0-470D-8FA2-2F1FCF664214}" type="slidenum">
              <a:rPr lang="en-IN" smtClean="0"/>
              <a:t>‹#›</a:t>
            </a:fld>
            <a:endParaRPr lang="en-IN"/>
          </a:p>
        </p:txBody>
      </p:sp>
    </p:spTree>
    <p:extLst>
      <p:ext uri="{BB962C8B-B14F-4D97-AF65-F5344CB8AC3E}">
        <p14:creationId xmlns:p14="http://schemas.microsoft.com/office/powerpoint/2010/main" val="351629651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90D366-8056-4C70-B096-76DAB70A64B9}"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F053CD7-1BD0-470D-8FA2-2F1FCF664214}" type="slidenum">
              <a:rPr lang="en-IN" smtClean="0"/>
              <a:t>‹#›</a:t>
            </a:fld>
            <a:endParaRPr lang="en-IN"/>
          </a:p>
        </p:txBody>
      </p:sp>
    </p:spTree>
    <p:extLst>
      <p:ext uri="{BB962C8B-B14F-4D97-AF65-F5344CB8AC3E}">
        <p14:creationId xmlns:p14="http://schemas.microsoft.com/office/powerpoint/2010/main" val="2810526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EB90D366-8056-4C70-B096-76DAB70A64B9}" type="datetimeFigureOut">
              <a:rPr lang="en-IN" smtClean="0"/>
              <a:t>20-11-2025</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CF053CD7-1BD0-470D-8FA2-2F1FCF664214}" type="slidenum">
              <a:rPr lang="en-IN" smtClean="0"/>
              <a:t>‹#›</a:t>
            </a:fld>
            <a:endParaRPr lang="en-IN"/>
          </a:p>
        </p:txBody>
      </p:sp>
    </p:spTree>
    <p:extLst>
      <p:ext uri="{BB962C8B-B14F-4D97-AF65-F5344CB8AC3E}">
        <p14:creationId xmlns:p14="http://schemas.microsoft.com/office/powerpoint/2010/main" val="162358568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90D366-8056-4C70-B096-76DAB70A64B9}"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053CD7-1BD0-470D-8FA2-2F1FCF664214}" type="slidenum">
              <a:rPr lang="en-IN" smtClean="0"/>
              <a:t>‹#›</a:t>
            </a:fld>
            <a:endParaRPr lang="en-IN"/>
          </a:p>
        </p:txBody>
      </p:sp>
    </p:spTree>
    <p:extLst>
      <p:ext uri="{BB962C8B-B14F-4D97-AF65-F5344CB8AC3E}">
        <p14:creationId xmlns:p14="http://schemas.microsoft.com/office/powerpoint/2010/main" val="502692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90D366-8056-4C70-B096-76DAB70A64B9}"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F053CD7-1BD0-470D-8FA2-2F1FCF664214}" type="slidenum">
              <a:rPr lang="en-IN" smtClean="0"/>
              <a:t>‹#›</a:t>
            </a:fld>
            <a:endParaRPr lang="en-IN"/>
          </a:p>
        </p:txBody>
      </p:sp>
    </p:spTree>
    <p:extLst>
      <p:ext uri="{BB962C8B-B14F-4D97-AF65-F5344CB8AC3E}">
        <p14:creationId xmlns:p14="http://schemas.microsoft.com/office/powerpoint/2010/main" val="3956179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90D366-8056-4C70-B096-76DAB70A64B9}"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F053CD7-1BD0-470D-8FA2-2F1FCF664214}" type="slidenum">
              <a:rPr lang="en-IN" smtClean="0"/>
              <a:t>‹#›</a:t>
            </a:fld>
            <a:endParaRPr lang="en-IN"/>
          </a:p>
        </p:txBody>
      </p:sp>
    </p:spTree>
    <p:extLst>
      <p:ext uri="{BB962C8B-B14F-4D97-AF65-F5344CB8AC3E}">
        <p14:creationId xmlns:p14="http://schemas.microsoft.com/office/powerpoint/2010/main" val="3758580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90D366-8056-4C70-B096-76DAB70A64B9}"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F053CD7-1BD0-470D-8FA2-2F1FCF664214}" type="slidenum">
              <a:rPr lang="en-IN" smtClean="0"/>
              <a:t>‹#›</a:t>
            </a:fld>
            <a:endParaRPr lang="en-IN"/>
          </a:p>
        </p:txBody>
      </p:sp>
    </p:spTree>
    <p:extLst>
      <p:ext uri="{BB962C8B-B14F-4D97-AF65-F5344CB8AC3E}">
        <p14:creationId xmlns:p14="http://schemas.microsoft.com/office/powerpoint/2010/main" val="742036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EB90D366-8056-4C70-B096-76DAB70A64B9}" type="datetimeFigureOut">
              <a:rPr lang="en-IN" smtClean="0"/>
              <a:t>20-11-2025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CF053CD7-1BD0-470D-8FA2-2F1FCF664214}"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98967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EB90D366-8056-4C70-B096-76DAB70A64B9}" type="datetimeFigureOut">
              <a:rPr lang="en-IN" smtClean="0"/>
              <a:t>20-11-2025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CF053CD7-1BD0-470D-8FA2-2F1FCF664214}"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9762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90D366-8056-4C70-B096-76DAB70A64B9}"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053CD7-1BD0-470D-8FA2-2F1FCF664214}" type="slidenum">
              <a:rPr lang="en-IN" smtClean="0"/>
              <a:t>‹#›</a:t>
            </a:fld>
            <a:endParaRPr lang="en-IN"/>
          </a:p>
        </p:txBody>
      </p:sp>
    </p:spTree>
    <p:extLst>
      <p:ext uri="{BB962C8B-B14F-4D97-AF65-F5344CB8AC3E}">
        <p14:creationId xmlns:p14="http://schemas.microsoft.com/office/powerpoint/2010/main" val="2795140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90D366-8056-4C70-B096-76DAB70A64B9}"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053CD7-1BD0-470D-8FA2-2F1FCF664214}" type="slidenum">
              <a:rPr lang="en-IN" smtClean="0"/>
              <a:t>‹#›</a:t>
            </a:fld>
            <a:endParaRPr lang="en-IN"/>
          </a:p>
        </p:txBody>
      </p:sp>
    </p:spTree>
    <p:extLst>
      <p:ext uri="{BB962C8B-B14F-4D97-AF65-F5344CB8AC3E}">
        <p14:creationId xmlns:p14="http://schemas.microsoft.com/office/powerpoint/2010/main" val="3123743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EB90D366-8056-4C70-B096-76DAB70A64B9}" type="datetimeFigureOut">
              <a:rPr lang="en-IN" smtClean="0"/>
              <a:t>20-11-2025</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CF053CD7-1BD0-470D-8FA2-2F1FCF664214}" type="slidenum">
              <a:rPr lang="en-IN" smtClean="0"/>
              <a:t>‹#›</a:t>
            </a:fld>
            <a:endParaRPr lang="en-IN"/>
          </a:p>
        </p:txBody>
      </p:sp>
    </p:spTree>
    <p:extLst>
      <p:ext uri="{BB962C8B-B14F-4D97-AF65-F5344CB8AC3E}">
        <p14:creationId xmlns:p14="http://schemas.microsoft.com/office/powerpoint/2010/main" val="32006021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C42C1-B467-5EC2-4EAE-97F08A085895}"/>
              </a:ext>
            </a:extLst>
          </p:cNvPr>
          <p:cNvSpPr>
            <a:spLocks noGrp="1"/>
          </p:cNvSpPr>
          <p:nvPr>
            <p:ph type="ctrTitle"/>
          </p:nvPr>
        </p:nvSpPr>
        <p:spPr/>
        <p:txBody>
          <a:bodyPr/>
          <a:lstStyle/>
          <a:p>
            <a:r>
              <a:rPr lang="en-US" dirty="0"/>
              <a:t>Attitude and stress unit-6</a:t>
            </a:r>
            <a:endParaRPr lang="en-IN" dirty="0"/>
          </a:p>
        </p:txBody>
      </p:sp>
      <p:sp>
        <p:nvSpPr>
          <p:cNvPr id="3" name="Subtitle 2">
            <a:extLst>
              <a:ext uri="{FF2B5EF4-FFF2-40B4-BE49-F238E27FC236}">
                <a16:creationId xmlns:a16="http://schemas.microsoft.com/office/drawing/2014/main" id="{8DBBF704-3E63-DCB6-D2AE-55FBC57B0AD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48752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C167F-D7BC-DEB0-19C7-2D8B9BE0D0FA}"/>
              </a:ext>
            </a:extLst>
          </p:cNvPr>
          <p:cNvSpPr>
            <a:spLocks noGrp="1"/>
          </p:cNvSpPr>
          <p:nvPr>
            <p:ph type="title"/>
          </p:nvPr>
        </p:nvSpPr>
        <p:spPr/>
        <p:txBody>
          <a:bodyPr/>
          <a:lstStyle/>
          <a:p>
            <a:r>
              <a:rPr lang="en-US" dirty="0"/>
              <a:t>Attitude </a:t>
            </a:r>
            <a:endParaRPr lang="en-IN" dirty="0"/>
          </a:p>
        </p:txBody>
      </p:sp>
      <p:sp>
        <p:nvSpPr>
          <p:cNvPr id="3" name="Content Placeholder 2">
            <a:extLst>
              <a:ext uri="{FF2B5EF4-FFF2-40B4-BE49-F238E27FC236}">
                <a16:creationId xmlns:a16="http://schemas.microsoft.com/office/drawing/2014/main" id="{B2F1481A-9FB5-A7CF-10F6-C84A70CD7F3D}"/>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R</a:t>
            </a:r>
            <a:r>
              <a:rPr lang="en-US" dirty="0" err="1">
                <a:latin typeface="Times New Roman" panose="02020603050405020304" pitchFamily="18" charset="0"/>
                <a:cs typeface="Times New Roman" panose="02020603050405020304" pitchFamily="18" charset="0"/>
              </a:rPr>
              <a:t>elatively</a:t>
            </a:r>
            <a:r>
              <a:rPr lang="en-US" dirty="0">
                <a:latin typeface="Times New Roman" panose="02020603050405020304" pitchFamily="18" charset="0"/>
                <a:cs typeface="Times New Roman" panose="02020603050405020304" pitchFamily="18" charset="0"/>
              </a:rPr>
              <a:t> enduring and general evaluation of an object, person, group, issue, or concept on a dimension ranging from negative to positive</a:t>
            </a:r>
          </a:p>
          <a:p>
            <a:endParaRPr lang="en-IN" dirty="0"/>
          </a:p>
        </p:txBody>
      </p:sp>
    </p:spTree>
    <p:extLst>
      <p:ext uri="{BB962C8B-B14F-4D97-AF65-F5344CB8AC3E}">
        <p14:creationId xmlns:p14="http://schemas.microsoft.com/office/powerpoint/2010/main" val="3324937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7CCEA-7CE4-9324-66A7-CAB10FAAE1E5}"/>
              </a:ext>
            </a:extLst>
          </p:cNvPr>
          <p:cNvSpPr>
            <a:spLocks noGrp="1"/>
          </p:cNvSpPr>
          <p:nvPr>
            <p:ph type="title"/>
          </p:nvPr>
        </p:nvSpPr>
        <p:spPr/>
        <p:txBody>
          <a:bodyPr/>
          <a:lstStyle/>
          <a:p>
            <a:r>
              <a:rPr lang="en-IN" dirty="0"/>
              <a:t>Components of Attitude</a:t>
            </a:r>
          </a:p>
        </p:txBody>
      </p:sp>
      <p:sp>
        <p:nvSpPr>
          <p:cNvPr id="3" name="Content Placeholder 2">
            <a:extLst>
              <a:ext uri="{FF2B5EF4-FFF2-40B4-BE49-F238E27FC236}">
                <a16:creationId xmlns:a16="http://schemas.microsoft.com/office/drawing/2014/main" id="{C15D97D3-4FA9-97EB-3D00-B6F36E80C0F8}"/>
              </a:ext>
            </a:extLst>
          </p:cNvPr>
          <p:cNvSpPr>
            <a:spLocks noGrp="1"/>
          </p:cNvSpPr>
          <p:nvPr>
            <p:ph idx="1"/>
          </p:nvPr>
        </p:nvSpPr>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1.    Cognitive component:</a:t>
            </a:r>
            <a:r>
              <a:rPr lang="en-US" dirty="0">
                <a:latin typeface="Times New Roman" panose="02020603050405020304" pitchFamily="18" charset="0"/>
                <a:cs typeface="Times New Roman" panose="02020603050405020304" pitchFamily="18" charset="0"/>
              </a:rPr>
              <a:t> It refers to the beliefs, thoughts, and attributes that people associate with a particular object. </a:t>
            </a:r>
          </a:p>
          <a:p>
            <a:pPr marL="0" indent="0">
              <a:buNone/>
            </a:pPr>
            <a:r>
              <a:rPr lang="en-US" dirty="0">
                <a:latin typeface="Times New Roman" panose="02020603050405020304" pitchFamily="18" charset="0"/>
                <a:cs typeface="Times New Roman" panose="02020603050405020304" pitchFamily="18" charset="0"/>
              </a:rPr>
              <a:t> •    A person's attitude is frequently influenced by the negative and positive characteristics they associate with an object. </a:t>
            </a:r>
          </a:p>
          <a:p>
            <a:pPr marL="0" indent="0">
              <a:buNone/>
            </a:pPr>
            <a:r>
              <a:rPr lang="en-US" dirty="0">
                <a:latin typeface="Times New Roman" panose="02020603050405020304" pitchFamily="18" charset="0"/>
                <a:cs typeface="Times New Roman" panose="02020603050405020304" pitchFamily="18" charset="0"/>
              </a:rPr>
              <a:t> •    It is the cognitive part of an attitude that we are talking about when we form our opinion or judgement based on available information and decide whether we have a </a:t>
            </a:r>
            <a:r>
              <a:rPr lang="en-US" dirty="0" err="1">
                <a:latin typeface="Times New Roman" panose="02020603050405020304" pitchFamily="18" charset="0"/>
                <a:cs typeface="Times New Roman" panose="02020603050405020304" pitchFamily="18" charset="0"/>
              </a:rPr>
              <a:t>favourable</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unfavourable</a:t>
            </a:r>
            <a:r>
              <a:rPr lang="en-US" dirty="0">
                <a:latin typeface="Times New Roman" panose="02020603050405020304" pitchFamily="18" charset="0"/>
                <a:cs typeface="Times New Roman" panose="02020603050405020304" pitchFamily="18" charset="0"/>
              </a:rPr>
              <a:t> opinion on it.</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2.    Affective component: </a:t>
            </a:r>
            <a:r>
              <a:rPr lang="en-US" dirty="0">
                <a:latin typeface="Times New Roman" panose="02020603050405020304" pitchFamily="18" charset="0"/>
                <a:cs typeface="Times New Roman" panose="02020603050405020304" pitchFamily="18" charset="0"/>
              </a:rPr>
              <a:t>The affective component of attitudes is linked to people's feelings or emotions (e.g., fear, sympathy, hate, like, and pleasure). </a:t>
            </a:r>
          </a:p>
          <a:p>
            <a:pPr marL="0" indent="0">
              <a:buNone/>
            </a:pPr>
            <a:r>
              <a:rPr lang="en-US" dirty="0">
                <a:latin typeface="Times New Roman" panose="02020603050405020304" pitchFamily="18" charset="0"/>
                <a:cs typeface="Times New Roman" panose="02020603050405020304" pitchFamily="18" charset="0"/>
              </a:rPr>
              <a:t> •    Affective responses have a variety of effects on attitudes.</a:t>
            </a:r>
          </a:p>
          <a:p>
            <a:pPr marL="0" indent="0">
              <a:buNone/>
            </a:pPr>
            <a:r>
              <a:rPr lang="en-US" dirty="0">
                <a:latin typeface="Times New Roman" panose="02020603050405020304" pitchFamily="18" charset="0"/>
                <a:cs typeface="Times New Roman" panose="02020603050405020304" pitchFamily="18" charset="0"/>
              </a:rPr>
              <a:t> •    Many people, for example, are afraid of spiders. As a result of this negative affective response, you're likely to have a negative attitude toward spiders. </a:t>
            </a:r>
          </a:p>
          <a:p>
            <a:pPr marL="0" indent="0">
              <a:buNone/>
            </a:pPr>
            <a:r>
              <a:rPr lang="en-US" dirty="0">
                <a:latin typeface="Times New Roman" panose="02020603050405020304" pitchFamily="18" charset="0"/>
                <a:cs typeface="Times New Roman" panose="02020603050405020304" pitchFamily="18" charset="0"/>
              </a:rPr>
              <a:t> •    Affect plays a crucial role in the formation of attitudes. </a:t>
            </a:r>
          </a:p>
          <a:p>
            <a:pPr marL="0" indent="0">
              <a:buNone/>
            </a:pPr>
            <a:r>
              <a:rPr lang="en-US" dirty="0">
                <a:latin typeface="Times New Roman" panose="02020603050405020304" pitchFamily="18" charset="0"/>
                <a:cs typeface="Times New Roman" panose="02020603050405020304" pitchFamily="18" charset="0"/>
              </a:rPr>
              <a:t> •    Affect is also a common factor in changing one's mind. Purely cognitive rationales may be overridden by how we feel about a result.</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3.    </a:t>
            </a:r>
            <a:r>
              <a:rPr lang="en-US" b="1" dirty="0" err="1">
                <a:latin typeface="Times New Roman" panose="02020603050405020304" pitchFamily="18" charset="0"/>
                <a:cs typeface="Times New Roman" panose="02020603050405020304" pitchFamily="18" charset="0"/>
              </a:rPr>
              <a:t>Behavioural</a:t>
            </a:r>
            <a:r>
              <a:rPr lang="en-US" b="1" dirty="0">
                <a:latin typeface="Times New Roman" panose="02020603050405020304" pitchFamily="18" charset="0"/>
                <a:cs typeface="Times New Roman" panose="02020603050405020304" pitchFamily="18" charset="0"/>
              </a:rPr>
              <a:t> component:</a:t>
            </a:r>
            <a:r>
              <a:rPr lang="en-US" dirty="0">
                <a:latin typeface="Times New Roman" panose="02020603050405020304" pitchFamily="18" charset="0"/>
                <a:cs typeface="Times New Roman" panose="02020603050405020304" pitchFamily="18" charset="0"/>
              </a:rPr>
              <a:t> A tendency or predisposition to act in a certain way is referred to as the </a:t>
            </a:r>
            <a:r>
              <a:rPr lang="en-US" dirty="0" err="1">
                <a:latin typeface="Times New Roman" panose="02020603050405020304" pitchFamily="18" charset="0"/>
                <a:cs typeface="Times New Roman" panose="02020603050405020304" pitchFamily="18" charset="0"/>
              </a:rPr>
              <a:t>behavioural</a:t>
            </a:r>
            <a:r>
              <a:rPr lang="en-US" dirty="0">
                <a:latin typeface="Times New Roman" panose="02020603050405020304" pitchFamily="18" charset="0"/>
                <a:cs typeface="Times New Roman" panose="02020603050405020304" pitchFamily="18" charset="0"/>
              </a:rPr>
              <a:t> (or conative) component of attitudes. </a:t>
            </a:r>
          </a:p>
          <a:p>
            <a:pPr marL="0" indent="0">
              <a:buNone/>
            </a:pPr>
            <a:r>
              <a:rPr lang="en-US" dirty="0">
                <a:latin typeface="Times New Roman" panose="02020603050405020304" pitchFamily="18" charset="0"/>
                <a:cs typeface="Times New Roman" panose="02020603050405020304" pitchFamily="18" charset="0"/>
              </a:rPr>
              <a:t> o    Affective and cognitive factors may contribute to a person's proclivity to behave in a certain way.</a:t>
            </a:r>
          </a:p>
          <a:p>
            <a:endParaRPr lang="en-IN" dirty="0"/>
          </a:p>
        </p:txBody>
      </p:sp>
    </p:spTree>
    <p:extLst>
      <p:ext uri="{BB962C8B-B14F-4D97-AF65-F5344CB8AC3E}">
        <p14:creationId xmlns:p14="http://schemas.microsoft.com/office/powerpoint/2010/main" val="786726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FCDF7-9DD1-2B31-0AB2-3413D5DB8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24A90-750C-6B4C-E8BD-9BDE5AD08E16}"/>
              </a:ext>
            </a:extLst>
          </p:cNvPr>
          <p:cNvSpPr>
            <a:spLocks noGrp="1"/>
          </p:cNvSpPr>
          <p:nvPr>
            <p:ph type="title"/>
          </p:nvPr>
        </p:nvSpPr>
        <p:spPr/>
        <p:txBody>
          <a:bodyPr/>
          <a:lstStyle/>
          <a:p>
            <a:endParaRPr lang="en-IN" dirty="0"/>
          </a:p>
        </p:txBody>
      </p:sp>
      <p:pic>
        <p:nvPicPr>
          <p:cNvPr id="6" name="table">
            <a:extLst>
              <a:ext uri="{FF2B5EF4-FFF2-40B4-BE49-F238E27FC236}">
                <a16:creationId xmlns:a16="http://schemas.microsoft.com/office/drawing/2014/main" id="{66DEB41D-ABB5-B624-69C1-CE741DABBDD7}"/>
              </a:ext>
            </a:extLst>
          </p:cNvPr>
          <p:cNvPicPr>
            <a:picLocks noGrp="1" noChangeAspect="1"/>
          </p:cNvPicPr>
          <p:nvPr>
            <p:ph idx="1"/>
          </p:nvPr>
        </p:nvPicPr>
        <p:blipFill>
          <a:blip r:embed="rId2"/>
          <a:stretch>
            <a:fillRect/>
          </a:stretch>
        </p:blipFill>
        <p:spPr>
          <a:xfrm>
            <a:off x="2077894" y="2103438"/>
            <a:ext cx="8036212" cy="3932237"/>
          </a:xfrm>
          <a:prstGeom prst="rect">
            <a:avLst/>
          </a:prstGeom>
        </p:spPr>
      </p:pic>
    </p:spTree>
    <p:extLst>
      <p:ext uri="{BB962C8B-B14F-4D97-AF65-F5344CB8AC3E}">
        <p14:creationId xmlns:p14="http://schemas.microsoft.com/office/powerpoint/2010/main" val="4242572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1DD00-65C2-824E-51D1-EEFD556FB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0249FD-9A86-1D9A-6321-400021C52DFC}"/>
              </a:ext>
            </a:extLst>
          </p:cNvPr>
          <p:cNvSpPr>
            <a:spLocks noGrp="1"/>
          </p:cNvSpPr>
          <p:nvPr>
            <p:ph type="title"/>
          </p:nvPr>
        </p:nvSpPr>
        <p:spPr/>
        <p:txBody>
          <a:bodyPr>
            <a:normAutofit fontScale="90000"/>
          </a:bodyPr>
          <a:lstStyle/>
          <a:p>
            <a:r>
              <a:rPr lang="en-US" dirty="0"/>
              <a:t>Attitudes – characteristics (nature)</a:t>
            </a:r>
            <a:endParaRPr lang="en-IN" dirty="0"/>
          </a:p>
        </p:txBody>
      </p:sp>
      <p:sp>
        <p:nvSpPr>
          <p:cNvPr id="4" name="Content Placeholder 3">
            <a:extLst>
              <a:ext uri="{FF2B5EF4-FFF2-40B4-BE49-F238E27FC236}">
                <a16:creationId xmlns:a16="http://schemas.microsoft.com/office/drawing/2014/main" id="{180402C2-62BB-403D-12D6-F4F17CD01C7E}"/>
              </a:ext>
            </a:extLst>
          </p:cNvPr>
          <p:cNvSpPr>
            <a:spLocks noGrp="1"/>
          </p:cNvSpPr>
          <p:nvPr>
            <p:ph idx="1"/>
          </p:nvPr>
        </p:nvSpPr>
        <p:spPr/>
        <p:txBody>
          <a:bodyPr>
            <a:normAutofit fontScale="70000" lnSpcReduction="20000"/>
          </a:bodyPr>
          <a:lstStyle/>
          <a:p>
            <a:pPr algn="just">
              <a:lnSpc>
                <a:spcPct val="170000"/>
              </a:lnSpc>
              <a:spcBef>
                <a:spcPts val="600"/>
              </a:spcBef>
              <a:spcAft>
                <a:spcPts val="600"/>
              </a:spcAft>
            </a:pPr>
            <a:r>
              <a:rPr lang="en-US" b="1" dirty="0"/>
              <a:t>Learned</a:t>
            </a:r>
            <a:r>
              <a:rPr lang="en-US" dirty="0"/>
              <a:t>: Attitudes are not innate but are acquired over time through personal experiences and social interactions. </a:t>
            </a:r>
          </a:p>
          <a:p>
            <a:pPr algn="just">
              <a:lnSpc>
                <a:spcPct val="170000"/>
              </a:lnSpc>
              <a:spcBef>
                <a:spcPts val="600"/>
              </a:spcBef>
              <a:spcAft>
                <a:spcPts val="600"/>
              </a:spcAft>
            </a:pPr>
            <a:r>
              <a:rPr lang="en-US" b="1" dirty="0"/>
              <a:t>Evaluative</a:t>
            </a:r>
            <a:r>
              <a:rPr lang="en-US" dirty="0"/>
              <a:t>: All attitudes are evaluative in nature, expressing a positive, negative, or neutral judgment about something. </a:t>
            </a:r>
          </a:p>
          <a:p>
            <a:pPr algn="just">
              <a:lnSpc>
                <a:spcPct val="170000"/>
              </a:lnSpc>
              <a:spcBef>
                <a:spcPts val="600"/>
              </a:spcBef>
              <a:spcAft>
                <a:spcPts val="600"/>
              </a:spcAft>
            </a:pPr>
            <a:r>
              <a:rPr lang="en-US" b="1" dirty="0"/>
              <a:t>Directional</a:t>
            </a:r>
            <a:r>
              <a:rPr lang="en-US" dirty="0"/>
              <a:t>: Attitudes are directed toward specific objects, people, ideas, or events. </a:t>
            </a:r>
          </a:p>
          <a:p>
            <a:pPr algn="just">
              <a:lnSpc>
                <a:spcPct val="170000"/>
              </a:lnSpc>
              <a:spcBef>
                <a:spcPts val="600"/>
              </a:spcBef>
              <a:spcAft>
                <a:spcPts val="600"/>
              </a:spcAft>
            </a:pPr>
            <a:r>
              <a:rPr lang="en-US" b="1" dirty="0"/>
              <a:t>Indirectly Observable</a:t>
            </a:r>
            <a:r>
              <a:rPr lang="en-US" dirty="0"/>
              <a:t>: While attitudes are internal psychological phenomena, they can be inferred by observing a person's behavior and expressions. </a:t>
            </a:r>
          </a:p>
          <a:p>
            <a:pPr algn="just">
              <a:lnSpc>
                <a:spcPct val="170000"/>
              </a:lnSpc>
              <a:spcBef>
                <a:spcPts val="600"/>
              </a:spcBef>
              <a:spcAft>
                <a:spcPts val="600"/>
              </a:spcAft>
            </a:pPr>
            <a:r>
              <a:rPr lang="en-US" b="1" dirty="0"/>
              <a:t>Motivational</a:t>
            </a:r>
            <a:r>
              <a:rPr lang="en-US" dirty="0"/>
              <a:t>: Attitudes provide a motivational property that directs our behavior and efforts in a particular direction. Attitudes influence our perceptions, judgments, and behaviors, guiding how we interact with the world around us. </a:t>
            </a:r>
            <a:endParaRPr lang="en-IN" dirty="0"/>
          </a:p>
          <a:p>
            <a:endParaRPr lang="en-IN" dirty="0"/>
          </a:p>
        </p:txBody>
      </p:sp>
    </p:spTree>
    <p:extLst>
      <p:ext uri="{BB962C8B-B14F-4D97-AF65-F5344CB8AC3E}">
        <p14:creationId xmlns:p14="http://schemas.microsoft.com/office/powerpoint/2010/main" val="2328682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1F65-46CE-A36D-2952-C1859675F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8370A-A094-1DAF-2332-079130A96593}"/>
              </a:ext>
            </a:extLst>
          </p:cNvPr>
          <p:cNvSpPr>
            <a:spLocks noGrp="1"/>
          </p:cNvSpPr>
          <p:nvPr>
            <p:ph type="title"/>
          </p:nvPr>
        </p:nvSpPr>
        <p:spPr/>
        <p:txBody>
          <a:bodyPr>
            <a:normAutofit/>
          </a:bodyPr>
          <a:lstStyle/>
          <a:p>
            <a:r>
              <a:rPr lang="en-IN" dirty="0"/>
              <a:t>Development of Attitude</a:t>
            </a:r>
          </a:p>
        </p:txBody>
      </p:sp>
      <p:sp>
        <p:nvSpPr>
          <p:cNvPr id="4" name="Content Placeholder 3">
            <a:extLst>
              <a:ext uri="{FF2B5EF4-FFF2-40B4-BE49-F238E27FC236}">
                <a16:creationId xmlns:a16="http://schemas.microsoft.com/office/drawing/2014/main" id="{BA3B871B-09C6-89D7-FDC8-1FDE5C135815}"/>
              </a:ext>
            </a:extLst>
          </p:cNvPr>
          <p:cNvSpPr>
            <a:spLocks noGrp="1"/>
          </p:cNvSpPr>
          <p:nvPr>
            <p:ph idx="1"/>
          </p:nvPr>
        </p:nvSpPr>
        <p:spPr/>
        <p:txBody>
          <a:bodyPr>
            <a:normAutofit lnSpcReduction="10000"/>
          </a:bodyPr>
          <a:lstStyle/>
          <a:p>
            <a:pPr marL="0" indent="0" fontAlgn="base">
              <a:buNone/>
            </a:pPr>
            <a:r>
              <a:rPr lang="en-US" dirty="0"/>
              <a:t>Several factors can influence how and why attitudes form, including:</a:t>
            </a:r>
          </a:p>
          <a:p>
            <a:pPr marL="457200" indent="-457200" fontAlgn="base">
              <a:buFont typeface="+mj-lt"/>
              <a:buAutoNum type="arabicPeriod"/>
            </a:pPr>
            <a:r>
              <a:rPr lang="en-US" b="1" dirty="0"/>
              <a:t>Experience</a:t>
            </a:r>
          </a:p>
          <a:p>
            <a:pPr fontAlgn="base"/>
            <a:r>
              <a:rPr lang="en-US" dirty="0"/>
              <a:t>Attitudes form directly as a result of experience. They may emerge due to direct personal experience, or they may result from observation.</a:t>
            </a:r>
          </a:p>
          <a:p>
            <a:pPr marL="0" indent="0" fontAlgn="base">
              <a:buNone/>
            </a:pPr>
            <a:r>
              <a:rPr lang="en-US" dirty="0"/>
              <a:t>2</a:t>
            </a:r>
            <a:r>
              <a:rPr lang="en-US" b="1" dirty="0"/>
              <a:t>.  Social Factors</a:t>
            </a:r>
          </a:p>
          <a:p>
            <a:pPr fontAlgn="base"/>
            <a:r>
              <a:rPr lang="en-US" dirty="0"/>
              <a:t>Social roles and social norms can have a strong influence on attitudes. Social roles relate to how people are expected to behave in a particular role or context. Social norms involve society's rules for what behaviors are considered appropriate</a:t>
            </a:r>
          </a:p>
          <a:p>
            <a:pPr marL="0" indent="0" fontAlgn="base">
              <a:buNone/>
            </a:pPr>
            <a:r>
              <a:rPr lang="en-US" dirty="0"/>
              <a:t>3. </a:t>
            </a:r>
            <a:r>
              <a:rPr lang="en-US" b="1" dirty="0"/>
              <a:t>Observation</a:t>
            </a:r>
          </a:p>
          <a:p>
            <a:pPr marL="263525" indent="0" fontAlgn="base">
              <a:buNone/>
            </a:pPr>
            <a:r>
              <a:rPr lang="en-US" dirty="0"/>
              <a:t>Finally, people also learn attitudes by observing people around them. When someone you admire greatly espouses a particular attitude, you are more likely to develop the same beliefs.</a:t>
            </a:r>
          </a:p>
          <a:p>
            <a:endParaRPr lang="en-IN" dirty="0"/>
          </a:p>
        </p:txBody>
      </p:sp>
    </p:spTree>
    <p:extLst>
      <p:ext uri="{BB962C8B-B14F-4D97-AF65-F5344CB8AC3E}">
        <p14:creationId xmlns:p14="http://schemas.microsoft.com/office/powerpoint/2010/main" val="1325642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54DC5-4C55-7532-8FEB-099F0DC7D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31F2F-851F-F74E-4B55-5C81F7EA7429}"/>
              </a:ext>
            </a:extLst>
          </p:cNvPr>
          <p:cNvSpPr>
            <a:spLocks noGrp="1"/>
          </p:cNvSpPr>
          <p:nvPr>
            <p:ph type="title"/>
          </p:nvPr>
        </p:nvSpPr>
        <p:spPr/>
        <p:txBody>
          <a:bodyPr>
            <a:normAutofit/>
          </a:bodyPr>
          <a:lstStyle/>
          <a:p>
            <a:r>
              <a:rPr lang="en-IN" dirty="0"/>
              <a:t>Stress</a:t>
            </a:r>
          </a:p>
        </p:txBody>
      </p:sp>
      <p:sp>
        <p:nvSpPr>
          <p:cNvPr id="4" name="Content Placeholder 3">
            <a:extLst>
              <a:ext uri="{FF2B5EF4-FFF2-40B4-BE49-F238E27FC236}">
                <a16:creationId xmlns:a16="http://schemas.microsoft.com/office/drawing/2014/main" id="{32698D43-FFD7-E869-DD2A-1CE88F4979AE}"/>
              </a:ext>
            </a:extLst>
          </p:cNvPr>
          <p:cNvSpPr>
            <a:spLocks noGrp="1"/>
          </p:cNvSpPr>
          <p:nvPr>
            <p:ph idx="1"/>
          </p:nvPr>
        </p:nvSpPr>
        <p:spPr/>
        <p:txBody>
          <a:bodyPr>
            <a:normAutofit/>
          </a:bodyPr>
          <a:lstStyle/>
          <a:p>
            <a:pPr algn="just"/>
            <a:r>
              <a:rPr lang="en-IN" i="1" dirty="0"/>
              <a:t>Our response to events that disrupt, or threaten to disrupt, our physical or psychological functioning </a:t>
            </a:r>
          </a:p>
          <a:p>
            <a:pPr marL="0" indent="0" algn="r">
              <a:buNone/>
            </a:pPr>
            <a:r>
              <a:rPr lang="en-IN" dirty="0"/>
              <a:t>-(Lazarus &amp; Folkman, 1984).</a:t>
            </a:r>
          </a:p>
          <a:p>
            <a:endParaRPr lang="en-US" dirty="0">
              <a:solidFill>
                <a:srgbClr val="1F1F1F"/>
              </a:solidFill>
              <a:highlight>
                <a:srgbClr val="FFFFFF"/>
              </a:highlight>
            </a:endParaRPr>
          </a:p>
          <a:p>
            <a:pPr marL="0" indent="0">
              <a:buNone/>
            </a:pPr>
            <a:endParaRPr lang="en-IN" dirty="0"/>
          </a:p>
        </p:txBody>
      </p:sp>
    </p:spTree>
    <p:extLst>
      <p:ext uri="{BB962C8B-B14F-4D97-AF65-F5344CB8AC3E}">
        <p14:creationId xmlns:p14="http://schemas.microsoft.com/office/powerpoint/2010/main" val="3392214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E2D6A-55B0-AB3E-A8FC-1418B70D6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30850-D9F9-4864-4F27-09D4FC1108FF}"/>
              </a:ext>
            </a:extLst>
          </p:cNvPr>
          <p:cNvSpPr>
            <a:spLocks noGrp="1"/>
          </p:cNvSpPr>
          <p:nvPr>
            <p:ph type="title"/>
          </p:nvPr>
        </p:nvSpPr>
        <p:spPr/>
        <p:txBody>
          <a:bodyPr>
            <a:normAutofit/>
          </a:bodyPr>
          <a:lstStyle/>
          <a:p>
            <a:r>
              <a:rPr lang="en-IN" dirty="0"/>
              <a:t>Types of Stress</a:t>
            </a:r>
          </a:p>
        </p:txBody>
      </p:sp>
      <p:sp>
        <p:nvSpPr>
          <p:cNvPr id="4" name="Content Placeholder 3">
            <a:extLst>
              <a:ext uri="{FF2B5EF4-FFF2-40B4-BE49-F238E27FC236}">
                <a16:creationId xmlns:a16="http://schemas.microsoft.com/office/drawing/2014/main" id="{DDAF29F7-2D68-A3F0-8C8C-658E25C3DA71}"/>
              </a:ext>
            </a:extLst>
          </p:cNvPr>
          <p:cNvSpPr>
            <a:spLocks noGrp="1"/>
          </p:cNvSpPr>
          <p:nvPr>
            <p:ph idx="1"/>
          </p:nvPr>
        </p:nvSpPr>
        <p:spPr>
          <a:xfrm>
            <a:off x="1066800" y="1706880"/>
            <a:ext cx="10058400" cy="4328160"/>
          </a:xfrm>
        </p:spPr>
        <p:txBody>
          <a:bodyPr>
            <a:normAutofit fontScale="77500" lnSpcReduction="20000"/>
          </a:bodyPr>
          <a:lstStyle/>
          <a:p>
            <a:pPr marL="0" indent="0">
              <a:buNone/>
            </a:pPr>
            <a:r>
              <a:rPr lang="en-US" b="1" dirty="0"/>
              <a:t>Types of Stress</a:t>
            </a:r>
          </a:p>
          <a:p>
            <a:pPr marL="0" indent="0">
              <a:buNone/>
            </a:pPr>
            <a:r>
              <a:rPr lang="en-US" b="1" dirty="0"/>
              <a:t>1. Acute Stress</a:t>
            </a:r>
          </a:p>
          <a:p>
            <a:r>
              <a:rPr lang="en-US" dirty="0"/>
              <a:t>Short-term stress that arises from immediate challenges (e.g., exams, deadlines).</a:t>
            </a:r>
          </a:p>
          <a:p>
            <a:pPr marL="0" indent="0">
              <a:buNone/>
            </a:pPr>
            <a:r>
              <a:rPr lang="en-US" b="1" dirty="0"/>
              <a:t>2. Episodic Acute Stress</a:t>
            </a:r>
          </a:p>
          <a:p>
            <a:r>
              <a:rPr lang="en-US" dirty="0"/>
              <a:t>When acute stress happens repeatedly and frequently; the person often feels “always under pressure.”</a:t>
            </a:r>
          </a:p>
          <a:p>
            <a:pPr marL="0" indent="0">
              <a:buNone/>
            </a:pPr>
            <a:r>
              <a:rPr lang="en-US" b="1" dirty="0"/>
              <a:t>3. Chronic Stress</a:t>
            </a:r>
          </a:p>
          <a:p>
            <a:r>
              <a:rPr lang="en-US" dirty="0"/>
              <a:t>Long-term, continuous stress caused by ongoing problems (e.g., poverty, illness, family conflict).</a:t>
            </a:r>
          </a:p>
          <a:p>
            <a:pPr marL="0" indent="0">
              <a:buNone/>
            </a:pPr>
            <a:r>
              <a:rPr lang="en-US" b="1" dirty="0"/>
              <a:t>4. Physical Stress</a:t>
            </a:r>
          </a:p>
          <a:p>
            <a:r>
              <a:rPr lang="en-US" dirty="0"/>
              <a:t>Stress due to physical factors like injury, illness, lack of sleep, or excessive work.</a:t>
            </a:r>
          </a:p>
          <a:p>
            <a:pPr marL="0" indent="0">
              <a:buNone/>
            </a:pPr>
            <a:r>
              <a:rPr lang="en-US" b="1" dirty="0"/>
              <a:t>5. Psychological Stress</a:t>
            </a:r>
          </a:p>
          <a:p>
            <a:r>
              <a:rPr lang="en-US" dirty="0"/>
              <a:t>Stress caused by emotional or mental factors such as fear, worry, frustration, or conflict.</a:t>
            </a:r>
          </a:p>
          <a:p>
            <a:pPr marL="0" indent="0">
              <a:buNone/>
            </a:pPr>
            <a:r>
              <a:rPr lang="en-US" b="1" dirty="0"/>
              <a:t>6. Environmental Stress</a:t>
            </a:r>
          </a:p>
          <a:p>
            <a:r>
              <a:rPr lang="en-US" dirty="0"/>
              <a:t>Stress due to surroundings—noise, pollution, crowding, extreme temperatures.</a:t>
            </a:r>
          </a:p>
          <a:p>
            <a:pPr marL="0" indent="0">
              <a:buNone/>
            </a:pPr>
            <a:r>
              <a:rPr lang="en-US" b="1" dirty="0"/>
              <a:t>7. Traumatic Stress</a:t>
            </a:r>
          </a:p>
          <a:p>
            <a:r>
              <a:rPr lang="en-US" dirty="0"/>
              <a:t>Stress resulting from extreme events like accidents, disasters, or violence.</a:t>
            </a:r>
            <a:endParaRPr lang="en-US" dirty="0">
              <a:solidFill>
                <a:srgbClr val="1F1F1F"/>
              </a:solidFill>
              <a:highlight>
                <a:srgbClr val="FFFFFF"/>
              </a:highlight>
            </a:endParaRPr>
          </a:p>
          <a:p>
            <a:pPr marL="0" indent="0">
              <a:buNone/>
            </a:pPr>
            <a:endParaRPr lang="en-IN" dirty="0"/>
          </a:p>
        </p:txBody>
      </p:sp>
    </p:spTree>
    <p:extLst>
      <p:ext uri="{BB962C8B-B14F-4D97-AF65-F5344CB8AC3E}">
        <p14:creationId xmlns:p14="http://schemas.microsoft.com/office/powerpoint/2010/main" val="3720765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48342-D27E-2822-ADCA-6DC09D490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C7E51-AE8F-F351-3CEC-5F1B9B3B6880}"/>
              </a:ext>
            </a:extLst>
          </p:cNvPr>
          <p:cNvSpPr>
            <a:spLocks noGrp="1"/>
          </p:cNvSpPr>
          <p:nvPr>
            <p:ph type="title"/>
          </p:nvPr>
        </p:nvSpPr>
        <p:spPr/>
        <p:txBody>
          <a:bodyPr>
            <a:normAutofit/>
          </a:bodyPr>
          <a:lstStyle/>
          <a:p>
            <a:r>
              <a:rPr lang="en-IN" dirty="0"/>
              <a:t>Types of Stress</a:t>
            </a:r>
          </a:p>
        </p:txBody>
      </p:sp>
      <p:sp>
        <p:nvSpPr>
          <p:cNvPr id="4" name="Content Placeholder 3">
            <a:extLst>
              <a:ext uri="{FF2B5EF4-FFF2-40B4-BE49-F238E27FC236}">
                <a16:creationId xmlns:a16="http://schemas.microsoft.com/office/drawing/2014/main" id="{A3013292-B65A-31AC-FBF3-98BAA381571C}"/>
              </a:ext>
            </a:extLst>
          </p:cNvPr>
          <p:cNvSpPr>
            <a:spLocks noGrp="1"/>
          </p:cNvSpPr>
          <p:nvPr>
            <p:ph idx="1"/>
          </p:nvPr>
        </p:nvSpPr>
        <p:spPr>
          <a:xfrm>
            <a:off x="1066800" y="1706880"/>
            <a:ext cx="10058400" cy="4328160"/>
          </a:xfrm>
        </p:spPr>
        <p:txBody>
          <a:bodyPr>
            <a:normAutofit/>
          </a:bodyPr>
          <a:lstStyle/>
          <a:p>
            <a:pPr marL="0" indent="0">
              <a:buNone/>
            </a:pPr>
            <a:r>
              <a:rPr lang="en-US" b="1" dirty="0"/>
              <a:t>Types of Stress</a:t>
            </a:r>
          </a:p>
          <a:p>
            <a:pPr marL="342900" indent="-342900">
              <a:buAutoNum type="arabicPeriod"/>
            </a:pPr>
            <a:r>
              <a:rPr lang="en-US" b="1" dirty="0"/>
              <a:t>Positive stress </a:t>
            </a:r>
            <a:r>
              <a:rPr lang="en-IN" b="1" dirty="0"/>
              <a:t>{eustress}</a:t>
            </a:r>
          </a:p>
          <a:p>
            <a:pPr marL="342900" indent="-342900">
              <a:buAutoNum type="arabicPeriod"/>
            </a:pPr>
            <a:r>
              <a:rPr lang="en-IN" b="1" dirty="0"/>
              <a:t>Negative stress {distress}</a:t>
            </a:r>
            <a:endParaRPr lang="en-US" b="1" dirty="0"/>
          </a:p>
        </p:txBody>
      </p:sp>
    </p:spTree>
    <p:extLst>
      <p:ext uri="{BB962C8B-B14F-4D97-AF65-F5344CB8AC3E}">
        <p14:creationId xmlns:p14="http://schemas.microsoft.com/office/powerpoint/2010/main" val="5356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6744E-F2E6-2B0D-FECE-EC16F466E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180B0-3F1E-9D20-6854-1066242046D4}"/>
              </a:ext>
            </a:extLst>
          </p:cNvPr>
          <p:cNvSpPr>
            <a:spLocks noGrp="1"/>
          </p:cNvSpPr>
          <p:nvPr>
            <p:ph type="title"/>
          </p:nvPr>
        </p:nvSpPr>
        <p:spPr/>
        <p:txBody>
          <a:bodyPr>
            <a:normAutofit/>
          </a:bodyPr>
          <a:lstStyle/>
          <a:p>
            <a:r>
              <a:rPr lang="en-IN" dirty="0">
                <a:solidFill>
                  <a:srgbClr val="002060"/>
                </a:solidFill>
              </a:rPr>
              <a:t>Stressors</a:t>
            </a:r>
            <a:endParaRPr lang="en-IN" dirty="0"/>
          </a:p>
        </p:txBody>
      </p:sp>
      <p:sp>
        <p:nvSpPr>
          <p:cNvPr id="4" name="Content Placeholder 3">
            <a:extLst>
              <a:ext uri="{FF2B5EF4-FFF2-40B4-BE49-F238E27FC236}">
                <a16:creationId xmlns:a16="http://schemas.microsoft.com/office/drawing/2014/main" id="{4CAD1A33-19D6-021E-3F0B-24410F08FDED}"/>
              </a:ext>
            </a:extLst>
          </p:cNvPr>
          <p:cNvSpPr>
            <a:spLocks noGrp="1"/>
          </p:cNvSpPr>
          <p:nvPr>
            <p:ph idx="1"/>
          </p:nvPr>
        </p:nvSpPr>
        <p:spPr>
          <a:xfrm>
            <a:off x="1066800" y="1706880"/>
            <a:ext cx="10058400" cy="4328160"/>
          </a:xfrm>
        </p:spPr>
        <p:txBody>
          <a:bodyPr>
            <a:normAutofit/>
          </a:bodyPr>
          <a:lstStyle/>
          <a:p>
            <a:pPr marL="0" indent="0">
              <a:buNone/>
            </a:pPr>
            <a:r>
              <a:rPr lang="en-US" b="1" dirty="0"/>
              <a:t>Stressors</a:t>
            </a:r>
            <a:r>
              <a:rPr lang="en-US" dirty="0"/>
              <a:t> are any events, situations, or conditions that cause stress or trigger a stress response in a person</a:t>
            </a:r>
            <a:endParaRPr lang="en-IN" dirty="0"/>
          </a:p>
        </p:txBody>
      </p:sp>
    </p:spTree>
    <p:extLst>
      <p:ext uri="{BB962C8B-B14F-4D97-AF65-F5344CB8AC3E}">
        <p14:creationId xmlns:p14="http://schemas.microsoft.com/office/powerpoint/2010/main" val="1804117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3EFBD-A9BC-547E-D7A0-54A060110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2AB79-9FAB-1D56-CDF8-D980FC01A8E0}"/>
              </a:ext>
            </a:extLst>
          </p:cNvPr>
          <p:cNvSpPr>
            <a:spLocks noGrp="1"/>
          </p:cNvSpPr>
          <p:nvPr>
            <p:ph type="title"/>
          </p:nvPr>
        </p:nvSpPr>
        <p:spPr/>
        <p:txBody>
          <a:bodyPr>
            <a:normAutofit/>
          </a:bodyPr>
          <a:lstStyle/>
          <a:p>
            <a:r>
              <a:rPr lang="en-US" b="1" dirty="0"/>
              <a:t>Types of Stressor</a:t>
            </a:r>
            <a:r>
              <a:rPr lang="en-IN" b="1" dirty="0"/>
              <a:t>s</a:t>
            </a:r>
          </a:p>
        </p:txBody>
      </p:sp>
      <p:sp>
        <p:nvSpPr>
          <p:cNvPr id="4" name="Content Placeholder 3">
            <a:extLst>
              <a:ext uri="{FF2B5EF4-FFF2-40B4-BE49-F238E27FC236}">
                <a16:creationId xmlns:a16="http://schemas.microsoft.com/office/drawing/2014/main" id="{C10CC519-DDD5-EA93-0CF7-CF20BD65B197}"/>
              </a:ext>
            </a:extLst>
          </p:cNvPr>
          <p:cNvSpPr>
            <a:spLocks noGrp="1"/>
          </p:cNvSpPr>
          <p:nvPr>
            <p:ph idx="1"/>
          </p:nvPr>
        </p:nvSpPr>
        <p:spPr>
          <a:xfrm>
            <a:off x="1066800" y="1706880"/>
            <a:ext cx="10058400" cy="4907280"/>
          </a:xfrm>
        </p:spPr>
        <p:txBody>
          <a:bodyPr>
            <a:normAutofit fontScale="70000" lnSpcReduction="20000"/>
          </a:bodyPr>
          <a:lstStyle/>
          <a:p>
            <a:r>
              <a:rPr lang="en-US" b="1" dirty="0"/>
              <a:t>1. Physical Stressors</a:t>
            </a:r>
          </a:p>
          <a:p>
            <a:r>
              <a:rPr lang="en-US" dirty="0"/>
              <a:t>Factors that affect the body.</a:t>
            </a:r>
            <a:br>
              <a:rPr lang="en-US" dirty="0"/>
            </a:br>
            <a:r>
              <a:rPr lang="en-US" i="1" dirty="0"/>
              <a:t>Examples: injury, illness, noise, extreme temperature.</a:t>
            </a:r>
            <a:endParaRPr lang="en-US" dirty="0"/>
          </a:p>
          <a:p>
            <a:r>
              <a:rPr lang="en-US" b="1" dirty="0"/>
              <a:t>2. Psychological Stressors</a:t>
            </a:r>
          </a:p>
          <a:p>
            <a:r>
              <a:rPr lang="en-US" dirty="0"/>
              <a:t>Emotional or mental pressures.</a:t>
            </a:r>
            <a:br>
              <a:rPr lang="en-US" dirty="0"/>
            </a:br>
            <a:r>
              <a:rPr lang="en-US" i="1" dirty="0"/>
              <a:t>Examples: fear, anxiety, exams, conflicts.</a:t>
            </a:r>
            <a:endParaRPr lang="en-US" dirty="0"/>
          </a:p>
          <a:p>
            <a:r>
              <a:rPr lang="en-US" b="1" dirty="0"/>
              <a:t>3. Environmental Stressors</a:t>
            </a:r>
          </a:p>
          <a:p>
            <a:r>
              <a:rPr lang="en-US" dirty="0"/>
              <a:t>Stress caused by surroundings.</a:t>
            </a:r>
            <a:br>
              <a:rPr lang="en-US" dirty="0"/>
            </a:br>
            <a:r>
              <a:rPr lang="en-US" i="1" dirty="0"/>
              <a:t>Examples: pollution, crowding, loud sounds, traffic.</a:t>
            </a:r>
            <a:endParaRPr lang="en-US" dirty="0"/>
          </a:p>
          <a:p>
            <a:r>
              <a:rPr lang="en-US" b="1" dirty="0"/>
              <a:t>4. Social Stressors</a:t>
            </a:r>
          </a:p>
          <a:p>
            <a:r>
              <a:rPr lang="en-US" dirty="0"/>
              <a:t>Related to relationships or society.</a:t>
            </a:r>
            <a:br>
              <a:rPr lang="en-US" dirty="0"/>
            </a:br>
            <a:r>
              <a:rPr lang="en-US" i="1" dirty="0"/>
              <a:t>Examples: arguments, peer pressure, family issues.</a:t>
            </a:r>
            <a:endParaRPr lang="en-US" dirty="0"/>
          </a:p>
          <a:p>
            <a:r>
              <a:rPr lang="en-US" b="1" dirty="0"/>
              <a:t>5. Daily Hassles</a:t>
            </a:r>
          </a:p>
          <a:p>
            <a:r>
              <a:rPr lang="en-US" dirty="0"/>
              <a:t>Small everyday problems that accumulate.</a:t>
            </a:r>
            <a:br>
              <a:rPr lang="en-US" dirty="0"/>
            </a:br>
            <a:r>
              <a:rPr lang="en-US" i="1" dirty="0"/>
              <a:t>Examples: being late, workload, misplacing things.</a:t>
            </a:r>
            <a:endParaRPr lang="en-US" dirty="0"/>
          </a:p>
          <a:p>
            <a:r>
              <a:rPr lang="en-US" b="1" dirty="0"/>
              <a:t>6. Life Events</a:t>
            </a:r>
          </a:p>
          <a:p>
            <a:r>
              <a:rPr lang="en-US" dirty="0"/>
              <a:t>Major changes in life.</a:t>
            </a:r>
            <a:br>
              <a:rPr lang="en-US" dirty="0"/>
            </a:br>
            <a:r>
              <a:rPr lang="en-US" i="1" dirty="0"/>
              <a:t>Examples: marriage, divorce, job loss, relocation.</a:t>
            </a:r>
            <a:endParaRPr lang="en-US" dirty="0"/>
          </a:p>
          <a:p>
            <a:r>
              <a:rPr lang="en-US" b="1" dirty="0"/>
              <a:t>7. Traumatic Stressors</a:t>
            </a:r>
          </a:p>
          <a:p>
            <a:r>
              <a:rPr lang="en-US" dirty="0"/>
              <a:t>Severe, life-threatening events.</a:t>
            </a:r>
            <a:br>
              <a:rPr lang="en-US" dirty="0"/>
            </a:br>
            <a:r>
              <a:rPr lang="en-US" i="1" dirty="0"/>
              <a:t>Examples: accidents, natural disasters, violence.</a:t>
            </a:r>
            <a:endParaRPr lang="en-US" dirty="0"/>
          </a:p>
        </p:txBody>
      </p:sp>
    </p:spTree>
    <p:extLst>
      <p:ext uri="{BB962C8B-B14F-4D97-AF65-F5344CB8AC3E}">
        <p14:creationId xmlns:p14="http://schemas.microsoft.com/office/powerpoint/2010/main" val="3759367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DC18C-F4C7-6BC2-7AD1-D12E60C347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C8CFC9-BB02-FCF3-D855-BFE395C4146E}"/>
              </a:ext>
            </a:extLst>
          </p:cNvPr>
          <p:cNvSpPr>
            <a:spLocks noGrp="1"/>
          </p:cNvSpPr>
          <p:nvPr>
            <p:ph type="title"/>
          </p:nvPr>
        </p:nvSpPr>
        <p:spPr/>
        <p:txBody>
          <a:bodyPr>
            <a:normAutofit/>
          </a:bodyPr>
          <a:lstStyle/>
          <a:p>
            <a:r>
              <a:rPr lang="en-IN" dirty="0"/>
              <a:t>Stress Cycle </a:t>
            </a:r>
            <a:endParaRPr lang="en-IN" b="1" dirty="0"/>
          </a:p>
        </p:txBody>
      </p:sp>
      <p:pic>
        <p:nvPicPr>
          <p:cNvPr id="3" name="Content Placeholder 3">
            <a:extLst>
              <a:ext uri="{FF2B5EF4-FFF2-40B4-BE49-F238E27FC236}">
                <a16:creationId xmlns:a16="http://schemas.microsoft.com/office/drawing/2014/main" id="{C282002F-C416-4F3F-EF4E-0FA0F352EB39}"/>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3713321" y="1973179"/>
            <a:ext cx="4033837" cy="4242227"/>
          </a:xfrm>
          <a:prstGeom prst="rect">
            <a:avLst/>
          </a:prstGeom>
        </p:spPr>
      </p:pic>
    </p:spTree>
    <p:extLst>
      <p:ext uri="{BB962C8B-B14F-4D97-AF65-F5344CB8AC3E}">
        <p14:creationId xmlns:p14="http://schemas.microsoft.com/office/powerpoint/2010/main" val="1001978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81D89-44EC-1C69-2CEB-E99502D32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0B866-416A-81CB-F514-82D62C5BDFEE}"/>
              </a:ext>
            </a:extLst>
          </p:cNvPr>
          <p:cNvSpPr>
            <a:spLocks noGrp="1"/>
          </p:cNvSpPr>
          <p:nvPr>
            <p:ph type="title"/>
          </p:nvPr>
        </p:nvSpPr>
        <p:spPr>
          <a:xfrm>
            <a:off x="1066800" y="335280"/>
            <a:ext cx="10058400" cy="1371600"/>
          </a:xfrm>
        </p:spPr>
        <p:txBody>
          <a:bodyPr>
            <a:normAutofit fontScale="90000"/>
          </a:bodyPr>
          <a:lstStyle/>
          <a:p>
            <a:r>
              <a:rPr lang="en-IN" b="1" dirty="0"/>
              <a:t>Stress Cycle / General Adaptation Syndrome (GAS)</a:t>
            </a:r>
          </a:p>
        </p:txBody>
      </p:sp>
      <p:sp>
        <p:nvSpPr>
          <p:cNvPr id="4" name="Content Placeholder 3">
            <a:extLst>
              <a:ext uri="{FF2B5EF4-FFF2-40B4-BE49-F238E27FC236}">
                <a16:creationId xmlns:a16="http://schemas.microsoft.com/office/drawing/2014/main" id="{781D8C4C-BEBF-4F06-C403-BA1882FBEA31}"/>
              </a:ext>
            </a:extLst>
          </p:cNvPr>
          <p:cNvSpPr>
            <a:spLocks noGrp="1"/>
          </p:cNvSpPr>
          <p:nvPr>
            <p:ph idx="1"/>
          </p:nvPr>
        </p:nvSpPr>
        <p:spPr>
          <a:xfrm>
            <a:off x="629920" y="1706880"/>
            <a:ext cx="10922000" cy="4907280"/>
          </a:xfrm>
        </p:spPr>
        <p:txBody>
          <a:bodyPr>
            <a:normAutofit fontScale="85000" lnSpcReduction="10000"/>
          </a:bodyPr>
          <a:lstStyle/>
          <a:p>
            <a:pPr marL="0" indent="0" algn="just">
              <a:lnSpc>
                <a:spcPct val="120000"/>
              </a:lnSpc>
              <a:spcBef>
                <a:spcPts val="600"/>
              </a:spcBef>
              <a:buNone/>
            </a:pPr>
            <a:r>
              <a:rPr lang="en-IN" dirty="0">
                <a:latin typeface="Times New Roman" panose="02020603050405020304" pitchFamily="18" charset="0"/>
                <a:ea typeface="Tahoma" panose="020B0604030504040204" pitchFamily="34" charset="0"/>
                <a:cs typeface="Times New Roman" panose="02020603050405020304" pitchFamily="18" charset="0"/>
              </a:rPr>
              <a:t>General Adaptation Syndrome (GAS) is a model developed by Hans Selye in the 1950s to describe the body’s physiological response to stress. </a:t>
            </a:r>
          </a:p>
          <a:p>
            <a:pPr algn="just">
              <a:lnSpc>
                <a:spcPct val="120000"/>
              </a:lnSpc>
              <a:spcBef>
                <a:spcPts val="600"/>
              </a:spcBef>
            </a:pPr>
            <a:r>
              <a:rPr lang="en-US" b="1" dirty="0">
                <a:latin typeface="Times New Roman" panose="02020603050405020304" pitchFamily="18" charset="0"/>
                <a:ea typeface="Tahoma" panose="020B0604030504040204" pitchFamily="34" charset="0"/>
                <a:cs typeface="Times New Roman" panose="02020603050405020304" pitchFamily="18" charset="0"/>
              </a:rPr>
              <a:t>1. The Alarm Phase (Initiation of Stress Response)</a:t>
            </a:r>
          </a:p>
          <a:p>
            <a:pPr marL="0" indent="0" algn="just">
              <a:lnSpc>
                <a:spcPct val="120000"/>
              </a:lnSpc>
              <a:spcBef>
                <a:spcPts val="600"/>
              </a:spcBef>
              <a:buNone/>
            </a:pPr>
            <a:r>
              <a:rPr lang="en-US" dirty="0">
                <a:latin typeface="Times New Roman" panose="02020603050405020304" pitchFamily="18" charset="0"/>
                <a:ea typeface="Tahoma" panose="020B0604030504040204" pitchFamily="34" charset="0"/>
                <a:cs typeface="Times New Roman" panose="02020603050405020304" pitchFamily="18" charset="0"/>
              </a:rPr>
              <a:t>When a person perceives a threat or challenge—known as a </a:t>
            </a:r>
            <a:r>
              <a:rPr lang="en-US" i="1" dirty="0">
                <a:latin typeface="Times New Roman" panose="02020603050405020304" pitchFamily="18" charset="0"/>
                <a:ea typeface="Tahoma" panose="020B0604030504040204" pitchFamily="34" charset="0"/>
                <a:cs typeface="Times New Roman" panose="02020603050405020304" pitchFamily="18" charset="0"/>
              </a:rPr>
              <a:t>stressor</a:t>
            </a:r>
            <a:r>
              <a:rPr lang="en-US" dirty="0">
                <a:latin typeface="Times New Roman" panose="02020603050405020304" pitchFamily="18" charset="0"/>
                <a:ea typeface="Tahoma" panose="020B0604030504040204" pitchFamily="34" charset="0"/>
                <a:cs typeface="Times New Roman" panose="02020603050405020304" pitchFamily="18" charset="0"/>
              </a:rPr>
              <a:t>—the body immediately activates the </a:t>
            </a:r>
            <a:r>
              <a:rPr lang="en-US" b="1" dirty="0">
                <a:latin typeface="Times New Roman" panose="02020603050405020304" pitchFamily="18" charset="0"/>
                <a:ea typeface="Tahoma" panose="020B0604030504040204" pitchFamily="34" charset="0"/>
                <a:cs typeface="Times New Roman" panose="02020603050405020304" pitchFamily="18" charset="0"/>
              </a:rPr>
              <a:t>sympathetic nervous system</a:t>
            </a:r>
            <a:r>
              <a:rPr lang="en-US" dirty="0">
                <a:latin typeface="Times New Roman" panose="02020603050405020304" pitchFamily="18" charset="0"/>
                <a:ea typeface="Tahoma" panose="020B0604030504040204" pitchFamily="34" charset="0"/>
                <a:cs typeface="Times New Roman" panose="02020603050405020304" pitchFamily="18" charset="0"/>
              </a:rPr>
              <a:t>. This triggers the </a:t>
            </a:r>
            <a:r>
              <a:rPr lang="en-US" i="1" dirty="0">
                <a:latin typeface="Times New Roman" panose="02020603050405020304" pitchFamily="18" charset="0"/>
                <a:ea typeface="Tahoma" panose="020B0604030504040204" pitchFamily="34" charset="0"/>
                <a:cs typeface="Times New Roman" panose="02020603050405020304" pitchFamily="18" charset="0"/>
              </a:rPr>
              <a:t>fight-or-flight response</a:t>
            </a:r>
            <a:r>
              <a:rPr lang="en-US" dirty="0">
                <a:latin typeface="Times New Roman" panose="02020603050405020304" pitchFamily="18" charset="0"/>
                <a:ea typeface="Tahoma" panose="020B0604030504040204" pitchFamily="34" charset="0"/>
                <a:cs typeface="Times New Roman" panose="02020603050405020304" pitchFamily="18" charset="0"/>
              </a:rPr>
              <a:t>, during which the adrenal glands release hormones such as </a:t>
            </a:r>
            <a:r>
              <a:rPr lang="en-US" b="1" dirty="0">
                <a:latin typeface="Times New Roman" panose="02020603050405020304" pitchFamily="18" charset="0"/>
                <a:ea typeface="Tahoma" panose="020B0604030504040204" pitchFamily="34" charset="0"/>
                <a:cs typeface="Times New Roman" panose="02020603050405020304" pitchFamily="18" charset="0"/>
              </a:rPr>
              <a:t>adrenaline (epinephrine)</a:t>
            </a:r>
            <a:r>
              <a:rPr lang="en-US" dirty="0">
                <a:latin typeface="Times New Roman" panose="02020603050405020304" pitchFamily="18" charset="0"/>
                <a:ea typeface="Tahoma" panose="020B0604030504040204" pitchFamily="34" charset="0"/>
                <a:cs typeface="Times New Roman" panose="02020603050405020304" pitchFamily="18" charset="0"/>
              </a:rPr>
              <a:t> and </a:t>
            </a:r>
            <a:r>
              <a:rPr lang="en-US" b="1" dirty="0">
                <a:latin typeface="Times New Roman" panose="02020603050405020304" pitchFamily="18" charset="0"/>
                <a:ea typeface="Tahoma" panose="020B0604030504040204" pitchFamily="34" charset="0"/>
                <a:cs typeface="Times New Roman" panose="02020603050405020304" pitchFamily="18" charset="0"/>
              </a:rPr>
              <a:t>cortisol</a:t>
            </a:r>
            <a:r>
              <a:rPr lang="en-US" dirty="0">
                <a:latin typeface="Times New Roman" panose="02020603050405020304" pitchFamily="18" charset="0"/>
                <a:ea typeface="Tahoma" panose="020B0604030504040204" pitchFamily="34" charset="0"/>
                <a:cs typeface="Times New Roman" panose="02020603050405020304" pitchFamily="18" charset="0"/>
              </a:rPr>
              <a:t>. Physiological changes occur, including increased heart rate, heightened alertness, muscle tension, and rapid breathing. These responses prepare the body to confront or escape the stressor.</a:t>
            </a:r>
          </a:p>
          <a:p>
            <a:pPr algn="just">
              <a:lnSpc>
                <a:spcPct val="120000"/>
              </a:lnSpc>
              <a:spcBef>
                <a:spcPts val="600"/>
              </a:spcBef>
            </a:pPr>
            <a:r>
              <a:rPr lang="en-US" b="1" dirty="0">
                <a:latin typeface="Times New Roman" panose="02020603050405020304" pitchFamily="18" charset="0"/>
                <a:ea typeface="Tahoma" panose="020B0604030504040204" pitchFamily="34" charset="0"/>
                <a:cs typeface="Times New Roman" panose="02020603050405020304" pitchFamily="18" charset="0"/>
              </a:rPr>
              <a:t>2. The Resistance Phase (Adaptation)</a:t>
            </a:r>
          </a:p>
          <a:p>
            <a:pPr marL="0" indent="0" algn="just">
              <a:lnSpc>
                <a:spcPct val="120000"/>
              </a:lnSpc>
              <a:spcBef>
                <a:spcPts val="600"/>
              </a:spcBef>
              <a:buNone/>
            </a:pPr>
            <a:r>
              <a:rPr lang="en-US" dirty="0">
                <a:latin typeface="Times New Roman" panose="02020603050405020304" pitchFamily="18" charset="0"/>
                <a:ea typeface="Tahoma" panose="020B0604030504040204" pitchFamily="34" charset="0"/>
                <a:cs typeface="Times New Roman" panose="02020603050405020304" pitchFamily="18" charset="0"/>
              </a:rPr>
              <a:t>If the stressor persists, the body enters a phase of sustained arousal to cope with the ongoing demand. Cortisol levels remain elevated to provide energy and maintain alertness. During this stage, the individual attempts to adapt to the situation through coping mechanisms such as problem-solving or emotional regulation. However, prolonged activation of the stress response without adequate recovery can begin to strain physiological systems.</a:t>
            </a:r>
          </a:p>
          <a:p>
            <a:pPr algn="just">
              <a:lnSpc>
                <a:spcPct val="120000"/>
              </a:lnSpc>
              <a:spcBef>
                <a:spcPts val="600"/>
              </a:spcBef>
            </a:pPr>
            <a:r>
              <a:rPr lang="en-US" b="1" dirty="0">
                <a:latin typeface="Times New Roman" panose="02020603050405020304" pitchFamily="18" charset="0"/>
                <a:ea typeface="Tahoma" panose="020B0604030504040204" pitchFamily="34" charset="0"/>
                <a:cs typeface="Times New Roman" panose="02020603050405020304" pitchFamily="18" charset="0"/>
              </a:rPr>
              <a:t>3. The Exhaustion Phase (Depletion and Breakdown)</a:t>
            </a:r>
          </a:p>
          <a:p>
            <a:pPr marL="0" indent="0" algn="just">
              <a:lnSpc>
                <a:spcPct val="120000"/>
              </a:lnSpc>
              <a:spcBef>
                <a:spcPts val="600"/>
              </a:spcBef>
              <a:buNone/>
            </a:pPr>
            <a:r>
              <a:rPr lang="en-US" dirty="0">
                <a:latin typeface="Times New Roman" panose="02020603050405020304" pitchFamily="18" charset="0"/>
                <a:ea typeface="Tahoma" panose="020B0604030504040204" pitchFamily="34" charset="0"/>
                <a:cs typeface="Times New Roman" panose="02020603050405020304" pitchFamily="18" charset="0"/>
              </a:rPr>
              <a:t>When stress continues for an extended period without resolution, the body’s adaptive energy becomes depleted. Chronic exposure to stress hormones can weaken the immune system, disrupt sleep, and impair cognitive and emotional functioning. This phase is often associated with </a:t>
            </a:r>
            <a:r>
              <a:rPr lang="en-US" b="1" dirty="0">
                <a:latin typeface="Times New Roman" panose="02020603050405020304" pitchFamily="18" charset="0"/>
                <a:ea typeface="Tahoma" panose="020B0604030504040204" pitchFamily="34" charset="0"/>
                <a:cs typeface="Times New Roman" panose="02020603050405020304" pitchFamily="18" charset="0"/>
              </a:rPr>
              <a:t>burnout</a:t>
            </a:r>
            <a:r>
              <a:rPr lang="en-US" dirty="0">
                <a:latin typeface="Times New Roman" panose="02020603050405020304" pitchFamily="18" charset="0"/>
                <a:ea typeface="Tahoma" panose="020B0604030504040204" pitchFamily="34" charset="0"/>
                <a:cs typeface="Times New Roman" panose="02020603050405020304" pitchFamily="18" charset="0"/>
              </a:rPr>
              <a:t>, fatigue, anxiety, and various stress-related illnesses such as hypertension or depression.</a:t>
            </a:r>
          </a:p>
        </p:txBody>
      </p:sp>
    </p:spTree>
    <p:extLst>
      <p:ext uri="{BB962C8B-B14F-4D97-AF65-F5344CB8AC3E}">
        <p14:creationId xmlns:p14="http://schemas.microsoft.com/office/powerpoint/2010/main" val="40874603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12</TotalTime>
  <Words>1159</Words>
  <Application>Microsoft Office PowerPoint</Application>
  <PresentationFormat>Widescreen</PresentationFormat>
  <Paragraphs>77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Century Gothic</vt:lpstr>
      <vt:lpstr>Garamond</vt:lpstr>
      <vt:lpstr>Times New Roman</vt:lpstr>
      <vt:lpstr>Savon</vt:lpstr>
      <vt:lpstr>Attitude and stress unit-6</vt:lpstr>
      <vt:lpstr>Attitude </vt:lpstr>
      <vt:lpstr>Components of Attitude</vt:lpstr>
      <vt:lpstr>PowerPoint Presentation</vt:lpstr>
      <vt:lpstr>Attitudes – characteristics (nature)</vt:lpstr>
      <vt:lpstr>Development of Attitude</vt:lpstr>
      <vt:lpstr>Stress</vt:lpstr>
      <vt:lpstr>Types of Stress</vt:lpstr>
      <vt:lpstr>Types of Stress</vt:lpstr>
      <vt:lpstr>Stressors</vt:lpstr>
      <vt:lpstr>Types of Stressors</vt:lpstr>
      <vt:lpstr>Stress Cycle </vt:lpstr>
      <vt:lpstr>Stress Cycle / General Adaptation Syndrome (GAS)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2025-11-20T13:54:43Z</dcterms:created>
  <dcterms:modified xsi:type="dcterms:W3CDTF">2025-11-20T14:10:04Z</dcterms:modified>
</cp:coreProperties>
</file>