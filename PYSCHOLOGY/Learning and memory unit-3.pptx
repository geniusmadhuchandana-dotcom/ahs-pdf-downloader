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DB218A-A36E-4D34-A283-B375A0934DA7}" v="16" dt="2025-11-20T13:24:47.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878" autoAdjust="0"/>
    <p:restoredTop sz="94660"/>
  </p:normalViewPr>
  <p:slideViewPr>
    <p:cSldViewPr snapToGrid="0">
      <p:cViewPr varScale="1">
        <p:scale>
          <a:sx n="78" d="100"/>
          <a:sy n="78" d="100"/>
        </p:scale>
        <p:origin x="149" y="62"/>
      </p:cViewPr>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B58617CF-2595-4125-9874-000BFE0CFD8F}" type="datetimeFigureOut">
              <a:rPr lang="en-IN" smtClean="0"/>
              <a:t>20-11-2025</a:t>
            </a:fld>
            <a:endParaRPr lang="en-IN"/>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8C3E00F3-247E-433E-B8BE-B6C14B02FF4D}" type="slidenum">
              <a:rPr lang="en-IN" smtClean="0"/>
              <a:t>‹#›</a:t>
            </a:fld>
            <a:endParaRPr lang="en-IN"/>
          </a:p>
        </p:txBody>
      </p:sp>
    </p:spTree>
    <p:extLst>
      <p:ext uri="{BB962C8B-B14F-4D97-AF65-F5344CB8AC3E}">
        <p14:creationId xmlns:p14="http://schemas.microsoft.com/office/powerpoint/2010/main" val="106489667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8617CF-2595-4125-9874-000BFE0CFD8F}"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3E00F3-247E-433E-B8BE-B6C14B02FF4D}" type="slidenum">
              <a:rPr lang="en-IN" smtClean="0"/>
              <a:t>‹#›</a:t>
            </a:fld>
            <a:endParaRPr lang="en-IN"/>
          </a:p>
        </p:txBody>
      </p:sp>
    </p:spTree>
    <p:extLst>
      <p:ext uri="{BB962C8B-B14F-4D97-AF65-F5344CB8AC3E}">
        <p14:creationId xmlns:p14="http://schemas.microsoft.com/office/powerpoint/2010/main" val="2845426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B58617CF-2595-4125-9874-000BFE0CFD8F}" type="datetimeFigureOut">
              <a:rPr lang="en-IN" smtClean="0"/>
              <a:t>20-11-2025</a:t>
            </a:fld>
            <a:endParaRPr lang="en-IN"/>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1060"/>
            <a:ext cx="2112264" cy="228600"/>
          </a:xfrm>
        </p:spPr>
        <p:txBody>
          <a:bodyPr/>
          <a:lstStyle/>
          <a:p>
            <a:fld id="{8C3E00F3-247E-433E-B8BE-B6C14B02FF4D}" type="slidenum">
              <a:rPr lang="en-IN" smtClean="0"/>
              <a:t>‹#›</a:t>
            </a:fld>
            <a:endParaRPr lang="en-IN"/>
          </a:p>
        </p:txBody>
      </p:sp>
    </p:spTree>
    <p:extLst>
      <p:ext uri="{BB962C8B-B14F-4D97-AF65-F5344CB8AC3E}">
        <p14:creationId xmlns:p14="http://schemas.microsoft.com/office/powerpoint/2010/main" val="374454727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58617CF-2595-4125-9874-000BFE0CFD8F}" type="datetimeFigureOut">
              <a:rPr lang="en-IN" smtClean="0"/>
              <a:t>20-11-2025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3E00F3-247E-433E-B8BE-B6C14B02FF4D}" type="slidenum">
              <a:rPr lang="en-IN" smtClean="0"/>
              <a:t>‹#›</a:t>
            </a:fld>
            <a:endParaRPr lang="en-IN"/>
          </a:p>
        </p:txBody>
      </p:sp>
    </p:spTree>
    <p:extLst>
      <p:ext uri="{BB962C8B-B14F-4D97-AF65-F5344CB8AC3E}">
        <p14:creationId xmlns:p14="http://schemas.microsoft.com/office/powerpoint/2010/main" val="1392756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58617CF-2595-4125-9874-000BFE0CFD8F}" type="datetimeFigureOut">
              <a:rPr lang="en-IN" smtClean="0"/>
              <a:t>20-11-2025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3E00F3-247E-433E-B8BE-B6C14B02FF4D}" type="slidenum">
              <a:rPr lang="en-IN" smtClean="0"/>
              <a:t>‹#›</a:t>
            </a:fld>
            <a:endParaRPr lang="en-IN"/>
          </a:p>
        </p:txBody>
      </p:sp>
    </p:spTree>
    <p:extLst>
      <p:ext uri="{BB962C8B-B14F-4D97-AF65-F5344CB8AC3E}">
        <p14:creationId xmlns:p14="http://schemas.microsoft.com/office/powerpoint/2010/main" val="131642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58617CF-2595-4125-9874-000BFE0CFD8F}" type="datetimeFigureOut">
              <a:rPr lang="en-IN" smtClean="0"/>
              <a:t>20-11-2025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3E00F3-247E-433E-B8BE-B6C14B02FF4D}" type="slidenum">
              <a:rPr lang="en-IN" smtClean="0"/>
              <a:t>‹#›</a:t>
            </a:fld>
            <a:endParaRPr lang="en-IN"/>
          </a:p>
        </p:txBody>
      </p:sp>
    </p:spTree>
    <p:extLst>
      <p:ext uri="{BB962C8B-B14F-4D97-AF65-F5344CB8AC3E}">
        <p14:creationId xmlns:p14="http://schemas.microsoft.com/office/powerpoint/2010/main" val="3247946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8617CF-2595-4125-9874-000BFE0CFD8F}" type="datetimeFigureOut">
              <a:rPr lang="en-IN" smtClean="0"/>
              <a:t>20-11-2025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3E00F3-247E-433E-B8BE-B6C14B02FF4D}" type="slidenum">
              <a:rPr lang="en-IN" smtClean="0"/>
              <a:t>‹#›</a:t>
            </a:fld>
            <a:endParaRPr lang="en-IN"/>
          </a:p>
        </p:txBody>
      </p:sp>
    </p:spTree>
    <p:extLst>
      <p:ext uri="{BB962C8B-B14F-4D97-AF65-F5344CB8AC3E}">
        <p14:creationId xmlns:p14="http://schemas.microsoft.com/office/powerpoint/2010/main" val="3705857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58617CF-2595-4125-9874-000BFE0CFD8F}" type="datetimeFigureOut">
              <a:rPr lang="en-IN" smtClean="0"/>
              <a:t>20-11-2025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8C3E00F3-247E-433E-B8BE-B6C14B02FF4D}"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56353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B58617CF-2595-4125-9874-000BFE0CFD8F}" type="datetimeFigureOut">
              <a:rPr lang="en-IN" smtClean="0"/>
              <a:t>20-11-2025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8C3E00F3-247E-433E-B8BE-B6C14B02FF4D}"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9806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8617CF-2595-4125-9874-000BFE0CFD8F}"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E00F3-247E-433E-B8BE-B6C14B02FF4D}" type="slidenum">
              <a:rPr lang="en-IN" smtClean="0"/>
              <a:t>‹#›</a:t>
            </a:fld>
            <a:endParaRPr lang="en-IN"/>
          </a:p>
        </p:txBody>
      </p:sp>
    </p:spTree>
    <p:extLst>
      <p:ext uri="{BB962C8B-B14F-4D97-AF65-F5344CB8AC3E}">
        <p14:creationId xmlns:p14="http://schemas.microsoft.com/office/powerpoint/2010/main" val="3051828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8617CF-2595-4125-9874-000BFE0CFD8F}" type="datetimeFigureOut">
              <a:rPr lang="en-IN" smtClean="0"/>
              <a:t>20-11-2025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3E00F3-247E-433E-B8BE-B6C14B02FF4D}" type="slidenum">
              <a:rPr lang="en-IN" smtClean="0"/>
              <a:t>‹#›</a:t>
            </a:fld>
            <a:endParaRPr lang="en-IN"/>
          </a:p>
        </p:txBody>
      </p:sp>
    </p:spTree>
    <p:extLst>
      <p:ext uri="{BB962C8B-B14F-4D97-AF65-F5344CB8AC3E}">
        <p14:creationId xmlns:p14="http://schemas.microsoft.com/office/powerpoint/2010/main" val="1038009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B58617CF-2595-4125-9874-000BFE0CFD8F}" type="datetimeFigureOut">
              <a:rPr lang="en-IN" smtClean="0"/>
              <a:t>20-11-2025</a:t>
            </a:fld>
            <a:endParaRPr lang="en-IN"/>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8C3E00F3-247E-433E-B8BE-B6C14B02FF4D}" type="slidenum">
              <a:rPr lang="en-IN" smtClean="0"/>
              <a:t>‹#›</a:t>
            </a:fld>
            <a:endParaRPr lang="en-IN"/>
          </a:p>
        </p:txBody>
      </p:sp>
    </p:spTree>
    <p:extLst>
      <p:ext uri="{BB962C8B-B14F-4D97-AF65-F5344CB8AC3E}">
        <p14:creationId xmlns:p14="http://schemas.microsoft.com/office/powerpoint/2010/main" val="9948261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EFFAC-C93C-90EE-B0BF-98149AA5581E}"/>
              </a:ext>
            </a:extLst>
          </p:cNvPr>
          <p:cNvSpPr>
            <a:spLocks noGrp="1"/>
          </p:cNvSpPr>
          <p:nvPr>
            <p:ph type="ctrTitle"/>
          </p:nvPr>
        </p:nvSpPr>
        <p:spPr/>
        <p:txBody>
          <a:bodyPr/>
          <a:lstStyle/>
          <a:p>
            <a:r>
              <a:rPr lang="en-US" dirty="0"/>
              <a:t>Learning, memory and intelligence  unit-3</a:t>
            </a:r>
            <a:endParaRPr lang="en-IN" dirty="0"/>
          </a:p>
        </p:txBody>
      </p:sp>
      <p:sp>
        <p:nvSpPr>
          <p:cNvPr id="3" name="Subtitle 2">
            <a:extLst>
              <a:ext uri="{FF2B5EF4-FFF2-40B4-BE49-F238E27FC236}">
                <a16:creationId xmlns:a16="http://schemas.microsoft.com/office/drawing/2014/main" id="{E0793FB5-64BE-7C1E-2750-132A8D560EC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089574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6D767A-D99E-5FA1-BB44-8F2BF30C91F3}"/>
              </a:ext>
            </a:extLst>
          </p:cNvPr>
          <p:cNvSpPr>
            <a:spLocks noGrp="1"/>
          </p:cNvSpPr>
          <p:nvPr>
            <p:ph idx="1"/>
          </p:nvPr>
        </p:nvSpPr>
        <p:spPr>
          <a:xfrm>
            <a:off x="868680" y="495300"/>
            <a:ext cx="10636780" cy="6020910"/>
          </a:xfrm>
        </p:spPr>
        <p:txBody>
          <a:bodyPr>
            <a:normAutofit lnSpcReduction="10000"/>
          </a:bodyPr>
          <a:lstStyle/>
          <a:p>
            <a:r>
              <a:rPr lang="en-US" dirty="0"/>
              <a:t>The acquisition of novel information, behaviors, or abilities after practice, observation, or other experiences, as evidenced by change in behavior, knowledge, or brain function.</a:t>
            </a:r>
            <a:endParaRPr lang="en-IN" dirty="0"/>
          </a:p>
          <a:p>
            <a:r>
              <a:rPr lang="en-US" dirty="0"/>
              <a:t>- American Psychological Association (APA)</a:t>
            </a:r>
            <a:endParaRPr lang="en-IN" dirty="0"/>
          </a:p>
          <a:p>
            <a:r>
              <a:rPr lang="en-US" b="1" dirty="0"/>
              <a:t>Behaviorist definition of Learning</a:t>
            </a:r>
            <a:endParaRPr lang="en-IN" dirty="0"/>
          </a:p>
          <a:p>
            <a:r>
              <a:rPr lang="en-US" dirty="0"/>
              <a:t>Learning is a relatively permanent change in </a:t>
            </a:r>
            <a:r>
              <a:rPr lang="en-US" dirty="0" err="1"/>
              <a:t>behaviour</a:t>
            </a:r>
            <a:r>
              <a:rPr lang="en-US" dirty="0"/>
              <a:t> that happens as a result of practice and experience. </a:t>
            </a:r>
            <a:endParaRPr lang="en-IN" dirty="0"/>
          </a:p>
          <a:p>
            <a:r>
              <a:rPr lang="en-IN" b="1" dirty="0"/>
              <a:t>Characteristics of learning</a:t>
            </a:r>
          </a:p>
          <a:p>
            <a:r>
              <a:rPr lang="en-US" dirty="0"/>
              <a:t>The following are the important characteristics of learning.</a:t>
            </a:r>
            <a:endParaRPr lang="en-IN" dirty="0"/>
          </a:p>
          <a:p>
            <a:pPr lvl="0"/>
            <a:r>
              <a:rPr lang="en-IN" dirty="0"/>
              <a:t>Learning is universal. All living beings learn.</a:t>
            </a:r>
          </a:p>
          <a:p>
            <a:pPr lvl="0"/>
            <a:r>
              <a:rPr lang="en-IN" dirty="0"/>
              <a:t>Learning is continuous; it is a perceptual activity that takes place from ‘womb to tomb’.</a:t>
            </a:r>
          </a:p>
          <a:p>
            <a:pPr lvl="0"/>
            <a:r>
              <a:rPr lang="en-IN" dirty="0"/>
              <a:t>Learning result in improved performance.</a:t>
            </a:r>
          </a:p>
          <a:p>
            <a:pPr lvl="0"/>
            <a:r>
              <a:rPr lang="en-IN" dirty="0"/>
              <a:t>Learning is purposive. A child’s learning in and out school is closely linked up with goals, purposes and satisfactions.</a:t>
            </a:r>
          </a:p>
          <a:p>
            <a:pPr lvl="0"/>
            <a:r>
              <a:rPr lang="en-IN" dirty="0"/>
              <a:t>Learning is multiple and integrative. Psychologists is often try to distinguish different kinds of learning such as verbal learning, perceptual learning, motor learning, emotional learning.</a:t>
            </a:r>
          </a:p>
          <a:p>
            <a:r>
              <a:rPr lang="en-IN" dirty="0"/>
              <a:t>Learning is contingent upon experience.</a:t>
            </a:r>
          </a:p>
          <a:p>
            <a:r>
              <a:rPr lang="en-IN" dirty="0"/>
              <a:t>Learning is not something to be given; it is to be gained by self-experience. A person’s knowledge or learning is the result of that person’s experience.</a:t>
            </a:r>
          </a:p>
        </p:txBody>
      </p:sp>
    </p:spTree>
    <p:extLst>
      <p:ext uri="{BB962C8B-B14F-4D97-AF65-F5344CB8AC3E}">
        <p14:creationId xmlns:p14="http://schemas.microsoft.com/office/powerpoint/2010/main" val="97821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5F28F-E0A7-C98C-E0F2-F3CB8BAC41F8}"/>
              </a:ext>
            </a:extLst>
          </p:cNvPr>
          <p:cNvSpPr>
            <a:spLocks noGrp="1"/>
          </p:cNvSpPr>
          <p:nvPr>
            <p:ph type="title"/>
          </p:nvPr>
        </p:nvSpPr>
        <p:spPr/>
        <p:txBody>
          <a:bodyPr/>
          <a:lstStyle/>
          <a:p>
            <a:r>
              <a:rPr lang="en-US" dirty="0"/>
              <a:t>Classical conditioning</a:t>
            </a:r>
            <a:endParaRPr lang="en-IN" dirty="0"/>
          </a:p>
        </p:txBody>
      </p:sp>
      <p:sp>
        <p:nvSpPr>
          <p:cNvPr id="3" name="Content Placeholder 2">
            <a:extLst>
              <a:ext uri="{FF2B5EF4-FFF2-40B4-BE49-F238E27FC236}">
                <a16:creationId xmlns:a16="http://schemas.microsoft.com/office/drawing/2014/main" id="{7F1849D5-E353-EAB4-1738-BDFFE70777BB}"/>
              </a:ext>
            </a:extLst>
          </p:cNvPr>
          <p:cNvSpPr>
            <a:spLocks noGrp="1"/>
          </p:cNvSpPr>
          <p:nvPr>
            <p:ph idx="1"/>
          </p:nvPr>
        </p:nvSpPr>
        <p:spPr/>
        <p:txBody>
          <a:bodyPr/>
          <a:lstStyle/>
          <a:p>
            <a:r>
              <a:rPr lang="en-US" b="1" dirty="0"/>
              <a:t>Classical conditioning</a:t>
            </a:r>
            <a:r>
              <a:rPr lang="en-US" dirty="0"/>
              <a:t> is a form of associative learning in which an initially neutral stimulus (NS) acquires the ability to evoke a response after being paired with a stimulus that naturally produces that response (an unconditioned stimulus, UCS). It’s learning by </a:t>
            </a:r>
            <a:r>
              <a:rPr lang="en-US" i="1" dirty="0"/>
              <a:t>predictive association</a:t>
            </a:r>
            <a:r>
              <a:rPr lang="en-US" dirty="0"/>
              <a:t>.</a:t>
            </a:r>
          </a:p>
          <a:p>
            <a:pPr marL="0" indent="0">
              <a:buNone/>
            </a:pPr>
            <a:r>
              <a:rPr lang="en-US" b="1" dirty="0"/>
              <a:t>Core elements &amp; definitions</a:t>
            </a:r>
          </a:p>
          <a:p>
            <a:r>
              <a:rPr lang="en-US" b="1" dirty="0"/>
              <a:t>Unconditioned Stimulus (UCS):</a:t>
            </a:r>
            <a:r>
              <a:rPr lang="en-US" dirty="0"/>
              <a:t> stimulus that naturally and reliably produces a response (e.g., food).</a:t>
            </a:r>
          </a:p>
          <a:p>
            <a:r>
              <a:rPr lang="en-US" b="1" dirty="0"/>
              <a:t>Unconditioned Response (UCR):</a:t>
            </a:r>
            <a:r>
              <a:rPr lang="en-US" dirty="0"/>
              <a:t> natural response to the UCS (e.g., salivation).</a:t>
            </a:r>
          </a:p>
          <a:p>
            <a:r>
              <a:rPr lang="en-US" b="1" dirty="0"/>
              <a:t>Neutral Stimulus (NS):</a:t>
            </a:r>
            <a:r>
              <a:rPr lang="en-US" dirty="0"/>
              <a:t> stimulus that initially does not produce the UCR (e.g., bell).</a:t>
            </a:r>
          </a:p>
          <a:p>
            <a:r>
              <a:rPr lang="en-US" b="1" dirty="0"/>
              <a:t>Conditioned Stimulus (CS):</a:t>
            </a:r>
            <a:r>
              <a:rPr lang="en-US" dirty="0"/>
              <a:t> the former NS after repeated pairings with the UCS.</a:t>
            </a:r>
          </a:p>
          <a:p>
            <a:r>
              <a:rPr lang="en-US" b="1" dirty="0"/>
              <a:t>Conditioned Response (CR):</a:t>
            </a:r>
            <a:r>
              <a:rPr lang="en-US" dirty="0"/>
              <a:t> learned response to the CS (often similar to the UCR).</a:t>
            </a:r>
          </a:p>
          <a:p>
            <a:endParaRPr lang="en-IN" dirty="0"/>
          </a:p>
        </p:txBody>
      </p:sp>
    </p:spTree>
    <p:extLst>
      <p:ext uri="{BB962C8B-B14F-4D97-AF65-F5344CB8AC3E}">
        <p14:creationId xmlns:p14="http://schemas.microsoft.com/office/powerpoint/2010/main" val="946339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FC404-23FF-94AC-8E14-53FDBA536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ECE81-93D5-AC4E-156E-02F1DC641D92}"/>
              </a:ext>
            </a:extLst>
          </p:cNvPr>
          <p:cNvSpPr>
            <a:spLocks noGrp="1"/>
          </p:cNvSpPr>
          <p:nvPr>
            <p:ph type="title"/>
          </p:nvPr>
        </p:nvSpPr>
        <p:spPr/>
        <p:txBody>
          <a:bodyPr/>
          <a:lstStyle/>
          <a:p>
            <a:r>
              <a:rPr lang="en-US" dirty="0"/>
              <a:t>Classical conditioning</a:t>
            </a:r>
            <a:endParaRPr lang="en-IN" dirty="0"/>
          </a:p>
        </p:txBody>
      </p:sp>
      <p:sp>
        <p:nvSpPr>
          <p:cNvPr id="3" name="Content Placeholder 2">
            <a:extLst>
              <a:ext uri="{FF2B5EF4-FFF2-40B4-BE49-F238E27FC236}">
                <a16:creationId xmlns:a16="http://schemas.microsoft.com/office/drawing/2014/main" id="{7C019113-3BFC-2000-AF94-5BC5BEACC3B3}"/>
              </a:ext>
            </a:extLst>
          </p:cNvPr>
          <p:cNvSpPr>
            <a:spLocks noGrp="1"/>
          </p:cNvSpPr>
          <p:nvPr>
            <p:ph idx="1"/>
          </p:nvPr>
        </p:nvSpPr>
        <p:spPr/>
        <p:txBody>
          <a:bodyPr/>
          <a:lstStyle/>
          <a:p>
            <a:r>
              <a:rPr lang="en-US" b="1" dirty="0"/>
              <a:t>How it works — basic process</a:t>
            </a:r>
          </a:p>
          <a:p>
            <a:r>
              <a:rPr lang="en-US" b="1" dirty="0"/>
              <a:t>Baseline:</a:t>
            </a:r>
            <a:r>
              <a:rPr lang="en-US" dirty="0"/>
              <a:t> NS (bell) → no salivation. UCS (food) → UCR (salivation).</a:t>
            </a:r>
          </a:p>
          <a:p>
            <a:r>
              <a:rPr lang="en-US" b="1" dirty="0"/>
              <a:t>Acquisition (pairing):</a:t>
            </a:r>
            <a:r>
              <a:rPr lang="en-US" dirty="0"/>
              <a:t> NS + UCS presented together repeatedly (bell + food).</a:t>
            </a:r>
          </a:p>
          <a:p>
            <a:r>
              <a:rPr lang="en-US" b="1" dirty="0"/>
              <a:t>Conditioned:</a:t>
            </a:r>
            <a:r>
              <a:rPr lang="en-US" dirty="0"/>
              <a:t> CS (bell) alone → CR (salivation).</a:t>
            </a:r>
          </a:p>
          <a:p>
            <a:r>
              <a:rPr lang="en-US" dirty="0"/>
              <a:t>The CS comes to </a:t>
            </a:r>
            <a:r>
              <a:rPr lang="en-US" i="1" dirty="0"/>
              <a:t>predict</a:t>
            </a:r>
            <a:r>
              <a:rPr lang="en-US" dirty="0"/>
              <a:t> the UCS; the organism responds to that prediction.</a:t>
            </a:r>
          </a:p>
          <a:p>
            <a:endParaRPr lang="en-IN" dirty="0"/>
          </a:p>
        </p:txBody>
      </p:sp>
    </p:spTree>
    <p:extLst>
      <p:ext uri="{BB962C8B-B14F-4D97-AF65-F5344CB8AC3E}">
        <p14:creationId xmlns:p14="http://schemas.microsoft.com/office/powerpoint/2010/main" val="309044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FDA27-45CE-B0ED-286D-83AAC804BB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8FDAD-A73D-B5B8-11A8-BFED330024A1}"/>
              </a:ext>
            </a:extLst>
          </p:cNvPr>
          <p:cNvSpPr>
            <a:spLocks noGrp="1"/>
          </p:cNvSpPr>
          <p:nvPr>
            <p:ph type="title"/>
          </p:nvPr>
        </p:nvSpPr>
        <p:spPr/>
        <p:txBody>
          <a:bodyPr/>
          <a:lstStyle/>
          <a:p>
            <a:r>
              <a:rPr lang="en-US" dirty="0"/>
              <a:t>Classical conditioning</a:t>
            </a:r>
            <a:endParaRPr lang="en-IN" dirty="0"/>
          </a:p>
        </p:txBody>
      </p:sp>
      <p:sp>
        <p:nvSpPr>
          <p:cNvPr id="7" name="Rectangle 3">
            <a:extLst>
              <a:ext uri="{FF2B5EF4-FFF2-40B4-BE49-F238E27FC236}">
                <a16:creationId xmlns:a16="http://schemas.microsoft.com/office/drawing/2014/main" id="{9AFDEC0C-8171-2031-53C5-C1001DDE9B15}"/>
              </a:ext>
            </a:extLst>
          </p:cNvPr>
          <p:cNvSpPr>
            <a:spLocks noGrp="1" noChangeArrowheads="1"/>
          </p:cNvSpPr>
          <p:nvPr>
            <p:ph idx="1"/>
          </p:nvPr>
        </p:nvSpPr>
        <p:spPr bwMode="auto">
          <a:xfrm>
            <a:off x="1066800" y="1252926"/>
            <a:ext cx="104775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lang="en-US" altLang="en-US" b="1" dirty="0">
                <a:latin typeface="Arial" panose="020B0604020202020204" pitchFamily="34" charset="0"/>
              </a:rPr>
              <a:t>Key terminologies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Acquisition:</a:t>
            </a:r>
            <a:r>
              <a:rPr kumimoji="0" lang="en-US" altLang="en-US" sz="1800" b="0" i="0" u="none" strike="noStrike" cap="none" normalizeH="0" baseline="0" dirty="0">
                <a:ln>
                  <a:noFill/>
                </a:ln>
                <a:solidFill>
                  <a:schemeClr val="tx1"/>
                </a:solidFill>
                <a:effectLst/>
                <a:latin typeface="Arial" panose="020B0604020202020204" pitchFamily="34" charset="0"/>
              </a:rPr>
              <a:t> period during which CS–UCS pairings produce a growing CR. Rate depends on strength of UCS, number/timing of pairings.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Extinction:</a:t>
            </a:r>
            <a:r>
              <a:rPr kumimoji="0" lang="en-US" altLang="en-US" sz="1800" b="0" i="0" u="none" strike="noStrike" cap="none" normalizeH="0" baseline="0" dirty="0">
                <a:ln>
                  <a:noFill/>
                </a:ln>
                <a:solidFill>
                  <a:schemeClr val="tx1"/>
                </a:solidFill>
                <a:effectLst/>
                <a:latin typeface="Arial" panose="020B0604020202020204" pitchFamily="34" charset="0"/>
              </a:rPr>
              <a:t> repeated presentation of CS without UCS causes CR to decline. Extinction is learning (inhibitory), not unlearning.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Spontaneous recovery:</a:t>
            </a:r>
            <a:r>
              <a:rPr kumimoji="0" lang="en-US" altLang="en-US" sz="1800" b="0" i="0" u="none" strike="noStrike" cap="none" normalizeH="0" baseline="0" dirty="0">
                <a:ln>
                  <a:noFill/>
                </a:ln>
                <a:solidFill>
                  <a:schemeClr val="tx1"/>
                </a:solidFill>
                <a:effectLst/>
                <a:latin typeface="Arial" panose="020B0604020202020204" pitchFamily="34" charset="0"/>
              </a:rPr>
              <a:t> after a rest period, an extinguished CR can reappear when CS is presented.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Generalization:</a:t>
            </a:r>
            <a:r>
              <a:rPr kumimoji="0" lang="en-US" altLang="en-US" sz="1800" b="0" i="0" u="none" strike="noStrike" cap="none" normalizeH="0" baseline="0" dirty="0">
                <a:ln>
                  <a:noFill/>
                </a:ln>
                <a:solidFill>
                  <a:schemeClr val="tx1"/>
                </a:solidFill>
                <a:effectLst/>
                <a:latin typeface="Arial" panose="020B0604020202020204" pitchFamily="34" charset="0"/>
              </a:rPr>
              <a:t> stimuli similar to the CS elicit the CR (e.g., bells of similar pitch).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Discrimination:</a:t>
            </a:r>
            <a:r>
              <a:rPr kumimoji="0" lang="en-US" altLang="en-US" sz="1800" b="0" i="0" u="none" strike="noStrike" cap="none" normalizeH="0" baseline="0" dirty="0">
                <a:ln>
                  <a:noFill/>
                </a:ln>
                <a:solidFill>
                  <a:schemeClr val="tx1"/>
                </a:solidFill>
                <a:effectLst/>
                <a:latin typeface="Arial" panose="020B0604020202020204" pitchFamily="34" charset="0"/>
              </a:rPr>
              <a:t> learning to respond only to the specific CS, not similar stimuli (trained by reinforcing only one stimulus).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Higher-order conditioning:</a:t>
            </a:r>
            <a:r>
              <a:rPr kumimoji="0" lang="en-US" altLang="en-US" sz="1800" b="0" i="0" u="none" strike="noStrike" cap="none" normalizeH="0" baseline="0" dirty="0">
                <a:ln>
                  <a:noFill/>
                </a:ln>
                <a:solidFill>
                  <a:schemeClr val="tx1"/>
                </a:solidFill>
                <a:effectLst/>
                <a:latin typeface="Arial" panose="020B0604020202020204" pitchFamily="34" charset="0"/>
              </a:rPr>
              <a:t> a neutral stimulus becomes a CS by being paired with an already established CS (CS2 paired with CS1 → CS2 evokes CR).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Latent inhibition:</a:t>
            </a:r>
            <a:r>
              <a:rPr kumimoji="0" lang="en-US" altLang="en-US" sz="1800" b="0" i="0" u="none" strike="noStrike" cap="none" normalizeH="0" baseline="0" dirty="0">
                <a:ln>
                  <a:noFill/>
                </a:ln>
                <a:solidFill>
                  <a:schemeClr val="tx1"/>
                </a:solidFill>
                <a:effectLst/>
                <a:latin typeface="Arial" panose="020B0604020202020204" pitchFamily="34" charset="0"/>
              </a:rPr>
              <a:t> prior exposure to the NS alone makes later conditioning of that stimulus slower (pre-exposure reduces associability).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Contiguity vs. contingency: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Contiguity</a:t>
            </a:r>
            <a:r>
              <a:rPr kumimoji="0" lang="en-US" altLang="en-US" sz="1800" b="0" i="0" u="none" strike="noStrike" cap="none" normalizeH="0" baseline="0" dirty="0">
                <a:ln>
                  <a:noFill/>
                </a:ln>
                <a:solidFill>
                  <a:schemeClr val="tx1"/>
                </a:solidFill>
                <a:effectLst/>
                <a:latin typeface="Arial" panose="020B0604020202020204" pitchFamily="34" charset="0"/>
              </a:rPr>
              <a:t> = close temporal pairing of CS and UCS (important).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Contingency</a:t>
            </a:r>
            <a:r>
              <a:rPr kumimoji="0" lang="en-US" altLang="en-US" sz="1800" b="0" i="0" u="none" strike="noStrike" cap="none" normalizeH="0" baseline="0" dirty="0">
                <a:ln>
                  <a:noFill/>
                </a:ln>
                <a:solidFill>
                  <a:schemeClr val="tx1"/>
                </a:solidFill>
                <a:effectLst/>
                <a:latin typeface="Arial" panose="020B0604020202020204" pitchFamily="34" charset="0"/>
              </a:rPr>
              <a:t> = degree to which CS predicts UCS (CS must be a reliable predictor). Modern work shows contingency (prediction) matters more than mere contiguity.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8214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2C841-85CA-6060-1C76-D157B3C0B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7A90D-9BEE-81F7-EC81-CF6B0A8E089D}"/>
              </a:ext>
            </a:extLst>
          </p:cNvPr>
          <p:cNvSpPr>
            <a:spLocks noGrp="1"/>
          </p:cNvSpPr>
          <p:nvPr>
            <p:ph type="title"/>
          </p:nvPr>
        </p:nvSpPr>
        <p:spPr/>
        <p:txBody>
          <a:bodyPr/>
          <a:lstStyle/>
          <a:p>
            <a:r>
              <a:rPr lang="en-US" dirty="0"/>
              <a:t>Classical conditioning</a:t>
            </a:r>
            <a:endParaRPr lang="en-IN" dirty="0"/>
          </a:p>
        </p:txBody>
      </p:sp>
      <p:sp>
        <p:nvSpPr>
          <p:cNvPr id="7" name="Rectangle 3">
            <a:extLst>
              <a:ext uri="{FF2B5EF4-FFF2-40B4-BE49-F238E27FC236}">
                <a16:creationId xmlns:a16="http://schemas.microsoft.com/office/drawing/2014/main" id="{C00F268C-9276-4CDA-5077-22927E0389C8}"/>
              </a:ext>
            </a:extLst>
          </p:cNvPr>
          <p:cNvSpPr>
            <a:spLocks noGrp="1" noChangeArrowheads="1"/>
          </p:cNvSpPr>
          <p:nvPr>
            <p:ph idx="1"/>
          </p:nvPr>
        </p:nvSpPr>
        <p:spPr bwMode="auto">
          <a:xfrm>
            <a:off x="1066800" y="1825505"/>
            <a:ext cx="10477500" cy="3439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r>
              <a:rPr lang="en-US" b="1" dirty="0"/>
              <a:t>Timing matters (temporal arrangements)</a:t>
            </a:r>
          </a:p>
          <a:p>
            <a:r>
              <a:rPr lang="en-US" b="1" dirty="0"/>
              <a:t>Short-delay conditioning:</a:t>
            </a:r>
            <a:r>
              <a:rPr lang="en-US" dirty="0"/>
              <a:t> CS begins shortly before UCS and overlaps — usually most effective.</a:t>
            </a:r>
          </a:p>
          <a:p>
            <a:r>
              <a:rPr lang="en-US" b="1" dirty="0"/>
              <a:t>Trace conditioning:</a:t>
            </a:r>
            <a:r>
              <a:rPr lang="en-US" dirty="0"/>
              <a:t> CS ends, and after a short gap, UCS occurs — requires a memory “trace” and is harder.</a:t>
            </a:r>
          </a:p>
          <a:p>
            <a:r>
              <a:rPr lang="en-US" b="1" dirty="0"/>
              <a:t>Simultaneous conditioning:</a:t>
            </a:r>
            <a:r>
              <a:rPr lang="en-US" dirty="0"/>
              <a:t> CS and UCS occur together — weaker learning.</a:t>
            </a:r>
          </a:p>
          <a:p>
            <a:r>
              <a:rPr lang="en-US" b="1" dirty="0"/>
              <a:t>Backwards conditioning:</a:t>
            </a:r>
            <a:r>
              <a:rPr lang="en-US" dirty="0"/>
              <a:t> UCS before CS — generally ineffective and can produce inhibitory learning.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3787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971C4-0F20-4CC5-690D-A89C2FFA7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A2100-1136-8D65-EB66-5AB084B274F7}"/>
              </a:ext>
            </a:extLst>
          </p:cNvPr>
          <p:cNvSpPr>
            <a:spLocks noGrp="1"/>
          </p:cNvSpPr>
          <p:nvPr>
            <p:ph type="title"/>
          </p:nvPr>
        </p:nvSpPr>
        <p:spPr/>
        <p:txBody>
          <a:bodyPr/>
          <a:lstStyle/>
          <a:p>
            <a:r>
              <a:rPr lang="en-US" dirty="0"/>
              <a:t>Classical conditioning</a:t>
            </a:r>
            <a:endParaRPr lang="en-IN" dirty="0"/>
          </a:p>
        </p:txBody>
      </p:sp>
      <p:sp>
        <p:nvSpPr>
          <p:cNvPr id="7" name="Rectangle 3">
            <a:extLst>
              <a:ext uri="{FF2B5EF4-FFF2-40B4-BE49-F238E27FC236}">
                <a16:creationId xmlns:a16="http://schemas.microsoft.com/office/drawing/2014/main" id="{93A8D60D-6CBF-9E31-4F1F-F92846DB6080}"/>
              </a:ext>
            </a:extLst>
          </p:cNvPr>
          <p:cNvSpPr>
            <a:spLocks noGrp="1" noChangeArrowheads="1"/>
          </p:cNvSpPr>
          <p:nvPr>
            <p:ph idx="1"/>
          </p:nvPr>
        </p:nvSpPr>
        <p:spPr bwMode="auto">
          <a:xfrm>
            <a:off x="1066800" y="1522858"/>
            <a:ext cx="10477500" cy="4044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Theoretical accounts (why it happens)</a:t>
            </a:r>
          </a:p>
          <a:p>
            <a:r>
              <a:rPr lang="en-US" b="1" dirty="0"/>
              <a:t>S–R (stimulus–response) view (early behaviorists):</a:t>
            </a:r>
            <a:r>
              <a:rPr lang="en-US" dirty="0"/>
              <a:t> CS becomes directly linked to the response.</a:t>
            </a:r>
          </a:p>
          <a:p>
            <a:r>
              <a:rPr lang="en-US" b="1" dirty="0"/>
              <a:t>S–S (stimulus–stimulus) view:</a:t>
            </a:r>
            <a:r>
              <a:rPr lang="en-US" dirty="0"/>
              <a:t> CS activates a memory/representation of the UCS, which elicits the response — explains sensory-specific effects.</a:t>
            </a:r>
          </a:p>
          <a:p>
            <a:r>
              <a:rPr lang="en-US" b="1" dirty="0"/>
              <a:t>Rescorla–Wagner model (quantitative, modern):</a:t>
            </a:r>
            <a:r>
              <a:rPr lang="en-US" dirty="0"/>
              <a:t> learning depends on prediction error (ΔV = αβ(λ − ΣV)). In words: learning is proportional to how surprising the UCS is given current expectations — explains blocking, overshadowing.</a:t>
            </a:r>
          </a:p>
          <a:p>
            <a:pPr lvl="1"/>
            <a:r>
              <a:rPr lang="en-US" b="1" dirty="0"/>
              <a:t>Blocking:</a:t>
            </a:r>
            <a:r>
              <a:rPr lang="en-US" dirty="0"/>
              <a:t> if CS1 already predicts UCS, pairing CS1+CS2 with UCS produces little learning about CS2 (no prediction error).</a:t>
            </a:r>
          </a:p>
          <a:p>
            <a:pPr lvl="1"/>
            <a:r>
              <a:rPr lang="en-US" b="1" dirty="0"/>
              <a:t>Overshadowing:</a:t>
            </a:r>
            <a:r>
              <a:rPr lang="en-US" dirty="0"/>
              <a:t> when two stimuli of unequal salience are paired with UCS, the more salient stimulus acquires stronger associative strength.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9765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3D9B3-5DDB-1774-6160-8210C5991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49F7D-6764-EA97-5B74-B86FF7309A2F}"/>
              </a:ext>
            </a:extLst>
          </p:cNvPr>
          <p:cNvSpPr>
            <a:spLocks noGrp="1"/>
          </p:cNvSpPr>
          <p:nvPr>
            <p:ph type="title"/>
          </p:nvPr>
        </p:nvSpPr>
        <p:spPr/>
        <p:txBody>
          <a:bodyPr/>
          <a:lstStyle/>
          <a:p>
            <a:r>
              <a:rPr lang="en-US" dirty="0"/>
              <a:t>Classical conditioning</a:t>
            </a:r>
            <a:endParaRPr lang="en-IN" dirty="0"/>
          </a:p>
        </p:txBody>
      </p:sp>
      <p:sp>
        <p:nvSpPr>
          <p:cNvPr id="7" name="Rectangle 3">
            <a:extLst>
              <a:ext uri="{FF2B5EF4-FFF2-40B4-BE49-F238E27FC236}">
                <a16:creationId xmlns:a16="http://schemas.microsoft.com/office/drawing/2014/main" id="{CBC77E61-392A-61F2-4EEF-E0A24FCC14DF}"/>
              </a:ext>
            </a:extLst>
          </p:cNvPr>
          <p:cNvSpPr>
            <a:spLocks noGrp="1" noChangeArrowheads="1"/>
          </p:cNvSpPr>
          <p:nvPr>
            <p:ph idx="1"/>
          </p:nvPr>
        </p:nvSpPr>
        <p:spPr bwMode="auto">
          <a:xfrm>
            <a:off x="1066800" y="1522858"/>
            <a:ext cx="10477500" cy="4044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Theoretical accounts (why it happens)</a:t>
            </a:r>
          </a:p>
          <a:p>
            <a:r>
              <a:rPr lang="en-US" b="1" dirty="0"/>
              <a:t>S–R (stimulus–response) view (early behaviorists):</a:t>
            </a:r>
            <a:r>
              <a:rPr lang="en-US" dirty="0"/>
              <a:t> CS becomes directly linked to the response.</a:t>
            </a:r>
          </a:p>
          <a:p>
            <a:r>
              <a:rPr lang="en-US" b="1" dirty="0"/>
              <a:t>S–S (stimulus–stimulus) view:</a:t>
            </a:r>
            <a:r>
              <a:rPr lang="en-US" dirty="0"/>
              <a:t> CS activates a memory/representation of the UCS, which elicits the response — explains sensory-specific effects.</a:t>
            </a:r>
          </a:p>
          <a:p>
            <a:r>
              <a:rPr lang="en-US" b="1" dirty="0"/>
              <a:t>Rescorla–Wagner model (quantitative, modern):</a:t>
            </a:r>
            <a:r>
              <a:rPr lang="en-US" dirty="0"/>
              <a:t> learning depends on prediction error (ΔV = αβ(λ − ΣV)). In words: learning is proportional to how surprising the UCS is given current expectations — explains blocking, overshadowing.</a:t>
            </a:r>
          </a:p>
          <a:p>
            <a:pPr lvl="1"/>
            <a:r>
              <a:rPr lang="en-US" b="1" dirty="0"/>
              <a:t>Blocking:</a:t>
            </a:r>
            <a:r>
              <a:rPr lang="en-US" dirty="0"/>
              <a:t> if CS1 already predicts UCS, pairing CS1+CS2 with UCS produces little learning about CS2 (no prediction error).</a:t>
            </a:r>
          </a:p>
          <a:p>
            <a:pPr lvl="1"/>
            <a:r>
              <a:rPr lang="en-US" b="1" dirty="0"/>
              <a:t>Overshadowing:</a:t>
            </a:r>
            <a:r>
              <a:rPr lang="en-US" dirty="0"/>
              <a:t> when two stimuli of unequal salience are paired with UCS, the more salient stimulus acquires stronger associative strength.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9566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1598C-E72F-BB96-7747-990E3291A523}"/>
              </a:ext>
            </a:extLst>
          </p:cNvPr>
          <p:cNvSpPr>
            <a:spLocks noGrp="1"/>
          </p:cNvSpPr>
          <p:nvPr>
            <p:ph type="title"/>
          </p:nvPr>
        </p:nvSpPr>
        <p:spPr>
          <a:xfrm>
            <a:off x="285750" y="0"/>
            <a:ext cx="10058400" cy="1371600"/>
          </a:xfrm>
        </p:spPr>
        <p:txBody>
          <a:bodyPr/>
          <a:lstStyle/>
          <a:p>
            <a:r>
              <a:rPr lang="en-US" dirty="0"/>
              <a:t>Operant conditioning</a:t>
            </a:r>
            <a:endParaRPr lang="en-IN" dirty="0"/>
          </a:p>
        </p:txBody>
      </p:sp>
      <p:sp>
        <p:nvSpPr>
          <p:cNvPr id="3" name="Content Placeholder 2">
            <a:extLst>
              <a:ext uri="{FF2B5EF4-FFF2-40B4-BE49-F238E27FC236}">
                <a16:creationId xmlns:a16="http://schemas.microsoft.com/office/drawing/2014/main" id="{98289AF2-F4CA-E981-F611-574A22C673C6}"/>
              </a:ext>
            </a:extLst>
          </p:cNvPr>
          <p:cNvSpPr>
            <a:spLocks noGrp="1"/>
          </p:cNvSpPr>
          <p:nvPr>
            <p:ph idx="1"/>
          </p:nvPr>
        </p:nvSpPr>
        <p:spPr>
          <a:xfrm>
            <a:off x="723900" y="960120"/>
            <a:ext cx="10058400" cy="3931920"/>
          </a:xfrm>
        </p:spPr>
        <p:txBody>
          <a:bodyPr/>
          <a:lstStyle/>
          <a:p>
            <a:r>
              <a:rPr lang="en-US" b="1" dirty="0"/>
              <a:t>“Operant conditioning is a form of learning in which the strength of a behavior is modified by its consequences, such as rewards or punishments.” </a:t>
            </a:r>
            <a:endParaRPr lang="en-IN" dirty="0"/>
          </a:p>
          <a:p>
            <a:r>
              <a:rPr lang="en-US" b="1" dirty="0"/>
              <a:t>-(B.F. Skinner)</a:t>
            </a:r>
            <a:endParaRPr lang="en-IN" dirty="0"/>
          </a:p>
          <a:p>
            <a:endParaRPr lang="en-IN" dirty="0"/>
          </a:p>
        </p:txBody>
      </p:sp>
      <p:pic>
        <p:nvPicPr>
          <p:cNvPr id="5" name="Picture 4">
            <a:extLst>
              <a:ext uri="{FF2B5EF4-FFF2-40B4-BE49-F238E27FC236}">
                <a16:creationId xmlns:a16="http://schemas.microsoft.com/office/drawing/2014/main" id="{AAED55B9-4E1C-0AB6-64AA-CC597CDC54D3}"/>
              </a:ext>
            </a:extLst>
          </p:cNvPr>
          <p:cNvPicPr>
            <a:picLocks noChangeAspect="1"/>
          </p:cNvPicPr>
          <p:nvPr/>
        </p:nvPicPr>
        <p:blipFill>
          <a:blip r:embed="rId2"/>
          <a:stretch>
            <a:fillRect/>
          </a:stretch>
        </p:blipFill>
        <p:spPr>
          <a:xfrm>
            <a:off x="3409474" y="1533525"/>
            <a:ext cx="7477601" cy="4986762"/>
          </a:xfrm>
          <a:prstGeom prst="rect">
            <a:avLst/>
          </a:prstGeom>
        </p:spPr>
      </p:pic>
    </p:spTree>
    <p:extLst>
      <p:ext uri="{BB962C8B-B14F-4D97-AF65-F5344CB8AC3E}">
        <p14:creationId xmlns:p14="http://schemas.microsoft.com/office/powerpoint/2010/main" val="3671597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4FC9C-1818-2126-9365-8C0B7C8E2D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376059-21A8-DD4C-4978-F22346187D95}"/>
              </a:ext>
            </a:extLst>
          </p:cNvPr>
          <p:cNvSpPr>
            <a:spLocks noGrp="1"/>
          </p:cNvSpPr>
          <p:nvPr>
            <p:ph type="title"/>
          </p:nvPr>
        </p:nvSpPr>
        <p:spPr>
          <a:xfrm>
            <a:off x="742950" y="409575"/>
            <a:ext cx="10058400" cy="1371600"/>
          </a:xfrm>
        </p:spPr>
        <p:txBody>
          <a:bodyPr/>
          <a:lstStyle/>
          <a:p>
            <a:r>
              <a:rPr lang="en-US" dirty="0"/>
              <a:t>Operant conditioning</a:t>
            </a:r>
            <a:endParaRPr lang="en-IN" dirty="0"/>
          </a:p>
        </p:txBody>
      </p:sp>
      <p:sp>
        <p:nvSpPr>
          <p:cNvPr id="3" name="Content Placeholder 2">
            <a:extLst>
              <a:ext uri="{FF2B5EF4-FFF2-40B4-BE49-F238E27FC236}">
                <a16:creationId xmlns:a16="http://schemas.microsoft.com/office/drawing/2014/main" id="{9CCAF14C-5F4A-39B5-BAFF-216B14F7DCF0}"/>
              </a:ext>
            </a:extLst>
          </p:cNvPr>
          <p:cNvSpPr>
            <a:spLocks noGrp="1"/>
          </p:cNvSpPr>
          <p:nvPr>
            <p:ph idx="1"/>
          </p:nvPr>
        </p:nvSpPr>
        <p:spPr>
          <a:xfrm>
            <a:off x="304800" y="1998345"/>
            <a:ext cx="11601450" cy="4526280"/>
          </a:xfrm>
        </p:spPr>
        <p:txBody>
          <a:bodyPr>
            <a:normAutofit fontScale="85000" lnSpcReduction="10000"/>
          </a:bodyPr>
          <a:lstStyle/>
          <a:p>
            <a:r>
              <a:rPr lang="en-IN" dirty="0"/>
              <a:t>Operant conditioning, sometimes called </a:t>
            </a:r>
            <a:r>
              <a:rPr lang="en-IN" i="1" dirty="0"/>
              <a:t>instrumental learning</a:t>
            </a:r>
            <a:r>
              <a:rPr lang="en-IN" dirty="0"/>
              <a:t>, was first extensively studied by </a:t>
            </a:r>
            <a:r>
              <a:rPr lang="en-IN" u="sng" dirty="0"/>
              <a:t>Edward L. Thorndike</a:t>
            </a:r>
            <a:r>
              <a:rPr lang="en-IN" dirty="0"/>
              <a:t> (1874–1949), who observed the </a:t>
            </a:r>
            <a:r>
              <a:rPr lang="en-IN" dirty="0" err="1"/>
              <a:t>behavior</a:t>
            </a:r>
            <a:r>
              <a:rPr lang="en-IN" dirty="0"/>
              <a:t> of cats trying to escape from home-made puzzle boxes. A cat could escape from the box by a simple response such as pulling a cord or pushing a pole, but when first constrained, the cats took a long time to get out. With repeated trials ineffective responses occurred less frequently and successful responses occurred more frequently, so the cats escaped more and more quickly. Thorndike generalized this finding in his </a:t>
            </a:r>
            <a:r>
              <a:rPr lang="en-IN" u="sng" dirty="0"/>
              <a:t>law of effect</a:t>
            </a:r>
            <a:r>
              <a:rPr lang="en-IN" dirty="0"/>
              <a:t>, which states that </a:t>
            </a:r>
            <a:r>
              <a:rPr lang="en-IN" dirty="0" err="1"/>
              <a:t>behaviors</a:t>
            </a:r>
            <a:r>
              <a:rPr lang="en-IN" dirty="0"/>
              <a:t> followed by satisfying consequences tend to be repeated and those that produce unpleasant consequences are less likely to be repeated. In short, some consequences </a:t>
            </a:r>
            <a:r>
              <a:rPr lang="en-IN" i="1" dirty="0"/>
              <a:t>strengthen </a:t>
            </a:r>
            <a:r>
              <a:rPr lang="en-IN" dirty="0" err="1"/>
              <a:t>behavior</a:t>
            </a:r>
            <a:r>
              <a:rPr lang="en-IN" dirty="0"/>
              <a:t> and some consequences </a:t>
            </a:r>
            <a:r>
              <a:rPr lang="en-IN" i="1" dirty="0"/>
              <a:t>weaken </a:t>
            </a:r>
            <a:r>
              <a:rPr lang="en-IN" dirty="0" err="1"/>
              <a:t>behavior</a:t>
            </a:r>
            <a:r>
              <a:rPr lang="en-IN" dirty="0"/>
              <a:t>.</a:t>
            </a:r>
          </a:p>
          <a:p>
            <a:r>
              <a:rPr lang="en-IN" dirty="0"/>
              <a:t>Humans appear to learn many simple </a:t>
            </a:r>
            <a:r>
              <a:rPr lang="en-IN" dirty="0" err="1"/>
              <a:t>behaviors</a:t>
            </a:r>
            <a:r>
              <a:rPr lang="en-IN" dirty="0"/>
              <a:t> through the sort of process studied by Thorndike, now called operant conditioning. </a:t>
            </a:r>
          </a:p>
          <a:p>
            <a:r>
              <a:rPr lang="en-IN" i="1" dirty="0"/>
              <a:t>Responses are retained when they lead to a successful outcome and discarded when they do not, or when they produce aversive effects.</a:t>
            </a:r>
            <a:endParaRPr lang="en-IN" dirty="0"/>
          </a:p>
          <a:p>
            <a:r>
              <a:rPr lang="en-IN" b="1" dirty="0"/>
              <a:t>Skinner’s Experiment</a:t>
            </a:r>
            <a:endParaRPr lang="en-IN" dirty="0"/>
          </a:p>
          <a:p>
            <a:r>
              <a:rPr lang="en-US" b="1" u="sng" dirty="0"/>
              <a:t>B.F. Skinner</a:t>
            </a:r>
            <a:r>
              <a:rPr lang="en-US" b="1" dirty="0"/>
              <a:t>(1904–1990) is often referred to as the father of operant conditioning. </a:t>
            </a:r>
            <a:r>
              <a:rPr lang="en-US" dirty="0"/>
              <a:t>Skinner believed that classical conditioning was too simplistic to be used to describe something as complex as human behavior. Operant conditioning, in his opinion, better described human behavior since it examined causes and effects of intentional behavior.</a:t>
            </a:r>
            <a:endParaRPr lang="en-IN" dirty="0"/>
          </a:p>
          <a:p>
            <a:r>
              <a:rPr lang="en-IN" dirty="0"/>
              <a:t>To implement his empirical approach, Skinner invented the </a:t>
            </a:r>
            <a:r>
              <a:rPr lang="en-IN" u="sng" dirty="0"/>
              <a:t>operant conditioning chamber</a:t>
            </a:r>
            <a:r>
              <a:rPr lang="en-IN" dirty="0"/>
              <a:t>, or “</a:t>
            </a:r>
            <a:r>
              <a:rPr lang="en-IN" i="1" dirty="0"/>
              <a:t>Skinner Box</a:t>
            </a:r>
            <a:r>
              <a:rPr lang="en-IN" dirty="0"/>
              <a:t>”, in which subjects such as pigeons and rats were isolated and could be exposed to carefully controlled stimuli.</a:t>
            </a:r>
          </a:p>
          <a:p>
            <a:endParaRPr lang="en-IN" dirty="0"/>
          </a:p>
        </p:txBody>
      </p:sp>
    </p:spTree>
    <p:extLst>
      <p:ext uri="{BB962C8B-B14F-4D97-AF65-F5344CB8AC3E}">
        <p14:creationId xmlns:p14="http://schemas.microsoft.com/office/powerpoint/2010/main" val="193261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23E1-031F-8E85-4C05-D62A62C44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8C6E0-3B86-DCFF-D5B8-E630AD5F902A}"/>
              </a:ext>
            </a:extLst>
          </p:cNvPr>
          <p:cNvSpPr>
            <a:spLocks noGrp="1"/>
          </p:cNvSpPr>
          <p:nvPr>
            <p:ph type="title"/>
          </p:nvPr>
        </p:nvSpPr>
        <p:spPr>
          <a:xfrm>
            <a:off x="742950" y="409575"/>
            <a:ext cx="10058400" cy="1371600"/>
          </a:xfrm>
        </p:spPr>
        <p:txBody>
          <a:bodyPr/>
          <a:lstStyle/>
          <a:p>
            <a:r>
              <a:rPr lang="en-US" dirty="0"/>
              <a:t>Operant conditioning</a:t>
            </a:r>
            <a:endParaRPr lang="en-IN" dirty="0"/>
          </a:p>
        </p:txBody>
      </p:sp>
      <p:sp>
        <p:nvSpPr>
          <p:cNvPr id="3" name="Content Placeholder 2">
            <a:extLst>
              <a:ext uri="{FF2B5EF4-FFF2-40B4-BE49-F238E27FC236}">
                <a16:creationId xmlns:a16="http://schemas.microsoft.com/office/drawing/2014/main" id="{13D55A0F-C980-6D0A-0303-EBB1F8985BED}"/>
              </a:ext>
            </a:extLst>
          </p:cNvPr>
          <p:cNvSpPr>
            <a:spLocks noGrp="1"/>
          </p:cNvSpPr>
          <p:nvPr>
            <p:ph idx="1"/>
          </p:nvPr>
        </p:nvSpPr>
        <p:spPr>
          <a:xfrm>
            <a:off x="304800" y="1998345"/>
            <a:ext cx="11601450" cy="4526280"/>
          </a:xfrm>
        </p:spPr>
        <p:txBody>
          <a:bodyPr>
            <a:normAutofit fontScale="85000" lnSpcReduction="20000"/>
          </a:bodyPr>
          <a:lstStyle/>
          <a:p>
            <a:pPr marL="0" indent="0">
              <a:buNone/>
            </a:pPr>
            <a:r>
              <a:rPr lang="en-IN" b="1" u="sng" dirty="0"/>
              <a:t>Schedules of reinforcement</a:t>
            </a:r>
            <a:endParaRPr lang="en-IN" dirty="0"/>
          </a:p>
          <a:p>
            <a:pPr marL="0" indent="0">
              <a:buNone/>
            </a:pPr>
            <a:r>
              <a:rPr lang="en-US" dirty="0"/>
              <a:t>Schedules of reinforcement are rules that control the delivery of reinforcement. The rules specify either the time that reinforcement is to be made available, or the number of responses to be made, or both. Many rules are possible, but the following are the most basic and commonly used.</a:t>
            </a:r>
            <a:endParaRPr lang="en-IN" dirty="0"/>
          </a:p>
          <a:p>
            <a:r>
              <a:rPr lang="en-US" dirty="0"/>
              <a:t> </a:t>
            </a:r>
            <a:r>
              <a:rPr lang="en-US" b="1" dirty="0"/>
              <a:t>Fixed interval schedule</a:t>
            </a:r>
            <a:r>
              <a:rPr lang="en-US" dirty="0"/>
              <a:t>: Reinforcement occurs following the first response after a fixed time has elapsed after the previous reinforcement. This schedule yields a “break-run” pattern of response; that is, after training on this schedule, the organism typically pauses after reinforcement, and then begins to respond rapidly as the time for the next reinforcement approaches.</a:t>
            </a:r>
            <a:endParaRPr lang="en-IN" dirty="0"/>
          </a:p>
          <a:p>
            <a:r>
              <a:rPr lang="en-US" dirty="0"/>
              <a:t> </a:t>
            </a:r>
            <a:r>
              <a:rPr lang="en-US" b="1" dirty="0"/>
              <a:t>Variable interval schedule</a:t>
            </a:r>
            <a:r>
              <a:rPr lang="en-US" dirty="0"/>
              <a:t>: Reinforcement occurs following the first response after a variable time has elapsed from the previous reinforcement. This schedule typically yields a relatively steady rate of response that varies with the average time between reinforcements.</a:t>
            </a:r>
            <a:endParaRPr lang="en-IN" dirty="0"/>
          </a:p>
          <a:p>
            <a:r>
              <a:rPr lang="en-US" dirty="0"/>
              <a:t> </a:t>
            </a:r>
            <a:r>
              <a:rPr lang="en-US" b="1" dirty="0"/>
              <a:t>Fixed ratio schedule</a:t>
            </a:r>
            <a:r>
              <a:rPr lang="en-US" dirty="0"/>
              <a:t>: Reinforcement occurs after a fixed number of responses have  been emitted since the previous reinforcement. An organism trained on this schedule typically pauses for a while after a reinforcement and then responds at a high rate. If the response requirement is low there may be no pause; if the response requirement is high the organism may quit responding altogether.</a:t>
            </a:r>
            <a:endParaRPr lang="en-IN" dirty="0"/>
          </a:p>
          <a:p>
            <a:r>
              <a:rPr lang="en-US" dirty="0"/>
              <a:t> </a:t>
            </a:r>
            <a:r>
              <a:rPr lang="en-US" b="1" dirty="0"/>
              <a:t>Variable ratio schedule</a:t>
            </a:r>
            <a:r>
              <a:rPr lang="en-US" dirty="0"/>
              <a:t>: Reinforcement occurs after a variable number of responses have been emitted since the previous reinforcement. This schedule typically yields a very high, persistent rate of response.</a:t>
            </a:r>
            <a:endParaRPr lang="en-IN" dirty="0"/>
          </a:p>
          <a:p>
            <a:r>
              <a:rPr lang="en-US" dirty="0"/>
              <a:t> </a:t>
            </a:r>
            <a:r>
              <a:rPr lang="en-US" b="1" dirty="0"/>
              <a:t>Continuous reinforcement</a:t>
            </a:r>
            <a:r>
              <a:rPr lang="en-US" dirty="0"/>
              <a:t>: Reinforcement occurs after each response. Organisms typically respond as rapidly as they can, given the time taken to obtain and consume reinforcement, until they are satiated.</a:t>
            </a:r>
            <a:endParaRPr lang="en-IN" dirty="0"/>
          </a:p>
          <a:p>
            <a:endParaRPr lang="en-IN" dirty="0"/>
          </a:p>
        </p:txBody>
      </p:sp>
    </p:spTree>
    <p:extLst>
      <p:ext uri="{BB962C8B-B14F-4D97-AF65-F5344CB8AC3E}">
        <p14:creationId xmlns:p14="http://schemas.microsoft.com/office/powerpoint/2010/main" val="4222015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B659F-CE97-88F3-EA6B-53ACE0311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23BF0-6EFF-F503-A301-B15F065A7681}"/>
              </a:ext>
            </a:extLst>
          </p:cNvPr>
          <p:cNvSpPr>
            <a:spLocks noGrp="1"/>
          </p:cNvSpPr>
          <p:nvPr>
            <p:ph type="title"/>
          </p:nvPr>
        </p:nvSpPr>
        <p:spPr>
          <a:xfrm>
            <a:off x="742950" y="409575"/>
            <a:ext cx="10058400" cy="1371600"/>
          </a:xfrm>
        </p:spPr>
        <p:txBody>
          <a:bodyPr/>
          <a:lstStyle/>
          <a:p>
            <a:r>
              <a:rPr lang="en-US" dirty="0"/>
              <a:t>Operant conditioning</a:t>
            </a:r>
            <a:endParaRPr lang="en-IN" dirty="0"/>
          </a:p>
        </p:txBody>
      </p:sp>
      <p:sp>
        <p:nvSpPr>
          <p:cNvPr id="3" name="Content Placeholder 2">
            <a:extLst>
              <a:ext uri="{FF2B5EF4-FFF2-40B4-BE49-F238E27FC236}">
                <a16:creationId xmlns:a16="http://schemas.microsoft.com/office/drawing/2014/main" id="{51BAE593-A16D-05E4-1EC7-BBA32E64F1C5}"/>
              </a:ext>
            </a:extLst>
          </p:cNvPr>
          <p:cNvSpPr>
            <a:spLocks noGrp="1"/>
          </p:cNvSpPr>
          <p:nvPr>
            <p:ph idx="1"/>
          </p:nvPr>
        </p:nvSpPr>
        <p:spPr>
          <a:xfrm>
            <a:off x="304800" y="1998345"/>
            <a:ext cx="11601450" cy="4526280"/>
          </a:xfrm>
        </p:spPr>
        <p:txBody>
          <a:bodyPr>
            <a:normAutofit fontScale="85000" lnSpcReduction="10000"/>
          </a:bodyPr>
          <a:lstStyle/>
          <a:p>
            <a:r>
              <a:rPr lang="en-IN" b="1" dirty="0"/>
              <a:t>Concepts of reinforcement</a:t>
            </a:r>
          </a:p>
          <a:p>
            <a:pPr lvl="0"/>
            <a:r>
              <a:rPr lang="en-IN" b="1" dirty="0"/>
              <a:t>Positive reinforcement </a:t>
            </a:r>
            <a:r>
              <a:rPr lang="en-IN" dirty="0"/>
              <a:t>(reinforcement): This occurs when a </a:t>
            </a:r>
            <a:r>
              <a:rPr lang="en-IN" dirty="0" err="1"/>
              <a:t>behavior</a:t>
            </a:r>
            <a:r>
              <a:rPr lang="en-IN" dirty="0"/>
              <a:t> (response) is rewarding or the </a:t>
            </a:r>
            <a:r>
              <a:rPr lang="en-IN" dirty="0" err="1"/>
              <a:t>behavior</a:t>
            </a:r>
            <a:r>
              <a:rPr lang="en-IN" dirty="0"/>
              <a:t> is followed by another stimulus that is rewarding, increasing the frequency of that </a:t>
            </a:r>
            <a:r>
              <a:rPr lang="en-IN" dirty="0" err="1"/>
              <a:t>behavior</a:t>
            </a:r>
            <a:r>
              <a:rPr lang="en-IN" dirty="0"/>
              <a:t>. For example, if a rat in a Skinner box gets food when it presses a lever, its rate of pressing will go up. This procedure is usually called simply </a:t>
            </a:r>
            <a:r>
              <a:rPr lang="en-IN" i="1" dirty="0"/>
              <a:t>reinforcement</a:t>
            </a:r>
            <a:r>
              <a:rPr lang="en-IN" dirty="0"/>
              <a:t>.</a:t>
            </a:r>
          </a:p>
          <a:p>
            <a:r>
              <a:rPr lang="en-IN" b="1" dirty="0"/>
              <a:t>Negative reinforcement </a:t>
            </a:r>
            <a:r>
              <a:rPr lang="en-IN" dirty="0"/>
              <a:t>(escape): This occurs when a </a:t>
            </a:r>
            <a:r>
              <a:rPr lang="en-IN" dirty="0" err="1"/>
              <a:t>behavior</a:t>
            </a:r>
            <a:r>
              <a:rPr lang="en-IN" dirty="0"/>
              <a:t> (response) is followed by the removal of an aversive stimulus, thereby increasing that </a:t>
            </a:r>
            <a:r>
              <a:rPr lang="en-IN" dirty="0" err="1"/>
              <a:t>behavior’s</a:t>
            </a:r>
            <a:r>
              <a:rPr lang="en-IN" dirty="0"/>
              <a:t> frequency. In </a:t>
            </a:r>
            <a:r>
              <a:rPr lang="en-US" dirty="0"/>
              <a:t>the Skinner box experiment, the aversive stimulus might be a loud noise continuously sounding inside the box; negative reinforcement would happen when the rat presses a lever, turning off the noise.</a:t>
            </a:r>
            <a:endParaRPr lang="en-IN" dirty="0"/>
          </a:p>
          <a:p>
            <a:pPr lvl="0"/>
            <a:r>
              <a:rPr lang="en-IN" b="1" dirty="0"/>
              <a:t>Positive punishment </a:t>
            </a:r>
            <a:r>
              <a:rPr lang="en-IN" dirty="0"/>
              <a:t>(also referred to as “punishment by contingent stimulation”): This occurs when a </a:t>
            </a:r>
            <a:r>
              <a:rPr lang="en-IN" dirty="0" err="1"/>
              <a:t>behavior</a:t>
            </a:r>
            <a:r>
              <a:rPr lang="en-IN" dirty="0"/>
              <a:t> (response) is followed by an aversive stimulus, such as pain from a spanking, which results in a decrease in that </a:t>
            </a:r>
            <a:r>
              <a:rPr lang="en-IN" dirty="0" err="1"/>
              <a:t>behavior</a:t>
            </a:r>
            <a:r>
              <a:rPr lang="en-IN" dirty="0"/>
              <a:t>. </a:t>
            </a:r>
            <a:r>
              <a:rPr lang="en-IN" i="1" dirty="0"/>
              <a:t>Positive punishment </a:t>
            </a:r>
            <a:r>
              <a:rPr lang="en-IN" dirty="0"/>
              <a:t>is a rather confusing term, and usually the procedure is simply called “punishment.”</a:t>
            </a:r>
          </a:p>
          <a:p>
            <a:pPr lvl="0"/>
            <a:r>
              <a:rPr lang="en-IN" b="1" dirty="0"/>
              <a:t>Negative punishment </a:t>
            </a:r>
            <a:r>
              <a:rPr lang="en-IN" dirty="0"/>
              <a:t>(penalty) (also called “punishment by contingent withdrawal”): Occurs when a </a:t>
            </a:r>
            <a:r>
              <a:rPr lang="en-IN" dirty="0" err="1"/>
              <a:t>behavior</a:t>
            </a:r>
            <a:r>
              <a:rPr lang="en-IN" dirty="0"/>
              <a:t> (response) is followed by the removal of a stimulus, such as taking away a child’s toy following an undesired </a:t>
            </a:r>
            <a:r>
              <a:rPr lang="en-IN" dirty="0" err="1"/>
              <a:t>behavior</a:t>
            </a:r>
            <a:r>
              <a:rPr lang="en-IN" dirty="0"/>
              <a:t>, resulting in a decrease in that </a:t>
            </a:r>
            <a:r>
              <a:rPr lang="en-IN" dirty="0" err="1"/>
              <a:t>behavior</a:t>
            </a:r>
            <a:r>
              <a:rPr lang="en-IN" dirty="0"/>
              <a:t>.</a:t>
            </a:r>
          </a:p>
          <a:p>
            <a:pPr lvl="0"/>
            <a:r>
              <a:rPr lang="en-IN" b="1" dirty="0"/>
              <a:t>Extinction </a:t>
            </a:r>
            <a:r>
              <a:rPr lang="en-IN" dirty="0"/>
              <a:t>: This occurs when a </a:t>
            </a:r>
            <a:r>
              <a:rPr lang="en-IN" dirty="0" err="1"/>
              <a:t>behavior</a:t>
            </a:r>
            <a:r>
              <a:rPr lang="en-IN" dirty="0"/>
              <a:t> (response) that had previously been reinforced is no longer effective. For example, a rat is first given food many times for lever presses. Then, in “extinction”, no food is given. Typically, the rat continues to press more and more slowly and eventually stops, at which time lever pressing is said to be “extinguished.”</a:t>
            </a:r>
          </a:p>
          <a:p>
            <a:endParaRPr lang="en-IN" dirty="0"/>
          </a:p>
        </p:txBody>
      </p:sp>
    </p:spTree>
    <p:extLst>
      <p:ext uri="{BB962C8B-B14F-4D97-AF65-F5344CB8AC3E}">
        <p14:creationId xmlns:p14="http://schemas.microsoft.com/office/powerpoint/2010/main" val="3062026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7EB1-4558-132B-2CD2-C8DA79161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7B5B0-5D61-4289-F291-2675711BF981}"/>
              </a:ext>
            </a:extLst>
          </p:cNvPr>
          <p:cNvSpPr>
            <a:spLocks noGrp="1"/>
          </p:cNvSpPr>
          <p:nvPr>
            <p:ph type="title"/>
          </p:nvPr>
        </p:nvSpPr>
        <p:spPr>
          <a:xfrm>
            <a:off x="742950" y="409575"/>
            <a:ext cx="10058400" cy="1371600"/>
          </a:xfrm>
        </p:spPr>
        <p:txBody>
          <a:bodyPr/>
          <a:lstStyle/>
          <a:p>
            <a:r>
              <a:rPr lang="en-US" dirty="0"/>
              <a:t>Laws of learning</a:t>
            </a:r>
            <a:endParaRPr lang="en-IN" dirty="0"/>
          </a:p>
        </p:txBody>
      </p:sp>
      <p:sp>
        <p:nvSpPr>
          <p:cNvPr id="3" name="Content Placeholder 2">
            <a:extLst>
              <a:ext uri="{FF2B5EF4-FFF2-40B4-BE49-F238E27FC236}">
                <a16:creationId xmlns:a16="http://schemas.microsoft.com/office/drawing/2014/main" id="{AAAB35ED-79AF-33F0-3F32-9DD3376E5CF5}"/>
              </a:ext>
            </a:extLst>
          </p:cNvPr>
          <p:cNvSpPr>
            <a:spLocks noGrp="1"/>
          </p:cNvSpPr>
          <p:nvPr>
            <p:ph idx="1"/>
          </p:nvPr>
        </p:nvSpPr>
        <p:spPr>
          <a:xfrm>
            <a:off x="2114550" y="1390650"/>
            <a:ext cx="7820025" cy="5467349"/>
          </a:xfrm>
        </p:spPr>
        <p:txBody>
          <a:bodyPr>
            <a:normAutofit fontScale="62500" lnSpcReduction="20000"/>
          </a:bodyPr>
          <a:lstStyle/>
          <a:p>
            <a:pPr marL="0" indent="0">
              <a:buNone/>
            </a:pPr>
            <a:br>
              <a:rPr lang="en-IN" sz="2200" b="1" dirty="0"/>
            </a:br>
            <a:r>
              <a:rPr lang="en-US" sz="2200" dirty="0"/>
              <a:t>Edward Thorndike</a:t>
            </a:r>
            <a:r>
              <a:rPr lang="en-IN" sz="2200" b="1" dirty="0"/>
              <a:t> </a:t>
            </a:r>
            <a:endParaRPr lang="en-IN" sz="2200" dirty="0"/>
          </a:p>
          <a:p>
            <a:r>
              <a:rPr lang="en-US" b="1" dirty="0"/>
              <a:t>Primary Laws of Learning</a:t>
            </a:r>
            <a:endParaRPr lang="en-IN" dirty="0"/>
          </a:p>
          <a:p>
            <a:r>
              <a:rPr lang="en-US" dirty="0"/>
              <a:t>Law of Readiness</a:t>
            </a:r>
            <a:endParaRPr lang="en-IN" dirty="0"/>
          </a:p>
          <a:p>
            <a:pPr lvl="1"/>
            <a:r>
              <a:rPr lang="en-US" dirty="0"/>
              <a:t>Learning happens best when a person is mentally and physically ready.</a:t>
            </a:r>
            <a:endParaRPr lang="en-IN" dirty="0"/>
          </a:p>
          <a:p>
            <a:pPr lvl="1"/>
            <a:r>
              <a:rPr lang="en-US" dirty="0"/>
              <a:t>If someone is not prepared, forcing learning may cause frustration.</a:t>
            </a:r>
            <a:endParaRPr lang="en-IN" dirty="0"/>
          </a:p>
          <a:p>
            <a:pPr lvl="1"/>
            <a:r>
              <a:rPr lang="en-US" i="1" dirty="0"/>
              <a:t>Example</a:t>
            </a:r>
            <a:r>
              <a:rPr lang="en-US" dirty="0"/>
              <a:t>: A child eager to ride a bicycle learns quickly; a child who is tired or afraid resists and struggles.</a:t>
            </a:r>
            <a:endParaRPr lang="en-IN" dirty="0"/>
          </a:p>
          <a:p>
            <a:r>
              <a:rPr lang="en-US" dirty="0"/>
              <a:t>Law of Exercise (Use and Disuse)</a:t>
            </a:r>
            <a:endParaRPr lang="en-IN" dirty="0"/>
          </a:p>
          <a:p>
            <a:pPr lvl="1"/>
            <a:r>
              <a:rPr lang="en-US" dirty="0"/>
              <a:t>Connections are strengthened with practice and weakened when not used.</a:t>
            </a:r>
            <a:endParaRPr lang="en-IN" dirty="0"/>
          </a:p>
          <a:p>
            <a:pPr lvl="1"/>
            <a:r>
              <a:rPr lang="en-US" i="1" dirty="0"/>
              <a:t>Example</a:t>
            </a:r>
            <a:r>
              <a:rPr lang="en-US" dirty="0"/>
              <a:t>: Regularly revising class notes helps in remembering; forgetting happens if notes are never revisited.</a:t>
            </a:r>
            <a:endParaRPr lang="en-IN" dirty="0"/>
          </a:p>
          <a:p>
            <a:r>
              <a:rPr lang="en-US" dirty="0"/>
              <a:t>Law of Effect</a:t>
            </a:r>
            <a:endParaRPr lang="en-IN" dirty="0"/>
          </a:p>
          <a:p>
            <a:pPr lvl="1"/>
            <a:r>
              <a:rPr lang="en-US" dirty="0"/>
              <a:t>Behaviors followed by pleasant outcomes are repeated; those followed by unpleasant outcomes are avoided.</a:t>
            </a:r>
            <a:endParaRPr lang="en-IN" dirty="0"/>
          </a:p>
          <a:p>
            <a:pPr lvl="1"/>
            <a:r>
              <a:rPr lang="en-US" i="1" dirty="0"/>
              <a:t>Example</a:t>
            </a:r>
            <a:r>
              <a:rPr lang="en-US" dirty="0"/>
              <a:t>: A student praised for answering correctly is more likely to participate again; scolding may make them withdraw.</a:t>
            </a:r>
            <a:endParaRPr lang="en-IN" dirty="0"/>
          </a:p>
          <a:p>
            <a:r>
              <a:rPr lang="en-IN" b="1" dirty="0"/>
              <a:t>Cognitive Approach to Learning</a:t>
            </a:r>
            <a:endParaRPr lang="en-IN" dirty="0"/>
          </a:p>
          <a:p>
            <a:r>
              <a:rPr lang="en-IN" dirty="0"/>
              <a:t>Concerned with how information is processed by learners – Gillian Gunderson (2009)</a:t>
            </a:r>
          </a:p>
          <a:p>
            <a:r>
              <a:rPr lang="en-IN" dirty="0"/>
              <a:t>Stimulus </a:t>
            </a:r>
            <a:r>
              <a:rPr lang="en-IN" dirty="0">
                <a:sym typeface="Wingdings" panose="05000000000000000000" pitchFamily="2" charset="2"/>
              </a:rPr>
              <a:t></a:t>
            </a:r>
            <a:r>
              <a:rPr lang="en-IN" dirty="0"/>
              <a:t> Cognitive Process</a:t>
            </a:r>
            <a:r>
              <a:rPr lang="en-IN" dirty="0">
                <a:sym typeface="Wingdings" panose="05000000000000000000" pitchFamily="2" charset="2"/>
              </a:rPr>
              <a:t></a:t>
            </a:r>
            <a:r>
              <a:rPr lang="en-IN" dirty="0"/>
              <a:t> Response.</a:t>
            </a:r>
          </a:p>
          <a:p>
            <a:r>
              <a:rPr lang="en-IN" i="1" dirty="0"/>
              <a:t>COGNITIVE BEHAVIOURISM</a:t>
            </a:r>
            <a:endParaRPr lang="en-IN" dirty="0"/>
          </a:p>
          <a:p>
            <a:r>
              <a:rPr lang="en-IN" u="sng" dirty="0"/>
              <a:t>Tolman Contributions</a:t>
            </a:r>
            <a:endParaRPr lang="en-IN" dirty="0"/>
          </a:p>
          <a:p>
            <a:r>
              <a:rPr lang="en-IN" dirty="0"/>
              <a:t>- Cognitive Theory (Purposive </a:t>
            </a:r>
            <a:r>
              <a:rPr lang="en-IN" dirty="0" err="1"/>
              <a:t>Behaviorism</a:t>
            </a:r>
            <a:r>
              <a:rPr lang="en-IN" dirty="0"/>
              <a:t>)</a:t>
            </a:r>
          </a:p>
          <a:p>
            <a:pPr lvl="0"/>
            <a:r>
              <a:rPr lang="en-IN" dirty="0"/>
              <a:t>Latent Learning</a:t>
            </a:r>
          </a:p>
          <a:p>
            <a:pPr lvl="0"/>
            <a:r>
              <a:rPr lang="en-IN" dirty="0"/>
              <a:t>No Reinforcement required.</a:t>
            </a:r>
          </a:p>
          <a:p>
            <a:pPr lvl="0"/>
            <a:r>
              <a:rPr lang="en-IN" dirty="0"/>
              <a:t>No obvious change in behaviour</a:t>
            </a:r>
          </a:p>
          <a:p>
            <a:endParaRPr lang="en-IN" dirty="0"/>
          </a:p>
        </p:txBody>
      </p:sp>
    </p:spTree>
    <p:extLst>
      <p:ext uri="{BB962C8B-B14F-4D97-AF65-F5344CB8AC3E}">
        <p14:creationId xmlns:p14="http://schemas.microsoft.com/office/powerpoint/2010/main" val="719438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4FA74-9221-2D55-FE4B-1EA669A42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3AA269-F7D8-6E63-F147-A964C43F4AF7}"/>
              </a:ext>
            </a:extLst>
          </p:cNvPr>
          <p:cNvSpPr>
            <a:spLocks noGrp="1"/>
          </p:cNvSpPr>
          <p:nvPr>
            <p:ph type="title"/>
          </p:nvPr>
        </p:nvSpPr>
        <p:spPr>
          <a:xfrm>
            <a:off x="742950" y="409575"/>
            <a:ext cx="10058400" cy="1371600"/>
          </a:xfrm>
        </p:spPr>
        <p:txBody>
          <a:bodyPr/>
          <a:lstStyle/>
          <a:p>
            <a:r>
              <a:rPr lang="en-US" dirty="0"/>
              <a:t>Laws of learning</a:t>
            </a:r>
            <a:endParaRPr lang="en-IN" dirty="0"/>
          </a:p>
        </p:txBody>
      </p:sp>
      <p:sp>
        <p:nvSpPr>
          <p:cNvPr id="3" name="Content Placeholder 2">
            <a:extLst>
              <a:ext uri="{FF2B5EF4-FFF2-40B4-BE49-F238E27FC236}">
                <a16:creationId xmlns:a16="http://schemas.microsoft.com/office/drawing/2014/main" id="{8814234B-FF48-7217-480A-E8BC70BC2F20}"/>
              </a:ext>
            </a:extLst>
          </p:cNvPr>
          <p:cNvSpPr>
            <a:spLocks noGrp="1"/>
          </p:cNvSpPr>
          <p:nvPr>
            <p:ph idx="1"/>
          </p:nvPr>
        </p:nvSpPr>
        <p:spPr>
          <a:xfrm>
            <a:off x="466726" y="1390650"/>
            <a:ext cx="8486774" cy="5133975"/>
          </a:xfrm>
        </p:spPr>
        <p:txBody>
          <a:bodyPr>
            <a:normAutofit lnSpcReduction="10000"/>
          </a:bodyPr>
          <a:lstStyle/>
          <a:p>
            <a:r>
              <a:rPr lang="en-IN" b="1" dirty="0"/>
              <a:t>Insight Learning – Wolfgang Köhler</a:t>
            </a:r>
            <a:endParaRPr lang="en-IN" dirty="0"/>
          </a:p>
          <a:p>
            <a:r>
              <a:rPr lang="en-US" i="1" dirty="0"/>
              <a:t>A mental process marked by the sudden and expected solution to a problem. It happens without Trial and Error and also without any previous instruction.</a:t>
            </a:r>
            <a:endParaRPr lang="en-IN" dirty="0"/>
          </a:p>
          <a:p>
            <a:r>
              <a:rPr lang="en-US" dirty="0"/>
              <a:t>It is the “Ah-ha!” of identifying the solution or getting an idea for a problem.</a:t>
            </a:r>
            <a:endParaRPr lang="en-IN" dirty="0"/>
          </a:p>
          <a:p>
            <a:r>
              <a:rPr lang="en-IN" b="1" dirty="0"/>
              <a:t>Key Characteristics of Insight Learning</a:t>
            </a:r>
            <a:endParaRPr lang="en-IN" dirty="0"/>
          </a:p>
          <a:p>
            <a:pPr lvl="0"/>
            <a:r>
              <a:rPr lang="en-IN" u="sng" dirty="0"/>
              <a:t>Sudden Realization:</a:t>
            </a:r>
            <a:r>
              <a:rPr lang="en-IN" dirty="0"/>
              <a:t> The solution appears abruptly, often referred to as a "Eureka!" or "aha!" moment. </a:t>
            </a:r>
          </a:p>
          <a:p>
            <a:pPr lvl="0"/>
            <a:r>
              <a:rPr lang="en-IN" u="sng" dirty="0"/>
              <a:t>Cognitive Understanding</a:t>
            </a:r>
            <a:r>
              <a:rPr lang="en-IN" dirty="0"/>
              <a:t>: It involves a mental reorganization of experience and a deep understanding of the relationship between different parts of a problem. </a:t>
            </a:r>
          </a:p>
          <a:p>
            <a:pPr lvl="0"/>
            <a:r>
              <a:rPr lang="en-IN" u="sng" dirty="0"/>
              <a:t>Internal Visualization:</a:t>
            </a:r>
            <a:r>
              <a:rPr lang="en-IN" dirty="0"/>
              <a:t> The learner can internally picture the problem and the solution before any outward action is taken. </a:t>
            </a:r>
          </a:p>
          <a:p>
            <a:pPr lvl="0"/>
            <a:r>
              <a:rPr lang="en-IN" u="sng" dirty="0"/>
              <a:t>Not Trial-and-Error</a:t>
            </a:r>
            <a:r>
              <a:rPr lang="en-IN" dirty="0"/>
              <a:t>: It differs from learning by simply repeating actions that work or experimenting with different approaches.</a:t>
            </a:r>
          </a:p>
          <a:p>
            <a:endParaRPr lang="en-IN" dirty="0"/>
          </a:p>
        </p:txBody>
      </p:sp>
      <p:pic>
        <p:nvPicPr>
          <p:cNvPr id="8" name="Picture 7">
            <a:extLst>
              <a:ext uri="{FF2B5EF4-FFF2-40B4-BE49-F238E27FC236}">
                <a16:creationId xmlns:a16="http://schemas.microsoft.com/office/drawing/2014/main" id="{8C1ACD78-40F3-CBE3-9D9F-AA19DAE2745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333375"/>
            <a:ext cx="5753100" cy="1371600"/>
          </a:xfrm>
          <a:prstGeom prst="rect">
            <a:avLst/>
          </a:prstGeom>
        </p:spPr>
      </p:pic>
    </p:spTree>
    <p:extLst>
      <p:ext uri="{BB962C8B-B14F-4D97-AF65-F5344CB8AC3E}">
        <p14:creationId xmlns:p14="http://schemas.microsoft.com/office/powerpoint/2010/main" val="4060484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85916-E701-C25A-D259-07A8DEF84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67685-FCA4-9220-3A0D-B785BBEC1A75}"/>
              </a:ext>
            </a:extLst>
          </p:cNvPr>
          <p:cNvSpPr>
            <a:spLocks noGrp="1"/>
          </p:cNvSpPr>
          <p:nvPr>
            <p:ph type="title"/>
          </p:nvPr>
        </p:nvSpPr>
        <p:spPr>
          <a:xfrm>
            <a:off x="742950" y="409575"/>
            <a:ext cx="10058400" cy="1371600"/>
          </a:xfrm>
        </p:spPr>
        <p:txBody>
          <a:bodyPr/>
          <a:lstStyle/>
          <a:p>
            <a:r>
              <a:rPr lang="en-US" dirty="0"/>
              <a:t>Laws of learning</a:t>
            </a:r>
            <a:endParaRPr lang="en-IN" dirty="0"/>
          </a:p>
        </p:txBody>
      </p:sp>
      <p:sp>
        <p:nvSpPr>
          <p:cNvPr id="3" name="Content Placeholder 2">
            <a:extLst>
              <a:ext uri="{FF2B5EF4-FFF2-40B4-BE49-F238E27FC236}">
                <a16:creationId xmlns:a16="http://schemas.microsoft.com/office/drawing/2014/main" id="{2752C340-3179-F992-53A0-3E1C28C9FFFA}"/>
              </a:ext>
            </a:extLst>
          </p:cNvPr>
          <p:cNvSpPr>
            <a:spLocks noGrp="1"/>
          </p:cNvSpPr>
          <p:nvPr>
            <p:ph idx="1"/>
          </p:nvPr>
        </p:nvSpPr>
        <p:spPr>
          <a:xfrm>
            <a:off x="466726" y="1390650"/>
            <a:ext cx="8486774" cy="5133975"/>
          </a:xfrm>
        </p:spPr>
        <p:txBody>
          <a:bodyPr>
            <a:normAutofit lnSpcReduction="10000"/>
          </a:bodyPr>
          <a:lstStyle/>
          <a:p>
            <a:r>
              <a:rPr lang="en-IN" b="1" dirty="0"/>
              <a:t>Insight Learning – Wolfgang Köhler</a:t>
            </a:r>
            <a:endParaRPr lang="en-IN" dirty="0"/>
          </a:p>
          <a:p>
            <a:r>
              <a:rPr lang="en-US" i="1" dirty="0"/>
              <a:t>A mental process marked by the sudden and expected solution to a problem. It happens without Trial and Error and also without any previous instruction.</a:t>
            </a:r>
            <a:endParaRPr lang="en-IN" dirty="0"/>
          </a:p>
          <a:p>
            <a:r>
              <a:rPr lang="en-US" dirty="0"/>
              <a:t>It is the “Ah-ha!” of identifying the solution or getting an idea for a problem.</a:t>
            </a:r>
            <a:endParaRPr lang="en-IN" dirty="0"/>
          </a:p>
          <a:p>
            <a:r>
              <a:rPr lang="en-IN" b="1" dirty="0"/>
              <a:t>Key Characteristics of Insight Learning</a:t>
            </a:r>
            <a:endParaRPr lang="en-IN" dirty="0"/>
          </a:p>
          <a:p>
            <a:pPr lvl="0"/>
            <a:r>
              <a:rPr lang="en-IN" u="sng" dirty="0"/>
              <a:t>Sudden Realization:</a:t>
            </a:r>
            <a:r>
              <a:rPr lang="en-IN" dirty="0"/>
              <a:t> The solution appears abruptly, often referred to as a "Eureka!" or "aha!" moment. </a:t>
            </a:r>
          </a:p>
          <a:p>
            <a:pPr lvl="0"/>
            <a:r>
              <a:rPr lang="en-IN" u="sng" dirty="0"/>
              <a:t>Cognitive Understanding</a:t>
            </a:r>
            <a:r>
              <a:rPr lang="en-IN" dirty="0"/>
              <a:t>: It involves a mental reorganization of experience and a deep understanding of the relationship between different parts of a problem. </a:t>
            </a:r>
          </a:p>
          <a:p>
            <a:pPr lvl="0"/>
            <a:r>
              <a:rPr lang="en-IN" u="sng" dirty="0"/>
              <a:t>Internal Visualization:</a:t>
            </a:r>
            <a:r>
              <a:rPr lang="en-IN" dirty="0"/>
              <a:t> The learner can internally picture the problem and the solution before any outward action is taken. </a:t>
            </a:r>
          </a:p>
          <a:p>
            <a:pPr lvl="0"/>
            <a:r>
              <a:rPr lang="en-IN" u="sng" dirty="0"/>
              <a:t>Not Trial-and-Error</a:t>
            </a:r>
            <a:r>
              <a:rPr lang="en-IN" dirty="0"/>
              <a:t>: It differs from learning by simply repeating actions that work or experimenting with different approaches.</a:t>
            </a:r>
          </a:p>
          <a:p>
            <a:endParaRPr lang="en-IN" dirty="0"/>
          </a:p>
        </p:txBody>
      </p:sp>
    </p:spTree>
    <p:extLst>
      <p:ext uri="{BB962C8B-B14F-4D97-AF65-F5344CB8AC3E}">
        <p14:creationId xmlns:p14="http://schemas.microsoft.com/office/powerpoint/2010/main" val="3690559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4CF7D-24C4-F76A-8559-E3C7EB521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0F237-2A44-8435-7879-1D5B8BB68751}"/>
              </a:ext>
            </a:extLst>
          </p:cNvPr>
          <p:cNvSpPr>
            <a:spLocks noGrp="1"/>
          </p:cNvSpPr>
          <p:nvPr>
            <p:ph type="title"/>
          </p:nvPr>
        </p:nvSpPr>
        <p:spPr>
          <a:xfrm>
            <a:off x="742950" y="409575"/>
            <a:ext cx="10058400" cy="1371600"/>
          </a:xfrm>
        </p:spPr>
        <p:txBody>
          <a:bodyPr/>
          <a:lstStyle/>
          <a:p>
            <a:r>
              <a:rPr lang="en-US" dirty="0"/>
              <a:t>Memory </a:t>
            </a:r>
            <a:endParaRPr lang="en-IN" dirty="0"/>
          </a:p>
        </p:txBody>
      </p:sp>
      <p:sp>
        <p:nvSpPr>
          <p:cNvPr id="3" name="Content Placeholder 2">
            <a:extLst>
              <a:ext uri="{FF2B5EF4-FFF2-40B4-BE49-F238E27FC236}">
                <a16:creationId xmlns:a16="http://schemas.microsoft.com/office/drawing/2014/main" id="{668C435D-130D-BFDF-7C23-6B8438A05145}"/>
              </a:ext>
            </a:extLst>
          </p:cNvPr>
          <p:cNvSpPr>
            <a:spLocks noGrp="1"/>
          </p:cNvSpPr>
          <p:nvPr>
            <p:ph idx="1"/>
          </p:nvPr>
        </p:nvSpPr>
        <p:spPr>
          <a:xfrm>
            <a:off x="466725" y="1390650"/>
            <a:ext cx="11220449" cy="5133975"/>
          </a:xfrm>
        </p:spPr>
        <p:txBody>
          <a:bodyPr>
            <a:normAutofit/>
          </a:bodyPr>
          <a:lstStyle/>
          <a:p>
            <a:r>
              <a:rPr lang="en-US" b="1" dirty="0"/>
              <a:t>Definition: Memory is the </a:t>
            </a:r>
            <a:r>
              <a:rPr lang="en-US" dirty="0"/>
              <a:t>set of processes used to encode, store, and retrieve information over different periods of time.</a:t>
            </a:r>
            <a:endParaRPr lang="en-IN" dirty="0"/>
          </a:p>
          <a:p>
            <a:r>
              <a:rPr lang="en-US" u="sng" dirty="0"/>
              <a:t>Information Processing Theories</a:t>
            </a:r>
            <a:endParaRPr lang="en-IN" dirty="0"/>
          </a:p>
          <a:p>
            <a:pPr lvl="0"/>
            <a:r>
              <a:rPr lang="en-US" dirty="0"/>
              <a:t>Stage Model of Memory (Atkinson  &amp; Shiffrin, 1968)</a:t>
            </a:r>
            <a:endParaRPr lang="en-IN" dirty="0"/>
          </a:p>
          <a:p>
            <a:r>
              <a:rPr lang="en-IN" dirty="0"/>
              <a:t>It is also called as “Three Stage Model”. Our theory compares our memory system to the processing in a computer. This association led to the development of information processing model which is developed by Richard Atkinson and Richard Shiffrin in 1968. Three Stage model consists of three memory systems. They are:</a:t>
            </a:r>
          </a:p>
          <a:p>
            <a:pPr lvl="0"/>
            <a:r>
              <a:rPr lang="en-IN" dirty="0"/>
              <a:t>Sensory Register</a:t>
            </a:r>
          </a:p>
          <a:p>
            <a:pPr lvl="0"/>
            <a:r>
              <a:rPr lang="en-IN" dirty="0"/>
              <a:t>Short-term memory</a:t>
            </a:r>
          </a:p>
          <a:p>
            <a:pPr lvl="0"/>
            <a:r>
              <a:rPr lang="en-IN" dirty="0"/>
              <a:t>Long-term memory</a:t>
            </a:r>
          </a:p>
          <a:p>
            <a:endParaRPr lang="en-IN" dirty="0"/>
          </a:p>
        </p:txBody>
      </p:sp>
    </p:spTree>
    <p:extLst>
      <p:ext uri="{BB962C8B-B14F-4D97-AF65-F5344CB8AC3E}">
        <p14:creationId xmlns:p14="http://schemas.microsoft.com/office/powerpoint/2010/main" val="3190885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B03C-2DA1-958E-80E7-FA81534F0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31EB2-03F8-A0D1-732A-7EFD258079C3}"/>
              </a:ext>
            </a:extLst>
          </p:cNvPr>
          <p:cNvSpPr>
            <a:spLocks noGrp="1"/>
          </p:cNvSpPr>
          <p:nvPr>
            <p:ph type="title"/>
          </p:nvPr>
        </p:nvSpPr>
        <p:spPr>
          <a:xfrm>
            <a:off x="742950" y="409575"/>
            <a:ext cx="10058400" cy="1371600"/>
          </a:xfrm>
        </p:spPr>
        <p:txBody>
          <a:bodyPr/>
          <a:lstStyle/>
          <a:p>
            <a:r>
              <a:rPr lang="en-US" dirty="0"/>
              <a:t>Memory </a:t>
            </a:r>
            <a:endParaRPr lang="en-IN" dirty="0"/>
          </a:p>
        </p:txBody>
      </p:sp>
      <p:sp>
        <p:nvSpPr>
          <p:cNvPr id="3" name="Content Placeholder 2">
            <a:extLst>
              <a:ext uri="{FF2B5EF4-FFF2-40B4-BE49-F238E27FC236}">
                <a16:creationId xmlns:a16="http://schemas.microsoft.com/office/drawing/2014/main" id="{327A12F7-85E7-8983-A36B-03D62F73A052}"/>
              </a:ext>
            </a:extLst>
          </p:cNvPr>
          <p:cNvSpPr>
            <a:spLocks noGrp="1"/>
          </p:cNvSpPr>
          <p:nvPr>
            <p:ph idx="1"/>
          </p:nvPr>
        </p:nvSpPr>
        <p:spPr>
          <a:xfrm>
            <a:off x="466725" y="1390650"/>
            <a:ext cx="11220449" cy="5133975"/>
          </a:xfrm>
        </p:spPr>
        <p:txBody>
          <a:bodyPr>
            <a:normAutofit fontScale="92500" lnSpcReduction="20000"/>
          </a:bodyPr>
          <a:lstStyle/>
          <a:p>
            <a:r>
              <a:rPr lang="en-US" b="1" dirty="0"/>
              <a:t>1. Sensory Memory</a:t>
            </a:r>
          </a:p>
          <a:p>
            <a:r>
              <a:rPr lang="en-US" b="1" dirty="0"/>
              <a:t>Short:</a:t>
            </a:r>
            <a:r>
              <a:rPr lang="en-US" dirty="0"/>
              <a:t> Holds sensory information for a very brief time (a few seconds).</a:t>
            </a:r>
            <a:br>
              <a:rPr lang="en-US" dirty="0"/>
            </a:br>
            <a:r>
              <a:rPr lang="en-US" b="1" dirty="0"/>
              <a:t>Details:</a:t>
            </a:r>
            <a:endParaRPr lang="en-US" dirty="0"/>
          </a:p>
          <a:p>
            <a:r>
              <a:rPr lang="en-US" dirty="0"/>
              <a:t>First stage of memory</a:t>
            </a:r>
          </a:p>
          <a:p>
            <a:r>
              <a:rPr lang="en-US" dirty="0"/>
              <a:t>Iconic memory (visual), echoic memory (auditory)</a:t>
            </a:r>
          </a:p>
          <a:p>
            <a:r>
              <a:rPr lang="en-US" dirty="0"/>
              <a:t>Very short duration but large capacity</a:t>
            </a:r>
          </a:p>
          <a:p>
            <a:r>
              <a:rPr lang="en-US" b="1" dirty="0"/>
              <a:t>2. Short-Term Memory (STM) / Working Memory</a:t>
            </a:r>
          </a:p>
          <a:p>
            <a:r>
              <a:rPr lang="en-US" b="1" dirty="0"/>
              <a:t>Short:</a:t>
            </a:r>
            <a:r>
              <a:rPr lang="en-US" dirty="0"/>
              <a:t> Holds small amounts of information for 15–30 seconds.</a:t>
            </a:r>
            <a:br>
              <a:rPr lang="en-US" dirty="0"/>
            </a:br>
            <a:r>
              <a:rPr lang="en-US" b="1" dirty="0"/>
              <a:t>Details:</a:t>
            </a:r>
            <a:endParaRPr lang="en-US" dirty="0"/>
          </a:p>
          <a:p>
            <a:r>
              <a:rPr lang="en-US" dirty="0"/>
              <a:t>Limited capacity (7±2 items, according to Miller)</a:t>
            </a:r>
          </a:p>
          <a:p>
            <a:r>
              <a:rPr lang="en-US" dirty="0"/>
              <a:t>Information is lost without rehearsal</a:t>
            </a:r>
          </a:p>
          <a:p>
            <a:r>
              <a:rPr lang="en-US" dirty="0"/>
              <a:t>Working memory = active processing of information</a:t>
            </a:r>
          </a:p>
          <a:p>
            <a:r>
              <a:rPr lang="en-US" b="1" dirty="0"/>
              <a:t>3. Long-Term Memory (LTM)</a:t>
            </a:r>
          </a:p>
          <a:p>
            <a:r>
              <a:rPr lang="en-US" b="1" dirty="0"/>
              <a:t>Short:</a:t>
            </a:r>
            <a:r>
              <a:rPr lang="en-US" dirty="0"/>
              <a:t> Stores information permanently and has unlimited capacity.</a:t>
            </a:r>
            <a:br>
              <a:rPr lang="en-US" dirty="0"/>
            </a:br>
            <a:r>
              <a:rPr lang="en-US" b="1" dirty="0"/>
              <a:t>Details:</a:t>
            </a:r>
            <a:endParaRPr lang="en-US" dirty="0"/>
          </a:p>
          <a:p>
            <a:r>
              <a:rPr lang="en-US" dirty="0"/>
              <a:t>Includes all knowledge, past experiences, skills</a:t>
            </a:r>
          </a:p>
          <a:p>
            <a:r>
              <a:rPr lang="en-US" dirty="0"/>
              <a:t>Lasts from hours to lifetime</a:t>
            </a:r>
          </a:p>
          <a:p>
            <a:endParaRPr lang="en-US" dirty="0"/>
          </a:p>
        </p:txBody>
      </p:sp>
    </p:spTree>
    <p:extLst>
      <p:ext uri="{BB962C8B-B14F-4D97-AF65-F5344CB8AC3E}">
        <p14:creationId xmlns:p14="http://schemas.microsoft.com/office/powerpoint/2010/main" val="174163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5BBF4-6B24-A83D-976A-133280605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F2B73C-3634-439A-021D-1E63C5253FEC}"/>
              </a:ext>
            </a:extLst>
          </p:cNvPr>
          <p:cNvSpPr>
            <a:spLocks noGrp="1"/>
          </p:cNvSpPr>
          <p:nvPr>
            <p:ph type="title"/>
          </p:nvPr>
        </p:nvSpPr>
        <p:spPr>
          <a:xfrm>
            <a:off x="742950" y="409575"/>
            <a:ext cx="10058400" cy="1371600"/>
          </a:xfrm>
        </p:spPr>
        <p:txBody>
          <a:bodyPr/>
          <a:lstStyle/>
          <a:p>
            <a:r>
              <a:rPr lang="en-US" dirty="0"/>
              <a:t>Types of long term Memory </a:t>
            </a:r>
            <a:endParaRPr lang="en-IN" dirty="0"/>
          </a:p>
        </p:txBody>
      </p:sp>
      <p:sp>
        <p:nvSpPr>
          <p:cNvPr id="3" name="Content Placeholder 2">
            <a:extLst>
              <a:ext uri="{FF2B5EF4-FFF2-40B4-BE49-F238E27FC236}">
                <a16:creationId xmlns:a16="http://schemas.microsoft.com/office/drawing/2014/main" id="{99DEA4DC-E024-E645-5497-04E91E3A5F89}"/>
              </a:ext>
            </a:extLst>
          </p:cNvPr>
          <p:cNvSpPr>
            <a:spLocks noGrp="1"/>
          </p:cNvSpPr>
          <p:nvPr>
            <p:ph idx="1"/>
          </p:nvPr>
        </p:nvSpPr>
        <p:spPr>
          <a:xfrm>
            <a:off x="1914526" y="1724025"/>
            <a:ext cx="8629650" cy="5133975"/>
          </a:xfrm>
        </p:spPr>
        <p:txBody>
          <a:bodyPr>
            <a:normAutofit fontScale="92500" lnSpcReduction="20000"/>
          </a:bodyPr>
          <a:lstStyle/>
          <a:p>
            <a:r>
              <a:rPr lang="en-US" b="1" dirty="0"/>
              <a:t>Types of Long-Term Memory</a:t>
            </a:r>
          </a:p>
          <a:p>
            <a:r>
              <a:rPr lang="en-US" b="1" dirty="0"/>
              <a:t>A. Explicit (Declarative) Memory</a:t>
            </a:r>
          </a:p>
          <a:p>
            <a:r>
              <a:rPr lang="en-US" b="1" dirty="0"/>
              <a:t>Short:</a:t>
            </a:r>
            <a:r>
              <a:rPr lang="en-US" dirty="0"/>
              <a:t> Memory that can be consciously recalled.</a:t>
            </a:r>
            <a:br>
              <a:rPr lang="en-US" dirty="0"/>
            </a:br>
            <a:r>
              <a:rPr lang="en-US" dirty="0"/>
              <a:t>Includes:</a:t>
            </a:r>
          </a:p>
          <a:p>
            <a:r>
              <a:rPr lang="en-US" b="1" dirty="0"/>
              <a:t>Episodic Memory:</a:t>
            </a:r>
            <a:br>
              <a:rPr lang="en-US" dirty="0"/>
            </a:br>
            <a:r>
              <a:rPr lang="en-US" dirty="0"/>
              <a:t>Personal experiences (events, moments).</a:t>
            </a:r>
          </a:p>
          <a:p>
            <a:r>
              <a:rPr lang="en-US" b="1" dirty="0"/>
              <a:t>Semantic Memory:</a:t>
            </a:r>
            <a:br>
              <a:rPr lang="en-US" dirty="0"/>
            </a:br>
            <a:r>
              <a:rPr lang="en-US" dirty="0"/>
              <a:t>Facts, concepts, knowledge.</a:t>
            </a:r>
            <a:br>
              <a:rPr lang="en-US" dirty="0"/>
            </a:br>
            <a:endParaRPr lang="en-US" dirty="0"/>
          </a:p>
          <a:p>
            <a:r>
              <a:rPr lang="en-US" b="1" dirty="0"/>
              <a:t>B. Implicit (Non-declarative) Memory</a:t>
            </a:r>
          </a:p>
          <a:p>
            <a:r>
              <a:rPr lang="en-US" b="1" dirty="0"/>
              <a:t>Short:</a:t>
            </a:r>
            <a:r>
              <a:rPr lang="en-US" dirty="0"/>
              <a:t> Memory that works automatically without conscious awareness.</a:t>
            </a:r>
            <a:br>
              <a:rPr lang="en-US" dirty="0"/>
            </a:br>
            <a:r>
              <a:rPr lang="en-US" dirty="0"/>
              <a:t>Includes:</a:t>
            </a:r>
          </a:p>
          <a:p>
            <a:r>
              <a:rPr lang="en-US" b="1" dirty="0"/>
              <a:t>Procedural Memory:</a:t>
            </a:r>
            <a:br>
              <a:rPr lang="en-US" dirty="0"/>
            </a:br>
            <a:r>
              <a:rPr lang="en-US" dirty="0"/>
              <a:t>Skills and habits (e.g., riding a bicycle).</a:t>
            </a:r>
          </a:p>
          <a:p>
            <a:r>
              <a:rPr lang="en-US" b="1" dirty="0"/>
              <a:t>Priming:</a:t>
            </a:r>
            <a:br>
              <a:rPr lang="en-US" dirty="0"/>
            </a:br>
            <a:r>
              <a:rPr lang="en-US" dirty="0"/>
              <a:t>Earlier exposure influences later behavior.</a:t>
            </a:r>
          </a:p>
          <a:p>
            <a:r>
              <a:rPr lang="en-US" b="1" dirty="0"/>
              <a:t>Conditioned Responses:</a:t>
            </a:r>
            <a:br>
              <a:rPr lang="en-US" dirty="0"/>
            </a:br>
            <a:r>
              <a:rPr lang="en-US" dirty="0"/>
              <a:t>Learning through association (classical conditioning).</a:t>
            </a:r>
          </a:p>
          <a:p>
            <a:pPr marL="0" indent="0">
              <a:buNone/>
            </a:pPr>
            <a:endParaRPr lang="en-US" dirty="0"/>
          </a:p>
        </p:txBody>
      </p:sp>
    </p:spTree>
    <p:extLst>
      <p:ext uri="{BB962C8B-B14F-4D97-AF65-F5344CB8AC3E}">
        <p14:creationId xmlns:p14="http://schemas.microsoft.com/office/powerpoint/2010/main" val="3253447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FFD6D-F805-24C8-7B33-996A9E5B1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38526-7EA0-5441-8DE3-69FC88ECEBDB}"/>
              </a:ext>
            </a:extLst>
          </p:cNvPr>
          <p:cNvSpPr>
            <a:spLocks noGrp="1"/>
          </p:cNvSpPr>
          <p:nvPr>
            <p:ph type="title"/>
          </p:nvPr>
        </p:nvSpPr>
        <p:spPr>
          <a:xfrm>
            <a:off x="742950" y="409575"/>
            <a:ext cx="10058400" cy="1371600"/>
          </a:xfrm>
        </p:spPr>
        <p:txBody>
          <a:bodyPr/>
          <a:lstStyle/>
          <a:p>
            <a:pPr fontAlgn="base"/>
            <a:r>
              <a:rPr lang="en-IN" b="1" dirty="0"/>
              <a:t>Meanings of Different Terms</a:t>
            </a:r>
            <a:endParaRPr lang="en-IN" dirty="0"/>
          </a:p>
        </p:txBody>
      </p:sp>
      <p:sp>
        <p:nvSpPr>
          <p:cNvPr id="3" name="Content Placeholder 2">
            <a:extLst>
              <a:ext uri="{FF2B5EF4-FFF2-40B4-BE49-F238E27FC236}">
                <a16:creationId xmlns:a16="http://schemas.microsoft.com/office/drawing/2014/main" id="{778C446E-95A1-AE85-3184-F27423DCE398}"/>
              </a:ext>
            </a:extLst>
          </p:cNvPr>
          <p:cNvSpPr>
            <a:spLocks noGrp="1"/>
          </p:cNvSpPr>
          <p:nvPr>
            <p:ph idx="1"/>
          </p:nvPr>
        </p:nvSpPr>
        <p:spPr>
          <a:xfrm>
            <a:off x="742950" y="1724025"/>
            <a:ext cx="10953750" cy="5133975"/>
          </a:xfrm>
        </p:spPr>
        <p:txBody>
          <a:bodyPr>
            <a:normAutofit fontScale="92500" lnSpcReduction="10000"/>
          </a:bodyPr>
          <a:lstStyle/>
          <a:p>
            <a:pPr fontAlgn="base"/>
            <a:r>
              <a:rPr lang="en-IN" b="1" dirty="0"/>
              <a:t>Serial Position Effect:</a:t>
            </a:r>
            <a:r>
              <a:rPr lang="en-IN" dirty="0"/>
              <a:t> It refers to the tendency to be able to better recall the first and last items on list better than the middle items. It includes the </a:t>
            </a:r>
            <a:r>
              <a:rPr lang="en-IN" i="1" dirty="0"/>
              <a:t>Primacy Effect and the Recency effect</a:t>
            </a:r>
            <a:r>
              <a:rPr lang="en-IN" dirty="0"/>
              <a:t>.  The primacy effect refers to the tendency to recall information presented at the start of a list better than information at the middle or end.  The Recency effect is when those items, ideas, or arguments that came last are remembered more clearly than those that came first. </a:t>
            </a:r>
          </a:p>
          <a:p>
            <a:r>
              <a:rPr lang="en-US" b="1" dirty="0"/>
              <a:t>TOT</a:t>
            </a:r>
            <a:r>
              <a:rPr lang="en-US" dirty="0"/>
              <a:t>: Tip of the Tongue. It is also known as TOT or </a:t>
            </a:r>
            <a:r>
              <a:rPr lang="en-US" b="1" dirty="0"/>
              <a:t>lethologica</a:t>
            </a:r>
            <a:r>
              <a:rPr lang="en-US" dirty="0"/>
              <a:t>. It is the phenomenon of failing to retrieve a word or term from memory, combined with partial recall and the feeling that retrieval is imminent. It is the experience of feeling confident that one knows an answer, yet is unable to produce the word. </a:t>
            </a:r>
            <a:endParaRPr lang="en-IN" dirty="0"/>
          </a:p>
          <a:p>
            <a:r>
              <a:rPr lang="en-US" b="1" dirty="0"/>
              <a:t>Flashbulb Memories:</a:t>
            </a:r>
            <a:r>
              <a:rPr lang="en-US" dirty="0"/>
              <a:t> A flashbulb memory is an accurate and exceptionally vivid long-lasting memory for the circumstances surrounding learning about a dramatic event. Flashbulb Memories are memories that are affected by our emotional state.</a:t>
            </a:r>
            <a:endParaRPr lang="en-IN" dirty="0"/>
          </a:p>
          <a:p>
            <a:r>
              <a:rPr lang="en-US" b="1" dirty="0"/>
              <a:t>Autobiographical Memory:</a:t>
            </a:r>
            <a:r>
              <a:rPr lang="en-US" dirty="0"/>
              <a:t>  Autobiographical memory is a memory system consisting of episodes recollected from an individual's life, based on a combination of episodic (personal experiences and specific objects, people and events experienced at particular time and place) and semantic (general knowledge and facts about the world) memory.</a:t>
            </a:r>
            <a:endParaRPr lang="en-IN" dirty="0"/>
          </a:p>
          <a:p>
            <a:r>
              <a:rPr lang="en-US" b="1" dirty="0"/>
              <a:t>Eidetic memory:</a:t>
            </a:r>
            <a:r>
              <a:rPr lang="en-US" dirty="0"/>
              <a:t> Eidetic memory is the ability to recall a past scene for a brief period of time with high accuracy after seeing it only once.</a:t>
            </a:r>
            <a:endParaRPr lang="en-IN" dirty="0"/>
          </a:p>
          <a:p>
            <a:pPr marL="0" indent="0">
              <a:buNone/>
            </a:pPr>
            <a:endParaRPr lang="en-US" dirty="0"/>
          </a:p>
        </p:txBody>
      </p:sp>
    </p:spTree>
    <p:extLst>
      <p:ext uri="{BB962C8B-B14F-4D97-AF65-F5344CB8AC3E}">
        <p14:creationId xmlns:p14="http://schemas.microsoft.com/office/powerpoint/2010/main" val="34405776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AFC95-2729-75A2-7463-B304B06C8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C38AD2-EDD7-ACB2-218E-892160F4447D}"/>
              </a:ext>
            </a:extLst>
          </p:cNvPr>
          <p:cNvSpPr>
            <a:spLocks noGrp="1"/>
          </p:cNvSpPr>
          <p:nvPr>
            <p:ph type="title"/>
          </p:nvPr>
        </p:nvSpPr>
        <p:spPr>
          <a:xfrm>
            <a:off x="742950" y="409575"/>
            <a:ext cx="10058400" cy="1371600"/>
          </a:xfrm>
        </p:spPr>
        <p:txBody>
          <a:bodyPr/>
          <a:lstStyle/>
          <a:p>
            <a:pPr fontAlgn="base"/>
            <a:r>
              <a:rPr lang="en-IN" b="1" dirty="0"/>
              <a:t>Forgetting </a:t>
            </a:r>
            <a:endParaRPr lang="en-IN" dirty="0"/>
          </a:p>
        </p:txBody>
      </p:sp>
      <p:sp>
        <p:nvSpPr>
          <p:cNvPr id="3" name="Content Placeholder 2">
            <a:extLst>
              <a:ext uri="{FF2B5EF4-FFF2-40B4-BE49-F238E27FC236}">
                <a16:creationId xmlns:a16="http://schemas.microsoft.com/office/drawing/2014/main" id="{71DA8768-E2D9-C45B-142A-AC74B6904556}"/>
              </a:ext>
            </a:extLst>
          </p:cNvPr>
          <p:cNvSpPr>
            <a:spLocks noGrp="1"/>
          </p:cNvSpPr>
          <p:nvPr>
            <p:ph idx="1"/>
          </p:nvPr>
        </p:nvSpPr>
        <p:spPr>
          <a:xfrm>
            <a:off x="742950" y="1438275"/>
            <a:ext cx="10953750" cy="5324475"/>
          </a:xfrm>
        </p:spPr>
        <p:txBody>
          <a:bodyPr>
            <a:normAutofit fontScale="85000" lnSpcReduction="10000"/>
          </a:bodyPr>
          <a:lstStyle/>
          <a:p>
            <a:pPr marL="0" indent="0">
              <a:buNone/>
            </a:pPr>
            <a:r>
              <a:rPr lang="en-US" sz="1900" dirty="0"/>
              <a:t>Forgetting is caused by 6 factors</a:t>
            </a:r>
            <a:endParaRPr lang="en-IN" sz="1900" dirty="0"/>
          </a:p>
          <a:p>
            <a:pPr lvl="0"/>
            <a:r>
              <a:rPr lang="en-US" sz="1900" dirty="0"/>
              <a:t>Ineffective encoding : Remembering a certain information is depends on the way we encode. Also when a thing in memory is processed deeply then the rate of forgetting the stored information in memory is low.</a:t>
            </a:r>
            <a:endParaRPr lang="en-IN" sz="1900" dirty="0"/>
          </a:p>
          <a:p>
            <a:pPr lvl="0"/>
            <a:r>
              <a:rPr lang="en-US" sz="1900" dirty="0"/>
              <a:t>Decay: Based on decay theory, decay of memory occur after some time. The memories stored in sensory register and short-term memory disappears with time</a:t>
            </a:r>
            <a:endParaRPr lang="en-IN" sz="1900" dirty="0"/>
          </a:p>
          <a:p>
            <a:pPr lvl="0"/>
            <a:r>
              <a:rPr lang="en-US" sz="1900" dirty="0"/>
              <a:t>Retrieval failure: Failure of retrieving the information from memory may occur due to incorrect clues used to retrieve. For example, if you are asked to remember your 5th class teacher name you may not, though, you could remember your class teacher name suddenly when you visit the same classroom.</a:t>
            </a:r>
            <a:endParaRPr lang="en-IN" sz="1900" dirty="0"/>
          </a:p>
          <a:p>
            <a:pPr lvl="0"/>
            <a:r>
              <a:rPr lang="en-US" sz="1900" dirty="0"/>
              <a:t>Motivated forgetting: According to the famous psychologist Sigmund Freud, people push the unpleasant feelings and thoughts deeper into the unconscious. We are motivated to forget unpleasant experiences.</a:t>
            </a:r>
            <a:endParaRPr lang="en-IN" sz="1900" dirty="0"/>
          </a:p>
          <a:p>
            <a:pPr lvl="0"/>
            <a:r>
              <a:rPr lang="en-US" sz="1900" dirty="0"/>
              <a:t>Interference : Based on interference theory, one information can interfere another information and cause forgetting. Proactive interference and retroactive interference are the two kinds of interference. When already learned information makes to forgets the newly learned information then it is proactive interference. When newly learned information makes to forgets the earlier learned information then it is retroactive interference.</a:t>
            </a:r>
          </a:p>
          <a:p>
            <a:r>
              <a:rPr lang="en-US" sz="1900" dirty="0"/>
              <a:t>Trauma: Forgetting might occurs due to traumatic event. Anterograde amnesia and retrograde amnesia are two kinds forgetting occurs due to physical injury. When one not able to remember information that happened after the trauma is called anterograde amnesia. When one not able to remember information that happened before the trauma is called retrograde amnesia</a:t>
            </a:r>
            <a:endParaRPr lang="en-IN" sz="1900" dirty="0"/>
          </a:p>
          <a:p>
            <a:pPr marL="0" indent="0">
              <a:buNone/>
            </a:pPr>
            <a:r>
              <a:rPr lang="en-US" dirty="0"/>
              <a:t>.</a:t>
            </a:r>
          </a:p>
        </p:txBody>
      </p:sp>
    </p:spTree>
    <p:extLst>
      <p:ext uri="{BB962C8B-B14F-4D97-AF65-F5344CB8AC3E}">
        <p14:creationId xmlns:p14="http://schemas.microsoft.com/office/powerpoint/2010/main" val="12532393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E96C5-1C43-62C8-3033-ED2D87DEA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97A40-2D46-E07B-81AB-BA31F887EC27}"/>
              </a:ext>
            </a:extLst>
          </p:cNvPr>
          <p:cNvSpPr>
            <a:spLocks noGrp="1"/>
          </p:cNvSpPr>
          <p:nvPr>
            <p:ph type="title"/>
          </p:nvPr>
        </p:nvSpPr>
        <p:spPr>
          <a:xfrm>
            <a:off x="742950" y="409575"/>
            <a:ext cx="10058400" cy="1371600"/>
          </a:xfrm>
        </p:spPr>
        <p:txBody>
          <a:bodyPr/>
          <a:lstStyle/>
          <a:p>
            <a:pPr fontAlgn="base"/>
            <a:r>
              <a:rPr lang="en-IN" b="1" dirty="0"/>
              <a:t>How to improve memory? </a:t>
            </a:r>
            <a:endParaRPr lang="en-IN" dirty="0"/>
          </a:p>
        </p:txBody>
      </p:sp>
      <p:sp>
        <p:nvSpPr>
          <p:cNvPr id="3" name="Content Placeholder 2">
            <a:extLst>
              <a:ext uri="{FF2B5EF4-FFF2-40B4-BE49-F238E27FC236}">
                <a16:creationId xmlns:a16="http://schemas.microsoft.com/office/drawing/2014/main" id="{B22BA8B6-59E5-9FC4-EFEE-D2A1081EDAA2}"/>
              </a:ext>
            </a:extLst>
          </p:cNvPr>
          <p:cNvSpPr>
            <a:spLocks noGrp="1"/>
          </p:cNvSpPr>
          <p:nvPr>
            <p:ph idx="1"/>
          </p:nvPr>
        </p:nvSpPr>
        <p:spPr>
          <a:xfrm>
            <a:off x="742950" y="1438275"/>
            <a:ext cx="10953750" cy="5324475"/>
          </a:xfrm>
        </p:spPr>
        <p:txBody>
          <a:bodyPr>
            <a:normAutofit/>
          </a:bodyPr>
          <a:lstStyle/>
          <a:p>
            <a:r>
              <a:rPr lang="en-US" b="1" dirty="0"/>
              <a:t>Mnemonic</a:t>
            </a:r>
            <a:r>
              <a:rPr lang="en-US" dirty="0"/>
              <a:t>: A mnemonic is a technique or method which helps with memory.</a:t>
            </a:r>
            <a:endParaRPr lang="en-IN" dirty="0"/>
          </a:p>
          <a:p>
            <a:r>
              <a:rPr lang="en-US" b="1" dirty="0"/>
              <a:t>Chunking</a:t>
            </a:r>
            <a:r>
              <a:rPr lang="en-US" dirty="0"/>
              <a:t>:  It is a memory technique to increase memory capacity. In the process of chunking, several items are grouped into chunks. So, through chunking we can store more information. For example, if you are told to remember a set of number 201911111947. There are 12 items which exceeds the capacity of short term memory. However, you can create it as chunks 2019 (current year), 1111 (set of 4 one’s), 1947 (Year of Independence for India) and all the information can be stored.</a:t>
            </a:r>
            <a:endParaRPr lang="en-IN" dirty="0"/>
          </a:p>
          <a:p>
            <a:r>
              <a:rPr lang="en-US" b="1" dirty="0"/>
              <a:t>Method of loci</a:t>
            </a:r>
            <a:r>
              <a:rPr lang="en-US" dirty="0"/>
              <a:t>: Method of </a:t>
            </a:r>
            <a:r>
              <a:rPr lang="en-US" dirty="0" err="1"/>
              <a:t>lociis</a:t>
            </a:r>
            <a:r>
              <a:rPr lang="en-US" dirty="0"/>
              <a:t> a technique where people create a scene of places along with themselves and imagine the list of information in different places while walks through different places in imagine. When they want to remember certain things they do the same walk and noticing the lists on the way </a:t>
            </a:r>
            <a:endParaRPr lang="en-IN" dirty="0"/>
          </a:p>
          <a:p>
            <a:r>
              <a:rPr lang="en-US" b="1" dirty="0"/>
              <a:t>Making stories:</a:t>
            </a:r>
            <a:r>
              <a:rPr lang="en-US" dirty="0"/>
              <a:t> Making stories to remember is also a good technique to remember a list of words where each words are linked together to make it as a story.</a:t>
            </a:r>
            <a:endParaRPr lang="en-IN" dirty="0"/>
          </a:p>
        </p:txBody>
      </p:sp>
    </p:spTree>
    <p:extLst>
      <p:ext uri="{BB962C8B-B14F-4D97-AF65-F5344CB8AC3E}">
        <p14:creationId xmlns:p14="http://schemas.microsoft.com/office/powerpoint/2010/main" val="4064682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6AB47-CED6-703C-5DB3-3FD352211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AF0BB-8060-4D9D-8E97-2467FF672D38}"/>
              </a:ext>
            </a:extLst>
          </p:cNvPr>
          <p:cNvSpPr>
            <a:spLocks noGrp="1"/>
          </p:cNvSpPr>
          <p:nvPr>
            <p:ph type="title"/>
          </p:nvPr>
        </p:nvSpPr>
        <p:spPr>
          <a:xfrm>
            <a:off x="742950" y="409575"/>
            <a:ext cx="10058400" cy="1371600"/>
          </a:xfrm>
        </p:spPr>
        <p:txBody>
          <a:bodyPr/>
          <a:lstStyle/>
          <a:p>
            <a:pPr fontAlgn="base"/>
            <a:r>
              <a:rPr lang="en-IN" b="1" dirty="0"/>
              <a:t>Intelligence </a:t>
            </a:r>
            <a:endParaRPr lang="en-IN" dirty="0"/>
          </a:p>
        </p:txBody>
      </p:sp>
      <p:sp>
        <p:nvSpPr>
          <p:cNvPr id="3" name="Content Placeholder 2">
            <a:extLst>
              <a:ext uri="{FF2B5EF4-FFF2-40B4-BE49-F238E27FC236}">
                <a16:creationId xmlns:a16="http://schemas.microsoft.com/office/drawing/2014/main" id="{EFC2FB54-FA08-D8F3-2D32-103FCFA58F8A}"/>
              </a:ext>
            </a:extLst>
          </p:cNvPr>
          <p:cNvSpPr>
            <a:spLocks noGrp="1"/>
          </p:cNvSpPr>
          <p:nvPr>
            <p:ph idx="1"/>
          </p:nvPr>
        </p:nvSpPr>
        <p:spPr>
          <a:xfrm>
            <a:off x="1828799" y="2018378"/>
            <a:ext cx="8111613" cy="5324475"/>
          </a:xfrm>
        </p:spPr>
        <p:txBody>
          <a:bodyPr>
            <a:normAutofit/>
          </a:bodyPr>
          <a:lstStyle/>
          <a:p>
            <a:r>
              <a:rPr lang="en-US" b="1" dirty="0"/>
              <a:t>Intelligence</a:t>
            </a:r>
            <a:r>
              <a:rPr lang="en-US" dirty="0"/>
              <a:t> is the ability to </a:t>
            </a:r>
            <a:r>
              <a:rPr lang="en-US" b="1" dirty="0"/>
              <a:t>learn from experience, adapt to new situations, understand complex ideas, solve problems, and use knowledge effectively</a:t>
            </a:r>
            <a:r>
              <a:rPr lang="en-US" dirty="0"/>
              <a:t> in everyday life. It is a combination of mental abilities such as reasoning, memory, creativity, decision-making, and problem-solving. </a:t>
            </a:r>
            <a:endParaRPr lang="en-IN" dirty="0"/>
          </a:p>
        </p:txBody>
      </p:sp>
    </p:spTree>
    <p:extLst>
      <p:ext uri="{BB962C8B-B14F-4D97-AF65-F5344CB8AC3E}">
        <p14:creationId xmlns:p14="http://schemas.microsoft.com/office/powerpoint/2010/main" val="1561558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8EB05-430E-4A85-B469-E6FC810DC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10A0A-18CC-F19C-69C0-E62EE1B6AC8C}"/>
              </a:ext>
            </a:extLst>
          </p:cNvPr>
          <p:cNvSpPr>
            <a:spLocks noGrp="1"/>
          </p:cNvSpPr>
          <p:nvPr>
            <p:ph type="title"/>
          </p:nvPr>
        </p:nvSpPr>
        <p:spPr>
          <a:xfrm>
            <a:off x="742950" y="409575"/>
            <a:ext cx="10058400" cy="1371600"/>
          </a:xfrm>
        </p:spPr>
        <p:txBody>
          <a:bodyPr/>
          <a:lstStyle/>
          <a:p>
            <a:pPr fontAlgn="base"/>
            <a:r>
              <a:rPr lang="en-IN" b="1" dirty="0"/>
              <a:t>Theories of Intelligence </a:t>
            </a:r>
            <a:endParaRPr lang="en-IN" dirty="0"/>
          </a:p>
        </p:txBody>
      </p:sp>
      <p:sp>
        <p:nvSpPr>
          <p:cNvPr id="3" name="Content Placeholder 2">
            <a:extLst>
              <a:ext uri="{FF2B5EF4-FFF2-40B4-BE49-F238E27FC236}">
                <a16:creationId xmlns:a16="http://schemas.microsoft.com/office/drawing/2014/main" id="{795B84E4-6813-3331-8F44-AA2D9E9FF9A1}"/>
              </a:ext>
            </a:extLst>
          </p:cNvPr>
          <p:cNvSpPr>
            <a:spLocks noGrp="1"/>
          </p:cNvSpPr>
          <p:nvPr>
            <p:ph idx="1"/>
          </p:nvPr>
        </p:nvSpPr>
        <p:spPr>
          <a:xfrm>
            <a:off x="648929" y="2018378"/>
            <a:ext cx="10955242" cy="4430047"/>
          </a:xfrm>
        </p:spPr>
        <p:txBody>
          <a:bodyPr>
            <a:normAutofit fontScale="85000" lnSpcReduction="20000"/>
          </a:bodyPr>
          <a:lstStyle/>
          <a:p>
            <a:pPr marL="0" indent="0">
              <a:buNone/>
            </a:pPr>
            <a:r>
              <a:rPr lang="en-US" b="1" dirty="0"/>
              <a:t>1. Spearman’s Two-Factor Theory</a:t>
            </a:r>
          </a:p>
          <a:p>
            <a:r>
              <a:rPr lang="en-US" b="1" dirty="0"/>
              <a:t>Idea:</a:t>
            </a:r>
            <a:r>
              <a:rPr lang="en-US" dirty="0"/>
              <a:t> Intelligence has </a:t>
            </a:r>
            <a:r>
              <a:rPr lang="en-US" b="1" dirty="0"/>
              <a:t>two parts</a:t>
            </a:r>
            <a:endParaRPr lang="en-US" dirty="0"/>
          </a:p>
          <a:p>
            <a:r>
              <a:rPr lang="en-US" b="1" dirty="0"/>
              <a:t>g-factor:</a:t>
            </a:r>
            <a:r>
              <a:rPr lang="en-US" dirty="0"/>
              <a:t> General intelligence (common ability for all tasks)</a:t>
            </a:r>
          </a:p>
          <a:p>
            <a:r>
              <a:rPr lang="en-US" b="1" dirty="0"/>
              <a:t>s-factor:</a:t>
            </a:r>
            <a:r>
              <a:rPr lang="en-US" dirty="0"/>
              <a:t> Specific abilities for particular tasks</a:t>
            </a:r>
            <a:br>
              <a:rPr lang="en-US" dirty="0"/>
            </a:br>
            <a:r>
              <a:rPr lang="en-US" b="1" dirty="0"/>
              <a:t>Meaning:</a:t>
            </a:r>
            <a:r>
              <a:rPr lang="en-US" dirty="0"/>
              <a:t> A person good in one area tends to do well in others because of </a:t>
            </a:r>
            <a:r>
              <a:rPr lang="en-US" i="1" dirty="0"/>
              <a:t>g</a:t>
            </a:r>
            <a:r>
              <a:rPr lang="en-US" dirty="0"/>
              <a:t>.</a:t>
            </a:r>
          </a:p>
          <a:p>
            <a:pPr marL="0" indent="0">
              <a:buNone/>
            </a:pPr>
            <a:r>
              <a:rPr lang="en-US" b="1" dirty="0"/>
              <a:t>2. Thurstone’s Primary Mental Abilities</a:t>
            </a:r>
          </a:p>
          <a:p>
            <a:r>
              <a:rPr lang="en-US" b="1" dirty="0"/>
              <a:t>Idea:</a:t>
            </a:r>
            <a:r>
              <a:rPr lang="en-US" dirty="0"/>
              <a:t> Intelligence is made of </a:t>
            </a:r>
            <a:r>
              <a:rPr lang="en-US" b="1" dirty="0"/>
              <a:t>seven independent abilities</a:t>
            </a:r>
            <a:endParaRPr lang="en-US" dirty="0"/>
          </a:p>
          <a:p>
            <a:r>
              <a:rPr lang="en-US" dirty="0"/>
              <a:t>Verbal comprehension</a:t>
            </a:r>
          </a:p>
          <a:p>
            <a:r>
              <a:rPr lang="en-US" dirty="0"/>
              <a:t>Word fluency</a:t>
            </a:r>
          </a:p>
          <a:p>
            <a:r>
              <a:rPr lang="en-US" dirty="0"/>
              <a:t>Number ability</a:t>
            </a:r>
          </a:p>
          <a:p>
            <a:r>
              <a:rPr lang="en-US" dirty="0"/>
              <a:t>Spatial ability</a:t>
            </a:r>
          </a:p>
          <a:p>
            <a:r>
              <a:rPr lang="en-US" dirty="0"/>
              <a:t>Memory</a:t>
            </a:r>
          </a:p>
          <a:p>
            <a:r>
              <a:rPr lang="en-US" dirty="0"/>
              <a:t>Reasoning</a:t>
            </a:r>
          </a:p>
          <a:p>
            <a:r>
              <a:rPr lang="en-US" dirty="0"/>
              <a:t>Perceptual speed</a:t>
            </a:r>
            <a:br>
              <a:rPr lang="en-US" dirty="0"/>
            </a:br>
            <a:r>
              <a:rPr lang="en-US" b="1" dirty="0"/>
              <a:t>Meaning:</a:t>
            </a:r>
            <a:r>
              <a:rPr lang="en-US" dirty="0"/>
              <a:t> Intelligence is not one single ability.</a:t>
            </a:r>
          </a:p>
        </p:txBody>
      </p:sp>
    </p:spTree>
    <p:extLst>
      <p:ext uri="{BB962C8B-B14F-4D97-AF65-F5344CB8AC3E}">
        <p14:creationId xmlns:p14="http://schemas.microsoft.com/office/powerpoint/2010/main" val="2414054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0D20-BCEE-AA03-F63B-F9F5D2461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BB722-86B6-9971-9E10-1DD1F7646CE8}"/>
              </a:ext>
            </a:extLst>
          </p:cNvPr>
          <p:cNvSpPr>
            <a:spLocks noGrp="1"/>
          </p:cNvSpPr>
          <p:nvPr>
            <p:ph type="title"/>
          </p:nvPr>
        </p:nvSpPr>
        <p:spPr>
          <a:xfrm>
            <a:off x="742950" y="409575"/>
            <a:ext cx="10058400" cy="1371600"/>
          </a:xfrm>
        </p:spPr>
        <p:txBody>
          <a:bodyPr/>
          <a:lstStyle/>
          <a:p>
            <a:pPr fontAlgn="base"/>
            <a:r>
              <a:rPr lang="en-IN" b="1" dirty="0"/>
              <a:t>Theories of Intelligence </a:t>
            </a:r>
            <a:endParaRPr lang="en-IN" dirty="0"/>
          </a:p>
        </p:txBody>
      </p:sp>
      <p:sp>
        <p:nvSpPr>
          <p:cNvPr id="3" name="Content Placeholder 2">
            <a:extLst>
              <a:ext uri="{FF2B5EF4-FFF2-40B4-BE49-F238E27FC236}">
                <a16:creationId xmlns:a16="http://schemas.microsoft.com/office/drawing/2014/main" id="{2AF82B4F-EEF4-BD8F-F6D9-18EDA4E18599}"/>
              </a:ext>
            </a:extLst>
          </p:cNvPr>
          <p:cNvSpPr>
            <a:spLocks noGrp="1"/>
          </p:cNvSpPr>
          <p:nvPr>
            <p:ph idx="1"/>
          </p:nvPr>
        </p:nvSpPr>
        <p:spPr>
          <a:xfrm>
            <a:off x="648929" y="2018378"/>
            <a:ext cx="10955242" cy="4430047"/>
          </a:xfrm>
        </p:spPr>
        <p:txBody>
          <a:bodyPr>
            <a:normAutofit/>
          </a:bodyPr>
          <a:lstStyle/>
          <a:p>
            <a:pPr marL="0" indent="0">
              <a:buNone/>
            </a:pPr>
            <a:r>
              <a:rPr lang="en-IN" b="1" dirty="0"/>
              <a:t>3. Gardner’s Multiple Intelligences</a:t>
            </a:r>
          </a:p>
          <a:p>
            <a:r>
              <a:rPr lang="en-IN" b="1" dirty="0"/>
              <a:t>Idea:</a:t>
            </a:r>
            <a:r>
              <a:rPr lang="en-IN" dirty="0"/>
              <a:t> There are </a:t>
            </a:r>
            <a:r>
              <a:rPr lang="en-IN" b="1" dirty="0"/>
              <a:t>eight types of intelligence</a:t>
            </a:r>
            <a:r>
              <a:rPr lang="en-IN" dirty="0"/>
              <a:t>:</a:t>
            </a:r>
          </a:p>
          <a:p>
            <a:r>
              <a:rPr lang="en-IN" dirty="0"/>
              <a:t>Linguistic</a:t>
            </a:r>
          </a:p>
          <a:p>
            <a:r>
              <a:rPr lang="en-IN" dirty="0"/>
              <a:t>Logical–mathematical</a:t>
            </a:r>
          </a:p>
          <a:p>
            <a:r>
              <a:rPr lang="en-IN" dirty="0"/>
              <a:t>Spatial</a:t>
            </a:r>
          </a:p>
          <a:p>
            <a:r>
              <a:rPr lang="en-IN" dirty="0"/>
              <a:t>Musical</a:t>
            </a:r>
          </a:p>
          <a:p>
            <a:r>
              <a:rPr lang="en-IN" dirty="0"/>
              <a:t>Bodily–</a:t>
            </a:r>
            <a:r>
              <a:rPr lang="en-IN" dirty="0" err="1"/>
              <a:t>kinesthetic</a:t>
            </a:r>
            <a:endParaRPr lang="en-IN" dirty="0"/>
          </a:p>
          <a:p>
            <a:r>
              <a:rPr lang="en-IN" dirty="0"/>
              <a:t>Interpersonal</a:t>
            </a:r>
          </a:p>
          <a:p>
            <a:r>
              <a:rPr lang="en-IN" dirty="0"/>
              <a:t>Intrapersonal</a:t>
            </a:r>
          </a:p>
          <a:p>
            <a:r>
              <a:rPr lang="en-IN" dirty="0"/>
              <a:t>Naturalistic</a:t>
            </a:r>
            <a:br>
              <a:rPr lang="en-IN" dirty="0"/>
            </a:br>
            <a:r>
              <a:rPr lang="en-IN" b="1" dirty="0"/>
              <a:t>Meaning:</a:t>
            </a:r>
            <a:r>
              <a:rPr lang="en-IN" dirty="0"/>
              <a:t> Every person is intelligent in different ways.</a:t>
            </a:r>
          </a:p>
          <a:p>
            <a:pPr marL="0" indent="0">
              <a:buNone/>
            </a:pPr>
            <a:endParaRPr lang="en-US" dirty="0"/>
          </a:p>
        </p:txBody>
      </p:sp>
    </p:spTree>
    <p:extLst>
      <p:ext uri="{BB962C8B-B14F-4D97-AF65-F5344CB8AC3E}">
        <p14:creationId xmlns:p14="http://schemas.microsoft.com/office/powerpoint/2010/main" val="2877692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3235A-9AC1-75F7-EA7F-9C90BA7D5F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9E1D8-7E9C-EADA-3124-74C9A8DB66F8}"/>
              </a:ext>
            </a:extLst>
          </p:cNvPr>
          <p:cNvSpPr>
            <a:spLocks noGrp="1"/>
          </p:cNvSpPr>
          <p:nvPr>
            <p:ph type="title"/>
          </p:nvPr>
        </p:nvSpPr>
        <p:spPr>
          <a:xfrm>
            <a:off x="742950" y="409575"/>
            <a:ext cx="10058400" cy="1371600"/>
          </a:xfrm>
        </p:spPr>
        <p:txBody>
          <a:bodyPr/>
          <a:lstStyle/>
          <a:p>
            <a:pPr fontAlgn="base"/>
            <a:r>
              <a:rPr lang="en-IN" b="1" dirty="0"/>
              <a:t>Theories of Intelligence </a:t>
            </a:r>
            <a:endParaRPr lang="en-IN" dirty="0"/>
          </a:p>
        </p:txBody>
      </p:sp>
      <p:sp>
        <p:nvSpPr>
          <p:cNvPr id="3" name="Content Placeholder 2">
            <a:extLst>
              <a:ext uri="{FF2B5EF4-FFF2-40B4-BE49-F238E27FC236}">
                <a16:creationId xmlns:a16="http://schemas.microsoft.com/office/drawing/2014/main" id="{285B5AC5-08A1-B30C-DB9B-F50C3DB4BF9E}"/>
              </a:ext>
            </a:extLst>
          </p:cNvPr>
          <p:cNvSpPr>
            <a:spLocks noGrp="1"/>
          </p:cNvSpPr>
          <p:nvPr>
            <p:ph idx="1"/>
          </p:nvPr>
        </p:nvSpPr>
        <p:spPr>
          <a:xfrm>
            <a:off x="648929" y="2018378"/>
            <a:ext cx="10955242" cy="4430047"/>
          </a:xfrm>
        </p:spPr>
        <p:txBody>
          <a:bodyPr>
            <a:normAutofit/>
          </a:bodyPr>
          <a:lstStyle/>
          <a:p>
            <a:pPr marL="0" indent="0">
              <a:buNone/>
            </a:pPr>
            <a:r>
              <a:rPr lang="en-IN" b="1" dirty="0"/>
              <a:t>4. Sternberg’s Triarchic Theory</a:t>
            </a:r>
          </a:p>
          <a:p>
            <a:r>
              <a:rPr lang="en-IN" b="1" dirty="0"/>
              <a:t>Three components of intelligence:</a:t>
            </a:r>
            <a:endParaRPr lang="en-IN" dirty="0"/>
          </a:p>
          <a:p>
            <a:r>
              <a:rPr lang="en-IN" b="1" dirty="0"/>
              <a:t>Analytical intelligence</a:t>
            </a:r>
            <a:r>
              <a:rPr lang="en-IN" dirty="0"/>
              <a:t> – problem-solving, logical reasoning</a:t>
            </a:r>
          </a:p>
          <a:p>
            <a:r>
              <a:rPr lang="en-IN" b="1" dirty="0"/>
              <a:t>Creative intelligence</a:t>
            </a:r>
            <a:r>
              <a:rPr lang="en-IN" dirty="0"/>
              <a:t> – innovation, imagination</a:t>
            </a:r>
          </a:p>
          <a:p>
            <a:r>
              <a:rPr lang="en-IN" b="1" dirty="0"/>
              <a:t>Practical intelligence</a:t>
            </a:r>
            <a:r>
              <a:rPr lang="en-IN" dirty="0"/>
              <a:t> – real-life skills, street-smart </a:t>
            </a:r>
            <a:r>
              <a:rPr lang="en-IN" dirty="0" err="1"/>
              <a:t>behavior</a:t>
            </a:r>
            <a:br>
              <a:rPr lang="en-IN" dirty="0"/>
            </a:br>
            <a:r>
              <a:rPr lang="en-IN" b="1" dirty="0"/>
              <a:t>Meaning:</a:t>
            </a:r>
            <a:r>
              <a:rPr lang="en-IN" dirty="0"/>
              <a:t> Intelligence is how well a person adapts to the environment.</a:t>
            </a:r>
          </a:p>
          <a:p>
            <a:pPr marL="0" indent="0">
              <a:buNone/>
            </a:pPr>
            <a:r>
              <a:rPr lang="en-US" b="1" dirty="0"/>
              <a:t>5. Cattell &amp; Horn’s Fluid and Crystallized Intelligence</a:t>
            </a:r>
          </a:p>
          <a:p>
            <a:r>
              <a:rPr lang="en-US" b="1" dirty="0"/>
              <a:t>Fluid intelligence (Gf):</a:t>
            </a:r>
            <a:r>
              <a:rPr lang="en-US" dirty="0"/>
              <a:t> Ability to solve new problems, reason quickly (declines with age)</a:t>
            </a:r>
          </a:p>
          <a:p>
            <a:r>
              <a:rPr lang="en-US" b="1" dirty="0"/>
              <a:t>Crystallized intelligence (Gc):</a:t>
            </a:r>
            <a:r>
              <a:rPr lang="en-US" dirty="0"/>
              <a:t> Knowledge gained through experience and education (increases with age)</a:t>
            </a:r>
            <a:br>
              <a:rPr lang="en-US" dirty="0"/>
            </a:br>
            <a:r>
              <a:rPr lang="en-US" b="1" dirty="0"/>
              <a:t>Meaning:</a:t>
            </a:r>
            <a:r>
              <a:rPr lang="en-US" dirty="0"/>
              <a:t> Intelligence changes over time.</a:t>
            </a:r>
          </a:p>
          <a:p>
            <a:pPr marL="0" indent="0">
              <a:buNone/>
            </a:pPr>
            <a:endParaRPr lang="en-US" dirty="0"/>
          </a:p>
        </p:txBody>
      </p:sp>
    </p:spTree>
    <p:extLst>
      <p:ext uri="{BB962C8B-B14F-4D97-AF65-F5344CB8AC3E}">
        <p14:creationId xmlns:p14="http://schemas.microsoft.com/office/powerpoint/2010/main" val="3027526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CE5F9-9ABD-F170-8595-94ABB546A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D7874-5C19-3588-5262-65A5E4F820E0}"/>
              </a:ext>
            </a:extLst>
          </p:cNvPr>
          <p:cNvSpPr>
            <a:spLocks noGrp="1"/>
          </p:cNvSpPr>
          <p:nvPr>
            <p:ph type="title"/>
          </p:nvPr>
        </p:nvSpPr>
        <p:spPr>
          <a:xfrm>
            <a:off x="742950" y="409575"/>
            <a:ext cx="10058400" cy="1371600"/>
          </a:xfrm>
        </p:spPr>
        <p:txBody>
          <a:bodyPr/>
          <a:lstStyle/>
          <a:p>
            <a:pPr fontAlgn="base"/>
            <a:r>
              <a:rPr lang="en-US" dirty="0"/>
              <a:t>Measurement of intelligence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6F7378-1BA6-565D-8125-3ADCADB63081}"/>
                  </a:ext>
                </a:extLst>
              </p:cNvPr>
              <p:cNvSpPr>
                <a:spLocks noGrp="1"/>
              </p:cNvSpPr>
              <p:nvPr>
                <p:ph idx="1"/>
              </p:nvPr>
            </p:nvSpPr>
            <p:spPr>
              <a:xfrm>
                <a:off x="648929" y="2018378"/>
                <a:ext cx="10955242" cy="4430047"/>
              </a:xfrm>
            </p:spPr>
            <p:txBody>
              <a:bodyPr>
                <a:normAutofit/>
              </a:bodyPr>
              <a:lstStyle/>
              <a:p>
                <a:pPr marL="0" indent="0">
                  <a:buNone/>
                </a:pPr>
                <a:r>
                  <a:rPr lang="en-IN" b="1" dirty="0"/>
                  <a:t>1. IQ (Intelligence Quotient)</a:t>
                </a:r>
              </a:p>
              <a:p>
                <a:r>
                  <a:rPr lang="en-IN" b="1" dirty="0"/>
                  <a:t>Formula (Binet–Simon / Stern):</a:t>
                </a:r>
              </a:p>
              <a:p>
                <a14:m>
                  <m:oMath xmlns:m="http://schemas.openxmlformats.org/officeDocument/2006/math">
                    <m:r>
                      <a:rPr lang="en-IN" i="1">
                        <a:latin typeface="Cambria Math" panose="02040503050406030204" pitchFamily="18" charset="0"/>
                      </a:rPr>
                      <m:t>𝐼𝑄</m:t>
                    </m:r>
                    <m:r>
                      <a:rPr lang="en-IN">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𝑀𝑒𝑛𝑡𝑎𝑙</m:t>
                        </m:r>
                        <m:r>
                          <m:rPr>
                            <m:nor/>
                          </m:rPr>
                          <a:rPr lang="ar-AE" i="1"/>
                          <m:t> </m:t>
                        </m:r>
                        <m:r>
                          <a:rPr lang="ar-AE" i="1">
                            <a:latin typeface="Cambria Math" panose="02040503050406030204" pitchFamily="18" charset="0"/>
                          </a:rPr>
                          <m:t>𝐴𝑔𝑒</m:t>
                        </m:r>
                      </m:num>
                      <m:den>
                        <m:r>
                          <a:rPr lang="ar-AE" i="1">
                            <a:latin typeface="Cambria Math" panose="02040503050406030204" pitchFamily="18" charset="0"/>
                          </a:rPr>
                          <m:t>𝐶</m:t>
                        </m:r>
                        <m:r>
                          <a:rPr lang="ar-AE" i="1">
                            <a:latin typeface="Cambria Math" panose="02040503050406030204" pitchFamily="18" charset="0"/>
                          </a:rPr>
                          <m:t>h</m:t>
                        </m:r>
                        <m:r>
                          <a:rPr lang="ar-AE" i="1">
                            <a:latin typeface="Cambria Math" panose="02040503050406030204" pitchFamily="18" charset="0"/>
                          </a:rPr>
                          <m:t>𝑟𝑜𝑛𝑜𝑙𝑜𝑔𝑖𝑐𝑎𝑙</m:t>
                        </m:r>
                        <m:r>
                          <m:rPr>
                            <m:nor/>
                          </m:rPr>
                          <a:rPr lang="ar-AE" i="1"/>
                          <m:t> </m:t>
                        </m:r>
                        <m:r>
                          <a:rPr lang="ar-AE" i="1">
                            <a:latin typeface="Cambria Math" panose="02040503050406030204" pitchFamily="18" charset="0"/>
                          </a:rPr>
                          <m:t>𝐴𝑔𝑒</m:t>
                        </m:r>
                      </m:den>
                    </m:f>
                    <m:r>
                      <a:rPr lang="ar-AE">
                        <a:latin typeface="Cambria Math" panose="02040503050406030204" pitchFamily="18" charset="0"/>
                      </a:rPr>
                      <m:t>×</m:t>
                    </m:r>
                    <m:r>
                      <a:rPr lang="ar-AE">
                        <a:latin typeface="Cambria Math" panose="02040503050406030204" pitchFamily="18" charset="0"/>
                      </a:rPr>
                      <m:t>100</m:t>
                    </m:r>
                  </m:oMath>
                </a14:m>
                <a:endParaRPr lang="ar-AE" b="0" dirty="0"/>
              </a:p>
              <a:p>
                <a:r>
                  <a:rPr lang="ar-AE" dirty="0"/>
                  <a:t>(</a:t>
                </a:r>
                <a:r>
                  <a:rPr lang="en-IN" dirty="0"/>
                  <a:t>Used mainly for children.)</a:t>
                </a:r>
              </a:p>
              <a:p>
                <a:r>
                  <a:rPr lang="en-IN" b="1" dirty="0"/>
                  <a:t>Modern IQ tests:</a:t>
                </a:r>
              </a:p>
              <a:p>
                <a:r>
                  <a:rPr lang="en-IN" dirty="0"/>
                  <a:t>They no longer use the formula; instead, scores are based on </a:t>
                </a:r>
                <a:r>
                  <a:rPr lang="en-IN" b="1" dirty="0"/>
                  <a:t>standard deviations</a:t>
                </a:r>
                <a:r>
                  <a:rPr lang="en-IN" dirty="0"/>
                  <a:t> (mean = 100).</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96F7378-1BA6-565D-8125-3ADCADB63081}"/>
                  </a:ext>
                </a:extLst>
              </p:cNvPr>
              <p:cNvSpPr>
                <a:spLocks noGrp="1" noRot="1" noChangeAspect="1" noMove="1" noResize="1" noEditPoints="1" noAdjustHandles="1" noChangeArrowheads="1" noChangeShapeType="1" noTextEdit="1"/>
              </p:cNvSpPr>
              <p:nvPr>
                <p:ph idx="1"/>
              </p:nvPr>
            </p:nvSpPr>
            <p:spPr>
              <a:xfrm>
                <a:off x="648929" y="2018378"/>
                <a:ext cx="10955242" cy="4430047"/>
              </a:xfrm>
              <a:blipFill>
                <a:blip r:embed="rId2"/>
                <a:stretch>
                  <a:fillRect l="-445" t="-688" r="-389"/>
                </a:stretch>
              </a:blipFill>
            </p:spPr>
            <p:txBody>
              <a:bodyPr/>
              <a:lstStyle/>
              <a:p>
                <a:r>
                  <a:rPr lang="en-IN">
                    <a:noFill/>
                  </a:rPr>
                  <a:t> </a:t>
                </a:r>
              </a:p>
            </p:txBody>
          </p:sp>
        </mc:Fallback>
      </mc:AlternateContent>
    </p:spTree>
    <p:extLst>
      <p:ext uri="{BB962C8B-B14F-4D97-AF65-F5344CB8AC3E}">
        <p14:creationId xmlns:p14="http://schemas.microsoft.com/office/powerpoint/2010/main" val="24585832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531A7-313B-A1DB-CE5B-CDEB056C6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1B4C6-85B4-5E75-D1DA-968ABC42F916}"/>
              </a:ext>
            </a:extLst>
          </p:cNvPr>
          <p:cNvSpPr>
            <a:spLocks noGrp="1"/>
          </p:cNvSpPr>
          <p:nvPr>
            <p:ph type="title"/>
          </p:nvPr>
        </p:nvSpPr>
        <p:spPr>
          <a:xfrm>
            <a:off x="742950" y="409575"/>
            <a:ext cx="10058400" cy="1371600"/>
          </a:xfrm>
        </p:spPr>
        <p:txBody>
          <a:bodyPr/>
          <a:lstStyle/>
          <a:p>
            <a:pPr fontAlgn="base"/>
            <a:r>
              <a:rPr lang="en-US" dirty="0"/>
              <a:t>Measurement of intelligence</a:t>
            </a:r>
            <a:endParaRPr lang="en-IN" dirty="0"/>
          </a:p>
        </p:txBody>
      </p:sp>
      <p:sp>
        <p:nvSpPr>
          <p:cNvPr id="3" name="Content Placeholder 2">
            <a:extLst>
              <a:ext uri="{FF2B5EF4-FFF2-40B4-BE49-F238E27FC236}">
                <a16:creationId xmlns:a16="http://schemas.microsoft.com/office/drawing/2014/main" id="{884F58D8-8DEC-F9C3-2EBD-11C8FBA92BCB}"/>
              </a:ext>
            </a:extLst>
          </p:cNvPr>
          <p:cNvSpPr>
            <a:spLocks noGrp="1"/>
          </p:cNvSpPr>
          <p:nvPr>
            <p:ph idx="1"/>
          </p:nvPr>
        </p:nvSpPr>
        <p:spPr>
          <a:xfrm>
            <a:off x="648929" y="2018378"/>
            <a:ext cx="10955242" cy="4430047"/>
          </a:xfrm>
        </p:spPr>
        <p:txBody>
          <a:bodyPr>
            <a:normAutofit/>
          </a:bodyPr>
          <a:lstStyle/>
          <a:p>
            <a:pPr marL="0" indent="0">
              <a:buNone/>
            </a:pPr>
            <a:r>
              <a:rPr lang="en-US" b="1" dirty="0"/>
              <a:t>2. Types of Intelligence Tests</a:t>
            </a:r>
          </a:p>
          <a:p>
            <a:r>
              <a:rPr lang="en-US" b="1" dirty="0"/>
              <a:t>A. Individual Tests</a:t>
            </a:r>
          </a:p>
          <a:p>
            <a:r>
              <a:rPr lang="en-US" dirty="0"/>
              <a:t>Given one-on-one; measure detailed functioning.</a:t>
            </a:r>
            <a:br>
              <a:rPr lang="en-US" dirty="0"/>
            </a:br>
            <a:r>
              <a:rPr lang="en-US" dirty="0"/>
              <a:t>Examples:</a:t>
            </a:r>
          </a:p>
          <a:p>
            <a:r>
              <a:rPr lang="en-US" b="1" dirty="0"/>
              <a:t>Stanford–Binet Intelligence Scale</a:t>
            </a:r>
            <a:endParaRPr lang="en-US" dirty="0"/>
          </a:p>
          <a:p>
            <a:r>
              <a:rPr lang="en-US" b="1" dirty="0"/>
              <a:t>Wechsler Scales (WAIS, WISC)</a:t>
            </a:r>
            <a:endParaRPr lang="en-US" dirty="0"/>
          </a:p>
          <a:p>
            <a:r>
              <a:rPr lang="en-US" b="1" dirty="0"/>
              <a:t>Binet–Simon test</a:t>
            </a:r>
            <a:endParaRPr lang="en-US" dirty="0"/>
          </a:p>
          <a:p>
            <a:r>
              <a:rPr lang="en-US" b="1" dirty="0"/>
              <a:t>B. Group Tests</a:t>
            </a:r>
          </a:p>
          <a:p>
            <a:r>
              <a:rPr lang="en-US" dirty="0"/>
              <a:t>Given to many people at once; easy and quick.</a:t>
            </a:r>
            <a:br>
              <a:rPr lang="en-US" dirty="0"/>
            </a:br>
            <a:r>
              <a:rPr lang="en-US" dirty="0"/>
              <a:t>Examples:</a:t>
            </a:r>
          </a:p>
          <a:p>
            <a:r>
              <a:rPr lang="en-US" dirty="0"/>
              <a:t>Army Alpha &amp; Beta tests</a:t>
            </a:r>
          </a:p>
          <a:p>
            <a:r>
              <a:rPr lang="en-US" dirty="0"/>
              <a:t>School-group intelligence tests</a:t>
            </a:r>
          </a:p>
          <a:p>
            <a:pPr marL="0" indent="0">
              <a:buNone/>
            </a:pPr>
            <a:endParaRPr lang="en-US" dirty="0"/>
          </a:p>
        </p:txBody>
      </p:sp>
    </p:spTree>
    <p:extLst>
      <p:ext uri="{BB962C8B-B14F-4D97-AF65-F5344CB8AC3E}">
        <p14:creationId xmlns:p14="http://schemas.microsoft.com/office/powerpoint/2010/main" val="26334826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A7F4-2C82-807D-E20C-B902D415CD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0BDFF-F28B-CDB1-A541-DB8387D30544}"/>
              </a:ext>
            </a:extLst>
          </p:cNvPr>
          <p:cNvSpPr>
            <a:spLocks noGrp="1"/>
          </p:cNvSpPr>
          <p:nvPr>
            <p:ph type="title"/>
          </p:nvPr>
        </p:nvSpPr>
        <p:spPr>
          <a:xfrm>
            <a:off x="742950" y="409575"/>
            <a:ext cx="10058400" cy="1371600"/>
          </a:xfrm>
        </p:spPr>
        <p:txBody>
          <a:bodyPr/>
          <a:lstStyle/>
          <a:p>
            <a:pPr fontAlgn="base"/>
            <a:r>
              <a:rPr lang="en-US" dirty="0"/>
              <a:t>Measurement of intelligence</a:t>
            </a:r>
            <a:endParaRPr lang="en-IN" dirty="0"/>
          </a:p>
        </p:txBody>
      </p:sp>
      <p:sp>
        <p:nvSpPr>
          <p:cNvPr id="3" name="Content Placeholder 2">
            <a:extLst>
              <a:ext uri="{FF2B5EF4-FFF2-40B4-BE49-F238E27FC236}">
                <a16:creationId xmlns:a16="http://schemas.microsoft.com/office/drawing/2014/main" id="{977BD7D6-4998-3FAB-13EC-8F98FF9ACB6D}"/>
              </a:ext>
            </a:extLst>
          </p:cNvPr>
          <p:cNvSpPr>
            <a:spLocks noGrp="1"/>
          </p:cNvSpPr>
          <p:nvPr>
            <p:ph idx="1"/>
          </p:nvPr>
        </p:nvSpPr>
        <p:spPr>
          <a:xfrm>
            <a:off x="648929" y="2018378"/>
            <a:ext cx="10955242" cy="4430047"/>
          </a:xfrm>
        </p:spPr>
        <p:txBody>
          <a:bodyPr>
            <a:normAutofit lnSpcReduction="10000"/>
          </a:bodyPr>
          <a:lstStyle/>
          <a:p>
            <a:pPr marL="0" indent="0">
              <a:buNone/>
            </a:pPr>
            <a:r>
              <a:rPr lang="en-IN" b="1" dirty="0"/>
              <a:t>3. Verbal and Non-Verbal Tests</a:t>
            </a:r>
          </a:p>
          <a:p>
            <a:r>
              <a:rPr lang="en-IN" b="1" dirty="0"/>
              <a:t>Verbal Tests:</a:t>
            </a:r>
          </a:p>
          <a:p>
            <a:r>
              <a:rPr lang="en-IN" dirty="0"/>
              <a:t>Use language, vocabulary, reasoning (suitable for literate people).</a:t>
            </a:r>
            <a:br>
              <a:rPr lang="en-IN" dirty="0"/>
            </a:br>
            <a:r>
              <a:rPr lang="en-IN" dirty="0"/>
              <a:t>Example: WAIS verbal subtests.</a:t>
            </a:r>
          </a:p>
          <a:p>
            <a:r>
              <a:rPr lang="en-IN" b="1" dirty="0"/>
              <a:t>Non-Verbal Tests:</a:t>
            </a:r>
          </a:p>
          <a:p>
            <a:r>
              <a:rPr lang="en-IN" dirty="0"/>
              <a:t>Use pictures, patterns, diagrams (good for children, language-barrier cases).</a:t>
            </a:r>
            <a:br>
              <a:rPr lang="en-IN" dirty="0"/>
            </a:br>
            <a:r>
              <a:rPr lang="en-IN" dirty="0"/>
              <a:t>Example: </a:t>
            </a:r>
            <a:r>
              <a:rPr lang="en-IN" b="1" dirty="0"/>
              <a:t>Raven’s Progressive Matrices</a:t>
            </a:r>
            <a:r>
              <a:rPr lang="en-IN" dirty="0"/>
              <a:t>.</a:t>
            </a:r>
          </a:p>
          <a:p>
            <a:pPr marL="0" indent="0">
              <a:buNone/>
            </a:pPr>
            <a:r>
              <a:rPr lang="en-US" b="1" dirty="0"/>
              <a:t>4. Performance Tests</a:t>
            </a:r>
          </a:p>
          <a:p>
            <a:r>
              <a:rPr lang="en-US" dirty="0"/>
              <a:t>Measure motor skills, coordination, speed, and problem-solving with objects.</a:t>
            </a:r>
            <a:br>
              <a:rPr lang="en-US" dirty="0"/>
            </a:br>
            <a:r>
              <a:rPr lang="en-US" dirty="0"/>
              <a:t>Example:</a:t>
            </a:r>
          </a:p>
          <a:p>
            <a:r>
              <a:rPr lang="en-US" dirty="0"/>
              <a:t>Koh’s block design test</a:t>
            </a:r>
          </a:p>
          <a:p>
            <a:r>
              <a:rPr lang="en-US" dirty="0" err="1"/>
              <a:t>Pintner</a:t>
            </a:r>
            <a:r>
              <a:rPr lang="en-US" dirty="0"/>
              <a:t>–Paterson Performance Scale</a:t>
            </a:r>
          </a:p>
          <a:p>
            <a:r>
              <a:rPr lang="en-US" dirty="0"/>
              <a:t>Useful for illiterate, hearing/speech-impaired individuals.</a:t>
            </a:r>
          </a:p>
          <a:p>
            <a:endParaRPr lang="en-IN" dirty="0"/>
          </a:p>
          <a:p>
            <a:pPr marL="0" indent="0">
              <a:buNone/>
            </a:pPr>
            <a:endParaRPr lang="en-US" dirty="0"/>
          </a:p>
        </p:txBody>
      </p:sp>
    </p:spTree>
    <p:extLst>
      <p:ext uri="{BB962C8B-B14F-4D97-AF65-F5344CB8AC3E}">
        <p14:creationId xmlns:p14="http://schemas.microsoft.com/office/powerpoint/2010/main" val="3667329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5299D-EDE1-FA75-511A-21F34854E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6E02FD-A031-BDBE-877B-5ABC7084AFEF}"/>
              </a:ext>
            </a:extLst>
          </p:cNvPr>
          <p:cNvSpPr>
            <a:spLocks noGrp="1"/>
          </p:cNvSpPr>
          <p:nvPr>
            <p:ph type="title"/>
          </p:nvPr>
        </p:nvSpPr>
        <p:spPr>
          <a:xfrm>
            <a:off x="742950" y="409575"/>
            <a:ext cx="10058400" cy="1371600"/>
          </a:xfrm>
        </p:spPr>
        <p:txBody>
          <a:bodyPr/>
          <a:lstStyle/>
          <a:p>
            <a:pPr fontAlgn="base"/>
            <a:r>
              <a:rPr lang="en-US" dirty="0"/>
              <a:t>Determinants of intelligence</a:t>
            </a:r>
            <a:endParaRPr lang="en-IN" dirty="0"/>
          </a:p>
        </p:txBody>
      </p:sp>
      <p:sp>
        <p:nvSpPr>
          <p:cNvPr id="3" name="Content Placeholder 2">
            <a:extLst>
              <a:ext uri="{FF2B5EF4-FFF2-40B4-BE49-F238E27FC236}">
                <a16:creationId xmlns:a16="http://schemas.microsoft.com/office/drawing/2014/main" id="{5B92BABB-1CD1-B07A-8FCB-61527F91C529}"/>
              </a:ext>
            </a:extLst>
          </p:cNvPr>
          <p:cNvSpPr>
            <a:spLocks noGrp="1"/>
          </p:cNvSpPr>
          <p:nvPr>
            <p:ph idx="1"/>
          </p:nvPr>
        </p:nvSpPr>
        <p:spPr>
          <a:xfrm>
            <a:off x="648929" y="2018378"/>
            <a:ext cx="10955242" cy="4430047"/>
          </a:xfrm>
        </p:spPr>
        <p:txBody>
          <a:bodyPr>
            <a:normAutofit/>
          </a:bodyPr>
          <a:lstStyle/>
          <a:p>
            <a:pPr marL="0" indent="0">
              <a:buNone/>
            </a:pPr>
            <a:r>
              <a:rPr lang="en-US" b="1" dirty="0"/>
              <a:t>1. Heredity (Genetic Factors)</a:t>
            </a:r>
          </a:p>
          <a:p>
            <a:r>
              <a:rPr lang="en-US" dirty="0"/>
              <a:t>Intelligence is partly inherited from parents through genes.</a:t>
            </a:r>
          </a:p>
          <a:p>
            <a:r>
              <a:rPr lang="en-US" dirty="0"/>
              <a:t>Twin studies show that identical twins have more similar IQs than fraternal twins.</a:t>
            </a:r>
          </a:p>
          <a:p>
            <a:r>
              <a:rPr lang="en-US" dirty="0"/>
              <a:t>Genetic factors set the </a:t>
            </a:r>
            <a:r>
              <a:rPr lang="en-US" b="1" dirty="0"/>
              <a:t>upper potential</a:t>
            </a:r>
            <a:r>
              <a:rPr lang="en-US" dirty="0"/>
              <a:t> for intelligence.</a:t>
            </a:r>
          </a:p>
          <a:p>
            <a:r>
              <a:rPr lang="en-US" dirty="0"/>
              <a:t>Certain hereditary traits like brain structure and neural efficiency influence IQ.</a:t>
            </a:r>
          </a:p>
          <a:p>
            <a:endParaRPr lang="en-IN" dirty="0"/>
          </a:p>
          <a:p>
            <a:pPr marL="0" indent="0">
              <a:buNone/>
            </a:pPr>
            <a:endParaRPr lang="en-US" dirty="0"/>
          </a:p>
        </p:txBody>
      </p:sp>
    </p:spTree>
    <p:extLst>
      <p:ext uri="{BB962C8B-B14F-4D97-AF65-F5344CB8AC3E}">
        <p14:creationId xmlns:p14="http://schemas.microsoft.com/office/powerpoint/2010/main" val="3728814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86745-0A94-0FB4-890A-75C876922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D4B265-87BF-3BAE-A8BE-3EF683E16465}"/>
              </a:ext>
            </a:extLst>
          </p:cNvPr>
          <p:cNvSpPr>
            <a:spLocks noGrp="1"/>
          </p:cNvSpPr>
          <p:nvPr>
            <p:ph type="title"/>
          </p:nvPr>
        </p:nvSpPr>
        <p:spPr>
          <a:xfrm>
            <a:off x="742950" y="409575"/>
            <a:ext cx="10058400" cy="1371600"/>
          </a:xfrm>
        </p:spPr>
        <p:txBody>
          <a:bodyPr/>
          <a:lstStyle/>
          <a:p>
            <a:pPr fontAlgn="base"/>
            <a:r>
              <a:rPr lang="en-US" dirty="0"/>
              <a:t>Determinants of intelligence</a:t>
            </a:r>
            <a:endParaRPr lang="en-IN" dirty="0"/>
          </a:p>
        </p:txBody>
      </p:sp>
      <p:sp>
        <p:nvSpPr>
          <p:cNvPr id="3" name="Content Placeholder 2">
            <a:extLst>
              <a:ext uri="{FF2B5EF4-FFF2-40B4-BE49-F238E27FC236}">
                <a16:creationId xmlns:a16="http://schemas.microsoft.com/office/drawing/2014/main" id="{F132FBAD-CE47-530E-CC48-180EE1DE7D53}"/>
              </a:ext>
            </a:extLst>
          </p:cNvPr>
          <p:cNvSpPr>
            <a:spLocks noGrp="1"/>
          </p:cNvSpPr>
          <p:nvPr>
            <p:ph idx="1"/>
          </p:nvPr>
        </p:nvSpPr>
        <p:spPr>
          <a:xfrm>
            <a:off x="2145100" y="1491343"/>
            <a:ext cx="7254100" cy="5159828"/>
          </a:xfrm>
        </p:spPr>
        <p:txBody>
          <a:bodyPr>
            <a:normAutofit fontScale="70000" lnSpcReduction="20000"/>
          </a:bodyPr>
          <a:lstStyle/>
          <a:p>
            <a:pPr marL="0" indent="0">
              <a:buNone/>
            </a:pPr>
            <a:r>
              <a:rPr lang="en-US" b="1" dirty="0"/>
              <a:t>2. Environment (Environmental Factors)</a:t>
            </a:r>
          </a:p>
          <a:p>
            <a:pPr marL="0" indent="0">
              <a:buNone/>
            </a:pPr>
            <a:r>
              <a:rPr lang="en-US" dirty="0"/>
              <a:t>Environment determines </a:t>
            </a:r>
            <a:r>
              <a:rPr lang="en-US" b="1" dirty="0"/>
              <a:t>how much of the genetic potential is realized</a:t>
            </a:r>
            <a:r>
              <a:rPr lang="en-US" dirty="0"/>
              <a:t>.</a:t>
            </a:r>
            <a:br>
              <a:rPr lang="en-US" dirty="0"/>
            </a:br>
            <a:r>
              <a:rPr lang="en-US" dirty="0"/>
              <a:t>Key environmental factors:</a:t>
            </a:r>
          </a:p>
          <a:p>
            <a:pPr marL="0" indent="0">
              <a:buNone/>
            </a:pPr>
            <a:r>
              <a:rPr lang="en-US" b="1" dirty="0"/>
              <a:t>a. Family Environment</a:t>
            </a:r>
          </a:p>
          <a:p>
            <a:r>
              <a:rPr lang="en-US" dirty="0"/>
              <a:t>Parental care, stimulation, conversation, and emotional support affect IQ.</a:t>
            </a:r>
          </a:p>
          <a:p>
            <a:pPr marL="0" indent="0">
              <a:buNone/>
            </a:pPr>
            <a:r>
              <a:rPr lang="en-US" b="1" dirty="0"/>
              <a:t>b. Education</a:t>
            </a:r>
          </a:p>
          <a:p>
            <a:r>
              <a:rPr lang="en-US" dirty="0"/>
              <a:t>Schooling enhances reasoning, problem-solving, and knowledge.</a:t>
            </a:r>
          </a:p>
          <a:p>
            <a:r>
              <a:rPr lang="en-US" dirty="0"/>
              <a:t>Lack of education can lower performance.</a:t>
            </a:r>
          </a:p>
          <a:p>
            <a:pPr marL="0" indent="0">
              <a:buNone/>
            </a:pPr>
            <a:r>
              <a:rPr lang="en-US" b="1" dirty="0"/>
              <a:t>c. Nutrition &amp; Health</a:t>
            </a:r>
          </a:p>
          <a:p>
            <a:r>
              <a:rPr lang="en-US" dirty="0"/>
              <a:t>Proper nutrition supports brain development.</a:t>
            </a:r>
          </a:p>
          <a:p>
            <a:r>
              <a:rPr lang="en-US" dirty="0"/>
              <a:t>Malnutrition or illness in childhood reduces cognitive ability.</a:t>
            </a:r>
          </a:p>
          <a:p>
            <a:pPr marL="0" indent="0">
              <a:buNone/>
            </a:pPr>
            <a:r>
              <a:rPr lang="en-US" b="1" dirty="0"/>
              <a:t>d. Socio-Economic Status (SES)</a:t>
            </a:r>
          </a:p>
          <a:p>
            <a:r>
              <a:rPr lang="en-US" dirty="0"/>
              <a:t>Better resources, books, learning materials, and stable homes increase IQ.</a:t>
            </a:r>
          </a:p>
          <a:p>
            <a:pPr marL="0" indent="0">
              <a:buNone/>
            </a:pPr>
            <a:r>
              <a:rPr lang="en-US" b="1" dirty="0"/>
              <a:t>e. Culture</a:t>
            </a:r>
          </a:p>
          <a:p>
            <a:r>
              <a:rPr lang="en-US" dirty="0"/>
              <a:t>Different cultures value different types of intelligence; this shapes cognitive skills.</a:t>
            </a:r>
          </a:p>
          <a:p>
            <a:pPr marL="0" indent="0">
              <a:buNone/>
            </a:pPr>
            <a:r>
              <a:rPr lang="en-US" b="1" dirty="0"/>
              <a:t>f. Peer Group &amp; Social Interaction</a:t>
            </a:r>
          </a:p>
          <a:p>
            <a:r>
              <a:rPr lang="en-US" dirty="0"/>
              <a:t>Interaction with friends improves communication and social intelligence.</a:t>
            </a:r>
          </a:p>
          <a:p>
            <a:pPr marL="0" indent="0">
              <a:buNone/>
            </a:pPr>
            <a:r>
              <a:rPr lang="en-US" b="1" dirty="0"/>
              <a:t>g. Training &amp; Practice</a:t>
            </a:r>
          </a:p>
          <a:p>
            <a:r>
              <a:rPr lang="en-US" dirty="0"/>
              <a:t>Mental exercises and enriched environments improve cognitive performance.</a:t>
            </a:r>
          </a:p>
          <a:p>
            <a:endParaRPr lang="en-IN" dirty="0"/>
          </a:p>
          <a:p>
            <a:pPr marL="0" indent="0">
              <a:buNone/>
            </a:pPr>
            <a:endParaRPr lang="en-US" dirty="0"/>
          </a:p>
        </p:txBody>
      </p:sp>
    </p:spTree>
    <p:extLst>
      <p:ext uri="{BB962C8B-B14F-4D97-AF65-F5344CB8AC3E}">
        <p14:creationId xmlns:p14="http://schemas.microsoft.com/office/powerpoint/2010/main" val="1131898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C027D-97A4-D6E7-8E86-D23AC5041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A21E1-1F0D-1552-D7C6-C263F6D49DA6}"/>
              </a:ext>
            </a:extLst>
          </p:cNvPr>
          <p:cNvSpPr>
            <a:spLocks noGrp="1"/>
          </p:cNvSpPr>
          <p:nvPr>
            <p:ph type="title"/>
          </p:nvPr>
        </p:nvSpPr>
        <p:spPr>
          <a:xfrm>
            <a:off x="742950" y="409575"/>
            <a:ext cx="10058400" cy="1371600"/>
          </a:xfrm>
        </p:spPr>
        <p:txBody>
          <a:bodyPr/>
          <a:lstStyle/>
          <a:p>
            <a:pPr fontAlgn="base"/>
            <a:r>
              <a:rPr lang="en-US" dirty="0"/>
              <a:t>Aptitude </a:t>
            </a:r>
            <a:endParaRPr lang="en-IN" dirty="0"/>
          </a:p>
        </p:txBody>
      </p:sp>
      <p:sp>
        <p:nvSpPr>
          <p:cNvPr id="3" name="Content Placeholder 2">
            <a:extLst>
              <a:ext uri="{FF2B5EF4-FFF2-40B4-BE49-F238E27FC236}">
                <a16:creationId xmlns:a16="http://schemas.microsoft.com/office/drawing/2014/main" id="{9ECD94A0-AA2A-4B5B-F985-EBFBCDA88422}"/>
              </a:ext>
            </a:extLst>
          </p:cNvPr>
          <p:cNvSpPr>
            <a:spLocks noGrp="1"/>
          </p:cNvSpPr>
          <p:nvPr>
            <p:ph idx="1"/>
          </p:nvPr>
        </p:nvSpPr>
        <p:spPr>
          <a:xfrm>
            <a:off x="742949" y="1491343"/>
            <a:ext cx="10893879" cy="5159828"/>
          </a:xfrm>
        </p:spPr>
        <p:txBody>
          <a:bodyPr>
            <a:normAutofit/>
          </a:bodyPr>
          <a:lstStyle/>
          <a:p>
            <a:r>
              <a:rPr lang="en-US" b="1" dirty="0"/>
              <a:t>Aptitude</a:t>
            </a:r>
            <a:r>
              <a:rPr lang="en-US" dirty="0"/>
              <a:t> is a person’s </a:t>
            </a:r>
            <a:r>
              <a:rPr lang="en-US" b="1" dirty="0"/>
              <a:t>natural ability or potential</a:t>
            </a:r>
            <a:r>
              <a:rPr lang="en-US" dirty="0"/>
              <a:t> to learn or develop skills in a particular area.</a:t>
            </a:r>
            <a:br>
              <a:rPr lang="en-US" dirty="0"/>
            </a:br>
            <a:r>
              <a:rPr lang="en-US" dirty="0"/>
              <a:t>It indicates how well someone can </a:t>
            </a:r>
            <a:r>
              <a:rPr lang="en-US" b="1" dirty="0"/>
              <a:t>perform or succeed</a:t>
            </a:r>
            <a:r>
              <a:rPr lang="en-US" dirty="0"/>
              <a:t> in a specific field with proper training.</a:t>
            </a:r>
          </a:p>
          <a:p>
            <a:r>
              <a:rPr lang="en-US" dirty="0"/>
              <a:t>In short: </a:t>
            </a:r>
            <a:r>
              <a:rPr lang="en-US" b="1" dirty="0"/>
              <a:t>Aptitude = Potential for learning and future performance.</a:t>
            </a:r>
            <a:endParaRPr lang="en-IN" b="1" dirty="0"/>
          </a:p>
          <a:p>
            <a:endParaRPr lang="en-US" dirty="0"/>
          </a:p>
        </p:txBody>
      </p:sp>
    </p:spTree>
    <p:extLst>
      <p:ext uri="{BB962C8B-B14F-4D97-AF65-F5344CB8AC3E}">
        <p14:creationId xmlns:p14="http://schemas.microsoft.com/office/powerpoint/2010/main" val="637720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B0FFB-EEEB-BD06-A6F1-FC53FA6BE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A75C1-9A46-978A-8040-3AF10B8FEAFC}"/>
              </a:ext>
            </a:extLst>
          </p:cNvPr>
          <p:cNvSpPr>
            <a:spLocks noGrp="1"/>
          </p:cNvSpPr>
          <p:nvPr>
            <p:ph type="title"/>
          </p:nvPr>
        </p:nvSpPr>
        <p:spPr>
          <a:xfrm>
            <a:off x="742950" y="409575"/>
            <a:ext cx="10058400" cy="1371600"/>
          </a:xfrm>
        </p:spPr>
        <p:txBody>
          <a:bodyPr/>
          <a:lstStyle/>
          <a:p>
            <a:pPr fontAlgn="base"/>
            <a:r>
              <a:rPr lang="en-US" dirty="0"/>
              <a:t>Aptitude </a:t>
            </a:r>
            <a:endParaRPr lang="en-IN" dirty="0"/>
          </a:p>
        </p:txBody>
      </p:sp>
      <p:sp>
        <p:nvSpPr>
          <p:cNvPr id="3" name="Content Placeholder 2">
            <a:extLst>
              <a:ext uri="{FF2B5EF4-FFF2-40B4-BE49-F238E27FC236}">
                <a16:creationId xmlns:a16="http://schemas.microsoft.com/office/drawing/2014/main" id="{2260B9FC-2E4B-175B-19A1-B12A4FF65F3F}"/>
              </a:ext>
            </a:extLst>
          </p:cNvPr>
          <p:cNvSpPr>
            <a:spLocks noGrp="1"/>
          </p:cNvSpPr>
          <p:nvPr>
            <p:ph idx="1"/>
          </p:nvPr>
        </p:nvSpPr>
        <p:spPr>
          <a:xfrm>
            <a:off x="2208439" y="1382486"/>
            <a:ext cx="7127422" cy="5159828"/>
          </a:xfrm>
        </p:spPr>
        <p:txBody>
          <a:bodyPr>
            <a:normAutofit fontScale="62500" lnSpcReduction="20000"/>
          </a:bodyPr>
          <a:lstStyle/>
          <a:p>
            <a:pPr marL="0" indent="0">
              <a:buNone/>
            </a:pPr>
            <a:r>
              <a:rPr lang="en-US" b="1" dirty="0"/>
              <a:t>Types of Aptitude</a:t>
            </a:r>
          </a:p>
          <a:p>
            <a:pPr marL="0" indent="0">
              <a:buNone/>
            </a:pPr>
            <a:r>
              <a:rPr lang="en-US" b="1" dirty="0"/>
              <a:t>1. Mechanical Aptitude</a:t>
            </a:r>
          </a:p>
          <a:p>
            <a:r>
              <a:rPr lang="en-US" dirty="0"/>
              <a:t>Ability to understand mechanical relationships, tools, machines, and physical principles.</a:t>
            </a:r>
          </a:p>
          <a:p>
            <a:pPr marL="0" indent="0">
              <a:buNone/>
            </a:pPr>
            <a:r>
              <a:rPr lang="en-US" b="1" dirty="0"/>
              <a:t>2. Numerical Aptitude</a:t>
            </a:r>
          </a:p>
          <a:p>
            <a:r>
              <a:rPr lang="en-US" dirty="0"/>
              <a:t>Ability to work with numbers, calculations, and mathematical reasoning.</a:t>
            </a:r>
          </a:p>
          <a:p>
            <a:pPr marL="0" indent="0">
              <a:buNone/>
            </a:pPr>
            <a:r>
              <a:rPr lang="en-US" b="1" dirty="0"/>
              <a:t>3. Verbal Aptitude</a:t>
            </a:r>
          </a:p>
          <a:p>
            <a:r>
              <a:rPr lang="en-US" dirty="0"/>
              <a:t>Ability to understand and use language, vocabulary, reading, and communication.</a:t>
            </a:r>
          </a:p>
          <a:p>
            <a:pPr marL="0" indent="0">
              <a:buNone/>
            </a:pPr>
            <a:r>
              <a:rPr lang="en-US" b="1" dirty="0"/>
              <a:t>4. Spatial Aptitude</a:t>
            </a:r>
          </a:p>
          <a:p>
            <a:r>
              <a:rPr lang="en-US" dirty="0"/>
              <a:t>Ability to visualize shapes, designs, patterns, and mentally rotate objects.</a:t>
            </a:r>
          </a:p>
          <a:p>
            <a:pPr marL="0" indent="0">
              <a:buNone/>
            </a:pPr>
            <a:r>
              <a:rPr lang="en-US" b="1" dirty="0"/>
              <a:t>5. Clerical Aptitude</a:t>
            </a:r>
          </a:p>
          <a:p>
            <a:r>
              <a:rPr lang="en-US" dirty="0"/>
              <a:t>Ability for office-related tasks: accuracy, speed, attention to detail.</a:t>
            </a:r>
          </a:p>
          <a:p>
            <a:pPr marL="0" indent="0">
              <a:buNone/>
            </a:pPr>
            <a:r>
              <a:rPr lang="en-US" b="1" dirty="0"/>
              <a:t>6. Artistic Aptitude</a:t>
            </a:r>
          </a:p>
          <a:p>
            <a:r>
              <a:rPr lang="en-US" dirty="0"/>
              <a:t>Creative ability in art, music, dance, and other creative fields.</a:t>
            </a:r>
          </a:p>
          <a:p>
            <a:pPr marL="0" indent="0">
              <a:buNone/>
            </a:pPr>
            <a:r>
              <a:rPr lang="en-US" b="1" dirty="0"/>
              <a:t>7. Social Aptitude</a:t>
            </a:r>
          </a:p>
          <a:p>
            <a:r>
              <a:rPr lang="en-US" dirty="0"/>
              <a:t>Ability to interact with people, understand emotions, and work effectively in groups.</a:t>
            </a:r>
          </a:p>
          <a:p>
            <a:pPr marL="0" indent="0">
              <a:buNone/>
            </a:pPr>
            <a:r>
              <a:rPr lang="en-US" b="1" dirty="0"/>
              <a:t>8. Scientific Aptitude</a:t>
            </a:r>
          </a:p>
          <a:p>
            <a:r>
              <a:rPr lang="en-US" dirty="0"/>
              <a:t>Ability to understand scientific concepts, experiments, and analytical thinking.</a:t>
            </a:r>
          </a:p>
          <a:p>
            <a:pPr marL="0" indent="0">
              <a:buNone/>
            </a:pPr>
            <a:r>
              <a:rPr lang="en-US" b="1" dirty="0"/>
              <a:t>9. Teaching Aptitude</a:t>
            </a:r>
          </a:p>
          <a:p>
            <a:r>
              <a:rPr lang="en-US" dirty="0"/>
              <a:t>Ability to explain clearly, guide others, and understand learner needs.</a:t>
            </a:r>
          </a:p>
          <a:p>
            <a:endParaRPr lang="en-US" dirty="0"/>
          </a:p>
        </p:txBody>
      </p:sp>
    </p:spTree>
    <p:extLst>
      <p:ext uri="{BB962C8B-B14F-4D97-AF65-F5344CB8AC3E}">
        <p14:creationId xmlns:p14="http://schemas.microsoft.com/office/powerpoint/2010/main" val="31023069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40</TotalTime>
  <Words>4396</Words>
  <Application>Microsoft Office PowerPoint</Application>
  <PresentationFormat>Widescreen</PresentationFormat>
  <Paragraphs>294</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Cambria Math</vt:lpstr>
      <vt:lpstr>Century Gothic</vt:lpstr>
      <vt:lpstr>Garamond</vt:lpstr>
      <vt:lpstr>Wingdings</vt:lpstr>
      <vt:lpstr>Savon</vt:lpstr>
      <vt:lpstr>Learning, memory and intelligence  unit-3</vt:lpstr>
      <vt:lpstr>PowerPoint Presentation</vt:lpstr>
      <vt:lpstr>Classical conditioning</vt:lpstr>
      <vt:lpstr>Classical conditioning</vt:lpstr>
      <vt:lpstr>Classical conditioning</vt:lpstr>
      <vt:lpstr>Classical conditioning</vt:lpstr>
      <vt:lpstr>Classical conditioning</vt:lpstr>
      <vt:lpstr>Classical conditioning</vt:lpstr>
      <vt:lpstr>Operant conditioning</vt:lpstr>
      <vt:lpstr>Operant conditioning</vt:lpstr>
      <vt:lpstr>Operant conditioning</vt:lpstr>
      <vt:lpstr>Operant conditioning</vt:lpstr>
      <vt:lpstr>Laws of learning</vt:lpstr>
      <vt:lpstr>Laws of learning</vt:lpstr>
      <vt:lpstr>Laws of learning</vt:lpstr>
      <vt:lpstr>Memory </vt:lpstr>
      <vt:lpstr>Memory </vt:lpstr>
      <vt:lpstr>Types of long term Memory </vt:lpstr>
      <vt:lpstr>Meanings of Different Terms</vt:lpstr>
      <vt:lpstr>Forgetting </vt:lpstr>
      <vt:lpstr>How to improve memory? </vt:lpstr>
      <vt:lpstr>Intelligence </vt:lpstr>
      <vt:lpstr>Theories of Intelligence </vt:lpstr>
      <vt:lpstr>Theories of Intelligence </vt:lpstr>
      <vt:lpstr>Theories of Intelligence </vt:lpstr>
      <vt:lpstr>Measurement of intelligence</vt:lpstr>
      <vt:lpstr>Measurement of intelligence</vt:lpstr>
      <vt:lpstr>Measurement of intelligence</vt:lpstr>
      <vt:lpstr>Determinants of intelligence</vt:lpstr>
      <vt:lpstr>Determinants of intelligence</vt:lpstr>
      <vt:lpstr>Aptitude </vt:lpstr>
      <vt:lpstr>Aptitude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2</cp:revision>
  <dcterms:created xsi:type="dcterms:W3CDTF">2025-11-20T12:42:28Z</dcterms:created>
  <dcterms:modified xsi:type="dcterms:W3CDTF">2025-11-20T14:10:34Z</dcterms:modified>
</cp:coreProperties>
</file>