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7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53" r:id="rId97"/>
    <p:sldId id="354" r:id="rId98"/>
    <p:sldId id="355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63A47-E6EB-4D69-86F7-6214F7A3F7F7}" v="64" dt="2026-01-20T16:03:51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94660"/>
  </p:normalViewPr>
  <p:slideViewPr>
    <p:cSldViewPr snapToGrid="0">
      <p:cViewPr>
        <p:scale>
          <a:sx n="50" d="100"/>
          <a:sy n="50" d="100"/>
        </p:scale>
        <p:origin x="1603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115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Chandana Senthil Rajan" userId="38c954434994de9c" providerId="LiveId" clId="{696F34CC-6EE7-4A50-8F69-D56517EF5C3C}"/>
    <pc:docChg chg="undo custSel addSld delSld modSld sldOrd">
      <pc:chgData name="Madhu Chandana Senthil Rajan" userId="38c954434994de9c" providerId="LiveId" clId="{696F34CC-6EE7-4A50-8F69-D56517EF5C3C}" dt="2026-01-20T16:03:53.995" v="591" actId="5793"/>
      <pc:docMkLst>
        <pc:docMk/>
      </pc:docMkLst>
      <pc:sldChg chg="addSp delSp modSp del mod">
        <pc:chgData name="Madhu Chandana Senthil Rajan" userId="38c954434994de9c" providerId="LiveId" clId="{696F34CC-6EE7-4A50-8F69-D56517EF5C3C}" dt="2026-01-20T13:40:29.328" v="14" actId="2696"/>
        <pc:sldMkLst>
          <pc:docMk/>
          <pc:sldMk cId="1011964692" sldId="313"/>
        </pc:sldMkLst>
        <pc:spChg chg="del mod">
          <ac:chgData name="Madhu Chandana Senthil Rajan" userId="38c954434994de9c" providerId="LiveId" clId="{696F34CC-6EE7-4A50-8F69-D56517EF5C3C}" dt="2026-01-20T13:40:04.555" v="7" actId="478"/>
          <ac:spMkLst>
            <pc:docMk/>
            <pc:sldMk cId="1011964692" sldId="313"/>
            <ac:spMk id="5" creationId="{55B92452-C554-0C48-BAFA-19C7C7029DF1}"/>
          </ac:spMkLst>
        </pc:spChg>
        <pc:spChg chg="mod">
          <ac:chgData name="Madhu Chandana Senthil Rajan" userId="38c954434994de9c" providerId="LiveId" clId="{696F34CC-6EE7-4A50-8F69-D56517EF5C3C}" dt="2026-01-20T13:39:58.909" v="4" actId="1076"/>
          <ac:spMkLst>
            <pc:docMk/>
            <pc:sldMk cId="1011964692" sldId="313"/>
            <ac:spMk id="6" creationId="{02F872E4-1EAD-94BC-201A-AB89916C25FF}"/>
          </ac:spMkLst>
        </pc:spChg>
        <pc:spChg chg="add del mod">
          <ac:chgData name="Madhu Chandana Senthil Rajan" userId="38c954434994de9c" providerId="LiveId" clId="{696F34CC-6EE7-4A50-8F69-D56517EF5C3C}" dt="2026-01-20T13:39:39.638" v="1" actId="478"/>
          <ac:spMkLst>
            <pc:docMk/>
            <pc:sldMk cId="1011964692" sldId="313"/>
            <ac:spMk id="7" creationId="{46A10BB1-D5AF-9242-E085-15EDBB468BEE}"/>
          </ac:spMkLst>
        </pc:spChg>
      </pc:sldChg>
      <pc:sldChg chg="modSp add mod">
        <pc:chgData name="Madhu Chandana Senthil Rajan" userId="38c954434994de9c" providerId="LiveId" clId="{696F34CC-6EE7-4A50-8F69-D56517EF5C3C}" dt="2026-01-20T13:40:20.700" v="13" actId="5793"/>
        <pc:sldMkLst>
          <pc:docMk/>
          <pc:sldMk cId="2242230871" sldId="314"/>
        </pc:sldMkLst>
        <pc:spChg chg="mod">
          <ac:chgData name="Madhu Chandana Senthil Rajan" userId="38c954434994de9c" providerId="LiveId" clId="{696F34CC-6EE7-4A50-8F69-D56517EF5C3C}" dt="2026-01-20T13:40:20.700" v="13" actId="5793"/>
          <ac:spMkLst>
            <pc:docMk/>
            <pc:sldMk cId="2242230871" sldId="314"/>
            <ac:spMk id="3" creationId="{CAD8DBA8-8845-0674-BC44-7AE643DBD723}"/>
          </ac:spMkLst>
        </pc:spChg>
      </pc:sldChg>
      <pc:sldChg chg="modSp add mod">
        <pc:chgData name="Madhu Chandana Senthil Rajan" userId="38c954434994de9c" providerId="LiveId" clId="{696F34CC-6EE7-4A50-8F69-D56517EF5C3C}" dt="2026-01-20T13:40:53.106" v="20" actId="5793"/>
        <pc:sldMkLst>
          <pc:docMk/>
          <pc:sldMk cId="3146496103" sldId="315"/>
        </pc:sldMkLst>
        <pc:spChg chg="mod">
          <ac:chgData name="Madhu Chandana Senthil Rajan" userId="38c954434994de9c" providerId="LiveId" clId="{696F34CC-6EE7-4A50-8F69-D56517EF5C3C}" dt="2026-01-20T13:40:53.106" v="20" actId="5793"/>
          <ac:spMkLst>
            <pc:docMk/>
            <pc:sldMk cId="3146496103" sldId="315"/>
            <ac:spMk id="3" creationId="{C79156DA-36B4-5F28-77CB-E8F94DED57A7}"/>
          </ac:spMkLst>
        </pc:spChg>
      </pc:sldChg>
      <pc:sldChg chg="modSp add mod">
        <pc:chgData name="Madhu Chandana Senthil Rajan" userId="38c954434994de9c" providerId="LiveId" clId="{696F34CC-6EE7-4A50-8F69-D56517EF5C3C}" dt="2026-01-20T13:41:23.674" v="26" actId="5793"/>
        <pc:sldMkLst>
          <pc:docMk/>
          <pc:sldMk cId="1103435435" sldId="316"/>
        </pc:sldMkLst>
        <pc:spChg chg="mod">
          <ac:chgData name="Madhu Chandana Senthil Rajan" userId="38c954434994de9c" providerId="LiveId" clId="{696F34CC-6EE7-4A50-8F69-D56517EF5C3C}" dt="2026-01-20T13:41:23.674" v="26" actId="5793"/>
          <ac:spMkLst>
            <pc:docMk/>
            <pc:sldMk cId="1103435435" sldId="316"/>
            <ac:spMk id="3" creationId="{35B415D2-D057-6376-19A7-C1D00C64D9E5}"/>
          </ac:spMkLst>
        </pc:spChg>
      </pc:sldChg>
      <pc:sldChg chg="modSp add mod">
        <pc:chgData name="Madhu Chandana Senthil Rajan" userId="38c954434994de9c" providerId="LiveId" clId="{696F34CC-6EE7-4A50-8F69-D56517EF5C3C}" dt="2026-01-20T13:42:01.987" v="33" actId="5793"/>
        <pc:sldMkLst>
          <pc:docMk/>
          <pc:sldMk cId="1033335017" sldId="317"/>
        </pc:sldMkLst>
        <pc:spChg chg="mod">
          <ac:chgData name="Madhu Chandana Senthil Rajan" userId="38c954434994de9c" providerId="LiveId" clId="{696F34CC-6EE7-4A50-8F69-D56517EF5C3C}" dt="2026-01-20T13:42:01.987" v="33" actId="5793"/>
          <ac:spMkLst>
            <pc:docMk/>
            <pc:sldMk cId="1033335017" sldId="317"/>
            <ac:spMk id="3" creationId="{3F4E0B83-DF05-BA11-AB5A-41164EF8A72C}"/>
          </ac:spMkLst>
        </pc:spChg>
      </pc:sldChg>
      <pc:sldChg chg="modSp add mod">
        <pc:chgData name="Madhu Chandana Senthil Rajan" userId="38c954434994de9c" providerId="LiveId" clId="{696F34CC-6EE7-4A50-8F69-D56517EF5C3C}" dt="2026-01-20T13:42:28.966" v="39" actId="5793"/>
        <pc:sldMkLst>
          <pc:docMk/>
          <pc:sldMk cId="1450930688" sldId="318"/>
        </pc:sldMkLst>
        <pc:spChg chg="mod">
          <ac:chgData name="Madhu Chandana Senthil Rajan" userId="38c954434994de9c" providerId="LiveId" clId="{696F34CC-6EE7-4A50-8F69-D56517EF5C3C}" dt="2026-01-20T13:42:28.966" v="39" actId="5793"/>
          <ac:spMkLst>
            <pc:docMk/>
            <pc:sldMk cId="1450930688" sldId="318"/>
            <ac:spMk id="3" creationId="{6DF43358-949E-FAFD-1145-5EB7ACCE8609}"/>
          </ac:spMkLst>
        </pc:spChg>
      </pc:sldChg>
      <pc:sldChg chg="modSp add mod">
        <pc:chgData name="Madhu Chandana Senthil Rajan" userId="38c954434994de9c" providerId="LiveId" clId="{696F34CC-6EE7-4A50-8F69-D56517EF5C3C}" dt="2026-01-20T13:43:02.161" v="45" actId="5793"/>
        <pc:sldMkLst>
          <pc:docMk/>
          <pc:sldMk cId="4168787314" sldId="319"/>
        </pc:sldMkLst>
        <pc:spChg chg="mod">
          <ac:chgData name="Madhu Chandana Senthil Rajan" userId="38c954434994de9c" providerId="LiveId" clId="{696F34CC-6EE7-4A50-8F69-D56517EF5C3C}" dt="2026-01-20T13:43:02.161" v="45" actId="5793"/>
          <ac:spMkLst>
            <pc:docMk/>
            <pc:sldMk cId="4168787314" sldId="319"/>
            <ac:spMk id="3" creationId="{6BC9E07B-E774-4DA9-C3AA-FA041F96BE58}"/>
          </ac:spMkLst>
        </pc:spChg>
      </pc:sldChg>
      <pc:sldChg chg="modSp add mod">
        <pc:chgData name="Madhu Chandana Senthil Rajan" userId="38c954434994de9c" providerId="LiveId" clId="{696F34CC-6EE7-4A50-8F69-D56517EF5C3C}" dt="2026-01-20T13:43:25.366" v="50" actId="5793"/>
        <pc:sldMkLst>
          <pc:docMk/>
          <pc:sldMk cId="313782045" sldId="320"/>
        </pc:sldMkLst>
        <pc:spChg chg="mod">
          <ac:chgData name="Madhu Chandana Senthil Rajan" userId="38c954434994de9c" providerId="LiveId" clId="{696F34CC-6EE7-4A50-8F69-D56517EF5C3C}" dt="2026-01-20T13:43:25.366" v="50" actId="5793"/>
          <ac:spMkLst>
            <pc:docMk/>
            <pc:sldMk cId="313782045" sldId="320"/>
            <ac:spMk id="3" creationId="{B04AC0C6-8B14-857C-401A-5FFA74BA9F33}"/>
          </ac:spMkLst>
        </pc:spChg>
      </pc:sldChg>
      <pc:sldChg chg="modSp add mod">
        <pc:chgData name="Madhu Chandana Senthil Rajan" userId="38c954434994de9c" providerId="LiveId" clId="{696F34CC-6EE7-4A50-8F69-D56517EF5C3C}" dt="2026-01-20T13:43:51.630" v="59" actId="5793"/>
        <pc:sldMkLst>
          <pc:docMk/>
          <pc:sldMk cId="1155945340" sldId="321"/>
        </pc:sldMkLst>
        <pc:spChg chg="mod">
          <ac:chgData name="Madhu Chandana Senthil Rajan" userId="38c954434994de9c" providerId="LiveId" clId="{696F34CC-6EE7-4A50-8F69-D56517EF5C3C}" dt="2026-01-20T13:43:51.630" v="59" actId="5793"/>
          <ac:spMkLst>
            <pc:docMk/>
            <pc:sldMk cId="1155945340" sldId="321"/>
            <ac:spMk id="3" creationId="{EA08402B-575E-73F1-1B29-960E6DBD87BE}"/>
          </ac:spMkLst>
        </pc:spChg>
      </pc:sldChg>
      <pc:sldChg chg="modSp add mod">
        <pc:chgData name="Madhu Chandana Senthil Rajan" userId="38c954434994de9c" providerId="LiveId" clId="{696F34CC-6EE7-4A50-8F69-D56517EF5C3C}" dt="2026-01-20T13:44:14.120" v="65" actId="5793"/>
        <pc:sldMkLst>
          <pc:docMk/>
          <pc:sldMk cId="1765869203" sldId="322"/>
        </pc:sldMkLst>
        <pc:spChg chg="mod">
          <ac:chgData name="Madhu Chandana Senthil Rajan" userId="38c954434994de9c" providerId="LiveId" clId="{696F34CC-6EE7-4A50-8F69-D56517EF5C3C}" dt="2026-01-20T13:44:14.120" v="65" actId="5793"/>
          <ac:spMkLst>
            <pc:docMk/>
            <pc:sldMk cId="1765869203" sldId="322"/>
            <ac:spMk id="3" creationId="{D0B00B06-4B64-7D65-01F9-98FA23A05989}"/>
          </ac:spMkLst>
        </pc:spChg>
      </pc:sldChg>
      <pc:sldChg chg="modSp add mod">
        <pc:chgData name="Madhu Chandana Senthil Rajan" userId="38c954434994de9c" providerId="LiveId" clId="{696F34CC-6EE7-4A50-8F69-D56517EF5C3C}" dt="2026-01-20T13:44:37.214" v="70" actId="5793"/>
        <pc:sldMkLst>
          <pc:docMk/>
          <pc:sldMk cId="3554774365" sldId="323"/>
        </pc:sldMkLst>
        <pc:spChg chg="mod">
          <ac:chgData name="Madhu Chandana Senthil Rajan" userId="38c954434994de9c" providerId="LiveId" clId="{696F34CC-6EE7-4A50-8F69-D56517EF5C3C}" dt="2026-01-20T13:44:37.214" v="70" actId="5793"/>
          <ac:spMkLst>
            <pc:docMk/>
            <pc:sldMk cId="3554774365" sldId="323"/>
            <ac:spMk id="3" creationId="{5FB0D6DE-1BED-5AC0-061A-F5481C3939B4}"/>
          </ac:spMkLst>
        </pc:spChg>
      </pc:sldChg>
      <pc:sldChg chg="modSp new mod">
        <pc:chgData name="Madhu Chandana Senthil Rajan" userId="38c954434994de9c" providerId="LiveId" clId="{696F34CC-6EE7-4A50-8F69-D56517EF5C3C}" dt="2026-01-20T15:39:39.808" v="186" actId="5793"/>
        <pc:sldMkLst>
          <pc:docMk/>
          <pc:sldMk cId="2700730943" sldId="324"/>
        </pc:sldMkLst>
        <pc:spChg chg="mod">
          <ac:chgData name="Madhu Chandana Senthil Rajan" userId="38c954434994de9c" providerId="LiveId" clId="{696F34CC-6EE7-4A50-8F69-D56517EF5C3C}" dt="2026-01-20T15:39:00.841" v="183" actId="20577"/>
          <ac:spMkLst>
            <pc:docMk/>
            <pc:sldMk cId="2700730943" sldId="324"/>
            <ac:spMk id="2" creationId="{F4BA49B6-0E87-646A-BE20-0D25D92CD2DE}"/>
          </ac:spMkLst>
        </pc:spChg>
        <pc:spChg chg="mod">
          <ac:chgData name="Madhu Chandana Senthil Rajan" userId="38c954434994de9c" providerId="LiveId" clId="{696F34CC-6EE7-4A50-8F69-D56517EF5C3C}" dt="2026-01-20T15:39:39.808" v="186" actId="5793"/>
          <ac:spMkLst>
            <pc:docMk/>
            <pc:sldMk cId="2700730943" sldId="324"/>
            <ac:spMk id="3" creationId="{37CB0480-EB80-3EFB-A58A-5A2C78B4F23D}"/>
          </ac:spMkLst>
        </pc:spChg>
      </pc:sldChg>
      <pc:sldChg chg="modSp add mod">
        <pc:chgData name="Madhu Chandana Senthil Rajan" userId="38c954434994de9c" providerId="LiveId" clId="{696F34CC-6EE7-4A50-8F69-D56517EF5C3C}" dt="2026-01-20T15:40:07.822" v="191" actId="5793"/>
        <pc:sldMkLst>
          <pc:docMk/>
          <pc:sldMk cId="2843693638" sldId="325"/>
        </pc:sldMkLst>
        <pc:spChg chg="mod">
          <ac:chgData name="Madhu Chandana Senthil Rajan" userId="38c954434994de9c" providerId="LiveId" clId="{696F34CC-6EE7-4A50-8F69-D56517EF5C3C}" dt="2026-01-20T15:40:07.822" v="191" actId="5793"/>
          <ac:spMkLst>
            <pc:docMk/>
            <pc:sldMk cId="2843693638" sldId="325"/>
            <ac:spMk id="3" creationId="{94EF5462-1884-1877-1C34-B85F064717D6}"/>
          </ac:spMkLst>
        </pc:spChg>
      </pc:sldChg>
      <pc:sldChg chg="modSp add mod">
        <pc:chgData name="Madhu Chandana Senthil Rajan" userId="38c954434994de9c" providerId="LiveId" clId="{696F34CC-6EE7-4A50-8F69-D56517EF5C3C}" dt="2026-01-20T15:40:40.102" v="195" actId="5793"/>
        <pc:sldMkLst>
          <pc:docMk/>
          <pc:sldMk cId="2222130530" sldId="326"/>
        </pc:sldMkLst>
        <pc:spChg chg="mod">
          <ac:chgData name="Madhu Chandana Senthil Rajan" userId="38c954434994de9c" providerId="LiveId" clId="{696F34CC-6EE7-4A50-8F69-D56517EF5C3C}" dt="2026-01-20T15:40:40.102" v="195" actId="5793"/>
          <ac:spMkLst>
            <pc:docMk/>
            <pc:sldMk cId="2222130530" sldId="326"/>
            <ac:spMk id="3" creationId="{FB5211E6-BEAC-9102-7749-AAC610DFEA91}"/>
          </ac:spMkLst>
        </pc:spChg>
      </pc:sldChg>
      <pc:sldChg chg="modSp add mod">
        <pc:chgData name="Madhu Chandana Senthil Rajan" userId="38c954434994de9c" providerId="LiveId" clId="{696F34CC-6EE7-4A50-8F69-D56517EF5C3C}" dt="2026-01-20T15:40:55.353" v="198" actId="5793"/>
        <pc:sldMkLst>
          <pc:docMk/>
          <pc:sldMk cId="678659307" sldId="327"/>
        </pc:sldMkLst>
        <pc:spChg chg="mod">
          <ac:chgData name="Madhu Chandana Senthil Rajan" userId="38c954434994de9c" providerId="LiveId" clId="{696F34CC-6EE7-4A50-8F69-D56517EF5C3C}" dt="2026-01-20T15:40:55.353" v="198" actId="5793"/>
          <ac:spMkLst>
            <pc:docMk/>
            <pc:sldMk cId="678659307" sldId="327"/>
            <ac:spMk id="3" creationId="{E0904AB2-3EE6-BD22-ADAA-EC71510664B2}"/>
          </ac:spMkLst>
        </pc:spChg>
      </pc:sldChg>
      <pc:sldChg chg="modSp add mod">
        <pc:chgData name="Madhu Chandana Senthil Rajan" userId="38c954434994de9c" providerId="LiveId" clId="{696F34CC-6EE7-4A50-8F69-D56517EF5C3C}" dt="2026-01-20T15:41:10.465" v="201" actId="5793"/>
        <pc:sldMkLst>
          <pc:docMk/>
          <pc:sldMk cId="467759980" sldId="328"/>
        </pc:sldMkLst>
        <pc:spChg chg="mod">
          <ac:chgData name="Madhu Chandana Senthil Rajan" userId="38c954434994de9c" providerId="LiveId" clId="{696F34CC-6EE7-4A50-8F69-D56517EF5C3C}" dt="2026-01-20T15:41:10.465" v="201" actId="5793"/>
          <ac:spMkLst>
            <pc:docMk/>
            <pc:sldMk cId="467759980" sldId="328"/>
            <ac:spMk id="3" creationId="{96C42D6C-FBCC-6D30-3124-BF20C3AB7C66}"/>
          </ac:spMkLst>
        </pc:spChg>
      </pc:sldChg>
      <pc:sldChg chg="modSp add mod">
        <pc:chgData name="Madhu Chandana Senthil Rajan" userId="38c954434994de9c" providerId="LiveId" clId="{696F34CC-6EE7-4A50-8F69-D56517EF5C3C}" dt="2026-01-20T15:41:45.994" v="211" actId="27636"/>
        <pc:sldMkLst>
          <pc:docMk/>
          <pc:sldMk cId="2698208409" sldId="329"/>
        </pc:sldMkLst>
        <pc:spChg chg="mod">
          <ac:chgData name="Madhu Chandana Senthil Rajan" userId="38c954434994de9c" providerId="LiveId" clId="{696F34CC-6EE7-4A50-8F69-D56517EF5C3C}" dt="2026-01-20T15:41:45.994" v="211" actId="27636"/>
          <ac:spMkLst>
            <pc:docMk/>
            <pc:sldMk cId="2698208409" sldId="329"/>
            <ac:spMk id="3" creationId="{07D8B9C8-C507-1C96-1592-53B0B02798BD}"/>
          </ac:spMkLst>
        </pc:spChg>
      </pc:sldChg>
      <pc:sldChg chg="modSp add mod">
        <pc:chgData name="Madhu Chandana Senthil Rajan" userId="38c954434994de9c" providerId="LiveId" clId="{696F34CC-6EE7-4A50-8F69-D56517EF5C3C}" dt="2026-01-20T15:42:13.733" v="215" actId="5793"/>
        <pc:sldMkLst>
          <pc:docMk/>
          <pc:sldMk cId="4203645300" sldId="330"/>
        </pc:sldMkLst>
        <pc:spChg chg="mod">
          <ac:chgData name="Madhu Chandana Senthil Rajan" userId="38c954434994de9c" providerId="LiveId" clId="{696F34CC-6EE7-4A50-8F69-D56517EF5C3C}" dt="2026-01-20T15:42:13.733" v="215" actId="5793"/>
          <ac:spMkLst>
            <pc:docMk/>
            <pc:sldMk cId="4203645300" sldId="330"/>
            <ac:spMk id="3" creationId="{A18860D1-E9BB-6BD9-5BE1-E63D3B48081B}"/>
          </ac:spMkLst>
        </pc:spChg>
      </pc:sldChg>
      <pc:sldChg chg="modSp add mod">
        <pc:chgData name="Madhu Chandana Senthil Rajan" userId="38c954434994de9c" providerId="LiveId" clId="{696F34CC-6EE7-4A50-8F69-D56517EF5C3C}" dt="2026-01-20T15:42:24.558" v="219" actId="5793"/>
        <pc:sldMkLst>
          <pc:docMk/>
          <pc:sldMk cId="1765957531" sldId="331"/>
        </pc:sldMkLst>
        <pc:spChg chg="mod">
          <ac:chgData name="Madhu Chandana Senthil Rajan" userId="38c954434994de9c" providerId="LiveId" clId="{696F34CC-6EE7-4A50-8F69-D56517EF5C3C}" dt="2026-01-20T15:42:24.558" v="219" actId="5793"/>
          <ac:spMkLst>
            <pc:docMk/>
            <pc:sldMk cId="1765957531" sldId="331"/>
            <ac:spMk id="3" creationId="{27666F92-F654-09A1-18AA-A48E9EBB3BB6}"/>
          </ac:spMkLst>
        </pc:spChg>
      </pc:sldChg>
      <pc:sldChg chg="modSp add mod">
        <pc:chgData name="Madhu Chandana Senthil Rajan" userId="38c954434994de9c" providerId="LiveId" clId="{696F34CC-6EE7-4A50-8F69-D56517EF5C3C}" dt="2026-01-20T15:42:54.748" v="225" actId="5793"/>
        <pc:sldMkLst>
          <pc:docMk/>
          <pc:sldMk cId="1018137715" sldId="332"/>
        </pc:sldMkLst>
        <pc:spChg chg="mod">
          <ac:chgData name="Madhu Chandana Senthil Rajan" userId="38c954434994de9c" providerId="LiveId" clId="{696F34CC-6EE7-4A50-8F69-D56517EF5C3C}" dt="2026-01-20T15:42:54.748" v="225" actId="5793"/>
          <ac:spMkLst>
            <pc:docMk/>
            <pc:sldMk cId="1018137715" sldId="332"/>
            <ac:spMk id="3" creationId="{D73F4B35-4A9A-68A1-0C5A-237EB24D6947}"/>
          </ac:spMkLst>
        </pc:spChg>
      </pc:sldChg>
      <pc:sldChg chg="modSp add mod">
        <pc:chgData name="Madhu Chandana Senthil Rajan" userId="38c954434994de9c" providerId="LiveId" clId="{696F34CC-6EE7-4A50-8F69-D56517EF5C3C}" dt="2026-01-20T15:43:26.949" v="233" actId="5793"/>
        <pc:sldMkLst>
          <pc:docMk/>
          <pc:sldMk cId="625909235" sldId="333"/>
        </pc:sldMkLst>
        <pc:spChg chg="mod">
          <ac:chgData name="Madhu Chandana Senthil Rajan" userId="38c954434994de9c" providerId="LiveId" clId="{696F34CC-6EE7-4A50-8F69-D56517EF5C3C}" dt="2026-01-20T15:43:26.949" v="233" actId="5793"/>
          <ac:spMkLst>
            <pc:docMk/>
            <pc:sldMk cId="625909235" sldId="333"/>
            <ac:spMk id="3" creationId="{7CAB185D-71B4-DFB4-2E44-52B41671CC29}"/>
          </ac:spMkLst>
        </pc:spChg>
      </pc:sldChg>
      <pc:sldChg chg="modSp add mod">
        <pc:chgData name="Madhu Chandana Senthil Rajan" userId="38c954434994de9c" providerId="LiveId" clId="{696F34CC-6EE7-4A50-8F69-D56517EF5C3C}" dt="2026-01-20T15:43:58.197" v="242" actId="5793"/>
        <pc:sldMkLst>
          <pc:docMk/>
          <pc:sldMk cId="3460384767" sldId="334"/>
        </pc:sldMkLst>
        <pc:spChg chg="mod">
          <ac:chgData name="Madhu Chandana Senthil Rajan" userId="38c954434994de9c" providerId="LiveId" clId="{696F34CC-6EE7-4A50-8F69-D56517EF5C3C}" dt="2026-01-20T15:43:58.197" v="242" actId="5793"/>
          <ac:spMkLst>
            <pc:docMk/>
            <pc:sldMk cId="3460384767" sldId="334"/>
            <ac:spMk id="3" creationId="{E6FCEA3F-6A75-918B-608D-C33776AF6F56}"/>
          </ac:spMkLst>
        </pc:spChg>
      </pc:sldChg>
      <pc:sldChg chg="modSp add mod">
        <pc:chgData name="Madhu Chandana Senthil Rajan" userId="38c954434994de9c" providerId="LiveId" clId="{696F34CC-6EE7-4A50-8F69-D56517EF5C3C}" dt="2026-01-20T15:44:13.487" v="246" actId="5793"/>
        <pc:sldMkLst>
          <pc:docMk/>
          <pc:sldMk cId="683684200" sldId="335"/>
        </pc:sldMkLst>
        <pc:spChg chg="mod">
          <ac:chgData name="Madhu Chandana Senthil Rajan" userId="38c954434994de9c" providerId="LiveId" clId="{696F34CC-6EE7-4A50-8F69-D56517EF5C3C}" dt="2026-01-20T15:44:13.487" v="246" actId="5793"/>
          <ac:spMkLst>
            <pc:docMk/>
            <pc:sldMk cId="683684200" sldId="335"/>
            <ac:spMk id="3" creationId="{2397AEFE-DEA2-CBC1-B4DF-272382C36DE3}"/>
          </ac:spMkLst>
        </pc:spChg>
      </pc:sldChg>
      <pc:sldChg chg="modSp new mod">
        <pc:chgData name="Madhu Chandana Senthil Rajan" userId="38c954434994de9c" providerId="LiveId" clId="{696F34CC-6EE7-4A50-8F69-D56517EF5C3C}" dt="2026-01-20T15:48:04.032" v="314" actId="5793"/>
        <pc:sldMkLst>
          <pc:docMk/>
          <pc:sldMk cId="2999918084" sldId="336"/>
        </pc:sldMkLst>
        <pc:spChg chg="mod">
          <ac:chgData name="Madhu Chandana Senthil Rajan" userId="38c954434994de9c" providerId="LiveId" clId="{696F34CC-6EE7-4A50-8F69-D56517EF5C3C}" dt="2026-01-20T15:47:25.430" v="311" actId="20577"/>
          <ac:spMkLst>
            <pc:docMk/>
            <pc:sldMk cId="2999918084" sldId="336"/>
            <ac:spMk id="2" creationId="{88CCC962-E805-08C8-9245-83E1565A3989}"/>
          </ac:spMkLst>
        </pc:spChg>
        <pc:spChg chg="mod">
          <ac:chgData name="Madhu Chandana Senthil Rajan" userId="38c954434994de9c" providerId="LiveId" clId="{696F34CC-6EE7-4A50-8F69-D56517EF5C3C}" dt="2026-01-20T15:48:04.032" v="314" actId="5793"/>
          <ac:spMkLst>
            <pc:docMk/>
            <pc:sldMk cId="2999918084" sldId="336"/>
            <ac:spMk id="3" creationId="{3D1D5B98-5679-20F2-4A89-4018D1B0AE7F}"/>
          </ac:spMkLst>
        </pc:spChg>
      </pc:sldChg>
      <pc:sldChg chg="modSp add mod">
        <pc:chgData name="Madhu Chandana Senthil Rajan" userId="38c954434994de9c" providerId="LiveId" clId="{696F34CC-6EE7-4A50-8F69-D56517EF5C3C}" dt="2026-01-20T15:49:35.060" v="339" actId="27636"/>
        <pc:sldMkLst>
          <pc:docMk/>
          <pc:sldMk cId="1944406909" sldId="337"/>
        </pc:sldMkLst>
        <pc:spChg chg="mod">
          <ac:chgData name="Madhu Chandana Senthil Rajan" userId="38c954434994de9c" providerId="LiveId" clId="{696F34CC-6EE7-4A50-8F69-D56517EF5C3C}" dt="2026-01-20T15:49:35.060" v="339" actId="27636"/>
          <ac:spMkLst>
            <pc:docMk/>
            <pc:sldMk cId="1944406909" sldId="337"/>
            <ac:spMk id="3" creationId="{DB5FB912-6A7A-588C-46A6-E8A1DB0D0624}"/>
          </ac:spMkLst>
        </pc:spChg>
      </pc:sldChg>
      <pc:sldChg chg="modSp add mod">
        <pc:chgData name="Madhu Chandana Senthil Rajan" userId="38c954434994de9c" providerId="LiveId" clId="{696F34CC-6EE7-4A50-8F69-D56517EF5C3C}" dt="2026-01-20T15:48:53.519" v="327" actId="5793"/>
        <pc:sldMkLst>
          <pc:docMk/>
          <pc:sldMk cId="2997108421" sldId="338"/>
        </pc:sldMkLst>
        <pc:spChg chg="mod">
          <ac:chgData name="Madhu Chandana Senthil Rajan" userId="38c954434994de9c" providerId="LiveId" clId="{696F34CC-6EE7-4A50-8F69-D56517EF5C3C}" dt="2026-01-20T15:48:53.519" v="327" actId="5793"/>
          <ac:spMkLst>
            <pc:docMk/>
            <pc:sldMk cId="2997108421" sldId="338"/>
            <ac:spMk id="3" creationId="{1E41118A-D6CB-8F5B-CEAA-0649FB5D1E2E}"/>
          </ac:spMkLst>
        </pc:spChg>
      </pc:sldChg>
      <pc:sldChg chg="modSp add mod">
        <pc:chgData name="Madhu Chandana Senthil Rajan" userId="38c954434994de9c" providerId="LiveId" clId="{696F34CC-6EE7-4A50-8F69-D56517EF5C3C}" dt="2026-01-20T15:49:47.475" v="344" actId="27636"/>
        <pc:sldMkLst>
          <pc:docMk/>
          <pc:sldMk cId="3129970915" sldId="339"/>
        </pc:sldMkLst>
        <pc:spChg chg="mod">
          <ac:chgData name="Madhu Chandana Senthil Rajan" userId="38c954434994de9c" providerId="LiveId" clId="{696F34CC-6EE7-4A50-8F69-D56517EF5C3C}" dt="2026-01-20T15:49:47.475" v="344" actId="27636"/>
          <ac:spMkLst>
            <pc:docMk/>
            <pc:sldMk cId="3129970915" sldId="339"/>
            <ac:spMk id="3" creationId="{6B4F83D0-4917-05C0-1FB0-2CA8A9638C86}"/>
          </ac:spMkLst>
        </pc:spChg>
      </pc:sldChg>
      <pc:sldChg chg="modSp add mod">
        <pc:chgData name="Madhu Chandana Senthil Rajan" userId="38c954434994de9c" providerId="LiveId" clId="{696F34CC-6EE7-4A50-8F69-D56517EF5C3C}" dt="2026-01-20T15:49:54.358" v="346" actId="5793"/>
        <pc:sldMkLst>
          <pc:docMk/>
          <pc:sldMk cId="48634178" sldId="340"/>
        </pc:sldMkLst>
        <pc:spChg chg="mod">
          <ac:chgData name="Madhu Chandana Senthil Rajan" userId="38c954434994de9c" providerId="LiveId" clId="{696F34CC-6EE7-4A50-8F69-D56517EF5C3C}" dt="2026-01-20T15:49:54.358" v="346" actId="5793"/>
          <ac:spMkLst>
            <pc:docMk/>
            <pc:sldMk cId="48634178" sldId="340"/>
            <ac:spMk id="3" creationId="{CDF4D79A-ADD8-4BC7-EB01-A9897833DA84}"/>
          </ac:spMkLst>
        </pc:spChg>
      </pc:sldChg>
      <pc:sldChg chg="addSp delSp modSp add del mod">
        <pc:chgData name="Madhu Chandana Senthil Rajan" userId="38c954434994de9c" providerId="LiveId" clId="{696F34CC-6EE7-4A50-8F69-D56517EF5C3C}" dt="2026-01-20T15:50:33.004" v="356" actId="47"/>
        <pc:sldMkLst>
          <pc:docMk/>
          <pc:sldMk cId="3726800403" sldId="341"/>
        </pc:sldMkLst>
        <pc:spChg chg="del mod">
          <ac:chgData name="Madhu Chandana Senthil Rajan" userId="38c954434994de9c" providerId="LiveId" clId="{696F34CC-6EE7-4A50-8F69-D56517EF5C3C}" dt="2026-01-20T15:50:14.270" v="351" actId="478"/>
          <ac:spMkLst>
            <pc:docMk/>
            <pc:sldMk cId="3726800403" sldId="341"/>
            <ac:spMk id="3" creationId="{9C49E85B-BBD6-6100-CC14-06EE999F41F0}"/>
          </ac:spMkLst>
        </pc:spChg>
        <pc:graphicFrameChg chg="add mod">
          <ac:chgData name="Madhu Chandana Senthil Rajan" userId="38c954434994de9c" providerId="LiveId" clId="{696F34CC-6EE7-4A50-8F69-D56517EF5C3C}" dt="2026-01-20T15:50:24.668" v="353"/>
          <ac:graphicFrameMkLst>
            <pc:docMk/>
            <pc:sldMk cId="3726800403" sldId="341"/>
            <ac:graphicFrameMk id="4" creationId="{14092F23-B463-23CA-7822-490CA44B5139}"/>
          </ac:graphicFrameMkLst>
        </pc:graphicFrameChg>
      </pc:sldChg>
      <pc:sldChg chg="add">
        <pc:chgData name="Madhu Chandana Senthil Rajan" userId="38c954434994de9c" providerId="LiveId" clId="{696F34CC-6EE7-4A50-8F69-D56517EF5C3C}" dt="2026-01-20T15:50:27.670" v="354" actId="2890"/>
        <pc:sldMkLst>
          <pc:docMk/>
          <pc:sldMk cId="4091343106" sldId="342"/>
        </pc:sldMkLst>
      </pc:sldChg>
      <pc:sldChg chg="add del ord">
        <pc:chgData name="Madhu Chandana Senthil Rajan" userId="38c954434994de9c" providerId="LiveId" clId="{696F34CC-6EE7-4A50-8F69-D56517EF5C3C}" dt="2026-01-20T15:50:43.613" v="359" actId="47"/>
        <pc:sldMkLst>
          <pc:docMk/>
          <pc:sldMk cId="419171267" sldId="343"/>
        </pc:sldMkLst>
      </pc:sldChg>
      <pc:sldChg chg="modSp new mod">
        <pc:chgData name="Madhu Chandana Senthil Rajan" userId="38c954434994de9c" providerId="LiveId" clId="{696F34CC-6EE7-4A50-8F69-D56517EF5C3C}" dt="2026-01-20T15:52:08.896" v="364" actId="5793"/>
        <pc:sldMkLst>
          <pc:docMk/>
          <pc:sldMk cId="2166221822" sldId="343"/>
        </pc:sldMkLst>
        <pc:spChg chg="mod">
          <ac:chgData name="Madhu Chandana Senthil Rajan" userId="38c954434994de9c" providerId="LiveId" clId="{696F34CC-6EE7-4A50-8F69-D56517EF5C3C}" dt="2026-01-20T15:51:50.062" v="361"/>
          <ac:spMkLst>
            <pc:docMk/>
            <pc:sldMk cId="2166221822" sldId="343"/>
            <ac:spMk id="2" creationId="{523B07FC-6D97-CBC4-F701-A15AC7C238D3}"/>
          </ac:spMkLst>
        </pc:spChg>
        <pc:spChg chg="mod">
          <ac:chgData name="Madhu Chandana Senthil Rajan" userId="38c954434994de9c" providerId="LiveId" clId="{696F34CC-6EE7-4A50-8F69-D56517EF5C3C}" dt="2026-01-20T15:52:08.896" v="364" actId="5793"/>
          <ac:spMkLst>
            <pc:docMk/>
            <pc:sldMk cId="2166221822" sldId="343"/>
            <ac:spMk id="3" creationId="{990FBF17-5765-502D-C5AF-5631E70B32E2}"/>
          </ac:spMkLst>
        </pc:spChg>
      </pc:sldChg>
      <pc:sldChg chg="modSp add mod">
        <pc:chgData name="Madhu Chandana Senthil Rajan" userId="38c954434994de9c" providerId="LiveId" clId="{696F34CC-6EE7-4A50-8F69-D56517EF5C3C}" dt="2026-01-20T15:52:44.051" v="368" actId="5793"/>
        <pc:sldMkLst>
          <pc:docMk/>
          <pc:sldMk cId="2181656686" sldId="344"/>
        </pc:sldMkLst>
        <pc:spChg chg="mod">
          <ac:chgData name="Madhu Chandana Senthil Rajan" userId="38c954434994de9c" providerId="LiveId" clId="{696F34CC-6EE7-4A50-8F69-D56517EF5C3C}" dt="2026-01-20T15:52:44.051" v="368" actId="5793"/>
          <ac:spMkLst>
            <pc:docMk/>
            <pc:sldMk cId="2181656686" sldId="344"/>
            <ac:spMk id="3" creationId="{1BA55063-33B3-3126-6E95-60F277EAA494}"/>
          </ac:spMkLst>
        </pc:spChg>
      </pc:sldChg>
      <pc:sldChg chg="modSp add mod">
        <pc:chgData name="Madhu Chandana Senthil Rajan" userId="38c954434994de9c" providerId="LiveId" clId="{696F34CC-6EE7-4A50-8F69-D56517EF5C3C}" dt="2026-01-20T15:54:02.465" v="377" actId="12"/>
        <pc:sldMkLst>
          <pc:docMk/>
          <pc:sldMk cId="1946185918" sldId="345"/>
        </pc:sldMkLst>
        <pc:spChg chg="mod">
          <ac:chgData name="Madhu Chandana Senthil Rajan" userId="38c954434994de9c" providerId="LiveId" clId="{696F34CC-6EE7-4A50-8F69-D56517EF5C3C}" dt="2026-01-20T15:54:02.465" v="377" actId="12"/>
          <ac:spMkLst>
            <pc:docMk/>
            <pc:sldMk cId="1946185918" sldId="345"/>
            <ac:spMk id="3" creationId="{DC159133-D4B9-9054-F0E8-9BCE048D3BE0}"/>
          </ac:spMkLst>
        </pc:spChg>
      </pc:sldChg>
      <pc:sldChg chg="modSp add mod">
        <pc:chgData name="Madhu Chandana Senthil Rajan" userId="38c954434994de9c" providerId="LiveId" clId="{696F34CC-6EE7-4A50-8F69-D56517EF5C3C}" dt="2026-01-20T15:54:46.112" v="385" actId="12"/>
        <pc:sldMkLst>
          <pc:docMk/>
          <pc:sldMk cId="713783463" sldId="346"/>
        </pc:sldMkLst>
        <pc:spChg chg="mod">
          <ac:chgData name="Madhu Chandana Senthil Rajan" userId="38c954434994de9c" providerId="LiveId" clId="{696F34CC-6EE7-4A50-8F69-D56517EF5C3C}" dt="2026-01-20T15:54:46.112" v="385" actId="12"/>
          <ac:spMkLst>
            <pc:docMk/>
            <pc:sldMk cId="713783463" sldId="346"/>
            <ac:spMk id="3" creationId="{3A4BDC3A-480C-2B36-32C3-692F5E403D83}"/>
          </ac:spMkLst>
        </pc:spChg>
      </pc:sldChg>
      <pc:sldChg chg="modSp add mod">
        <pc:chgData name="Madhu Chandana Senthil Rajan" userId="38c954434994de9c" providerId="LiveId" clId="{696F34CC-6EE7-4A50-8F69-D56517EF5C3C}" dt="2026-01-20T15:55:02.354" v="389" actId="5793"/>
        <pc:sldMkLst>
          <pc:docMk/>
          <pc:sldMk cId="942907940" sldId="347"/>
        </pc:sldMkLst>
        <pc:spChg chg="mod">
          <ac:chgData name="Madhu Chandana Senthil Rajan" userId="38c954434994de9c" providerId="LiveId" clId="{696F34CC-6EE7-4A50-8F69-D56517EF5C3C}" dt="2026-01-20T15:55:02.354" v="389" actId="5793"/>
          <ac:spMkLst>
            <pc:docMk/>
            <pc:sldMk cId="942907940" sldId="347"/>
            <ac:spMk id="3" creationId="{0AA93CD0-7995-0302-68DA-F2FF9D2210A2}"/>
          </ac:spMkLst>
        </pc:spChg>
      </pc:sldChg>
      <pc:sldChg chg="modSp add mod">
        <pc:chgData name="Madhu Chandana Senthil Rajan" userId="38c954434994de9c" providerId="LiveId" clId="{696F34CC-6EE7-4A50-8F69-D56517EF5C3C}" dt="2026-01-20T15:55:21.592" v="392" actId="5793"/>
        <pc:sldMkLst>
          <pc:docMk/>
          <pc:sldMk cId="2001989774" sldId="348"/>
        </pc:sldMkLst>
        <pc:spChg chg="mod">
          <ac:chgData name="Madhu Chandana Senthil Rajan" userId="38c954434994de9c" providerId="LiveId" clId="{696F34CC-6EE7-4A50-8F69-D56517EF5C3C}" dt="2026-01-20T15:55:21.592" v="392" actId="5793"/>
          <ac:spMkLst>
            <pc:docMk/>
            <pc:sldMk cId="2001989774" sldId="348"/>
            <ac:spMk id="3" creationId="{985B9E3E-B013-6FCC-52AE-DC7057B72CB5}"/>
          </ac:spMkLst>
        </pc:spChg>
      </pc:sldChg>
      <pc:sldChg chg="add del">
        <pc:chgData name="Madhu Chandana Senthil Rajan" userId="38c954434994de9c" providerId="LiveId" clId="{696F34CC-6EE7-4A50-8F69-D56517EF5C3C}" dt="2026-01-20T15:55:30.894" v="394" actId="47"/>
        <pc:sldMkLst>
          <pc:docMk/>
          <pc:sldMk cId="151860546" sldId="349"/>
        </pc:sldMkLst>
      </pc:sldChg>
      <pc:sldChg chg="modSp new mod">
        <pc:chgData name="Madhu Chandana Senthil Rajan" userId="38c954434994de9c" providerId="LiveId" clId="{696F34CC-6EE7-4A50-8F69-D56517EF5C3C}" dt="2026-01-20T15:57:29.267" v="503" actId="5793"/>
        <pc:sldMkLst>
          <pc:docMk/>
          <pc:sldMk cId="1969520327" sldId="349"/>
        </pc:sldMkLst>
        <pc:spChg chg="mod">
          <ac:chgData name="Madhu Chandana Senthil Rajan" userId="38c954434994de9c" providerId="LiveId" clId="{696F34CC-6EE7-4A50-8F69-D56517EF5C3C}" dt="2026-01-20T15:56:53.802" v="499" actId="20577"/>
          <ac:spMkLst>
            <pc:docMk/>
            <pc:sldMk cId="1969520327" sldId="349"/>
            <ac:spMk id="2" creationId="{03C34F57-66C5-F2B8-D7FF-BDBFFD70B7DA}"/>
          </ac:spMkLst>
        </pc:spChg>
        <pc:spChg chg="mod">
          <ac:chgData name="Madhu Chandana Senthil Rajan" userId="38c954434994de9c" providerId="LiveId" clId="{696F34CC-6EE7-4A50-8F69-D56517EF5C3C}" dt="2026-01-20T15:57:29.267" v="503" actId="5793"/>
          <ac:spMkLst>
            <pc:docMk/>
            <pc:sldMk cId="1969520327" sldId="349"/>
            <ac:spMk id="3" creationId="{D52D7538-4D1B-8323-E224-7BDC04800E06}"/>
          </ac:spMkLst>
        </pc:spChg>
      </pc:sldChg>
      <pc:sldChg chg="modSp add mod">
        <pc:chgData name="Madhu Chandana Senthil Rajan" userId="38c954434994de9c" providerId="LiveId" clId="{696F34CC-6EE7-4A50-8F69-D56517EF5C3C}" dt="2026-01-20T15:57:48.659" v="506" actId="5793"/>
        <pc:sldMkLst>
          <pc:docMk/>
          <pc:sldMk cId="4059653873" sldId="350"/>
        </pc:sldMkLst>
        <pc:spChg chg="mod">
          <ac:chgData name="Madhu Chandana Senthil Rajan" userId="38c954434994de9c" providerId="LiveId" clId="{696F34CC-6EE7-4A50-8F69-D56517EF5C3C}" dt="2026-01-20T15:57:48.659" v="506" actId="5793"/>
          <ac:spMkLst>
            <pc:docMk/>
            <pc:sldMk cId="4059653873" sldId="350"/>
            <ac:spMk id="3" creationId="{68A236A2-72C8-18E9-5688-5C0F3AEB6213}"/>
          </ac:spMkLst>
        </pc:spChg>
      </pc:sldChg>
      <pc:sldChg chg="modSp add mod">
        <pc:chgData name="Madhu Chandana Senthil Rajan" userId="38c954434994de9c" providerId="LiveId" clId="{696F34CC-6EE7-4A50-8F69-D56517EF5C3C}" dt="2026-01-20T15:58:12.226" v="511" actId="5793"/>
        <pc:sldMkLst>
          <pc:docMk/>
          <pc:sldMk cId="3512460644" sldId="351"/>
        </pc:sldMkLst>
        <pc:spChg chg="mod">
          <ac:chgData name="Madhu Chandana Senthil Rajan" userId="38c954434994de9c" providerId="LiveId" clId="{696F34CC-6EE7-4A50-8F69-D56517EF5C3C}" dt="2026-01-20T15:58:12.226" v="511" actId="5793"/>
          <ac:spMkLst>
            <pc:docMk/>
            <pc:sldMk cId="3512460644" sldId="351"/>
            <ac:spMk id="3" creationId="{4DB4596A-6EDF-F8C6-9475-F64E13B33A86}"/>
          </ac:spMkLst>
        </pc:spChg>
      </pc:sldChg>
      <pc:sldChg chg="modSp add mod">
        <pc:chgData name="Madhu Chandana Senthil Rajan" userId="38c954434994de9c" providerId="LiveId" clId="{696F34CC-6EE7-4A50-8F69-D56517EF5C3C}" dt="2026-01-20T15:59:16.226" v="526" actId="5793"/>
        <pc:sldMkLst>
          <pc:docMk/>
          <pc:sldMk cId="67185474" sldId="352"/>
        </pc:sldMkLst>
        <pc:spChg chg="mod">
          <ac:chgData name="Madhu Chandana Senthil Rajan" userId="38c954434994de9c" providerId="LiveId" clId="{696F34CC-6EE7-4A50-8F69-D56517EF5C3C}" dt="2026-01-20T15:59:16.226" v="526" actId="5793"/>
          <ac:spMkLst>
            <pc:docMk/>
            <pc:sldMk cId="67185474" sldId="352"/>
            <ac:spMk id="3" creationId="{94AE2A55-747F-832D-A589-A832F3FE49EA}"/>
          </ac:spMkLst>
        </pc:spChg>
      </pc:sldChg>
      <pc:sldChg chg="modSp add mod">
        <pc:chgData name="Madhu Chandana Senthil Rajan" userId="38c954434994de9c" providerId="LiveId" clId="{696F34CC-6EE7-4A50-8F69-D56517EF5C3C}" dt="2026-01-20T15:59:20.824" v="527" actId="5793"/>
        <pc:sldMkLst>
          <pc:docMk/>
          <pc:sldMk cId="4007612826" sldId="353"/>
        </pc:sldMkLst>
        <pc:spChg chg="mod">
          <ac:chgData name="Madhu Chandana Senthil Rajan" userId="38c954434994de9c" providerId="LiveId" clId="{696F34CC-6EE7-4A50-8F69-D56517EF5C3C}" dt="2026-01-20T15:59:20.824" v="527" actId="5793"/>
          <ac:spMkLst>
            <pc:docMk/>
            <pc:sldMk cId="4007612826" sldId="353"/>
            <ac:spMk id="3" creationId="{15658F8A-DD53-E5E9-3D6E-F645CE52B51B}"/>
          </ac:spMkLst>
        </pc:spChg>
      </pc:sldChg>
      <pc:sldChg chg="modSp add mod">
        <pc:chgData name="Madhu Chandana Senthil Rajan" userId="38c954434994de9c" providerId="LiveId" clId="{696F34CC-6EE7-4A50-8F69-D56517EF5C3C}" dt="2026-01-20T16:00:04.030" v="538" actId="5793"/>
        <pc:sldMkLst>
          <pc:docMk/>
          <pc:sldMk cId="566113068" sldId="354"/>
        </pc:sldMkLst>
        <pc:spChg chg="mod">
          <ac:chgData name="Madhu Chandana Senthil Rajan" userId="38c954434994de9c" providerId="LiveId" clId="{696F34CC-6EE7-4A50-8F69-D56517EF5C3C}" dt="2026-01-20T16:00:04.030" v="538" actId="5793"/>
          <ac:spMkLst>
            <pc:docMk/>
            <pc:sldMk cId="566113068" sldId="354"/>
            <ac:spMk id="3" creationId="{4C3E75A9-02D1-C266-7CEE-9FADED4F05AD}"/>
          </ac:spMkLst>
        </pc:spChg>
      </pc:sldChg>
      <pc:sldChg chg="modSp add mod">
        <pc:chgData name="Madhu Chandana Senthil Rajan" userId="38c954434994de9c" providerId="LiveId" clId="{696F34CC-6EE7-4A50-8F69-D56517EF5C3C}" dt="2026-01-20T15:59:59.055" v="536" actId="5793"/>
        <pc:sldMkLst>
          <pc:docMk/>
          <pc:sldMk cId="699982807" sldId="355"/>
        </pc:sldMkLst>
        <pc:spChg chg="mod">
          <ac:chgData name="Madhu Chandana Senthil Rajan" userId="38c954434994de9c" providerId="LiveId" clId="{696F34CC-6EE7-4A50-8F69-D56517EF5C3C}" dt="2026-01-20T15:59:59.055" v="536" actId="5793"/>
          <ac:spMkLst>
            <pc:docMk/>
            <pc:sldMk cId="699982807" sldId="355"/>
            <ac:spMk id="3" creationId="{B2BCBF10-0BC5-3661-DC66-15CF4F7E6C83}"/>
          </ac:spMkLst>
        </pc:spChg>
      </pc:sldChg>
      <pc:sldChg chg="modSp add mod">
        <pc:chgData name="Madhu Chandana Senthil Rajan" userId="38c954434994de9c" providerId="LiveId" clId="{696F34CC-6EE7-4A50-8F69-D56517EF5C3C}" dt="2026-01-20T16:00:43.813" v="548" actId="5793"/>
        <pc:sldMkLst>
          <pc:docMk/>
          <pc:sldMk cId="1278893045" sldId="356"/>
        </pc:sldMkLst>
        <pc:spChg chg="mod">
          <ac:chgData name="Madhu Chandana Senthil Rajan" userId="38c954434994de9c" providerId="LiveId" clId="{696F34CC-6EE7-4A50-8F69-D56517EF5C3C}" dt="2026-01-20T16:00:43.813" v="548" actId="5793"/>
          <ac:spMkLst>
            <pc:docMk/>
            <pc:sldMk cId="1278893045" sldId="356"/>
            <ac:spMk id="3" creationId="{8B1F880E-97C0-2201-C0E3-CAE2E9DE69AC}"/>
          </ac:spMkLst>
        </pc:spChg>
      </pc:sldChg>
      <pc:sldChg chg="modSp add mod">
        <pc:chgData name="Madhu Chandana Senthil Rajan" userId="38c954434994de9c" providerId="LiveId" clId="{696F34CC-6EE7-4A50-8F69-D56517EF5C3C}" dt="2026-01-20T16:00:47.084" v="549" actId="5793"/>
        <pc:sldMkLst>
          <pc:docMk/>
          <pc:sldMk cId="2695796103" sldId="357"/>
        </pc:sldMkLst>
        <pc:spChg chg="mod">
          <ac:chgData name="Madhu Chandana Senthil Rajan" userId="38c954434994de9c" providerId="LiveId" clId="{696F34CC-6EE7-4A50-8F69-D56517EF5C3C}" dt="2026-01-20T16:00:47.084" v="549" actId="5793"/>
          <ac:spMkLst>
            <pc:docMk/>
            <pc:sldMk cId="2695796103" sldId="357"/>
            <ac:spMk id="3" creationId="{3C31C415-BDDB-4DCA-3421-FF491B60FA13}"/>
          </ac:spMkLst>
        </pc:spChg>
      </pc:sldChg>
      <pc:sldChg chg="modSp add mod">
        <pc:chgData name="Madhu Chandana Senthil Rajan" userId="38c954434994de9c" providerId="LiveId" clId="{696F34CC-6EE7-4A50-8F69-D56517EF5C3C}" dt="2026-01-20T16:01:31.573" v="559" actId="5793"/>
        <pc:sldMkLst>
          <pc:docMk/>
          <pc:sldMk cId="2473446075" sldId="358"/>
        </pc:sldMkLst>
        <pc:spChg chg="mod">
          <ac:chgData name="Madhu Chandana Senthil Rajan" userId="38c954434994de9c" providerId="LiveId" clId="{696F34CC-6EE7-4A50-8F69-D56517EF5C3C}" dt="2026-01-20T16:01:31.573" v="559" actId="5793"/>
          <ac:spMkLst>
            <pc:docMk/>
            <pc:sldMk cId="2473446075" sldId="358"/>
            <ac:spMk id="3" creationId="{AC840826-2BCC-1DD4-9B9C-D42040FB99F5}"/>
          </ac:spMkLst>
        </pc:spChg>
      </pc:sldChg>
      <pc:sldChg chg="modSp add mod">
        <pc:chgData name="Madhu Chandana Senthil Rajan" userId="38c954434994de9c" providerId="LiveId" clId="{696F34CC-6EE7-4A50-8F69-D56517EF5C3C}" dt="2026-01-20T16:01:24.559" v="557" actId="5793"/>
        <pc:sldMkLst>
          <pc:docMk/>
          <pc:sldMk cId="1557131541" sldId="359"/>
        </pc:sldMkLst>
        <pc:spChg chg="mod">
          <ac:chgData name="Madhu Chandana Senthil Rajan" userId="38c954434994de9c" providerId="LiveId" clId="{696F34CC-6EE7-4A50-8F69-D56517EF5C3C}" dt="2026-01-20T16:01:24.559" v="557" actId="5793"/>
          <ac:spMkLst>
            <pc:docMk/>
            <pc:sldMk cId="1557131541" sldId="359"/>
            <ac:spMk id="3" creationId="{ADE43456-9043-E56C-7DC9-9D85CBE1474F}"/>
          </ac:spMkLst>
        </pc:spChg>
      </pc:sldChg>
      <pc:sldChg chg="modSp add mod">
        <pc:chgData name="Madhu Chandana Senthil Rajan" userId="38c954434994de9c" providerId="LiveId" clId="{696F34CC-6EE7-4A50-8F69-D56517EF5C3C}" dt="2026-01-20T16:02:07.313" v="569" actId="5793"/>
        <pc:sldMkLst>
          <pc:docMk/>
          <pc:sldMk cId="2701704779" sldId="360"/>
        </pc:sldMkLst>
        <pc:spChg chg="mod">
          <ac:chgData name="Madhu Chandana Senthil Rajan" userId="38c954434994de9c" providerId="LiveId" clId="{696F34CC-6EE7-4A50-8F69-D56517EF5C3C}" dt="2026-01-20T16:02:07.313" v="569" actId="5793"/>
          <ac:spMkLst>
            <pc:docMk/>
            <pc:sldMk cId="2701704779" sldId="360"/>
            <ac:spMk id="3" creationId="{D94B3BA4-6249-C4C2-B85A-A807E3CBB18C}"/>
          </ac:spMkLst>
        </pc:spChg>
      </pc:sldChg>
      <pc:sldChg chg="modSp add mod">
        <pc:chgData name="Madhu Chandana Senthil Rajan" userId="38c954434994de9c" providerId="LiveId" clId="{696F34CC-6EE7-4A50-8F69-D56517EF5C3C}" dt="2026-01-20T16:02:01.290" v="567" actId="5793"/>
        <pc:sldMkLst>
          <pc:docMk/>
          <pc:sldMk cId="363570146" sldId="361"/>
        </pc:sldMkLst>
        <pc:spChg chg="mod">
          <ac:chgData name="Madhu Chandana Senthil Rajan" userId="38c954434994de9c" providerId="LiveId" clId="{696F34CC-6EE7-4A50-8F69-D56517EF5C3C}" dt="2026-01-20T16:02:01.290" v="567" actId="5793"/>
          <ac:spMkLst>
            <pc:docMk/>
            <pc:sldMk cId="363570146" sldId="361"/>
            <ac:spMk id="3" creationId="{A6CC1FF9-2662-7C45-07B3-F4012ECB4A04}"/>
          </ac:spMkLst>
        </pc:spChg>
      </pc:sldChg>
      <pc:sldChg chg="modSp add mod">
        <pc:chgData name="Madhu Chandana Senthil Rajan" userId="38c954434994de9c" providerId="LiveId" clId="{696F34CC-6EE7-4A50-8F69-D56517EF5C3C}" dt="2026-01-20T16:02:53.241" v="579" actId="5793"/>
        <pc:sldMkLst>
          <pc:docMk/>
          <pc:sldMk cId="3384427558" sldId="362"/>
        </pc:sldMkLst>
        <pc:spChg chg="mod">
          <ac:chgData name="Madhu Chandana Senthil Rajan" userId="38c954434994de9c" providerId="LiveId" clId="{696F34CC-6EE7-4A50-8F69-D56517EF5C3C}" dt="2026-01-20T16:02:53.241" v="579" actId="5793"/>
          <ac:spMkLst>
            <pc:docMk/>
            <pc:sldMk cId="3384427558" sldId="362"/>
            <ac:spMk id="3" creationId="{DD4B4972-E326-72A2-F671-1E28F910FE48}"/>
          </ac:spMkLst>
        </pc:spChg>
      </pc:sldChg>
      <pc:sldChg chg="modSp add mod">
        <pc:chgData name="Madhu Chandana Senthil Rajan" userId="38c954434994de9c" providerId="LiveId" clId="{696F34CC-6EE7-4A50-8F69-D56517EF5C3C}" dt="2026-01-20T16:03:21.173" v="585" actId="5793"/>
        <pc:sldMkLst>
          <pc:docMk/>
          <pc:sldMk cId="1560262625" sldId="363"/>
        </pc:sldMkLst>
        <pc:spChg chg="mod">
          <ac:chgData name="Madhu Chandana Senthil Rajan" userId="38c954434994de9c" providerId="LiveId" clId="{696F34CC-6EE7-4A50-8F69-D56517EF5C3C}" dt="2026-01-20T16:03:21.173" v="585" actId="5793"/>
          <ac:spMkLst>
            <pc:docMk/>
            <pc:sldMk cId="1560262625" sldId="363"/>
            <ac:spMk id="3" creationId="{79D8069D-CCCF-BD21-1B4D-87387050939C}"/>
          </ac:spMkLst>
        </pc:spChg>
      </pc:sldChg>
      <pc:sldChg chg="modSp add mod">
        <pc:chgData name="Madhu Chandana Senthil Rajan" userId="38c954434994de9c" providerId="LiveId" clId="{696F34CC-6EE7-4A50-8F69-D56517EF5C3C}" dt="2026-01-20T16:03:40.367" v="588" actId="5793"/>
        <pc:sldMkLst>
          <pc:docMk/>
          <pc:sldMk cId="45399466" sldId="364"/>
        </pc:sldMkLst>
        <pc:spChg chg="mod">
          <ac:chgData name="Madhu Chandana Senthil Rajan" userId="38c954434994de9c" providerId="LiveId" clId="{696F34CC-6EE7-4A50-8F69-D56517EF5C3C}" dt="2026-01-20T16:03:40.367" v="588" actId="5793"/>
          <ac:spMkLst>
            <pc:docMk/>
            <pc:sldMk cId="45399466" sldId="364"/>
            <ac:spMk id="3" creationId="{19CEF07C-5A49-D9B5-E61A-10B898E67FE6}"/>
          </ac:spMkLst>
        </pc:spChg>
      </pc:sldChg>
      <pc:sldChg chg="modSp add mod">
        <pc:chgData name="Madhu Chandana Senthil Rajan" userId="38c954434994de9c" providerId="LiveId" clId="{696F34CC-6EE7-4A50-8F69-D56517EF5C3C}" dt="2026-01-20T16:03:53.995" v="591" actId="5793"/>
        <pc:sldMkLst>
          <pc:docMk/>
          <pc:sldMk cId="2402143435" sldId="365"/>
        </pc:sldMkLst>
        <pc:spChg chg="mod">
          <ac:chgData name="Madhu Chandana Senthil Rajan" userId="38c954434994de9c" providerId="LiveId" clId="{696F34CC-6EE7-4A50-8F69-D56517EF5C3C}" dt="2026-01-20T16:03:53.995" v="591" actId="5793"/>
          <ac:spMkLst>
            <pc:docMk/>
            <pc:sldMk cId="2402143435" sldId="365"/>
            <ac:spMk id="3" creationId="{885BCEDA-6271-D9E6-4F8B-E541109D9D9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79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61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19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9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84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59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33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03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93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83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09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73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93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44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107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707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68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DF32E-CEEA-42C6-A94F-698CBA833A0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1D75E-AFA2-4F9F-9A90-673F1073B7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43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1846-7A94-D8E3-EA1D-0D299B36C3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Sociology question and answers 15 marks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54E604-4A0D-342D-09F8-C241180BB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69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8327-33C7-5979-0CA4-A0166D90E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1E828-55BD-591F-E1F0-50A5D391D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Medical Sociology – Definition</a:t>
            </a:r>
          </a:p>
          <a:p>
            <a:pPr marL="0" indent="0">
              <a:buNone/>
            </a:pPr>
            <a:r>
              <a:rPr lang="en-US" b="1" dirty="0"/>
              <a:t>Medical sociology</a:t>
            </a:r>
            <a:r>
              <a:rPr lang="en-US" dirty="0"/>
              <a:t> is a branch of sociology that studies the relationship between </a:t>
            </a:r>
            <a:r>
              <a:rPr lang="en-US" b="1" dirty="0"/>
              <a:t>health, illness, medicine, and society</a:t>
            </a:r>
            <a:r>
              <a:rPr lang="en-US" dirty="0"/>
              <a:t>. It focuses on how social factors such as culture, social class, family, religion, education, and economic conditions influence </a:t>
            </a:r>
            <a:r>
              <a:rPr lang="en-US" b="1" dirty="0"/>
              <a:t>health behavior, disease patterns, medical care, and health systems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282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04A3-7730-AD9E-BA4B-48E526A1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6E70-A480-0B98-E2A0-AEEF623AF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3956"/>
            <a:ext cx="9905998" cy="1478570"/>
          </a:xfrm>
        </p:spPr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62F3EF6-D7EA-A459-7EB5-31145B0AC9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080165"/>
              </p:ext>
            </p:extLst>
          </p:nvPr>
        </p:nvGraphicFramePr>
        <p:xfrm>
          <a:off x="2179255" y="1851949"/>
          <a:ext cx="7830315" cy="4433105"/>
        </p:xfrm>
        <a:graphic>
          <a:graphicData uri="http://schemas.openxmlformats.org/drawingml/2006/table">
            <a:tbl>
              <a:tblPr/>
              <a:tblGrid>
                <a:gridCol w="2610105">
                  <a:extLst>
                    <a:ext uri="{9D8B030D-6E8A-4147-A177-3AD203B41FA5}">
                      <a16:colId xmlns:a16="http://schemas.microsoft.com/office/drawing/2014/main" val="717072143"/>
                    </a:ext>
                  </a:extLst>
                </a:gridCol>
                <a:gridCol w="2610105">
                  <a:extLst>
                    <a:ext uri="{9D8B030D-6E8A-4147-A177-3AD203B41FA5}">
                      <a16:colId xmlns:a16="http://schemas.microsoft.com/office/drawing/2014/main" val="3219800780"/>
                    </a:ext>
                  </a:extLst>
                </a:gridCol>
                <a:gridCol w="2610105">
                  <a:extLst>
                    <a:ext uri="{9D8B030D-6E8A-4147-A177-3AD203B41FA5}">
                      <a16:colId xmlns:a16="http://schemas.microsoft.com/office/drawing/2014/main" val="898161737"/>
                    </a:ext>
                  </a:extLst>
                </a:gridCol>
              </a:tblGrid>
              <a:tr h="361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Aspect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Sociology of Medicine</a:t>
                      </a:r>
                      <a:endParaRPr lang="en-IN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Sociology in Medicine</a:t>
                      </a:r>
                      <a:endParaRPr lang="en-IN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346396"/>
                  </a:ext>
                </a:extLst>
              </a:tr>
              <a:tr h="904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Meaning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Study of medicine as a </a:t>
                      </a:r>
                      <a:r>
                        <a:rPr lang="en-US" sz="1800" b="1"/>
                        <a:t>social institution</a:t>
                      </a:r>
                      <a:endParaRPr lang="en-US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Application of sociological knowledge </a:t>
                      </a:r>
                      <a:r>
                        <a:rPr lang="en-US" sz="1800" b="1"/>
                        <a:t>within medical practice</a:t>
                      </a:r>
                      <a:endParaRPr lang="en-US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369794"/>
                  </a:ext>
                </a:extLst>
              </a:tr>
              <a:tr h="904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Focus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Medical profession, hospitals, doctor-patient relationship, health systems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Improving patient care, communication, compliance, and outcomes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692940"/>
                  </a:ext>
                </a:extLst>
              </a:tr>
              <a:tr h="3618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Nature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Theoretical and analytical</a:t>
                      </a:r>
                      <a:endParaRPr lang="en-IN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Practical and applied</a:t>
                      </a:r>
                      <a:endParaRPr lang="en-IN" sz="1800"/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083763"/>
                  </a:ext>
                </a:extLst>
              </a:tr>
              <a:tr h="633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Conducted by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Sociologists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Doctors, nurses, public health professionals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52782"/>
                  </a:ext>
                </a:extLst>
              </a:tr>
              <a:tr h="633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Goal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Understand social organization of medicine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 effectiveness of medical care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680631"/>
                  </a:ext>
                </a:extLst>
              </a:tr>
              <a:tr h="633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Example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Study of power structure in hospitals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Using sociology to improve patient counseling</a:t>
                      </a:r>
                    </a:p>
                  </a:txBody>
                  <a:tcPr marL="72280" marR="72280" marT="36140" marB="361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44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892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ABD1-25FB-68BD-732E-263E5C8E5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063F-549A-8FED-DCBF-4BC44A848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3956"/>
            <a:ext cx="9905998" cy="1478570"/>
          </a:xfrm>
        </p:spPr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8F3A0C-5952-5770-77CC-14BD2E50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6122"/>
            <a:ext cx="9905999" cy="38350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Hospital as a Social Institution</a:t>
            </a:r>
          </a:p>
          <a:p>
            <a:r>
              <a:rPr lang="en-US" dirty="0"/>
              <a:t>A </a:t>
            </a:r>
            <a:r>
              <a:rPr lang="en-US" b="1" dirty="0"/>
              <a:t>hospital</a:t>
            </a:r>
            <a:r>
              <a:rPr lang="en-US" dirty="0"/>
              <a:t> is not only a place for treatment but also a </a:t>
            </a:r>
            <a:r>
              <a:rPr lang="en-US" b="1" dirty="0"/>
              <a:t>social institution</a:t>
            </a:r>
            <a:r>
              <a:rPr lang="en-US" dirty="0"/>
              <a:t> where people with different roles, statuses, and norms interact for the purpose of </a:t>
            </a:r>
            <a:r>
              <a:rPr lang="en-US" b="1" dirty="0"/>
              <a:t>health care delivery</a:t>
            </a:r>
            <a:r>
              <a:rPr lang="en-US" dirty="0"/>
              <a:t>.</a:t>
            </a:r>
          </a:p>
          <a:p>
            <a:r>
              <a:rPr lang="en-US" b="1" dirty="0"/>
              <a:t>Characteristics of Hospital as a Social Institution</a:t>
            </a:r>
          </a:p>
          <a:p>
            <a:r>
              <a:rPr lang="en-US" b="1" dirty="0"/>
              <a:t>Defined roles</a:t>
            </a:r>
            <a:r>
              <a:rPr lang="en-US" dirty="0"/>
              <a:t> – doctors, nurses, paramedical staff, patients, attendants</a:t>
            </a:r>
          </a:p>
          <a:p>
            <a:r>
              <a:rPr lang="en-US" b="1" dirty="0"/>
              <a:t>Formal organization</a:t>
            </a:r>
            <a:r>
              <a:rPr lang="en-US" dirty="0"/>
              <a:t> – rules, hierarchy, discipline</a:t>
            </a:r>
          </a:p>
          <a:p>
            <a:r>
              <a:rPr lang="en-US" b="1" dirty="0"/>
              <a:t>Social interaction</a:t>
            </a:r>
            <a:r>
              <a:rPr lang="en-US" dirty="0"/>
              <a:t> – doctor-patient and staff-staff relationships</a:t>
            </a:r>
          </a:p>
          <a:p>
            <a:r>
              <a:rPr lang="en-US" b="1" dirty="0"/>
              <a:t>Cultural influence</a:t>
            </a:r>
            <a:r>
              <a:rPr lang="en-US" dirty="0"/>
              <a:t> – beliefs, customs, and attitudes toward illness</a:t>
            </a:r>
          </a:p>
          <a:p>
            <a:r>
              <a:rPr lang="en-US" b="1" dirty="0"/>
              <a:t>Social control</a:t>
            </a:r>
            <a:r>
              <a:rPr lang="en-US" dirty="0"/>
              <a:t> – admission, discharge, isolation, treatment protocols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23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6B5B-4A73-450D-4EA6-1F8DF644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9EA15-0C18-A101-CF10-511DC07C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3956"/>
            <a:ext cx="9905998" cy="1478570"/>
          </a:xfrm>
        </p:spPr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1B8169-10F3-A38E-9265-01A7452A5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6122"/>
            <a:ext cx="9905999" cy="38350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Functions of Hospital</a:t>
            </a:r>
          </a:p>
          <a:p>
            <a:r>
              <a:rPr lang="en-US" b="1" dirty="0"/>
              <a:t>Curative services</a:t>
            </a:r>
            <a:r>
              <a:rPr lang="en-US" dirty="0"/>
              <a:t> – diagnosis and treatment of diseases</a:t>
            </a:r>
          </a:p>
          <a:p>
            <a:r>
              <a:rPr lang="en-US" b="1" dirty="0"/>
              <a:t>Preventive services</a:t>
            </a:r>
            <a:r>
              <a:rPr lang="en-US" dirty="0"/>
              <a:t> – immunization, screening, health education</a:t>
            </a:r>
          </a:p>
          <a:p>
            <a:r>
              <a:rPr lang="en-US" b="1" dirty="0"/>
              <a:t>Promotive services</a:t>
            </a:r>
            <a:r>
              <a:rPr lang="en-US" dirty="0"/>
              <a:t> – nutrition advice, lifestyle modification</a:t>
            </a:r>
          </a:p>
          <a:p>
            <a:r>
              <a:rPr lang="en-US" b="1" dirty="0"/>
              <a:t>Rehabilitative services</a:t>
            </a:r>
            <a:r>
              <a:rPr lang="en-US" dirty="0"/>
              <a:t> – physiotherapy, occupational therapy</a:t>
            </a:r>
          </a:p>
          <a:p>
            <a:r>
              <a:rPr lang="en-US" b="1" dirty="0"/>
              <a:t>Teaching and training</a:t>
            </a:r>
            <a:r>
              <a:rPr lang="en-US" dirty="0"/>
              <a:t> – education of medical and nursing students</a:t>
            </a:r>
          </a:p>
          <a:p>
            <a:r>
              <a:rPr lang="en-US" b="1" dirty="0"/>
              <a:t>Research</a:t>
            </a:r>
            <a:r>
              <a:rPr lang="en-US" dirty="0"/>
              <a:t> – clinical and public health research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74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1B47E-6FD3-9DFF-12F9-56ED3446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1CD8-5F44-AC79-98C8-9C288586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3956"/>
            <a:ext cx="9905998" cy="1478570"/>
          </a:xfrm>
        </p:spPr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BF06B2-FBBB-A823-46E9-1DE840CA7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6122"/>
            <a:ext cx="9905999" cy="38350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Importance of Hospital in Health Care Profession</a:t>
            </a:r>
          </a:p>
          <a:p>
            <a:r>
              <a:rPr lang="en-US" b="1" dirty="0"/>
              <a:t>Center for patient care</a:t>
            </a:r>
            <a:r>
              <a:rPr lang="en-US" dirty="0"/>
              <a:t> – comprehensive medical services</a:t>
            </a:r>
          </a:p>
          <a:p>
            <a:r>
              <a:rPr lang="en-US" b="1" dirty="0"/>
              <a:t>Professional training</a:t>
            </a:r>
            <a:r>
              <a:rPr lang="en-US" dirty="0"/>
              <a:t> – skill development for health workers</a:t>
            </a:r>
          </a:p>
          <a:p>
            <a:r>
              <a:rPr lang="en-US" b="1" dirty="0"/>
              <a:t>Interdisciplinary teamwork</a:t>
            </a:r>
            <a:r>
              <a:rPr lang="en-US" dirty="0"/>
              <a:t> – collaboration among health professionals</a:t>
            </a:r>
          </a:p>
          <a:p>
            <a:r>
              <a:rPr lang="en-US" b="1" dirty="0"/>
              <a:t>Ethical practice</a:t>
            </a:r>
            <a:r>
              <a:rPr lang="en-US" dirty="0"/>
              <a:t> – informed consent, confidentiality, patient rights</a:t>
            </a:r>
          </a:p>
          <a:p>
            <a:r>
              <a:rPr lang="en-US" b="1" dirty="0"/>
              <a:t>Improved doctor-patient relationship</a:t>
            </a:r>
            <a:r>
              <a:rPr lang="en-US" dirty="0"/>
              <a:t> – trust and communication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164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53388-ABB9-F4EC-BB34-4DAAA537E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D54BD-E0E9-D96A-5EEF-2A8E0C7C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43956"/>
            <a:ext cx="9905998" cy="1478570"/>
          </a:xfrm>
        </p:spPr>
        <p:txBody>
          <a:bodyPr>
            <a:noAutofit/>
          </a:bodyPr>
          <a:lstStyle/>
          <a:p>
            <a:r>
              <a:rPr lang="en-US" sz="2800" dirty="0"/>
              <a:t>Define medical sociology distinguish btw sociology of medicine and sociology in medicine explain hospital as a social institution explain its importance in health care profession and public health</a:t>
            </a:r>
            <a:endParaRPr lang="en-IN"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1B0C00-DBF8-F229-3343-28E90B01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56122"/>
            <a:ext cx="9905999" cy="38350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Importance of Hospital in Public Health</a:t>
            </a:r>
          </a:p>
          <a:p>
            <a:r>
              <a:rPr lang="en-US" b="1" dirty="0"/>
              <a:t>Disease surveillance</a:t>
            </a:r>
            <a:r>
              <a:rPr lang="en-US" dirty="0"/>
              <a:t> – reporting of communicable diseases</a:t>
            </a:r>
          </a:p>
          <a:p>
            <a:r>
              <a:rPr lang="en-US" b="1" dirty="0"/>
              <a:t>Health education</a:t>
            </a:r>
            <a:r>
              <a:rPr lang="en-US" dirty="0"/>
              <a:t> – awareness on hygiene, nutrition, family planning</a:t>
            </a:r>
          </a:p>
          <a:p>
            <a:r>
              <a:rPr lang="en-US" b="1" dirty="0"/>
              <a:t>Epidemic control</a:t>
            </a:r>
            <a:r>
              <a:rPr lang="en-US" dirty="0"/>
              <a:t> – isolation, quarantine, emergency response</a:t>
            </a:r>
          </a:p>
          <a:p>
            <a:r>
              <a:rPr lang="en-US" b="1" dirty="0"/>
              <a:t>Maternal and child health services</a:t>
            </a:r>
            <a:endParaRPr lang="en-US" dirty="0"/>
          </a:p>
          <a:p>
            <a:r>
              <a:rPr lang="en-US" b="1" dirty="0"/>
              <a:t>Support for national health programs</a:t>
            </a:r>
            <a:r>
              <a:rPr lang="en-US" dirty="0"/>
              <a:t> – TB, HIV, immunization</a:t>
            </a:r>
          </a:p>
          <a:p>
            <a:r>
              <a:rPr lang="en-US" b="1" dirty="0"/>
              <a:t>Data collection</a:t>
            </a:r>
            <a:r>
              <a:rPr lang="en-US" dirty="0"/>
              <a:t> – morbidity and mortality statistics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919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0081-9548-1BBE-35C2-3E6C013AB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CB5A6-92C1-A1FD-8E6F-60CE82D1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Definition of Social Control</a:t>
            </a:r>
          </a:p>
          <a:p>
            <a:pPr marL="0" indent="0">
              <a:buNone/>
            </a:pPr>
            <a:r>
              <a:rPr lang="en-US" b="1" dirty="0"/>
              <a:t>Social control</a:t>
            </a:r>
            <a:r>
              <a:rPr lang="en-US" dirty="0"/>
              <a:t> refers to the </a:t>
            </a:r>
            <a:r>
              <a:rPr lang="en-US" b="1" dirty="0"/>
              <a:t>mechanisms, processes, and institutions</a:t>
            </a:r>
            <a:r>
              <a:rPr lang="en-US" dirty="0"/>
              <a:t> through which society </a:t>
            </a:r>
            <a:r>
              <a:rPr lang="en-US" b="1" dirty="0"/>
              <a:t>regulates individual and group behavior</a:t>
            </a:r>
            <a:r>
              <a:rPr lang="en-US" dirty="0"/>
              <a:t> to ensure conformity to </a:t>
            </a:r>
            <a:r>
              <a:rPr lang="en-US" b="1" dirty="0"/>
              <a:t>social norms, values, and laws</a:t>
            </a:r>
            <a:r>
              <a:rPr lang="en-US" dirty="0"/>
              <a:t>, thereby maintaining </a:t>
            </a:r>
            <a:r>
              <a:rPr lang="en-US" b="1" dirty="0"/>
              <a:t>social order and stability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016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39D3-E949-B2B9-0189-97888E323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A828E-8634-FAEE-93A3-F01E4EDF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F4FA-6A9B-D8CF-B42A-89E18F29D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Nature of Social Control</a:t>
            </a:r>
          </a:p>
          <a:p>
            <a:r>
              <a:rPr lang="en-US" b="1" dirty="0"/>
              <a:t>Universal</a:t>
            </a:r>
            <a:r>
              <a:rPr lang="en-US" dirty="0"/>
              <a:t> – Present in all societies and cultures</a:t>
            </a:r>
          </a:p>
          <a:p>
            <a:r>
              <a:rPr lang="en-US" b="1" dirty="0"/>
              <a:t>Continuous</a:t>
            </a:r>
            <a:r>
              <a:rPr lang="en-US" dirty="0"/>
              <a:t> – Operates throughout an individual’s life</a:t>
            </a:r>
          </a:p>
          <a:p>
            <a:r>
              <a:rPr lang="en-US" b="1" dirty="0"/>
              <a:t>Dynamic</a:t>
            </a:r>
            <a:r>
              <a:rPr lang="en-US" dirty="0"/>
              <a:t> – Changes with social, cultural, and legal changes</a:t>
            </a:r>
          </a:p>
          <a:p>
            <a:r>
              <a:rPr lang="en-US" b="1" dirty="0"/>
              <a:t>Formal and Informal</a:t>
            </a:r>
            <a:r>
              <a:rPr lang="en-US" dirty="0"/>
              <a:t> – Includes laws as well as customs and traditions</a:t>
            </a:r>
          </a:p>
          <a:p>
            <a:r>
              <a:rPr lang="en-US" b="1" dirty="0"/>
              <a:t>Positive and Negative</a:t>
            </a:r>
            <a:r>
              <a:rPr lang="en-US" dirty="0"/>
              <a:t> – Rewards conformity and punishes deviance</a:t>
            </a:r>
          </a:p>
          <a:p>
            <a:r>
              <a:rPr lang="en-US" b="1" dirty="0"/>
              <a:t>Conscious and Unconscious</a:t>
            </a:r>
            <a:r>
              <a:rPr lang="en-US" dirty="0"/>
              <a:t> – Some controls are deliberate, others internalized</a:t>
            </a:r>
          </a:p>
          <a:p>
            <a:r>
              <a:rPr lang="en-US" b="1" dirty="0"/>
              <a:t>Relative</a:t>
            </a:r>
            <a:r>
              <a:rPr lang="en-US" dirty="0"/>
              <a:t> – Varies from society to society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413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76B0-178C-FF7F-121C-BB49A2AC3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6FE33-13F9-8A30-CC36-DB6011C20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0E7AA-3204-6500-934F-9CC274DBC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Purpose of Social Control</a:t>
            </a:r>
          </a:p>
          <a:p>
            <a:r>
              <a:rPr lang="en-US" b="1" dirty="0"/>
              <a:t>Maintain social order</a:t>
            </a:r>
            <a:endParaRPr lang="en-US" dirty="0"/>
          </a:p>
          <a:p>
            <a:r>
              <a:rPr lang="en-US" b="1" dirty="0"/>
              <a:t>Ensure conformity to norms and values</a:t>
            </a:r>
            <a:endParaRPr lang="en-US" dirty="0"/>
          </a:p>
          <a:p>
            <a:r>
              <a:rPr lang="en-US" b="1" dirty="0"/>
              <a:t>Prevent deviant behavior</a:t>
            </a:r>
            <a:endParaRPr lang="en-US" dirty="0"/>
          </a:p>
          <a:p>
            <a:r>
              <a:rPr lang="en-US" b="1" dirty="0"/>
              <a:t>Promote social unity and stability</a:t>
            </a:r>
            <a:endParaRPr lang="en-US" dirty="0"/>
          </a:p>
          <a:p>
            <a:r>
              <a:rPr lang="en-US" b="1" dirty="0"/>
              <a:t>Protect social institutions</a:t>
            </a:r>
            <a:r>
              <a:rPr lang="en-US" dirty="0"/>
              <a:t> such as family and religion</a:t>
            </a:r>
          </a:p>
          <a:p>
            <a:r>
              <a:rPr lang="en-US" b="1" dirty="0"/>
              <a:t>Regulate social relationships</a:t>
            </a:r>
            <a:endParaRPr lang="en-US" dirty="0"/>
          </a:p>
          <a:p>
            <a:r>
              <a:rPr lang="en-US" b="1" dirty="0"/>
              <a:t>Facilitate socialization of individuals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285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EB4BD-3C3E-8DF9-9D9F-ECB1B49B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8F264-068A-C930-C115-5D4E1DB75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22DB7-A449-62DC-ABA7-9CD58AA67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Types of Social Control</a:t>
            </a:r>
          </a:p>
          <a:p>
            <a:pPr marL="0" indent="0">
              <a:buNone/>
            </a:pPr>
            <a:r>
              <a:rPr lang="en-US" b="1" dirty="0"/>
              <a:t>1. Informal Social Control</a:t>
            </a:r>
          </a:p>
          <a:p>
            <a:r>
              <a:rPr lang="en-US" dirty="0"/>
              <a:t>Based on </a:t>
            </a:r>
            <a:r>
              <a:rPr lang="en-US" b="1" dirty="0"/>
              <a:t>customs, traditions, morals, folkways, and mores</a:t>
            </a:r>
            <a:endParaRPr lang="en-US" dirty="0"/>
          </a:p>
          <a:p>
            <a:r>
              <a:rPr lang="en-US" dirty="0"/>
              <a:t>Enforced through </a:t>
            </a:r>
            <a:r>
              <a:rPr lang="en-US" b="1" dirty="0"/>
              <a:t>family, peer groups, religion, and community</a:t>
            </a:r>
            <a:endParaRPr lang="en-US" dirty="0"/>
          </a:p>
          <a:p>
            <a:r>
              <a:rPr lang="en-US" dirty="0"/>
              <a:t>Includes </a:t>
            </a:r>
            <a:r>
              <a:rPr lang="en-US" b="1" dirty="0"/>
              <a:t>praise, ridicule, gossip, approval, and disapproval</a:t>
            </a:r>
            <a:endParaRPr lang="en-US" dirty="0"/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Respecting elders, dress codes, cultural practices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045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FB11-E0B9-1D08-2DCD-31B9E20FA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CF6F5-4294-254B-46A7-5061B905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F3174-4EA2-C8ED-4897-B8571F63C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Formal Social Control</a:t>
            </a:r>
          </a:p>
          <a:p>
            <a:r>
              <a:rPr lang="en-US" dirty="0"/>
              <a:t>Based on </a:t>
            </a:r>
            <a:r>
              <a:rPr lang="en-US" b="1" dirty="0"/>
              <a:t>written laws and rules</a:t>
            </a:r>
            <a:endParaRPr lang="en-US" dirty="0"/>
          </a:p>
          <a:p>
            <a:r>
              <a:rPr lang="en-US" dirty="0"/>
              <a:t>Enforced by </a:t>
            </a:r>
            <a:r>
              <a:rPr lang="en-US" b="1" dirty="0"/>
              <a:t>state and legal institutions</a:t>
            </a:r>
            <a:endParaRPr lang="en-US" dirty="0"/>
          </a:p>
          <a:p>
            <a:r>
              <a:rPr lang="en-US" dirty="0"/>
              <a:t>Includes </a:t>
            </a:r>
            <a:r>
              <a:rPr lang="en-US" b="1" dirty="0"/>
              <a:t>police action, courts, punishment, fines, imprisonment</a:t>
            </a:r>
            <a:endParaRPr lang="en-US" dirty="0"/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Traffic rules, criminal laws, public health regulations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494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08FAF-5E78-E38E-6413-A0DBC44A7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F0DDC-61AD-9F24-BDA7-0237AFCD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72D08-7C2F-49C0-4DF3-EFFB61216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Positive Social Control</a:t>
            </a:r>
          </a:p>
          <a:p>
            <a:r>
              <a:rPr lang="en-US" dirty="0"/>
              <a:t>Encourages desirable behavior through </a:t>
            </a:r>
            <a:r>
              <a:rPr lang="en-US" b="1" dirty="0"/>
              <a:t>rewards</a:t>
            </a:r>
            <a:endParaRPr lang="en-US" dirty="0"/>
          </a:p>
          <a:p>
            <a:r>
              <a:rPr lang="en-US" dirty="0"/>
              <a:t>Includes praise, recognition, incentives</a:t>
            </a:r>
          </a:p>
          <a:p>
            <a:r>
              <a:rPr lang="en-US" b="1" dirty="0"/>
              <a:t>Examples:</a:t>
            </a:r>
            <a:br>
              <a:rPr lang="en-US" dirty="0"/>
            </a:br>
            <a:r>
              <a:rPr lang="en-US" dirty="0"/>
              <a:t>Awards, promotions, social approval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11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90938-85BB-1117-E160-7E90D14B1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1F90-0D61-185E-2AB7-68B8FE45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333CC-9556-B12F-7FAD-23A8EBBEF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4. Negative Social Control</a:t>
            </a:r>
          </a:p>
          <a:p>
            <a:r>
              <a:rPr lang="en-IN" dirty="0"/>
              <a:t>Discourages undesirable </a:t>
            </a:r>
            <a:r>
              <a:rPr lang="en-IN" dirty="0" err="1"/>
              <a:t>behavior</a:t>
            </a:r>
            <a:r>
              <a:rPr lang="en-IN" dirty="0"/>
              <a:t> through </a:t>
            </a:r>
            <a:r>
              <a:rPr lang="en-IN" b="1" dirty="0"/>
              <a:t>punishments</a:t>
            </a:r>
            <a:endParaRPr lang="en-IN" dirty="0"/>
          </a:p>
          <a:p>
            <a:r>
              <a:rPr lang="en-IN" dirty="0"/>
              <a:t>Includes penalties, social boycott, legal action</a:t>
            </a:r>
          </a:p>
          <a:p>
            <a:r>
              <a:rPr lang="en-IN" b="1" dirty="0"/>
              <a:t>Examples:</a:t>
            </a:r>
            <a:br>
              <a:rPr lang="en-IN" dirty="0"/>
            </a:br>
            <a:r>
              <a:rPr lang="en-IN" dirty="0"/>
              <a:t>Fines, imprisonment, social exclusion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722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F989D-BEA0-81C5-6696-26CBBE26F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0182-1E0A-E92F-0D1E-311DB3BF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20EB9-02A2-4D9A-B103-CAF016C9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Agencies of Social Control</a:t>
            </a:r>
          </a:p>
          <a:p>
            <a:pPr marL="0" indent="0">
              <a:buNone/>
            </a:pPr>
            <a:r>
              <a:rPr lang="en-US" b="1" dirty="0"/>
              <a:t>1. Family</a:t>
            </a:r>
          </a:p>
          <a:p>
            <a:r>
              <a:rPr lang="en-US" dirty="0"/>
              <a:t>First and most important agency</a:t>
            </a:r>
          </a:p>
          <a:p>
            <a:r>
              <a:rPr lang="en-US" dirty="0"/>
              <a:t>Teaches discipline, values, and norms</a:t>
            </a:r>
          </a:p>
          <a:p>
            <a:r>
              <a:rPr lang="en-US" dirty="0"/>
              <a:t>Uses love, affection, and punishment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809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DB26F-E217-45B6-5994-FEB0FC449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F5B9-F9B8-1563-10B2-86491A9E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5343-309C-95DF-46CE-BE0F525DE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Education</a:t>
            </a:r>
          </a:p>
          <a:p>
            <a:r>
              <a:rPr lang="en-US" dirty="0"/>
              <a:t>Schools and colleges enforce discipline and moral values</a:t>
            </a:r>
          </a:p>
          <a:p>
            <a:r>
              <a:rPr lang="en-US" dirty="0"/>
              <a:t>Promote obedience, cooperation, and responsibility</a:t>
            </a:r>
          </a:p>
          <a:p>
            <a:pPr marL="0" indent="0">
              <a:buNone/>
            </a:pPr>
            <a:r>
              <a:rPr lang="en-US" b="1" dirty="0"/>
              <a:t>3. Religion</a:t>
            </a:r>
          </a:p>
          <a:p>
            <a:r>
              <a:rPr lang="en-US" dirty="0"/>
              <a:t>Regulates behavior through beliefs, rituals, and moral teachings</a:t>
            </a:r>
          </a:p>
          <a:p>
            <a:r>
              <a:rPr lang="en-US" dirty="0"/>
              <a:t>Encourages ethical conduct and fear of divine punishment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05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AB6A-3633-A1DC-823B-B1126560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47815-F5EA-F81C-46FB-9CFFAE1F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CF196-F2D1-80E3-B652-56545EDFC9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State</a:t>
            </a:r>
          </a:p>
          <a:p>
            <a:r>
              <a:rPr lang="en-US" dirty="0"/>
              <a:t>Enforces laws through </a:t>
            </a:r>
            <a:r>
              <a:rPr lang="en-US" b="1" dirty="0"/>
              <a:t>police, courts, army, and administration</a:t>
            </a:r>
            <a:endParaRPr lang="en-US" dirty="0"/>
          </a:p>
          <a:p>
            <a:r>
              <a:rPr lang="en-US" dirty="0"/>
              <a:t>Most powerful formal agency</a:t>
            </a:r>
          </a:p>
          <a:p>
            <a:pPr marL="0" indent="0">
              <a:buNone/>
            </a:pPr>
            <a:r>
              <a:rPr lang="en-US" b="1" dirty="0"/>
              <a:t>5. Community</a:t>
            </a:r>
          </a:p>
          <a:p>
            <a:r>
              <a:rPr lang="en-US" dirty="0"/>
              <a:t>Neighborhood, caste groups, local councils</a:t>
            </a:r>
          </a:p>
          <a:p>
            <a:r>
              <a:rPr lang="en-US" dirty="0"/>
              <a:t>Uses social approval or disapproval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3656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0DA96-7A38-F9A0-4743-A00F83BE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02C36-44EA-0C1F-5C8A-4301AC2B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331B0-F3C6-F360-3A90-2939EF126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Public Opinion</a:t>
            </a:r>
          </a:p>
          <a:p>
            <a:r>
              <a:rPr lang="en-US" dirty="0"/>
              <a:t>Collective attitude of society</a:t>
            </a:r>
          </a:p>
          <a:p>
            <a:r>
              <a:rPr lang="en-US" dirty="0"/>
              <a:t>Influences behavior through praise or criticism</a:t>
            </a:r>
          </a:p>
          <a:p>
            <a:pPr marL="0" indent="0">
              <a:buNone/>
            </a:pPr>
            <a:r>
              <a:rPr lang="en-US" b="1" dirty="0"/>
              <a:t>7. Media</a:t>
            </a:r>
          </a:p>
          <a:p>
            <a:r>
              <a:rPr lang="en-US" dirty="0"/>
              <a:t>Newspapers, television, social media</a:t>
            </a:r>
          </a:p>
          <a:p>
            <a:r>
              <a:rPr lang="en-US" dirty="0"/>
              <a:t>Shapes attitudes and behavior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645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062E-20E8-1AFB-5CAD-3909FF13B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7520-70E8-DDF5-8192-A30CCF18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Define social control discuss nature , purpose , types and agencies of social control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F6EC0-776F-A568-1457-2A4A4938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Peer Groups</a:t>
            </a:r>
          </a:p>
          <a:p>
            <a:r>
              <a:rPr lang="en-US" dirty="0"/>
              <a:t>Strong influence, especially among youth</a:t>
            </a:r>
          </a:p>
          <a:p>
            <a:r>
              <a:rPr lang="en-US" dirty="0"/>
              <a:t>Enforce group norms and behavior patterns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6469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E6F9-7ED3-C10F-BA6D-7955CC356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E44B7-9D21-64BD-229E-25A09E5AF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Environmental Pollution – A Note</a:t>
            </a:r>
          </a:p>
          <a:p>
            <a:pPr marL="0" indent="0">
              <a:buNone/>
            </a:pPr>
            <a:r>
              <a:rPr lang="en-US" b="1" dirty="0"/>
              <a:t>Definition : Environmental pollution</a:t>
            </a:r>
            <a:r>
              <a:rPr lang="en-US" dirty="0"/>
              <a:t> refers to the introduction of </a:t>
            </a:r>
            <a:r>
              <a:rPr lang="en-US" b="1" dirty="0"/>
              <a:t>harmful substances or energy</a:t>
            </a:r>
            <a:r>
              <a:rPr lang="en-US" dirty="0"/>
              <a:t> into the environment (air, water, or land) in quantities that cause </a:t>
            </a:r>
            <a:r>
              <a:rPr lang="en-US" b="1" dirty="0"/>
              <a:t>adverse effects on human health, living organisms, and ecosystems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6593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43F6-6290-4282-C7DA-C037BF03F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33B1A-CE98-8B63-E167-0905EF41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53EA2-0D4A-94D7-EF27-27FE03877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Types of Environmental Pollution</a:t>
            </a:r>
          </a:p>
          <a:p>
            <a:pPr marL="0" indent="0">
              <a:buNone/>
            </a:pPr>
            <a:r>
              <a:rPr lang="en-IN" b="1" dirty="0"/>
              <a:t>1. Air Pollution</a:t>
            </a:r>
          </a:p>
          <a:p>
            <a:r>
              <a:rPr lang="en-IN" dirty="0"/>
              <a:t>Caused by vehicle emissions, industrial smoke, burning of fossil fuels</a:t>
            </a:r>
          </a:p>
          <a:p>
            <a:r>
              <a:rPr lang="en-IN" dirty="0"/>
              <a:t>Major pollutants: carbon monoxide, </a:t>
            </a:r>
            <a:r>
              <a:rPr lang="en-IN" dirty="0" err="1"/>
              <a:t>sulfur</a:t>
            </a:r>
            <a:r>
              <a:rPr lang="en-IN" dirty="0"/>
              <a:t> dioxide, nitrogen oxides, particulate matter</a:t>
            </a:r>
          </a:p>
          <a:p>
            <a:r>
              <a:rPr lang="en-IN" b="1" dirty="0"/>
              <a:t>Health effects:</a:t>
            </a:r>
            <a:r>
              <a:rPr lang="en-IN" dirty="0"/>
              <a:t> asthma, bronchitis, lung cancer, cardiovascular diseases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667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C02CA-445F-850E-BA07-75D3A3AC9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E608-D603-62C3-B5A1-8976193DC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FBBC-ED6D-1505-C9D1-3A0C10749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3. Soil (Land) Pollution</a:t>
            </a:r>
          </a:p>
          <a:p>
            <a:r>
              <a:rPr lang="en-US" dirty="0"/>
              <a:t>Caused by solid waste, pesticides, industrial chemicals</a:t>
            </a:r>
          </a:p>
          <a:p>
            <a:r>
              <a:rPr lang="en-US" dirty="0"/>
              <a:t>Leads to loss of soil fertility and contamination of food chain</a:t>
            </a:r>
          </a:p>
          <a:p>
            <a:pPr marL="0" indent="0">
              <a:buNone/>
            </a:pPr>
            <a:r>
              <a:rPr lang="en-US" b="1" dirty="0"/>
              <a:t>4. Noise Pollution</a:t>
            </a:r>
          </a:p>
          <a:p>
            <a:r>
              <a:rPr lang="en-US" dirty="0"/>
              <a:t>Sources include traffic, industries, loudspeakers</a:t>
            </a:r>
          </a:p>
          <a:p>
            <a:r>
              <a:rPr lang="en-US" b="1" dirty="0"/>
              <a:t>Health effects:</a:t>
            </a:r>
            <a:r>
              <a:rPr lang="en-US" dirty="0"/>
              <a:t> hearing loss, stress, hypertension, sleep disturbance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700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CEAA5-23C7-15BE-4E9B-02921905D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476B-E655-96EC-336A-F17BA5A2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DE9F7-60F6-023A-B3B9-10B326940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5. Radiation Pollution</a:t>
            </a:r>
          </a:p>
          <a:p>
            <a:r>
              <a:rPr lang="en-US" dirty="0"/>
              <a:t>Caused by nuclear waste, medical radiation, nuclear accidents</a:t>
            </a:r>
          </a:p>
          <a:p>
            <a:r>
              <a:rPr lang="en-US" dirty="0"/>
              <a:t>Causes genetic mutations, cancers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747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87444-4707-76F4-1C7F-8040E1A5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0F9-A67B-4B6F-0A6C-97F9C6E2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BDDDA-84F3-4742-BA4E-7CC002157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Effects of Environmental Pollution</a:t>
            </a:r>
          </a:p>
          <a:p>
            <a:r>
              <a:rPr lang="en-US" dirty="0"/>
              <a:t>Deterioration of human health</a:t>
            </a:r>
          </a:p>
          <a:p>
            <a:r>
              <a:rPr lang="en-US" dirty="0"/>
              <a:t>Climate change and global warming</a:t>
            </a:r>
          </a:p>
          <a:p>
            <a:r>
              <a:rPr lang="en-US" dirty="0"/>
              <a:t>Loss of biodiversity</a:t>
            </a:r>
          </a:p>
          <a:p>
            <a:r>
              <a:rPr lang="en-US" dirty="0"/>
              <a:t>Depletion of natural resources</a:t>
            </a:r>
          </a:p>
          <a:p>
            <a:r>
              <a:rPr lang="en-US" dirty="0"/>
              <a:t>Ecological imbalance</a:t>
            </a:r>
          </a:p>
          <a:p>
            <a:r>
              <a:rPr lang="en-US" dirty="0"/>
              <a:t>Reduced quality of life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269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43BFC-3FE9-60E3-9BE6-3CC1D5A31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E96B-101E-0582-4E33-D5700EAB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727A1-A0DD-C585-EF15-FAEC17D11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Intervention Strategies for Sustainable Development</a:t>
            </a:r>
          </a:p>
          <a:p>
            <a:pPr marL="0" indent="0">
              <a:buNone/>
            </a:pPr>
            <a:r>
              <a:rPr lang="en-US" b="1" dirty="0"/>
              <a:t>Sustainable Development – Definition : Sustainable development</a:t>
            </a:r>
            <a:r>
              <a:rPr lang="en-US" dirty="0"/>
              <a:t> is development that meets the needs of the present </a:t>
            </a:r>
            <a:r>
              <a:rPr lang="en-US" b="1" dirty="0"/>
              <a:t>without compromising the ability of future generations</a:t>
            </a:r>
            <a:r>
              <a:rPr lang="en-US" dirty="0"/>
              <a:t> to meet their own needs.</a:t>
            </a:r>
          </a:p>
          <a:p>
            <a:pPr marL="0" indent="0">
              <a:buNone/>
            </a:pPr>
            <a:r>
              <a:rPr lang="en-US" b="1" dirty="0"/>
              <a:t>Major Intervention Strategies</a:t>
            </a:r>
          </a:p>
          <a:p>
            <a:pPr marL="0" indent="0">
              <a:buNone/>
            </a:pPr>
            <a:r>
              <a:rPr lang="en-US" b="1" dirty="0"/>
              <a:t>1. Environmental Protection Measures</a:t>
            </a:r>
          </a:p>
          <a:p>
            <a:r>
              <a:rPr lang="en-US" dirty="0"/>
              <a:t>Control of industrial emissions</a:t>
            </a:r>
          </a:p>
          <a:p>
            <a:r>
              <a:rPr lang="en-US" dirty="0"/>
              <a:t>Pollution control laws and standards</a:t>
            </a:r>
          </a:p>
          <a:p>
            <a:r>
              <a:rPr lang="en-US" dirty="0"/>
              <a:t>Proper waste management systems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3664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346B-2E7E-7023-2C0E-07BF5E0E6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9C0AC-8EE7-8B8B-FFEF-997EE761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50473-EFEF-FF57-42AE-CD522EE1B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2. Use of Renewable Energy</a:t>
            </a:r>
          </a:p>
          <a:p>
            <a:r>
              <a:rPr lang="en-US" dirty="0"/>
              <a:t>Solar, wind, hydroelectric energy</a:t>
            </a:r>
          </a:p>
          <a:p>
            <a:r>
              <a:rPr lang="en-US" dirty="0"/>
              <a:t>Reduces dependence on fossil fuels</a:t>
            </a:r>
          </a:p>
          <a:p>
            <a:r>
              <a:rPr lang="en-US" dirty="0"/>
              <a:t>Minimizes air pollution and greenhouse gases</a:t>
            </a:r>
          </a:p>
          <a:p>
            <a:pPr marL="0" indent="0">
              <a:buNone/>
            </a:pPr>
            <a:r>
              <a:rPr lang="en-US" b="1" dirty="0"/>
              <a:t>3. Waste Management Strategies</a:t>
            </a:r>
          </a:p>
          <a:p>
            <a:r>
              <a:rPr lang="en-US" b="1" dirty="0"/>
              <a:t>Reduce, Reuse, Recycle (3Rs)</a:t>
            </a:r>
            <a:endParaRPr lang="en-US" dirty="0"/>
          </a:p>
          <a:p>
            <a:r>
              <a:rPr lang="en-US" dirty="0"/>
              <a:t>Scientific disposal of biomedical and hazardous waste</a:t>
            </a:r>
          </a:p>
          <a:p>
            <a:r>
              <a:rPr lang="en-US" dirty="0"/>
              <a:t>Composting and waste segregation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391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087B-568D-A787-9353-BCC1A8361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8416A-8D36-6F3E-B0DD-B2130C1B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66C73-69B7-68AF-05D8-09508E1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Conservation of Natural Resources</a:t>
            </a:r>
          </a:p>
          <a:p>
            <a:r>
              <a:rPr lang="en-US" dirty="0"/>
              <a:t>Water conservation and rainwater harvesting</a:t>
            </a:r>
          </a:p>
          <a:p>
            <a:r>
              <a:rPr lang="en-US" dirty="0"/>
              <a:t>Forest conservation and afforestation</a:t>
            </a:r>
          </a:p>
          <a:p>
            <a:r>
              <a:rPr lang="en-US" dirty="0"/>
              <a:t>Protection of wildlife and biodiversity</a:t>
            </a:r>
          </a:p>
          <a:p>
            <a:pPr marL="0" indent="0">
              <a:buNone/>
            </a:pPr>
            <a:r>
              <a:rPr lang="en-US" b="1" dirty="0"/>
              <a:t>5. Sustainable Agriculture</a:t>
            </a:r>
          </a:p>
          <a:p>
            <a:r>
              <a:rPr lang="en-US" dirty="0"/>
              <a:t>Organic farming</a:t>
            </a:r>
          </a:p>
          <a:p>
            <a:r>
              <a:rPr lang="en-US" dirty="0"/>
              <a:t>Reduced use of chemical fertilizers and pesticides</a:t>
            </a:r>
          </a:p>
          <a:p>
            <a:r>
              <a:rPr lang="en-US" dirty="0"/>
              <a:t>Soil conservation techniques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620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3226-2234-08AD-7969-9EE9AE18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D2A9-4850-4329-3AE1-FD9AC47E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42FF4-C0BD-2B8D-E93A-36465811BF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6. Urban Planning and Transportation</a:t>
            </a:r>
          </a:p>
          <a:p>
            <a:r>
              <a:rPr lang="en-US" dirty="0"/>
              <a:t>Planned urban development</a:t>
            </a:r>
          </a:p>
          <a:p>
            <a:r>
              <a:rPr lang="en-US" dirty="0"/>
              <a:t>Public transport promotion</a:t>
            </a:r>
          </a:p>
          <a:p>
            <a:r>
              <a:rPr lang="en-US" dirty="0"/>
              <a:t>Green buildings and eco-friendly infrastructure</a:t>
            </a:r>
          </a:p>
          <a:p>
            <a:pPr marL="0" indent="0">
              <a:buNone/>
            </a:pPr>
            <a:r>
              <a:rPr lang="en-US" b="1" dirty="0"/>
              <a:t>7. Public Awareness and Education</a:t>
            </a:r>
          </a:p>
          <a:p>
            <a:r>
              <a:rPr lang="en-US" dirty="0"/>
              <a:t>Environmental education in schools and colleges</a:t>
            </a:r>
          </a:p>
          <a:p>
            <a:r>
              <a:rPr lang="en-US" dirty="0"/>
              <a:t>Community participation</a:t>
            </a:r>
          </a:p>
          <a:p>
            <a:r>
              <a:rPr lang="en-US" dirty="0"/>
              <a:t>Promotion of eco-friendly lifestyles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24337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703D-BE57-51B8-54DD-7DCE0FE8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0114-B720-F168-BC21-F58CEC8A7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473D-D5E0-B160-527D-495067DCB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8. Policy and Legal Interventions</a:t>
            </a:r>
          </a:p>
          <a:p>
            <a:r>
              <a:rPr lang="en-US" dirty="0"/>
              <a:t>Environmental protection acts</a:t>
            </a:r>
          </a:p>
          <a:p>
            <a:r>
              <a:rPr lang="en-US" dirty="0"/>
              <a:t>Enforcement of pollution control regulations</a:t>
            </a:r>
          </a:p>
          <a:p>
            <a:r>
              <a:rPr lang="en-US" dirty="0"/>
              <a:t>International cooperation and agreements</a:t>
            </a:r>
          </a:p>
          <a:p>
            <a:pPr marL="0" indent="0">
              <a:buNone/>
            </a:pPr>
            <a:r>
              <a:rPr lang="en-US" b="1" dirty="0"/>
              <a:t>9. Health Sector Interventions</a:t>
            </a:r>
          </a:p>
          <a:p>
            <a:r>
              <a:rPr lang="en-US" dirty="0"/>
              <a:t>Environmental health surveillance</a:t>
            </a:r>
          </a:p>
          <a:p>
            <a:r>
              <a:rPr lang="en-US" dirty="0"/>
              <a:t>Control of hospital and biomedical waste</a:t>
            </a:r>
          </a:p>
          <a:p>
            <a:r>
              <a:rPr lang="en-US" dirty="0"/>
              <a:t>Research on environment-related diseases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1846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8B5D-32F4-BB04-107B-06B5B40BA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0EB9C-DB87-728B-3685-F90B83A6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write a note on environment pollution discuss the intervention strategies for sustainable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EA95-48F3-99D6-A7BB-952C82D19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3037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Role of Health Professionals</a:t>
            </a:r>
          </a:p>
          <a:p>
            <a:r>
              <a:rPr lang="en-US" dirty="0"/>
              <a:t>Health education on pollution-related diseases</a:t>
            </a:r>
          </a:p>
          <a:p>
            <a:r>
              <a:rPr lang="en-US" dirty="0"/>
              <a:t>Advocacy for clean environment</a:t>
            </a:r>
          </a:p>
          <a:p>
            <a:r>
              <a:rPr lang="en-US" dirty="0"/>
              <a:t>Participation in public health programs</a:t>
            </a:r>
          </a:p>
          <a:p>
            <a:r>
              <a:rPr lang="en-US" dirty="0"/>
              <a:t>Reporting environmental hazards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674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A0ED3-3699-30D1-E195-E1194443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83BDD-2058-A1CD-3800-09F1B5E7F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Health Practices – Meaning</a:t>
            </a:r>
          </a:p>
          <a:p>
            <a:pPr marL="0" indent="0">
              <a:buNone/>
            </a:pPr>
            <a:r>
              <a:rPr lang="en-US" b="1" dirty="0"/>
              <a:t>Health practices</a:t>
            </a:r>
            <a:r>
              <a:rPr lang="en-US" dirty="0"/>
              <a:t> refer to the </a:t>
            </a:r>
            <a:r>
              <a:rPr lang="en-US" b="1" dirty="0"/>
              <a:t>beliefs, behaviors, and systems</a:t>
            </a:r>
            <a:r>
              <a:rPr lang="en-US" dirty="0"/>
              <a:t> followed by individuals and communities to </a:t>
            </a:r>
            <a:r>
              <a:rPr lang="en-US" b="1" dirty="0"/>
              <a:t>maintain health, prevent illness, and treat diseases</a:t>
            </a:r>
            <a:r>
              <a:rPr lang="en-US" dirty="0"/>
              <a:t>. These practices vary across cultures, regions, and levels of development.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5030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1EA7C-A54A-0D41-57AC-2E955D42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1C3F-88CF-83EA-DCB3-E0C9A5BB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5608-DB3E-7AFA-AAE8-CE0E130DF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Types of Health Practices in the World</a:t>
            </a:r>
          </a:p>
          <a:p>
            <a:pPr marL="0" indent="0">
              <a:buNone/>
            </a:pPr>
            <a:r>
              <a:rPr lang="en-US" b="1" dirty="0"/>
              <a:t>1. Indigenous / Traditional Health Practices</a:t>
            </a:r>
          </a:p>
          <a:p>
            <a:r>
              <a:rPr lang="en-US" dirty="0"/>
              <a:t>These are </a:t>
            </a:r>
            <a:r>
              <a:rPr lang="en-US" b="1" dirty="0"/>
              <a:t>age-old practices</a:t>
            </a:r>
            <a:r>
              <a:rPr lang="en-US" dirty="0"/>
              <a:t> rooted in culture and tradition.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Based on beliefs, customs, and experience</a:t>
            </a:r>
          </a:p>
          <a:p>
            <a:r>
              <a:rPr lang="en-US" dirty="0"/>
              <a:t>Use natural resources like herbs, roots, and rituals</a:t>
            </a:r>
          </a:p>
          <a:p>
            <a:r>
              <a:rPr lang="en-US" dirty="0"/>
              <a:t>Passed orally from generation to generation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Tribal medicine in Africa and Australia</a:t>
            </a:r>
          </a:p>
          <a:p>
            <a:r>
              <a:rPr lang="en-US" dirty="0"/>
              <a:t>Folk medicine in rural India</a:t>
            </a:r>
          </a:p>
          <a:p>
            <a:r>
              <a:rPr lang="en-US" dirty="0"/>
              <a:t>Shamanism in South America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7330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B4D4-F4B8-60DF-E4C7-0BC105E0A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7B9B2-A3EB-82F1-C470-08B8F02B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072BA-A764-5401-BC5E-83116248C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Merits</a:t>
            </a:r>
          </a:p>
          <a:p>
            <a:r>
              <a:rPr lang="en-US" dirty="0"/>
              <a:t>Easily accessible</a:t>
            </a:r>
          </a:p>
          <a:p>
            <a:r>
              <a:rPr lang="en-US" dirty="0"/>
              <a:t>Low cost</a:t>
            </a:r>
          </a:p>
          <a:p>
            <a:r>
              <a:rPr lang="en-US" dirty="0"/>
              <a:t>Culturally acceptable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Lack of scientific validation</a:t>
            </a:r>
          </a:p>
          <a:p>
            <a:r>
              <a:rPr lang="en-US" dirty="0"/>
              <a:t>Risk of delay in proper treatment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35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6D767-214F-6951-9DE3-0614735E5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9D2D-DF2F-2246-9211-D1E62BDAC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37365-0DAE-A7AD-59A4-9C6AA437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Ayurveda (India)</a:t>
            </a:r>
          </a:p>
          <a:p>
            <a:r>
              <a:rPr lang="en-IN" dirty="0"/>
              <a:t>One of the </a:t>
            </a:r>
            <a:r>
              <a:rPr lang="en-IN" b="1" dirty="0"/>
              <a:t>oldest systems of medicine</a:t>
            </a:r>
            <a:endParaRPr lang="en-IN" dirty="0"/>
          </a:p>
          <a:p>
            <a:r>
              <a:rPr lang="en-IN" dirty="0"/>
              <a:t>Based on </a:t>
            </a:r>
            <a:r>
              <a:rPr lang="en-IN" b="1" dirty="0" err="1"/>
              <a:t>Tridosha</a:t>
            </a:r>
            <a:r>
              <a:rPr lang="en-IN" b="1" dirty="0"/>
              <a:t> theory</a:t>
            </a:r>
            <a:r>
              <a:rPr lang="en-IN" dirty="0"/>
              <a:t> – Vata, Pitta, Kapha</a:t>
            </a:r>
          </a:p>
          <a:p>
            <a:r>
              <a:rPr lang="en-IN" dirty="0"/>
              <a:t>Emphasizes balance of body, mind, and soul</a:t>
            </a:r>
          </a:p>
          <a:p>
            <a:r>
              <a:rPr lang="en-IN" b="1" dirty="0"/>
              <a:t>Practices:</a:t>
            </a:r>
            <a:r>
              <a:rPr lang="en-IN" dirty="0"/>
              <a:t> Panchakarma, herbal drugs, yoga, diet control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8308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1D6A-930A-D549-05C3-1D54FCA6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E4C5-D33C-9A6C-6587-D451AAC65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D9199-BF52-46E3-FFC5-5E991BEE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Yoga and Naturopathy</a:t>
            </a:r>
          </a:p>
          <a:p>
            <a:r>
              <a:rPr lang="en-US" dirty="0"/>
              <a:t>Focus on </a:t>
            </a:r>
            <a:r>
              <a:rPr lang="en-US" b="1" dirty="0"/>
              <a:t>natural healing and prevention</a:t>
            </a:r>
            <a:endParaRPr lang="en-US" dirty="0"/>
          </a:p>
          <a:p>
            <a:r>
              <a:rPr lang="en-US" dirty="0"/>
              <a:t>Uses yoga, meditation, fasting, hydrotherapy, and lifestyle modification</a:t>
            </a:r>
          </a:p>
          <a:p>
            <a:r>
              <a:rPr lang="en-US" dirty="0"/>
              <a:t>Promotes physical, mental, and spiritual health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014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E1219-D36A-17E5-7A2B-4674C19C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87786-C1E8-528B-8470-AA9B31EA0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3C74-729F-53FD-8CA3-F75850453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Siddha System (India)</a:t>
            </a:r>
          </a:p>
          <a:p>
            <a:r>
              <a:rPr lang="en-US" dirty="0"/>
              <a:t>Originated in South India</a:t>
            </a:r>
          </a:p>
          <a:p>
            <a:r>
              <a:rPr lang="en-US" dirty="0"/>
              <a:t>Uses herbs, minerals, and metals</a:t>
            </a:r>
          </a:p>
          <a:p>
            <a:r>
              <a:rPr lang="en-US" dirty="0"/>
              <a:t>Emphasizes rejuvenation and longevity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4507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44E3C-EA7B-2E06-64EC-BD728EACE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191FD-1186-F4A6-0CF9-75DE4A19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5969E-9850-0AE8-884F-5E88CFB86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Unani System</a:t>
            </a:r>
          </a:p>
          <a:p>
            <a:r>
              <a:rPr lang="en-US" dirty="0"/>
              <a:t>Originated in Greece, developed in Arab countries</a:t>
            </a:r>
          </a:p>
          <a:p>
            <a:r>
              <a:rPr lang="en-US" dirty="0"/>
              <a:t>Based on </a:t>
            </a:r>
            <a:r>
              <a:rPr lang="en-US" b="1" dirty="0"/>
              <a:t>humoral theory</a:t>
            </a:r>
            <a:r>
              <a:rPr lang="en-US" dirty="0"/>
              <a:t> (blood, phlegm, yellow bile, black bile)</a:t>
            </a:r>
          </a:p>
          <a:p>
            <a:r>
              <a:rPr lang="en-US" dirty="0"/>
              <a:t>Widely practiced in South Asia and the Middle East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015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3292-F22C-263D-4205-95989FA8E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13EA-4DB8-FEAB-5D9F-96C1275C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7BFD1-51AA-4784-1FBF-CB16511B4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Homeopathy</a:t>
            </a:r>
          </a:p>
          <a:p>
            <a:r>
              <a:rPr lang="en-US" dirty="0"/>
              <a:t>Founded by </a:t>
            </a:r>
            <a:r>
              <a:rPr lang="en-US" b="1" dirty="0"/>
              <a:t>Samuel Hahnemann</a:t>
            </a:r>
            <a:endParaRPr lang="en-US" dirty="0"/>
          </a:p>
          <a:p>
            <a:r>
              <a:rPr lang="en-US" dirty="0"/>
              <a:t>Based on the principle </a:t>
            </a:r>
            <a:r>
              <a:rPr lang="en-US" b="1" dirty="0"/>
              <a:t>“like cures like”</a:t>
            </a:r>
            <a:endParaRPr lang="en-US" dirty="0"/>
          </a:p>
          <a:p>
            <a:r>
              <a:rPr lang="en-US" dirty="0"/>
              <a:t>Uses highly diluted substances</a:t>
            </a:r>
          </a:p>
          <a:p>
            <a:r>
              <a:rPr lang="en-US" b="1" dirty="0"/>
              <a:t>Common in:</a:t>
            </a:r>
            <a:r>
              <a:rPr lang="en-US" dirty="0"/>
              <a:t> Europe, India, South America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563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310DA-4253-E3DD-E9C3-60663535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8478-43A2-5A12-00F0-B66C90D5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D70C-0716-8BF1-A997-BB6C93814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7. Modern / Allopathic Medicine</a:t>
            </a:r>
          </a:p>
          <a:p>
            <a:r>
              <a:rPr lang="en-US" dirty="0"/>
              <a:t>Based on </a:t>
            </a:r>
            <a:r>
              <a:rPr lang="en-US" b="1" dirty="0"/>
              <a:t>scientific research and evidence</a:t>
            </a:r>
            <a:endParaRPr lang="en-US" dirty="0"/>
          </a:p>
          <a:p>
            <a:r>
              <a:rPr lang="en-US" dirty="0"/>
              <a:t>Uses drugs, surgery, and advanced technology</a:t>
            </a:r>
          </a:p>
          <a:p>
            <a:pPr marL="0" indent="0">
              <a:buNone/>
            </a:pPr>
            <a:r>
              <a:rPr lang="en-US" b="1" dirty="0"/>
              <a:t>Features</a:t>
            </a:r>
          </a:p>
          <a:p>
            <a:r>
              <a:rPr lang="en-US" dirty="0"/>
              <a:t>Quick relief</a:t>
            </a:r>
          </a:p>
          <a:p>
            <a:r>
              <a:rPr lang="en-US" dirty="0"/>
              <a:t>Effective in emergencies and infectious diseases</a:t>
            </a:r>
          </a:p>
          <a:p>
            <a:r>
              <a:rPr lang="en-US" dirty="0"/>
              <a:t>Well-developed diagnostic facilities</a:t>
            </a:r>
          </a:p>
          <a:p>
            <a:pPr marL="0" indent="0">
              <a:buNone/>
            </a:pPr>
            <a:r>
              <a:rPr lang="en-US" b="1" dirty="0"/>
              <a:t>Limitations</a:t>
            </a:r>
          </a:p>
          <a:p>
            <a:r>
              <a:rPr lang="en-US" dirty="0"/>
              <a:t>Expensive</a:t>
            </a:r>
          </a:p>
          <a:p>
            <a:r>
              <a:rPr lang="en-US" dirty="0"/>
              <a:t>Side effects of drugs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8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AE871-C2D0-4A00-680D-69DFB942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71A0A-B88C-6CE9-7BA3-E574D4C7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829A4-735E-5EF3-E61D-362819B7C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8. Complementary and Alternative Medicine (CAM)</a:t>
            </a:r>
          </a:p>
          <a:p>
            <a:r>
              <a:rPr lang="en-US" dirty="0"/>
              <a:t>Used along with modern medicine.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Acupuncture (China)</a:t>
            </a:r>
          </a:p>
          <a:p>
            <a:r>
              <a:rPr lang="en-US" dirty="0"/>
              <a:t>Chiropractic therapy</a:t>
            </a:r>
          </a:p>
          <a:p>
            <a:r>
              <a:rPr lang="en-US" dirty="0"/>
              <a:t>Aromatherapy</a:t>
            </a:r>
          </a:p>
          <a:p>
            <a:r>
              <a:rPr lang="en-US" dirty="0"/>
              <a:t>Reiki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342647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EAEA-6301-4E42-F557-8F17FBE7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DDE27-8E42-C136-57D1-574C3C30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E0B43-6E55-44CD-5270-D61254F32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9. Chinese Traditional Medicine</a:t>
            </a:r>
          </a:p>
          <a:p>
            <a:r>
              <a:rPr lang="en-US" dirty="0"/>
              <a:t>Based on </a:t>
            </a:r>
            <a:r>
              <a:rPr lang="en-US" b="1" dirty="0"/>
              <a:t>Yin–Yang balance</a:t>
            </a:r>
            <a:r>
              <a:rPr lang="en-US" dirty="0"/>
              <a:t> and flow of </a:t>
            </a:r>
            <a:r>
              <a:rPr lang="en-US" b="1" dirty="0"/>
              <a:t>Qi</a:t>
            </a:r>
            <a:endParaRPr lang="en-US" dirty="0"/>
          </a:p>
          <a:p>
            <a:r>
              <a:rPr lang="en-US" dirty="0"/>
              <a:t>Includes acupuncture, acupressure, herbal therapy, tai chi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8159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1BB65-2CBF-67F5-800D-A839B0FA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EAA0A-FF08-FFC4-2C6D-E9AFDDB1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3527E-2898-DC9F-2589-189A4AA0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10. Faith and Spiritual Healing</a:t>
            </a:r>
          </a:p>
          <a:p>
            <a:r>
              <a:rPr lang="en-US" dirty="0"/>
              <a:t>Healing through prayers, rituals, holy water, and religious faith</a:t>
            </a:r>
          </a:p>
          <a:p>
            <a:r>
              <a:rPr lang="en-US" dirty="0"/>
              <a:t>Common in many cultures worldwide</a:t>
            </a:r>
          </a:p>
          <a:p>
            <a:pPr marL="0" indent="0">
              <a:buNone/>
            </a:pPr>
            <a:r>
              <a:rPr lang="en-US" b="1" dirty="0"/>
              <a:t>Role</a:t>
            </a:r>
          </a:p>
          <a:p>
            <a:r>
              <a:rPr lang="en-US" dirty="0"/>
              <a:t>Psychological comfort</a:t>
            </a:r>
          </a:p>
          <a:p>
            <a:r>
              <a:rPr lang="en-US" dirty="0"/>
              <a:t>Emotional support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25079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9879-89C2-DABE-C336-C1090135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133C-7C58-00D2-8ECE-D84E317F3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3719-2065-B47E-59E9-1C51B6ECF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11. Preventive and Public Health Practices</a:t>
            </a:r>
          </a:p>
          <a:p>
            <a:r>
              <a:rPr lang="en-US" dirty="0"/>
              <a:t>Immunization</a:t>
            </a:r>
          </a:p>
          <a:p>
            <a:r>
              <a:rPr lang="en-US" dirty="0"/>
              <a:t>Sanitation and hygiene</a:t>
            </a:r>
          </a:p>
          <a:p>
            <a:r>
              <a:rPr lang="en-US" dirty="0"/>
              <a:t>Health education</a:t>
            </a:r>
          </a:p>
          <a:p>
            <a:r>
              <a:rPr lang="en-US" dirty="0"/>
              <a:t>Nutrition programs</a:t>
            </a:r>
          </a:p>
          <a:p>
            <a:r>
              <a:rPr lang="en-US" b="1" dirty="0"/>
              <a:t>Practiced globally through WHO and national health systems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097441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5784-E64B-2E5A-2B4D-8F90678D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5345E-4DE3-CC0C-8730-5C93D7ED8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different types of health practices in and around the world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94549-7360-F2DF-8FC4-B1A3368D6D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Factors Influencing Health Practices</a:t>
            </a:r>
          </a:p>
          <a:p>
            <a:r>
              <a:rPr lang="en-US" dirty="0"/>
              <a:t>Culture and tradition</a:t>
            </a:r>
          </a:p>
          <a:p>
            <a:r>
              <a:rPr lang="en-US" dirty="0"/>
              <a:t>Religion and beliefs</a:t>
            </a:r>
          </a:p>
          <a:p>
            <a:r>
              <a:rPr lang="en-US" dirty="0"/>
              <a:t>Education level</a:t>
            </a:r>
          </a:p>
          <a:p>
            <a:r>
              <a:rPr lang="en-US" dirty="0"/>
              <a:t>Socio-economic status</a:t>
            </a:r>
          </a:p>
          <a:p>
            <a:r>
              <a:rPr lang="en-US" dirty="0"/>
              <a:t>Accessibility to health services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585183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7DE8-6EC5-E8BF-58CD-EFE74FDFE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9751F-9C9E-6A7C-D87C-3CE6A729A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Importance of Social Epidemiology in Public Health</a:t>
            </a:r>
          </a:p>
          <a:p>
            <a:pPr marL="0" indent="0">
              <a:buNone/>
            </a:pPr>
            <a:r>
              <a:rPr lang="en-US" b="1" dirty="0"/>
              <a:t>Meaning of Social Epidemiology</a:t>
            </a:r>
          </a:p>
          <a:p>
            <a:r>
              <a:rPr lang="en-US" b="1" dirty="0"/>
              <a:t>Social epidemiology</a:t>
            </a:r>
            <a:r>
              <a:rPr lang="en-US" dirty="0"/>
              <a:t> is a branch of epidemiology that studies how </a:t>
            </a:r>
            <a:r>
              <a:rPr lang="en-US" b="1" dirty="0"/>
              <a:t>social, economic, cultural, and environmental factors</a:t>
            </a:r>
            <a:r>
              <a:rPr lang="en-US" dirty="0"/>
              <a:t> influence the </a:t>
            </a:r>
            <a:r>
              <a:rPr lang="en-US" b="1" dirty="0"/>
              <a:t>distribution, determinants, and outcomes of health and disease</a:t>
            </a:r>
            <a:r>
              <a:rPr lang="en-US" dirty="0"/>
              <a:t> in populations. It focuses on the role of </a:t>
            </a:r>
            <a:r>
              <a:rPr lang="en-US" b="1" dirty="0"/>
              <a:t>social conditions</a:t>
            </a:r>
            <a:r>
              <a:rPr lang="en-US" dirty="0"/>
              <a:t> rather than only biological causes.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3784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F874-D7EC-1F6D-C9EA-12B4F000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B1DC7-A3C3-209D-408D-513D80C4D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5C795-27CE-3236-BCE2-65D4DCA8B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Importance of Social Epidemiology</a:t>
            </a:r>
          </a:p>
          <a:p>
            <a:pPr marL="0" indent="0">
              <a:buNone/>
            </a:pPr>
            <a:r>
              <a:rPr lang="en-US" b="1" dirty="0"/>
              <a:t>1. Understanding Social Determinants of Health</a:t>
            </a:r>
          </a:p>
          <a:p>
            <a:r>
              <a:rPr lang="en-US" dirty="0"/>
              <a:t>Social epidemiology explains how factors such as:</a:t>
            </a:r>
          </a:p>
          <a:p>
            <a:r>
              <a:rPr lang="en-US" dirty="0"/>
              <a:t>Poverty</a:t>
            </a:r>
          </a:p>
          <a:p>
            <a:r>
              <a:rPr lang="en-US" dirty="0"/>
              <a:t>Education</a:t>
            </a:r>
          </a:p>
          <a:p>
            <a:r>
              <a:rPr lang="en-US" dirty="0"/>
              <a:t>Occupation</a:t>
            </a:r>
          </a:p>
          <a:p>
            <a:r>
              <a:rPr lang="en-US" dirty="0"/>
              <a:t>Housing</a:t>
            </a:r>
          </a:p>
          <a:p>
            <a:r>
              <a:rPr lang="en-US" dirty="0"/>
              <a:t>Gender and social class</a:t>
            </a:r>
          </a:p>
          <a:p>
            <a:r>
              <a:rPr lang="en-US" dirty="0"/>
              <a:t>affect health status and disease patterns.</a:t>
            </a:r>
          </a:p>
          <a:p>
            <a:pPr marL="0" indent="0">
              <a:buNone/>
            </a:pPr>
            <a:r>
              <a:rPr lang="en-US" dirty="0"/>
              <a:t>➡️ Helps identify </a:t>
            </a:r>
            <a:r>
              <a:rPr lang="en-US" b="1" dirty="0"/>
              <a:t>root causes</a:t>
            </a:r>
            <a:r>
              <a:rPr lang="en-US" dirty="0"/>
              <a:t> of illness beyond microbes and genes.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2119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2CA0-1C11-6CEE-3178-09F3508B2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A729-748C-2933-E33A-C9B397DA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AFE63-B41E-AA75-9DD6-AF8C5E902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Explaining Health Inequalities</a:t>
            </a:r>
          </a:p>
          <a:p>
            <a:r>
              <a:rPr lang="en-US" dirty="0"/>
              <a:t>Reveals </a:t>
            </a:r>
            <a:r>
              <a:rPr lang="en-US" b="1" dirty="0"/>
              <a:t>health disparities</a:t>
            </a:r>
            <a:r>
              <a:rPr lang="en-US" dirty="0"/>
              <a:t> between rich and poor, rural and urban, men and women</a:t>
            </a:r>
          </a:p>
          <a:p>
            <a:r>
              <a:rPr lang="en-US" dirty="0"/>
              <a:t>Explains why marginalized populations suffer higher disease burden</a:t>
            </a:r>
          </a:p>
          <a:p>
            <a:pPr marL="0" indent="0">
              <a:buNone/>
            </a:pPr>
            <a:r>
              <a:rPr lang="en-US" dirty="0"/>
              <a:t>➡️ Essential for achieving </a:t>
            </a:r>
            <a:r>
              <a:rPr lang="en-US" b="1" dirty="0"/>
              <a:t>health equity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4702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868FE-25F5-DF12-8219-AC9919152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A9993-5A39-75D9-F1D2-84B70424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CC5F9-24FA-A43E-92CA-120D6253A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Disease Prevention and Health Promotion</a:t>
            </a:r>
          </a:p>
          <a:p>
            <a:r>
              <a:rPr lang="en-US" dirty="0"/>
              <a:t>Identifies social risk factors responsible for diseases</a:t>
            </a:r>
          </a:p>
          <a:p>
            <a:r>
              <a:rPr lang="en-US" dirty="0"/>
              <a:t>Guides </a:t>
            </a:r>
            <a:r>
              <a:rPr lang="en-US" b="1" dirty="0"/>
              <a:t>preventive strategies</a:t>
            </a:r>
            <a:r>
              <a:rPr lang="en-US" dirty="0"/>
              <a:t> such as improving sanitation, nutrition, and education</a:t>
            </a:r>
          </a:p>
          <a:p>
            <a:pPr marL="0" indent="0">
              <a:buNone/>
            </a:pPr>
            <a:r>
              <a:rPr lang="en-US" dirty="0"/>
              <a:t>➡️ Shifts focus from treatment to </a:t>
            </a:r>
            <a:r>
              <a:rPr lang="en-US" b="1" dirty="0"/>
              <a:t>prevention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3739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7A97F-F496-3DD7-B938-D3AF97A26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995DC-FC79-A6D6-23DF-6D2144E2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7DFD3-E82F-F120-325B-1796D8EAC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Planning and Policy Formulation</a:t>
            </a:r>
          </a:p>
          <a:p>
            <a:r>
              <a:rPr lang="en-US" dirty="0"/>
              <a:t>Provides evidence for </a:t>
            </a:r>
            <a:r>
              <a:rPr lang="en-US" b="1" dirty="0"/>
              <a:t>public health policies</a:t>
            </a:r>
            <a:endParaRPr lang="en-US" dirty="0"/>
          </a:p>
          <a:p>
            <a:r>
              <a:rPr lang="en-US" dirty="0"/>
              <a:t>Helps design targeted health programs for vulnerable groups</a:t>
            </a:r>
          </a:p>
          <a:p>
            <a:pPr marL="0" indent="0">
              <a:buNone/>
            </a:pPr>
            <a:r>
              <a:rPr lang="en-US" dirty="0"/>
              <a:t>➡️ Supports </a:t>
            </a:r>
            <a:r>
              <a:rPr lang="en-US" b="1" dirty="0"/>
              <a:t>evidence-based decision-making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40887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C4CC5-0AC9-B022-A906-5DE8043B5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4678-195A-2FE0-6FA1-66923136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C488F-2353-02BB-9883-6F07E037F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Improving Community Health Programs</a:t>
            </a:r>
          </a:p>
          <a:p>
            <a:r>
              <a:rPr lang="en-US" dirty="0"/>
              <a:t>Assists in designing </a:t>
            </a:r>
            <a:r>
              <a:rPr lang="en-US" b="1" dirty="0"/>
              <a:t>community-based interventions</a:t>
            </a:r>
            <a:endParaRPr lang="en-US" dirty="0"/>
          </a:p>
          <a:p>
            <a:r>
              <a:rPr lang="en-US" dirty="0"/>
              <a:t>Encourages community participation</a:t>
            </a:r>
          </a:p>
          <a:p>
            <a:pPr marL="0" indent="0">
              <a:buNone/>
            </a:pPr>
            <a:r>
              <a:rPr lang="en-US" dirty="0"/>
              <a:t>➡️ Increases acceptance and effectiveness of public health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7272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86CF-F77F-87A9-F3C7-A517FFF29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CE3C-3709-9B6B-991F-B2EC7195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0CDE6-DB26-B166-AE30-2F01F215E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6. Control of Communicable and Non-Communicable Diseases</a:t>
            </a:r>
          </a:p>
          <a:p>
            <a:r>
              <a:rPr lang="en-US" dirty="0"/>
              <a:t>Links overcrowding, poor housing, and sanitation to infectious diseases</a:t>
            </a:r>
          </a:p>
          <a:p>
            <a:r>
              <a:rPr lang="en-US" dirty="0"/>
              <a:t>Links lifestyle, stress, and work conditions to NCDs</a:t>
            </a:r>
          </a:p>
          <a:p>
            <a:pPr marL="0" indent="0">
              <a:buNone/>
            </a:pPr>
            <a:r>
              <a:rPr lang="en-US" dirty="0"/>
              <a:t>➡️ Enables comprehensive disease control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7177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8A53-1F58-C092-3B83-E01A6C6E4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BE27-871A-B853-2025-86D95EB5A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EA09E-91E9-3E83-4B82-C4C64C417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Strengthening Health Systems</a:t>
            </a:r>
          </a:p>
          <a:p>
            <a:r>
              <a:rPr lang="en-US" dirty="0"/>
              <a:t>Examines access to health care and utilization of services</a:t>
            </a:r>
          </a:p>
          <a:p>
            <a:r>
              <a:rPr lang="en-US" dirty="0"/>
              <a:t>Identifies barriers like cost, distance, and social stigma</a:t>
            </a:r>
          </a:p>
          <a:p>
            <a:pPr marL="0" indent="0">
              <a:buNone/>
            </a:pPr>
            <a:r>
              <a:rPr lang="en-US" dirty="0"/>
              <a:t>➡️ Helps improve </a:t>
            </a:r>
            <a:r>
              <a:rPr lang="en-US" b="1" dirty="0"/>
              <a:t>health service delivery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00493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121D-04FF-67FC-7A4A-CFC172EA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9FFC7-D443-CB51-E8A7-45079E70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F9DC7-8D59-2A13-5BD8-BB7F4F54F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Monitoring Population Health Trends</a:t>
            </a:r>
          </a:p>
          <a:p>
            <a:r>
              <a:rPr lang="en-US" dirty="0"/>
              <a:t>Tracks changes in disease patterns due to social change, urbanization, and globalization</a:t>
            </a:r>
          </a:p>
          <a:p>
            <a:pPr marL="0" indent="0">
              <a:buNone/>
            </a:pPr>
            <a:r>
              <a:rPr lang="en-US" dirty="0"/>
              <a:t>➡️ Useful for long-term </a:t>
            </a:r>
            <a:r>
              <a:rPr lang="en-US" b="1" dirty="0"/>
              <a:t>public health planning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000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061D-9996-51ED-EAD5-7ACB2E98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0C08-C290-A282-D1EB-0721A7716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82FB4-5716-0AF2-1C3F-9C8CC9F3C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9. Addressing Global Health Challenges</a:t>
            </a:r>
          </a:p>
          <a:p>
            <a:r>
              <a:rPr lang="en-US" dirty="0"/>
              <a:t>Helps understand pandemics, migration health, climate change, and aging populations</a:t>
            </a:r>
          </a:p>
          <a:p>
            <a:r>
              <a:rPr lang="en-US" dirty="0"/>
              <a:t>Supports international public health responses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465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7B2D7-2250-75C6-2CE5-782E09F4A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C3DD-EF2E-086C-4369-74E905483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the importance of social </a:t>
            </a:r>
            <a:r>
              <a:rPr lang="en-US" dirty="0" err="1"/>
              <a:t>epidemology</a:t>
            </a:r>
            <a:r>
              <a:rPr lang="en-US" dirty="0"/>
              <a:t> in public health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7BE9B-A731-3B64-A826-5916F90F9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3581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10. Promoting Intersectoral Collaboration</a:t>
            </a:r>
          </a:p>
          <a:p>
            <a:r>
              <a:rPr lang="en-US" dirty="0"/>
              <a:t>Emphasizes collaboration between health, education, housing, labor, and environment sectors</a:t>
            </a:r>
          </a:p>
          <a:p>
            <a:pPr marL="0" indent="0">
              <a:buNone/>
            </a:pPr>
            <a:r>
              <a:rPr lang="en-US" dirty="0"/>
              <a:t>➡️ Essential for </a:t>
            </a:r>
            <a:r>
              <a:rPr lang="en-US" b="1" dirty="0"/>
              <a:t>comprehensive public health action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77020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63A55-98A6-44B1-CF39-51BEE1A3C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473EB-DCBD-CF32-C76D-7FE718D7C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Social Factors Predisposing to Specific Groups of Diseases</a:t>
            </a:r>
          </a:p>
          <a:p>
            <a:pPr marL="0" indent="0">
              <a:buNone/>
            </a:pPr>
            <a:r>
              <a:rPr lang="en-US" b="1" dirty="0"/>
              <a:t>Introduction</a:t>
            </a:r>
          </a:p>
          <a:p>
            <a:r>
              <a:rPr lang="en-US" dirty="0"/>
              <a:t>Health and disease are not determined only by biological agents; </a:t>
            </a:r>
            <a:r>
              <a:rPr lang="en-US" b="1" dirty="0"/>
              <a:t>social factors</a:t>
            </a:r>
            <a:r>
              <a:rPr lang="en-US" dirty="0"/>
              <a:t> such as poverty, education, culture, occupation, and living conditions play a major role in </a:t>
            </a:r>
            <a:r>
              <a:rPr lang="en-US" b="1" dirty="0"/>
              <a:t>predisposing individuals and communities to specific groups of diseases</a:t>
            </a:r>
            <a:r>
              <a:rPr lang="en-US" dirty="0"/>
              <a:t>. Understanding these factors is essential in </a:t>
            </a:r>
            <a:r>
              <a:rPr lang="en-US" b="1" dirty="0"/>
              <a:t>public health and preventive medicine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70373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67AB5-ED43-9D9A-29A6-96A7840C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9BDA-4F63-AAFA-E21C-78FF3D7B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22CD-5752-C5D4-D81C-ED2758F64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Major Social Factors and Associated Groups of Diseases</a:t>
            </a:r>
          </a:p>
          <a:p>
            <a:pPr marL="0" indent="0">
              <a:buNone/>
            </a:pPr>
            <a:r>
              <a:rPr lang="en-IN" b="1" dirty="0"/>
              <a:t>1. Poverty</a:t>
            </a:r>
          </a:p>
          <a:p>
            <a:pPr marL="0" indent="0">
              <a:buNone/>
            </a:pPr>
            <a:r>
              <a:rPr lang="en-IN" b="1" dirty="0"/>
              <a:t>Predisposed Diseases</a:t>
            </a:r>
          </a:p>
          <a:p>
            <a:r>
              <a:rPr lang="en-IN" b="1" dirty="0"/>
              <a:t>Communicable diseases</a:t>
            </a:r>
            <a:r>
              <a:rPr lang="en-IN" dirty="0"/>
              <a:t>: Tuberculosis, malaria, </a:t>
            </a:r>
            <a:r>
              <a:rPr lang="en-IN" dirty="0" err="1"/>
              <a:t>diarrhea</a:t>
            </a:r>
            <a:r>
              <a:rPr lang="en-IN" dirty="0"/>
              <a:t>, leprosy</a:t>
            </a:r>
          </a:p>
          <a:p>
            <a:r>
              <a:rPr lang="en-IN" b="1" dirty="0"/>
              <a:t>Nutritional disorders</a:t>
            </a:r>
            <a:r>
              <a:rPr lang="en-IN" dirty="0"/>
              <a:t>: Protein–energy malnutrition, </a:t>
            </a:r>
            <a:r>
              <a:rPr lang="en-IN" dirty="0" err="1"/>
              <a:t>anemia</a:t>
            </a:r>
            <a:endParaRPr lang="en-IN" dirty="0"/>
          </a:p>
          <a:p>
            <a:r>
              <a:rPr lang="en-IN" b="1" dirty="0"/>
              <a:t>Maternal and child health problems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Reasons</a:t>
            </a:r>
          </a:p>
          <a:p>
            <a:r>
              <a:rPr lang="en-IN" dirty="0"/>
              <a:t>Poor housing and overcrowding</a:t>
            </a:r>
          </a:p>
          <a:p>
            <a:r>
              <a:rPr lang="en-IN" dirty="0"/>
              <a:t>Inadequate nutrition</a:t>
            </a:r>
          </a:p>
          <a:p>
            <a:r>
              <a:rPr lang="en-IN" dirty="0"/>
              <a:t>Limited access to health care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6725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80E2-A9B9-8533-148A-0C35FD5AB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2DB0C-BF99-DE27-A950-63940C8B4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8DBA8-8845-0674-BC44-7AE643DBD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 Overcrowding</a:t>
            </a:r>
          </a:p>
          <a:p>
            <a:pPr marL="0" indent="0">
              <a:buNone/>
            </a:pPr>
            <a:r>
              <a:rPr lang="en-IN" b="1" dirty="0"/>
              <a:t>Predisposed Diseases</a:t>
            </a:r>
          </a:p>
          <a:p>
            <a:r>
              <a:rPr lang="en-IN" b="1" dirty="0"/>
              <a:t>Airborne infections</a:t>
            </a:r>
            <a:r>
              <a:rPr lang="en-IN" dirty="0"/>
              <a:t>: TB, influenza, COVID-19, measles</a:t>
            </a:r>
          </a:p>
          <a:p>
            <a:r>
              <a:rPr lang="en-IN" b="1" dirty="0"/>
              <a:t>Skin infections</a:t>
            </a:r>
            <a:r>
              <a:rPr lang="en-IN" dirty="0"/>
              <a:t>: Scabies, fungal infections</a:t>
            </a:r>
          </a:p>
          <a:p>
            <a:pPr marL="0" indent="0">
              <a:buNone/>
            </a:pPr>
            <a:r>
              <a:rPr lang="en-IN" b="1" dirty="0"/>
              <a:t>Reasons</a:t>
            </a:r>
          </a:p>
          <a:p>
            <a:r>
              <a:rPr lang="en-IN" dirty="0"/>
              <a:t>Close contact facilitates disease transmission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2230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3AF7-9B7C-CA37-DB52-CACE3A065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AE54-7623-0323-546D-8949C389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156DA-36B4-5F28-77CB-E8F94DED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3. Poor Sanitation and Unsafe Water</a:t>
            </a:r>
          </a:p>
          <a:p>
            <a:pPr marL="0" indent="0">
              <a:buNone/>
            </a:pPr>
            <a:r>
              <a:rPr lang="en-IN" b="1" dirty="0"/>
              <a:t>Predisposed Diseases</a:t>
            </a:r>
          </a:p>
          <a:p>
            <a:r>
              <a:rPr lang="en-IN" b="1" dirty="0"/>
              <a:t>Water-borne diseases</a:t>
            </a:r>
            <a:r>
              <a:rPr lang="en-IN" dirty="0"/>
              <a:t>: Cholera, typhoid, hepatitis A &amp; E</a:t>
            </a:r>
          </a:p>
          <a:p>
            <a:r>
              <a:rPr lang="en-IN" b="1" dirty="0"/>
              <a:t>Parasitic infections</a:t>
            </a:r>
            <a:r>
              <a:rPr lang="en-IN" dirty="0"/>
              <a:t>: Amoebiasis, giardiasis, helminthiasis</a:t>
            </a:r>
          </a:p>
          <a:p>
            <a:pPr marL="0" indent="0">
              <a:buNone/>
            </a:pPr>
            <a:r>
              <a:rPr lang="en-IN" b="1" dirty="0"/>
              <a:t>Reasons</a:t>
            </a:r>
          </a:p>
          <a:p>
            <a:r>
              <a:rPr lang="en-IN" dirty="0"/>
              <a:t>Contamination of drinking water</a:t>
            </a:r>
          </a:p>
          <a:p>
            <a:r>
              <a:rPr lang="en-IN" dirty="0"/>
              <a:t>Improper waste disposal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4961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0B92B-285E-E0B4-22ED-D8C941AF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B81E2-1043-D5FC-795A-EED23CAC8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415D2-D057-6376-19A7-C1D00C64D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4. Malnutrition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b="1" dirty="0"/>
              <a:t>Infections</a:t>
            </a:r>
            <a:r>
              <a:rPr lang="en-US" dirty="0"/>
              <a:t> due to low immunity</a:t>
            </a:r>
          </a:p>
          <a:p>
            <a:r>
              <a:rPr lang="en-US" b="1" dirty="0"/>
              <a:t>Deficiency diseases</a:t>
            </a:r>
            <a:r>
              <a:rPr lang="en-US" dirty="0"/>
              <a:t>: Anemia, rickets, scurvy, night blindness</a:t>
            </a:r>
          </a:p>
          <a:p>
            <a:r>
              <a:rPr lang="en-US" b="1" dirty="0"/>
              <a:t>Delayed growth and development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Inadequate intake of nutrients</a:t>
            </a:r>
          </a:p>
          <a:p>
            <a:r>
              <a:rPr lang="en-US" dirty="0"/>
              <a:t>Food insecurity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4354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80B5-69AA-4E88-9C6B-99E646F2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CA666-74C8-2B20-C9B7-6BAB735A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0B83-DF05-BA11-AB5A-41164EF8A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5. Education and Literacy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dirty="0"/>
              <a:t>Poorly controlled chronic diseases</a:t>
            </a:r>
          </a:p>
          <a:p>
            <a:r>
              <a:rPr lang="en-US" dirty="0"/>
              <a:t>High maternal and infant mortality</a:t>
            </a:r>
          </a:p>
          <a:p>
            <a:r>
              <a:rPr lang="en-US" dirty="0"/>
              <a:t>Communicable diseases due to poor health awareness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Lack of knowledge about hygiene, nutrition, and preventive care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33501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A5A6-93FB-7494-3EDD-B51ECC8B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9180C-8127-B7AF-6EF1-B02712B8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43358-949E-FAFD-1145-5EB7ACCE8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6. Occupation</a:t>
            </a:r>
          </a:p>
          <a:p>
            <a:pPr marL="0" indent="0">
              <a:buNone/>
            </a:pPr>
            <a:r>
              <a:rPr lang="en-IN" b="1" dirty="0"/>
              <a:t>Predisposed Diseases</a:t>
            </a:r>
          </a:p>
          <a:p>
            <a:r>
              <a:rPr lang="en-IN" b="1" dirty="0"/>
              <a:t>Occupational diseases</a:t>
            </a:r>
            <a:r>
              <a:rPr lang="en-IN" dirty="0"/>
              <a:t>: Silicosis, asbestosis, lead poisoning</a:t>
            </a:r>
          </a:p>
          <a:p>
            <a:r>
              <a:rPr lang="en-IN" b="1" dirty="0"/>
              <a:t>Musculoskeletal disorders</a:t>
            </a:r>
            <a:endParaRPr lang="en-IN" dirty="0"/>
          </a:p>
          <a:p>
            <a:r>
              <a:rPr lang="en-IN" b="1" dirty="0"/>
              <a:t>Stress-related disorders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Reasons</a:t>
            </a:r>
          </a:p>
          <a:p>
            <a:r>
              <a:rPr lang="en-IN" dirty="0"/>
              <a:t>Exposure to hazardous substances</a:t>
            </a:r>
          </a:p>
          <a:p>
            <a:r>
              <a:rPr lang="en-IN" dirty="0"/>
              <a:t>Poor working conditions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93068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32BF-60DA-A06B-B092-69CD1DD6D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0D92-1A61-491C-E866-9378FDC1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E07B-E774-4DA9-C3AA-FA041F96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7. Housing Conditions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dirty="0"/>
              <a:t>Respiratory diseases</a:t>
            </a:r>
          </a:p>
          <a:p>
            <a:r>
              <a:rPr lang="en-US" dirty="0"/>
              <a:t>Vector-borne diseases (malaria, dengue)</a:t>
            </a:r>
          </a:p>
          <a:p>
            <a:r>
              <a:rPr lang="en-US" dirty="0"/>
              <a:t>Accidental injuries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Poor ventilation</a:t>
            </a:r>
          </a:p>
          <a:p>
            <a:r>
              <a:rPr lang="en-US" dirty="0"/>
              <a:t>Stagnant water</a:t>
            </a:r>
          </a:p>
          <a:p>
            <a:r>
              <a:rPr lang="en-US" dirty="0"/>
              <a:t>Unsafe structures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87873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90163-42CF-008B-3342-4872D080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C6F6-830B-2150-FCF1-FDB978F9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AC0C6-8B14-857C-401A-5FFA74BA9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8. Cultural Practices and Beliefs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dirty="0"/>
              <a:t>Nutritional deficiencies</a:t>
            </a:r>
          </a:p>
          <a:p>
            <a:r>
              <a:rPr lang="en-US" dirty="0"/>
              <a:t>Maternal and child health problems</a:t>
            </a:r>
          </a:p>
          <a:p>
            <a:r>
              <a:rPr lang="en-US" dirty="0"/>
              <a:t>Sexually transmitted diseases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Food taboos</a:t>
            </a:r>
          </a:p>
          <a:p>
            <a:r>
              <a:rPr lang="en-US" dirty="0"/>
              <a:t>Preference for home deliveries</a:t>
            </a:r>
          </a:p>
          <a:p>
            <a:r>
              <a:rPr lang="en-US" dirty="0"/>
              <a:t>Delay in seeking medical care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7820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C163D-FAE6-0F25-24B0-D443B7819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CE18-ABF2-ABE8-E750-A0BE6CCC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8402B-575E-73F1-1B29-960E6DBD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9. Social Stress and Urbanization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b="1" dirty="0"/>
              <a:t>Non-communicable diseases (NCDs)</a:t>
            </a:r>
            <a:r>
              <a:rPr lang="en-US" dirty="0"/>
              <a:t>: Hypertension, diabetes</a:t>
            </a:r>
          </a:p>
          <a:p>
            <a:r>
              <a:rPr lang="en-US" dirty="0"/>
              <a:t>Mental health disorders</a:t>
            </a:r>
          </a:p>
          <a:p>
            <a:r>
              <a:rPr lang="en-US" dirty="0"/>
              <a:t>Substance abuse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Lifestyle changes</a:t>
            </a:r>
          </a:p>
          <a:p>
            <a:r>
              <a:rPr lang="en-US" dirty="0"/>
              <a:t>Job insecurity</a:t>
            </a:r>
          </a:p>
          <a:p>
            <a:r>
              <a:rPr lang="en-US" dirty="0"/>
              <a:t>Lack of social support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9453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8EAB7-EC84-F7BB-F900-1335C447C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796D-C499-C9B7-185F-462A9E66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00B06-4B64-7D65-01F9-98FA23A05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10. Gender Inequality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dirty="0"/>
              <a:t>Anemia and malnutrition in women</a:t>
            </a:r>
          </a:p>
          <a:p>
            <a:r>
              <a:rPr lang="en-US" dirty="0"/>
              <a:t>Maternal mortality</a:t>
            </a:r>
          </a:p>
          <a:p>
            <a:r>
              <a:rPr lang="en-US" dirty="0"/>
              <a:t>Mental health problems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Poor access to nutrition and health services</a:t>
            </a:r>
          </a:p>
          <a:p>
            <a:r>
              <a:rPr lang="en-US" dirty="0"/>
              <a:t>Social discrimination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58692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2F1B-18B7-CA94-179C-2C056517E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AA924-C7A4-F345-C54E-EB331CF1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 social factors predisposing to specific groups of diseases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0D6DE-1BED-5AC0-061A-F5481C393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11. Migration and Slums</a:t>
            </a:r>
          </a:p>
          <a:p>
            <a:pPr marL="0" indent="0">
              <a:buNone/>
            </a:pPr>
            <a:r>
              <a:rPr lang="en-US" b="1" dirty="0"/>
              <a:t>Predisposed Diseases</a:t>
            </a:r>
          </a:p>
          <a:p>
            <a:r>
              <a:rPr lang="en-US" dirty="0"/>
              <a:t>TB, HIV/AIDS</a:t>
            </a:r>
          </a:p>
          <a:p>
            <a:r>
              <a:rPr lang="en-US" dirty="0"/>
              <a:t>Malnutrition</a:t>
            </a:r>
          </a:p>
          <a:p>
            <a:r>
              <a:rPr lang="en-US" dirty="0"/>
              <a:t>Occupational injuries</a:t>
            </a:r>
          </a:p>
          <a:p>
            <a:pPr marL="0" indent="0">
              <a:buNone/>
            </a:pPr>
            <a:r>
              <a:rPr lang="en-US" b="1" dirty="0"/>
              <a:t>Reasons</a:t>
            </a:r>
          </a:p>
          <a:p>
            <a:r>
              <a:rPr lang="en-US" dirty="0"/>
              <a:t>Poor living conditions</a:t>
            </a:r>
          </a:p>
          <a:p>
            <a:r>
              <a:rPr lang="en-US" dirty="0"/>
              <a:t>Limited health service access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774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A49B6-0E87-646A-BE20-0D25D92CD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B0480-EB80-3EFB-A58A-5A2C78B4F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Drug Addiction – Meaning</a:t>
            </a:r>
          </a:p>
          <a:p>
            <a:pPr marL="0" indent="0">
              <a:buNone/>
            </a:pPr>
            <a:r>
              <a:rPr lang="en-US" b="1" dirty="0"/>
              <a:t>Drug addiction</a:t>
            </a:r>
            <a:r>
              <a:rPr lang="en-US" dirty="0"/>
              <a:t> is a chronic condition characterized by </a:t>
            </a:r>
            <a:r>
              <a:rPr lang="en-US" b="1" dirty="0"/>
              <a:t>compulsive use of drugs</a:t>
            </a:r>
            <a:r>
              <a:rPr lang="en-US" dirty="0"/>
              <a:t> (legal or illegal) despite harmful consequences, leading to </a:t>
            </a:r>
            <a:r>
              <a:rPr lang="en-US" b="1" dirty="0"/>
              <a:t>physical, psychological, social, and economic problems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73094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8F9F7-5B89-16E2-415E-6029950AE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5DEC7-093C-1315-259E-E83FB5876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F5462-1884-1877-1C34-B85F06471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Problems of Drug Addiction</a:t>
            </a:r>
          </a:p>
          <a:p>
            <a:pPr marL="0" indent="0">
              <a:buNone/>
            </a:pPr>
            <a:r>
              <a:rPr lang="en-IN" b="1" dirty="0"/>
              <a:t>1. Physical Health Problems</a:t>
            </a:r>
          </a:p>
          <a:p>
            <a:r>
              <a:rPr lang="en-IN" dirty="0"/>
              <a:t>Damage to liver (cirrhosis), lungs, heart, and brain</a:t>
            </a:r>
          </a:p>
          <a:p>
            <a:r>
              <a:rPr lang="en-IN" dirty="0"/>
              <a:t>Malnutrition and weight loss</a:t>
            </a:r>
          </a:p>
          <a:p>
            <a:r>
              <a:rPr lang="en-IN" dirty="0"/>
              <a:t>Increased risk of </a:t>
            </a:r>
            <a:r>
              <a:rPr lang="en-IN" b="1" dirty="0"/>
              <a:t>HIV/AIDS, hepatitis B &amp; C</a:t>
            </a:r>
            <a:r>
              <a:rPr lang="en-IN" dirty="0"/>
              <a:t> (injectable drug use)</a:t>
            </a:r>
          </a:p>
          <a:p>
            <a:r>
              <a:rPr lang="en-IN" dirty="0"/>
              <a:t>Overdose and death</a:t>
            </a:r>
          </a:p>
          <a:p>
            <a:r>
              <a:rPr lang="en-IN" dirty="0"/>
              <a:t>Withdrawal symptoms: tremors, sweating, pain, seizures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6936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74783-EF19-BFC6-5F84-989AA609A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D1D7-2778-08E2-0BA5-F541542C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211E6-BEAC-9102-7749-AAC610DFE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Psychological Problems</a:t>
            </a:r>
          </a:p>
          <a:p>
            <a:r>
              <a:rPr lang="en-US" dirty="0"/>
              <a:t>Depression and anxiety</a:t>
            </a:r>
          </a:p>
          <a:p>
            <a:r>
              <a:rPr lang="en-US" dirty="0"/>
              <a:t>Mood swings and irritability</a:t>
            </a:r>
          </a:p>
          <a:p>
            <a:r>
              <a:rPr lang="en-US" dirty="0"/>
              <a:t>Memory loss and poor concentration</a:t>
            </a:r>
          </a:p>
          <a:p>
            <a:r>
              <a:rPr lang="en-US" dirty="0"/>
              <a:t>Psychosis, hallucinations</a:t>
            </a:r>
          </a:p>
          <a:p>
            <a:r>
              <a:rPr lang="en-US" dirty="0"/>
              <a:t>Increased risk of </a:t>
            </a:r>
            <a:r>
              <a:rPr lang="en-US" b="1" dirty="0"/>
              <a:t>suicide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1305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619E-07D4-E578-DC96-268592F4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4C816-1F81-27FE-06FE-47922B373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04AB2-3EE6-BD22-ADAA-EC7151066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Social Problems</a:t>
            </a:r>
          </a:p>
          <a:p>
            <a:r>
              <a:rPr lang="en-US" dirty="0"/>
              <a:t>Breakdown of family relationships</a:t>
            </a:r>
          </a:p>
          <a:p>
            <a:r>
              <a:rPr lang="en-US" dirty="0"/>
              <a:t>Domestic violence and neglect of children</a:t>
            </a:r>
          </a:p>
          <a:p>
            <a:r>
              <a:rPr lang="en-US" dirty="0"/>
              <a:t>Social isolation and stigma</a:t>
            </a:r>
          </a:p>
          <a:p>
            <a:r>
              <a:rPr lang="en-US" dirty="0"/>
              <a:t>Poor interpersonal relationships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6593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9432-499D-DED6-447F-B0FFB339C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55FB-AEF3-D6A1-95E5-D371C78A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42D6C-FBCC-6D30-3124-BF20C3AB7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Economic Problems</a:t>
            </a:r>
          </a:p>
          <a:p>
            <a:r>
              <a:rPr lang="en-US" dirty="0"/>
              <a:t>Loss of employment and productivity</a:t>
            </a:r>
          </a:p>
          <a:p>
            <a:r>
              <a:rPr lang="en-US" dirty="0"/>
              <a:t>Financial instability and poverty</a:t>
            </a:r>
          </a:p>
          <a:p>
            <a:r>
              <a:rPr lang="en-US" dirty="0"/>
              <a:t>Increased healthcare costs</a:t>
            </a:r>
          </a:p>
          <a:p>
            <a:r>
              <a:rPr lang="en-US" dirty="0"/>
              <a:t>Burden on family resources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7599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D0C72-71D2-549B-E8FD-2BFAA26EE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619B-A093-DC74-080F-C7B7A4881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8B9C8-C507-1C96-1592-53B0B0279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5. Educational Problems</a:t>
            </a:r>
          </a:p>
          <a:p>
            <a:r>
              <a:rPr lang="en-US" dirty="0"/>
              <a:t>Poor academic performance</a:t>
            </a:r>
          </a:p>
          <a:p>
            <a:r>
              <a:rPr lang="en-US" dirty="0"/>
              <a:t>School and college dropout</a:t>
            </a:r>
          </a:p>
          <a:p>
            <a:r>
              <a:rPr lang="en-US" dirty="0"/>
              <a:t>Reduced career opportunities</a:t>
            </a:r>
          </a:p>
          <a:p>
            <a:pPr marL="0" indent="0">
              <a:buNone/>
            </a:pPr>
            <a:r>
              <a:rPr lang="en-US" b="1" dirty="0"/>
              <a:t>6. Criminal and Legal Problems</a:t>
            </a:r>
          </a:p>
          <a:p>
            <a:r>
              <a:rPr lang="en-US" dirty="0"/>
              <a:t>Theft, violence, and illegal activities to obtain drugs</a:t>
            </a:r>
          </a:p>
          <a:p>
            <a:r>
              <a:rPr lang="en-US" dirty="0"/>
              <a:t>Conflict with law enforcement</a:t>
            </a:r>
          </a:p>
          <a:p>
            <a:r>
              <a:rPr lang="en-US" dirty="0"/>
              <a:t>Imprisonment and criminal records</a:t>
            </a:r>
          </a:p>
        </p:txBody>
      </p:sp>
    </p:spTree>
    <p:extLst>
      <p:ext uri="{BB962C8B-B14F-4D97-AF65-F5344CB8AC3E}">
        <p14:creationId xmlns:p14="http://schemas.microsoft.com/office/powerpoint/2010/main" val="269820840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95ABF-797F-2F22-7428-BCC72F9C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DB94-D519-11BF-3FF8-749E744C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860D1-E9BB-6BD9-5BE1-E63D3B48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7. Public Health Problems</a:t>
            </a:r>
          </a:p>
          <a:p>
            <a:r>
              <a:rPr lang="en-US" dirty="0"/>
              <a:t>Spread of communicable diseases</a:t>
            </a:r>
          </a:p>
          <a:p>
            <a:r>
              <a:rPr lang="en-US" dirty="0"/>
              <a:t>Increased accidents and injuries</a:t>
            </a:r>
          </a:p>
          <a:p>
            <a:r>
              <a:rPr lang="en-US" dirty="0"/>
              <a:t>Burden on healthcare system</a:t>
            </a:r>
          </a:p>
        </p:txBody>
      </p:sp>
    </p:spTree>
    <p:extLst>
      <p:ext uri="{BB962C8B-B14F-4D97-AF65-F5344CB8AC3E}">
        <p14:creationId xmlns:p14="http://schemas.microsoft.com/office/powerpoint/2010/main" val="42036453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496F2-7969-FBF6-208B-1B819B9F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C4D8-DEAA-BA52-9C90-14FC12A0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66F92-F654-09A1-18AA-A48E9EBB3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Methods to Handle / Control Drug Addiction</a:t>
            </a:r>
          </a:p>
          <a:p>
            <a:pPr marL="0" indent="0">
              <a:buNone/>
            </a:pPr>
            <a:r>
              <a:rPr lang="en-US" b="1" dirty="0"/>
              <a:t>1. Prevention Strategies</a:t>
            </a:r>
          </a:p>
          <a:p>
            <a:r>
              <a:rPr lang="en-US" dirty="0"/>
              <a:t>Health education and awareness programs</a:t>
            </a:r>
          </a:p>
          <a:p>
            <a:r>
              <a:rPr lang="en-US" dirty="0"/>
              <a:t>School-based drug education</a:t>
            </a:r>
          </a:p>
          <a:p>
            <a:r>
              <a:rPr lang="en-US" dirty="0"/>
              <a:t>Life-skills training</a:t>
            </a:r>
          </a:p>
          <a:p>
            <a:r>
              <a:rPr lang="en-US" dirty="0"/>
              <a:t>Promotion of healthy lifestyles</a:t>
            </a:r>
          </a:p>
        </p:txBody>
      </p:sp>
    </p:spTree>
    <p:extLst>
      <p:ext uri="{BB962C8B-B14F-4D97-AF65-F5344CB8AC3E}">
        <p14:creationId xmlns:p14="http://schemas.microsoft.com/office/powerpoint/2010/main" val="17659575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E725-6379-96A7-2EA5-8075B30EE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9D6F-DCA2-93A2-580E-A814F7E9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F4B35-4A9A-68A1-0C5A-237EB24D6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Early Identification and Intervention</a:t>
            </a:r>
          </a:p>
          <a:p>
            <a:r>
              <a:rPr lang="en-US" dirty="0"/>
              <a:t>Screening in schools, workplaces, and healthcare settings</a:t>
            </a:r>
          </a:p>
          <a:p>
            <a:r>
              <a:rPr lang="en-US" dirty="0"/>
              <a:t>Counseling for high-risk individuals</a:t>
            </a:r>
          </a:p>
          <a:p>
            <a:pPr marL="0" indent="0">
              <a:buNone/>
            </a:pPr>
            <a:r>
              <a:rPr lang="en-US" b="1" dirty="0"/>
              <a:t>3. Medical Management</a:t>
            </a:r>
          </a:p>
          <a:p>
            <a:r>
              <a:rPr lang="en-US" dirty="0"/>
              <a:t>Detoxification under medical supervision</a:t>
            </a:r>
          </a:p>
          <a:p>
            <a:r>
              <a:rPr lang="en-US" dirty="0"/>
              <a:t>Treatment of withdrawal symptoms</a:t>
            </a:r>
          </a:p>
          <a:p>
            <a:r>
              <a:rPr lang="en-US" dirty="0"/>
              <a:t>Use of substitution therapy (e.g., methadone, buprenorphine)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13771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AC140-79F7-06D1-8105-09DC1468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4A6C-7273-37BB-10FE-1D1ED642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B185D-71B4-DFB4-2E44-52B41671C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4. Psychological and Behavioral Therapy</a:t>
            </a:r>
          </a:p>
          <a:p>
            <a:r>
              <a:rPr lang="en-US" dirty="0"/>
              <a:t>Individual and group counseling</a:t>
            </a:r>
          </a:p>
          <a:p>
            <a:r>
              <a:rPr lang="en-US" dirty="0"/>
              <a:t>Cognitive behavioral therapy (CBT)</a:t>
            </a:r>
          </a:p>
          <a:p>
            <a:r>
              <a:rPr lang="en-US" dirty="0"/>
              <a:t>Motivational interviewing</a:t>
            </a:r>
          </a:p>
          <a:p>
            <a:pPr marL="0" indent="0">
              <a:buNone/>
            </a:pPr>
            <a:r>
              <a:rPr lang="en-IN" b="1" dirty="0"/>
              <a:t>5. Rehabilitation Programs</a:t>
            </a:r>
          </a:p>
          <a:p>
            <a:r>
              <a:rPr lang="en-IN" dirty="0"/>
              <a:t>Inpatient and outpatient de-addiction </a:t>
            </a:r>
            <a:r>
              <a:rPr lang="en-IN" dirty="0" err="1"/>
              <a:t>centers</a:t>
            </a:r>
            <a:endParaRPr lang="en-IN" dirty="0"/>
          </a:p>
          <a:p>
            <a:r>
              <a:rPr lang="en-IN" dirty="0"/>
              <a:t>Vocational training and skill development</a:t>
            </a:r>
          </a:p>
          <a:p>
            <a:r>
              <a:rPr lang="en-IN" dirty="0"/>
              <a:t>Social reintegration programs</a:t>
            </a:r>
          </a:p>
        </p:txBody>
      </p:sp>
    </p:spTree>
    <p:extLst>
      <p:ext uri="{BB962C8B-B14F-4D97-AF65-F5344CB8AC3E}">
        <p14:creationId xmlns:p14="http://schemas.microsoft.com/office/powerpoint/2010/main" val="6259092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DF4B-9EC8-0FDE-DE88-D620127A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A4801-2836-C27F-9EC0-D71AC843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CEA3F-6A75-918B-608D-C33776AF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6. Family and Community Support</a:t>
            </a:r>
          </a:p>
          <a:p>
            <a:r>
              <a:rPr lang="en-US" dirty="0"/>
              <a:t>Family counseling</a:t>
            </a:r>
          </a:p>
          <a:p>
            <a:r>
              <a:rPr lang="en-US" dirty="0"/>
              <a:t>Peer support groups (e.g., Narcotics Anonymous)</a:t>
            </a:r>
          </a:p>
          <a:p>
            <a:r>
              <a:rPr lang="en-US" dirty="0"/>
              <a:t>Community-based rehabilitation</a:t>
            </a:r>
          </a:p>
          <a:p>
            <a:pPr marL="0" indent="0">
              <a:buNone/>
            </a:pPr>
            <a:r>
              <a:rPr lang="en-US" b="1" dirty="0"/>
              <a:t>7. Legal and Policy Measures</a:t>
            </a:r>
          </a:p>
          <a:p>
            <a:r>
              <a:rPr lang="en-US" dirty="0"/>
              <a:t>Strict control of drug trafficking</a:t>
            </a:r>
          </a:p>
          <a:p>
            <a:r>
              <a:rPr lang="en-US" dirty="0"/>
              <a:t>Enforcement of drug control laws</a:t>
            </a:r>
          </a:p>
          <a:p>
            <a:r>
              <a:rPr lang="en-US" dirty="0"/>
              <a:t>Regulation of prescription drugs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847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4ABA4-C5EA-830D-4C32-A45383D1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0C9E2-E26C-2D30-2D09-BE5EC9596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Describe the problems of drug addiction explain briefly the methods to handle the problems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7AEFE-DEA2-CBC1-B4DF-272382C36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096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8. Role of Health Professionals</a:t>
            </a:r>
          </a:p>
          <a:p>
            <a:r>
              <a:rPr lang="en-US" dirty="0"/>
              <a:t>Identification and referral of addicts</a:t>
            </a:r>
          </a:p>
          <a:p>
            <a:r>
              <a:rPr lang="en-US" dirty="0"/>
              <a:t>Health education and counseling</a:t>
            </a:r>
          </a:p>
          <a:p>
            <a:r>
              <a:rPr lang="en-US" dirty="0"/>
              <a:t>Follow-up and relapse prevention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68420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C962-E805-08C8-9245-83E1565A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D5B98-5679-20F2-4A89-4018D1B0A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Social Group – Definition</a:t>
            </a:r>
          </a:p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social group</a:t>
            </a:r>
            <a:r>
              <a:rPr lang="en-US" dirty="0"/>
              <a:t> is a collection of </a:t>
            </a:r>
            <a:r>
              <a:rPr lang="en-US" b="1" dirty="0"/>
              <a:t>two or more individuals</a:t>
            </a:r>
            <a:r>
              <a:rPr lang="en-US" dirty="0"/>
              <a:t> who </a:t>
            </a:r>
            <a:r>
              <a:rPr lang="en-US" b="1" dirty="0"/>
              <a:t>interact with one another</a:t>
            </a:r>
            <a:r>
              <a:rPr lang="en-US" dirty="0"/>
              <a:t>, share a </a:t>
            </a:r>
            <a:r>
              <a:rPr lang="en-US" b="1" dirty="0"/>
              <a:t>common identity</a:t>
            </a:r>
            <a:r>
              <a:rPr lang="en-US" dirty="0"/>
              <a:t>, and are bound together by </a:t>
            </a:r>
            <a:r>
              <a:rPr lang="en-US" b="1" dirty="0"/>
              <a:t>shared norms, values, and goals</a:t>
            </a:r>
            <a:r>
              <a:rPr lang="en-US" dirty="0"/>
              <a:t>. Members of a social group have </a:t>
            </a:r>
            <a:r>
              <a:rPr lang="en-US" b="1" dirty="0"/>
              <a:t>regular interaction and a sense of belonging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9180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5645-F8B8-AF52-3D32-2D858461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2CD7-4D13-FEA5-F729-30F6A0031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FB912-6A7A-588C-46A6-E8A1DB0D0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11865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Primary Social Group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primary group</a:t>
            </a:r>
            <a:r>
              <a:rPr lang="en-US" dirty="0"/>
              <a:t> is a </a:t>
            </a:r>
            <a:r>
              <a:rPr lang="en-US" b="1" dirty="0"/>
              <a:t>small, intimate, and informal group</a:t>
            </a:r>
            <a:r>
              <a:rPr lang="en-US" dirty="0"/>
              <a:t> in which members have </a:t>
            </a:r>
            <a:r>
              <a:rPr lang="en-US" b="1" dirty="0"/>
              <a:t>close, personal, and face-to-face relationships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Small size</a:t>
            </a:r>
          </a:p>
          <a:p>
            <a:r>
              <a:rPr lang="en-US" dirty="0"/>
              <a:t>Close emotional ties</a:t>
            </a:r>
          </a:p>
          <a:p>
            <a:r>
              <a:rPr lang="en-US" dirty="0"/>
              <a:t>Face-to-face interaction</a:t>
            </a:r>
          </a:p>
          <a:p>
            <a:r>
              <a:rPr lang="en-US" dirty="0"/>
              <a:t>Informal structure</a:t>
            </a:r>
          </a:p>
          <a:p>
            <a:r>
              <a:rPr lang="en-US" dirty="0"/>
              <a:t>Long-lasting and stable relationships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440690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64B87-D4D7-6041-C0F6-2EA7814CC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B992-8579-B00B-1C69-009EFA7C8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118A-D6CB-8F5B-CEAA-0649FB5D1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Family</a:t>
            </a:r>
          </a:p>
          <a:p>
            <a:r>
              <a:rPr lang="en-US" dirty="0"/>
              <a:t>Close friends</a:t>
            </a:r>
          </a:p>
          <a:p>
            <a:r>
              <a:rPr lang="en-US" dirty="0"/>
              <a:t>Peer group</a:t>
            </a:r>
          </a:p>
          <a:p>
            <a:pPr marL="0" indent="0">
              <a:buNone/>
            </a:pPr>
            <a:r>
              <a:rPr lang="en-US" b="1" dirty="0"/>
              <a:t>Importance</a:t>
            </a:r>
          </a:p>
          <a:p>
            <a:r>
              <a:rPr lang="en-US" dirty="0"/>
              <a:t>First agency of socialization</a:t>
            </a:r>
          </a:p>
          <a:p>
            <a:r>
              <a:rPr lang="en-US" dirty="0"/>
              <a:t>Develops personality and social values</a:t>
            </a:r>
          </a:p>
          <a:p>
            <a:r>
              <a:rPr lang="en-US" dirty="0"/>
              <a:t>Provides emotional support and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084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FC89-4FBC-1307-5DA7-FC306C40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B9005-0A9C-5783-A500-1F857D53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F83D0-4917-05C0-1FB0-2CA8A9638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Secondary Social Group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A </a:t>
            </a:r>
            <a:r>
              <a:rPr lang="en-US" b="1" dirty="0"/>
              <a:t>secondary group</a:t>
            </a:r>
            <a:r>
              <a:rPr lang="en-US" dirty="0"/>
              <a:t> is a </a:t>
            </a:r>
            <a:r>
              <a:rPr lang="en-US" b="1" dirty="0"/>
              <a:t>large, impersonal, and formal group</a:t>
            </a:r>
            <a:r>
              <a:rPr lang="en-US" dirty="0"/>
              <a:t> formed to achieve </a:t>
            </a:r>
            <a:r>
              <a:rPr lang="en-US" b="1" dirty="0"/>
              <a:t>specific goals or objectives</a:t>
            </a:r>
            <a:r>
              <a:rPr lang="en-US" dirty="0"/>
              <a:t>. Relationships are </a:t>
            </a:r>
            <a:r>
              <a:rPr lang="en-US" b="1" dirty="0"/>
              <a:t>temporary and goal-oriented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Characteristics</a:t>
            </a:r>
          </a:p>
          <a:p>
            <a:r>
              <a:rPr lang="en-US" dirty="0"/>
              <a:t>Large size</a:t>
            </a:r>
          </a:p>
          <a:p>
            <a:r>
              <a:rPr lang="en-US" dirty="0"/>
              <a:t>Formal organization</a:t>
            </a:r>
          </a:p>
          <a:p>
            <a:r>
              <a:rPr lang="en-US" dirty="0"/>
              <a:t>Impersonal relationships</a:t>
            </a:r>
          </a:p>
          <a:p>
            <a:r>
              <a:rPr lang="en-US" dirty="0"/>
              <a:t>Indirect communication</a:t>
            </a:r>
          </a:p>
          <a:p>
            <a:r>
              <a:rPr lang="en-US" dirty="0"/>
              <a:t>Short-term or limited interaction</a:t>
            </a:r>
          </a:p>
        </p:txBody>
      </p:sp>
    </p:spTree>
    <p:extLst>
      <p:ext uri="{BB962C8B-B14F-4D97-AF65-F5344CB8AC3E}">
        <p14:creationId xmlns:p14="http://schemas.microsoft.com/office/powerpoint/2010/main" val="312997091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0670E-F112-A9D2-C338-3E974990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240E9-0BA3-2CFD-B2B0-177C88CAB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4D79A-ADD8-4BC7-EB01-A9897833D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dirty="0"/>
              <a:t>School or college</a:t>
            </a:r>
          </a:p>
          <a:p>
            <a:r>
              <a:rPr lang="en-US" dirty="0"/>
              <a:t>Workplace</a:t>
            </a:r>
          </a:p>
          <a:p>
            <a:r>
              <a:rPr lang="en-US" dirty="0"/>
              <a:t>Political party</a:t>
            </a:r>
          </a:p>
          <a:p>
            <a:r>
              <a:rPr lang="en-US" dirty="0"/>
              <a:t>Hospital organization</a:t>
            </a:r>
          </a:p>
          <a:p>
            <a:pPr marL="0" indent="0">
              <a:buNone/>
            </a:pPr>
            <a:r>
              <a:rPr lang="en-US" b="1" dirty="0"/>
              <a:t>Importance</a:t>
            </a:r>
          </a:p>
          <a:p>
            <a:r>
              <a:rPr lang="en-US" dirty="0"/>
              <a:t>Helps achieve specific objectives</a:t>
            </a:r>
          </a:p>
          <a:p>
            <a:r>
              <a:rPr lang="en-US" dirty="0"/>
              <a:t>Promotes role specialization</a:t>
            </a:r>
          </a:p>
          <a:p>
            <a:r>
              <a:rPr lang="en-US" dirty="0"/>
              <a:t>Essential for social organization and functioning</a:t>
            </a:r>
          </a:p>
        </p:txBody>
      </p:sp>
    </p:spTree>
    <p:extLst>
      <p:ext uri="{BB962C8B-B14F-4D97-AF65-F5344CB8AC3E}">
        <p14:creationId xmlns:p14="http://schemas.microsoft.com/office/powerpoint/2010/main" val="486341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DBE44-7A39-09A8-2939-8EBE6A6AC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523D4-EC23-4AC5-DAA8-258C7BA3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social group explain primary and secondary social group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C1CDED-57CC-FDFA-0DF4-67474238B4B2}"/>
              </a:ext>
            </a:extLst>
          </p:cNvPr>
          <p:cNvGraphicFramePr>
            <a:graphicFrameLocks noGrp="1"/>
          </p:cNvGraphicFramePr>
          <p:nvPr/>
        </p:nvGraphicFramePr>
        <p:xfrm>
          <a:off x="1032556" y="2097088"/>
          <a:ext cx="9906000" cy="2560320"/>
        </p:xfrm>
        <a:graphic>
          <a:graphicData uri="http://schemas.openxmlformats.org/drawingml/2006/table">
            <a:tbl>
              <a:tblPr/>
              <a:tblGrid>
                <a:gridCol w="3302000">
                  <a:extLst>
                    <a:ext uri="{9D8B030D-6E8A-4147-A177-3AD203B41FA5}">
                      <a16:colId xmlns:a16="http://schemas.microsoft.com/office/drawing/2014/main" val="1206190881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314306719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911155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Primary Group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Secondary Group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473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874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Nature of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Personal and intimate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Impersonal and formal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81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Face-to-face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Indirect or formal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7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Temporary or short-term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762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Emotional satisfaction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Specific goals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694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Family, friends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School, hospital, office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670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3431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07FC-6D97-CBC4-F701-A15AC7C23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BF17-5765-502D-C5AF-5631E70B3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Sickness – Meaning</a:t>
            </a:r>
          </a:p>
          <a:p>
            <a:pPr marL="0" indent="0">
              <a:buNone/>
            </a:pPr>
            <a:r>
              <a:rPr lang="en-US" b="1" dirty="0"/>
              <a:t>Sickness</a:t>
            </a:r>
            <a:r>
              <a:rPr lang="en-US" dirty="0"/>
              <a:t> is a </a:t>
            </a:r>
            <a:r>
              <a:rPr lang="en-US" b="1" dirty="0"/>
              <a:t>social condition</a:t>
            </a:r>
            <a:r>
              <a:rPr lang="en-US" dirty="0"/>
              <a:t> in which an individual is </a:t>
            </a:r>
            <a:r>
              <a:rPr lang="en-US" b="1" dirty="0"/>
              <a:t>recognized by society as ill</a:t>
            </a:r>
            <a:r>
              <a:rPr lang="en-US" dirty="0"/>
              <a:t> and is </a:t>
            </a:r>
            <a:r>
              <a:rPr lang="en-US" b="1" dirty="0"/>
              <a:t>exempted from normal social roles</a:t>
            </a:r>
            <a:r>
              <a:rPr lang="en-US" dirty="0"/>
              <a:t>, while being expected to seek recovery and cooperate with treatment.</a:t>
            </a:r>
            <a:br>
              <a:rPr lang="en-US" dirty="0"/>
            </a:br>
            <a:r>
              <a:rPr lang="en-US" dirty="0"/>
              <a:t>(It is the </a:t>
            </a:r>
            <a:r>
              <a:rPr lang="en-US" b="1" dirty="0"/>
              <a:t>social dimension of illness</a:t>
            </a:r>
            <a:r>
              <a:rPr lang="en-US" dirty="0"/>
              <a:t>, unlike disease which is biological.)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2218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4506D-B74A-5341-D3BA-B33F52C5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389A9-CD6B-9F59-395A-D81D0D56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55063-33B3-3126-6E95-60F277EAA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Sick Role (Talcott Parsons)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sick role</a:t>
            </a:r>
            <a:r>
              <a:rPr lang="en-US" dirty="0"/>
              <a:t> is a concept given by sociologist </a:t>
            </a:r>
            <a:r>
              <a:rPr lang="en-US" b="1" dirty="0"/>
              <a:t>Talcott Parsons</a:t>
            </a:r>
            <a:r>
              <a:rPr lang="en-US" dirty="0"/>
              <a:t>, describing the </a:t>
            </a:r>
            <a:r>
              <a:rPr lang="en-US" b="1" dirty="0"/>
              <a:t>social expectations, rights, and obligations</a:t>
            </a:r>
            <a:r>
              <a:rPr lang="en-US" dirty="0"/>
              <a:t> of a person who is sick.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65668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6E0F-64A4-4AA6-D056-5ADF952E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3583-A6E2-EE8F-44F2-4BA47598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59133-D4B9-9054-F0E8-9BCE048D3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Rights of the Sick Person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Exemption from Normal Social Roles</a:t>
            </a:r>
            <a:endParaRPr lang="en-US" dirty="0"/>
          </a:p>
          <a:p>
            <a:pPr lvl="1"/>
            <a:r>
              <a:rPr lang="en-US" dirty="0"/>
              <a:t>The sick person is excused from work, school, or household duties.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Not Held Responsible for the Illness</a:t>
            </a:r>
            <a:endParaRPr lang="en-US" dirty="0"/>
          </a:p>
          <a:p>
            <a:pPr lvl="1"/>
            <a:r>
              <a:rPr lang="en-US" dirty="0"/>
              <a:t>Society does not blame the individual for being sick.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Right to Care and Support</a:t>
            </a:r>
            <a:endParaRPr lang="en-US" dirty="0"/>
          </a:p>
          <a:p>
            <a:pPr lvl="1"/>
            <a:r>
              <a:rPr lang="en-US" dirty="0"/>
              <a:t>Entitled to medical care, nursing care, and emotional support from family and society.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Right to Sympathy and Understanding</a:t>
            </a:r>
            <a:endParaRPr lang="en-US" dirty="0"/>
          </a:p>
          <a:p>
            <a:pPr lvl="1"/>
            <a:r>
              <a:rPr lang="en-US" dirty="0"/>
              <a:t>Receives concern, compassion, and attention.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1859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A7FBD-AE9B-7DB8-C21F-D03B48BC9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7623-78DD-F2E7-705B-1A5EFA039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DC3A-480C-2B36-32C3-692F5E403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Obligations (Duties) of the Sick Person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Desire to Get Well</a:t>
            </a:r>
            <a:endParaRPr lang="en-US" dirty="0"/>
          </a:p>
          <a:p>
            <a:pPr lvl="1"/>
            <a:r>
              <a:rPr lang="en-US" dirty="0"/>
              <a:t>The sick person should not enjoy or prolong illness unnecessarily.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Seek Competent Medical Help</a:t>
            </a:r>
            <a:endParaRPr lang="en-US" dirty="0"/>
          </a:p>
          <a:p>
            <a:pPr lvl="1"/>
            <a:r>
              <a:rPr lang="en-US" dirty="0"/>
              <a:t>Must consult qualified health professionals.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Cooperate with Treatment</a:t>
            </a:r>
            <a:endParaRPr lang="en-US" dirty="0"/>
          </a:p>
          <a:p>
            <a:pPr lvl="1"/>
            <a:r>
              <a:rPr lang="en-US" dirty="0"/>
              <a:t>Follow medical advice, take medicines, and attend follow-up visits.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Minimize Social Disruption</a:t>
            </a:r>
            <a:endParaRPr lang="en-US" dirty="0"/>
          </a:p>
          <a:p>
            <a:pPr lvl="1"/>
            <a:r>
              <a:rPr lang="en-US" dirty="0"/>
              <a:t>Avoid spreading illness and act responsibly toward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78346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27BC0-AE9E-D123-F18D-03BD3205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2D8B-345D-234C-0031-3D2802FF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3CD0-7995-0302-68DA-F2FF9D221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Importance of Sick Role in Health Care</a:t>
            </a:r>
          </a:p>
          <a:p>
            <a:r>
              <a:rPr lang="en-US" dirty="0"/>
              <a:t>Helps maintain </a:t>
            </a:r>
            <a:r>
              <a:rPr lang="en-US" b="1" dirty="0"/>
              <a:t>social order</a:t>
            </a:r>
            <a:endParaRPr lang="en-US" dirty="0"/>
          </a:p>
          <a:p>
            <a:r>
              <a:rPr lang="en-US" dirty="0"/>
              <a:t>Encourages </a:t>
            </a:r>
            <a:r>
              <a:rPr lang="en-US" b="1" dirty="0"/>
              <a:t>early treatment seeking behavior</a:t>
            </a:r>
            <a:endParaRPr lang="en-US" dirty="0"/>
          </a:p>
          <a:p>
            <a:r>
              <a:rPr lang="en-US" dirty="0"/>
              <a:t>Improves </a:t>
            </a:r>
            <a:r>
              <a:rPr lang="en-US" b="1" dirty="0"/>
              <a:t>doctor–patient cooperation</a:t>
            </a:r>
            <a:endParaRPr lang="en-US" dirty="0"/>
          </a:p>
          <a:p>
            <a:r>
              <a:rPr lang="en-US" dirty="0"/>
              <a:t>Guides health professionals in understanding patient behavior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9079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DBABC-8238-5FF4-3103-117488EE7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B443-E35A-439D-F16F-2E38DD6C1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sickness describe the role of sick and their rights and obligations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9E3E-B013-6FCC-52AE-DC7057B72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Limitations of Sick Role Concept</a:t>
            </a:r>
          </a:p>
          <a:p>
            <a:r>
              <a:rPr lang="en-US" dirty="0"/>
              <a:t>Not suitable for </a:t>
            </a:r>
            <a:r>
              <a:rPr lang="en-US" b="1" dirty="0"/>
              <a:t>chronic diseases</a:t>
            </a:r>
            <a:endParaRPr lang="en-US" dirty="0"/>
          </a:p>
          <a:p>
            <a:r>
              <a:rPr lang="en-US" dirty="0"/>
              <a:t>Does not fully explain </a:t>
            </a:r>
            <a:r>
              <a:rPr lang="en-US" b="1" dirty="0"/>
              <a:t>mental illness</a:t>
            </a:r>
            <a:endParaRPr lang="en-US" dirty="0"/>
          </a:p>
          <a:p>
            <a:r>
              <a:rPr lang="en-US" dirty="0"/>
              <a:t>Less applicable in </a:t>
            </a:r>
            <a:r>
              <a:rPr lang="en-US" b="1" dirty="0"/>
              <a:t>self-inflicted illnesses</a:t>
            </a:r>
            <a:r>
              <a:rPr lang="en-US" dirty="0"/>
              <a:t> (e.g., addiction)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9897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34F57-66C5-F2B8-D7FF-BDBFFD70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D7538-4D1B-8323-E224-7BDC04800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Non-Communicable Diseases (NCDs)</a:t>
            </a:r>
          </a:p>
          <a:p>
            <a:pPr marL="0" indent="0">
              <a:buNone/>
            </a:pPr>
            <a:r>
              <a:rPr lang="en-US" b="1" dirty="0"/>
              <a:t>Definition</a:t>
            </a:r>
          </a:p>
          <a:p>
            <a:pPr marL="0" indent="0">
              <a:buNone/>
            </a:pPr>
            <a:r>
              <a:rPr lang="en-US" b="1" dirty="0"/>
              <a:t>Non-communicable diseases (NCDs)</a:t>
            </a:r>
            <a:r>
              <a:rPr lang="en-US" dirty="0"/>
              <a:t> are </a:t>
            </a:r>
            <a:r>
              <a:rPr lang="en-US" b="1" dirty="0"/>
              <a:t>chronic diseases</a:t>
            </a:r>
            <a:r>
              <a:rPr lang="en-US" dirty="0"/>
              <a:t> that are </a:t>
            </a:r>
            <a:r>
              <a:rPr lang="en-US" b="1" dirty="0"/>
              <a:t>not transmitted from person to person</a:t>
            </a:r>
            <a:r>
              <a:rPr lang="en-US" dirty="0"/>
              <a:t>. They usually have a </a:t>
            </a:r>
            <a:r>
              <a:rPr lang="en-US" b="1" dirty="0"/>
              <a:t>long duration</a:t>
            </a:r>
            <a:r>
              <a:rPr lang="en-US" dirty="0"/>
              <a:t>, </a:t>
            </a:r>
            <a:r>
              <a:rPr lang="en-US" b="1" dirty="0"/>
              <a:t>slow progression</a:t>
            </a:r>
            <a:r>
              <a:rPr lang="en-US" dirty="0"/>
              <a:t>, and are mainly related to </a:t>
            </a:r>
            <a:r>
              <a:rPr lang="en-US" b="1" dirty="0"/>
              <a:t>lifestyle, environmental, genetic, and social factors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5203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9BE5-7014-E3DB-CE57-643C58D00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BBFB9-C27B-9EF6-B0E7-BC6D7F8E9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236A2-72C8-18E9-5688-5C0F3AEB6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Major Characteristics of NCDs</a:t>
            </a:r>
          </a:p>
          <a:p>
            <a:r>
              <a:rPr lang="en-US" dirty="0"/>
              <a:t>Non-infectious</a:t>
            </a:r>
          </a:p>
          <a:p>
            <a:r>
              <a:rPr lang="en-US" dirty="0"/>
              <a:t>Long-term course</a:t>
            </a:r>
          </a:p>
          <a:p>
            <a:r>
              <a:rPr lang="en-US" dirty="0"/>
              <a:t>Often irreversible</a:t>
            </a:r>
          </a:p>
          <a:p>
            <a:r>
              <a:rPr lang="en-US" dirty="0"/>
              <a:t>Require prolonged treatment and care</a:t>
            </a:r>
          </a:p>
          <a:p>
            <a:r>
              <a:rPr lang="en-US" dirty="0"/>
              <a:t>Major cause of morbidity, mortality, and disability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6538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139D-EA1D-1FA2-EE7D-118EF832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7587-31A1-58DC-FD16-BE52A37E5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4596A-6EDF-F8C6-9475-F64E13B33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Common Non-Communicable Diseases</a:t>
            </a:r>
          </a:p>
          <a:p>
            <a:r>
              <a:rPr lang="en-IN" dirty="0"/>
              <a:t>Cardiovascular diseases</a:t>
            </a:r>
          </a:p>
          <a:p>
            <a:r>
              <a:rPr lang="en-IN" dirty="0"/>
              <a:t>Diabetes mellitus</a:t>
            </a:r>
          </a:p>
          <a:p>
            <a:r>
              <a:rPr lang="en-IN" dirty="0"/>
              <a:t>Cancer</a:t>
            </a:r>
          </a:p>
          <a:p>
            <a:r>
              <a:rPr lang="en-IN" dirty="0"/>
              <a:t>Chronic respiratory diseases</a:t>
            </a:r>
          </a:p>
          <a:p>
            <a:r>
              <a:rPr lang="en-IN" dirty="0"/>
              <a:t>Hypertension</a:t>
            </a:r>
          </a:p>
          <a:p>
            <a:r>
              <a:rPr lang="en-IN" dirty="0"/>
              <a:t>Stroke</a:t>
            </a:r>
          </a:p>
          <a:p>
            <a:r>
              <a:rPr lang="en-IN" dirty="0"/>
              <a:t>Chronic kidney disease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4606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5872-59D6-4E65-7B83-FE5880DC5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F840-AFC5-CE70-4EB8-9D23B5E37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E2A55-747F-832D-A589-A832F3FE4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Five Important Non-Communicable Diseases</a:t>
            </a:r>
          </a:p>
          <a:p>
            <a:pPr marL="0" indent="0">
              <a:buNone/>
            </a:pPr>
            <a:r>
              <a:rPr lang="en-US" b="1" dirty="0"/>
              <a:t>1. Cardiovascular Diseases (CVDs)</a:t>
            </a:r>
          </a:p>
          <a:p>
            <a:r>
              <a:rPr lang="en-US" i="1" dirty="0"/>
              <a:t>(Coronary artery disease, heart attack, stroke)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Risk Factors</a:t>
            </a:r>
          </a:p>
          <a:p>
            <a:r>
              <a:rPr lang="en-US" dirty="0"/>
              <a:t>Smoking</a:t>
            </a:r>
          </a:p>
          <a:p>
            <a:r>
              <a:rPr lang="en-US" dirty="0"/>
              <a:t>High-fat diet</a:t>
            </a:r>
          </a:p>
          <a:p>
            <a:r>
              <a:rPr lang="en-US" dirty="0"/>
              <a:t>Physical inactivity</a:t>
            </a:r>
          </a:p>
          <a:p>
            <a:r>
              <a:rPr lang="en-US" dirty="0"/>
              <a:t>Obesity</a:t>
            </a:r>
          </a:p>
          <a:p>
            <a:r>
              <a:rPr lang="en-US" dirty="0"/>
              <a:t>Stress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854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B7BE-010A-A3C0-E75F-DD78BF0A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BC59-1EB9-4DAC-72C8-10CC1D26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58F8A-DD53-E5E9-3D6E-F645CE52B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Prevention and Control</a:t>
            </a:r>
          </a:p>
          <a:p>
            <a:r>
              <a:rPr lang="en-US" dirty="0"/>
              <a:t>Healthy diet (low salt and fat)</a:t>
            </a:r>
          </a:p>
          <a:p>
            <a:r>
              <a:rPr lang="en-US" dirty="0"/>
              <a:t>Regular physical exercise</a:t>
            </a:r>
          </a:p>
          <a:p>
            <a:r>
              <a:rPr lang="en-US" dirty="0"/>
              <a:t>Avoid tobacco and alcohol</a:t>
            </a:r>
          </a:p>
          <a:p>
            <a:r>
              <a:rPr lang="en-US" dirty="0"/>
              <a:t>Control of blood pressure and cholesterol</a:t>
            </a:r>
          </a:p>
          <a:p>
            <a:r>
              <a:rPr lang="en-US" dirty="0"/>
              <a:t>Early detection and treatment</a:t>
            </a:r>
          </a:p>
        </p:txBody>
      </p:sp>
    </p:spTree>
    <p:extLst>
      <p:ext uri="{BB962C8B-B14F-4D97-AF65-F5344CB8AC3E}">
        <p14:creationId xmlns:p14="http://schemas.microsoft.com/office/powerpoint/2010/main" val="40076128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DAD7-C8B0-0F6F-26DE-C6851664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1908F-E0DF-B024-618D-CACE083B4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E75A9-02D1-C266-7CEE-9FADED4F0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2. Diabetes Mellitus</a:t>
            </a:r>
          </a:p>
          <a:p>
            <a:pPr marL="0" indent="0">
              <a:buNone/>
            </a:pPr>
            <a:r>
              <a:rPr lang="en-IN" b="1" dirty="0"/>
              <a:t>Risk Factors</a:t>
            </a:r>
          </a:p>
          <a:p>
            <a:r>
              <a:rPr lang="en-IN" dirty="0"/>
              <a:t>Obesity</a:t>
            </a:r>
          </a:p>
          <a:p>
            <a:r>
              <a:rPr lang="en-IN" dirty="0"/>
              <a:t>Sedentary lifestyle</a:t>
            </a:r>
          </a:p>
          <a:p>
            <a:r>
              <a:rPr lang="en-IN" dirty="0"/>
              <a:t>Family history</a:t>
            </a:r>
          </a:p>
          <a:p>
            <a:r>
              <a:rPr lang="en-IN" dirty="0"/>
              <a:t>Unhealthy diet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1130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556E1-3D1A-D6FD-D62B-9A9F3609D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A76C6-0472-BDEF-F259-0384661B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BF10-0BC5-3661-DC66-15CF4F7E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Prevention and Control</a:t>
            </a:r>
          </a:p>
          <a:p>
            <a:r>
              <a:rPr lang="en-IN" dirty="0"/>
              <a:t>Weight management</a:t>
            </a:r>
          </a:p>
          <a:p>
            <a:r>
              <a:rPr lang="en-IN" dirty="0"/>
              <a:t>Balanced diet with reduced sugar intake</a:t>
            </a:r>
          </a:p>
          <a:p>
            <a:r>
              <a:rPr lang="en-IN" dirty="0"/>
              <a:t>Regular physical activity</a:t>
            </a:r>
          </a:p>
          <a:p>
            <a:r>
              <a:rPr lang="en-IN" dirty="0"/>
              <a:t>Periodic blood glucose screening</a:t>
            </a:r>
          </a:p>
          <a:p>
            <a:r>
              <a:rPr lang="en-IN" dirty="0"/>
              <a:t>Adherence to treatment and follow-up</a:t>
            </a:r>
          </a:p>
        </p:txBody>
      </p:sp>
    </p:spTree>
    <p:extLst>
      <p:ext uri="{BB962C8B-B14F-4D97-AF65-F5344CB8AC3E}">
        <p14:creationId xmlns:p14="http://schemas.microsoft.com/office/powerpoint/2010/main" val="6999828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9B08-C294-522A-A1DF-E18E2A5F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3BA02-207F-382F-EDDA-39563BC58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F880E-97C0-2201-C0E3-CAE2E9DE6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3. Cancer</a:t>
            </a:r>
          </a:p>
          <a:p>
            <a:pPr marL="0" indent="0">
              <a:buNone/>
            </a:pPr>
            <a:r>
              <a:rPr lang="en-IN" b="1" dirty="0"/>
              <a:t>Risk Factors</a:t>
            </a:r>
          </a:p>
          <a:p>
            <a:r>
              <a:rPr lang="en-IN" dirty="0"/>
              <a:t>Tobacco use</a:t>
            </a:r>
          </a:p>
          <a:p>
            <a:r>
              <a:rPr lang="en-IN" dirty="0"/>
              <a:t>Alcohol consumption</a:t>
            </a:r>
          </a:p>
          <a:p>
            <a:r>
              <a:rPr lang="en-IN" dirty="0"/>
              <a:t>Exposure to carcinogens</a:t>
            </a:r>
          </a:p>
          <a:p>
            <a:r>
              <a:rPr lang="en-IN" dirty="0"/>
              <a:t>Radiation</a:t>
            </a:r>
          </a:p>
          <a:p>
            <a:r>
              <a:rPr lang="en-IN" dirty="0"/>
              <a:t>Unhealthy diet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89304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75823-0C3D-0B76-9F6C-CA6C78ACC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85AAD-5B78-2D4A-0D8D-3417C9AC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C415-BDDB-4DCA-3421-FF491B60F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Prevention and Control</a:t>
            </a:r>
          </a:p>
          <a:p>
            <a:r>
              <a:rPr lang="en-IN" dirty="0"/>
              <a:t>Avoid tobacco and alcohol</a:t>
            </a:r>
          </a:p>
          <a:p>
            <a:r>
              <a:rPr lang="en-IN" dirty="0"/>
              <a:t>Healthy diet rich in fruits and vegetables</a:t>
            </a:r>
          </a:p>
          <a:p>
            <a:r>
              <a:rPr lang="en-IN" dirty="0"/>
              <a:t>Cancer screening (breast, cervical, oral cancers)</a:t>
            </a:r>
          </a:p>
          <a:p>
            <a:r>
              <a:rPr lang="en-IN" dirty="0"/>
              <a:t>Early diagnosis and treatment</a:t>
            </a:r>
          </a:p>
          <a:p>
            <a:r>
              <a:rPr lang="en-IN" dirty="0"/>
              <a:t>Health education and awareness</a:t>
            </a:r>
          </a:p>
        </p:txBody>
      </p:sp>
    </p:spTree>
    <p:extLst>
      <p:ext uri="{BB962C8B-B14F-4D97-AF65-F5344CB8AC3E}">
        <p14:creationId xmlns:p14="http://schemas.microsoft.com/office/powerpoint/2010/main" val="269579610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87D8-4425-1174-9DD3-ECFAA019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A772-02DF-9EFF-6116-5137FAB4A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40826-2BCC-1DD4-9B9C-D42040FB9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4. Chronic Respiratory Diseases</a:t>
            </a:r>
          </a:p>
          <a:p>
            <a:r>
              <a:rPr lang="en-US" i="1" dirty="0"/>
              <a:t>(Asthma, Chronic Obstructive Pulmonary Disease – COPD)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Risk Factors</a:t>
            </a:r>
          </a:p>
          <a:p>
            <a:r>
              <a:rPr lang="en-US" dirty="0"/>
              <a:t>Smoking</a:t>
            </a:r>
          </a:p>
          <a:p>
            <a:r>
              <a:rPr lang="en-US" dirty="0"/>
              <a:t>Air pollution</a:t>
            </a:r>
          </a:p>
          <a:p>
            <a:r>
              <a:rPr lang="en-US" dirty="0"/>
              <a:t>Occupational dust and chemicals</a:t>
            </a:r>
          </a:p>
        </p:txBody>
      </p:sp>
    </p:spTree>
    <p:extLst>
      <p:ext uri="{BB962C8B-B14F-4D97-AF65-F5344CB8AC3E}">
        <p14:creationId xmlns:p14="http://schemas.microsoft.com/office/powerpoint/2010/main" val="24734460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2419D-9DEF-A80E-118D-8B310BE3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F207-7C49-C5C5-ED72-CB8902AC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43456-9043-E56C-7DC9-9D85CBE14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Prevention and Control</a:t>
            </a:r>
          </a:p>
          <a:p>
            <a:r>
              <a:rPr lang="en-US" dirty="0"/>
              <a:t>Avoid smoking and passive smoking</a:t>
            </a:r>
          </a:p>
          <a:p>
            <a:r>
              <a:rPr lang="en-US" dirty="0"/>
              <a:t>Reduce exposure to pollutants</a:t>
            </a:r>
          </a:p>
          <a:p>
            <a:r>
              <a:rPr lang="en-US" dirty="0"/>
              <a:t>Use protective equipment at workplaces</a:t>
            </a:r>
          </a:p>
          <a:p>
            <a:r>
              <a:rPr lang="en-US" dirty="0"/>
              <a:t>Early diagnosis and regular treatment</a:t>
            </a:r>
          </a:p>
        </p:txBody>
      </p:sp>
    </p:spTree>
    <p:extLst>
      <p:ext uri="{BB962C8B-B14F-4D97-AF65-F5344CB8AC3E}">
        <p14:creationId xmlns:p14="http://schemas.microsoft.com/office/powerpoint/2010/main" val="155713154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E9176-1882-5317-F65E-FB422F43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79C2-60FA-DC22-AE86-6801ED7FD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B3BA4-6249-C4C2-B85A-A807E3CB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Hypertension</a:t>
            </a:r>
          </a:p>
          <a:p>
            <a:pPr marL="0" indent="0">
              <a:buNone/>
            </a:pPr>
            <a:r>
              <a:rPr lang="en-US" b="1" dirty="0"/>
              <a:t>Risk Factors</a:t>
            </a:r>
          </a:p>
          <a:p>
            <a:r>
              <a:rPr lang="en-US" dirty="0"/>
              <a:t>High salt intake</a:t>
            </a:r>
          </a:p>
          <a:p>
            <a:r>
              <a:rPr lang="en-US" dirty="0"/>
              <a:t>Obesity</a:t>
            </a:r>
          </a:p>
          <a:p>
            <a:r>
              <a:rPr lang="en-US" dirty="0"/>
              <a:t>Stress</a:t>
            </a:r>
          </a:p>
          <a:p>
            <a:r>
              <a:rPr lang="en-US" dirty="0"/>
              <a:t>Lack of physical activity</a:t>
            </a:r>
          </a:p>
        </p:txBody>
      </p:sp>
    </p:spTree>
    <p:extLst>
      <p:ext uri="{BB962C8B-B14F-4D97-AF65-F5344CB8AC3E}">
        <p14:creationId xmlns:p14="http://schemas.microsoft.com/office/powerpoint/2010/main" val="270170477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82A21-C314-F638-454B-C19F290B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005E-1C97-C16D-4C34-D7889D32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C1FF9-2662-7C45-07B3-F4012ECB4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Prevention and Control</a:t>
            </a:r>
          </a:p>
          <a:p>
            <a:r>
              <a:rPr lang="en-US" dirty="0"/>
              <a:t>Reduced salt intake</a:t>
            </a:r>
          </a:p>
          <a:p>
            <a:r>
              <a:rPr lang="en-US" dirty="0"/>
              <a:t>Regular exercise</a:t>
            </a:r>
          </a:p>
          <a:p>
            <a:r>
              <a:rPr lang="en-US" dirty="0"/>
              <a:t>Stress management</a:t>
            </a:r>
          </a:p>
          <a:p>
            <a:r>
              <a:rPr lang="en-US" dirty="0"/>
              <a:t>Regular blood pressure monitoring</a:t>
            </a:r>
          </a:p>
          <a:p>
            <a:r>
              <a:rPr lang="en-US" dirty="0"/>
              <a:t>Lifelong medication adherence</a:t>
            </a:r>
          </a:p>
        </p:txBody>
      </p:sp>
    </p:spTree>
    <p:extLst>
      <p:ext uri="{BB962C8B-B14F-4D97-AF65-F5344CB8AC3E}">
        <p14:creationId xmlns:p14="http://schemas.microsoft.com/office/powerpoint/2010/main" val="36357014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1DC1-2306-E0B8-7385-A620AB76D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516E-98A7-C5C3-FB67-22DCB41F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B4972-E326-72A2-F671-1E28F910F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General Prevention and Control Strategies for NCDs</a:t>
            </a:r>
          </a:p>
          <a:p>
            <a:pPr marL="0" indent="0">
              <a:buNone/>
            </a:pPr>
            <a:r>
              <a:rPr lang="en-US" b="1" dirty="0"/>
              <a:t>1. Primordial Prevention</a:t>
            </a:r>
          </a:p>
          <a:p>
            <a:r>
              <a:rPr lang="en-US" dirty="0"/>
              <a:t>Promotion of healthy lifestyle from early life</a:t>
            </a:r>
          </a:p>
          <a:p>
            <a:r>
              <a:rPr lang="en-US" dirty="0"/>
              <a:t>Healthy diet and physical activity</a:t>
            </a:r>
          </a:p>
          <a:p>
            <a:pPr marL="0" indent="0">
              <a:buNone/>
            </a:pPr>
            <a:r>
              <a:rPr lang="en-US" b="1" dirty="0"/>
              <a:t>2. Primary Prevention</a:t>
            </a:r>
          </a:p>
          <a:p>
            <a:r>
              <a:rPr lang="en-US" dirty="0"/>
              <a:t>Avoid tobacco and harmful alcohol use</a:t>
            </a:r>
          </a:p>
          <a:p>
            <a:r>
              <a:rPr lang="en-US" dirty="0"/>
              <a:t>Healthy nutrition</a:t>
            </a:r>
          </a:p>
          <a:p>
            <a:r>
              <a:rPr lang="en-US" dirty="0"/>
              <a:t>Physical exercise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42755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DE08A-3475-7C5A-FF68-5D770844D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39CF-D665-03CC-2574-597D00FC1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8069D-CCCF-BD21-1B4D-873870509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Secondary Prevention</a:t>
            </a:r>
          </a:p>
          <a:p>
            <a:r>
              <a:rPr lang="en-US" dirty="0"/>
              <a:t>Early diagnosis through screening</a:t>
            </a:r>
          </a:p>
          <a:p>
            <a:r>
              <a:rPr lang="en-US" dirty="0"/>
              <a:t>Timely treatment to prevent complications</a:t>
            </a:r>
          </a:p>
          <a:p>
            <a:pPr marL="0" indent="0">
              <a:buNone/>
            </a:pPr>
            <a:r>
              <a:rPr lang="en-US" b="1" dirty="0"/>
              <a:t>4. Tertiary Prevention</a:t>
            </a:r>
          </a:p>
          <a:p>
            <a:r>
              <a:rPr lang="en-US" dirty="0"/>
              <a:t>Rehabilitation</a:t>
            </a:r>
          </a:p>
          <a:p>
            <a:r>
              <a:rPr lang="en-US" dirty="0"/>
              <a:t>Disability limitation</a:t>
            </a:r>
          </a:p>
          <a:p>
            <a:r>
              <a:rPr lang="en-US" dirty="0"/>
              <a:t>Long-term care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626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F064-B802-4ADE-6C52-2FC1B144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AE1C9-F705-E3F3-D827-9090F32EA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EF07C-5A49-D9B5-E61A-10B898E67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5. Health Education</a:t>
            </a:r>
          </a:p>
          <a:p>
            <a:r>
              <a:rPr lang="en-US" dirty="0"/>
              <a:t>Awareness about risk factors</a:t>
            </a:r>
          </a:p>
          <a:p>
            <a:r>
              <a:rPr lang="en-US" dirty="0"/>
              <a:t>Lifestyle modification</a:t>
            </a:r>
          </a:p>
          <a:p>
            <a:r>
              <a:rPr lang="en-US" dirty="0"/>
              <a:t>Community participation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994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E256-CD65-F5C7-A2B1-9C89B34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9ECB-1A03-3F7E-475D-46FC388E3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Give an account on non communicable diseases , 5 of describe , prevention and control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BCEDA-6271-D9E6-4F8B-E541109D9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275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Role of Health System</a:t>
            </a:r>
          </a:p>
          <a:p>
            <a:r>
              <a:rPr lang="en-US" dirty="0"/>
              <a:t>Strengthening primary health care</a:t>
            </a:r>
          </a:p>
          <a:p>
            <a:r>
              <a:rPr lang="en-US" dirty="0"/>
              <a:t>Integration of NCD services</a:t>
            </a:r>
          </a:p>
          <a:p>
            <a:r>
              <a:rPr lang="en-US" dirty="0"/>
              <a:t>Regular monitoring and surveillance</a:t>
            </a:r>
          </a:p>
          <a:p>
            <a:r>
              <a:rPr lang="en-US" dirty="0"/>
              <a:t>National programs for NCD control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1434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1469</TotalTime>
  <Words>5153</Words>
  <Application>Microsoft Office PowerPoint</Application>
  <PresentationFormat>Widescreen</PresentationFormat>
  <Paragraphs>776</Paragraphs>
  <Slides>108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108</vt:i4>
      </vt:variant>
    </vt:vector>
  </HeadingPairs>
  <TitlesOfParts>
    <vt:vector size="111" baseType="lpstr">
      <vt:lpstr>Arial</vt:lpstr>
      <vt:lpstr>Tw Cen MT</vt:lpstr>
      <vt:lpstr>Circuit</vt:lpstr>
      <vt:lpstr>Sociology question and answers 15 marks</vt:lpstr>
      <vt:lpstr>Define medical sociology distinguish btw sociology of medicine and sociology in medicine explain hospital as a social institution explain its importance in health care profession and public health</vt:lpstr>
      <vt:lpstr>Define medical sociology distinguish btw sociology of medicine and sociology in medicine explain hospital as a social institution explain its importance in health care profession and public health</vt:lpstr>
      <vt:lpstr>Define medical sociology distinguish btw sociology of medicine and sociology in medicine explain hospital as a social institution explain its importance in health care profession and public health</vt:lpstr>
      <vt:lpstr>Define medical sociology distinguish btw sociology of medicine and sociology in medicine explain hospital as a social institution explain its importance in health care profession and public health</vt:lpstr>
      <vt:lpstr>Define medical sociology distinguish btw sociology of medicine and sociology in medicine explain hospital as a social institution explain its importance in health care profession and public health</vt:lpstr>
      <vt:lpstr>Define medical sociology distinguish btw sociology of medicine and sociology in medicine explain hospital as a social institution explain its importance in health care profession and public health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Define social control discuss nature , purpose , types and agencies of social control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write a note on environment pollution discuss the intervention strategies for sustainable development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discuss different types of health practices in and around the world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explain the importance of social epidemology in public health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discuss social factors predisposing to specific groups of diseases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Describe the problems of drug addiction explain briefly the methods to handle the problems</vt:lpstr>
      <vt:lpstr>What is social group explain primary and secondary social group</vt:lpstr>
      <vt:lpstr>What is social group explain primary and secondary social group</vt:lpstr>
      <vt:lpstr>What is social group explain primary and secondary social group</vt:lpstr>
      <vt:lpstr>What is social group explain primary and secondary social group</vt:lpstr>
      <vt:lpstr>What is social group explain primary and secondary social group</vt:lpstr>
      <vt:lpstr>What is social group explain primary and secondary social group</vt:lpstr>
      <vt:lpstr>what is sickness describe the role of sick and their rights and obligations</vt:lpstr>
      <vt:lpstr>what is sickness describe the role of sick and their rights and obligations</vt:lpstr>
      <vt:lpstr>what is sickness describe the role of sick and their rights and obligations</vt:lpstr>
      <vt:lpstr>what is sickness describe the role of sick and their rights and obligations</vt:lpstr>
      <vt:lpstr>what is sickness describe the role of sick and their rights and obligations</vt:lpstr>
      <vt:lpstr>what is sickness describe the role of sick and their rights and obligations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  <vt:lpstr>Give an account on non communicable diseases , 5 of describe , prevention and control strategies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1</cp:revision>
  <dcterms:created xsi:type="dcterms:W3CDTF">2026-01-19T15:34:11Z</dcterms:created>
  <dcterms:modified xsi:type="dcterms:W3CDTF">2026-01-20T16:03:56Z</dcterms:modified>
</cp:coreProperties>
</file>