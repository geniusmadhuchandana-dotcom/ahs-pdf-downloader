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60" r:id="rId5"/>
    <p:sldId id="259"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EAE841-3CF2-4C7E-96E3-EE080363C3DB}" v="14" dt="2025-12-19T11:41:12.4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6" d="100"/>
          <a:sy n="66" d="100"/>
        </p:scale>
        <p:origin x="1330" y="31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dhu Chandana Senthil Rajan" userId="38c954434994de9c" providerId="LiveId" clId="{696F34CC-6EE7-4A50-8F69-D56517EF5C3C}"/>
    <pc:docChg chg="undo custSel addSld modSld">
      <pc:chgData name="Madhu Chandana Senthil Rajan" userId="38c954434994de9c" providerId="LiveId" clId="{696F34CC-6EE7-4A50-8F69-D56517EF5C3C}" dt="2025-12-19T11:41:12.492" v="70"/>
      <pc:docMkLst>
        <pc:docMk/>
      </pc:docMkLst>
      <pc:sldChg chg="addSp modSp mod">
        <pc:chgData name="Madhu Chandana Senthil Rajan" userId="38c954434994de9c" providerId="LiveId" clId="{696F34CC-6EE7-4A50-8F69-D56517EF5C3C}" dt="2025-12-19T10:52:44.478" v="17" actId="1076"/>
        <pc:sldMkLst>
          <pc:docMk/>
          <pc:sldMk cId="4182472465" sldId="266"/>
        </pc:sldMkLst>
        <pc:spChg chg="mod">
          <ac:chgData name="Madhu Chandana Senthil Rajan" userId="38c954434994de9c" providerId="LiveId" clId="{696F34CC-6EE7-4A50-8F69-D56517EF5C3C}" dt="2025-12-19T10:52:44.478" v="17" actId="1076"/>
          <ac:spMkLst>
            <pc:docMk/>
            <pc:sldMk cId="4182472465" sldId="266"/>
            <ac:spMk id="2" creationId="{C7112282-7AA2-3BF9-52F1-2D2F9818DDF3}"/>
          </ac:spMkLst>
        </pc:spChg>
        <pc:spChg chg="mod">
          <ac:chgData name="Madhu Chandana Senthil Rajan" userId="38c954434994de9c" providerId="LiveId" clId="{696F34CC-6EE7-4A50-8F69-D56517EF5C3C}" dt="2025-12-19T10:52:19.426" v="13" actId="27636"/>
          <ac:spMkLst>
            <pc:docMk/>
            <pc:sldMk cId="4182472465" sldId="266"/>
            <ac:spMk id="3" creationId="{8C37BF4D-6E54-959A-B788-1D52BB81B931}"/>
          </ac:spMkLst>
        </pc:spChg>
        <pc:spChg chg="add mod">
          <ac:chgData name="Madhu Chandana Senthil Rajan" userId="38c954434994de9c" providerId="LiveId" clId="{696F34CC-6EE7-4A50-8F69-D56517EF5C3C}" dt="2025-12-19T10:52:14.792" v="11" actId="1076"/>
          <ac:spMkLst>
            <pc:docMk/>
            <pc:sldMk cId="4182472465" sldId="266"/>
            <ac:spMk id="4" creationId="{356297F9-C11A-73CE-1664-1AE9532A2F72}"/>
          </ac:spMkLst>
        </pc:spChg>
      </pc:sldChg>
      <pc:sldChg chg="modSp new mod">
        <pc:chgData name="Madhu Chandana Senthil Rajan" userId="38c954434994de9c" providerId="LiveId" clId="{696F34CC-6EE7-4A50-8F69-D56517EF5C3C}" dt="2025-12-19T10:56:04.005" v="26" actId="255"/>
        <pc:sldMkLst>
          <pc:docMk/>
          <pc:sldMk cId="3667601875" sldId="267"/>
        </pc:sldMkLst>
        <pc:spChg chg="mod">
          <ac:chgData name="Madhu Chandana Senthil Rajan" userId="38c954434994de9c" providerId="LiveId" clId="{696F34CC-6EE7-4A50-8F69-D56517EF5C3C}" dt="2025-12-19T10:55:41.901" v="25"/>
          <ac:spMkLst>
            <pc:docMk/>
            <pc:sldMk cId="3667601875" sldId="267"/>
            <ac:spMk id="2" creationId="{520B56A6-5B27-1631-A9C3-3256B2A7CE66}"/>
          </ac:spMkLst>
        </pc:spChg>
        <pc:spChg chg="mod">
          <ac:chgData name="Madhu Chandana Senthil Rajan" userId="38c954434994de9c" providerId="LiveId" clId="{696F34CC-6EE7-4A50-8F69-D56517EF5C3C}" dt="2025-12-19T10:56:04.005" v="26" actId="255"/>
          <ac:spMkLst>
            <pc:docMk/>
            <pc:sldMk cId="3667601875" sldId="267"/>
            <ac:spMk id="3" creationId="{B2623E9D-CAAD-3985-2DFA-633155B3A3D4}"/>
          </ac:spMkLst>
        </pc:spChg>
      </pc:sldChg>
      <pc:sldChg chg="addSp modSp new mod">
        <pc:chgData name="Madhu Chandana Senthil Rajan" userId="38c954434994de9c" providerId="LiveId" clId="{696F34CC-6EE7-4A50-8F69-D56517EF5C3C}" dt="2025-12-19T10:58:13.446" v="46" actId="1076"/>
        <pc:sldMkLst>
          <pc:docMk/>
          <pc:sldMk cId="698601391" sldId="268"/>
        </pc:sldMkLst>
        <pc:spChg chg="mod">
          <ac:chgData name="Madhu Chandana Senthil Rajan" userId="38c954434994de9c" providerId="LiveId" clId="{696F34CC-6EE7-4A50-8F69-D56517EF5C3C}" dt="2025-12-19T10:56:38.061" v="30"/>
          <ac:spMkLst>
            <pc:docMk/>
            <pc:sldMk cId="698601391" sldId="268"/>
            <ac:spMk id="2" creationId="{65307822-B743-CCBD-B163-2AE5526709BD}"/>
          </ac:spMkLst>
        </pc:spChg>
        <pc:spChg chg="mod">
          <ac:chgData name="Madhu Chandana Senthil Rajan" userId="38c954434994de9c" providerId="LiveId" clId="{696F34CC-6EE7-4A50-8F69-D56517EF5C3C}" dt="2025-12-19T10:58:04.851" v="45" actId="255"/>
          <ac:spMkLst>
            <pc:docMk/>
            <pc:sldMk cId="698601391" sldId="268"/>
            <ac:spMk id="3" creationId="{AFC47F95-EA1F-CD55-458C-B78892ABA846}"/>
          </ac:spMkLst>
        </pc:spChg>
        <pc:spChg chg="add mod">
          <ac:chgData name="Madhu Chandana Senthil Rajan" userId="38c954434994de9c" providerId="LiveId" clId="{696F34CC-6EE7-4A50-8F69-D56517EF5C3C}" dt="2025-12-19T10:57:26.162" v="40" actId="20577"/>
          <ac:spMkLst>
            <pc:docMk/>
            <pc:sldMk cId="698601391" sldId="268"/>
            <ac:spMk id="4" creationId="{8074E3B2-1D25-92BC-C398-60E30DE37B8D}"/>
          </ac:spMkLst>
        </pc:spChg>
        <pc:spChg chg="add mod">
          <ac:chgData name="Madhu Chandana Senthil Rajan" userId="38c954434994de9c" providerId="LiveId" clId="{696F34CC-6EE7-4A50-8F69-D56517EF5C3C}" dt="2025-12-19T10:58:13.446" v="46" actId="1076"/>
          <ac:spMkLst>
            <pc:docMk/>
            <pc:sldMk cId="698601391" sldId="268"/>
            <ac:spMk id="5" creationId="{5DDDA5AE-4E9C-DBAF-4FBD-11A5456B8A20}"/>
          </ac:spMkLst>
        </pc:spChg>
      </pc:sldChg>
      <pc:sldChg chg="modSp new mod">
        <pc:chgData name="Madhu Chandana Senthil Rajan" userId="38c954434994de9c" providerId="LiveId" clId="{696F34CC-6EE7-4A50-8F69-D56517EF5C3C}" dt="2025-12-19T11:41:12.492" v="70"/>
        <pc:sldMkLst>
          <pc:docMk/>
          <pc:sldMk cId="46407205" sldId="269"/>
        </pc:sldMkLst>
        <pc:spChg chg="mod">
          <ac:chgData name="Madhu Chandana Senthil Rajan" userId="38c954434994de9c" providerId="LiveId" clId="{696F34CC-6EE7-4A50-8F69-D56517EF5C3C}" dt="2025-12-19T11:41:12.492" v="70"/>
          <ac:spMkLst>
            <pc:docMk/>
            <pc:sldMk cId="46407205" sldId="269"/>
            <ac:spMk id="2" creationId="{2767F8F8-E277-CEE9-AA7E-88B7D9E0A04B}"/>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6" name="Rectangle 15"/>
          <p:cNvSpPr/>
          <p:nvPr/>
        </p:nvSpPr>
        <p:spPr>
          <a:xfrm>
            <a:off x="1" y="0"/>
            <a:ext cx="12192000" cy="6858000"/>
          </a:xfrm>
          <a:prstGeom prst="rect">
            <a:avLst/>
          </a:prstGeom>
          <a:blipFill dpi="0" rotWithShape="1">
            <a:blip r:embed="rId2">
              <a:alphaModFix amt="40000"/>
              <a:duotone>
                <a:schemeClr val="accent1">
                  <a:shade val="45000"/>
                  <a:satMod val="135000"/>
                </a:schemeClr>
                <a:prstClr val="white"/>
              </a:duotone>
            </a:blip>
            <a:srcRect/>
            <a:tile tx="-133350" ty="330200" sx="85000" sy="85000" flip="xy" algn="tl"/>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txBody>
          <a:bodyPr/>
          <a:lstStyle/>
          <a:p>
            <a:endParaRPr lang="en-IN"/>
          </a:p>
        </p:txBody>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txBody>
          <a:bodyPr/>
          <a:lstStyle/>
          <a:p>
            <a:endParaRPr lang="en-IN"/>
          </a:p>
        </p:txBody>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lumMod val="85000"/>
                  <a:lumOff val="15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lumMod val="85000"/>
                  <a:lumOff val="15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lumMod val="85000"/>
                  <a:lumOff val="15000"/>
                </a:schemeClr>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2">
                    <a:lumMod val="7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rgbClr val="FFFFFF"/>
                </a:solidFill>
                <a:latin typeface="+mn-lt"/>
              </a:defRPr>
            </a:lvl1pPr>
          </a:lstStyle>
          <a:p>
            <a:fld id="{C6C55D7C-707C-4ABA-9563-64457E5F1C82}" type="datetimeFigureOut">
              <a:rPr lang="en-IN" smtClean="0"/>
              <a:t>19-12-2025</a:t>
            </a:fld>
            <a:endParaRPr lang="en-IN"/>
          </a:p>
        </p:txBody>
      </p:sp>
      <p:sp>
        <p:nvSpPr>
          <p:cNvPr id="21" name="Footer Placeholder 20"/>
          <p:cNvSpPr>
            <a:spLocks noGrp="1"/>
          </p:cNvSpPr>
          <p:nvPr>
            <p:ph type="ftr" sz="quarter" idx="11"/>
          </p:nvPr>
        </p:nvSpPr>
        <p:spPr>
          <a:xfrm>
            <a:off x="1453896" y="5212080"/>
            <a:ext cx="5905500" cy="228600"/>
          </a:xfrm>
        </p:spPr>
        <p:txBody>
          <a:bodyPr/>
          <a:lstStyle>
            <a:lvl1pPr algn="l">
              <a:defRPr>
                <a:solidFill>
                  <a:schemeClr val="tx1">
                    <a:lumMod val="75000"/>
                    <a:lumOff val="25000"/>
                  </a:schemeClr>
                </a:solidFill>
              </a:defRPr>
            </a:lvl1pPr>
          </a:lstStyle>
          <a:p>
            <a:endParaRPr lang="en-IN"/>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7DEF3F0F-B9F1-4C2F-A6B8-167864760914}" type="slidenum">
              <a:rPr lang="en-IN" smtClean="0"/>
              <a:t>‹#›</a:t>
            </a:fld>
            <a:endParaRPr lang="en-IN"/>
          </a:p>
        </p:txBody>
      </p:sp>
    </p:spTree>
    <p:extLst>
      <p:ext uri="{BB962C8B-B14F-4D97-AF65-F5344CB8AC3E}">
        <p14:creationId xmlns:p14="http://schemas.microsoft.com/office/powerpoint/2010/main" val="978866996"/>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C55D7C-707C-4ABA-9563-64457E5F1C82}" type="datetimeFigureOut">
              <a:rPr lang="en-IN" smtClean="0"/>
              <a:t>19-12-2025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DEF3F0F-B9F1-4C2F-A6B8-167864760914}" type="slidenum">
              <a:rPr lang="en-IN" smtClean="0"/>
              <a:t>‹#›</a:t>
            </a:fld>
            <a:endParaRPr lang="en-IN"/>
          </a:p>
        </p:txBody>
      </p:sp>
    </p:spTree>
    <p:extLst>
      <p:ext uri="{BB962C8B-B14F-4D97-AF65-F5344CB8AC3E}">
        <p14:creationId xmlns:p14="http://schemas.microsoft.com/office/powerpoint/2010/main" val="7290097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16" name="Rectangle 15"/>
          <p:cNvSpPr/>
          <p:nvPr/>
        </p:nvSpPr>
        <p:spPr>
          <a:xfrm>
            <a:off x="11784" y="0"/>
            <a:ext cx="12192000" cy="6858000"/>
          </a:xfrm>
          <a:prstGeom prst="rect">
            <a:avLst/>
          </a:prstGeom>
          <a:blipFill dpi="0" rotWithShape="1">
            <a:blip r:embed="rId2">
              <a:alphaModFix amt="40000"/>
              <a:duotone>
                <a:schemeClr val="accent2">
                  <a:shade val="45000"/>
                  <a:satMod val="135000"/>
                </a:schemeClr>
                <a:prstClr val="white"/>
              </a:duotone>
            </a:blip>
            <a:srcRect/>
            <a:tile tx="-133350" ty="330200" sx="85000" sy="85000" flip="xy" algn="tl"/>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txBody>
          <a:bodyPr/>
          <a:lstStyle/>
          <a:p>
            <a:endParaRPr lang="en-IN"/>
          </a:p>
        </p:txBody>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txBody>
          <a:bodyPr/>
          <a:lstStyle/>
          <a:p>
            <a:endParaRPr lang="en-IN"/>
          </a:p>
        </p:txBody>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accent2">
                  <a:lumMod val="5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accent2">
                  <a:lumMod val="5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accent2">
                  <a:lumMod val="50000"/>
                </a:schemeClr>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tabLst>
                <a:tab pos="2633663" algn="l"/>
              </a:tabLst>
              <a:defRPr sz="1600">
                <a:solidFill>
                  <a:schemeClr val="tx2"/>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rgbClr val="FFFFFF"/>
                </a:solidFill>
                <a:latin typeface="+mn-lt"/>
                <a:ea typeface="+mn-ea"/>
                <a:cs typeface="+mn-cs"/>
              </a:defRPr>
            </a:lvl1pPr>
          </a:lstStyle>
          <a:p>
            <a:fld id="{C6C55D7C-707C-4ABA-9563-64457E5F1C82}" type="datetimeFigureOut">
              <a:rPr lang="en-IN" smtClean="0"/>
              <a:t>19-12-2025</a:t>
            </a:fld>
            <a:endParaRPr lang="en-IN"/>
          </a:p>
        </p:txBody>
      </p:sp>
      <p:sp>
        <p:nvSpPr>
          <p:cNvPr id="5" name="Footer Placeholder 4"/>
          <p:cNvSpPr>
            <a:spLocks noGrp="1"/>
          </p:cNvSpPr>
          <p:nvPr>
            <p:ph type="ftr" sz="quarter" idx="11"/>
          </p:nvPr>
        </p:nvSpPr>
        <p:spPr>
          <a:xfrm>
            <a:off x="1453896" y="5212080"/>
            <a:ext cx="5907024" cy="228600"/>
          </a:xfrm>
        </p:spPr>
        <p:txBody>
          <a:bodyPr/>
          <a:lstStyle>
            <a:lvl1pPr algn="l">
              <a:defRPr/>
            </a:lvl1pPr>
          </a:lstStyle>
          <a:p>
            <a:endParaRPr lang="en-IN"/>
          </a:p>
        </p:txBody>
      </p:sp>
      <p:sp>
        <p:nvSpPr>
          <p:cNvPr id="6" name="Slide Number Placeholder 5"/>
          <p:cNvSpPr>
            <a:spLocks noGrp="1"/>
          </p:cNvSpPr>
          <p:nvPr>
            <p:ph type="sldNum" sz="quarter" idx="12"/>
          </p:nvPr>
        </p:nvSpPr>
        <p:spPr>
          <a:xfrm>
            <a:off x="8604504" y="5212080"/>
            <a:ext cx="2112264" cy="228600"/>
          </a:xfrm>
        </p:spPr>
        <p:txBody>
          <a:bodyPr/>
          <a:lstStyle/>
          <a:p>
            <a:fld id="{7DEF3F0F-B9F1-4C2F-A6B8-167864760914}" type="slidenum">
              <a:rPr lang="en-IN" smtClean="0"/>
              <a:t>‹#›</a:t>
            </a:fld>
            <a:endParaRPr lang="en-IN"/>
          </a:p>
        </p:txBody>
      </p:sp>
    </p:spTree>
    <p:extLst>
      <p:ext uri="{BB962C8B-B14F-4D97-AF65-F5344CB8AC3E}">
        <p14:creationId xmlns:p14="http://schemas.microsoft.com/office/powerpoint/2010/main" val="2481383121"/>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6C55D7C-707C-4ABA-9563-64457E5F1C82}" type="datetimeFigureOut">
              <a:rPr lang="en-IN" smtClean="0"/>
              <a:t>19-12-2025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DEF3F0F-B9F1-4C2F-A6B8-167864760914}" type="slidenum">
              <a:rPr lang="en-IN" smtClean="0"/>
              <a:t>‹#›</a:t>
            </a:fld>
            <a:endParaRPr lang="en-IN"/>
          </a:p>
        </p:txBody>
      </p:sp>
    </p:spTree>
    <p:extLst>
      <p:ext uri="{BB962C8B-B14F-4D97-AF65-F5344CB8AC3E}">
        <p14:creationId xmlns:p14="http://schemas.microsoft.com/office/powerpoint/2010/main" val="3575978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800" b="0">
                <a:solidFill>
                  <a:schemeClr val="tx2"/>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800" b="0">
                <a:solidFill>
                  <a:schemeClr val="tx2"/>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6C55D7C-707C-4ABA-9563-64457E5F1C82}" type="datetimeFigureOut">
              <a:rPr lang="en-IN" smtClean="0"/>
              <a:t>19-12-2025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DEF3F0F-B9F1-4C2F-A6B8-167864760914}" type="slidenum">
              <a:rPr lang="en-IN" smtClean="0"/>
              <a:t>‹#›</a:t>
            </a:fld>
            <a:endParaRPr lang="en-IN"/>
          </a:p>
        </p:txBody>
      </p:sp>
    </p:spTree>
    <p:extLst>
      <p:ext uri="{BB962C8B-B14F-4D97-AF65-F5344CB8AC3E}">
        <p14:creationId xmlns:p14="http://schemas.microsoft.com/office/powerpoint/2010/main" val="11901777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6C55D7C-707C-4ABA-9563-64457E5F1C82}" type="datetimeFigureOut">
              <a:rPr lang="en-IN" smtClean="0"/>
              <a:t>19-12-2025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DEF3F0F-B9F1-4C2F-A6B8-167864760914}" type="slidenum">
              <a:rPr lang="en-IN" smtClean="0"/>
              <a:t>‹#›</a:t>
            </a:fld>
            <a:endParaRPr lang="en-IN"/>
          </a:p>
        </p:txBody>
      </p:sp>
    </p:spTree>
    <p:extLst>
      <p:ext uri="{BB962C8B-B14F-4D97-AF65-F5344CB8AC3E}">
        <p14:creationId xmlns:p14="http://schemas.microsoft.com/office/powerpoint/2010/main" val="27192879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6C55D7C-707C-4ABA-9563-64457E5F1C82}" type="datetimeFigureOut">
              <a:rPr lang="en-IN" smtClean="0"/>
              <a:t>19-12-2025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DEF3F0F-B9F1-4C2F-A6B8-167864760914}" type="slidenum">
              <a:rPr lang="en-IN" smtClean="0"/>
              <a:t>‹#›</a:t>
            </a:fld>
            <a:endParaRPr lang="en-IN"/>
          </a:p>
        </p:txBody>
      </p:sp>
    </p:spTree>
    <p:extLst>
      <p:ext uri="{BB962C8B-B14F-4D97-AF65-F5344CB8AC3E}">
        <p14:creationId xmlns:p14="http://schemas.microsoft.com/office/powerpoint/2010/main" val="21286124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5" name="Rectangle 14"/>
          <p:cNvSpPr/>
          <p:nvPr/>
        </p:nvSpPr>
        <p:spPr>
          <a:xfrm>
            <a:off x="9020386" y="237744"/>
            <a:ext cx="2926080"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C6C55D7C-707C-4ABA-9563-64457E5F1C82}" type="datetimeFigureOut">
              <a:rPr lang="en-IN" smtClean="0"/>
              <a:t>19-12-2025</a:t>
            </a:fld>
            <a:endParaRPr lang="en-IN"/>
          </a:p>
        </p:txBody>
      </p:sp>
      <p:sp>
        <p:nvSpPr>
          <p:cNvPr id="9" name="Footer Placeholder 8"/>
          <p:cNvSpPr>
            <a:spLocks noGrp="1"/>
          </p:cNvSpPr>
          <p:nvPr>
            <p:ph type="ftr" sz="quarter" idx="11"/>
          </p:nvPr>
        </p:nvSpPr>
        <p:spPr/>
        <p:txBody>
          <a:bodyPr/>
          <a:lstStyle>
            <a:lvl1pPr algn="r">
              <a:defRPr/>
            </a:lvl1pPr>
          </a:lstStyle>
          <a:p>
            <a:endParaRPr lang="en-IN"/>
          </a:p>
        </p:txBody>
      </p:sp>
      <p:sp>
        <p:nvSpPr>
          <p:cNvPr id="11" name="Slide Number Placeholder 10"/>
          <p:cNvSpPr>
            <a:spLocks noGrp="1"/>
          </p:cNvSpPr>
          <p:nvPr>
            <p:ph type="sldNum" sz="quarter" idx="12"/>
          </p:nvPr>
        </p:nvSpPr>
        <p:spPr>
          <a:xfrm>
            <a:off x="10396728" y="6227064"/>
            <a:ext cx="1463040" cy="256032"/>
          </a:xfrm>
        </p:spPr>
        <p:txBody>
          <a:bodyPr/>
          <a:lstStyle/>
          <a:p>
            <a:fld id="{7DEF3F0F-B9F1-4C2F-A6B8-167864760914}" type="slidenum">
              <a:rPr lang="en-IN" smtClean="0"/>
              <a:t>‹#›</a:t>
            </a:fld>
            <a:endParaRPr lang="en-IN"/>
          </a:p>
        </p:txBody>
      </p:sp>
      <p:sp>
        <p:nvSpPr>
          <p:cNvPr id="12" name="Rectangle 11"/>
          <p:cNvSpPr/>
          <p:nvPr/>
        </p:nvSpPr>
        <p:spPr>
          <a:xfrm>
            <a:off x="9157546" y="374904"/>
            <a:ext cx="2651760"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9749087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title"/>
          </p:nvPr>
        </p:nvSpPr>
        <p:spPr>
          <a:xfrm>
            <a:off x="9296400" y="603504"/>
            <a:ext cx="2432304" cy="1645920"/>
          </a:xfrm>
        </p:spPr>
        <p:txBody>
          <a:bodyPr anchor="b">
            <a:noAutofit/>
          </a:bodyPr>
          <a:lstStyle>
            <a:lvl1pPr algn="l">
              <a:defRPr sz="2800" b="0">
                <a:solidFill>
                  <a:schemeClr val="tx1"/>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6">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9050" dist="6350" dir="2700000" algn="tl" rotWithShape="0">
                    <a:prstClr val="black">
                      <a:alpha val="40000"/>
                    </a:prstClr>
                  </a:outerShdw>
                </a:effectLst>
              </a:defRPr>
            </a:lvl1pPr>
          </a:lstStyle>
          <a:p>
            <a:fld id="{C6C55D7C-707C-4ABA-9563-64457E5F1C82}" type="datetimeFigureOut">
              <a:rPr lang="en-IN" smtClean="0"/>
              <a:t>19-12-2025</a:t>
            </a:fld>
            <a:endParaRPr lang="en-IN"/>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endParaRPr lang="en-IN"/>
          </a:p>
        </p:txBody>
      </p:sp>
      <p:sp>
        <p:nvSpPr>
          <p:cNvPr id="7" name="Slide Number Placeholder 6"/>
          <p:cNvSpPr>
            <a:spLocks noGrp="1"/>
          </p:cNvSpPr>
          <p:nvPr>
            <p:ph type="sldNum" sz="quarter" idx="12"/>
          </p:nvPr>
        </p:nvSpPr>
        <p:spPr>
          <a:xfrm>
            <a:off x="10396728" y="6227064"/>
            <a:ext cx="1463040" cy="256032"/>
          </a:xfrm>
        </p:spPr>
        <p:txBody>
          <a:bodyPr/>
          <a:lstStyle/>
          <a:p>
            <a:fld id="{7DEF3F0F-B9F1-4C2F-A6B8-167864760914}" type="slidenum">
              <a:rPr lang="en-IN" smtClean="0"/>
              <a:t>‹#›</a:t>
            </a:fld>
            <a:endParaRPr lang="en-IN"/>
          </a:p>
        </p:txBody>
      </p:sp>
      <p:sp>
        <p:nvSpPr>
          <p:cNvPr id="10" name="Rectangle 9"/>
          <p:cNvSpPr/>
          <p:nvPr/>
        </p:nvSpPr>
        <p:spPr>
          <a:xfrm>
            <a:off x="9157546" y="374904"/>
            <a:ext cx="2651760"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Tree>
    <p:extLst>
      <p:ext uri="{BB962C8B-B14F-4D97-AF65-F5344CB8AC3E}">
        <p14:creationId xmlns:p14="http://schemas.microsoft.com/office/powerpoint/2010/main" val="37390268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C55D7C-707C-4ABA-9563-64457E5F1C82}" type="datetimeFigureOut">
              <a:rPr lang="en-IN" smtClean="0"/>
              <a:t>19-12-2025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DEF3F0F-B9F1-4C2F-A6B8-167864760914}" type="slidenum">
              <a:rPr lang="en-IN" smtClean="0"/>
              <a:t>‹#›</a:t>
            </a:fld>
            <a:endParaRPr lang="en-IN"/>
          </a:p>
        </p:txBody>
      </p:sp>
    </p:spTree>
    <p:extLst>
      <p:ext uri="{BB962C8B-B14F-4D97-AF65-F5344CB8AC3E}">
        <p14:creationId xmlns:p14="http://schemas.microsoft.com/office/powerpoint/2010/main" val="40561207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C55D7C-707C-4ABA-9563-64457E5F1C82}" type="datetimeFigureOut">
              <a:rPr lang="en-IN" smtClean="0"/>
              <a:t>19-12-2025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DEF3F0F-B9F1-4C2F-A6B8-167864760914}" type="slidenum">
              <a:rPr lang="en-IN" smtClean="0"/>
              <a:t>‹#›</a:t>
            </a:fld>
            <a:endParaRPr lang="en-IN"/>
          </a:p>
        </p:txBody>
      </p:sp>
    </p:spTree>
    <p:extLst>
      <p:ext uri="{BB962C8B-B14F-4D97-AF65-F5344CB8AC3E}">
        <p14:creationId xmlns:p14="http://schemas.microsoft.com/office/powerpoint/2010/main" val="999119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txBody>
          <a:bodyPr/>
          <a:lstStyle/>
          <a:p>
            <a:endParaRPr lang="en-IN"/>
          </a:p>
        </p:txBody>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9464" y="6214535"/>
            <a:ext cx="2743200" cy="256032"/>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C6C55D7C-707C-4ABA-9563-64457E5F1C82}" type="datetimeFigureOut">
              <a:rPr lang="en-IN" smtClean="0"/>
              <a:t>19-12-2025</a:t>
            </a:fld>
            <a:endParaRPr lang="en-IN"/>
          </a:p>
        </p:txBody>
      </p:sp>
      <p:sp>
        <p:nvSpPr>
          <p:cNvPr id="5" name="Footer Placeholder 4"/>
          <p:cNvSpPr>
            <a:spLocks noGrp="1"/>
          </p:cNvSpPr>
          <p:nvPr>
            <p:ph type="ftr" sz="quarter" idx="3"/>
          </p:nvPr>
        </p:nvSpPr>
        <p:spPr>
          <a:xfrm>
            <a:off x="3489960" y="6214535"/>
            <a:ext cx="5212080" cy="256032"/>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IN"/>
          </a:p>
        </p:txBody>
      </p:sp>
      <p:sp>
        <p:nvSpPr>
          <p:cNvPr id="6" name="Slide Number Placeholder 5"/>
          <p:cNvSpPr>
            <a:spLocks noGrp="1"/>
          </p:cNvSpPr>
          <p:nvPr>
            <p:ph type="sldNum" sz="quarter" idx="4"/>
          </p:nvPr>
        </p:nvSpPr>
        <p:spPr>
          <a:xfrm>
            <a:off x="10348535" y="6214535"/>
            <a:ext cx="1463040" cy="256032"/>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7DEF3F0F-B9F1-4C2F-A6B8-167864760914}" type="slidenum">
              <a:rPr lang="en-IN" smtClean="0"/>
              <a:t>‹#›</a:t>
            </a:fld>
            <a:endParaRPr lang="en-IN"/>
          </a:p>
        </p:txBody>
      </p:sp>
      <p:sp>
        <p:nvSpPr>
          <p:cNvPr id="8" name="Rectangle 7"/>
          <p:cNvSpPr/>
          <p:nvPr/>
        </p:nvSpPr>
        <p:spPr>
          <a:xfrm>
            <a:off x="371856" y="374904"/>
            <a:ext cx="11448288" cy="6108192"/>
          </a:xfrm>
          <a:prstGeom prst="rect">
            <a:avLst/>
          </a:prstGeom>
          <a:noFill/>
          <a:ln w="6350" cap="sq" cmpd="sng" algn="ctr">
            <a:solidFill>
              <a:schemeClr val="tx1">
                <a:lumMod val="75000"/>
                <a:lumOff val="25000"/>
              </a:schemeClr>
            </a:solidFill>
            <a:prstDash val="solid"/>
            <a:miter lim="800000"/>
          </a:ln>
          <a:effectLst/>
        </p:spPr>
        <p:txBody>
          <a:bodyPr/>
          <a:lstStyle/>
          <a:p>
            <a:endParaRPr lang="en-IN"/>
          </a:p>
        </p:txBody>
      </p:sp>
    </p:spTree>
    <p:extLst>
      <p:ext uri="{BB962C8B-B14F-4D97-AF65-F5344CB8AC3E}">
        <p14:creationId xmlns:p14="http://schemas.microsoft.com/office/powerpoint/2010/main" val="298455254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90020-807C-0F4C-0624-233BD247A095}"/>
              </a:ext>
            </a:extLst>
          </p:cNvPr>
          <p:cNvSpPr>
            <a:spLocks noGrp="1"/>
          </p:cNvSpPr>
          <p:nvPr>
            <p:ph type="ctrTitle"/>
          </p:nvPr>
        </p:nvSpPr>
        <p:spPr/>
        <p:txBody>
          <a:bodyPr/>
          <a:lstStyle/>
          <a:p>
            <a:r>
              <a:rPr lang="en-US" sz="6600" dirty="0"/>
              <a:t>pharmacology - pharmacokinetics</a:t>
            </a:r>
            <a:endParaRPr lang="en-IN" sz="6600" dirty="0"/>
          </a:p>
        </p:txBody>
      </p:sp>
      <p:sp>
        <p:nvSpPr>
          <p:cNvPr id="3" name="Subtitle 2">
            <a:extLst>
              <a:ext uri="{FF2B5EF4-FFF2-40B4-BE49-F238E27FC236}">
                <a16:creationId xmlns:a16="http://schemas.microsoft.com/office/drawing/2014/main" id="{7A6F484F-3558-F543-E664-0801ABDD5991}"/>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1161476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3F0B9-6A47-6EA2-4BDB-FA6F000CB47B}"/>
              </a:ext>
            </a:extLst>
          </p:cNvPr>
          <p:cNvSpPr>
            <a:spLocks noGrp="1"/>
          </p:cNvSpPr>
          <p:nvPr>
            <p:ph type="title"/>
          </p:nvPr>
        </p:nvSpPr>
        <p:spPr/>
        <p:txBody>
          <a:bodyPr>
            <a:normAutofit/>
          </a:bodyPr>
          <a:lstStyle/>
          <a:p>
            <a:r>
              <a:rPr lang="en-US" sz="7200" dirty="0"/>
              <a:t>Pharmacokinetics </a:t>
            </a:r>
            <a:endParaRPr lang="en-IN" sz="7200" dirty="0"/>
          </a:p>
        </p:txBody>
      </p:sp>
      <p:sp>
        <p:nvSpPr>
          <p:cNvPr id="3" name="Content Placeholder 2">
            <a:extLst>
              <a:ext uri="{FF2B5EF4-FFF2-40B4-BE49-F238E27FC236}">
                <a16:creationId xmlns:a16="http://schemas.microsoft.com/office/drawing/2014/main" id="{DB86CF00-82DD-5C8C-DBFA-6F6DC531DAA4}"/>
              </a:ext>
            </a:extLst>
          </p:cNvPr>
          <p:cNvSpPr>
            <a:spLocks noGrp="1"/>
          </p:cNvSpPr>
          <p:nvPr>
            <p:ph idx="1"/>
          </p:nvPr>
        </p:nvSpPr>
        <p:spPr>
          <a:xfrm>
            <a:off x="1066800" y="1739327"/>
            <a:ext cx="10058400" cy="2508209"/>
          </a:xfrm>
        </p:spPr>
        <p:txBody>
          <a:bodyPr>
            <a:normAutofit lnSpcReduction="10000"/>
          </a:bodyPr>
          <a:lstStyle/>
          <a:p>
            <a:r>
              <a:rPr lang="en-US" sz="3200" dirty="0"/>
              <a:t>Pharmacokinetics is the study of the absorption, distribution, metabolism and excretion of drugs, i.e. the movement of the drugs into, within and out of the body.</a:t>
            </a:r>
          </a:p>
          <a:p>
            <a:r>
              <a:rPr lang="en-US" sz="3200" dirty="0"/>
              <a:t>For a drug to produce its specific response, it should be present in adequate concentrations at the site of action.</a:t>
            </a:r>
          </a:p>
          <a:p>
            <a:endParaRPr lang="en-IN" sz="3200" dirty="0"/>
          </a:p>
        </p:txBody>
      </p:sp>
      <p:pic>
        <p:nvPicPr>
          <p:cNvPr id="5" name="Picture 4">
            <a:extLst>
              <a:ext uri="{FF2B5EF4-FFF2-40B4-BE49-F238E27FC236}">
                <a16:creationId xmlns:a16="http://schemas.microsoft.com/office/drawing/2014/main" id="{41379882-53D0-3BE4-0C08-CCB8DD5767CE}"/>
              </a:ext>
            </a:extLst>
          </p:cNvPr>
          <p:cNvPicPr>
            <a:picLocks noChangeAspect="1"/>
          </p:cNvPicPr>
          <p:nvPr/>
        </p:nvPicPr>
        <p:blipFill>
          <a:blip r:embed="rId2"/>
          <a:stretch>
            <a:fillRect/>
          </a:stretch>
        </p:blipFill>
        <p:spPr>
          <a:xfrm>
            <a:off x="3196631" y="4182057"/>
            <a:ext cx="5582429" cy="2324424"/>
          </a:xfrm>
          <a:prstGeom prst="rect">
            <a:avLst/>
          </a:prstGeom>
        </p:spPr>
      </p:pic>
    </p:spTree>
    <p:extLst>
      <p:ext uri="{BB962C8B-B14F-4D97-AF65-F5344CB8AC3E}">
        <p14:creationId xmlns:p14="http://schemas.microsoft.com/office/powerpoint/2010/main" val="38940460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269BF-5FF3-FFC6-9893-2240EDE345CE}"/>
              </a:ext>
            </a:extLst>
          </p:cNvPr>
          <p:cNvSpPr>
            <a:spLocks noGrp="1"/>
          </p:cNvSpPr>
          <p:nvPr>
            <p:ph type="title"/>
          </p:nvPr>
        </p:nvSpPr>
        <p:spPr/>
        <p:txBody>
          <a:bodyPr>
            <a:normAutofit fontScale="90000"/>
          </a:bodyPr>
          <a:lstStyle/>
          <a:p>
            <a:r>
              <a:rPr lang="en-US" dirty="0"/>
              <a:t>Mechanisms of Transport of Drugs Across Biological Membranes</a:t>
            </a:r>
            <a:endParaRPr lang="en-IN" dirty="0"/>
          </a:p>
        </p:txBody>
      </p:sp>
      <p:sp>
        <p:nvSpPr>
          <p:cNvPr id="3" name="Content Placeholder 2">
            <a:extLst>
              <a:ext uri="{FF2B5EF4-FFF2-40B4-BE49-F238E27FC236}">
                <a16:creationId xmlns:a16="http://schemas.microsoft.com/office/drawing/2014/main" id="{E07524E5-C9F7-C67D-0742-95FB1339315A}"/>
              </a:ext>
            </a:extLst>
          </p:cNvPr>
          <p:cNvSpPr>
            <a:spLocks noGrp="1"/>
          </p:cNvSpPr>
          <p:nvPr>
            <p:ph idx="1"/>
          </p:nvPr>
        </p:nvSpPr>
        <p:spPr/>
        <p:txBody>
          <a:bodyPr>
            <a:noAutofit/>
          </a:bodyPr>
          <a:lstStyle/>
          <a:p>
            <a:r>
              <a:rPr lang="en-US" sz="3200" dirty="0"/>
              <a:t>Passive transfer</a:t>
            </a:r>
          </a:p>
          <a:p>
            <a:pPr marL="274320" lvl="1" indent="0">
              <a:buNone/>
            </a:pPr>
            <a:r>
              <a:rPr lang="en-US" sz="3200" dirty="0"/>
              <a:t>• Simple diffusion </a:t>
            </a:r>
          </a:p>
          <a:p>
            <a:pPr marL="274320" lvl="1" indent="0">
              <a:buNone/>
            </a:pPr>
            <a:r>
              <a:rPr lang="en-US" sz="3200" dirty="0"/>
              <a:t>• Filtration </a:t>
            </a:r>
          </a:p>
          <a:p>
            <a:r>
              <a:rPr lang="en-US" sz="3200" dirty="0"/>
              <a:t>Carrier-mediated transport</a:t>
            </a:r>
          </a:p>
          <a:p>
            <a:pPr marL="274320" lvl="1" indent="0">
              <a:buNone/>
            </a:pPr>
            <a:r>
              <a:rPr lang="en-US" sz="3200" dirty="0"/>
              <a:t>• Active transport </a:t>
            </a:r>
          </a:p>
          <a:p>
            <a:pPr marL="274320" lvl="1" indent="0">
              <a:buNone/>
            </a:pPr>
            <a:r>
              <a:rPr lang="en-US" sz="3200" dirty="0"/>
              <a:t>• Facilitated diffusion </a:t>
            </a:r>
          </a:p>
          <a:p>
            <a:r>
              <a:rPr lang="en-US" sz="3200" dirty="0"/>
              <a:t>Endocytosis</a:t>
            </a:r>
            <a:endParaRPr lang="en-IN" sz="3200" dirty="0"/>
          </a:p>
        </p:txBody>
      </p:sp>
    </p:spTree>
    <p:extLst>
      <p:ext uri="{BB962C8B-B14F-4D97-AF65-F5344CB8AC3E}">
        <p14:creationId xmlns:p14="http://schemas.microsoft.com/office/powerpoint/2010/main" val="27831743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369FC-E068-1806-37D0-DD9E664FA56C}"/>
              </a:ext>
            </a:extLst>
          </p:cNvPr>
          <p:cNvSpPr>
            <a:spLocks noGrp="1"/>
          </p:cNvSpPr>
          <p:nvPr>
            <p:ph type="title"/>
          </p:nvPr>
        </p:nvSpPr>
        <p:spPr/>
        <p:txBody>
          <a:bodyPr/>
          <a:lstStyle/>
          <a:p>
            <a:r>
              <a:rPr lang="en-IN" dirty="0"/>
              <a:t>Passive Transfer</a:t>
            </a:r>
          </a:p>
        </p:txBody>
      </p:sp>
      <p:sp>
        <p:nvSpPr>
          <p:cNvPr id="3" name="Content Placeholder 2">
            <a:extLst>
              <a:ext uri="{FF2B5EF4-FFF2-40B4-BE49-F238E27FC236}">
                <a16:creationId xmlns:a16="http://schemas.microsoft.com/office/drawing/2014/main" id="{80822681-A391-935A-BEEF-2B74F5DAB6FB}"/>
              </a:ext>
            </a:extLst>
          </p:cNvPr>
          <p:cNvSpPr>
            <a:spLocks noGrp="1"/>
          </p:cNvSpPr>
          <p:nvPr>
            <p:ph idx="1"/>
          </p:nvPr>
        </p:nvSpPr>
        <p:spPr>
          <a:xfrm>
            <a:off x="1066800" y="1699260"/>
            <a:ext cx="10058400" cy="3931920"/>
          </a:xfrm>
        </p:spPr>
        <p:txBody>
          <a:bodyPr>
            <a:noAutofit/>
          </a:bodyPr>
          <a:lstStyle/>
          <a:p>
            <a:r>
              <a:rPr lang="en-US" sz="2800" dirty="0"/>
              <a:t>The drug moves across a membrane without any need for energy.</a:t>
            </a:r>
          </a:p>
          <a:p>
            <a:pPr marL="617220" lvl="1" indent="-342900">
              <a:buFont typeface="+mj-lt"/>
              <a:buAutoNum type="arabicPeriod"/>
            </a:pPr>
            <a:r>
              <a:rPr lang="en-US" sz="2800" dirty="0"/>
              <a:t>Simple diffusion is the transfer of a drug across the membrane in the direction of its concentration gradient. Lipid soluble drugs are transferred across membranes by simple diffusion—after dissolving in the lipids of the cell membrane.</a:t>
            </a:r>
          </a:p>
          <a:p>
            <a:pPr marL="617220" lvl="1" indent="-342900">
              <a:buFont typeface="+mj-lt"/>
              <a:buAutoNum type="arabicPeriod"/>
            </a:pPr>
            <a:r>
              <a:rPr lang="en-US" sz="2800" dirty="0"/>
              <a:t> Filtration is the passage of drugs through aqueous pores in the membrane. Water soluble drugs with molecular size smaller than the diameter of the pores cross the biological membranes by filtration.</a:t>
            </a:r>
            <a:endParaRPr lang="en-IN" sz="2800" dirty="0"/>
          </a:p>
        </p:txBody>
      </p:sp>
    </p:spTree>
    <p:extLst>
      <p:ext uri="{BB962C8B-B14F-4D97-AF65-F5344CB8AC3E}">
        <p14:creationId xmlns:p14="http://schemas.microsoft.com/office/powerpoint/2010/main" val="22276397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F3D1A-949D-265A-B864-F90DE7EE245F}"/>
              </a:ext>
            </a:extLst>
          </p:cNvPr>
          <p:cNvSpPr>
            <a:spLocks noGrp="1"/>
          </p:cNvSpPr>
          <p:nvPr>
            <p:ph type="title"/>
          </p:nvPr>
        </p:nvSpPr>
        <p:spPr>
          <a:xfrm>
            <a:off x="1066800" y="357459"/>
            <a:ext cx="10058400" cy="1371600"/>
          </a:xfrm>
        </p:spPr>
        <p:txBody>
          <a:bodyPr/>
          <a:lstStyle/>
          <a:p>
            <a:r>
              <a:rPr lang="en-US" dirty="0"/>
              <a:t>Carrier-mediated Transport</a:t>
            </a:r>
            <a:endParaRPr lang="en-IN" dirty="0"/>
          </a:p>
        </p:txBody>
      </p:sp>
      <p:sp>
        <p:nvSpPr>
          <p:cNvPr id="3" name="Content Placeholder 2">
            <a:extLst>
              <a:ext uri="{FF2B5EF4-FFF2-40B4-BE49-F238E27FC236}">
                <a16:creationId xmlns:a16="http://schemas.microsoft.com/office/drawing/2014/main" id="{B3FD762C-25F4-D424-E47B-E8CFE04B76CA}"/>
              </a:ext>
            </a:extLst>
          </p:cNvPr>
          <p:cNvSpPr>
            <a:spLocks noGrp="1"/>
          </p:cNvSpPr>
          <p:nvPr>
            <p:ph idx="1"/>
          </p:nvPr>
        </p:nvSpPr>
        <p:spPr>
          <a:xfrm>
            <a:off x="501445" y="1612490"/>
            <a:ext cx="11375923" cy="4422550"/>
          </a:xfrm>
        </p:spPr>
        <p:txBody>
          <a:bodyPr>
            <a:noAutofit/>
          </a:bodyPr>
          <a:lstStyle/>
          <a:p>
            <a:r>
              <a:rPr lang="en-US" sz="2400" dirty="0"/>
              <a:t>Active transport is the transfer of drugs against a concentration gradient and needs energy. It is carried by a specific carrier protein. Only drugs related to natural metabolites are transported by this process, e.g. levodopa, iron, amino acids. The compound binds to a specific carrier on one side of the membrane and moves across the cell. At the other side of the cell, the complex dissociates and the carrier moves back to transport another molecule. Other substances competing for the same mechanism for transport may interfere with drug movement as this process is saturable, e.g. penicillin and probenecid - duration of action of penicillin is prolonged because both of them compete for renal tubular secretion. </a:t>
            </a:r>
          </a:p>
          <a:p>
            <a:r>
              <a:rPr lang="en-US" sz="2400" dirty="0"/>
              <a:t>Facilitated diffusion is a unique form of carrier transport which differs from active transport in that it is not energy dependent and the movement occurs in the direction of the concentration gradient. The carrier facilitates diffusion and is highly specific for the substance, e.g. uptake of glucose by cells, vitamin B12 from intestines.</a:t>
            </a:r>
            <a:endParaRPr lang="en-IN" sz="2400" dirty="0"/>
          </a:p>
        </p:txBody>
      </p:sp>
    </p:spTree>
    <p:extLst>
      <p:ext uri="{BB962C8B-B14F-4D97-AF65-F5344CB8AC3E}">
        <p14:creationId xmlns:p14="http://schemas.microsoft.com/office/powerpoint/2010/main" val="41286872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17441-28D0-0D2C-B462-2259E5FAAE17}"/>
              </a:ext>
            </a:extLst>
          </p:cNvPr>
          <p:cNvSpPr>
            <a:spLocks noGrp="1"/>
          </p:cNvSpPr>
          <p:nvPr>
            <p:ph type="title"/>
          </p:nvPr>
        </p:nvSpPr>
        <p:spPr/>
        <p:txBody>
          <a:bodyPr/>
          <a:lstStyle/>
          <a:p>
            <a:r>
              <a:rPr lang="en-US" dirty="0"/>
              <a:t>Endocytosis</a:t>
            </a:r>
            <a:endParaRPr lang="en-IN" dirty="0"/>
          </a:p>
        </p:txBody>
      </p:sp>
      <p:sp>
        <p:nvSpPr>
          <p:cNvPr id="3" name="Content Placeholder 2">
            <a:extLst>
              <a:ext uri="{FF2B5EF4-FFF2-40B4-BE49-F238E27FC236}">
                <a16:creationId xmlns:a16="http://schemas.microsoft.com/office/drawing/2014/main" id="{619AAB5B-B8B6-9AEC-FBF4-55AFA01C14A8}"/>
              </a:ext>
            </a:extLst>
          </p:cNvPr>
          <p:cNvSpPr>
            <a:spLocks noGrp="1"/>
          </p:cNvSpPr>
          <p:nvPr>
            <p:ph idx="1"/>
          </p:nvPr>
        </p:nvSpPr>
        <p:spPr/>
        <p:txBody>
          <a:bodyPr>
            <a:normAutofit/>
          </a:bodyPr>
          <a:lstStyle/>
          <a:p>
            <a:r>
              <a:rPr lang="en-US" sz="3200" dirty="0"/>
              <a:t>Endocytosis is the process where small droplets are engulfed by the cell. Some proteins are taken up by this process (like pinocytosis in amoeba). This process is currently being tried for delivery of some anticancer drugs to the tissues. The reverse process— exocytosis is responsible for secretion of many substances from cells, e.g. neurotransmitters stored in nerve endings.</a:t>
            </a:r>
            <a:endParaRPr lang="en-IN" sz="3200" dirty="0"/>
          </a:p>
        </p:txBody>
      </p:sp>
    </p:spTree>
    <p:extLst>
      <p:ext uri="{BB962C8B-B14F-4D97-AF65-F5344CB8AC3E}">
        <p14:creationId xmlns:p14="http://schemas.microsoft.com/office/powerpoint/2010/main" val="42082519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7B1D9-29B4-2979-7777-0445E4548EC2}"/>
              </a:ext>
            </a:extLst>
          </p:cNvPr>
          <p:cNvSpPr>
            <a:spLocks noGrp="1"/>
          </p:cNvSpPr>
          <p:nvPr>
            <p:ph type="title"/>
          </p:nvPr>
        </p:nvSpPr>
        <p:spPr>
          <a:xfrm>
            <a:off x="840658" y="445949"/>
            <a:ext cx="10058400" cy="1371600"/>
          </a:xfrm>
        </p:spPr>
        <p:txBody>
          <a:bodyPr/>
          <a:lstStyle/>
          <a:p>
            <a:r>
              <a:rPr lang="en-US" dirty="0"/>
              <a:t>ABSORPTION</a:t>
            </a:r>
            <a:endParaRPr lang="en-IN" dirty="0"/>
          </a:p>
        </p:txBody>
      </p:sp>
      <p:sp>
        <p:nvSpPr>
          <p:cNvPr id="3" name="Content Placeholder 2">
            <a:extLst>
              <a:ext uri="{FF2B5EF4-FFF2-40B4-BE49-F238E27FC236}">
                <a16:creationId xmlns:a16="http://schemas.microsoft.com/office/drawing/2014/main" id="{D3FEB0CA-DC14-9714-DECD-47EEE071F64A}"/>
              </a:ext>
            </a:extLst>
          </p:cNvPr>
          <p:cNvSpPr>
            <a:spLocks noGrp="1"/>
          </p:cNvSpPr>
          <p:nvPr>
            <p:ph idx="1"/>
          </p:nvPr>
        </p:nvSpPr>
        <p:spPr>
          <a:xfrm>
            <a:off x="452284" y="1514168"/>
            <a:ext cx="5518483" cy="4520872"/>
          </a:xfrm>
        </p:spPr>
        <p:txBody>
          <a:bodyPr>
            <a:noAutofit/>
          </a:bodyPr>
          <a:lstStyle/>
          <a:p>
            <a:r>
              <a:rPr lang="en-US" sz="2400" dirty="0"/>
              <a:t>Absorption is defined as the passage of the drug from the site of administration into the circulation. For a drug to reach its site of action, it must pass through various membranes depending on the route of administration. Absorption occurs by one of the processes described above, i.e. passive diffusion or carrier-mediated transport. Thus except for intravenous route, absorption is important for all other routes of administration. Several factors influence the rate and extent of absorption of a drug</a:t>
            </a:r>
            <a:endParaRPr lang="en-IN" sz="2400" dirty="0"/>
          </a:p>
        </p:txBody>
      </p:sp>
      <p:pic>
        <p:nvPicPr>
          <p:cNvPr id="5" name="Picture 4">
            <a:extLst>
              <a:ext uri="{FF2B5EF4-FFF2-40B4-BE49-F238E27FC236}">
                <a16:creationId xmlns:a16="http://schemas.microsoft.com/office/drawing/2014/main" id="{21820177-AF80-95BF-95EB-C6A6D7BCC041}"/>
              </a:ext>
            </a:extLst>
          </p:cNvPr>
          <p:cNvPicPr>
            <a:picLocks noChangeAspect="1"/>
          </p:cNvPicPr>
          <p:nvPr/>
        </p:nvPicPr>
        <p:blipFill>
          <a:blip r:embed="rId2"/>
          <a:stretch>
            <a:fillRect/>
          </a:stretch>
        </p:blipFill>
        <p:spPr>
          <a:xfrm>
            <a:off x="5970767" y="209271"/>
            <a:ext cx="5540220" cy="6439458"/>
          </a:xfrm>
          <a:prstGeom prst="rect">
            <a:avLst/>
          </a:prstGeom>
        </p:spPr>
      </p:pic>
    </p:spTree>
    <p:extLst>
      <p:ext uri="{BB962C8B-B14F-4D97-AF65-F5344CB8AC3E}">
        <p14:creationId xmlns:p14="http://schemas.microsoft.com/office/powerpoint/2010/main" val="6413654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7837C-A69D-355D-8E49-A87AE2D813B5}"/>
              </a:ext>
            </a:extLst>
          </p:cNvPr>
          <p:cNvSpPr>
            <a:spLocks noGrp="1"/>
          </p:cNvSpPr>
          <p:nvPr>
            <p:ph type="title"/>
          </p:nvPr>
        </p:nvSpPr>
        <p:spPr/>
        <p:txBody>
          <a:bodyPr/>
          <a:lstStyle/>
          <a:p>
            <a:r>
              <a:rPr lang="en-US" dirty="0"/>
              <a:t>Disintegration and dissolution time</a:t>
            </a:r>
            <a:endParaRPr lang="en-IN" dirty="0"/>
          </a:p>
        </p:txBody>
      </p:sp>
      <p:sp>
        <p:nvSpPr>
          <p:cNvPr id="3" name="Content Placeholder 2">
            <a:extLst>
              <a:ext uri="{FF2B5EF4-FFF2-40B4-BE49-F238E27FC236}">
                <a16:creationId xmlns:a16="http://schemas.microsoft.com/office/drawing/2014/main" id="{CD236766-0064-8228-6E10-7526A54192FC}"/>
              </a:ext>
            </a:extLst>
          </p:cNvPr>
          <p:cNvSpPr>
            <a:spLocks noGrp="1"/>
          </p:cNvSpPr>
          <p:nvPr>
            <p:ph idx="1"/>
          </p:nvPr>
        </p:nvSpPr>
        <p:spPr/>
        <p:txBody>
          <a:bodyPr>
            <a:normAutofit/>
          </a:bodyPr>
          <a:lstStyle/>
          <a:p>
            <a:r>
              <a:rPr lang="en-US" sz="2800" dirty="0"/>
              <a:t>The drug taken orally should break up into individual particles (disintegrate) to be absorbed. It then has to dissolve in the gastrointestinal fluids. In case of drugs given subcutaneously or intramuscularly, the drug molecules have to dissolve in the tissue fluids. Liquids are absorbed faster than solids. Delay in disintegration and dissolution as with poorly water-soluble drugs like aspirin, results in delayed absorption.</a:t>
            </a:r>
            <a:endParaRPr lang="en-IN" sz="2800" dirty="0"/>
          </a:p>
        </p:txBody>
      </p:sp>
    </p:spTree>
    <p:extLst>
      <p:ext uri="{BB962C8B-B14F-4D97-AF65-F5344CB8AC3E}">
        <p14:creationId xmlns:p14="http://schemas.microsoft.com/office/powerpoint/2010/main" val="17498524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D3F4F-D950-396D-7090-1A68B7F39961}"/>
              </a:ext>
            </a:extLst>
          </p:cNvPr>
          <p:cNvSpPr>
            <a:spLocks noGrp="1"/>
          </p:cNvSpPr>
          <p:nvPr>
            <p:ph type="title"/>
          </p:nvPr>
        </p:nvSpPr>
        <p:spPr>
          <a:xfrm>
            <a:off x="1184787" y="256868"/>
            <a:ext cx="10058400" cy="1371600"/>
          </a:xfrm>
        </p:spPr>
        <p:txBody>
          <a:bodyPr/>
          <a:lstStyle/>
          <a:p>
            <a:r>
              <a:rPr lang="en-US" dirty="0"/>
              <a:t>Formulation</a:t>
            </a:r>
            <a:endParaRPr lang="en-IN" dirty="0"/>
          </a:p>
        </p:txBody>
      </p:sp>
      <p:sp>
        <p:nvSpPr>
          <p:cNvPr id="3" name="Content Placeholder 2">
            <a:extLst>
              <a:ext uri="{FF2B5EF4-FFF2-40B4-BE49-F238E27FC236}">
                <a16:creationId xmlns:a16="http://schemas.microsoft.com/office/drawing/2014/main" id="{ABBF0D21-4A8F-FC9A-88D2-A64F84D4C364}"/>
              </a:ext>
            </a:extLst>
          </p:cNvPr>
          <p:cNvSpPr>
            <a:spLocks noGrp="1"/>
          </p:cNvSpPr>
          <p:nvPr>
            <p:ph idx="1"/>
          </p:nvPr>
        </p:nvSpPr>
        <p:spPr>
          <a:xfrm>
            <a:off x="1066800" y="1199536"/>
            <a:ext cx="10058400" cy="5015870"/>
          </a:xfrm>
        </p:spPr>
        <p:txBody>
          <a:bodyPr>
            <a:normAutofit lnSpcReduction="10000"/>
          </a:bodyPr>
          <a:lstStyle/>
          <a:p>
            <a:r>
              <a:rPr lang="en-US" sz="2200" dirty="0"/>
              <a:t>Pharmaceutical preparations are formulated to produce desired absorption. Inert substances used with drugs as diluents like starch and lactose may sometimes interfere with absorption.</a:t>
            </a:r>
          </a:p>
          <a:p>
            <a:endParaRPr lang="en-US" dirty="0"/>
          </a:p>
          <a:p>
            <a:endParaRPr lang="en-US" dirty="0"/>
          </a:p>
          <a:p>
            <a:r>
              <a:rPr lang="en-US" sz="2400" dirty="0"/>
              <a:t>Small particle size is important for better absorption of drugs. Drugs like corticosteroids, griseofulvin, digoxin, aspirin and tolbutamide are better absorbed when given as small particles. On the other hand, when a drug has to act on the gut and its absorption is not desired, then particle size should be kept large, e.g. anthelmintics like bephenium hydroxynaphthoate.</a:t>
            </a:r>
          </a:p>
          <a:p>
            <a:endParaRPr lang="en-US" dirty="0"/>
          </a:p>
          <a:p>
            <a:endParaRPr lang="en-US" dirty="0"/>
          </a:p>
          <a:p>
            <a:r>
              <a:rPr lang="en-US" sz="2200" dirty="0"/>
              <a:t>Lipid soluble drugs are absorbed faster and better by dissolving in the phospholipids of the cell membrane.</a:t>
            </a:r>
          </a:p>
        </p:txBody>
      </p:sp>
      <p:sp>
        <p:nvSpPr>
          <p:cNvPr id="4" name="Title 1">
            <a:extLst>
              <a:ext uri="{FF2B5EF4-FFF2-40B4-BE49-F238E27FC236}">
                <a16:creationId xmlns:a16="http://schemas.microsoft.com/office/drawing/2014/main" id="{B08204B6-7071-B1B3-836B-8F8C6B1B5243}"/>
              </a:ext>
            </a:extLst>
          </p:cNvPr>
          <p:cNvSpPr txBox="1">
            <a:spLocks/>
          </p:cNvSpPr>
          <p:nvPr/>
        </p:nvSpPr>
        <p:spPr>
          <a:xfrm>
            <a:off x="1066800" y="2057400"/>
            <a:ext cx="10058400" cy="1371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r>
              <a:rPr lang="en-IN" dirty="0"/>
              <a:t>Particle size </a:t>
            </a:r>
          </a:p>
        </p:txBody>
      </p:sp>
      <p:sp>
        <p:nvSpPr>
          <p:cNvPr id="6" name="Title 1">
            <a:extLst>
              <a:ext uri="{FF2B5EF4-FFF2-40B4-BE49-F238E27FC236}">
                <a16:creationId xmlns:a16="http://schemas.microsoft.com/office/drawing/2014/main" id="{1FA39246-6D4E-E57A-FC0B-78D083D8A21C}"/>
              </a:ext>
            </a:extLst>
          </p:cNvPr>
          <p:cNvSpPr txBox="1">
            <a:spLocks/>
          </p:cNvSpPr>
          <p:nvPr/>
        </p:nvSpPr>
        <p:spPr>
          <a:xfrm>
            <a:off x="1066800" y="4454996"/>
            <a:ext cx="10058400" cy="1371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r>
              <a:rPr lang="en-IN" dirty="0"/>
              <a:t>Lipid solubility</a:t>
            </a:r>
          </a:p>
        </p:txBody>
      </p:sp>
    </p:spTree>
    <p:extLst>
      <p:ext uri="{BB962C8B-B14F-4D97-AF65-F5344CB8AC3E}">
        <p14:creationId xmlns:p14="http://schemas.microsoft.com/office/powerpoint/2010/main" val="40770332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101E5-9435-1A76-2C20-8527E06A15FE}"/>
              </a:ext>
            </a:extLst>
          </p:cNvPr>
          <p:cNvSpPr>
            <a:spLocks noGrp="1"/>
          </p:cNvSpPr>
          <p:nvPr>
            <p:ph type="title"/>
          </p:nvPr>
        </p:nvSpPr>
        <p:spPr/>
        <p:txBody>
          <a:bodyPr/>
          <a:lstStyle/>
          <a:p>
            <a:r>
              <a:rPr lang="en-US" dirty="0"/>
              <a:t>pH and ionisation</a:t>
            </a:r>
            <a:endParaRPr lang="en-IN" dirty="0"/>
          </a:p>
        </p:txBody>
      </p:sp>
      <p:sp>
        <p:nvSpPr>
          <p:cNvPr id="3" name="Content Placeholder 2">
            <a:extLst>
              <a:ext uri="{FF2B5EF4-FFF2-40B4-BE49-F238E27FC236}">
                <a16:creationId xmlns:a16="http://schemas.microsoft.com/office/drawing/2014/main" id="{07C91E7E-970E-BBB8-7B78-C4A15317C2CB}"/>
              </a:ext>
            </a:extLst>
          </p:cNvPr>
          <p:cNvSpPr>
            <a:spLocks noGrp="1"/>
          </p:cNvSpPr>
          <p:nvPr>
            <p:ph idx="1"/>
          </p:nvPr>
        </p:nvSpPr>
        <p:spPr/>
        <p:txBody>
          <a:bodyPr>
            <a:normAutofit/>
          </a:bodyPr>
          <a:lstStyle/>
          <a:p>
            <a:r>
              <a:rPr lang="en-US" sz="2400" dirty="0"/>
              <a:t>Ionised drugs are poorly absorbed while unionised drugs are lipid soluble and are well absorbed. Most drugs are weak electrolytes and exist in both ionized and unionized forms. But the degree of ionisation depends on the pH. Thus acidic drugs remain unionised in the acidic medium of the stomach and are rapidly absorbed from the stomach, e.g. aspirin, barbiturates. Basic drugs are unionised when they reach the alkaline medium of the intestine from where they are rapidly absorbed, e.g. pethidine, ephedrine. Strong acids and bases are highly ionised and therefore poorly absorbed, e.g. heparin, streptomycin.</a:t>
            </a:r>
            <a:endParaRPr lang="en-IN" sz="2400" dirty="0"/>
          </a:p>
        </p:txBody>
      </p:sp>
    </p:spTree>
    <p:extLst>
      <p:ext uri="{BB962C8B-B14F-4D97-AF65-F5344CB8AC3E}">
        <p14:creationId xmlns:p14="http://schemas.microsoft.com/office/powerpoint/2010/main" val="28722272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12282-7AA2-3BF9-52F1-2D2F9818DDF3}"/>
              </a:ext>
            </a:extLst>
          </p:cNvPr>
          <p:cNvSpPr>
            <a:spLocks noGrp="1"/>
          </p:cNvSpPr>
          <p:nvPr>
            <p:ph type="title"/>
          </p:nvPr>
        </p:nvSpPr>
        <p:spPr>
          <a:xfrm>
            <a:off x="1066800" y="822960"/>
            <a:ext cx="10612056" cy="1371600"/>
          </a:xfrm>
        </p:spPr>
        <p:txBody>
          <a:bodyPr>
            <a:normAutofit fontScale="90000"/>
          </a:bodyPr>
          <a:lstStyle/>
          <a:p>
            <a:r>
              <a:rPr lang="en-US" sz="4700" dirty="0"/>
              <a:t>Area and vascularity of the absorbing surface</a:t>
            </a:r>
            <a:endParaRPr lang="en-IN" sz="4700" dirty="0"/>
          </a:p>
        </p:txBody>
      </p:sp>
      <p:sp>
        <p:nvSpPr>
          <p:cNvPr id="3" name="Content Placeholder 2">
            <a:extLst>
              <a:ext uri="{FF2B5EF4-FFF2-40B4-BE49-F238E27FC236}">
                <a16:creationId xmlns:a16="http://schemas.microsoft.com/office/drawing/2014/main" id="{8C37BF4D-6E54-959A-B788-1D52BB81B931}"/>
              </a:ext>
            </a:extLst>
          </p:cNvPr>
          <p:cNvSpPr>
            <a:spLocks noGrp="1"/>
          </p:cNvSpPr>
          <p:nvPr>
            <p:ph idx="1"/>
          </p:nvPr>
        </p:nvSpPr>
        <p:spPr>
          <a:xfrm>
            <a:off x="1066800" y="1770927"/>
            <a:ext cx="10058400" cy="4264113"/>
          </a:xfrm>
        </p:spPr>
        <p:txBody>
          <a:bodyPr>
            <a:normAutofit lnSpcReduction="10000"/>
          </a:bodyPr>
          <a:lstStyle/>
          <a:p>
            <a:r>
              <a:rPr lang="en-US" sz="2800" dirty="0"/>
              <a:t>The larger the area of absorbing surface and more the vascularity—better is the absorption. Thus most drugs are absorbed from the small intestine.</a:t>
            </a:r>
          </a:p>
          <a:p>
            <a:endParaRPr lang="en-US" dirty="0"/>
          </a:p>
          <a:p>
            <a:endParaRPr lang="en-US" dirty="0"/>
          </a:p>
          <a:p>
            <a:endParaRPr lang="en-US" dirty="0"/>
          </a:p>
          <a:p>
            <a:r>
              <a:rPr lang="en-US" sz="2800" dirty="0"/>
              <a:t>Gastric emptying time—if gastric emptying is faster, the passage of the drug to the intestines is quicker and hence absorption is faster.</a:t>
            </a:r>
          </a:p>
          <a:p>
            <a:r>
              <a:rPr lang="en-US" sz="2800" dirty="0"/>
              <a:t>Intestinal motility—when highly increased as in </a:t>
            </a:r>
            <a:r>
              <a:rPr lang="en-US" sz="2800" dirty="0" err="1"/>
              <a:t>diarrhoeas</a:t>
            </a:r>
            <a:r>
              <a:rPr lang="en-US" sz="2800" dirty="0"/>
              <a:t>, drug absorption is reduced.</a:t>
            </a:r>
            <a:endParaRPr lang="en-IN" sz="2800" dirty="0"/>
          </a:p>
        </p:txBody>
      </p:sp>
      <p:sp>
        <p:nvSpPr>
          <p:cNvPr id="4" name="Title 1">
            <a:extLst>
              <a:ext uri="{FF2B5EF4-FFF2-40B4-BE49-F238E27FC236}">
                <a16:creationId xmlns:a16="http://schemas.microsoft.com/office/drawing/2014/main" id="{356297F9-C11A-73CE-1664-1AE9532A2F72}"/>
              </a:ext>
            </a:extLst>
          </p:cNvPr>
          <p:cNvSpPr txBox="1">
            <a:spLocks/>
          </p:cNvSpPr>
          <p:nvPr/>
        </p:nvSpPr>
        <p:spPr>
          <a:xfrm>
            <a:off x="1066800" y="3125743"/>
            <a:ext cx="10058400" cy="137160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r>
              <a:rPr lang="en-US" dirty="0"/>
              <a:t>Gastrointestinal motility</a:t>
            </a:r>
          </a:p>
        </p:txBody>
      </p:sp>
    </p:spTree>
    <p:extLst>
      <p:ext uri="{BB962C8B-B14F-4D97-AF65-F5344CB8AC3E}">
        <p14:creationId xmlns:p14="http://schemas.microsoft.com/office/powerpoint/2010/main" val="41824724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B56A6-5B27-1631-A9C3-3256B2A7CE66}"/>
              </a:ext>
            </a:extLst>
          </p:cNvPr>
          <p:cNvSpPr>
            <a:spLocks noGrp="1"/>
          </p:cNvSpPr>
          <p:nvPr>
            <p:ph type="title"/>
          </p:nvPr>
        </p:nvSpPr>
        <p:spPr/>
        <p:txBody>
          <a:bodyPr/>
          <a:lstStyle/>
          <a:p>
            <a:r>
              <a:rPr lang="en-US" dirty="0"/>
              <a:t>Presence of food</a:t>
            </a:r>
            <a:endParaRPr lang="en-IN" dirty="0"/>
          </a:p>
        </p:txBody>
      </p:sp>
      <p:sp>
        <p:nvSpPr>
          <p:cNvPr id="3" name="Content Placeholder 2">
            <a:extLst>
              <a:ext uri="{FF2B5EF4-FFF2-40B4-BE49-F238E27FC236}">
                <a16:creationId xmlns:a16="http://schemas.microsoft.com/office/drawing/2014/main" id="{B2623E9D-CAAD-3985-2DFA-633155B3A3D4}"/>
              </a:ext>
            </a:extLst>
          </p:cNvPr>
          <p:cNvSpPr>
            <a:spLocks noGrp="1"/>
          </p:cNvSpPr>
          <p:nvPr>
            <p:ph idx="1"/>
          </p:nvPr>
        </p:nvSpPr>
        <p:spPr/>
        <p:txBody>
          <a:bodyPr>
            <a:normAutofit/>
          </a:bodyPr>
          <a:lstStyle/>
          <a:p>
            <a:r>
              <a:rPr lang="en-US" sz="3200" dirty="0"/>
              <a:t>delays gastric emptying, dilutes the drug and delays absorption. Drugs may form complexes with food constituents and such complexes are poorly absorbed, e.g. tetracyclines chelate calcium present in the food because of which their bioavailability is decreased. Moreover, certain drugs like ampicillin, roxithromycin and rifampicin are well absorbed only on empty stomach.</a:t>
            </a:r>
            <a:endParaRPr lang="en-IN" sz="3200" dirty="0"/>
          </a:p>
        </p:txBody>
      </p:sp>
    </p:spTree>
    <p:extLst>
      <p:ext uri="{BB962C8B-B14F-4D97-AF65-F5344CB8AC3E}">
        <p14:creationId xmlns:p14="http://schemas.microsoft.com/office/powerpoint/2010/main" val="36676018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07822-B743-CCBD-B163-2AE5526709BD}"/>
              </a:ext>
            </a:extLst>
          </p:cNvPr>
          <p:cNvSpPr>
            <a:spLocks noGrp="1"/>
          </p:cNvSpPr>
          <p:nvPr>
            <p:ph type="title"/>
          </p:nvPr>
        </p:nvSpPr>
        <p:spPr/>
        <p:txBody>
          <a:bodyPr/>
          <a:lstStyle/>
          <a:p>
            <a:r>
              <a:rPr lang="en-US" dirty="0"/>
              <a:t>Metabolism</a:t>
            </a:r>
            <a:endParaRPr lang="en-IN" dirty="0"/>
          </a:p>
        </p:txBody>
      </p:sp>
      <p:sp>
        <p:nvSpPr>
          <p:cNvPr id="3" name="Content Placeholder 2">
            <a:extLst>
              <a:ext uri="{FF2B5EF4-FFF2-40B4-BE49-F238E27FC236}">
                <a16:creationId xmlns:a16="http://schemas.microsoft.com/office/drawing/2014/main" id="{AFC47F95-EA1F-CD55-458C-B78892ABA846}"/>
              </a:ext>
            </a:extLst>
          </p:cNvPr>
          <p:cNvSpPr>
            <a:spLocks noGrp="1"/>
          </p:cNvSpPr>
          <p:nvPr>
            <p:ph idx="1"/>
          </p:nvPr>
        </p:nvSpPr>
        <p:spPr/>
        <p:txBody>
          <a:bodyPr/>
          <a:lstStyle/>
          <a:p>
            <a:r>
              <a:rPr lang="en-US" sz="2800" dirty="0"/>
              <a:t>Some drugs may be degraded in the GI tract, e.g. nitroglycerine, insulin. Such drugs should be given in higher doses or by alternative routes.</a:t>
            </a:r>
          </a:p>
          <a:p>
            <a:endParaRPr lang="en-US" dirty="0"/>
          </a:p>
          <a:p>
            <a:endParaRPr lang="en-US" dirty="0"/>
          </a:p>
          <a:p>
            <a:endParaRPr lang="en-US" dirty="0"/>
          </a:p>
          <a:p>
            <a:endParaRPr lang="en-US" dirty="0"/>
          </a:p>
          <a:p>
            <a:r>
              <a:rPr lang="en-US" sz="2800" dirty="0"/>
              <a:t>like malabsorption and achlorhydria result in reduced absorption of drugs.</a:t>
            </a:r>
            <a:endParaRPr lang="en-IN" sz="2800" dirty="0"/>
          </a:p>
        </p:txBody>
      </p:sp>
      <p:sp>
        <p:nvSpPr>
          <p:cNvPr id="4" name="Title 1">
            <a:extLst>
              <a:ext uri="{FF2B5EF4-FFF2-40B4-BE49-F238E27FC236}">
                <a16:creationId xmlns:a16="http://schemas.microsoft.com/office/drawing/2014/main" id="{8074E3B2-1D25-92BC-C398-60E30DE37B8D}"/>
              </a:ext>
            </a:extLst>
          </p:cNvPr>
          <p:cNvSpPr txBox="1">
            <a:spLocks/>
          </p:cNvSpPr>
          <p:nvPr/>
        </p:nvSpPr>
        <p:spPr>
          <a:xfrm>
            <a:off x="1066800" y="2832138"/>
            <a:ext cx="10058400" cy="1371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endParaRPr lang="en-IN" dirty="0"/>
          </a:p>
        </p:txBody>
      </p:sp>
      <p:sp>
        <p:nvSpPr>
          <p:cNvPr id="5" name="Title 1">
            <a:extLst>
              <a:ext uri="{FF2B5EF4-FFF2-40B4-BE49-F238E27FC236}">
                <a16:creationId xmlns:a16="http://schemas.microsoft.com/office/drawing/2014/main" id="{5DDDA5AE-4E9C-DBAF-4FBD-11A5456B8A20}"/>
              </a:ext>
            </a:extLst>
          </p:cNvPr>
          <p:cNvSpPr txBox="1">
            <a:spLocks/>
          </p:cNvSpPr>
          <p:nvPr/>
        </p:nvSpPr>
        <p:spPr>
          <a:xfrm>
            <a:off x="1066800" y="3747789"/>
            <a:ext cx="10058400" cy="1371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a:lstStyle>
          <a:p>
            <a:r>
              <a:rPr lang="en-IN" dirty="0"/>
              <a:t>Diseases of the gut </a:t>
            </a:r>
          </a:p>
        </p:txBody>
      </p:sp>
    </p:spTree>
    <p:extLst>
      <p:ext uri="{BB962C8B-B14F-4D97-AF65-F5344CB8AC3E}">
        <p14:creationId xmlns:p14="http://schemas.microsoft.com/office/powerpoint/2010/main" val="6986013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7F8F8-E277-CEE9-AA7E-88B7D9E0A04B}"/>
              </a:ext>
            </a:extLst>
          </p:cNvPr>
          <p:cNvSpPr>
            <a:spLocks noGrp="1"/>
          </p:cNvSpPr>
          <p:nvPr>
            <p:ph type="title"/>
          </p:nvPr>
        </p:nvSpPr>
        <p:spPr/>
        <p:txBody>
          <a:bodyPr/>
          <a:lstStyle/>
          <a:p>
            <a:r>
              <a:rPr lang="en-US" dirty="0"/>
              <a:t>FIRST PASS METABOLISM</a:t>
            </a:r>
            <a:endParaRPr lang="en-IN" dirty="0"/>
          </a:p>
        </p:txBody>
      </p:sp>
      <p:sp>
        <p:nvSpPr>
          <p:cNvPr id="3" name="Content Placeholder 2">
            <a:extLst>
              <a:ext uri="{FF2B5EF4-FFF2-40B4-BE49-F238E27FC236}">
                <a16:creationId xmlns:a16="http://schemas.microsoft.com/office/drawing/2014/main" id="{F3742C11-D697-1135-709B-E03B8B9DAF19}"/>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4640720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Custom 2">
      <a:dk1>
        <a:sysClr val="windowText" lastClr="000000"/>
      </a:dk1>
      <a:lt1>
        <a:sysClr val="window" lastClr="FFFFFF"/>
      </a:lt1>
      <a:dk2>
        <a:srgbClr val="2BFCCE"/>
      </a:dk2>
      <a:lt2>
        <a:srgbClr val="017058"/>
      </a:lt2>
      <a:accent1>
        <a:srgbClr val="7030A0"/>
      </a:accent1>
      <a:accent2>
        <a:srgbClr val="FF0066"/>
      </a:accent2>
      <a:accent3>
        <a:srgbClr val="C0CF3A"/>
      </a:accent3>
      <a:accent4>
        <a:srgbClr val="FFFF00"/>
      </a:accent4>
      <a:accent5>
        <a:srgbClr val="00B0F0"/>
      </a:accent5>
      <a:accent6>
        <a:srgbClr val="002060"/>
      </a:accent6>
      <a:hlink>
        <a:srgbClr val="FCAE3B"/>
      </a:hlink>
      <a:folHlink>
        <a:srgbClr val="FFC000"/>
      </a:folHlink>
    </a:clrScheme>
    <a:fontScheme name="Savon">
      <a:majorFont>
        <a:latin typeface="Garamond"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aramond"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3F20CFC1-E34F-405B-AA49-5BE0E194F1B3}"/>
    </a:ext>
  </a:extLst>
</a:theme>
</file>

<file path=docProps/app.xml><?xml version="1.0" encoding="utf-8"?>
<Properties xmlns="http://schemas.openxmlformats.org/officeDocument/2006/extended-properties" xmlns:vt="http://schemas.openxmlformats.org/officeDocument/2006/docPropsVTypes">
  <Template>Savon</Template>
  <TotalTime>98</TotalTime>
  <Words>1030</Words>
  <Application>Microsoft Office PowerPoint</Application>
  <PresentationFormat>Widescreen</PresentationFormat>
  <Paragraphs>56</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Garamond</vt:lpstr>
      <vt:lpstr>Savon</vt:lpstr>
      <vt:lpstr>pharmacology - pharmacokinetics</vt:lpstr>
      <vt:lpstr>Pharmacokinetics </vt:lpstr>
      <vt:lpstr>Mechanisms of Transport of Drugs Across Biological Membranes</vt:lpstr>
      <vt:lpstr>Passive Transfer</vt:lpstr>
      <vt:lpstr>Carrier-mediated Transport</vt:lpstr>
      <vt:lpstr>Endocytosis</vt:lpstr>
      <vt:lpstr>ABSORPTION</vt:lpstr>
      <vt:lpstr>Disintegration and dissolution time</vt:lpstr>
      <vt:lpstr>Formulation</vt:lpstr>
      <vt:lpstr>pH and ionisation</vt:lpstr>
      <vt:lpstr>Area and vascularity of the absorbing surface</vt:lpstr>
      <vt:lpstr>Presence of food</vt:lpstr>
      <vt:lpstr>Metabolism</vt:lpstr>
      <vt:lpstr>FIRST PASS METABOLISM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Madhu Chandana Senthil Rajan</dc:creator>
  <cp:lastModifiedBy>Madhu Chandana Senthil Rajan</cp:lastModifiedBy>
  <cp:revision>1</cp:revision>
  <dcterms:created xsi:type="dcterms:W3CDTF">2025-12-19T10:02:34Z</dcterms:created>
  <dcterms:modified xsi:type="dcterms:W3CDTF">2025-12-19T11:41:21Z</dcterms:modified>
</cp:coreProperties>
</file>