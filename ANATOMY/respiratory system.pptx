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08" autoAdjust="0"/>
    <p:restoredTop sz="94660"/>
  </p:normalViewPr>
  <p:slideViewPr>
    <p:cSldViewPr snapToGrid="0">
      <p:cViewPr varScale="1">
        <p:scale>
          <a:sx n="78" d="100"/>
          <a:sy n="78" d="100"/>
        </p:scale>
        <p:origin x="43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139375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765855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386998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114507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96BF0-C568-46DD-BF35-C11F57AAD656}" type="datetimeFigureOut">
              <a:rPr lang="en-IN" smtClean="0"/>
              <a:t>19-11-2025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105108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E96BF0-C568-46DD-BF35-C11F57AAD656}" type="datetimeFigureOut">
              <a:rPr lang="en-IN" smtClean="0"/>
              <a:t>19-11-2025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1890479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E96BF0-C568-46DD-BF35-C11F57AAD656}" type="datetimeFigureOut">
              <a:rPr lang="en-IN" smtClean="0"/>
              <a:t>19-11-2025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072174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739977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22064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402279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5B9BB8B-70B8-40CA-8AD0-C3BCF5FB7EB4}"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3260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875522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B9BB8B-70B8-40CA-8AD0-C3BCF5FB7EB4}"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67808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5E96BF0-C568-46DD-BF35-C11F57AAD656}"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053614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3531602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96BF0-C568-46DD-BF35-C11F57AAD656}"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5B9BB8B-70B8-40CA-8AD0-C3BCF5FB7EB4}" type="slidenum">
              <a:rPr lang="en-IN" smtClean="0"/>
              <a:t>‹#›</a:t>
            </a:fld>
            <a:endParaRPr lang="en-IN"/>
          </a:p>
        </p:txBody>
      </p:sp>
    </p:spTree>
    <p:extLst>
      <p:ext uri="{BB962C8B-B14F-4D97-AF65-F5344CB8AC3E}">
        <p14:creationId xmlns:p14="http://schemas.microsoft.com/office/powerpoint/2010/main" val="253752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5E96BF0-C568-46DD-BF35-C11F57AAD656}" type="datetimeFigureOut">
              <a:rPr lang="en-IN" smtClean="0"/>
              <a:t>19-11-2025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5B9BB8B-70B8-40CA-8AD0-C3BCF5FB7EB4}" type="slidenum">
              <a:rPr lang="en-IN" smtClean="0"/>
              <a:t>‹#›</a:t>
            </a:fld>
            <a:endParaRPr lang="en-IN"/>
          </a:p>
        </p:txBody>
      </p:sp>
    </p:spTree>
    <p:extLst>
      <p:ext uri="{BB962C8B-B14F-4D97-AF65-F5344CB8AC3E}">
        <p14:creationId xmlns:p14="http://schemas.microsoft.com/office/powerpoint/2010/main" val="4080481862"/>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5856-298E-83EF-2FEE-BEF6E30DB205}"/>
              </a:ext>
            </a:extLst>
          </p:cNvPr>
          <p:cNvSpPr>
            <a:spLocks noGrp="1"/>
          </p:cNvSpPr>
          <p:nvPr>
            <p:ph type="ctrTitle"/>
          </p:nvPr>
        </p:nvSpPr>
        <p:spPr/>
        <p:txBody>
          <a:bodyPr/>
          <a:lstStyle/>
          <a:p>
            <a:r>
              <a:rPr lang="en-US" dirty="0"/>
              <a:t>Respiratory system</a:t>
            </a:r>
            <a:endParaRPr lang="en-IN" dirty="0"/>
          </a:p>
        </p:txBody>
      </p:sp>
    </p:spTree>
    <p:extLst>
      <p:ext uri="{BB962C8B-B14F-4D97-AF65-F5344CB8AC3E}">
        <p14:creationId xmlns:p14="http://schemas.microsoft.com/office/powerpoint/2010/main" val="4878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1EBF8-4176-AD4E-8A6B-ECED8C8558F5}"/>
              </a:ext>
            </a:extLst>
          </p:cNvPr>
          <p:cNvSpPr>
            <a:spLocks noGrp="1"/>
          </p:cNvSpPr>
          <p:nvPr>
            <p:ph type="title"/>
          </p:nvPr>
        </p:nvSpPr>
        <p:spPr/>
        <p:txBody>
          <a:bodyPr/>
          <a:lstStyle/>
          <a:p>
            <a:r>
              <a:rPr lang="en-US" dirty="0"/>
              <a:t>Lungs :</a:t>
            </a:r>
            <a:endParaRPr lang="en-IN" dirty="0"/>
          </a:p>
        </p:txBody>
      </p:sp>
      <p:sp>
        <p:nvSpPr>
          <p:cNvPr id="3" name="Content Placeholder 2">
            <a:extLst>
              <a:ext uri="{FF2B5EF4-FFF2-40B4-BE49-F238E27FC236}">
                <a16:creationId xmlns:a16="http://schemas.microsoft.com/office/drawing/2014/main" id="{2AB98733-F0A2-26AF-9464-4529ECF0E14A}"/>
              </a:ext>
            </a:extLst>
          </p:cNvPr>
          <p:cNvSpPr>
            <a:spLocks noGrp="1"/>
          </p:cNvSpPr>
          <p:nvPr>
            <p:ph idx="1"/>
          </p:nvPr>
        </p:nvSpPr>
        <p:spPr/>
        <p:txBody>
          <a:bodyPr/>
          <a:lstStyle/>
          <a:p>
            <a:pPr marL="0" indent="0">
              <a:buNone/>
            </a:pPr>
            <a:r>
              <a:rPr lang="en-US" b="1" dirty="0"/>
              <a:t>Introduction</a:t>
            </a:r>
          </a:p>
          <a:p>
            <a:r>
              <a:rPr lang="en-US" dirty="0"/>
              <a:t>The </a:t>
            </a:r>
            <a:r>
              <a:rPr lang="en-US" b="1" dirty="0"/>
              <a:t>lungs</a:t>
            </a:r>
            <a:r>
              <a:rPr lang="en-US" dirty="0"/>
              <a:t> are the primary organs of the </a:t>
            </a:r>
            <a:r>
              <a:rPr lang="en-US" b="1" dirty="0"/>
              <a:t>respiratory system</a:t>
            </a:r>
            <a:r>
              <a:rPr lang="en-US" dirty="0"/>
              <a:t>, responsible for gas exchange between the external environment and the bloodstream. Located in the </a:t>
            </a:r>
            <a:r>
              <a:rPr lang="en-US" b="1" dirty="0"/>
              <a:t>thoracic cavity</a:t>
            </a:r>
            <a:r>
              <a:rPr lang="en-US" dirty="0"/>
              <a:t>, they enable the body to obtain oxygen necessary for cellular metabolism and expel carbon dioxide, a metabolic waste product. Without proper lung function, life cannot be sustained.</a:t>
            </a:r>
          </a:p>
          <a:p>
            <a:endParaRPr lang="en-IN" dirty="0"/>
          </a:p>
        </p:txBody>
      </p:sp>
    </p:spTree>
    <p:extLst>
      <p:ext uri="{BB962C8B-B14F-4D97-AF65-F5344CB8AC3E}">
        <p14:creationId xmlns:p14="http://schemas.microsoft.com/office/powerpoint/2010/main" val="331286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17DAF-9E25-6BF8-BCBF-52263016145E}"/>
              </a:ext>
            </a:extLst>
          </p:cNvPr>
          <p:cNvSpPr>
            <a:spLocks noGrp="1"/>
          </p:cNvSpPr>
          <p:nvPr>
            <p:ph idx="1"/>
          </p:nvPr>
        </p:nvSpPr>
        <p:spPr/>
        <p:txBody>
          <a:bodyPr/>
          <a:lstStyle/>
          <a:p>
            <a:pPr marL="0" indent="0">
              <a:buNone/>
            </a:pPr>
            <a:r>
              <a:rPr lang="en-US" b="1" dirty="0"/>
              <a:t>Anatomical Structure of the Lungs</a:t>
            </a:r>
          </a:p>
          <a:p>
            <a:r>
              <a:rPr lang="en-US" dirty="0"/>
              <a:t>The lungs are </a:t>
            </a:r>
            <a:r>
              <a:rPr lang="en-US" b="1" dirty="0"/>
              <a:t>paired, spongy, cone-shaped organs</a:t>
            </a:r>
            <a:r>
              <a:rPr lang="en-US" dirty="0"/>
              <a:t>.</a:t>
            </a:r>
          </a:p>
          <a:p>
            <a:r>
              <a:rPr lang="en-US" dirty="0"/>
              <a:t>They are located on either side of the </a:t>
            </a:r>
            <a:r>
              <a:rPr lang="en-US" b="1" dirty="0"/>
              <a:t>mediastinum</a:t>
            </a:r>
            <a:r>
              <a:rPr lang="en-US" dirty="0"/>
              <a:t>.</a:t>
            </a:r>
          </a:p>
          <a:p>
            <a:r>
              <a:rPr lang="en-US" dirty="0"/>
              <a:t>The right lung is </a:t>
            </a:r>
            <a:r>
              <a:rPr lang="en-US" b="1" dirty="0"/>
              <a:t>larger</a:t>
            </a:r>
            <a:r>
              <a:rPr lang="en-US" dirty="0"/>
              <a:t> and divided into </a:t>
            </a:r>
            <a:r>
              <a:rPr lang="en-US" b="1" dirty="0"/>
              <a:t>three lobes</a:t>
            </a:r>
            <a:r>
              <a:rPr lang="en-US" dirty="0"/>
              <a:t> (superior, middle, inferior). The left lung has </a:t>
            </a:r>
            <a:r>
              <a:rPr lang="en-US" b="1" dirty="0"/>
              <a:t>two lobes</a:t>
            </a:r>
            <a:r>
              <a:rPr lang="en-US" dirty="0"/>
              <a:t> and a </a:t>
            </a:r>
            <a:r>
              <a:rPr lang="en-US" b="1" dirty="0"/>
              <a:t>cardiac notch</a:t>
            </a:r>
            <a:r>
              <a:rPr lang="en-US" dirty="0"/>
              <a:t> to accommodate the heart.</a:t>
            </a:r>
          </a:p>
          <a:p>
            <a:r>
              <a:rPr lang="en-US" dirty="0"/>
              <a:t>Each lung is enclosed in a </a:t>
            </a:r>
            <a:r>
              <a:rPr lang="en-US" b="1" dirty="0"/>
              <a:t>double-layered pleural membrane</a:t>
            </a:r>
            <a:r>
              <a:rPr lang="en-US" dirty="0"/>
              <a:t>:</a:t>
            </a:r>
          </a:p>
          <a:p>
            <a:pPr lvl="1"/>
            <a:r>
              <a:rPr lang="en-US" b="1" dirty="0"/>
              <a:t>Visceral pleura</a:t>
            </a:r>
            <a:r>
              <a:rPr lang="en-US" dirty="0"/>
              <a:t> – covers the lung surface.</a:t>
            </a:r>
          </a:p>
          <a:p>
            <a:pPr lvl="1"/>
            <a:r>
              <a:rPr lang="en-US" b="1" dirty="0"/>
              <a:t>Parietal pleura</a:t>
            </a:r>
            <a:r>
              <a:rPr lang="en-US" dirty="0"/>
              <a:t> – lines the thoracic cavity.</a:t>
            </a:r>
          </a:p>
          <a:p>
            <a:pPr lvl="1"/>
            <a:r>
              <a:rPr lang="en-US" dirty="0"/>
              <a:t>A thin </a:t>
            </a:r>
            <a:r>
              <a:rPr lang="en-US" b="1" dirty="0"/>
              <a:t>pleural fluid layer</a:t>
            </a:r>
            <a:r>
              <a:rPr lang="en-US" dirty="0"/>
              <a:t> in between reduces friction during breathing.</a:t>
            </a:r>
          </a:p>
          <a:p>
            <a:endParaRPr lang="en-IN" dirty="0"/>
          </a:p>
        </p:txBody>
      </p:sp>
    </p:spTree>
    <p:extLst>
      <p:ext uri="{BB962C8B-B14F-4D97-AF65-F5344CB8AC3E}">
        <p14:creationId xmlns:p14="http://schemas.microsoft.com/office/powerpoint/2010/main" val="66224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D3172-2BF6-531E-814C-C9FCE35B1792}"/>
              </a:ext>
            </a:extLst>
          </p:cNvPr>
          <p:cNvSpPr>
            <a:spLocks noGrp="1"/>
          </p:cNvSpPr>
          <p:nvPr>
            <p:ph idx="1"/>
          </p:nvPr>
        </p:nvSpPr>
        <p:spPr/>
        <p:txBody>
          <a:bodyPr/>
          <a:lstStyle/>
          <a:p>
            <a:pPr marL="0" indent="0">
              <a:buNone/>
            </a:pPr>
            <a:r>
              <a:rPr lang="en-IN" b="1" dirty="0"/>
              <a:t>Internal Structure</a:t>
            </a:r>
          </a:p>
          <a:p>
            <a:r>
              <a:rPr lang="en-IN" b="1" dirty="0"/>
              <a:t>Trachea → Bronchi → Bronchioles → Alveoli</a:t>
            </a:r>
            <a:endParaRPr lang="en-IN" dirty="0"/>
          </a:p>
          <a:p>
            <a:pPr lvl="1"/>
            <a:r>
              <a:rPr lang="en-IN" dirty="0"/>
              <a:t>The </a:t>
            </a:r>
            <a:r>
              <a:rPr lang="en-IN" b="1" dirty="0"/>
              <a:t>trachea</a:t>
            </a:r>
            <a:r>
              <a:rPr lang="en-IN" dirty="0"/>
              <a:t> divides into the </a:t>
            </a:r>
            <a:r>
              <a:rPr lang="en-IN" b="1" dirty="0"/>
              <a:t>right and left primary bronchi</a:t>
            </a:r>
            <a:r>
              <a:rPr lang="en-IN" dirty="0"/>
              <a:t>, which further branch into secondary and tertiary bronchi.</a:t>
            </a:r>
          </a:p>
          <a:p>
            <a:pPr lvl="1"/>
            <a:r>
              <a:rPr lang="en-IN" dirty="0"/>
              <a:t>These bronchi divide into </a:t>
            </a:r>
            <a:r>
              <a:rPr lang="en-IN" b="1" dirty="0"/>
              <a:t>bronchioles</a:t>
            </a:r>
            <a:r>
              <a:rPr lang="en-IN" dirty="0"/>
              <a:t>, ending in small </a:t>
            </a:r>
            <a:r>
              <a:rPr lang="en-IN" b="1" dirty="0"/>
              <a:t>alveolar sacs</a:t>
            </a:r>
            <a:r>
              <a:rPr lang="en-IN" dirty="0"/>
              <a:t>.</a:t>
            </a:r>
          </a:p>
          <a:p>
            <a:r>
              <a:rPr lang="en-IN" b="1" dirty="0"/>
              <a:t>Alveoli</a:t>
            </a:r>
            <a:endParaRPr lang="en-IN" dirty="0"/>
          </a:p>
          <a:p>
            <a:pPr lvl="1"/>
            <a:r>
              <a:rPr lang="en-IN" dirty="0"/>
              <a:t>Each lung contains </a:t>
            </a:r>
            <a:r>
              <a:rPr lang="en-IN" b="1" dirty="0"/>
              <a:t>around 300–500 million alveoli</a:t>
            </a:r>
            <a:r>
              <a:rPr lang="en-IN" dirty="0"/>
              <a:t>.</a:t>
            </a:r>
          </a:p>
          <a:p>
            <a:pPr lvl="1"/>
            <a:r>
              <a:rPr lang="en-IN" dirty="0"/>
              <a:t>These are tiny sac-like structures with </a:t>
            </a:r>
            <a:r>
              <a:rPr lang="en-IN" b="1" dirty="0"/>
              <a:t>extremely thin walls (one-cell thick)</a:t>
            </a:r>
            <a:r>
              <a:rPr lang="en-IN" dirty="0"/>
              <a:t> to facilitate gas exchange.</a:t>
            </a:r>
          </a:p>
          <a:p>
            <a:pPr lvl="1"/>
            <a:r>
              <a:rPr lang="en-IN" dirty="0"/>
              <a:t>Alveoli are surrounded by </a:t>
            </a:r>
            <a:r>
              <a:rPr lang="en-IN" b="1" dirty="0"/>
              <a:t>dense capillary networks</a:t>
            </a:r>
            <a:r>
              <a:rPr lang="en-IN" dirty="0"/>
              <a:t>.</a:t>
            </a:r>
          </a:p>
          <a:p>
            <a:endParaRPr lang="en-IN" dirty="0"/>
          </a:p>
        </p:txBody>
      </p:sp>
    </p:spTree>
    <p:extLst>
      <p:ext uri="{BB962C8B-B14F-4D97-AF65-F5344CB8AC3E}">
        <p14:creationId xmlns:p14="http://schemas.microsoft.com/office/powerpoint/2010/main" val="344354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2E3D5-7ACE-2CD3-3BA9-AEC6032A07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EC28DD-109B-0373-E1D6-CC2A955E4CEF}"/>
              </a:ext>
            </a:extLst>
          </p:cNvPr>
          <p:cNvSpPr>
            <a:spLocks noGrp="1"/>
          </p:cNvSpPr>
          <p:nvPr>
            <p:ph idx="1"/>
          </p:nvPr>
        </p:nvSpPr>
        <p:spPr/>
        <p:txBody>
          <a:bodyPr/>
          <a:lstStyle/>
          <a:p>
            <a:pPr marL="0" indent="0">
              <a:buNone/>
            </a:pPr>
            <a:r>
              <a:rPr lang="en-US" b="1" dirty="0"/>
              <a:t>Blood Supply</a:t>
            </a:r>
          </a:p>
          <a:p>
            <a:r>
              <a:rPr lang="en-US" dirty="0"/>
              <a:t>The </a:t>
            </a:r>
            <a:r>
              <a:rPr lang="en-US" b="1" dirty="0"/>
              <a:t>pulmonary arteries</a:t>
            </a:r>
            <a:r>
              <a:rPr lang="en-US" dirty="0"/>
              <a:t> carry </a:t>
            </a:r>
            <a:r>
              <a:rPr lang="en-US" b="1" dirty="0"/>
              <a:t>deoxygenated blood</a:t>
            </a:r>
            <a:r>
              <a:rPr lang="en-US" dirty="0"/>
              <a:t> from the right ventricle to the lungs.</a:t>
            </a:r>
          </a:p>
          <a:p>
            <a:r>
              <a:rPr lang="en-US" dirty="0"/>
              <a:t>After oxygenation, </a:t>
            </a:r>
            <a:r>
              <a:rPr lang="en-US" b="1" dirty="0"/>
              <a:t>pulmonary veins</a:t>
            </a:r>
            <a:r>
              <a:rPr lang="en-US" dirty="0"/>
              <a:t> return </a:t>
            </a:r>
            <a:r>
              <a:rPr lang="en-US" b="1" dirty="0"/>
              <a:t>oxygenated blood</a:t>
            </a:r>
            <a:r>
              <a:rPr lang="en-US" dirty="0"/>
              <a:t> to the left atrium.</a:t>
            </a:r>
          </a:p>
          <a:p>
            <a:r>
              <a:rPr lang="en-US" b="1" dirty="0"/>
              <a:t>Bronchial arteries</a:t>
            </a:r>
            <a:r>
              <a:rPr lang="en-US" dirty="0"/>
              <a:t> supply nutrients to lung tissues.</a:t>
            </a:r>
          </a:p>
          <a:p>
            <a:endParaRPr lang="en-IN" dirty="0"/>
          </a:p>
        </p:txBody>
      </p:sp>
    </p:spTree>
    <p:extLst>
      <p:ext uri="{BB962C8B-B14F-4D97-AF65-F5344CB8AC3E}">
        <p14:creationId xmlns:p14="http://schemas.microsoft.com/office/powerpoint/2010/main" val="12947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3C4E-5D38-EB5B-AF2F-05CA03068778}"/>
              </a:ext>
            </a:extLst>
          </p:cNvPr>
          <p:cNvSpPr>
            <a:spLocks noGrp="1"/>
          </p:cNvSpPr>
          <p:nvPr>
            <p:ph type="title"/>
          </p:nvPr>
        </p:nvSpPr>
        <p:spPr/>
        <p:txBody>
          <a:bodyPr>
            <a:noAutofit/>
          </a:bodyPr>
          <a:lstStyle/>
          <a:p>
            <a:pPr lvl="0" defTabSz="914400" eaLnBrk="0" fontAlgn="base" hangingPunct="0">
              <a:spcAft>
                <a:spcPct val="0"/>
              </a:spcAft>
            </a:pPr>
            <a:r>
              <a:rPr lang="en-US" altLang="en-US" sz="2000" b="1" dirty="0">
                <a:solidFill>
                  <a:schemeClr val="tx1"/>
                </a:solidFill>
                <a:latin typeface="Arial" panose="020B0604020202020204" pitchFamily="34" charset="0"/>
              </a:rPr>
              <a:t>Mechanism of Breathing</a:t>
            </a:r>
            <a:br>
              <a:rPr lang="en-US" altLang="en-US" sz="2000" b="1" dirty="0">
                <a:solidFill>
                  <a:schemeClr val="tx1"/>
                </a:solidFill>
                <a:latin typeface="Arial" panose="020B0604020202020204" pitchFamily="34" charset="0"/>
              </a:rPr>
            </a:br>
            <a:r>
              <a:rPr lang="en-US" altLang="en-US" sz="2000" dirty="0" err="1">
                <a:solidFill>
                  <a:schemeClr val="tx1"/>
                </a:solidFill>
                <a:latin typeface="Arial" panose="020B0604020202020204" pitchFamily="34" charset="0"/>
              </a:rPr>
              <a:t>Breathing</a:t>
            </a:r>
            <a:r>
              <a:rPr lang="en-US" altLang="en-US" sz="2000" dirty="0">
                <a:solidFill>
                  <a:schemeClr val="tx1"/>
                </a:solidFill>
                <a:latin typeface="Arial" panose="020B0604020202020204" pitchFamily="34" charset="0"/>
              </a:rPr>
              <a:t> involves two main phases:</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The process is regulated by the </a:t>
            </a:r>
            <a:r>
              <a:rPr lang="en-US" altLang="en-US" sz="2000" b="1" dirty="0">
                <a:solidFill>
                  <a:schemeClr val="tx1"/>
                </a:solidFill>
                <a:latin typeface="Arial" panose="020B0604020202020204" pitchFamily="34" charset="0"/>
              </a:rPr>
              <a:t>respiratory center in the medulla oblongata</a:t>
            </a:r>
            <a:endParaRPr lang="en-IN" sz="2000" dirty="0"/>
          </a:p>
        </p:txBody>
      </p:sp>
      <p:graphicFrame>
        <p:nvGraphicFramePr>
          <p:cNvPr id="4" name="Content Placeholder 3">
            <a:extLst>
              <a:ext uri="{FF2B5EF4-FFF2-40B4-BE49-F238E27FC236}">
                <a16:creationId xmlns:a16="http://schemas.microsoft.com/office/drawing/2014/main" id="{4121FD92-8592-CA0A-B577-84EF148C5A93}"/>
              </a:ext>
            </a:extLst>
          </p:cNvPr>
          <p:cNvGraphicFramePr>
            <a:graphicFrameLocks noGrp="1"/>
          </p:cNvGraphicFramePr>
          <p:nvPr>
            <p:ph idx="1"/>
          </p:nvPr>
        </p:nvGraphicFramePr>
        <p:xfrm>
          <a:off x="2589213" y="2925445"/>
          <a:ext cx="8915400" cy="2194560"/>
        </p:xfrm>
        <a:graphic>
          <a:graphicData uri="http://schemas.openxmlformats.org/drawingml/2006/table">
            <a:tbl>
              <a:tblPr/>
              <a:tblGrid>
                <a:gridCol w="2971800">
                  <a:extLst>
                    <a:ext uri="{9D8B030D-6E8A-4147-A177-3AD203B41FA5}">
                      <a16:colId xmlns:a16="http://schemas.microsoft.com/office/drawing/2014/main" val="1896877688"/>
                    </a:ext>
                  </a:extLst>
                </a:gridCol>
                <a:gridCol w="2971800">
                  <a:extLst>
                    <a:ext uri="{9D8B030D-6E8A-4147-A177-3AD203B41FA5}">
                      <a16:colId xmlns:a16="http://schemas.microsoft.com/office/drawing/2014/main" val="512041235"/>
                    </a:ext>
                  </a:extLst>
                </a:gridCol>
                <a:gridCol w="2971800">
                  <a:extLst>
                    <a:ext uri="{9D8B030D-6E8A-4147-A177-3AD203B41FA5}">
                      <a16:colId xmlns:a16="http://schemas.microsoft.com/office/drawing/2014/main" val="3998141531"/>
                    </a:ext>
                  </a:extLst>
                </a:gridCol>
              </a:tblGrid>
              <a:tr h="0">
                <a:tc>
                  <a:txBody>
                    <a:bodyPr/>
                    <a:lstStyle/>
                    <a:p>
                      <a:pPr>
                        <a:buNone/>
                      </a:pPr>
                      <a:r>
                        <a:rPr lang="en-IN" b="1"/>
                        <a:t>Phase</a:t>
                      </a:r>
                      <a:endParaRPr lang="en-IN"/>
                    </a:p>
                  </a:txBody>
                  <a:tcPr anchor="ctr">
                    <a:lnL>
                      <a:noFill/>
                    </a:lnL>
                    <a:lnR>
                      <a:noFill/>
                    </a:lnR>
                    <a:lnT>
                      <a:noFill/>
                    </a:lnT>
                    <a:lnB>
                      <a:noFill/>
                    </a:lnB>
                    <a:noFill/>
                  </a:tcPr>
                </a:tc>
                <a:tc>
                  <a:txBody>
                    <a:bodyPr/>
                    <a:lstStyle/>
                    <a:p>
                      <a:pPr>
                        <a:buNone/>
                      </a:pPr>
                      <a:r>
                        <a:rPr lang="en-IN" b="1"/>
                        <a:t>Action</a:t>
                      </a:r>
                      <a:endParaRPr lang="en-IN"/>
                    </a:p>
                  </a:txBody>
                  <a:tcPr anchor="ctr">
                    <a:lnL>
                      <a:noFill/>
                    </a:lnL>
                    <a:lnR>
                      <a:noFill/>
                    </a:lnR>
                    <a:lnT>
                      <a:noFill/>
                    </a:lnT>
                    <a:lnB>
                      <a:noFill/>
                    </a:lnB>
                    <a:noFill/>
                  </a:tcPr>
                </a:tc>
                <a:tc>
                  <a:txBody>
                    <a:bodyPr/>
                    <a:lstStyle/>
                    <a:p>
                      <a:pPr>
                        <a:buNone/>
                      </a:pPr>
                      <a:r>
                        <a:rPr lang="en-IN" b="1"/>
                        <a:t>Result</a:t>
                      </a:r>
                      <a:endParaRPr lang="en-IN"/>
                    </a:p>
                  </a:txBody>
                  <a:tcPr anchor="ctr">
                    <a:lnL>
                      <a:noFill/>
                    </a:lnL>
                    <a:lnR>
                      <a:noFill/>
                    </a:lnR>
                    <a:lnT>
                      <a:noFill/>
                    </a:lnT>
                    <a:lnB>
                      <a:noFill/>
                    </a:lnB>
                    <a:noFill/>
                  </a:tcPr>
                </a:tc>
                <a:extLst>
                  <a:ext uri="{0D108BD9-81ED-4DB2-BD59-A6C34878D82A}">
                    <a16:rowId xmlns:a16="http://schemas.microsoft.com/office/drawing/2014/main" val="44430232"/>
                  </a:ext>
                </a:extLst>
              </a:tr>
              <a:tr h="0">
                <a:tc>
                  <a:txBody>
                    <a:bodyPr/>
                    <a:lstStyle/>
                    <a:p>
                      <a:pPr>
                        <a:buNone/>
                      </a:pPr>
                      <a:r>
                        <a:rPr lang="en-IN" b="1"/>
                        <a:t>Inhalation (Inspiration)</a:t>
                      </a:r>
                      <a:endParaRPr lang="en-IN"/>
                    </a:p>
                  </a:txBody>
                  <a:tcPr anchor="ctr">
                    <a:lnL>
                      <a:noFill/>
                    </a:lnL>
                    <a:lnR>
                      <a:noFill/>
                    </a:lnR>
                    <a:lnT>
                      <a:noFill/>
                    </a:lnT>
                    <a:lnB>
                      <a:noFill/>
                    </a:lnB>
                    <a:noFill/>
                  </a:tcPr>
                </a:tc>
                <a:tc>
                  <a:txBody>
                    <a:bodyPr/>
                    <a:lstStyle/>
                    <a:p>
                      <a:pPr>
                        <a:buNone/>
                      </a:pPr>
                      <a:r>
                        <a:rPr lang="en-US"/>
                        <a:t>Diaphragm contracts and moves downward, rib cage expands</a:t>
                      </a:r>
                    </a:p>
                  </a:txBody>
                  <a:tcPr anchor="ctr">
                    <a:lnL>
                      <a:noFill/>
                    </a:lnL>
                    <a:lnR>
                      <a:noFill/>
                    </a:lnR>
                    <a:lnT>
                      <a:noFill/>
                    </a:lnT>
                    <a:lnB>
                      <a:noFill/>
                    </a:lnB>
                    <a:noFill/>
                  </a:tcPr>
                </a:tc>
                <a:tc>
                  <a:txBody>
                    <a:bodyPr/>
                    <a:lstStyle/>
                    <a:p>
                      <a:pPr>
                        <a:buNone/>
                      </a:pPr>
                      <a:r>
                        <a:rPr lang="en-US"/>
                        <a:t>Air rushes </a:t>
                      </a:r>
                      <a:r>
                        <a:rPr lang="en-US" b="1"/>
                        <a:t>into</a:t>
                      </a:r>
                      <a:r>
                        <a:rPr lang="en-US"/>
                        <a:t> the lungs</a:t>
                      </a:r>
                    </a:p>
                  </a:txBody>
                  <a:tcPr anchor="ctr">
                    <a:lnL>
                      <a:noFill/>
                    </a:lnL>
                    <a:lnR>
                      <a:noFill/>
                    </a:lnR>
                    <a:lnT>
                      <a:noFill/>
                    </a:lnT>
                    <a:lnB>
                      <a:noFill/>
                    </a:lnB>
                    <a:noFill/>
                  </a:tcPr>
                </a:tc>
                <a:extLst>
                  <a:ext uri="{0D108BD9-81ED-4DB2-BD59-A6C34878D82A}">
                    <a16:rowId xmlns:a16="http://schemas.microsoft.com/office/drawing/2014/main" val="2262259651"/>
                  </a:ext>
                </a:extLst>
              </a:tr>
              <a:tr h="0">
                <a:tc>
                  <a:txBody>
                    <a:bodyPr/>
                    <a:lstStyle/>
                    <a:p>
                      <a:pPr>
                        <a:buNone/>
                      </a:pPr>
                      <a:r>
                        <a:rPr lang="en-IN" b="1"/>
                        <a:t>Exhalation (Expiration)</a:t>
                      </a:r>
                      <a:endParaRPr lang="en-IN"/>
                    </a:p>
                  </a:txBody>
                  <a:tcPr anchor="ctr">
                    <a:lnL>
                      <a:noFill/>
                    </a:lnL>
                    <a:lnR>
                      <a:noFill/>
                    </a:lnR>
                    <a:lnT>
                      <a:noFill/>
                    </a:lnT>
                    <a:lnB>
                      <a:noFill/>
                    </a:lnB>
                    <a:noFill/>
                  </a:tcPr>
                </a:tc>
                <a:tc>
                  <a:txBody>
                    <a:bodyPr/>
                    <a:lstStyle/>
                    <a:p>
                      <a:pPr>
                        <a:buNone/>
                      </a:pPr>
                      <a:r>
                        <a:rPr lang="en-US"/>
                        <a:t>Diaphragm relaxes and moves upward, rib cage compresses</a:t>
                      </a:r>
                    </a:p>
                  </a:txBody>
                  <a:tcPr anchor="ctr">
                    <a:lnL>
                      <a:noFill/>
                    </a:lnL>
                    <a:lnR>
                      <a:noFill/>
                    </a:lnR>
                    <a:lnT>
                      <a:noFill/>
                    </a:lnT>
                    <a:lnB>
                      <a:noFill/>
                    </a:lnB>
                    <a:noFill/>
                  </a:tcPr>
                </a:tc>
                <a:tc>
                  <a:txBody>
                    <a:bodyPr/>
                    <a:lstStyle/>
                    <a:p>
                      <a:pPr>
                        <a:buNone/>
                      </a:pPr>
                      <a:r>
                        <a:rPr lang="en-IN" dirty="0"/>
                        <a:t>Air is </a:t>
                      </a:r>
                      <a:r>
                        <a:rPr lang="en-IN" b="1" dirty="0"/>
                        <a:t>forced out</a:t>
                      </a:r>
                      <a:endParaRPr lang="en-IN" dirty="0"/>
                    </a:p>
                  </a:txBody>
                  <a:tcPr anchor="ctr">
                    <a:lnL>
                      <a:noFill/>
                    </a:lnL>
                    <a:lnR>
                      <a:noFill/>
                    </a:lnR>
                    <a:lnT>
                      <a:noFill/>
                    </a:lnT>
                    <a:lnB>
                      <a:noFill/>
                    </a:lnB>
                    <a:noFill/>
                  </a:tcPr>
                </a:tc>
                <a:extLst>
                  <a:ext uri="{0D108BD9-81ED-4DB2-BD59-A6C34878D82A}">
                    <a16:rowId xmlns:a16="http://schemas.microsoft.com/office/drawing/2014/main" val="238204839"/>
                  </a:ext>
                </a:extLst>
              </a:tr>
            </a:tbl>
          </a:graphicData>
        </a:graphic>
      </p:graphicFrame>
      <p:sp>
        <p:nvSpPr>
          <p:cNvPr id="5" name="Rectangle 1">
            <a:extLst>
              <a:ext uri="{FF2B5EF4-FFF2-40B4-BE49-F238E27FC236}">
                <a16:creationId xmlns:a16="http://schemas.microsoft.com/office/drawing/2014/main" id="{8FEBFF60-47C5-B11D-98AC-990DDF6789FC}"/>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30594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7AD3D-4F05-05C6-4BBA-0AAE92777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9CB8F-F2BA-C984-72F8-0DF92A5149DF}"/>
              </a:ext>
            </a:extLst>
          </p:cNvPr>
          <p:cNvSpPr>
            <a:spLocks noGrp="1"/>
          </p:cNvSpPr>
          <p:nvPr>
            <p:ph type="title"/>
          </p:nvPr>
        </p:nvSpPr>
        <p:spPr>
          <a:xfrm>
            <a:off x="2455765" y="2148110"/>
            <a:ext cx="8911687" cy="1280890"/>
          </a:xfrm>
        </p:spPr>
        <p:txBody>
          <a:bodyPr>
            <a:noAutofit/>
          </a:bodyPr>
          <a:lstStyle/>
          <a:p>
            <a:pPr marL="342900" indent="-342900">
              <a:buFont typeface="Wingdings" panose="05000000000000000000" pitchFamily="2" charset="2"/>
              <a:buChar char="q"/>
            </a:pPr>
            <a:r>
              <a:rPr lang="en-IN" sz="2000" b="1" dirty="0"/>
              <a:t>Gas Exchange</a:t>
            </a:r>
            <a:br>
              <a:rPr lang="en-IN" sz="2000" b="1" dirty="0"/>
            </a:br>
            <a:r>
              <a:rPr lang="en-IN" sz="2000" dirty="0"/>
              <a:t>Occurs in </a:t>
            </a:r>
            <a:r>
              <a:rPr lang="en-IN" sz="2000" b="1" dirty="0"/>
              <a:t>alveoli</a:t>
            </a:r>
            <a:r>
              <a:rPr lang="en-IN" sz="2000" dirty="0"/>
              <a:t> by </a:t>
            </a:r>
            <a:r>
              <a:rPr lang="en-IN" sz="2000" b="1" dirty="0"/>
              <a:t>simple diffusion</a:t>
            </a:r>
            <a:r>
              <a:rPr lang="en-IN" sz="2000" dirty="0"/>
              <a:t>.</a:t>
            </a:r>
            <a:br>
              <a:rPr lang="en-IN" sz="2000" dirty="0"/>
            </a:br>
            <a:r>
              <a:rPr lang="en-IN" sz="2000" b="1" dirty="0"/>
              <a:t>Oxygen</a:t>
            </a:r>
            <a:r>
              <a:rPr lang="en-IN" sz="2000" dirty="0"/>
              <a:t> from alveolar air diffuses into blood, binding to </a:t>
            </a:r>
            <a:r>
              <a:rPr lang="en-IN" sz="2000" dirty="0" err="1"/>
              <a:t>hemoglobin</a:t>
            </a:r>
            <a:r>
              <a:rPr lang="en-IN" sz="2000" dirty="0"/>
              <a:t>.</a:t>
            </a:r>
            <a:br>
              <a:rPr lang="en-IN" sz="2000" dirty="0"/>
            </a:br>
            <a:r>
              <a:rPr lang="en-IN" sz="2000" b="1" dirty="0"/>
              <a:t>Carbon dioxide</a:t>
            </a:r>
            <a:r>
              <a:rPr lang="en-IN" sz="2000" dirty="0"/>
              <a:t> from blood diffuses into alveoli to be exhaled.</a:t>
            </a:r>
            <a:br>
              <a:rPr lang="en-IN" sz="2000" dirty="0"/>
            </a:br>
            <a:r>
              <a:rPr lang="en-IN" sz="2000" dirty="0"/>
              <a:t>This process is aided by the </a:t>
            </a:r>
            <a:r>
              <a:rPr lang="en-IN" sz="2000" b="1" dirty="0"/>
              <a:t>thin respiratory membrane</a:t>
            </a:r>
            <a:r>
              <a:rPr lang="en-IN" sz="2000" dirty="0"/>
              <a:t> and </a:t>
            </a:r>
            <a:r>
              <a:rPr lang="en-IN" sz="2000" b="1" dirty="0"/>
              <a:t>moist surface of alveoli</a:t>
            </a:r>
            <a:r>
              <a:rPr lang="en-IN" sz="2000" dirty="0"/>
              <a:t>.</a:t>
            </a:r>
            <a:br>
              <a:rPr lang="en-IN" sz="2000" dirty="0"/>
            </a:br>
            <a:br>
              <a:rPr lang="en-IN" sz="2000" dirty="0"/>
            </a:br>
            <a:endParaRPr lang="en-IN" sz="2000" dirty="0"/>
          </a:p>
        </p:txBody>
      </p:sp>
      <p:sp>
        <p:nvSpPr>
          <p:cNvPr id="5" name="Rectangle 1">
            <a:extLst>
              <a:ext uri="{FF2B5EF4-FFF2-40B4-BE49-F238E27FC236}">
                <a16:creationId xmlns:a16="http://schemas.microsoft.com/office/drawing/2014/main" id="{F69FC0CF-E5E7-F7BF-BF3B-E6DB3CEF9003}"/>
              </a:ext>
            </a:extLst>
          </p:cNvPr>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71771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737A45-9C18-5030-8CFD-425EA89FE304}"/>
              </a:ext>
            </a:extLst>
          </p:cNvPr>
          <p:cNvSpPr>
            <a:spLocks noGrp="1"/>
          </p:cNvSpPr>
          <p:nvPr>
            <p:ph idx="1"/>
          </p:nvPr>
        </p:nvSpPr>
        <p:spPr/>
        <p:txBody>
          <a:bodyPr/>
          <a:lstStyle/>
          <a:p>
            <a:r>
              <a:rPr lang="en-US" b="1" dirty="0"/>
              <a:t>Functions of the Lungs</a:t>
            </a:r>
            <a:br>
              <a:rPr lang="en-US" b="1" dirty="0"/>
            </a:br>
            <a:r>
              <a:rPr lang="en-US" b="1" dirty="0"/>
              <a:t>Primary function – Gas exchange</a:t>
            </a:r>
            <a:br>
              <a:rPr lang="en-US" dirty="0"/>
            </a:br>
            <a:r>
              <a:rPr lang="en-US" b="1" dirty="0"/>
              <a:t>Regulation of blood pH</a:t>
            </a:r>
            <a:r>
              <a:rPr lang="en-US" dirty="0"/>
              <a:t> via CO₂ removal</a:t>
            </a:r>
            <a:br>
              <a:rPr lang="en-US" dirty="0"/>
            </a:br>
            <a:r>
              <a:rPr lang="en-US" b="1" dirty="0"/>
              <a:t>Filtration of small blood clots and debris</a:t>
            </a:r>
            <a:br>
              <a:rPr lang="en-US" dirty="0"/>
            </a:br>
            <a:r>
              <a:rPr lang="en-US" b="1" dirty="0"/>
              <a:t>Voice production</a:t>
            </a:r>
            <a:r>
              <a:rPr lang="en-US" dirty="0"/>
              <a:t> (air passing through vocal cords)</a:t>
            </a:r>
            <a:br>
              <a:rPr lang="en-US" dirty="0"/>
            </a:br>
            <a:r>
              <a:rPr lang="en-US" b="1" dirty="0"/>
              <a:t>Defense mechanism</a:t>
            </a:r>
            <a:r>
              <a:rPr lang="en-US" dirty="0"/>
              <a:t> – mucus and cilia trap dust and microbes</a:t>
            </a:r>
            <a:br>
              <a:rPr lang="en-US" dirty="0"/>
            </a:br>
            <a:r>
              <a:rPr lang="en-US" b="1" dirty="0"/>
              <a:t>Metabolic role</a:t>
            </a:r>
            <a:r>
              <a:rPr lang="en-US" dirty="0"/>
              <a:t> – activation of </a:t>
            </a:r>
            <a:r>
              <a:rPr lang="en-US" b="1" dirty="0"/>
              <a:t>angiotensin I to angiotensin II</a:t>
            </a:r>
            <a:br>
              <a:rPr lang="en-US" dirty="0"/>
            </a:br>
            <a:endParaRPr lang="en-IN" dirty="0"/>
          </a:p>
        </p:txBody>
      </p:sp>
    </p:spTree>
    <p:extLst>
      <p:ext uri="{BB962C8B-B14F-4D97-AF65-F5344CB8AC3E}">
        <p14:creationId xmlns:p14="http://schemas.microsoft.com/office/powerpoint/2010/main" val="2263111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ACF6D-2A48-DC74-DF0D-8E513CC1A1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BB8B7CE-7C76-21AD-C240-CC754E940DED}"/>
              </a:ext>
            </a:extLst>
          </p:cNvPr>
          <p:cNvSpPr>
            <a:spLocks noGrp="1"/>
          </p:cNvSpPr>
          <p:nvPr>
            <p:ph idx="1"/>
          </p:nvPr>
        </p:nvSpPr>
        <p:spPr/>
        <p:txBody>
          <a:bodyPr/>
          <a:lstStyle/>
          <a:p>
            <a:pPr marL="0" indent="0">
              <a:buNone/>
            </a:pPr>
            <a:r>
              <a:rPr lang="en-IN" b="1" dirty="0"/>
              <a:t>Common Lung Disorders</a:t>
            </a:r>
          </a:p>
          <a:p>
            <a:r>
              <a:rPr lang="en-IN" b="1" dirty="0"/>
              <a:t>Asthma</a:t>
            </a:r>
            <a:r>
              <a:rPr lang="en-IN" dirty="0"/>
              <a:t> – airway inflammation and constriction</a:t>
            </a:r>
          </a:p>
          <a:p>
            <a:r>
              <a:rPr lang="en-IN" b="1" dirty="0"/>
              <a:t>Pneumonia</a:t>
            </a:r>
            <a:r>
              <a:rPr lang="en-IN" dirty="0"/>
              <a:t> – infection of alveoli</a:t>
            </a:r>
          </a:p>
          <a:p>
            <a:r>
              <a:rPr lang="en-IN" b="1" dirty="0"/>
              <a:t>Tuberculosis</a:t>
            </a:r>
            <a:r>
              <a:rPr lang="en-IN" dirty="0"/>
              <a:t> – bacterial infection (Mycobacterium tuberculosis)</a:t>
            </a:r>
          </a:p>
          <a:p>
            <a:r>
              <a:rPr lang="en-IN" b="1" dirty="0"/>
              <a:t>COPD (Chronic Obstructive Pulmonary Disease)</a:t>
            </a:r>
            <a:r>
              <a:rPr lang="en-IN" dirty="0"/>
              <a:t> – irreversible airflow obstruction</a:t>
            </a:r>
          </a:p>
          <a:p>
            <a:r>
              <a:rPr lang="en-IN" b="1" dirty="0"/>
              <a:t>Lung cancer</a:t>
            </a:r>
            <a:r>
              <a:rPr lang="en-IN" dirty="0"/>
              <a:t> – uncontrolled growth of lung tissue, often due to smoking</a:t>
            </a:r>
          </a:p>
          <a:p>
            <a:endParaRPr lang="en-IN" dirty="0"/>
          </a:p>
        </p:txBody>
      </p:sp>
    </p:spTree>
    <p:extLst>
      <p:ext uri="{BB962C8B-B14F-4D97-AF65-F5344CB8AC3E}">
        <p14:creationId xmlns:p14="http://schemas.microsoft.com/office/powerpoint/2010/main" val="284584888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TM02892315[[fn=Wisp]]</Template>
  <TotalTime>7</TotalTime>
  <Words>495</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Wingdings</vt:lpstr>
      <vt:lpstr>Wingdings 3</vt:lpstr>
      <vt:lpstr>Wisp</vt:lpstr>
      <vt:lpstr>Respiratory system</vt:lpstr>
      <vt:lpstr>Lungs :</vt:lpstr>
      <vt:lpstr>PowerPoint Presentation</vt:lpstr>
      <vt:lpstr>PowerPoint Presentation</vt:lpstr>
      <vt:lpstr>PowerPoint Presentation</vt:lpstr>
      <vt:lpstr>Mechanism of Breathing Breathing involves two main phases: The process is regulated by the respiratory center in the medulla oblongata</vt:lpstr>
      <vt:lpstr>Gas Exchange Occurs in alveoli by simple diffusion. Oxygen from alveolar air diffuses into blood, binding to hemoglobin. Carbon dioxide from blood diffuses into alveoli to be exhaled. This process is aided by the thin respiratory membrane and moist surface of alveoli.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2025-10-19T11:41:01Z</dcterms:created>
  <dcterms:modified xsi:type="dcterms:W3CDTF">2025-11-19T12:53:46Z</dcterms:modified>
</cp:coreProperties>
</file>