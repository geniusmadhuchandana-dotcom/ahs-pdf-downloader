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89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04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99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21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928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9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80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36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98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29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7E50-D60D-42AE-B5FA-9C7FDB57A1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9A847-5D6F-4BE9-A555-ECB1BB41B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96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5C62-5200-7482-A2AD-459ABBDF3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Nervous system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25267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C722-41C5-4970-1EE2-AA27C9C7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spinal cord it extent coverings external features cross section blood supply applied anatomy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75CA51-858E-112A-591B-EA89FE890A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472842"/>
            <a:ext cx="6629857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spinal cord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cylindrical structure of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nervous tissue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extends from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medulla oblongata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the base of the brain down through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vertebral canal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forms part of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nervous system (CNS)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acts as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conduit for nerve signals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 and the body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protected by vertebrae, meninges, cerebrospinal fluid (CSF), and ligaments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Length: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~45 cm in males, ~43 cm in females.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Spinal nerves: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31 pairs emerge from it, classified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Cervical (C1–C8)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 Thoracic (T1–T12)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Lumbar (L1–L5)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Sacral (S1–S5)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Coccygeal (Co1)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Transmits commands from the brain to muscles.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Conveys sensations from the body to the brain.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Reflexes: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Mediates involuntary actions independently of the brain.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349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6C80-FB21-4445-1A08-850E6A14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DC2C-541B-7305-7482-F49DAE2C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spinal cord it extent coverings external features cross section blood supply applied anatomy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8D55C3-96A5-265D-0ADE-5A40EB20C8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1707282"/>
            <a:ext cx="6629857" cy="3440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b="1" dirty="0"/>
              <a:t>Extent</a:t>
            </a:r>
          </a:p>
          <a:p>
            <a:r>
              <a:rPr lang="en-IN" b="1" dirty="0"/>
              <a:t>Upper limit:</a:t>
            </a:r>
            <a:r>
              <a:rPr lang="en-IN" dirty="0"/>
              <a:t> Lower border of </a:t>
            </a:r>
            <a:r>
              <a:rPr lang="en-IN" b="1" dirty="0"/>
              <a:t>medulla oblongata</a:t>
            </a:r>
            <a:r>
              <a:rPr lang="en-IN" dirty="0"/>
              <a:t> at </a:t>
            </a:r>
            <a:r>
              <a:rPr lang="en-IN" b="1" dirty="0"/>
              <a:t>foramen magnum</a:t>
            </a:r>
            <a:r>
              <a:rPr lang="en-IN" dirty="0"/>
              <a:t>.</a:t>
            </a:r>
          </a:p>
          <a:p>
            <a:r>
              <a:rPr lang="en-IN" b="1" dirty="0"/>
              <a:t>Lower limit:</a:t>
            </a:r>
            <a:r>
              <a:rPr lang="en-IN" dirty="0"/>
              <a:t> In </a:t>
            </a:r>
            <a:r>
              <a:rPr lang="en-IN" b="1" dirty="0"/>
              <a:t>adults</a:t>
            </a:r>
            <a:r>
              <a:rPr lang="en-IN" dirty="0"/>
              <a:t> – ends at the </a:t>
            </a:r>
            <a:r>
              <a:rPr lang="en-IN" b="1" dirty="0"/>
              <a:t>lower border of L1 vertebra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In </a:t>
            </a:r>
            <a:r>
              <a:rPr lang="en-IN" b="1" dirty="0"/>
              <a:t>newborns</a:t>
            </a:r>
            <a:r>
              <a:rPr lang="en-IN" dirty="0"/>
              <a:t> – ends at </a:t>
            </a:r>
            <a:r>
              <a:rPr lang="en-IN" b="1" dirty="0"/>
              <a:t>L3 level</a:t>
            </a:r>
            <a:r>
              <a:rPr lang="en-IN" dirty="0"/>
              <a:t>.</a:t>
            </a:r>
          </a:p>
          <a:p>
            <a:r>
              <a:rPr lang="en-IN" b="1" dirty="0"/>
              <a:t>Continuation below</a:t>
            </a:r>
            <a:r>
              <a:rPr lang="en-IN" dirty="0"/>
              <a:t> spinal cord → </a:t>
            </a:r>
            <a:r>
              <a:rPr lang="en-IN" b="1" dirty="0"/>
              <a:t>Conus medullaris → Filum </a:t>
            </a:r>
            <a:r>
              <a:rPr lang="en-IN" b="1" dirty="0" err="1"/>
              <a:t>terminale</a:t>
            </a:r>
            <a:r>
              <a:rPr lang="en-IN" b="1" dirty="0"/>
              <a:t> → Cauda equina</a:t>
            </a:r>
            <a:r>
              <a:rPr lang="en-IN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79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F7AF-61A6-FB05-A341-5BAC1C48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8048-E4E9-88AF-B504-520D6766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spinal cord it extent coverings external features cross section blood supply applied anatomy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AFA4C-199B-F18D-2537-BF7BD75E3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683925"/>
            <a:ext cx="6629857" cy="5487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b="1" dirty="0"/>
              <a:t>Coverings (Meninges)</a:t>
            </a:r>
          </a:p>
          <a:p>
            <a:r>
              <a:rPr lang="en-IN" b="1" dirty="0"/>
              <a:t>Dura mater</a:t>
            </a:r>
            <a:endParaRPr lang="en-IN" dirty="0"/>
          </a:p>
          <a:p>
            <a:pPr lvl="1"/>
            <a:r>
              <a:rPr lang="en-IN" dirty="0"/>
              <a:t>Tough, outermost.</a:t>
            </a:r>
          </a:p>
          <a:p>
            <a:pPr lvl="1"/>
            <a:r>
              <a:rPr lang="en-IN" dirty="0"/>
              <a:t>Ends at </a:t>
            </a:r>
            <a:r>
              <a:rPr lang="en-IN" b="1" dirty="0"/>
              <a:t>S2 level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Epidural space (between bone &amp; dura) contains </a:t>
            </a:r>
            <a:r>
              <a:rPr lang="en-IN" b="1" dirty="0"/>
              <a:t>fat and venous plexus</a:t>
            </a:r>
            <a:r>
              <a:rPr lang="en-IN" dirty="0"/>
              <a:t> → site for </a:t>
            </a:r>
            <a:r>
              <a:rPr lang="en-IN" b="1" dirty="0"/>
              <a:t>epidural </a:t>
            </a:r>
            <a:r>
              <a:rPr lang="en-IN" b="1" dirty="0" err="1"/>
              <a:t>anesthesia</a:t>
            </a:r>
            <a:r>
              <a:rPr lang="en-IN" dirty="0"/>
              <a:t>.</a:t>
            </a:r>
          </a:p>
          <a:p>
            <a:r>
              <a:rPr lang="en-IN" b="1" dirty="0"/>
              <a:t>Arachnoid mater</a:t>
            </a:r>
            <a:endParaRPr lang="en-IN" dirty="0"/>
          </a:p>
          <a:p>
            <a:pPr lvl="1"/>
            <a:r>
              <a:rPr lang="en-IN" dirty="0"/>
              <a:t>Delicate, avascular.</a:t>
            </a:r>
          </a:p>
          <a:p>
            <a:pPr lvl="1"/>
            <a:r>
              <a:rPr lang="en-IN" dirty="0"/>
              <a:t>Subarachnoid space contains </a:t>
            </a:r>
            <a:r>
              <a:rPr lang="en-IN" b="1" dirty="0"/>
              <a:t>CSF</a:t>
            </a:r>
            <a:r>
              <a:rPr lang="en-IN" dirty="0"/>
              <a:t> → extends up to </a:t>
            </a:r>
            <a:r>
              <a:rPr lang="en-IN" b="1" dirty="0"/>
              <a:t>S2 level</a:t>
            </a:r>
            <a:r>
              <a:rPr lang="en-IN" dirty="0"/>
              <a:t> → used for </a:t>
            </a:r>
            <a:r>
              <a:rPr lang="en-IN" b="1" dirty="0"/>
              <a:t>lumbar puncture (L3-L4)</a:t>
            </a:r>
            <a:r>
              <a:rPr lang="en-IN" dirty="0"/>
              <a:t>.</a:t>
            </a:r>
          </a:p>
          <a:p>
            <a:r>
              <a:rPr lang="en-IN" b="1" dirty="0"/>
              <a:t>Pia mater</a:t>
            </a:r>
            <a:endParaRPr lang="en-IN" dirty="0"/>
          </a:p>
          <a:p>
            <a:pPr lvl="1"/>
            <a:r>
              <a:rPr lang="en-IN" dirty="0"/>
              <a:t>Innermost, firmly adherent.</a:t>
            </a:r>
          </a:p>
          <a:p>
            <a:pPr lvl="1"/>
            <a:r>
              <a:rPr lang="en-IN" dirty="0"/>
              <a:t>Forms </a:t>
            </a:r>
            <a:r>
              <a:rPr lang="en-IN" b="1" dirty="0"/>
              <a:t>denticulate ligaments</a:t>
            </a:r>
            <a:r>
              <a:rPr lang="en-IN" dirty="0"/>
              <a:t> (laterally) and </a:t>
            </a:r>
            <a:r>
              <a:rPr lang="en-IN" b="1" dirty="0"/>
              <a:t>Filum </a:t>
            </a:r>
            <a:r>
              <a:rPr lang="en-IN" b="1" dirty="0" err="1"/>
              <a:t>terminale</a:t>
            </a:r>
            <a:r>
              <a:rPr lang="en-IN" dirty="0"/>
              <a:t> (inferiorly).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78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408C-6441-34D6-E23F-A21E0AF0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67A9-DA6D-27E2-B136-A9A308036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spinal cord it extent coverings external features cross section blood supply applied anatomy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73CDE7-2CF3-9ACB-F8EF-8ECC05C163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942457"/>
            <a:ext cx="6629857" cy="4970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b="1" dirty="0"/>
              <a:t>External Features</a:t>
            </a:r>
          </a:p>
          <a:p>
            <a:r>
              <a:rPr lang="en-IN" b="1" dirty="0"/>
              <a:t>Length:</a:t>
            </a:r>
            <a:r>
              <a:rPr lang="en-IN" dirty="0"/>
              <a:t> ~45 cm (male), ~43 cm (female).</a:t>
            </a:r>
          </a:p>
          <a:p>
            <a:r>
              <a:rPr lang="en-IN" b="1" dirty="0"/>
              <a:t>Enlargements:</a:t>
            </a:r>
            <a:endParaRPr lang="en-IN" dirty="0"/>
          </a:p>
          <a:p>
            <a:pPr lvl="1"/>
            <a:r>
              <a:rPr lang="en-IN" b="1" dirty="0"/>
              <a:t>Cervical (C4–T1)</a:t>
            </a:r>
            <a:r>
              <a:rPr lang="en-IN" dirty="0"/>
              <a:t> → brachial plexus.</a:t>
            </a:r>
          </a:p>
          <a:p>
            <a:pPr lvl="1"/>
            <a:r>
              <a:rPr lang="en-IN" b="1" dirty="0"/>
              <a:t>Lumbar (L1–S3)</a:t>
            </a:r>
            <a:r>
              <a:rPr lang="en-IN" dirty="0"/>
              <a:t> → lumbosacral plexus.</a:t>
            </a:r>
          </a:p>
          <a:p>
            <a:r>
              <a:rPr lang="en-IN" b="1" dirty="0"/>
              <a:t>Grooves:</a:t>
            </a:r>
            <a:endParaRPr lang="en-IN" dirty="0"/>
          </a:p>
          <a:p>
            <a:pPr lvl="1"/>
            <a:r>
              <a:rPr lang="en-IN" b="1" dirty="0"/>
              <a:t>Anterior median fissure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Posterior median sulcus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Anterolateral &amp; posterolateral sulci</a:t>
            </a:r>
            <a:r>
              <a:rPr lang="en-IN" dirty="0"/>
              <a:t> (sites of root attachments).</a:t>
            </a:r>
          </a:p>
          <a:p>
            <a:pPr marL="0" indent="0">
              <a:buNone/>
            </a:pPr>
            <a:r>
              <a:rPr lang="en-IN" b="1" dirty="0"/>
              <a:t>Nerve roots:</a:t>
            </a:r>
            <a:r>
              <a:rPr lang="en-IN" dirty="0"/>
              <a:t> 31 pairs of </a:t>
            </a:r>
            <a:r>
              <a:rPr lang="en-IN" b="1" dirty="0"/>
              <a:t>spinal nerves</a:t>
            </a:r>
            <a:r>
              <a:rPr lang="en-IN" dirty="0"/>
              <a:t> (8C,12T,5L,5S,1Coccygeal).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82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38BC5-D79E-7DBE-A7C1-828B6FBF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BC5C-D6CF-BB36-86DF-4EB87BAC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spinal cord it extent coverings external features cross section blood supply applied anatomy</a:t>
            </a:r>
            <a:endParaRPr lang="en-IN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66BF86-A0EB-7820-D826-DED675D58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098542"/>
              </p:ext>
            </p:extLst>
          </p:nvPr>
        </p:nvGraphicFramePr>
        <p:xfrm>
          <a:off x="5118447" y="2931847"/>
          <a:ext cx="5949948" cy="3749040"/>
        </p:xfrm>
        <a:graphic>
          <a:graphicData uri="http://schemas.openxmlformats.org/drawingml/2006/table">
            <a:tbl>
              <a:tblPr/>
              <a:tblGrid>
                <a:gridCol w="1487487">
                  <a:extLst>
                    <a:ext uri="{9D8B030D-6E8A-4147-A177-3AD203B41FA5}">
                      <a16:colId xmlns:a16="http://schemas.microsoft.com/office/drawing/2014/main" val="3876841155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4027270730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1426997084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191224707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White Matter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Gray Matter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Special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94529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Cervical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Maximum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Accessory nucleus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89608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Thoracic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More WM than GM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Less GM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Lateral horn prominent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3865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Lumbar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Less WM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More GM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Thick ventral horn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5374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Sacral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Least WM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Max GM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Minimal tracts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18255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B4292F3-A782-ED8C-FE2F-8DC90C1DB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447" y="-29834"/>
            <a:ext cx="618630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 Section (Basic Anatomy)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Gray Matter (Central ‘H’ shape)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Dorsal horn (sensory)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Ventral horn (motor)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Lateral horn (T1–L2):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Sympathetic outflow.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canal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contains CSF.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⚪ White Matter (Peripheral)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Divided into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Anterior, Lateral, and Posterior Columns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ascending (sensory) and descending (motor) tracts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variation: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671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66AA0-DC0A-A78E-6604-7F2CAE45F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BC7A-4066-2259-53BF-1EFB7801E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spinal cord it extent coverings external features cross section blood supply applied anatomy</a:t>
            </a:r>
            <a:endParaRPr lang="en-IN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613587E-4C91-524D-FAAE-D674109E7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7059" y="1131058"/>
            <a:ext cx="657202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Blood Supply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Arterial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Anterior spinal artery</a:t>
            </a:r>
            <a:r>
              <a:rPr lang="en-IN" dirty="0"/>
              <a:t> → supplies </a:t>
            </a:r>
            <a:r>
              <a:rPr lang="en-IN" b="1" dirty="0"/>
              <a:t>2/3rd (motor area)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Posterior spinal arteries (2)</a:t>
            </a:r>
            <a:r>
              <a:rPr lang="en-IN" dirty="0"/>
              <a:t> → supply </a:t>
            </a:r>
            <a:r>
              <a:rPr lang="en-IN" b="1" dirty="0"/>
              <a:t>posterior 1/3rd (sensory)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Segmental arteries</a:t>
            </a:r>
            <a:r>
              <a:rPr lang="en-IN" dirty="0"/>
              <a:t> from: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Vertebral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Deep cervical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Intercostal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Lumbar arteries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Artery of Adamkiewicz</a:t>
            </a:r>
            <a:r>
              <a:rPr lang="en-IN" dirty="0"/>
              <a:t> → </a:t>
            </a:r>
            <a:r>
              <a:rPr lang="en-IN" b="1" dirty="0"/>
              <a:t>Major supply to lower 2/3rd</a:t>
            </a:r>
            <a:r>
              <a:rPr lang="en-IN" dirty="0"/>
              <a:t>, arises from </a:t>
            </a:r>
            <a:r>
              <a:rPr lang="en-IN" b="1" dirty="0"/>
              <a:t>left side (T9–L2)</a:t>
            </a:r>
            <a:r>
              <a:rPr lang="en-IN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Venous Drainage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Internal vertebral venous plexus → communicates with systemic veins (route for </a:t>
            </a:r>
            <a:r>
              <a:rPr lang="en-IN" b="1" dirty="0"/>
              <a:t>cancer metastasis like prostate → vertebrae</a:t>
            </a:r>
            <a:r>
              <a:rPr lang="en-IN" dirty="0"/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756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4D4B1-D237-19BE-F5C8-B2BDC1FA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8236-B27B-03DD-8C1B-BD61C83B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spinal cord it extent coverings external features cross section blood supply applied anatomy</a:t>
            </a:r>
            <a:endParaRPr lang="en-IN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5510B5-A1F5-DCA7-6457-A38F32644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7059" y="1546556"/>
            <a:ext cx="657202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Applied Anatomy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Lumbar puncture:</a:t>
            </a:r>
            <a:r>
              <a:rPr lang="en-IN" dirty="0"/>
              <a:t> Performed at </a:t>
            </a:r>
            <a:r>
              <a:rPr lang="en-IN" b="1" dirty="0"/>
              <a:t>L3–L4 or L4–L5</a:t>
            </a:r>
            <a:r>
              <a:rPr lang="en-IN" dirty="0"/>
              <a:t> (to avoid cord injury).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Epidural </a:t>
            </a:r>
            <a:r>
              <a:rPr lang="en-IN" b="1" dirty="0" err="1"/>
              <a:t>anesthesia</a:t>
            </a:r>
            <a:r>
              <a:rPr lang="en-IN" b="1" dirty="0"/>
              <a:t>:</a:t>
            </a:r>
            <a:r>
              <a:rPr lang="en-IN" dirty="0"/>
              <a:t> Given in </a:t>
            </a:r>
            <a:r>
              <a:rPr lang="en-IN" b="1" dirty="0"/>
              <a:t>epidural space</a:t>
            </a:r>
            <a:r>
              <a:rPr lang="en-IN" dirty="0"/>
              <a:t> (fat + plexus).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Spinal cord injury levels: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C4 or above:</a:t>
            </a:r>
            <a:r>
              <a:rPr lang="en-IN" dirty="0"/>
              <a:t> Respiratory paralysis.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Above T1:</a:t>
            </a:r>
            <a:r>
              <a:rPr lang="en-IN" dirty="0"/>
              <a:t> Quadriplegia.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Below T1:</a:t>
            </a:r>
            <a:r>
              <a:rPr lang="en-IN" dirty="0"/>
              <a:t> Paraplegia.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Syringomyelia:</a:t>
            </a:r>
            <a:r>
              <a:rPr lang="en-IN" dirty="0"/>
              <a:t> Cavitation in central canal → loss of </a:t>
            </a:r>
            <a:r>
              <a:rPr lang="en-IN" b="1" dirty="0"/>
              <a:t>pain &amp; temperature (dissociated </a:t>
            </a:r>
            <a:r>
              <a:rPr lang="en-IN" b="1" dirty="0" err="1"/>
              <a:t>anesthesia</a:t>
            </a:r>
            <a:r>
              <a:rPr lang="en-IN" b="1" dirty="0"/>
              <a:t>)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Anterior spinal artery syndrome:</a:t>
            </a:r>
            <a:r>
              <a:rPr lang="en-IN" dirty="0"/>
              <a:t> Loss of motor &amp; pain, preserved vibration &amp; proprioception.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54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A9881-52A2-8851-2187-8B93A2E4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C759-02D5-DC4B-57CE-2AE350D2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superolateral surfaces of cerebrum and its functional areas</a:t>
            </a:r>
            <a:endParaRPr lang="en-IN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270E7B-D0EF-F1AF-A4EA-F2FF422F0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146757"/>
              </p:ext>
            </p:extLst>
          </p:nvPr>
        </p:nvGraphicFramePr>
        <p:xfrm>
          <a:off x="5653088" y="1192781"/>
          <a:ext cx="5516433" cy="5605490"/>
        </p:xfrm>
        <a:graphic>
          <a:graphicData uri="http://schemas.openxmlformats.org/drawingml/2006/table">
            <a:tbl>
              <a:tblPr/>
              <a:tblGrid>
                <a:gridCol w="1838811">
                  <a:extLst>
                    <a:ext uri="{9D8B030D-6E8A-4147-A177-3AD203B41FA5}">
                      <a16:colId xmlns:a16="http://schemas.microsoft.com/office/drawing/2014/main" val="210845236"/>
                    </a:ext>
                  </a:extLst>
                </a:gridCol>
                <a:gridCol w="1838811">
                  <a:extLst>
                    <a:ext uri="{9D8B030D-6E8A-4147-A177-3AD203B41FA5}">
                      <a16:colId xmlns:a16="http://schemas.microsoft.com/office/drawing/2014/main" val="3343400559"/>
                    </a:ext>
                  </a:extLst>
                </a:gridCol>
                <a:gridCol w="1838811">
                  <a:extLst>
                    <a:ext uri="{9D8B030D-6E8A-4147-A177-3AD203B41FA5}">
                      <a16:colId xmlns:a16="http://schemas.microsoft.com/office/drawing/2014/main" val="3890811103"/>
                    </a:ext>
                  </a:extLst>
                </a:gridCol>
              </a:tblGrid>
              <a:tr h="593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Lobe</a:t>
                      </a:r>
                      <a:endParaRPr lang="en-IN" sz="1700"/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Landmark / Sulcus</a:t>
                      </a:r>
                      <a:endParaRPr lang="en-IN" sz="1700"/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Functions</a:t>
                      </a:r>
                      <a:endParaRPr lang="en-IN" sz="1700"/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559658"/>
                  </a:ext>
                </a:extLst>
              </a:tr>
              <a:tr h="847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Frontal lobe</a:t>
                      </a:r>
                      <a:r>
                        <a:rPr lang="en-IN" sz="1700"/>
                        <a:t> (anterior)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Central sulcus (Rolandic sulcus) posteriorly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Motor control, speech (Broca’s), personality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478569"/>
                  </a:ext>
                </a:extLst>
              </a:tr>
              <a:tr h="135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Parietal lobe</a:t>
                      </a:r>
                      <a:r>
                        <a:rPr lang="en-IN" sz="1700"/>
                        <a:t> (behind frontal)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Central sulcus anteriorly, Parieto-occipital sulcus posteriorly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Sensory perception, spatial orientation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147780"/>
                  </a:ext>
                </a:extLst>
              </a:tr>
              <a:tr h="110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Temporal lobe</a:t>
                      </a:r>
                      <a:r>
                        <a:rPr lang="en-IN" sz="1700"/>
                        <a:t> (lower)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Lateral sulcus (Sylvian fissure) above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Hearing, memory, Wernicke’s speech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100191"/>
                  </a:ext>
                </a:extLst>
              </a:tr>
              <a:tr h="135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Occipital lobe</a:t>
                      </a:r>
                      <a:r>
                        <a:rPr lang="en-IN" sz="1700"/>
                        <a:t> (posterior)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Parieto-occipital sulcus anteriorly (on medial side fully, partly on lateral)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Vision processing</a:t>
                      </a:r>
                    </a:p>
                  </a:txBody>
                  <a:tcPr marL="84778" marR="84778" marT="42389" marB="42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35809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9846601-C11C-4271-428C-B54822F28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172205"/>
            <a:ext cx="600551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Superolateral Surface of Cerebrum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convex outer surface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seen from the side and above. It includes parts of the following lobes: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Lobes Seen on Superolateral Surface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15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E62AB-688C-2F26-9EA7-8B0DAD931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41A9-7FE3-A7B9-A43B-20160ABF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superolateral surfaces of cerebrum and its functional areas</a:t>
            </a:r>
            <a:endParaRPr lang="en-IN" sz="3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829728-CEF7-11E9-6C20-C61D5248A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448753"/>
              </p:ext>
            </p:extLst>
          </p:nvPr>
        </p:nvGraphicFramePr>
        <p:xfrm>
          <a:off x="5435600" y="1091724"/>
          <a:ext cx="5949951" cy="4663440"/>
        </p:xfrm>
        <a:graphic>
          <a:graphicData uri="http://schemas.openxmlformats.org/drawingml/2006/table">
            <a:tbl>
              <a:tblPr/>
              <a:tblGrid>
                <a:gridCol w="1983317">
                  <a:extLst>
                    <a:ext uri="{9D8B030D-6E8A-4147-A177-3AD203B41FA5}">
                      <a16:colId xmlns:a16="http://schemas.microsoft.com/office/drawing/2014/main" val="2147577601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4018265161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33544399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Area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Name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591454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 4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Primary Motor Cortex (Precentral gyrus)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Voluntary movement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52973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 6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Premotor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Planning movement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46945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BA 8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Frontal Eye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Conjugate eye movement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8531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 44, 45 (dominant side)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Broca’s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Motor speech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803178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Prefrontal cortex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Personality, judgement, executive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1211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37E584BE-E18A-25F3-2EEE-121A96D32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551" y="309126"/>
            <a:ext cx="479887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Functional Areas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Broadmann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Areas)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Frontal Lobe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62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590AA-E9EB-1465-F213-7A7B171A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DA0C-4269-1B3B-6C44-F704ECCE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superolateral surfaces of cerebrum and its functional areas</a:t>
            </a:r>
            <a:endParaRPr lang="en-IN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1453E0-1B39-44E5-61BB-7EA0FB719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556489"/>
              </p:ext>
            </p:extLst>
          </p:nvPr>
        </p:nvGraphicFramePr>
        <p:xfrm>
          <a:off x="5264889" y="1507804"/>
          <a:ext cx="5949951" cy="4754880"/>
        </p:xfrm>
        <a:graphic>
          <a:graphicData uri="http://schemas.openxmlformats.org/drawingml/2006/table">
            <a:tbl>
              <a:tblPr/>
              <a:tblGrid>
                <a:gridCol w="1983317">
                  <a:extLst>
                    <a:ext uri="{9D8B030D-6E8A-4147-A177-3AD203B41FA5}">
                      <a16:colId xmlns:a16="http://schemas.microsoft.com/office/drawing/2014/main" val="1046763134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3965082272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42727450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Area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Name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416698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BA 3,1,2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Primary Somatosensory Cortex (Postcentral gyrus)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Touch, pain,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1279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 5,7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Sensory Association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Interpretation of sensation, body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7634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Dominant hemisphere (Inferior parietal lobule – angular &amp; supramarginal gyrus)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Gerstmann syndrome area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Writing, calculation, left-right orientation, finger 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5495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277ABF0-4387-6F9D-06E3-FF0EAB6B1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966987"/>
            <a:ext cx="147348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Parietal Lobe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88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087D-8210-EFC7-1736-D89F4D0CB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9C4B-5B38-9B0D-E6FA-9DF0226D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superolateral surfaces of cerebrum and its functional areas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B4DEAD-7FC8-1871-3413-5ADF60C25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966987"/>
            <a:ext cx="163936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Temporal Lobe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776333-E8D9-BBC3-79A5-851DDDEFD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749915"/>
              </p:ext>
            </p:extLst>
          </p:nvPr>
        </p:nvGraphicFramePr>
        <p:xfrm>
          <a:off x="5353417" y="1582540"/>
          <a:ext cx="5949951" cy="2834640"/>
        </p:xfrm>
        <a:graphic>
          <a:graphicData uri="http://schemas.openxmlformats.org/drawingml/2006/table">
            <a:tbl>
              <a:tblPr/>
              <a:tblGrid>
                <a:gridCol w="1983317">
                  <a:extLst>
                    <a:ext uri="{9D8B030D-6E8A-4147-A177-3AD203B41FA5}">
                      <a16:colId xmlns:a16="http://schemas.microsoft.com/office/drawing/2014/main" val="678803849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664096205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208763977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Area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Name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66542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 41, 42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Primary Auditory Cortex (Heschl's gyrus)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Hearing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7807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 22 (dominant side)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Wernicke’s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Speech comprehension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5052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Medial temporal lobe (hippocampus)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Memory &amp;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12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630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9E81-59AD-4BD8-7225-743DAF1D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659D-BE4F-FDB9-5AA0-12E14811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superolateral surfaces of cerebrum and its functional areas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FDFEE3-2E3C-67C4-589E-33B6B615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966987"/>
            <a:ext cx="160011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Occipital Lobe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B032A4-E59C-F54C-537F-4D437FFD8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724675"/>
              </p:ext>
            </p:extLst>
          </p:nvPr>
        </p:nvGraphicFramePr>
        <p:xfrm>
          <a:off x="5106239" y="1687286"/>
          <a:ext cx="5949951" cy="2468880"/>
        </p:xfrm>
        <a:graphic>
          <a:graphicData uri="http://schemas.openxmlformats.org/drawingml/2006/table">
            <a:tbl>
              <a:tblPr/>
              <a:tblGrid>
                <a:gridCol w="1983317">
                  <a:extLst>
                    <a:ext uri="{9D8B030D-6E8A-4147-A177-3AD203B41FA5}">
                      <a16:colId xmlns:a16="http://schemas.microsoft.com/office/drawing/2014/main" val="59909483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1727684824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24194992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Area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Name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48972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 17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Primary Visual Cortex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Vision reception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1519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 18, 19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Visual Association Areas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Interpretation of visual input (identify objects, faces, reading visual data)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235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105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E3D3-6052-C929-DBBF-D366999D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79CCB-E42F-1A29-D319-6316668F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superolateral surfaces of cerebrum and its functional areas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145F2B-C34D-3972-E487-05E94DCE6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966987"/>
            <a:ext cx="33570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Clinical Correlation Rapid 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D6D08-3239-D954-324B-B7734206A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679196"/>
              </p:ext>
            </p:extLst>
          </p:nvPr>
        </p:nvGraphicFramePr>
        <p:xfrm>
          <a:off x="5140960" y="1641261"/>
          <a:ext cx="5949950" cy="3200400"/>
        </p:xfrm>
        <a:graphic>
          <a:graphicData uri="http://schemas.openxmlformats.org/drawingml/2006/table">
            <a:tbl>
              <a:tblPr/>
              <a:tblGrid>
                <a:gridCol w="2974975">
                  <a:extLst>
                    <a:ext uri="{9D8B030D-6E8A-4147-A177-3AD203B41FA5}">
                      <a16:colId xmlns:a16="http://schemas.microsoft.com/office/drawing/2014/main" val="287565387"/>
                    </a:ext>
                  </a:extLst>
                </a:gridCol>
                <a:gridCol w="2974975">
                  <a:extLst>
                    <a:ext uri="{9D8B030D-6E8A-4147-A177-3AD203B41FA5}">
                      <a16:colId xmlns:a16="http://schemas.microsoft.com/office/drawing/2014/main" val="565806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Area Lesioned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Deficit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824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Paralysis (UMN type)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999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 3,1,2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Loss of sensation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00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 44,45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Motor aphasia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60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 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Sensory aphasia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41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Eyes deviate TOWARD the side of lesion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39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 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Cortical blindness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1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Angular gyrus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Alexia, agraphia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223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666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8BC6-B5CA-7BA1-79D4-994B9736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BCA8-1BCD-16D6-2A25-1E916A81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2" y="2257063"/>
            <a:ext cx="3475024" cy="2549304"/>
          </a:xfrm>
        </p:spPr>
        <p:txBody>
          <a:bodyPr>
            <a:normAutofit/>
          </a:bodyPr>
          <a:lstStyle/>
          <a:p>
            <a:r>
              <a:rPr lang="en-US" sz="3200" dirty="0"/>
              <a:t>list out cranial nerves with one function</a:t>
            </a:r>
            <a:endParaRPr lang="en-IN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573C81-F3F8-5DE6-BB59-DD572231E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071217"/>
              </p:ext>
            </p:extLst>
          </p:nvPr>
        </p:nvGraphicFramePr>
        <p:xfrm>
          <a:off x="4958081" y="-27564"/>
          <a:ext cx="6898638" cy="6885564"/>
        </p:xfrm>
        <a:graphic>
          <a:graphicData uri="http://schemas.openxmlformats.org/drawingml/2006/table">
            <a:tbl>
              <a:tblPr/>
              <a:tblGrid>
                <a:gridCol w="2299546">
                  <a:extLst>
                    <a:ext uri="{9D8B030D-6E8A-4147-A177-3AD203B41FA5}">
                      <a16:colId xmlns:a16="http://schemas.microsoft.com/office/drawing/2014/main" val="1718435384"/>
                    </a:ext>
                  </a:extLst>
                </a:gridCol>
                <a:gridCol w="2299546">
                  <a:extLst>
                    <a:ext uri="{9D8B030D-6E8A-4147-A177-3AD203B41FA5}">
                      <a16:colId xmlns:a16="http://schemas.microsoft.com/office/drawing/2014/main" val="3892588819"/>
                    </a:ext>
                  </a:extLst>
                </a:gridCol>
                <a:gridCol w="2299546">
                  <a:extLst>
                    <a:ext uri="{9D8B030D-6E8A-4147-A177-3AD203B41FA5}">
                      <a16:colId xmlns:a16="http://schemas.microsoft.com/office/drawing/2014/main" val="2784517049"/>
                    </a:ext>
                  </a:extLst>
                </a:gridCol>
              </a:tblGrid>
              <a:tr h="404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Cranial Nerve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Name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One Key Function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479929"/>
                  </a:ext>
                </a:extLst>
              </a:tr>
              <a:tr h="231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Olfactory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Smell sensation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743283"/>
                  </a:ext>
                </a:extLst>
              </a:tr>
              <a:tr h="231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II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Optic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Vision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696400"/>
                  </a:ext>
                </a:extLst>
              </a:tr>
              <a:tr h="404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III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Oculomotor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Eye movements (most muscles)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354791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IV</a:t>
                      </a:r>
                      <a:endParaRPr lang="en-IN" sz="1600" dirty="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Trochlear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Movement of </a:t>
                      </a:r>
                      <a:r>
                        <a:rPr lang="en-US" sz="1600" b="1"/>
                        <a:t>superior oblique</a:t>
                      </a:r>
                      <a:r>
                        <a:rPr lang="en-US" sz="1600"/>
                        <a:t> muscle of eye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879425"/>
                  </a:ext>
                </a:extLst>
              </a:tr>
              <a:tr h="231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V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Trigeminal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Facial sensation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558451"/>
                  </a:ext>
                </a:extLst>
              </a:tr>
              <a:tr h="577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VI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Abducens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Lateral movement of eye (</a:t>
                      </a:r>
                      <a:r>
                        <a:rPr lang="en-US" sz="1600" b="1"/>
                        <a:t>lateral rectus</a:t>
                      </a:r>
                      <a:r>
                        <a:rPr lang="en-US" sz="1600"/>
                        <a:t>)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395330"/>
                  </a:ext>
                </a:extLst>
              </a:tr>
              <a:tr h="577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VII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Facial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Facial expression muscles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87268"/>
                  </a:ext>
                </a:extLst>
              </a:tr>
              <a:tr h="404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VIII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Vestibulocochlear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Hearing and balance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477619"/>
                  </a:ext>
                </a:extLst>
              </a:tr>
              <a:tr h="577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IX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Glossopharyngeal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Taste from </a:t>
                      </a:r>
                      <a:r>
                        <a:rPr lang="en-US" sz="1600" b="1"/>
                        <a:t>posterior 1/3</a:t>
                      </a:r>
                      <a:r>
                        <a:rPr lang="en-US" sz="1600"/>
                        <a:t> of tongue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003647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X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Vagus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Parasympathetic supply to thoracic/abdominal organs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315370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XI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Accessory (Spinal)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Shoulder elevation (</a:t>
                      </a:r>
                      <a:r>
                        <a:rPr lang="en-IN" sz="1600" b="1"/>
                        <a:t>trapezius muscle</a:t>
                      </a:r>
                      <a:r>
                        <a:rPr lang="en-IN" sz="1600"/>
                        <a:t>)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96734"/>
                  </a:ext>
                </a:extLst>
              </a:tr>
              <a:tr h="404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XII</a:t>
                      </a:r>
                      <a:endParaRPr lang="en-IN" sz="1600"/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Hypoglossal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Tongue movement</a:t>
                      </a:r>
                    </a:p>
                  </a:txBody>
                  <a:tcPr marL="48222" marR="48222" marT="24111" marB="241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185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498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5C68-458A-30B8-F155-7DF66B4D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CAC8-3295-E758-2505-3D1D05A77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Introduction</a:t>
            </a:r>
          </a:p>
          <a:p>
            <a:r>
              <a:rPr lang="en-US" dirty="0"/>
              <a:t>Part of </a:t>
            </a:r>
            <a:r>
              <a:rPr lang="en-US" b="1" dirty="0"/>
              <a:t>hindbrain</a:t>
            </a:r>
            <a:r>
              <a:rPr lang="en-US" dirty="0"/>
              <a:t>, located in </a:t>
            </a:r>
            <a:r>
              <a:rPr lang="en-US" b="1" dirty="0"/>
              <a:t>posterior cranial fossa</a:t>
            </a:r>
            <a:r>
              <a:rPr lang="en-US" dirty="0"/>
              <a:t>.</a:t>
            </a:r>
          </a:p>
          <a:p>
            <a:r>
              <a:rPr lang="en-US" dirty="0"/>
              <a:t>Lies </a:t>
            </a:r>
            <a:r>
              <a:rPr lang="en-US" b="1" dirty="0"/>
              <a:t>behind the pons and medulla</a:t>
            </a:r>
            <a:r>
              <a:rPr lang="en-US" dirty="0"/>
              <a:t>, separated from them by </a:t>
            </a:r>
            <a:r>
              <a:rPr lang="en-US" b="1" dirty="0"/>
              <a:t>4th ventricle</a:t>
            </a:r>
            <a:r>
              <a:rPr lang="en-US" dirty="0"/>
              <a:t>.</a:t>
            </a:r>
          </a:p>
          <a:p>
            <a:r>
              <a:rPr lang="en-US" dirty="0"/>
              <a:t>Known as the </a:t>
            </a:r>
            <a:r>
              <a:rPr lang="en-US" b="1" dirty="0"/>
              <a:t>“Little Brain”</a:t>
            </a:r>
            <a:r>
              <a:rPr lang="en-US" dirty="0"/>
              <a:t>.</a:t>
            </a:r>
          </a:p>
          <a:p>
            <a:r>
              <a:rPr lang="en-US" dirty="0"/>
              <a:t>Main functions: </a:t>
            </a:r>
            <a:r>
              <a:rPr lang="en-US" b="1" dirty="0"/>
              <a:t>Coordination, balance, posture, muscle tone, and fine movements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431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56C1-5FA5-F2D7-3C8F-C2626739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8EEC-9D07-4637-7BDB-04BCFAD6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9B03D-FE3E-F7FD-41A5-CFF988C94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1366450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Parts of Cerebellum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🔹 Macroscopic Anatomy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Two hemispheres</a:t>
            </a:r>
            <a:r>
              <a:rPr lang="en-US" altLang="en-US" sz="1600" dirty="0">
                <a:latin typeface="Arial" panose="020B0604020202020204" pitchFamily="34" charset="0"/>
              </a:rPr>
              <a:t> – right &amp; left.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sz="1600" b="1" dirty="0">
                <a:latin typeface="Arial" panose="020B0604020202020204" pitchFamily="34" charset="0"/>
              </a:rPr>
              <a:t>Vermis</a:t>
            </a:r>
            <a:r>
              <a:rPr lang="en-US" altLang="en-US" sz="1600" dirty="0">
                <a:latin typeface="Arial" panose="020B0604020202020204" pitchFamily="34" charset="0"/>
              </a:rPr>
              <a:t> – midline connection.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sz="1600" b="1" dirty="0">
                <a:latin typeface="Arial" panose="020B0604020202020204" pitchFamily="34" charset="0"/>
              </a:rPr>
              <a:t>Lobes</a:t>
            </a:r>
            <a:r>
              <a:rPr lang="en-US" altLang="en-US" sz="1600" dirty="0">
                <a:latin typeface="Arial" panose="020B0604020202020204" pitchFamily="34" charset="0"/>
              </a:rPr>
              <a:t> (phylogenetic classification):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54880C-7871-9E6B-D580-BF2D8AD57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525994"/>
              </p:ext>
            </p:extLst>
          </p:nvPr>
        </p:nvGraphicFramePr>
        <p:xfrm>
          <a:off x="5118447" y="2349925"/>
          <a:ext cx="5949948" cy="3383280"/>
        </p:xfrm>
        <a:graphic>
          <a:graphicData uri="http://schemas.openxmlformats.org/drawingml/2006/table">
            <a:tbl>
              <a:tblPr/>
              <a:tblGrid>
                <a:gridCol w="1487487">
                  <a:extLst>
                    <a:ext uri="{9D8B030D-6E8A-4147-A177-3AD203B41FA5}">
                      <a16:colId xmlns:a16="http://schemas.microsoft.com/office/drawing/2014/main" val="3695890393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2540431449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3366998975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184076697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Part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Lobe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Phylogeny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24425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Flocculonodular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Archicerebellum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Balance &amp; eye movements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Oldest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8528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Anterior lobe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Paleocerebellum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Muscle tone, posture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494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Posterior lobe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Neocerebellum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Coordination of voluntary movements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Newest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88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951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8BB7B-E305-7A6C-7F2D-8795A414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CF97-D7EC-8130-DA32-F4544110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2C379-492C-F3DE-AC08-552071B31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233681"/>
            <a:ext cx="6281873" cy="2300910"/>
          </a:xfrm>
        </p:spPr>
        <p:txBody>
          <a:bodyPr>
            <a:normAutofit fontScale="77500" lnSpcReduction="20000"/>
          </a:bodyPr>
          <a:lstStyle/>
          <a:p>
            <a:r>
              <a:rPr lang="en-IN" sz="2300" b="1" dirty="0"/>
              <a:t>Cerebellar Nuclei (Deep Nuclei - Medial to Lateral)</a:t>
            </a:r>
          </a:p>
          <a:p>
            <a:r>
              <a:rPr lang="en-IN" sz="2300" b="1" dirty="0"/>
              <a:t>"Fast Globes Eat Dentists"</a:t>
            </a:r>
            <a:r>
              <a:rPr lang="en-IN" sz="2300" dirty="0"/>
              <a:t> →</a:t>
            </a:r>
            <a:br>
              <a:rPr lang="en-IN" sz="2300" dirty="0"/>
            </a:br>
            <a:r>
              <a:rPr lang="en-IN" sz="2300" dirty="0"/>
              <a:t>➡ </a:t>
            </a:r>
            <a:r>
              <a:rPr lang="en-IN" sz="2300" b="1" dirty="0"/>
              <a:t>Fastigial</a:t>
            </a:r>
            <a:r>
              <a:rPr lang="en-IN" sz="2300" dirty="0"/>
              <a:t>, </a:t>
            </a:r>
            <a:r>
              <a:rPr lang="en-IN" sz="2300" b="1" dirty="0"/>
              <a:t>Globose</a:t>
            </a:r>
            <a:r>
              <a:rPr lang="en-IN" sz="2300" dirty="0"/>
              <a:t>, </a:t>
            </a:r>
            <a:r>
              <a:rPr lang="en-IN" sz="2300" b="1" dirty="0"/>
              <a:t>Emboliform</a:t>
            </a:r>
            <a:r>
              <a:rPr lang="en-IN" sz="2300" dirty="0"/>
              <a:t>, </a:t>
            </a:r>
            <a:r>
              <a:rPr lang="en-IN" sz="2300" b="1" dirty="0"/>
              <a:t>Dentate</a:t>
            </a:r>
          </a:p>
          <a:p>
            <a:endParaRPr lang="en-IN" sz="2300" b="1" dirty="0"/>
          </a:p>
          <a:p>
            <a:r>
              <a:rPr lang="en-US" altLang="en-US" sz="2300" b="1" dirty="0">
                <a:latin typeface="Arial" panose="020B0604020202020204" pitchFamily="34" charset="0"/>
              </a:rPr>
              <a:t>Functional Divisions</a:t>
            </a:r>
            <a:endParaRPr lang="en-IN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05B270-C9AA-54E1-6A19-A92D6106B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405753"/>
              </p:ext>
            </p:extLst>
          </p:nvPr>
        </p:nvGraphicFramePr>
        <p:xfrm>
          <a:off x="5118447" y="2349925"/>
          <a:ext cx="1487487" cy="3383280"/>
        </p:xfrm>
        <a:graphic>
          <a:graphicData uri="http://schemas.openxmlformats.org/drawingml/2006/table">
            <a:tbl>
              <a:tblPr/>
              <a:tblGrid>
                <a:gridCol w="1487487">
                  <a:extLst>
                    <a:ext uri="{9D8B030D-6E8A-4147-A177-3AD203B41FA5}">
                      <a16:colId xmlns:a16="http://schemas.microsoft.com/office/drawing/2014/main" val="184076697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24425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8528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494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885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8554BA-6D63-305F-FFF4-BC0B11EE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596974"/>
              </p:ext>
            </p:extLst>
          </p:nvPr>
        </p:nvGraphicFramePr>
        <p:xfrm>
          <a:off x="5304320" y="2534591"/>
          <a:ext cx="5949951" cy="4206240"/>
        </p:xfrm>
        <a:graphic>
          <a:graphicData uri="http://schemas.openxmlformats.org/drawingml/2006/table">
            <a:tbl>
              <a:tblPr/>
              <a:tblGrid>
                <a:gridCol w="1983317">
                  <a:extLst>
                    <a:ext uri="{9D8B030D-6E8A-4147-A177-3AD203B41FA5}">
                      <a16:colId xmlns:a16="http://schemas.microsoft.com/office/drawing/2014/main" val="1921208027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2250939989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370839609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Division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Receives Input From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061408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Vestibulocerebellum</a:t>
                      </a:r>
                      <a:r>
                        <a:rPr lang="en-IN" sz="1800"/>
                        <a:t> (Flocculonodular)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Vestibular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Balance, eye movements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66350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Spinocerebellum</a:t>
                      </a:r>
                      <a:r>
                        <a:rPr lang="en-IN" sz="1800"/>
                        <a:t> (Vermis + Intermediate zone)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Spinal cord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Muscle tone, posture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73734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Cerebrocerebellum</a:t>
                      </a:r>
                      <a:r>
                        <a:rPr lang="en-IN" sz="1800"/>
                        <a:t> (Lateral hemispheres)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Cerebral cortex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Planning &amp; coordination of skilled movements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400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69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9E1A-8885-A17F-00FA-E2CF529B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6120-43BB-2FEF-E636-52AA62D4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9263A-8F80-A918-AD5E-1F1E1821C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233681"/>
            <a:ext cx="6281873" cy="23009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Arial" panose="020B0604020202020204" pitchFamily="34" charset="0"/>
              </a:rPr>
              <a:t>Connections (Peduncles)</a:t>
            </a:r>
          </a:p>
          <a:p>
            <a:endParaRPr lang="en-IN" sz="23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CC176D-0095-5AAA-2BAD-432E7E73AF11}"/>
              </a:ext>
            </a:extLst>
          </p:cNvPr>
          <p:cNvGraphicFramePr>
            <a:graphicFrameLocks noGrp="1"/>
          </p:cNvGraphicFramePr>
          <p:nvPr/>
        </p:nvGraphicFramePr>
        <p:xfrm>
          <a:off x="5118447" y="2349925"/>
          <a:ext cx="1487487" cy="3383280"/>
        </p:xfrm>
        <a:graphic>
          <a:graphicData uri="http://schemas.openxmlformats.org/drawingml/2006/table">
            <a:tbl>
              <a:tblPr/>
              <a:tblGrid>
                <a:gridCol w="1487487">
                  <a:extLst>
                    <a:ext uri="{9D8B030D-6E8A-4147-A177-3AD203B41FA5}">
                      <a16:colId xmlns:a16="http://schemas.microsoft.com/office/drawing/2014/main" val="184076697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24425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8528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494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885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7F3904-C6FE-B158-8F55-D856F744F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100147"/>
              </p:ext>
            </p:extLst>
          </p:nvPr>
        </p:nvGraphicFramePr>
        <p:xfrm>
          <a:off x="5040629" y="1541875"/>
          <a:ext cx="5949951" cy="3108960"/>
        </p:xfrm>
        <a:graphic>
          <a:graphicData uri="http://schemas.openxmlformats.org/drawingml/2006/table">
            <a:tbl>
              <a:tblPr/>
              <a:tblGrid>
                <a:gridCol w="1983317">
                  <a:extLst>
                    <a:ext uri="{9D8B030D-6E8A-4147-A177-3AD203B41FA5}">
                      <a16:colId xmlns:a16="http://schemas.microsoft.com/office/drawing/2014/main" val="1661387742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891745112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16643689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Cerebellar Peduncle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Type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Connections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8132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Superior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Mainly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To Red nucleus &amp; Thalamus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284807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Middle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From Pons (Corticopontocerebellar pathway)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19411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Inferior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Input +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From spinal cord &amp; brainstem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630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295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E0C5-D443-84F7-9075-2AFD93B6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04D0-EEEA-A40C-5443-3481FF6D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55AB0-AF8D-FA0F-3A05-1E572EFE4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2427691"/>
            <a:ext cx="6281873" cy="23009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/>
              <a:t>Functions of Cerebellum</a:t>
            </a:r>
          </a:p>
          <a:p>
            <a:r>
              <a:rPr lang="en-US" sz="2400" b="1" dirty="0"/>
              <a:t>Fine tuning and coordination</a:t>
            </a:r>
            <a:r>
              <a:rPr lang="en-US" sz="2400" dirty="0"/>
              <a:t> of voluntary movements.</a:t>
            </a:r>
          </a:p>
          <a:p>
            <a:r>
              <a:rPr lang="en-US" sz="2400" b="1" dirty="0"/>
              <a:t>Maintains equilibrium and posture</a:t>
            </a:r>
            <a:r>
              <a:rPr lang="en-US" sz="2400" dirty="0"/>
              <a:t>.</a:t>
            </a:r>
          </a:p>
          <a:p>
            <a:r>
              <a:rPr lang="en-US" sz="2400" b="1" dirty="0"/>
              <a:t>Controls muscle tone</a:t>
            </a:r>
            <a:r>
              <a:rPr lang="en-US" sz="2400" dirty="0"/>
              <a:t>.</a:t>
            </a:r>
          </a:p>
          <a:p>
            <a:r>
              <a:rPr lang="en-US" sz="2400" b="1" dirty="0"/>
              <a:t>Helps in motor learning</a:t>
            </a:r>
            <a:r>
              <a:rPr lang="en-US" sz="2400" dirty="0"/>
              <a:t> (e.g., cycling, writing).</a:t>
            </a:r>
          </a:p>
          <a:p>
            <a:r>
              <a:rPr lang="en-US" sz="2400" b="1" dirty="0"/>
              <a:t>Smoothens movements</a:t>
            </a:r>
            <a:r>
              <a:rPr lang="en-US" sz="2400" dirty="0"/>
              <a:t> → prevents jerky actions.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002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BFEE-C4E4-EE75-471F-3EB19175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049F-9A80-6A85-B5FC-0A99B176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E3BBF-4990-8D4B-F4F4-FBA6E5DE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233681"/>
            <a:ext cx="6281873" cy="230091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Arial" panose="020B0604020202020204" pitchFamily="34" charset="0"/>
              </a:rPr>
              <a:t>Applied Anatomy (Lesions of Cerebellum)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187740-B6AC-2123-92A7-13FD08F53B3C}"/>
              </a:ext>
            </a:extLst>
          </p:cNvPr>
          <p:cNvGraphicFramePr>
            <a:graphicFrameLocks noGrp="1"/>
          </p:cNvGraphicFramePr>
          <p:nvPr/>
        </p:nvGraphicFramePr>
        <p:xfrm>
          <a:off x="5118447" y="2349925"/>
          <a:ext cx="1487487" cy="3383280"/>
        </p:xfrm>
        <a:graphic>
          <a:graphicData uri="http://schemas.openxmlformats.org/drawingml/2006/table">
            <a:tbl>
              <a:tblPr/>
              <a:tblGrid>
                <a:gridCol w="1487487">
                  <a:extLst>
                    <a:ext uri="{9D8B030D-6E8A-4147-A177-3AD203B41FA5}">
                      <a16:colId xmlns:a16="http://schemas.microsoft.com/office/drawing/2014/main" val="184076697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24425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8528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494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885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3F1732-4521-967A-8D2F-A1D90E575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32548"/>
              </p:ext>
            </p:extLst>
          </p:nvPr>
        </p:nvGraphicFramePr>
        <p:xfrm>
          <a:off x="5527965" y="1945164"/>
          <a:ext cx="5949950" cy="4572000"/>
        </p:xfrm>
        <a:graphic>
          <a:graphicData uri="http://schemas.openxmlformats.org/drawingml/2006/table">
            <a:tbl>
              <a:tblPr/>
              <a:tblGrid>
                <a:gridCol w="2974975">
                  <a:extLst>
                    <a:ext uri="{9D8B030D-6E8A-4147-A177-3AD203B41FA5}">
                      <a16:colId xmlns:a16="http://schemas.microsoft.com/office/drawing/2014/main" val="2538100698"/>
                    </a:ext>
                  </a:extLst>
                </a:gridCol>
                <a:gridCol w="2974975">
                  <a:extLst>
                    <a:ext uri="{9D8B030D-6E8A-4147-A177-3AD203B41FA5}">
                      <a16:colId xmlns:a16="http://schemas.microsoft.com/office/drawing/2014/main" val="1286614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Sign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14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Ataxia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Uncoordinated movements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3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Dysdiadochokinesia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Inability to perform rapid alternate movements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236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Intention tremor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Tremor during movement (unlike Parkinson’s rest tremor)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114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Hypotonia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Decreased muscle tone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541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Nystagmus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Involuntary eye movements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337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Dysmetria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Past-pointing (overshooting a target)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Rebound phenomenon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Loss of check reflex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947733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C0F6229-E52A-D75A-6525-C804DE2CC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089839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52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29CB-26BB-BF81-6147-D48DDA57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blood supply and circle of </a:t>
            </a:r>
            <a:r>
              <a:rPr lang="en-US" dirty="0" err="1"/>
              <a:t>willis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6291C-D861-AFB2-D276-9E604DAB8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1" y="76201"/>
            <a:ext cx="7358742" cy="665117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Main Arterial Supply of the Brain</a:t>
            </a:r>
          </a:p>
          <a:p>
            <a:r>
              <a:rPr lang="en-US" dirty="0"/>
              <a:t>The brain receives blood mainly from </a:t>
            </a:r>
            <a:r>
              <a:rPr lang="en-US" b="1" dirty="0"/>
              <a:t>two paired arteries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A. Internal Carotid Arteries (ICA)</a:t>
            </a:r>
          </a:p>
          <a:p>
            <a:r>
              <a:rPr lang="en-US" dirty="0"/>
              <a:t>Arise from the </a:t>
            </a:r>
            <a:r>
              <a:rPr lang="en-US" b="1" dirty="0"/>
              <a:t>common carotid arteries</a:t>
            </a:r>
            <a:r>
              <a:rPr lang="en-US" dirty="0"/>
              <a:t>.</a:t>
            </a:r>
          </a:p>
          <a:p>
            <a:r>
              <a:rPr lang="en-US" dirty="0"/>
              <a:t>Enter the cranial cavity through the </a:t>
            </a:r>
            <a:r>
              <a:rPr lang="en-US" b="1" dirty="0"/>
              <a:t>carotid canal</a:t>
            </a:r>
            <a:r>
              <a:rPr lang="en-US" dirty="0"/>
              <a:t>.</a:t>
            </a:r>
          </a:p>
          <a:p>
            <a:r>
              <a:rPr lang="en-US" dirty="0"/>
              <a:t>Supply the </a:t>
            </a:r>
            <a:r>
              <a:rPr lang="en-US" b="1" dirty="0"/>
              <a:t>anterior</a:t>
            </a:r>
            <a:r>
              <a:rPr lang="en-US" dirty="0"/>
              <a:t> and </a:t>
            </a:r>
            <a:r>
              <a:rPr lang="en-US" b="1" dirty="0"/>
              <a:t>middle</a:t>
            </a:r>
            <a:r>
              <a:rPr lang="en-US" dirty="0"/>
              <a:t> portions of the brain.</a:t>
            </a:r>
          </a:p>
          <a:p>
            <a:r>
              <a:rPr lang="en-US" dirty="0"/>
              <a:t>Major branches inside the cranial cavity:</a:t>
            </a:r>
          </a:p>
          <a:p>
            <a:pPr lvl="1"/>
            <a:r>
              <a:rPr lang="en-US" b="1" dirty="0"/>
              <a:t>Ophthalmic artery</a:t>
            </a:r>
            <a:r>
              <a:rPr lang="en-US" dirty="0"/>
              <a:t> – to the eye and orbit.</a:t>
            </a:r>
          </a:p>
          <a:p>
            <a:pPr lvl="1"/>
            <a:r>
              <a:rPr lang="en-US" b="1" dirty="0"/>
              <a:t>Anterior cerebral artery (ACA)</a:t>
            </a:r>
            <a:r>
              <a:rPr lang="en-US" dirty="0"/>
              <a:t> – medial surface of frontal and parietal lobes.</a:t>
            </a:r>
          </a:p>
          <a:p>
            <a:pPr lvl="1"/>
            <a:r>
              <a:rPr lang="en-US" b="1" dirty="0"/>
              <a:t>Middle cerebral artery (MCA)</a:t>
            </a:r>
            <a:r>
              <a:rPr lang="en-US" dirty="0"/>
              <a:t> – lateral convexity of cerebral hemispheres.</a:t>
            </a:r>
          </a:p>
          <a:p>
            <a:pPr marL="0" indent="0">
              <a:buNone/>
            </a:pPr>
            <a:r>
              <a:rPr lang="en-US" b="1" dirty="0"/>
              <a:t>B. Vertebral Arteries</a:t>
            </a:r>
          </a:p>
          <a:p>
            <a:r>
              <a:rPr lang="en-US" dirty="0"/>
              <a:t>Arise from the </a:t>
            </a:r>
            <a:r>
              <a:rPr lang="en-US" b="1" dirty="0"/>
              <a:t>subclavian arteries</a:t>
            </a:r>
            <a:r>
              <a:rPr lang="en-US" dirty="0"/>
              <a:t>.</a:t>
            </a:r>
          </a:p>
          <a:p>
            <a:r>
              <a:rPr lang="en-US" dirty="0"/>
              <a:t>Ascend through </a:t>
            </a:r>
            <a:r>
              <a:rPr lang="en-US" b="1" dirty="0"/>
              <a:t>transverse foramina of cervical vertebrae</a:t>
            </a:r>
            <a:r>
              <a:rPr lang="en-US" dirty="0"/>
              <a:t>.</a:t>
            </a:r>
          </a:p>
          <a:p>
            <a:r>
              <a:rPr lang="en-US" dirty="0"/>
              <a:t>Enter the cranial cavity via </a:t>
            </a:r>
            <a:r>
              <a:rPr lang="en-US" b="1" dirty="0"/>
              <a:t>foramen magnum</a:t>
            </a:r>
            <a:r>
              <a:rPr lang="en-US" dirty="0"/>
              <a:t>.</a:t>
            </a:r>
          </a:p>
          <a:p>
            <a:r>
              <a:rPr lang="en-US" dirty="0"/>
              <a:t>Join to form the </a:t>
            </a:r>
            <a:r>
              <a:rPr lang="en-US" b="1" dirty="0"/>
              <a:t>basilar artery</a:t>
            </a:r>
            <a:r>
              <a:rPr lang="en-US" dirty="0"/>
              <a:t>.</a:t>
            </a:r>
          </a:p>
          <a:p>
            <a:r>
              <a:rPr lang="en-US" dirty="0"/>
              <a:t>Supply the </a:t>
            </a:r>
            <a:r>
              <a:rPr lang="en-US" b="1" dirty="0"/>
              <a:t>posterior</a:t>
            </a:r>
            <a:r>
              <a:rPr lang="en-US" dirty="0"/>
              <a:t> parts of the brain: brainstem, cerebellum, occipital lobes.</a:t>
            </a:r>
          </a:p>
          <a:p>
            <a:r>
              <a:rPr lang="en-US" dirty="0"/>
              <a:t>Major branches:</a:t>
            </a:r>
          </a:p>
          <a:p>
            <a:pPr lvl="1"/>
            <a:r>
              <a:rPr lang="en-US" b="1" dirty="0"/>
              <a:t>Posterior inferior cerebellar artery (PICA)</a:t>
            </a:r>
            <a:endParaRPr lang="en-US" dirty="0"/>
          </a:p>
          <a:p>
            <a:pPr lvl="1"/>
            <a:r>
              <a:rPr lang="en-US" b="1" dirty="0"/>
              <a:t>Anterior spinal artery</a:t>
            </a:r>
            <a:endParaRPr lang="en-US" dirty="0"/>
          </a:p>
          <a:p>
            <a:pPr lvl="1"/>
            <a:r>
              <a:rPr lang="en-US" b="1" dirty="0"/>
              <a:t>Basilar artery</a:t>
            </a:r>
            <a:r>
              <a:rPr lang="en-US" dirty="0"/>
              <a:t> branches: superior cerebellar artery, pontine arteries, posterior cerebral artery (PCA)</a:t>
            </a:r>
          </a:p>
        </p:txBody>
      </p:sp>
    </p:spTree>
    <p:extLst>
      <p:ext uri="{BB962C8B-B14F-4D97-AF65-F5344CB8AC3E}">
        <p14:creationId xmlns:p14="http://schemas.microsoft.com/office/powerpoint/2010/main" val="4052879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BC5D-9332-25C9-A143-85E3245A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834C-E0EC-36ED-4E34-21F982DC4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blood supply and circle of </a:t>
            </a:r>
            <a:r>
              <a:rPr lang="en-US" dirty="0" err="1"/>
              <a:t>willis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EA994-904B-6CFA-63E8-CBCE97F20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1" y="76201"/>
            <a:ext cx="7358742" cy="6651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Circle of Willis (Cerebral arterial circle)</a:t>
            </a:r>
          </a:p>
          <a:p>
            <a:r>
              <a:rPr lang="en-US" dirty="0"/>
              <a:t>The </a:t>
            </a:r>
            <a:r>
              <a:rPr lang="en-US" b="1" dirty="0"/>
              <a:t>Circle of Willis</a:t>
            </a:r>
            <a:r>
              <a:rPr lang="en-US" dirty="0"/>
              <a:t> is a </a:t>
            </a:r>
            <a:r>
              <a:rPr lang="en-US" b="1" dirty="0"/>
              <a:t>ring of interconnected arteries</a:t>
            </a:r>
            <a:r>
              <a:rPr lang="en-US" dirty="0"/>
              <a:t> at the base of the brain.</a:t>
            </a:r>
            <a:br>
              <a:rPr lang="en-US" dirty="0"/>
            </a:br>
            <a:r>
              <a:rPr lang="en-US" b="1" dirty="0"/>
              <a:t>Function:</a:t>
            </a:r>
            <a:r>
              <a:rPr lang="en-US" dirty="0"/>
              <a:t> Provides collateral circulation in case of blockage of one of the major arteries.</a:t>
            </a:r>
          </a:p>
          <a:p>
            <a:pPr marL="0" indent="0">
              <a:buNone/>
            </a:pPr>
            <a:r>
              <a:rPr lang="en-US" b="1" dirty="0"/>
              <a:t>Components</a:t>
            </a:r>
          </a:p>
          <a:p>
            <a:r>
              <a:rPr lang="en-US" b="1" dirty="0"/>
              <a:t>Anterior cerebral arteries (ACAs)</a:t>
            </a:r>
            <a:r>
              <a:rPr lang="en-US" dirty="0"/>
              <a:t> – left &amp; right</a:t>
            </a:r>
          </a:p>
          <a:p>
            <a:r>
              <a:rPr lang="en-US" b="1" dirty="0"/>
              <a:t>Anterior communicating artery (</a:t>
            </a:r>
            <a:r>
              <a:rPr lang="en-US" b="1" dirty="0" err="1"/>
              <a:t>ACoA</a:t>
            </a:r>
            <a:r>
              <a:rPr lang="en-US" b="1" dirty="0"/>
              <a:t>)</a:t>
            </a:r>
            <a:r>
              <a:rPr lang="en-US" dirty="0"/>
              <a:t> – connects the ACAs</a:t>
            </a:r>
          </a:p>
          <a:p>
            <a:r>
              <a:rPr lang="en-US" b="1" dirty="0"/>
              <a:t>Internal carotid arteries (ICAs)</a:t>
            </a:r>
            <a:r>
              <a:rPr lang="en-US" dirty="0"/>
              <a:t> – left &amp; right, supply ACAs and middle cerebral arteries</a:t>
            </a:r>
          </a:p>
          <a:p>
            <a:r>
              <a:rPr lang="en-US" b="1" dirty="0"/>
              <a:t>Posterior cerebral arteries (PCAs)</a:t>
            </a:r>
            <a:r>
              <a:rPr lang="en-US" dirty="0"/>
              <a:t> – left &amp; right, from basilar artery</a:t>
            </a:r>
          </a:p>
          <a:p>
            <a:r>
              <a:rPr lang="en-US" b="1" dirty="0"/>
              <a:t>Posterior communicating arteries (</a:t>
            </a:r>
            <a:r>
              <a:rPr lang="en-US" b="1" dirty="0" err="1"/>
              <a:t>PCoAs</a:t>
            </a:r>
            <a:r>
              <a:rPr lang="en-US" b="1" dirty="0"/>
              <a:t>)</a:t>
            </a:r>
            <a:r>
              <a:rPr lang="en-US" dirty="0"/>
              <a:t> – connect ICAs to PCAs</a:t>
            </a:r>
          </a:p>
          <a:p>
            <a:pPr marL="0" indent="0">
              <a:buNone/>
            </a:pPr>
            <a:r>
              <a:rPr lang="en-US" b="1" dirty="0"/>
              <a:t>Shape:</a:t>
            </a:r>
            <a:r>
              <a:rPr lang="en-US" dirty="0"/>
              <a:t> Roughly circular; located around the </a:t>
            </a:r>
            <a:r>
              <a:rPr lang="en-US" b="1" dirty="0"/>
              <a:t>optic chiasm</a:t>
            </a:r>
            <a:r>
              <a:rPr lang="en-US" dirty="0"/>
              <a:t> and </a:t>
            </a:r>
            <a:r>
              <a:rPr lang="en-US" b="1" dirty="0"/>
              <a:t>pituitary stalk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5630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5FF5F-514B-D15E-08B9-472F3EF6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B427-8B57-6FB2-01D5-2EDB6E55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blood supply and circle of </a:t>
            </a:r>
            <a:r>
              <a:rPr lang="en-US" dirty="0" err="1"/>
              <a:t>willis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17FC3-0360-B123-0B1B-5D55B508E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258" y="613393"/>
            <a:ext cx="7358742" cy="805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latin typeface="Arial" panose="020B0604020202020204" pitchFamily="34" charset="0"/>
              </a:rPr>
              <a:t>Functional Distribution of Major Cerebral Arteries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505DE5-6B3B-8FBF-D7B8-E97C6FC62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787691"/>
              </p:ext>
            </p:extLst>
          </p:nvPr>
        </p:nvGraphicFramePr>
        <p:xfrm>
          <a:off x="5213340" y="1037154"/>
          <a:ext cx="5182104" cy="5598480"/>
        </p:xfrm>
        <a:graphic>
          <a:graphicData uri="http://schemas.openxmlformats.org/drawingml/2006/table">
            <a:tbl>
              <a:tblPr/>
              <a:tblGrid>
                <a:gridCol w="1727368">
                  <a:extLst>
                    <a:ext uri="{9D8B030D-6E8A-4147-A177-3AD203B41FA5}">
                      <a16:colId xmlns:a16="http://schemas.microsoft.com/office/drawing/2014/main" val="682763432"/>
                    </a:ext>
                  </a:extLst>
                </a:gridCol>
                <a:gridCol w="1727368">
                  <a:extLst>
                    <a:ext uri="{9D8B030D-6E8A-4147-A177-3AD203B41FA5}">
                      <a16:colId xmlns:a16="http://schemas.microsoft.com/office/drawing/2014/main" val="1054939125"/>
                    </a:ext>
                  </a:extLst>
                </a:gridCol>
                <a:gridCol w="1727368">
                  <a:extLst>
                    <a:ext uri="{9D8B030D-6E8A-4147-A177-3AD203B41FA5}">
                      <a16:colId xmlns:a16="http://schemas.microsoft.com/office/drawing/2014/main" val="2773800942"/>
                    </a:ext>
                  </a:extLst>
                </a:gridCol>
              </a:tblGrid>
              <a:tr h="557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Artery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Area Supplied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Clinical Significance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882247"/>
                  </a:ext>
                </a:extLst>
              </a:tr>
              <a:tr h="796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ACA</a:t>
                      </a:r>
                      <a:endParaRPr lang="en-IN" sz="1600" dirty="0"/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Medial frontal &amp; parietal lobes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Contralateral leg weakness/sensory loss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749256"/>
                  </a:ext>
                </a:extLst>
              </a:tr>
              <a:tr h="1274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MCA</a:t>
                      </a:r>
                      <a:endParaRPr lang="en-IN" sz="1600"/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Lateral cerebral hemispheres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Contralateral face &amp; arm weakness, aphasia if dominant side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25520"/>
                  </a:ext>
                </a:extLst>
              </a:tr>
              <a:tr h="796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PCA</a:t>
                      </a:r>
                      <a:endParaRPr lang="en-IN" sz="1600"/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Occipital lobe, inferior temporal lobe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Contralateral homonymous hemianopia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622708"/>
                  </a:ext>
                </a:extLst>
              </a:tr>
              <a:tr h="796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Basilar</a:t>
                      </a:r>
                      <a:endParaRPr lang="en-IN" sz="1600"/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Pons, cerebellum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Locked-in syndrome if blocked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620955"/>
                  </a:ext>
                </a:extLst>
              </a:tr>
              <a:tr h="1035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PICA</a:t>
                      </a:r>
                      <a:endParaRPr lang="en-IN" sz="1600"/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Inferior cerebellum, lateral medulla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Lateral medullary syndrome (Wallenberg)</a:t>
                      </a:r>
                    </a:p>
                  </a:txBody>
                  <a:tcPr marL="79640" marR="79640" marT="39820" marB="39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950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847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5BAD-49D9-9503-9D66-30C4CF92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5819-1F91-6BA1-38BE-C3CCAC38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blood supply and circle of </a:t>
            </a:r>
            <a:r>
              <a:rPr lang="en-US" dirty="0" err="1"/>
              <a:t>willis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E28C9-41AE-3756-706B-234907FC1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258" y="613392"/>
            <a:ext cx="6749142" cy="4328721"/>
          </a:xfrm>
        </p:spPr>
        <p:txBody>
          <a:bodyPr>
            <a:normAutofit/>
          </a:bodyPr>
          <a:lstStyle/>
          <a:p>
            <a:r>
              <a:rPr lang="en-IN" b="1" dirty="0"/>
              <a:t>Clinical Relevance</a:t>
            </a:r>
          </a:p>
          <a:p>
            <a:r>
              <a:rPr lang="en-IN" b="1" dirty="0"/>
              <a:t>Aneurysms</a:t>
            </a:r>
            <a:r>
              <a:rPr lang="en-IN" dirty="0"/>
              <a:t> often occur at arterial junctions, e.g., </a:t>
            </a:r>
            <a:r>
              <a:rPr lang="en-IN" b="1" dirty="0" err="1"/>
              <a:t>ACoA</a:t>
            </a:r>
            <a:r>
              <a:rPr lang="en-IN" dirty="0"/>
              <a:t>, </a:t>
            </a:r>
            <a:r>
              <a:rPr lang="en-IN" b="1" dirty="0" err="1"/>
              <a:t>PComA</a:t>
            </a:r>
            <a:r>
              <a:rPr lang="en-IN" dirty="0"/>
              <a:t>, </a:t>
            </a:r>
            <a:r>
              <a:rPr lang="en-IN" b="1" dirty="0"/>
              <a:t>MCA bifurcation</a:t>
            </a:r>
            <a:r>
              <a:rPr lang="en-IN" dirty="0"/>
              <a:t>.</a:t>
            </a:r>
          </a:p>
          <a:p>
            <a:r>
              <a:rPr lang="en-IN" b="1" dirty="0"/>
              <a:t>Ischemic strokes</a:t>
            </a:r>
            <a:r>
              <a:rPr lang="en-IN" dirty="0"/>
              <a:t> follow arterial territories.</a:t>
            </a:r>
          </a:p>
          <a:p>
            <a:r>
              <a:rPr lang="en-IN" b="1" dirty="0"/>
              <a:t>Collateral circulation via Circle of Willis</a:t>
            </a:r>
            <a:r>
              <a:rPr lang="en-IN" dirty="0"/>
              <a:t> can prevent total ischemia if one artery is blocked.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734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113E8-7A01-34ED-8618-2B6C8B1F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csf</a:t>
            </a:r>
            <a:r>
              <a:rPr lang="en-IN" dirty="0"/>
              <a:t> 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DE824-555A-E04D-08C5-81C37E1D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What is CSF?</a:t>
            </a:r>
          </a:p>
          <a:p>
            <a:r>
              <a:rPr lang="en-US" dirty="0"/>
              <a:t>Clear, colorless fluid surrounding the </a:t>
            </a:r>
            <a:r>
              <a:rPr lang="en-US" b="1" dirty="0"/>
              <a:t>brain and spinal cord</a:t>
            </a:r>
            <a:r>
              <a:rPr lang="en-US" dirty="0"/>
              <a:t>.</a:t>
            </a:r>
          </a:p>
          <a:p>
            <a:r>
              <a:rPr lang="en-US" dirty="0"/>
              <a:t>Functions:</a:t>
            </a:r>
          </a:p>
          <a:p>
            <a:pPr lvl="1"/>
            <a:r>
              <a:rPr lang="en-US" dirty="0"/>
              <a:t>Mechanical protection (cushioning)</a:t>
            </a:r>
          </a:p>
          <a:p>
            <a:pPr lvl="1"/>
            <a:r>
              <a:rPr lang="en-US" dirty="0"/>
              <a:t>Chemical stability</a:t>
            </a:r>
          </a:p>
          <a:p>
            <a:pPr lvl="1"/>
            <a:r>
              <a:rPr lang="en-US" dirty="0"/>
              <a:t>Waste removal</a:t>
            </a:r>
          </a:p>
          <a:p>
            <a:pPr lvl="1"/>
            <a:r>
              <a:rPr lang="en-US" dirty="0"/>
              <a:t>Buoyancy for the brain</a:t>
            </a:r>
          </a:p>
          <a:p>
            <a:r>
              <a:rPr lang="en-US" b="1" dirty="0"/>
              <a:t>Normal volume:</a:t>
            </a:r>
            <a:r>
              <a:rPr lang="en-US" dirty="0"/>
              <a:t> ~150 mL in adults</a:t>
            </a:r>
          </a:p>
          <a:p>
            <a:r>
              <a:rPr lang="en-US" b="1" dirty="0"/>
              <a:t>Production rate:</a:t>
            </a:r>
            <a:r>
              <a:rPr lang="en-US" dirty="0"/>
              <a:t> ~500 mL/day</a:t>
            </a:r>
          </a:p>
          <a:p>
            <a:r>
              <a:rPr lang="en-US" b="1" dirty="0"/>
              <a:t>Pressure:</a:t>
            </a:r>
            <a:r>
              <a:rPr lang="en-US" dirty="0"/>
              <a:t> ~10–18 mmHg in adults</a:t>
            </a:r>
          </a:p>
          <a:p>
            <a:pPr marL="0" indent="0">
              <a:buNone/>
            </a:pPr>
            <a:r>
              <a:rPr lang="en-US" b="1" dirty="0"/>
              <a:t>CSF Production</a:t>
            </a:r>
          </a:p>
          <a:p>
            <a:r>
              <a:rPr lang="en-US" dirty="0"/>
              <a:t>Produced mainly by the </a:t>
            </a:r>
            <a:r>
              <a:rPr lang="en-US" b="1" dirty="0"/>
              <a:t>choroid plexus</a:t>
            </a:r>
            <a:r>
              <a:rPr lang="en-US" dirty="0"/>
              <a:t> in the </a:t>
            </a:r>
            <a:r>
              <a:rPr lang="en-US" b="1" dirty="0"/>
              <a:t>ventricles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Lateral ventricles → third ventricle → fourth ventricle</a:t>
            </a:r>
          </a:p>
          <a:p>
            <a:r>
              <a:rPr lang="en-US" dirty="0"/>
              <a:t>Minor production: ependymal cells and brain interstitial fluid</a:t>
            </a:r>
          </a:p>
        </p:txBody>
      </p:sp>
    </p:spTree>
    <p:extLst>
      <p:ext uri="{BB962C8B-B14F-4D97-AF65-F5344CB8AC3E}">
        <p14:creationId xmlns:p14="http://schemas.microsoft.com/office/powerpoint/2010/main" val="348273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59CB5-24C2-1B7F-EB0C-E2D3C30C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F707-0984-EE47-F534-11C9BA896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csf</a:t>
            </a:r>
            <a:r>
              <a:rPr lang="en-IN" dirty="0"/>
              <a:t> 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A401-60D1-FE31-9D55-4FE573440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659" y="0"/>
            <a:ext cx="7462684" cy="6858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Pathway of CSF Circulation</a:t>
            </a:r>
          </a:p>
          <a:p>
            <a:pPr marL="0" indent="0">
              <a:buNone/>
            </a:pPr>
            <a:r>
              <a:rPr lang="en-IN" b="1" dirty="0"/>
              <a:t>Step 1: Lateral Ventricles</a:t>
            </a:r>
          </a:p>
          <a:p>
            <a:r>
              <a:rPr lang="en-IN" dirty="0"/>
              <a:t>CSF is produced in the </a:t>
            </a:r>
            <a:r>
              <a:rPr lang="en-IN" b="1" dirty="0"/>
              <a:t>choroid plexus</a:t>
            </a:r>
            <a:r>
              <a:rPr lang="en-IN" dirty="0"/>
              <a:t> of lateral ventricles (one in each hemisphere).</a:t>
            </a:r>
          </a:p>
          <a:p>
            <a:r>
              <a:rPr lang="en-IN" dirty="0"/>
              <a:t>Passes through the </a:t>
            </a:r>
            <a:r>
              <a:rPr lang="en-IN" b="1" dirty="0"/>
              <a:t>interventricular foramina (of Monro)</a:t>
            </a:r>
            <a:r>
              <a:rPr lang="en-IN" dirty="0"/>
              <a:t> to the third ventricle.</a:t>
            </a:r>
          </a:p>
          <a:p>
            <a:pPr marL="0" indent="0">
              <a:buNone/>
            </a:pPr>
            <a:r>
              <a:rPr lang="en-IN" b="1" dirty="0"/>
              <a:t>Step 2: Third Ventricle</a:t>
            </a:r>
          </a:p>
          <a:p>
            <a:r>
              <a:rPr lang="en-IN" dirty="0"/>
              <a:t>Narrow midline cavity.</a:t>
            </a:r>
          </a:p>
          <a:p>
            <a:r>
              <a:rPr lang="en-IN" dirty="0"/>
              <a:t>Contains </a:t>
            </a:r>
            <a:r>
              <a:rPr lang="en-IN" b="1" dirty="0"/>
              <a:t>choroid plexus</a:t>
            </a:r>
            <a:r>
              <a:rPr lang="en-IN" dirty="0"/>
              <a:t>.</a:t>
            </a:r>
          </a:p>
          <a:p>
            <a:r>
              <a:rPr lang="en-IN" dirty="0"/>
              <a:t>CSF flows through the </a:t>
            </a:r>
            <a:r>
              <a:rPr lang="en-IN" b="1" dirty="0"/>
              <a:t>cerebral aqueduct (of Sylvius)</a:t>
            </a:r>
            <a:r>
              <a:rPr lang="en-IN" dirty="0"/>
              <a:t> to the fourth ventricle.</a:t>
            </a:r>
          </a:p>
          <a:p>
            <a:pPr marL="0" indent="0">
              <a:buNone/>
            </a:pPr>
            <a:r>
              <a:rPr lang="en-IN" b="1" dirty="0"/>
              <a:t>Step 3: Fourth Ventricle</a:t>
            </a:r>
          </a:p>
          <a:p>
            <a:r>
              <a:rPr lang="en-IN" dirty="0"/>
              <a:t>Located between </a:t>
            </a:r>
            <a:r>
              <a:rPr lang="en-IN" b="1" dirty="0"/>
              <a:t>pons/medulla</a:t>
            </a:r>
            <a:r>
              <a:rPr lang="en-IN" dirty="0"/>
              <a:t> and </a:t>
            </a:r>
            <a:r>
              <a:rPr lang="en-IN" b="1" dirty="0"/>
              <a:t>cerebellum</a:t>
            </a:r>
            <a:r>
              <a:rPr lang="en-IN" dirty="0"/>
              <a:t>.</a:t>
            </a:r>
          </a:p>
          <a:p>
            <a:r>
              <a:rPr lang="en-IN" dirty="0"/>
              <a:t>CSF exits via:</a:t>
            </a:r>
          </a:p>
          <a:p>
            <a:pPr lvl="1"/>
            <a:r>
              <a:rPr lang="en-IN" b="1" dirty="0"/>
              <a:t>Median aperture (foramen of Magendie)</a:t>
            </a:r>
            <a:endParaRPr lang="en-IN" dirty="0"/>
          </a:p>
          <a:p>
            <a:pPr lvl="1"/>
            <a:r>
              <a:rPr lang="en-IN" b="1" dirty="0"/>
              <a:t>Lateral apertures (foramina of Luschka)</a:t>
            </a:r>
            <a:endParaRPr lang="en-IN" dirty="0"/>
          </a:p>
          <a:p>
            <a:r>
              <a:rPr lang="en-IN" dirty="0"/>
              <a:t>Enters the </a:t>
            </a:r>
            <a:r>
              <a:rPr lang="en-IN" b="1" dirty="0"/>
              <a:t>subarachnoid space</a:t>
            </a:r>
            <a:r>
              <a:rPr lang="en-IN" dirty="0"/>
              <a:t> surrounding the brain and spinal cord.</a:t>
            </a:r>
          </a:p>
          <a:p>
            <a:pPr marL="0" indent="0">
              <a:buNone/>
            </a:pPr>
            <a:r>
              <a:rPr lang="en-IN" b="1" dirty="0"/>
              <a:t>Step 4: Subarachnoid Space</a:t>
            </a:r>
          </a:p>
          <a:p>
            <a:r>
              <a:rPr lang="en-IN" dirty="0"/>
              <a:t>CSF flows around:</a:t>
            </a:r>
          </a:p>
          <a:p>
            <a:pPr lvl="1"/>
            <a:r>
              <a:rPr lang="en-IN" dirty="0"/>
              <a:t>Brain: in </a:t>
            </a:r>
            <a:r>
              <a:rPr lang="en-IN" b="1" dirty="0"/>
              <a:t>sulci and over convexities</a:t>
            </a:r>
            <a:endParaRPr lang="en-IN" dirty="0"/>
          </a:p>
          <a:p>
            <a:pPr lvl="1"/>
            <a:r>
              <a:rPr lang="en-IN" dirty="0"/>
              <a:t>Spinal cord: along dorsal and ventral surfaces</a:t>
            </a:r>
          </a:p>
          <a:p>
            <a:r>
              <a:rPr lang="en-IN" b="1" dirty="0"/>
              <a:t>Function:</a:t>
            </a:r>
            <a:r>
              <a:rPr lang="en-IN" dirty="0"/>
              <a:t> cushioning, nutrient transport</a:t>
            </a:r>
          </a:p>
          <a:p>
            <a:pPr marL="0" indent="0">
              <a:buNone/>
            </a:pPr>
            <a:r>
              <a:rPr lang="en-IN" b="1" dirty="0"/>
              <a:t>Step 5: Absorption</a:t>
            </a:r>
          </a:p>
          <a:p>
            <a:r>
              <a:rPr lang="en-IN" dirty="0"/>
              <a:t>CSF is absorbed by </a:t>
            </a:r>
            <a:r>
              <a:rPr lang="en-IN" b="1" dirty="0"/>
              <a:t>arachnoid granulations (villi)</a:t>
            </a:r>
            <a:r>
              <a:rPr lang="en-IN" dirty="0"/>
              <a:t> into </a:t>
            </a:r>
            <a:r>
              <a:rPr lang="en-IN" b="1" dirty="0"/>
              <a:t>superior sagittal sinus</a:t>
            </a:r>
            <a:r>
              <a:rPr lang="en-IN" dirty="0"/>
              <a:t> (venous blood).</a:t>
            </a:r>
          </a:p>
          <a:p>
            <a:r>
              <a:rPr lang="en-IN" dirty="0"/>
              <a:t>Ensures </a:t>
            </a:r>
            <a:r>
              <a:rPr lang="en-IN" b="1" dirty="0"/>
              <a:t>constant turnover.</a:t>
            </a:r>
          </a:p>
        </p:txBody>
      </p:sp>
    </p:spTree>
    <p:extLst>
      <p:ext uri="{BB962C8B-B14F-4D97-AF65-F5344CB8AC3E}">
        <p14:creationId xmlns:p14="http://schemas.microsoft.com/office/powerpoint/2010/main" val="2024110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60539-AEFD-DDD2-703A-1B64206D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D0D7-7FDD-569D-E72B-C155A2F9C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csf</a:t>
            </a:r>
            <a:r>
              <a:rPr lang="en-IN" dirty="0"/>
              <a:t> 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88A1-276F-70F8-3E75-4960A3ECD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659" y="0"/>
            <a:ext cx="7462684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CSF Circulation Summary Diagram (Text Version)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IN" dirty="0"/>
              <a:t>Lateral Ventricles</a:t>
            </a:r>
          </a:p>
          <a:p>
            <a:pPr marL="0" indent="0">
              <a:buNone/>
            </a:pPr>
            <a:r>
              <a:rPr lang="en-IN" dirty="0"/>
              <a:t>       ↓ (foramen of Monro)</a:t>
            </a:r>
          </a:p>
          <a:p>
            <a:pPr marL="0" indent="0">
              <a:buNone/>
            </a:pPr>
            <a:r>
              <a:rPr lang="en-IN" dirty="0"/>
              <a:t>  Third Ventricle</a:t>
            </a:r>
          </a:p>
          <a:p>
            <a:pPr marL="0" indent="0">
              <a:buNone/>
            </a:pPr>
            <a:r>
              <a:rPr lang="en-IN" dirty="0"/>
              <a:t>       ↓ (cerebral aqueduct)</a:t>
            </a:r>
          </a:p>
          <a:p>
            <a:pPr marL="0" indent="0">
              <a:buNone/>
            </a:pPr>
            <a:r>
              <a:rPr lang="en-IN" dirty="0"/>
              <a:t>  Fourth Ventricle</a:t>
            </a:r>
          </a:p>
          <a:p>
            <a:pPr marL="0" indent="0">
              <a:buNone/>
            </a:pPr>
            <a:r>
              <a:rPr lang="en-IN" dirty="0"/>
              <a:t>       ↓ (foramina of Luschka &amp; Magendie)</a:t>
            </a:r>
          </a:p>
          <a:p>
            <a:pPr marL="0" indent="0">
              <a:buNone/>
            </a:pPr>
            <a:r>
              <a:rPr lang="en-IN" dirty="0"/>
              <a:t>  Subarachnoid Space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 Arachnoid granulations → Superior sagittal sinus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746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4990-3957-BA21-0662-636C3B6CF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E711-7C9B-7E5A-57D5-25C1B81F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csf</a:t>
            </a:r>
            <a:r>
              <a:rPr lang="en-IN" dirty="0"/>
              <a:t> 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88981-903D-78ED-80AB-560013015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659" y="0"/>
            <a:ext cx="7462684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Clinical Relevance</a:t>
            </a:r>
          </a:p>
          <a:p>
            <a:r>
              <a:rPr lang="en-IN" b="1" dirty="0"/>
              <a:t>Hydrocephalus:</a:t>
            </a:r>
            <a:r>
              <a:rPr lang="en-IN" dirty="0"/>
              <a:t> Blockage in CSF flow (e.g., </a:t>
            </a:r>
            <a:r>
              <a:rPr lang="en-IN" dirty="0" err="1"/>
              <a:t>aqueductal</a:t>
            </a:r>
            <a:r>
              <a:rPr lang="en-IN" dirty="0"/>
              <a:t> stenosis) → enlarged ventricles</a:t>
            </a:r>
          </a:p>
          <a:p>
            <a:r>
              <a:rPr lang="en-IN" b="1" dirty="0"/>
              <a:t>Meningitis:</a:t>
            </a:r>
            <a:r>
              <a:rPr lang="en-IN" dirty="0"/>
              <a:t> Infection of subarachnoid space</a:t>
            </a:r>
          </a:p>
          <a:p>
            <a:r>
              <a:rPr lang="en-IN" b="1" dirty="0"/>
              <a:t>Lumbar puncture:</a:t>
            </a:r>
            <a:r>
              <a:rPr lang="en-IN" dirty="0"/>
              <a:t> Measures CSF pressure &amp; collects sample</a:t>
            </a:r>
          </a:p>
          <a:p>
            <a:r>
              <a:rPr lang="en-IN" b="1" dirty="0"/>
              <a:t>Intracranial pressure changes:</a:t>
            </a:r>
            <a:r>
              <a:rPr lang="en-IN" dirty="0"/>
              <a:t> </a:t>
            </a:r>
            <a:r>
              <a:rPr lang="en-IN" dirty="0" err="1"/>
              <a:t>Tumor</a:t>
            </a:r>
            <a:r>
              <a:rPr lang="en-IN" dirty="0"/>
              <a:t>, </a:t>
            </a:r>
            <a:r>
              <a:rPr lang="en-IN" dirty="0" err="1"/>
              <a:t>hemorrhage</a:t>
            </a:r>
            <a:r>
              <a:rPr lang="en-IN" dirty="0"/>
              <a:t>, </a:t>
            </a:r>
            <a:r>
              <a:rPr lang="en-IN" dirty="0" err="1"/>
              <a:t>edema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12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3815-F510-3C85-ACCE-EE9C3CAC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148D-C493-B373-60FE-B1F45399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ventricles of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FD45-9A88-1202-D02D-6541FFCDA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659" y="0"/>
            <a:ext cx="7462684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Ventricles are </a:t>
            </a:r>
            <a:r>
              <a:rPr lang="en-US" b="1" dirty="0"/>
              <a:t>cavities within the brain filled with cerebrospinal fluid (CSF)</a:t>
            </a:r>
            <a:r>
              <a:rPr lang="en-US" dirty="0"/>
              <a:t>.</a:t>
            </a:r>
          </a:p>
          <a:p>
            <a:r>
              <a:rPr lang="en-US" dirty="0"/>
              <a:t>They </a:t>
            </a:r>
            <a:r>
              <a:rPr lang="en-US" b="1" dirty="0"/>
              <a:t>produce, contain, and circulate CSF</a:t>
            </a:r>
            <a:r>
              <a:rPr lang="en-US" dirty="0"/>
              <a:t>.</a:t>
            </a:r>
          </a:p>
          <a:p>
            <a:r>
              <a:rPr lang="en-US" dirty="0"/>
              <a:t>There are </a:t>
            </a:r>
            <a:r>
              <a:rPr lang="en-US" b="1" dirty="0"/>
              <a:t>four ventricles</a:t>
            </a:r>
            <a:r>
              <a:rPr lang="en-US" dirty="0"/>
              <a:t>: two lateral, one third, and one fourth.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9484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372D6-5175-E725-D0C1-A771F6AA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3149-D7ED-C6A9-B8DF-82920A64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ventricles of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C44D1-39F0-F024-4EE2-9FF03C924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659" y="0"/>
            <a:ext cx="7462684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Types of Ventricles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Lateral Ventricles (Right &amp; Left)</a:t>
            </a:r>
          </a:p>
          <a:p>
            <a:r>
              <a:rPr lang="en-IN" b="1" dirty="0"/>
              <a:t>Location:</a:t>
            </a:r>
            <a:r>
              <a:rPr lang="en-IN" dirty="0"/>
              <a:t> One in each cerebral hemisphere.</a:t>
            </a:r>
          </a:p>
          <a:p>
            <a:r>
              <a:rPr lang="en-IN" b="1" dirty="0"/>
              <a:t>Shape:</a:t>
            </a:r>
            <a:r>
              <a:rPr lang="en-IN" dirty="0"/>
              <a:t> C-shaped, consisting of:</a:t>
            </a:r>
          </a:p>
          <a:p>
            <a:pPr lvl="1"/>
            <a:r>
              <a:rPr lang="en-IN" b="1" dirty="0"/>
              <a:t>Anterior (frontal) horn</a:t>
            </a:r>
            <a:r>
              <a:rPr lang="en-IN" dirty="0"/>
              <a:t> – in frontal lobe</a:t>
            </a:r>
          </a:p>
          <a:p>
            <a:pPr lvl="1"/>
            <a:r>
              <a:rPr lang="en-IN" b="1" dirty="0"/>
              <a:t>Body</a:t>
            </a:r>
            <a:r>
              <a:rPr lang="en-IN" dirty="0"/>
              <a:t> – in parietal lobe</a:t>
            </a:r>
          </a:p>
          <a:p>
            <a:pPr lvl="1"/>
            <a:r>
              <a:rPr lang="en-IN" b="1" dirty="0"/>
              <a:t>Posterior (occipital) horn</a:t>
            </a:r>
            <a:r>
              <a:rPr lang="en-IN" dirty="0"/>
              <a:t> – in occipital lobe</a:t>
            </a:r>
          </a:p>
          <a:p>
            <a:pPr lvl="1"/>
            <a:r>
              <a:rPr lang="en-IN" b="1" dirty="0"/>
              <a:t>Inferior (temporal) horn</a:t>
            </a:r>
            <a:r>
              <a:rPr lang="en-IN" dirty="0"/>
              <a:t> – in temporal lobe</a:t>
            </a:r>
          </a:p>
          <a:p>
            <a:r>
              <a:rPr lang="en-IN" b="1" dirty="0"/>
              <a:t>Connection:</a:t>
            </a:r>
            <a:r>
              <a:rPr lang="en-IN" dirty="0"/>
              <a:t> Opens into </a:t>
            </a:r>
            <a:r>
              <a:rPr lang="en-IN" b="1" dirty="0"/>
              <a:t>third ventricle</a:t>
            </a:r>
            <a:r>
              <a:rPr lang="en-IN" dirty="0"/>
              <a:t> via </a:t>
            </a:r>
            <a:r>
              <a:rPr lang="en-IN" b="1" dirty="0"/>
              <a:t>foramen of Monro</a:t>
            </a:r>
            <a:endParaRPr lang="en-IN" dirty="0"/>
          </a:p>
          <a:p>
            <a:r>
              <a:rPr lang="en-IN" b="1" dirty="0"/>
              <a:t>CSF production:</a:t>
            </a:r>
            <a:r>
              <a:rPr lang="en-IN" dirty="0"/>
              <a:t> Choroid plexus in lateral ventricles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6496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71D7-4D93-979A-71AF-3D9A5D2A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59B4C-E496-E1D4-0F7B-248EBCE2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ventricles of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73CFB-FA59-4F1B-6104-786A7DF82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659" y="0"/>
            <a:ext cx="7462684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Types of Ventricles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Third Ventricle</a:t>
            </a:r>
          </a:p>
          <a:p>
            <a:r>
              <a:rPr lang="en-IN" b="1" dirty="0"/>
              <a:t>Location:</a:t>
            </a:r>
            <a:r>
              <a:rPr lang="en-IN" dirty="0"/>
              <a:t> Midline, between </a:t>
            </a:r>
            <a:r>
              <a:rPr lang="en-IN" b="1" dirty="0"/>
              <a:t>two halves of the diencephalon</a:t>
            </a:r>
            <a:r>
              <a:rPr lang="en-IN" dirty="0"/>
              <a:t> (thalamus and hypothalamus).</a:t>
            </a:r>
          </a:p>
          <a:p>
            <a:r>
              <a:rPr lang="en-IN" b="1" dirty="0"/>
              <a:t>Shape:</a:t>
            </a:r>
            <a:r>
              <a:rPr lang="en-IN" dirty="0"/>
              <a:t> Narrow slit-like cavity.</a:t>
            </a:r>
          </a:p>
          <a:p>
            <a:r>
              <a:rPr lang="en-IN" b="1" dirty="0"/>
              <a:t>Connection:</a:t>
            </a:r>
            <a:endParaRPr lang="en-IN" dirty="0"/>
          </a:p>
          <a:p>
            <a:pPr lvl="1"/>
            <a:r>
              <a:rPr lang="en-IN" dirty="0"/>
              <a:t>Lateral ventricles → via </a:t>
            </a:r>
            <a:r>
              <a:rPr lang="en-IN" b="1" dirty="0"/>
              <a:t>foramina of Monro</a:t>
            </a:r>
            <a:endParaRPr lang="en-IN" dirty="0"/>
          </a:p>
          <a:p>
            <a:pPr lvl="1"/>
            <a:r>
              <a:rPr lang="en-IN" dirty="0"/>
              <a:t>Third ventricle → Fourth ventricle via </a:t>
            </a:r>
            <a:r>
              <a:rPr lang="en-IN" b="1" dirty="0"/>
              <a:t>cerebral aqueduct (of Sylvius)</a:t>
            </a:r>
            <a:endParaRPr lang="en-IN" dirty="0"/>
          </a:p>
          <a:p>
            <a:r>
              <a:rPr lang="en-IN" b="1" dirty="0"/>
              <a:t>CSF production:</a:t>
            </a:r>
            <a:r>
              <a:rPr lang="en-IN" dirty="0"/>
              <a:t> Choroid plexus in roof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736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336D7-D128-8E56-6985-597D19D3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6617-4349-F969-4264-65CE8CC6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ventricles of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586E-CC97-3A24-6E12-1237D6D47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659" y="0"/>
            <a:ext cx="7462684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Types of Ventricles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Fourth Ventricle</a:t>
            </a:r>
          </a:p>
          <a:p>
            <a:r>
              <a:rPr lang="en-IN" b="1" dirty="0"/>
              <a:t>Location:</a:t>
            </a:r>
            <a:r>
              <a:rPr lang="en-IN" dirty="0"/>
              <a:t> Posterior to </a:t>
            </a:r>
            <a:r>
              <a:rPr lang="en-IN" b="1" dirty="0"/>
              <a:t>pons and upper medulla</a:t>
            </a:r>
            <a:r>
              <a:rPr lang="en-IN" dirty="0"/>
              <a:t>, anterior to </a:t>
            </a:r>
            <a:r>
              <a:rPr lang="en-IN" b="1" dirty="0"/>
              <a:t>cerebellum</a:t>
            </a:r>
            <a:r>
              <a:rPr lang="en-IN" dirty="0"/>
              <a:t>.</a:t>
            </a:r>
          </a:p>
          <a:p>
            <a:r>
              <a:rPr lang="en-IN" b="1" dirty="0"/>
              <a:t>Shape:</a:t>
            </a:r>
            <a:r>
              <a:rPr lang="en-IN" dirty="0"/>
              <a:t> Diamond-shaped cavity.</a:t>
            </a:r>
          </a:p>
          <a:p>
            <a:r>
              <a:rPr lang="en-IN" b="1" dirty="0"/>
              <a:t>Connection:</a:t>
            </a:r>
            <a:endParaRPr lang="en-IN" dirty="0"/>
          </a:p>
          <a:p>
            <a:pPr lvl="1"/>
            <a:r>
              <a:rPr lang="en-IN" dirty="0"/>
              <a:t>Third ventricle → via </a:t>
            </a:r>
            <a:r>
              <a:rPr lang="en-IN" b="1" dirty="0"/>
              <a:t>cerebral aqueduct</a:t>
            </a:r>
            <a:endParaRPr lang="en-IN" dirty="0"/>
          </a:p>
          <a:p>
            <a:pPr lvl="1"/>
            <a:r>
              <a:rPr lang="en-IN" dirty="0"/>
              <a:t>Exits to </a:t>
            </a:r>
            <a:r>
              <a:rPr lang="en-IN" b="1" dirty="0"/>
              <a:t>subarachnoid space</a:t>
            </a:r>
            <a:r>
              <a:rPr lang="en-IN" dirty="0"/>
              <a:t> via:</a:t>
            </a:r>
          </a:p>
          <a:p>
            <a:pPr lvl="2"/>
            <a:r>
              <a:rPr lang="en-IN" b="1" dirty="0"/>
              <a:t>Median aperture (foramen of Magendie)</a:t>
            </a:r>
            <a:endParaRPr lang="en-IN" dirty="0"/>
          </a:p>
          <a:p>
            <a:pPr lvl="2"/>
            <a:r>
              <a:rPr lang="en-IN" b="1" dirty="0"/>
              <a:t>Lateral apertures (foramina of Luschka)</a:t>
            </a:r>
            <a:endParaRPr lang="en-IN" dirty="0"/>
          </a:p>
          <a:p>
            <a:r>
              <a:rPr lang="en-IN" b="1" dirty="0"/>
              <a:t>CSF production:</a:t>
            </a:r>
            <a:r>
              <a:rPr lang="en-IN" dirty="0"/>
              <a:t> Choroid plexus in floor and roof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274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B7CDF-FFB4-8D7E-44C8-E73A5F0A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A14C-D958-6B54-9F10-0F130FE8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ventricles of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5349F-0942-7102-2D89-73A1A7C31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511" y="603627"/>
            <a:ext cx="7462684" cy="907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latin typeface="Arial" panose="020B0604020202020204" pitchFamily="34" charset="0"/>
              </a:rPr>
              <a:t>Summary Table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C6603F-0E12-6876-7C4C-91749E862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238793"/>
              </p:ext>
            </p:extLst>
          </p:nvPr>
        </p:nvGraphicFramePr>
        <p:xfrm>
          <a:off x="4460571" y="1057394"/>
          <a:ext cx="7582308" cy="5120640"/>
        </p:xfrm>
        <a:graphic>
          <a:graphicData uri="http://schemas.openxmlformats.org/drawingml/2006/table">
            <a:tbl>
              <a:tblPr/>
              <a:tblGrid>
                <a:gridCol w="1895577">
                  <a:extLst>
                    <a:ext uri="{9D8B030D-6E8A-4147-A177-3AD203B41FA5}">
                      <a16:colId xmlns:a16="http://schemas.microsoft.com/office/drawing/2014/main" val="3322560858"/>
                    </a:ext>
                  </a:extLst>
                </a:gridCol>
                <a:gridCol w="1895577">
                  <a:extLst>
                    <a:ext uri="{9D8B030D-6E8A-4147-A177-3AD203B41FA5}">
                      <a16:colId xmlns:a16="http://schemas.microsoft.com/office/drawing/2014/main" val="1793402405"/>
                    </a:ext>
                  </a:extLst>
                </a:gridCol>
                <a:gridCol w="1895577">
                  <a:extLst>
                    <a:ext uri="{9D8B030D-6E8A-4147-A177-3AD203B41FA5}">
                      <a16:colId xmlns:a16="http://schemas.microsoft.com/office/drawing/2014/main" val="835622633"/>
                    </a:ext>
                  </a:extLst>
                </a:gridCol>
                <a:gridCol w="1895577">
                  <a:extLst>
                    <a:ext uri="{9D8B030D-6E8A-4147-A177-3AD203B41FA5}">
                      <a16:colId xmlns:a16="http://schemas.microsoft.com/office/drawing/2014/main" val="103773556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Ventricle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CSF Production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5289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Lateral ventricles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Cerebral hemispheres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Third ventricle via foramen of Monro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Choroid plexus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674847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Third ventricle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Diencephalon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Lateral ventricles &amp; fourth ventricle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Choroid plexus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38606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Fourth ventricle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Between pons/medulla &amp; cerebellum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Third ventricle &amp; subarachnoid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Choroid plexus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47845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Cerebral aqueduct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Midbrain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Third ↔ Fourth ventricle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54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409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E1F6-12DB-C38F-39A0-B2A5D46B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248A-09E9-626C-46DF-08F8825A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ventricles of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F754B-4D31-38A0-13D3-2ACFA7FB3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511" y="603627"/>
            <a:ext cx="6962876" cy="4695960"/>
          </a:xfrm>
        </p:spPr>
        <p:txBody>
          <a:bodyPr>
            <a:normAutofit/>
          </a:bodyPr>
          <a:lstStyle/>
          <a:p>
            <a:r>
              <a:rPr lang="en-IN" b="1" dirty="0"/>
              <a:t>Clinical Relevance</a:t>
            </a:r>
          </a:p>
          <a:p>
            <a:r>
              <a:rPr lang="en-IN" b="1" dirty="0"/>
              <a:t>Hydrocephalus:</a:t>
            </a:r>
            <a:r>
              <a:rPr lang="en-IN" dirty="0"/>
              <a:t> Blockage in ventricular system (e.g., </a:t>
            </a:r>
            <a:r>
              <a:rPr lang="en-IN" dirty="0" err="1"/>
              <a:t>aqueductal</a:t>
            </a:r>
            <a:r>
              <a:rPr lang="en-IN" dirty="0"/>
              <a:t> stenosis) → enlarged ventricles</a:t>
            </a:r>
          </a:p>
          <a:p>
            <a:r>
              <a:rPr lang="en-IN" b="1" dirty="0"/>
              <a:t>Ventriculitis:</a:t>
            </a:r>
            <a:r>
              <a:rPr lang="en-IN" dirty="0"/>
              <a:t> Infection of ventricular system</a:t>
            </a:r>
          </a:p>
          <a:p>
            <a:r>
              <a:rPr lang="en-IN" b="1" dirty="0" err="1"/>
              <a:t>Tumors</a:t>
            </a:r>
            <a:r>
              <a:rPr lang="en-IN" b="1" dirty="0"/>
              <a:t>:</a:t>
            </a:r>
            <a:r>
              <a:rPr lang="en-IN" dirty="0"/>
              <a:t> Choroid plexus papilloma → excessive CSF production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E6BC95-560C-7164-3281-E01167C33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550390"/>
              </p:ext>
            </p:extLst>
          </p:nvPr>
        </p:nvGraphicFramePr>
        <p:xfrm>
          <a:off x="4460571" y="1057394"/>
          <a:ext cx="7582308" cy="5120640"/>
        </p:xfrm>
        <a:graphic>
          <a:graphicData uri="http://schemas.openxmlformats.org/drawingml/2006/table">
            <a:tbl>
              <a:tblPr/>
              <a:tblGrid>
                <a:gridCol w="1895577">
                  <a:extLst>
                    <a:ext uri="{9D8B030D-6E8A-4147-A177-3AD203B41FA5}">
                      <a16:colId xmlns:a16="http://schemas.microsoft.com/office/drawing/2014/main" val="3322560858"/>
                    </a:ext>
                  </a:extLst>
                </a:gridCol>
                <a:gridCol w="1895577">
                  <a:extLst>
                    <a:ext uri="{9D8B030D-6E8A-4147-A177-3AD203B41FA5}">
                      <a16:colId xmlns:a16="http://schemas.microsoft.com/office/drawing/2014/main" val="1793402405"/>
                    </a:ext>
                  </a:extLst>
                </a:gridCol>
                <a:gridCol w="1895577">
                  <a:extLst>
                    <a:ext uri="{9D8B030D-6E8A-4147-A177-3AD203B41FA5}">
                      <a16:colId xmlns:a16="http://schemas.microsoft.com/office/drawing/2014/main" val="835622633"/>
                    </a:ext>
                  </a:extLst>
                </a:gridCol>
                <a:gridCol w="1895577">
                  <a:extLst>
                    <a:ext uri="{9D8B030D-6E8A-4147-A177-3AD203B41FA5}">
                      <a16:colId xmlns:a16="http://schemas.microsoft.com/office/drawing/2014/main" val="103773556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5289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674847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38606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47845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54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848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FA979-C959-2CDD-1E9C-074E4DC0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eyeball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55FBC-BE69-0219-1A18-317619B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General Features</a:t>
            </a:r>
          </a:p>
          <a:p>
            <a:r>
              <a:rPr lang="en-US" b="1" dirty="0"/>
              <a:t>Shape:</a:t>
            </a:r>
            <a:r>
              <a:rPr lang="en-US" dirty="0"/>
              <a:t> Spherical (approximately 24 mm in diameter)</a:t>
            </a:r>
          </a:p>
          <a:p>
            <a:r>
              <a:rPr lang="en-US" b="1" dirty="0"/>
              <a:t>Location:</a:t>
            </a:r>
            <a:r>
              <a:rPr lang="en-US" dirty="0"/>
              <a:t> In the </a:t>
            </a:r>
            <a:r>
              <a:rPr lang="en-US" b="1" dirty="0"/>
              <a:t>orbit</a:t>
            </a:r>
            <a:r>
              <a:rPr lang="en-US" dirty="0"/>
              <a:t>, surrounded by fat, muscles, nerves, and vessels</a:t>
            </a:r>
          </a:p>
          <a:p>
            <a:r>
              <a:rPr lang="en-US" b="1" dirty="0"/>
              <a:t>Function:</a:t>
            </a:r>
            <a:r>
              <a:rPr lang="en-US" dirty="0"/>
              <a:t> Focuses light on the retina to produce vision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514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8E332-1F37-466D-B0CE-4DB2B6C4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C383-230E-2DE2-86F6-3C2B10A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eyeball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596D7-D93B-10D1-C104-43400EDC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323" y="98324"/>
            <a:ext cx="7413521" cy="637130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3000" b="1" dirty="0"/>
              <a:t>2. Layers of the Eyeball (Tunics)</a:t>
            </a:r>
          </a:p>
          <a:p>
            <a:pPr marL="0" indent="0">
              <a:buNone/>
            </a:pPr>
            <a:r>
              <a:rPr lang="en-IN" sz="3000" b="1" dirty="0"/>
              <a:t>A. Fibrous Tunic (Outer Layer)</a:t>
            </a:r>
          </a:p>
          <a:p>
            <a:r>
              <a:rPr lang="en-IN" sz="3000" b="1" dirty="0"/>
              <a:t>Sclera</a:t>
            </a:r>
            <a:endParaRPr lang="en-IN" sz="3000" dirty="0"/>
          </a:p>
          <a:p>
            <a:pPr lvl="1"/>
            <a:r>
              <a:rPr lang="en-IN" sz="3000" dirty="0"/>
              <a:t>White, tough, fibrous tissue</a:t>
            </a:r>
          </a:p>
          <a:p>
            <a:pPr lvl="1"/>
            <a:r>
              <a:rPr lang="en-IN" sz="3000" dirty="0"/>
              <a:t>Covers </a:t>
            </a:r>
            <a:r>
              <a:rPr lang="en-IN" sz="3000" b="1" dirty="0"/>
              <a:t>posterior 5/6 of the eyeball</a:t>
            </a:r>
            <a:endParaRPr lang="en-IN" sz="3000" dirty="0"/>
          </a:p>
          <a:p>
            <a:pPr lvl="1"/>
            <a:r>
              <a:rPr lang="en-IN" sz="3000" dirty="0"/>
              <a:t>Functions: maintains shape, protects internal structures</a:t>
            </a:r>
          </a:p>
          <a:p>
            <a:r>
              <a:rPr lang="en-IN" sz="3000" b="1" dirty="0"/>
              <a:t>Cornea</a:t>
            </a:r>
            <a:endParaRPr lang="en-IN" sz="3000" dirty="0"/>
          </a:p>
          <a:p>
            <a:pPr lvl="1"/>
            <a:r>
              <a:rPr lang="en-IN" sz="3000" dirty="0"/>
              <a:t>Transparent anterior portion</a:t>
            </a:r>
          </a:p>
          <a:p>
            <a:pPr lvl="1"/>
            <a:r>
              <a:rPr lang="en-IN" sz="3000" dirty="0"/>
              <a:t>Covers </a:t>
            </a:r>
            <a:r>
              <a:rPr lang="en-IN" sz="3000" b="1" dirty="0"/>
              <a:t>anterior 1/6</a:t>
            </a:r>
            <a:endParaRPr lang="en-IN" sz="3000" dirty="0"/>
          </a:p>
          <a:p>
            <a:pPr lvl="1"/>
            <a:r>
              <a:rPr lang="en-IN" sz="3000" dirty="0"/>
              <a:t>Functions: refracts light, avascular (receives nutrients from aqueous </a:t>
            </a:r>
            <a:r>
              <a:rPr lang="en-IN" sz="3000" dirty="0" err="1"/>
              <a:t>humor</a:t>
            </a:r>
            <a:r>
              <a:rPr lang="en-IN" sz="3000" dirty="0"/>
              <a:t> and limbal capillaries)</a:t>
            </a:r>
          </a:p>
          <a:p>
            <a:pPr marL="0" indent="0">
              <a:buNone/>
            </a:pPr>
            <a:r>
              <a:rPr lang="en-IN" sz="3000" b="1" dirty="0"/>
              <a:t>B. Vascular Tunic (Uvea / Middle Layer)</a:t>
            </a:r>
          </a:p>
          <a:p>
            <a:r>
              <a:rPr lang="en-IN" sz="3000" b="1" dirty="0"/>
              <a:t>Choroid</a:t>
            </a:r>
            <a:endParaRPr lang="en-IN" sz="3000" dirty="0"/>
          </a:p>
          <a:p>
            <a:pPr lvl="1"/>
            <a:r>
              <a:rPr lang="en-IN" sz="3000" dirty="0"/>
              <a:t>Vascular layer between sclera and retina</a:t>
            </a:r>
          </a:p>
          <a:p>
            <a:pPr lvl="1"/>
            <a:r>
              <a:rPr lang="en-IN" sz="3000" dirty="0"/>
              <a:t>Supplies blood to outer retina</a:t>
            </a:r>
          </a:p>
          <a:p>
            <a:r>
              <a:rPr lang="en-IN" sz="3000" b="1" dirty="0"/>
              <a:t>Ciliary Body</a:t>
            </a:r>
            <a:endParaRPr lang="en-IN" sz="3000" dirty="0"/>
          </a:p>
          <a:p>
            <a:pPr lvl="1"/>
            <a:r>
              <a:rPr lang="en-IN" sz="3000" dirty="0"/>
              <a:t>Produces </a:t>
            </a:r>
            <a:r>
              <a:rPr lang="en-IN" sz="3000" b="1" dirty="0"/>
              <a:t>aqueous </a:t>
            </a:r>
            <a:r>
              <a:rPr lang="en-IN" sz="3000" b="1" dirty="0" err="1"/>
              <a:t>humor</a:t>
            </a:r>
            <a:endParaRPr lang="en-IN" sz="3000" dirty="0"/>
          </a:p>
          <a:p>
            <a:pPr lvl="1"/>
            <a:r>
              <a:rPr lang="en-IN" sz="3000" dirty="0"/>
              <a:t>Contains </a:t>
            </a:r>
            <a:r>
              <a:rPr lang="en-IN" sz="3000" b="1" dirty="0"/>
              <a:t>ciliary muscle</a:t>
            </a:r>
            <a:r>
              <a:rPr lang="en-IN" sz="3000" dirty="0"/>
              <a:t> → controls lens shape (accommodation)</a:t>
            </a:r>
          </a:p>
          <a:p>
            <a:r>
              <a:rPr lang="en-IN" sz="3000" b="1" dirty="0"/>
              <a:t>Iris</a:t>
            </a:r>
            <a:endParaRPr lang="en-IN" sz="3000" dirty="0"/>
          </a:p>
          <a:p>
            <a:pPr lvl="1"/>
            <a:r>
              <a:rPr lang="en-IN" sz="3000" dirty="0" err="1"/>
              <a:t>Colored</a:t>
            </a:r>
            <a:r>
              <a:rPr lang="en-IN" sz="3000" dirty="0"/>
              <a:t> part of the eye</a:t>
            </a:r>
          </a:p>
          <a:p>
            <a:pPr lvl="1"/>
            <a:r>
              <a:rPr lang="en-IN" sz="3000" dirty="0"/>
              <a:t>Contains </a:t>
            </a:r>
            <a:r>
              <a:rPr lang="en-IN" sz="3000" b="1" dirty="0"/>
              <a:t>pupil</a:t>
            </a:r>
            <a:r>
              <a:rPr lang="en-IN" sz="3000" dirty="0"/>
              <a:t> → controls light entry</a:t>
            </a:r>
          </a:p>
          <a:p>
            <a:pPr lvl="1"/>
            <a:r>
              <a:rPr lang="en-IN" sz="3000" dirty="0"/>
              <a:t>Muscles:</a:t>
            </a:r>
          </a:p>
          <a:p>
            <a:pPr lvl="2"/>
            <a:r>
              <a:rPr lang="en-IN" sz="3000" b="1" dirty="0"/>
              <a:t>Sphincter pupillae</a:t>
            </a:r>
            <a:r>
              <a:rPr lang="en-IN" sz="3000" dirty="0"/>
              <a:t> → constriction</a:t>
            </a:r>
          </a:p>
          <a:p>
            <a:pPr lvl="2"/>
            <a:r>
              <a:rPr lang="en-IN" sz="3000" b="1" dirty="0"/>
              <a:t>Dilator pupillae</a:t>
            </a:r>
            <a:r>
              <a:rPr lang="en-IN" sz="3000" dirty="0"/>
              <a:t> → dilation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378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4253-CB69-B1C6-7F66-70BEA4FD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530C-17F7-5E9B-6E70-418A6BDF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eyeball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2CCCA-0704-6CF9-5DF3-7A5416D6A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995" y="1865672"/>
            <a:ext cx="7413521" cy="312665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3000" b="1" dirty="0"/>
              <a:t>2. Layers of the Eyeball (Tunics)</a:t>
            </a:r>
          </a:p>
          <a:p>
            <a:pPr marL="0" indent="0">
              <a:buNone/>
            </a:pPr>
            <a:r>
              <a:rPr lang="en-IN" sz="3000" b="1" dirty="0"/>
              <a:t>C.  Neural Tunic (Retina, Inner Layer)</a:t>
            </a:r>
          </a:p>
          <a:p>
            <a:r>
              <a:rPr lang="en-IN" sz="3000" b="1" dirty="0"/>
              <a:t>Retina</a:t>
            </a:r>
            <a:endParaRPr lang="en-IN" sz="3000" dirty="0"/>
          </a:p>
          <a:p>
            <a:pPr lvl="1"/>
            <a:r>
              <a:rPr lang="en-IN" sz="3000" dirty="0"/>
              <a:t>Sensory layer</a:t>
            </a:r>
          </a:p>
          <a:p>
            <a:pPr lvl="1"/>
            <a:r>
              <a:rPr lang="en-IN" sz="3000" dirty="0"/>
              <a:t>Contains </a:t>
            </a:r>
            <a:r>
              <a:rPr lang="en-IN" sz="3000" b="1" dirty="0"/>
              <a:t>photoreceptors</a:t>
            </a:r>
            <a:r>
              <a:rPr lang="en-IN" sz="3000" dirty="0"/>
              <a:t>:</a:t>
            </a:r>
          </a:p>
          <a:p>
            <a:pPr lvl="2"/>
            <a:r>
              <a:rPr lang="en-IN" sz="3000" dirty="0"/>
              <a:t>Rods → dim light, peripheral vision</a:t>
            </a:r>
          </a:p>
          <a:p>
            <a:pPr lvl="2"/>
            <a:r>
              <a:rPr lang="en-IN" sz="3000" dirty="0"/>
              <a:t>Cones → </a:t>
            </a:r>
            <a:r>
              <a:rPr lang="en-IN" sz="3000" dirty="0" err="1"/>
              <a:t>color</a:t>
            </a:r>
            <a:r>
              <a:rPr lang="en-IN" sz="3000" dirty="0"/>
              <a:t> vision, central vision</a:t>
            </a:r>
          </a:p>
          <a:p>
            <a:pPr lvl="1"/>
            <a:r>
              <a:rPr lang="en-IN" sz="3000" b="1" dirty="0"/>
              <a:t>Optic disc (blind spot)</a:t>
            </a:r>
            <a:r>
              <a:rPr lang="en-IN" sz="3000" dirty="0"/>
              <a:t>: origin of optic nerve, no photoreceptors</a:t>
            </a:r>
          </a:p>
          <a:p>
            <a:pPr lvl="1"/>
            <a:r>
              <a:rPr lang="en-IN" sz="3000" b="1" dirty="0"/>
              <a:t>Macula &amp; fovea</a:t>
            </a:r>
            <a:r>
              <a:rPr lang="en-IN" sz="3000" dirty="0"/>
              <a:t>: area of sharpest vision</a:t>
            </a:r>
          </a:p>
          <a:p>
            <a:r>
              <a:rPr lang="en-IN" sz="3000" b="1" dirty="0"/>
              <a:t>Pigmented layer</a:t>
            </a:r>
            <a:endParaRPr lang="en-IN" sz="3000" dirty="0"/>
          </a:p>
          <a:p>
            <a:pPr lvl="1"/>
            <a:r>
              <a:rPr lang="en-IN" sz="3000" dirty="0"/>
              <a:t>Absorbs stray light, supports photoreceptors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335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6B23-881C-0AD3-14DF-5BB6BBE5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C672-0FF7-B230-E131-7EA9AC98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eyeball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7310B-2CA2-40D8-8512-0BBE216B5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995" y="1865672"/>
            <a:ext cx="7413521" cy="3126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Internal Chambers &amp; Fluids</a:t>
            </a:r>
          </a:p>
          <a:p>
            <a:r>
              <a:rPr lang="en-IN" b="1" dirty="0"/>
              <a:t>Anterior chamber</a:t>
            </a:r>
            <a:r>
              <a:rPr lang="en-IN" dirty="0"/>
              <a:t> – between cornea and iris</a:t>
            </a:r>
          </a:p>
          <a:p>
            <a:pPr lvl="1"/>
            <a:r>
              <a:rPr lang="en-IN" dirty="0"/>
              <a:t>Filled with </a:t>
            </a:r>
            <a:r>
              <a:rPr lang="en-IN" b="1" dirty="0"/>
              <a:t>aqueous </a:t>
            </a:r>
            <a:r>
              <a:rPr lang="en-IN" b="1" dirty="0" err="1"/>
              <a:t>humor</a:t>
            </a:r>
            <a:endParaRPr lang="en-IN" dirty="0"/>
          </a:p>
          <a:p>
            <a:r>
              <a:rPr lang="en-IN" b="1" dirty="0"/>
              <a:t>Posterior chamber</a:t>
            </a:r>
            <a:r>
              <a:rPr lang="en-IN" dirty="0"/>
              <a:t> – between iris and lens</a:t>
            </a:r>
          </a:p>
          <a:p>
            <a:pPr lvl="1"/>
            <a:r>
              <a:rPr lang="en-IN" dirty="0"/>
              <a:t>Filled with </a:t>
            </a:r>
            <a:r>
              <a:rPr lang="en-IN" b="1" dirty="0"/>
              <a:t>aqueous </a:t>
            </a:r>
            <a:r>
              <a:rPr lang="en-IN" b="1" dirty="0" err="1"/>
              <a:t>humor</a:t>
            </a:r>
            <a:endParaRPr lang="en-IN" dirty="0"/>
          </a:p>
          <a:p>
            <a:r>
              <a:rPr lang="en-IN" b="1" dirty="0"/>
              <a:t>Vitreous chamber</a:t>
            </a:r>
            <a:r>
              <a:rPr lang="en-IN" dirty="0"/>
              <a:t> – behind lens</a:t>
            </a:r>
          </a:p>
          <a:p>
            <a:pPr lvl="1"/>
            <a:r>
              <a:rPr lang="en-IN" dirty="0"/>
              <a:t>Filled with </a:t>
            </a:r>
            <a:r>
              <a:rPr lang="en-IN" b="1" dirty="0"/>
              <a:t>vitreous </a:t>
            </a:r>
            <a:r>
              <a:rPr lang="en-IN" b="1" dirty="0" err="1"/>
              <a:t>humor</a:t>
            </a:r>
            <a:r>
              <a:rPr lang="en-IN" dirty="0"/>
              <a:t> (gel-like)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9668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34230-D8B1-9CD0-A775-3BC95C88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8030-9F94-8B23-923A-52F8578C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eyeball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35D86-8B10-80FA-675B-80E93876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995" y="216310"/>
            <a:ext cx="7413521" cy="6725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Lens</a:t>
            </a:r>
          </a:p>
          <a:p>
            <a:r>
              <a:rPr lang="en-IN" dirty="0"/>
              <a:t>Transparent, biconvex, flexible</a:t>
            </a:r>
          </a:p>
          <a:p>
            <a:r>
              <a:rPr lang="en-IN" dirty="0"/>
              <a:t>Suspended by </a:t>
            </a:r>
            <a:r>
              <a:rPr lang="en-IN" b="1" dirty="0"/>
              <a:t>zonular </a:t>
            </a:r>
            <a:r>
              <a:rPr lang="en-IN" b="1" dirty="0" err="1"/>
              <a:t>fibers</a:t>
            </a:r>
            <a:r>
              <a:rPr lang="en-IN" dirty="0"/>
              <a:t> from ciliary body</a:t>
            </a:r>
          </a:p>
          <a:p>
            <a:r>
              <a:rPr lang="en-IN" dirty="0"/>
              <a:t>Function: focuses light on retina</a:t>
            </a:r>
          </a:p>
          <a:p>
            <a:pPr marL="0" indent="0">
              <a:buNone/>
            </a:pPr>
            <a:r>
              <a:rPr lang="en-IN" b="1" dirty="0"/>
              <a:t>Extraocular Muscles</a:t>
            </a:r>
          </a:p>
          <a:p>
            <a:r>
              <a:rPr lang="en-IN" b="1" dirty="0"/>
              <a:t>Six muscles</a:t>
            </a:r>
            <a:r>
              <a:rPr lang="en-IN" dirty="0"/>
              <a:t> control eye movement:</a:t>
            </a:r>
          </a:p>
          <a:p>
            <a:pPr lvl="1"/>
            <a:r>
              <a:rPr lang="en-IN" b="1" dirty="0"/>
              <a:t>Superior, inferior, medial, lateral rectus</a:t>
            </a:r>
            <a:endParaRPr lang="en-IN" dirty="0"/>
          </a:p>
          <a:p>
            <a:pPr lvl="1"/>
            <a:r>
              <a:rPr lang="en-IN" b="1" dirty="0"/>
              <a:t>Superior and inferior oblique</a:t>
            </a:r>
            <a:endParaRPr lang="en-IN" dirty="0"/>
          </a:p>
          <a:p>
            <a:r>
              <a:rPr lang="en-IN" dirty="0"/>
              <a:t>Controlled by </a:t>
            </a:r>
            <a:r>
              <a:rPr lang="en-IN" b="1" dirty="0"/>
              <a:t>cranial nerves III, IV, VI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Blood Supply</a:t>
            </a:r>
          </a:p>
          <a:p>
            <a:r>
              <a:rPr lang="en-IN" b="1" dirty="0"/>
              <a:t>Ophthalmic artery</a:t>
            </a:r>
            <a:r>
              <a:rPr lang="en-IN" dirty="0"/>
              <a:t> (branch of ICA) supplies:</a:t>
            </a:r>
          </a:p>
          <a:p>
            <a:pPr lvl="1"/>
            <a:r>
              <a:rPr lang="en-IN" dirty="0"/>
              <a:t>Central retinal artery → retina</a:t>
            </a:r>
          </a:p>
          <a:p>
            <a:pPr lvl="1"/>
            <a:r>
              <a:rPr lang="en-IN" dirty="0"/>
              <a:t>Ciliary arteries → sclera, choroid, iris, lens</a:t>
            </a:r>
          </a:p>
          <a:p>
            <a:r>
              <a:rPr lang="en-IN" dirty="0"/>
              <a:t>Venous drainage via </a:t>
            </a:r>
            <a:r>
              <a:rPr lang="en-IN" b="1" dirty="0"/>
              <a:t>ophthalmic veins</a:t>
            </a:r>
            <a:r>
              <a:rPr lang="en-IN" dirty="0"/>
              <a:t> → cavernous sinus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9282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CC79-2882-1394-B8C2-F19C27BA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96AC-A2F9-8B9A-80E6-18A326214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eyeball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FF78-53F6-B88D-C427-ACB4BCB53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995" y="216310"/>
            <a:ext cx="7413521" cy="6725264"/>
          </a:xfrm>
        </p:spPr>
        <p:txBody>
          <a:bodyPr>
            <a:normAutofit/>
          </a:bodyPr>
          <a:lstStyle/>
          <a:p>
            <a:r>
              <a:rPr lang="en-IN" b="1" dirty="0"/>
              <a:t>Clinical Relevance</a:t>
            </a:r>
          </a:p>
          <a:p>
            <a:r>
              <a:rPr lang="en-IN" b="1" dirty="0"/>
              <a:t>Glaucoma:</a:t>
            </a:r>
            <a:r>
              <a:rPr lang="en-IN" dirty="0"/>
              <a:t> Increased intraocular pressure (aqueous </a:t>
            </a:r>
            <a:r>
              <a:rPr lang="en-IN" dirty="0" err="1"/>
              <a:t>humor</a:t>
            </a:r>
            <a:r>
              <a:rPr lang="en-IN" dirty="0"/>
              <a:t> outflow obstruction)</a:t>
            </a:r>
          </a:p>
          <a:p>
            <a:r>
              <a:rPr lang="en-IN" b="1" dirty="0"/>
              <a:t>Cataract:</a:t>
            </a:r>
            <a:r>
              <a:rPr lang="en-IN" dirty="0"/>
              <a:t> Lens opacity</a:t>
            </a:r>
          </a:p>
          <a:p>
            <a:r>
              <a:rPr lang="en-IN" b="1" dirty="0"/>
              <a:t>Retinal detachment:</a:t>
            </a:r>
            <a:r>
              <a:rPr lang="en-IN" dirty="0"/>
              <a:t> Separation of retina from pigmented layer</a:t>
            </a:r>
          </a:p>
          <a:p>
            <a:r>
              <a:rPr lang="en-IN" b="1" dirty="0"/>
              <a:t>Myopia / Hypermetropia / Presbyopia:</a:t>
            </a:r>
            <a:r>
              <a:rPr lang="en-IN" dirty="0"/>
              <a:t> Refractive errors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136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6734-0357-076F-C407-145C0DE9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2B55D-01DB-66E5-27DD-17385F6C1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8981" y="285135"/>
            <a:ext cx="7443019" cy="668593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General Features</a:t>
            </a:r>
          </a:p>
          <a:p>
            <a:r>
              <a:rPr lang="en-IN" b="1" dirty="0"/>
              <a:t>Function:</a:t>
            </a:r>
            <a:r>
              <a:rPr lang="en-IN" dirty="0"/>
              <a:t> Hearing and balance (equilibrium)</a:t>
            </a:r>
          </a:p>
          <a:p>
            <a:r>
              <a:rPr lang="en-IN" b="1" dirty="0"/>
              <a:t>Divisions:</a:t>
            </a:r>
            <a:endParaRPr lang="en-IN" dirty="0"/>
          </a:p>
          <a:p>
            <a:pPr lvl="1"/>
            <a:r>
              <a:rPr lang="en-IN" b="1" dirty="0"/>
              <a:t>External (outer) ear</a:t>
            </a:r>
            <a:r>
              <a:rPr lang="en-IN" dirty="0"/>
              <a:t> – collects sound</a:t>
            </a:r>
          </a:p>
          <a:p>
            <a:pPr lvl="1"/>
            <a:r>
              <a:rPr lang="en-IN" b="1" dirty="0"/>
              <a:t>Middle ear</a:t>
            </a:r>
            <a:r>
              <a:rPr lang="en-IN" dirty="0"/>
              <a:t> – transmits sound</a:t>
            </a:r>
          </a:p>
          <a:p>
            <a:pPr lvl="1"/>
            <a:r>
              <a:rPr lang="en-IN" b="1" dirty="0"/>
              <a:t>Inner ear</a:t>
            </a:r>
            <a:r>
              <a:rPr lang="en-IN" dirty="0"/>
              <a:t> – converts sound to nerve impulses and maintains balance</a:t>
            </a:r>
          </a:p>
          <a:p>
            <a:pPr marL="0" indent="0">
              <a:buNone/>
            </a:pPr>
            <a:r>
              <a:rPr lang="en-IN" b="1" dirty="0"/>
              <a:t> External Ear</a:t>
            </a:r>
          </a:p>
          <a:p>
            <a:r>
              <a:rPr lang="en-IN" b="1" dirty="0"/>
              <a:t>Auricle (Pinna):</a:t>
            </a:r>
            <a:r>
              <a:rPr lang="en-IN" dirty="0"/>
              <a:t> Cartilaginous structure; directs sound into canal</a:t>
            </a:r>
          </a:p>
          <a:p>
            <a:r>
              <a:rPr lang="en-IN" b="1" dirty="0"/>
              <a:t>External auditory canal:</a:t>
            </a:r>
            <a:r>
              <a:rPr lang="en-IN" dirty="0"/>
              <a:t> ~2.5 cm, leads to tympanic membrane</a:t>
            </a:r>
          </a:p>
          <a:p>
            <a:r>
              <a:rPr lang="en-IN" b="1" dirty="0"/>
              <a:t>Tympanic membrane (eardrum):</a:t>
            </a:r>
            <a:r>
              <a:rPr lang="en-IN" dirty="0"/>
              <a:t> Thin membrane; separates external ear from middle ear; vibrates with sound waves</a:t>
            </a:r>
          </a:p>
          <a:p>
            <a:pPr marL="0" indent="0">
              <a:buNone/>
            </a:pPr>
            <a:r>
              <a:rPr lang="en-IN" b="1" dirty="0"/>
              <a:t> Middle Ear</a:t>
            </a:r>
          </a:p>
          <a:p>
            <a:r>
              <a:rPr lang="en-IN" b="1" dirty="0"/>
              <a:t>Air-filled cavity</a:t>
            </a:r>
            <a:r>
              <a:rPr lang="en-IN" dirty="0"/>
              <a:t> in temporal bone</a:t>
            </a:r>
          </a:p>
          <a:p>
            <a:r>
              <a:rPr lang="en-IN" b="1" dirty="0"/>
              <a:t>Boundaries:</a:t>
            </a:r>
            <a:r>
              <a:rPr lang="en-IN" dirty="0"/>
              <a:t> Lateral – tympanic membrane; Medial – inner ear</a:t>
            </a:r>
          </a:p>
          <a:p>
            <a:r>
              <a:rPr lang="en-IN" b="1" dirty="0"/>
              <a:t>Auditory ossicles:</a:t>
            </a:r>
            <a:r>
              <a:rPr lang="en-IN" dirty="0"/>
              <a:t> Transmit vibrations from tympanic membrane to inner ear</a:t>
            </a:r>
          </a:p>
          <a:p>
            <a:pPr lvl="1"/>
            <a:r>
              <a:rPr lang="en-IN" b="1" dirty="0"/>
              <a:t>Malleus (hammer):</a:t>
            </a:r>
            <a:r>
              <a:rPr lang="en-IN" dirty="0"/>
              <a:t> attaches to tympanic membrane</a:t>
            </a:r>
          </a:p>
          <a:p>
            <a:pPr lvl="1"/>
            <a:r>
              <a:rPr lang="en-IN" b="1" dirty="0"/>
              <a:t>Incus (anvil):</a:t>
            </a:r>
            <a:r>
              <a:rPr lang="en-IN" dirty="0"/>
              <a:t> connects malleus to stapes</a:t>
            </a:r>
          </a:p>
          <a:p>
            <a:pPr lvl="1"/>
            <a:r>
              <a:rPr lang="en-IN" b="1" dirty="0"/>
              <a:t>Stapes (stirrup):</a:t>
            </a:r>
            <a:r>
              <a:rPr lang="en-IN" dirty="0"/>
              <a:t> footplate rests on </a:t>
            </a:r>
            <a:r>
              <a:rPr lang="en-IN" b="1" dirty="0"/>
              <a:t>oval window</a:t>
            </a:r>
            <a:r>
              <a:rPr lang="en-IN" dirty="0"/>
              <a:t> of inner ear</a:t>
            </a:r>
          </a:p>
          <a:p>
            <a:r>
              <a:rPr lang="en-IN" b="1" dirty="0"/>
              <a:t>Muscles:</a:t>
            </a:r>
            <a:endParaRPr lang="en-IN" dirty="0"/>
          </a:p>
          <a:p>
            <a:pPr lvl="1"/>
            <a:r>
              <a:rPr lang="en-IN" b="1" dirty="0"/>
              <a:t>Tensor tympani:</a:t>
            </a:r>
            <a:r>
              <a:rPr lang="en-IN" dirty="0"/>
              <a:t> attached to malleus; dampens loud sounds</a:t>
            </a:r>
          </a:p>
          <a:p>
            <a:pPr lvl="1"/>
            <a:r>
              <a:rPr lang="en-IN" b="1" dirty="0"/>
              <a:t>Stapedius:</a:t>
            </a:r>
            <a:r>
              <a:rPr lang="en-IN" dirty="0"/>
              <a:t> attached to stapes; protects inner ear from loud noises</a:t>
            </a:r>
          </a:p>
          <a:p>
            <a:r>
              <a:rPr lang="en-IN" b="1" dirty="0"/>
              <a:t>Eustachian tube (auditory tube):</a:t>
            </a:r>
            <a:r>
              <a:rPr lang="en-IN" dirty="0"/>
              <a:t> connects middle ear to nasopharynx; equalizes pressure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473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0E19-0125-BC25-11FE-DA56219C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4888CB-FAE5-0672-A53D-BAD014956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169403"/>
              </p:ext>
            </p:extLst>
          </p:nvPr>
        </p:nvGraphicFramePr>
        <p:xfrm>
          <a:off x="4919670" y="4128239"/>
          <a:ext cx="5949950" cy="2011680"/>
        </p:xfrm>
        <a:graphic>
          <a:graphicData uri="http://schemas.openxmlformats.org/drawingml/2006/table">
            <a:tbl>
              <a:tblPr/>
              <a:tblGrid>
                <a:gridCol w="2974975">
                  <a:extLst>
                    <a:ext uri="{9D8B030D-6E8A-4147-A177-3AD203B41FA5}">
                      <a16:colId xmlns:a16="http://schemas.microsoft.com/office/drawing/2014/main" val="1344948328"/>
                    </a:ext>
                  </a:extLst>
                </a:gridCol>
                <a:gridCol w="2974975">
                  <a:extLst>
                    <a:ext uri="{9D8B030D-6E8A-4147-A177-3AD203B41FA5}">
                      <a16:colId xmlns:a16="http://schemas.microsoft.com/office/drawing/2014/main" val="1516479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Nerve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460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Cochlea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Cochlear nerve (CN VIII)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45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Vestibular apparatus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Vestibular nerve (CN VIII)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805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External 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Auriculotemporal (V3), auricular branch (CN X), others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34329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1EEA81A-6293-F27A-95B7-8303F1601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7610" y="216636"/>
            <a:ext cx="7499590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 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Temporal bone, within bony labyrinth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Cochlea: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Spiral-shaped; hearing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sound waves into electrical signals via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 of Corti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Innervated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cochlear nerve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(branch of CN VIII)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Vestibular apparatus: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Balance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Semicircular canals: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rotational movement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Utricle and saccule (vestibule):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linear acceleration and gravity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Innervated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vestibular nerve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(branch of CN VIII)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Membranous labyrinth: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bony labyrinth, contains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endolymph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Perilymph: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Fills space between bony and membranous labyrinth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8B2367-EFDA-B4E4-390E-A50C39B8F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445" y="3681052"/>
            <a:ext cx="149432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Nerve Supply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72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8ABD-D8D7-F313-E064-4992F0B0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1ECF-FC00-5A0C-6980-4388A98A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Blood Supply</a:t>
            </a:r>
          </a:p>
          <a:p>
            <a:r>
              <a:rPr lang="en-IN" b="1" dirty="0"/>
              <a:t>External ear:</a:t>
            </a:r>
            <a:r>
              <a:rPr lang="en-IN" dirty="0"/>
              <a:t> Posterior auricular and superficial temporal arteries</a:t>
            </a:r>
          </a:p>
          <a:p>
            <a:r>
              <a:rPr lang="en-IN" b="1" dirty="0"/>
              <a:t>Middle and inner ear:</a:t>
            </a:r>
            <a:r>
              <a:rPr lang="en-IN" dirty="0"/>
              <a:t> Branches of </a:t>
            </a:r>
            <a:r>
              <a:rPr lang="en-IN" b="1" dirty="0"/>
              <a:t>maxillary artery</a:t>
            </a:r>
            <a:r>
              <a:rPr lang="en-IN" dirty="0"/>
              <a:t> and </a:t>
            </a:r>
            <a:r>
              <a:rPr lang="en-IN" b="1" dirty="0"/>
              <a:t>labyrinthine artery</a:t>
            </a:r>
            <a:r>
              <a:rPr lang="en-IN" dirty="0"/>
              <a:t> (from basilar artery)</a:t>
            </a:r>
          </a:p>
          <a:p>
            <a:pPr marL="0" indent="0">
              <a:buNone/>
            </a:pPr>
            <a:r>
              <a:rPr lang="en-IN" b="1" dirty="0"/>
              <a:t>Clinical Relevance</a:t>
            </a:r>
          </a:p>
          <a:p>
            <a:r>
              <a:rPr lang="en-IN" b="1" dirty="0"/>
              <a:t>Otitis externa:</a:t>
            </a:r>
            <a:r>
              <a:rPr lang="en-IN" dirty="0"/>
              <a:t> Infection of external ear canal</a:t>
            </a:r>
          </a:p>
          <a:p>
            <a:r>
              <a:rPr lang="en-IN" b="1" dirty="0"/>
              <a:t>Otitis media:</a:t>
            </a:r>
            <a:r>
              <a:rPr lang="en-IN" dirty="0"/>
              <a:t> Infection of middle ear</a:t>
            </a:r>
          </a:p>
          <a:p>
            <a:r>
              <a:rPr lang="en-IN" b="1" dirty="0"/>
              <a:t>Hearing loss:</a:t>
            </a:r>
            <a:r>
              <a:rPr lang="en-IN" dirty="0"/>
              <a:t> Conductive (middle ear) or sensorineural (cochlea/nerve)</a:t>
            </a:r>
          </a:p>
          <a:p>
            <a:r>
              <a:rPr lang="en-IN" b="1" dirty="0"/>
              <a:t>Vertigo / Meniere’s disease:</a:t>
            </a:r>
            <a:r>
              <a:rPr lang="en-IN" dirty="0"/>
              <a:t> Inner ear imbalance or endolymph disturbance</a:t>
            </a:r>
          </a:p>
          <a:p>
            <a:r>
              <a:rPr lang="en-IN" b="1" dirty="0"/>
              <a:t>Perforated tympanic membrane:</a:t>
            </a:r>
            <a:r>
              <a:rPr lang="en-IN" dirty="0"/>
              <a:t> Rupture of eardrum due to trauma or infection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1106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167</TotalTime>
  <Words>3382</Words>
  <Application>Microsoft Office PowerPoint</Application>
  <PresentationFormat>Widescreen</PresentationFormat>
  <Paragraphs>621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 Light</vt:lpstr>
      <vt:lpstr>Rockwell</vt:lpstr>
      <vt:lpstr>Wingdings</vt:lpstr>
      <vt:lpstr>Atlas</vt:lpstr>
      <vt:lpstr>Nervous system</vt:lpstr>
      <vt:lpstr>spinal cord it extent coverings external features cross section blood supply applied anatomy</vt:lpstr>
      <vt:lpstr>spinal cord it extent coverings external features cross section blood supply applied anatomy</vt:lpstr>
      <vt:lpstr>spinal cord it extent coverings external features cross section blood supply applied anatomy</vt:lpstr>
      <vt:lpstr>spinal cord it extent coverings external features cross section blood supply applied anatomy</vt:lpstr>
      <vt:lpstr>spinal cord it extent coverings external features cross section blood supply applied anatomy</vt:lpstr>
      <vt:lpstr>spinal cord it extent coverings external features cross section blood supply applied anatomy</vt:lpstr>
      <vt:lpstr>spinal cord it extent coverings external features cross section blood supply applied anatomy</vt:lpstr>
      <vt:lpstr>superolateral surfaces of cerebrum and its functional areas</vt:lpstr>
      <vt:lpstr>superolateral surfaces of cerebrum and its functional areas</vt:lpstr>
      <vt:lpstr>superolateral surfaces of cerebrum and its functional areas</vt:lpstr>
      <vt:lpstr>superolateral surfaces of cerebrum and its functional areas</vt:lpstr>
      <vt:lpstr>superolateral surfaces of cerebrum and its functional areas</vt:lpstr>
      <vt:lpstr>superolateral surfaces of cerebrum and its functional areas</vt:lpstr>
      <vt:lpstr>list out cranial nerves with one function</vt:lpstr>
      <vt:lpstr>cerebellum</vt:lpstr>
      <vt:lpstr>cerebellum</vt:lpstr>
      <vt:lpstr>cerebellum</vt:lpstr>
      <vt:lpstr>cerebellum</vt:lpstr>
      <vt:lpstr>cerebellum</vt:lpstr>
      <vt:lpstr>cerebellum</vt:lpstr>
      <vt:lpstr>brain blood supply and circle of willis</vt:lpstr>
      <vt:lpstr>brain blood supply and circle of willis</vt:lpstr>
      <vt:lpstr>brain blood supply and circle of willis</vt:lpstr>
      <vt:lpstr>brain blood supply and circle of willis</vt:lpstr>
      <vt:lpstr>csf circulation</vt:lpstr>
      <vt:lpstr>csf circulation</vt:lpstr>
      <vt:lpstr>csf circulation</vt:lpstr>
      <vt:lpstr>csf circulation</vt:lpstr>
      <vt:lpstr>ventricles of brain</vt:lpstr>
      <vt:lpstr>ventricles of brain</vt:lpstr>
      <vt:lpstr>ventricles of brain</vt:lpstr>
      <vt:lpstr>ventricles of brain</vt:lpstr>
      <vt:lpstr>ventricles of brain</vt:lpstr>
      <vt:lpstr>ventricles of brain</vt:lpstr>
      <vt:lpstr>eyeball</vt:lpstr>
      <vt:lpstr>eyeball</vt:lpstr>
      <vt:lpstr>eyeball</vt:lpstr>
      <vt:lpstr>eyeball</vt:lpstr>
      <vt:lpstr>eyeball</vt:lpstr>
      <vt:lpstr>eyeball</vt:lpstr>
      <vt:lpstr>ear</vt:lpstr>
      <vt:lpstr>ear</vt:lpstr>
      <vt:lpstr>ear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2025-10-19T06:31:10Z</dcterms:created>
  <dcterms:modified xsi:type="dcterms:W3CDTF">2025-11-19T12:54:14Z</dcterms:modified>
</cp:coreProperties>
</file>