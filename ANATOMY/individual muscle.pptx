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0" r:id="rId34"/>
    <p:sldId id="29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B398-8D16-4B39-B282-7293AA4A56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52ED703-3DE3-4A96-8267-450A12B4771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61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B398-8D16-4B39-B282-7293AA4A56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ED703-3DE3-4A96-8267-450A12B4771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44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B398-8D16-4B39-B282-7293AA4A56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ED703-3DE3-4A96-8267-450A12B4771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53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B398-8D16-4B39-B282-7293AA4A56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ED703-3DE3-4A96-8267-450A12B4771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14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B398-8D16-4B39-B282-7293AA4A56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ED703-3DE3-4A96-8267-450A12B4771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627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B398-8D16-4B39-B282-7293AA4A56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ED703-3DE3-4A96-8267-450A12B4771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377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B398-8D16-4B39-B282-7293AA4A56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ED703-3DE3-4A96-8267-450A12B477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159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B398-8D16-4B39-B282-7293AA4A56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ED703-3DE3-4A96-8267-450A12B4771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256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F39B398-8D16-4B39-B282-7293AA4A56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ED703-3DE3-4A96-8267-450A12B4771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15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B398-8D16-4B39-B282-7293AA4A56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ED703-3DE3-4A96-8267-450A12B4771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57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B398-8D16-4B39-B282-7293AA4A56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ED703-3DE3-4A96-8267-450A12B4771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99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B398-8D16-4B39-B282-7293AA4A561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52ED703-3DE3-4A96-8267-450A12B4771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497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94465-5C58-864E-62F7-B51B26B5F4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muscles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773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3EA9-7ADA-CE3A-D825-CD9FF8A40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Pectoralis major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C809-3A2D-016C-507C-9F814BE88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Anatomy Overview</a:t>
            </a:r>
          </a:p>
          <a:p>
            <a:r>
              <a:rPr lang="en-US" b="1" dirty="0"/>
              <a:t>Location:</a:t>
            </a:r>
            <a:r>
              <a:rPr lang="en-US" dirty="0"/>
              <a:t> Front of the chest, superficial muscle.</a:t>
            </a:r>
          </a:p>
          <a:p>
            <a:r>
              <a:rPr lang="en-US" b="1" dirty="0"/>
              <a:t>Shape:</a:t>
            </a:r>
            <a:r>
              <a:rPr lang="en-US" dirty="0"/>
              <a:t> Fan-shaped, thick and broad.</a:t>
            </a:r>
          </a:p>
          <a:p>
            <a:r>
              <a:rPr lang="en-US" b="1" dirty="0"/>
              <a:t>Parts/Layers:</a:t>
            </a:r>
            <a:endParaRPr lang="en-US" dirty="0"/>
          </a:p>
          <a:p>
            <a:pPr lvl="1"/>
            <a:r>
              <a:rPr lang="en-US" b="1" dirty="0"/>
              <a:t>Clavicular head:</a:t>
            </a:r>
            <a:r>
              <a:rPr lang="en-US" dirty="0"/>
              <a:t> Arises from the clavicle (collarbone).</a:t>
            </a:r>
          </a:p>
          <a:p>
            <a:pPr lvl="1"/>
            <a:r>
              <a:rPr lang="en-US" b="1" dirty="0"/>
              <a:t>Sternocostal head:</a:t>
            </a:r>
            <a:r>
              <a:rPr lang="en-US" dirty="0"/>
              <a:t> Arises from the sternum and the upper costal cartilages (ribs).</a:t>
            </a:r>
          </a:p>
        </p:txBody>
      </p:sp>
    </p:spTree>
    <p:extLst>
      <p:ext uri="{BB962C8B-B14F-4D97-AF65-F5344CB8AC3E}">
        <p14:creationId xmlns:p14="http://schemas.microsoft.com/office/powerpoint/2010/main" val="345827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1E0D9-C40C-28E3-7DB1-7E8758000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45E42-FD9D-0683-AEF5-E038D395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Pectoralis major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7E7BD-9AB6-82B5-434C-A855AF22D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Origin</a:t>
            </a:r>
          </a:p>
          <a:p>
            <a:r>
              <a:rPr lang="en-US" b="1" dirty="0"/>
              <a:t>Clavicular part:</a:t>
            </a:r>
            <a:r>
              <a:rPr lang="en-US" dirty="0"/>
              <a:t> Medial half of the clavicle.</a:t>
            </a:r>
          </a:p>
          <a:p>
            <a:r>
              <a:rPr lang="en-US" b="1" dirty="0"/>
              <a:t>Sternocostal part:</a:t>
            </a:r>
            <a:r>
              <a:rPr lang="en-US" dirty="0"/>
              <a:t> Sternum and cartilages of ribs 1–6 (sometimes 7).</a:t>
            </a:r>
          </a:p>
          <a:p>
            <a:pPr marL="0" indent="0">
              <a:buNone/>
            </a:pPr>
            <a:r>
              <a:rPr lang="en-US" b="1" dirty="0"/>
              <a:t>Insertion</a:t>
            </a:r>
          </a:p>
          <a:p>
            <a:r>
              <a:rPr lang="en-US" dirty="0"/>
              <a:t>Lateral lip of the </a:t>
            </a:r>
            <a:r>
              <a:rPr lang="en-US" b="1" dirty="0"/>
              <a:t>bicipital (intertubercular) groove</a:t>
            </a:r>
            <a:r>
              <a:rPr lang="en-US" dirty="0"/>
              <a:t> of the humerus.</a:t>
            </a:r>
          </a:p>
        </p:txBody>
      </p:sp>
    </p:spTree>
    <p:extLst>
      <p:ext uri="{BB962C8B-B14F-4D97-AF65-F5344CB8AC3E}">
        <p14:creationId xmlns:p14="http://schemas.microsoft.com/office/powerpoint/2010/main" val="4274849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A7A98-7FAB-3EF4-0752-8D52059D7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DA5AB-942D-648E-CEC8-0707C6CAA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Pectoralis major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3AE22-4472-6126-1056-3D033EBA0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Actions</a:t>
            </a:r>
          </a:p>
          <a:p>
            <a:r>
              <a:rPr lang="en-US" b="1" dirty="0"/>
              <a:t>Adduction of the arm</a:t>
            </a:r>
            <a:r>
              <a:rPr lang="en-US" dirty="0"/>
              <a:t> (brings arm toward the body)</a:t>
            </a:r>
          </a:p>
          <a:p>
            <a:r>
              <a:rPr lang="en-US" b="1" dirty="0"/>
              <a:t>Medial rotation of the arm</a:t>
            </a:r>
            <a:endParaRPr lang="en-US" dirty="0"/>
          </a:p>
          <a:p>
            <a:r>
              <a:rPr lang="en-US" b="1" dirty="0"/>
              <a:t>Flexion of the arm</a:t>
            </a:r>
            <a:r>
              <a:rPr lang="en-US" dirty="0"/>
              <a:t> (especially by clavicular head)</a:t>
            </a:r>
          </a:p>
          <a:p>
            <a:r>
              <a:rPr lang="en-US" b="1" dirty="0"/>
              <a:t>Extension from a flexed position</a:t>
            </a:r>
            <a:r>
              <a:rPr lang="en-US" dirty="0"/>
              <a:t> (sternocostal head helps)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2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A0FE1-9011-965B-BFCB-EE8039BFB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08C6-2EFE-17AF-EFAF-649D1041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Pectoralis major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3512F-E4B6-6DF6-95FD-B3261990A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Nerve Supply</a:t>
            </a:r>
          </a:p>
          <a:p>
            <a:r>
              <a:rPr lang="en-IN" b="1" dirty="0"/>
              <a:t>Medial and lateral pectoral nerves</a:t>
            </a:r>
            <a:endParaRPr lang="en-IN" dirty="0"/>
          </a:p>
          <a:p>
            <a:pPr lvl="1"/>
            <a:r>
              <a:rPr lang="en-IN" dirty="0"/>
              <a:t>Clavicular head → </a:t>
            </a:r>
            <a:r>
              <a:rPr lang="en-IN" b="1" dirty="0"/>
              <a:t>C5–C6</a:t>
            </a:r>
            <a:endParaRPr lang="en-IN" dirty="0"/>
          </a:p>
          <a:p>
            <a:pPr lvl="1"/>
            <a:r>
              <a:rPr lang="en-IN" dirty="0"/>
              <a:t>Sternocostal head → </a:t>
            </a:r>
            <a:r>
              <a:rPr lang="en-IN" b="1" dirty="0"/>
              <a:t>C7–T1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Blood Supply</a:t>
            </a:r>
          </a:p>
          <a:p>
            <a:r>
              <a:rPr lang="en-IN" b="1" dirty="0" err="1"/>
              <a:t>Thoracoacromial</a:t>
            </a:r>
            <a:r>
              <a:rPr lang="en-IN" b="1" dirty="0"/>
              <a:t> artery</a:t>
            </a:r>
            <a:r>
              <a:rPr lang="en-IN" dirty="0"/>
              <a:t> (pectoral branch)</a:t>
            </a:r>
          </a:p>
        </p:txBody>
      </p:sp>
    </p:spTree>
    <p:extLst>
      <p:ext uri="{BB962C8B-B14F-4D97-AF65-F5344CB8AC3E}">
        <p14:creationId xmlns:p14="http://schemas.microsoft.com/office/powerpoint/2010/main" val="1177043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B5C4C-89F5-2E16-BCD9-934D05BFA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CAF8-1BBF-791A-AFD3-1C342AA6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Pectoralis major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E9B4E-DC2C-AB79-69C6-4F1490DBC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Clinical Notes</a:t>
            </a:r>
          </a:p>
          <a:p>
            <a:r>
              <a:rPr lang="en-IN" b="1" dirty="0"/>
              <a:t>Pushing movements</a:t>
            </a:r>
            <a:r>
              <a:rPr lang="en-IN" dirty="0"/>
              <a:t> (like push-ups or bench press) heavily activate it.</a:t>
            </a:r>
          </a:p>
          <a:p>
            <a:r>
              <a:rPr lang="en-IN" dirty="0"/>
              <a:t>Injury can occur in athletes during heavy lifting.</a:t>
            </a:r>
          </a:p>
          <a:p>
            <a:r>
              <a:rPr lang="en-IN" b="1" dirty="0"/>
              <a:t>Pectoralis major flap</a:t>
            </a:r>
            <a:r>
              <a:rPr lang="en-IN" dirty="0"/>
              <a:t> is used in reconstructive surgery.</a:t>
            </a:r>
          </a:p>
        </p:txBody>
      </p:sp>
    </p:spTree>
    <p:extLst>
      <p:ext uri="{BB962C8B-B14F-4D97-AF65-F5344CB8AC3E}">
        <p14:creationId xmlns:p14="http://schemas.microsoft.com/office/powerpoint/2010/main" val="888202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6B763-0E84-5559-6880-6505B468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Biceps brachii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D136C-7491-5E38-8EAF-2326412E1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Anatomy Overview</a:t>
            </a:r>
          </a:p>
          <a:p>
            <a:r>
              <a:rPr lang="en-US" b="1" dirty="0"/>
              <a:t>Location:</a:t>
            </a:r>
            <a:r>
              <a:rPr lang="en-US" dirty="0"/>
              <a:t> Front of the upper arm</a:t>
            </a:r>
          </a:p>
          <a:p>
            <a:r>
              <a:rPr lang="en-US" b="1" dirty="0"/>
              <a:t>Name meaning:</a:t>
            </a:r>
            <a:r>
              <a:rPr lang="en-US" dirty="0"/>
              <a:t> "Biceps" = two heads, "Brachii" = of the arm</a:t>
            </a:r>
          </a:p>
          <a:p>
            <a:r>
              <a:rPr lang="en-US" b="1" dirty="0"/>
              <a:t>Heads:</a:t>
            </a:r>
            <a:endParaRPr lang="en-US" dirty="0"/>
          </a:p>
          <a:p>
            <a:pPr lvl="1"/>
            <a:r>
              <a:rPr lang="en-US" b="1" dirty="0"/>
              <a:t>Long head</a:t>
            </a:r>
            <a:endParaRPr lang="en-US" dirty="0"/>
          </a:p>
          <a:p>
            <a:pPr lvl="1"/>
            <a:r>
              <a:rPr lang="en-US" b="1" dirty="0"/>
              <a:t>Short head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6072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0AFBC-C85C-3121-31E1-676A00B21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31DA0-3BDF-36A5-3F9A-B9862E7E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Biceps brachii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8EC76-4965-F4C7-FC38-688E571E6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 dirty="0">
                <a:latin typeface="Arial" panose="020B0604020202020204" pitchFamily="34" charset="0"/>
              </a:rPr>
              <a:t>Origin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1052BB-DB24-F7D7-F1A1-FA3670F5B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673762"/>
              </p:ext>
            </p:extLst>
          </p:nvPr>
        </p:nvGraphicFramePr>
        <p:xfrm>
          <a:off x="1137146" y="2582755"/>
          <a:ext cx="9604374" cy="137160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81593726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391507752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Origin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3490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Long head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Supraglenoid tubercle</a:t>
                      </a:r>
                      <a:r>
                        <a:rPr lang="en-US" sz="1800"/>
                        <a:t> of the scapula (tendon runs through the bicipital groove)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6974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Short head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Coracoid process</a:t>
                      </a:r>
                      <a:r>
                        <a:rPr lang="en-US" sz="1800" dirty="0"/>
                        <a:t> of the scapula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431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52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7D26F-1476-F5EE-AF55-5DDD0714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46180-30F1-ED03-F05C-F4E52543E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Biceps brachii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1078D-5DE9-2FEB-804B-F9494A88C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Insertion</a:t>
            </a:r>
          </a:p>
          <a:p>
            <a:r>
              <a:rPr lang="en-US" b="1" dirty="0"/>
              <a:t>Radial tuberosity</a:t>
            </a:r>
            <a:r>
              <a:rPr lang="en-US" dirty="0"/>
              <a:t> of radius</a:t>
            </a:r>
          </a:p>
          <a:p>
            <a:r>
              <a:rPr lang="en-US" b="1" dirty="0"/>
              <a:t>Bicipital aponeurosis</a:t>
            </a:r>
            <a:r>
              <a:rPr lang="en-US" dirty="0"/>
              <a:t> into the fascia of the forearm</a:t>
            </a:r>
          </a:p>
          <a:p>
            <a:pPr marL="0" indent="0">
              <a:buNone/>
            </a:pPr>
            <a:r>
              <a:rPr lang="en-US" b="1" dirty="0"/>
              <a:t>Actions</a:t>
            </a:r>
          </a:p>
          <a:p>
            <a:r>
              <a:rPr lang="en-US" b="1" dirty="0"/>
              <a:t>Primary:</a:t>
            </a:r>
            <a:r>
              <a:rPr lang="en-US" dirty="0"/>
              <a:t> Flexion of the elbow</a:t>
            </a:r>
          </a:p>
          <a:p>
            <a:r>
              <a:rPr lang="en-US" b="1" dirty="0"/>
              <a:t>Primary:</a:t>
            </a:r>
            <a:r>
              <a:rPr lang="en-US" dirty="0"/>
              <a:t> </a:t>
            </a:r>
            <a:r>
              <a:rPr lang="en-US" b="1" dirty="0"/>
              <a:t>Supination</a:t>
            </a:r>
            <a:r>
              <a:rPr lang="en-US" dirty="0"/>
              <a:t> of the forearm (turning palm upward)</a:t>
            </a:r>
          </a:p>
          <a:p>
            <a:r>
              <a:rPr lang="en-US" b="1" dirty="0"/>
              <a:t>Secondary:</a:t>
            </a:r>
            <a:r>
              <a:rPr lang="en-US" dirty="0"/>
              <a:t> Flexion of the shoulder (weak)</a:t>
            </a:r>
          </a:p>
          <a:p>
            <a:r>
              <a:rPr lang="en-US" dirty="0"/>
              <a:t>💡 </a:t>
            </a:r>
            <a:r>
              <a:rPr lang="en-US" i="1" dirty="0"/>
              <a:t>Mnemonic:</a:t>
            </a:r>
            <a:r>
              <a:rPr lang="en-US" dirty="0"/>
              <a:t> </a:t>
            </a:r>
            <a:r>
              <a:rPr lang="en-US" b="1" dirty="0"/>
              <a:t>"Biceps = Boxer's muscle"</a:t>
            </a:r>
            <a:r>
              <a:rPr lang="en-US" dirty="0"/>
              <a:t> — because punching involves elbow flexion + forearm supination.</a:t>
            </a:r>
          </a:p>
        </p:txBody>
      </p:sp>
    </p:spTree>
    <p:extLst>
      <p:ext uri="{BB962C8B-B14F-4D97-AF65-F5344CB8AC3E}">
        <p14:creationId xmlns:p14="http://schemas.microsoft.com/office/powerpoint/2010/main" val="1971040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150BE-2CCB-8E4F-2DBD-CBE3A367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B2F0-6530-E415-3946-2C6453C4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Biceps brachii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E8E26-5BBE-513A-1E1D-B6312D8EA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Nerve Supply</a:t>
            </a:r>
          </a:p>
          <a:p>
            <a:r>
              <a:rPr lang="en-US" b="1" dirty="0"/>
              <a:t>Musculocutaneous nerve</a:t>
            </a:r>
            <a:r>
              <a:rPr lang="en-US" dirty="0"/>
              <a:t> (</a:t>
            </a:r>
            <a:r>
              <a:rPr lang="en-US" b="1" dirty="0"/>
              <a:t>C5–C6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Blood Supply</a:t>
            </a:r>
          </a:p>
          <a:p>
            <a:r>
              <a:rPr lang="en-US" b="1" dirty="0"/>
              <a:t>Brachial artery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6682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68C5E-9C2C-CE54-F94F-5100E945F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C273-C3DC-1A0A-6608-9E3CAB7A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Biceps brachii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5355-E8AB-E285-7E31-12F0C1A3F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Clinical Relevance</a:t>
            </a:r>
          </a:p>
          <a:p>
            <a:r>
              <a:rPr lang="en-IN" b="1" dirty="0"/>
              <a:t>Biceps tendon reflex</a:t>
            </a:r>
            <a:r>
              <a:rPr lang="en-IN" dirty="0"/>
              <a:t> → Tests </a:t>
            </a:r>
            <a:r>
              <a:rPr lang="en-IN" b="1" dirty="0"/>
              <a:t>C5–C6 spinal segments</a:t>
            </a:r>
            <a:endParaRPr lang="en-IN" dirty="0"/>
          </a:p>
          <a:p>
            <a:r>
              <a:rPr lang="en-IN" b="1" dirty="0"/>
              <a:t>Rupture of long head tendon</a:t>
            </a:r>
            <a:r>
              <a:rPr lang="en-IN" dirty="0"/>
              <a:t> → "Popeye deformity"</a:t>
            </a:r>
          </a:p>
          <a:p>
            <a:r>
              <a:rPr lang="en-IN" b="1" dirty="0"/>
              <a:t>Bicipital groove tenderness</a:t>
            </a:r>
            <a:r>
              <a:rPr lang="en-IN" dirty="0"/>
              <a:t> → Bicipital tendinitis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880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6113B-EFF5-C1D9-9BAE-3ACDF231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deltoid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04A33-CE82-186B-C5BC-2C4EF3E64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Anatomy Overview</a:t>
            </a:r>
          </a:p>
          <a:p>
            <a:r>
              <a:rPr lang="en-IN" b="1" dirty="0"/>
              <a:t>Location:</a:t>
            </a:r>
            <a:r>
              <a:rPr lang="en-IN" dirty="0"/>
              <a:t> Covers the shoulder joint</a:t>
            </a:r>
          </a:p>
          <a:p>
            <a:r>
              <a:rPr lang="en-IN" b="1" dirty="0"/>
              <a:t>Shape:</a:t>
            </a:r>
            <a:r>
              <a:rPr lang="en-IN" dirty="0"/>
              <a:t> Triangular (like the Greek letter </a:t>
            </a:r>
            <a:r>
              <a:rPr lang="el-GR" dirty="0"/>
              <a:t>Δ – </a:t>
            </a:r>
            <a:r>
              <a:rPr lang="en-IN" i="1" dirty="0"/>
              <a:t>Delta</a:t>
            </a:r>
            <a:r>
              <a:rPr lang="en-IN" dirty="0"/>
              <a:t>)</a:t>
            </a:r>
          </a:p>
          <a:p>
            <a:r>
              <a:rPr lang="en-IN" b="1" dirty="0"/>
              <a:t>Parts/Fibers:</a:t>
            </a:r>
            <a:endParaRPr lang="en-IN" dirty="0"/>
          </a:p>
          <a:p>
            <a:pPr lvl="1"/>
            <a:r>
              <a:rPr lang="en-IN" b="1" dirty="0"/>
              <a:t>Anterior (clavicular) </a:t>
            </a:r>
            <a:r>
              <a:rPr lang="en-IN" b="1" dirty="0" err="1"/>
              <a:t>fibers</a:t>
            </a:r>
            <a:endParaRPr lang="en-IN" dirty="0"/>
          </a:p>
          <a:p>
            <a:pPr lvl="1"/>
            <a:r>
              <a:rPr lang="en-IN" b="1" dirty="0"/>
              <a:t>Middle (acromial) </a:t>
            </a:r>
            <a:r>
              <a:rPr lang="en-IN" b="1" dirty="0" err="1"/>
              <a:t>fibers</a:t>
            </a:r>
            <a:endParaRPr lang="en-IN" dirty="0"/>
          </a:p>
          <a:p>
            <a:pPr lvl="1"/>
            <a:r>
              <a:rPr lang="en-IN" b="1" dirty="0"/>
              <a:t>Posterior (spinal) </a:t>
            </a:r>
            <a:r>
              <a:rPr lang="en-IN" b="1" dirty="0" err="1"/>
              <a:t>fibers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1629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7A7B-7F67-86B0-4C0B-E3C92040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BAB9-4150-1A6F-12DE-78DB6AEE1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deltoid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CC379-58C8-5042-5967-E57069FDF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Origin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33F4E5-813B-F253-B1D7-D832E9466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243347"/>
              </p:ext>
            </p:extLst>
          </p:nvPr>
        </p:nvGraphicFramePr>
        <p:xfrm>
          <a:off x="1034340" y="2697480"/>
          <a:ext cx="9604374" cy="146304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1288052431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159932137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Origin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5267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Anterior </a:t>
                      </a:r>
                      <a:r>
                        <a:rPr lang="en-IN" sz="1800" b="1" dirty="0" err="1"/>
                        <a:t>fibers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Lateral third of the </a:t>
                      </a:r>
                      <a:r>
                        <a:rPr lang="en-US" sz="1800" b="1"/>
                        <a:t>clavicle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9780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Middle fibers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Acromion</a:t>
                      </a:r>
                      <a:r>
                        <a:rPr lang="en-IN" sz="1800"/>
                        <a:t> of scapula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5337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Posterior fibers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Spine of scapula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76998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08F6BD3-3239-902F-5E70-F4A7DE360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975" y="296150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259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D10D7-4D4C-CF1D-C991-0469354E9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DBAB-FB76-2392-C95A-1014249F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deltoid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6F95A-9B4D-4FF1-DAA6-5F15C9C6D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Insertion</a:t>
            </a:r>
          </a:p>
          <a:p>
            <a:r>
              <a:rPr lang="en-US" b="1" dirty="0"/>
              <a:t>Deltoid tuberosity</a:t>
            </a:r>
            <a:r>
              <a:rPr lang="en-US" dirty="0"/>
              <a:t> of the </a:t>
            </a:r>
            <a:r>
              <a:rPr lang="en-US" b="1" dirty="0"/>
              <a:t>humerus</a:t>
            </a:r>
            <a:endParaRPr lang="en-US" dirty="0"/>
          </a:p>
          <a:p>
            <a:pPr marL="0" indent="0">
              <a:buNone/>
            </a:pPr>
            <a:r>
              <a:rPr lang="en-US" altLang="en-US" b="1" dirty="0">
                <a:latin typeface="Arial" panose="020B0604020202020204" pitchFamily="34" charset="0"/>
              </a:rPr>
              <a:t>Actions</a:t>
            </a:r>
          </a:p>
          <a:p>
            <a:r>
              <a:rPr lang="en-US" altLang="en-US" b="1" dirty="0">
                <a:latin typeface="Arial" panose="020B0604020202020204" pitchFamily="34" charset="0"/>
              </a:rPr>
              <a:t>Key Point:</a:t>
            </a:r>
            <a:r>
              <a:rPr lang="en-US" altLang="en-US" dirty="0">
                <a:latin typeface="Arial" panose="020B0604020202020204" pitchFamily="34" charset="0"/>
              </a:rPr>
              <a:t> First </a:t>
            </a:r>
            <a:r>
              <a:rPr lang="en-US" altLang="en-US" b="1" dirty="0">
                <a:latin typeface="Arial" panose="020B0604020202020204" pitchFamily="34" charset="0"/>
              </a:rPr>
              <a:t>15° of abduction</a:t>
            </a:r>
            <a:r>
              <a:rPr lang="en-US" altLang="en-US" dirty="0">
                <a:latin typeface="Arial" panose="020B0604020202020204" pitchFamily="34" charset="0"/>
              </a:rPr>
              <a:t> is done by </a:t>
            </a:r>
            <a:r>
              <a:rPr lang="en-US" altLang="en-US" b="1" dirty="0">
                <a:latin typeface="Arial" panose="020B0604020202020204" pitchFamily="34" charset="0"/>
              </a:rPr>
              <a:t>supraspinatus</a:t>
            </a:r>
            <a:r>
              <a:rPr lang="en-US" altLang="en-US" dirty="0">
                <a:latin typeface="Arial" panose="020B0604020202020204" pitchFamily="34" charset="0"/>
              </a:rPr>
              <a:t>, then </a:t>
            </a:r>
            <a:r>
              <a:rPr lang="en-US" altLang="en-US" b="1" dirty="0">
                <a:latin typeface="Arial" panose="020B0604020202020204" pitchFamily="34" charset="0"/>
              </a:rPr>
              <a:t>deltoid takes over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  <a:endParaRPr lang="en-US" altLang="en-US" b="1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9C9AF0-FAAA-9D8B-46AC-35F25C281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467341"/>
              </p:ext>
            </p:extLst>
          </p:nvPr>
        </p:nvGraphicFramePr>
        <p:xfrm>
          <a:off x="884419" y="4272727"/>
          <a:ext cx="9604374" cy="146304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2116216431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12509712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4301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Anterior fibers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Flexion &amp; medial rotation of arm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4742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Middle </a:t>
                      </a:r>
                      <a:r>
                        <a:rPr lang="en-IN" sz="1800" b="1" dirty="0" err="1"/>
                        <a:t>fibers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Abduction of the arm</a:t>
                      </a:r>
                      <a:r>
                        <a:rPr lang="en-US" sz="1800"/>
                        <a:t> (main function)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3634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Posterior fibers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Extension &amp; lateral rotation of arm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87855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9409A30-074A-0EA9-E042-BE84D4C5E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579" y="3599546"/>
            <a:ext cx="32573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907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F939-7142-22E6-AA77-76BA50BB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AAD03-D9FB-8E8E-D47F-BC0FBF82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deltoid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65022-05DD-ABAA-04D9-F3C54A711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Nerve Supply</a:t>
            </a:r>
          </a:p>
          <a:p>
            <a:r>
              <a:rPr lang="en-US" b="1" dirty="0"/>
              <a:t>Axillary nerve</a:t>
            </a:r>
            <a:r>
              <a:rPr lang="en-US" dirty="0"/>
              <a:t> (</a:t>
            </a:r>
            <a:r>
              <a:rPr lang="en-US" b="1" dirty="0"/>
              <a:t>C5–C6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Blood Supply</a:t>
            </a:r>
          </a:p>
          <a:p>
            <a:r>
              <a:rPr lang="en-US" b="1" dirty="0"/>
              <a:t>Posterior circumflex humeral artery</a:t>
            </a:r>
            <a:endParaRPr lang="en-US" dirty="0"/>
          </a:p>
          <a:p>
            <a:r>
              <a:rPr lang="en-US" b="1" dirty="0"/>
              <a:t>Deltoid branch of the </a:t>
            </a:r>
            <a:r>
              <a:rPr lang="en-US" b="1" dirty="0" err="1"/>
              <a:t>thoracoacromial</a:t>
            </a:r>
            <a:r>
              <a:rPr lang="en-US" b="1" dirty="0"/>
              <a:t> artery</a:t>
            </a:r>
            <a:endParaRPr lang="en-US" dirty="0"/>
          </a:p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22C033-A73A-859E-3CD7-30F696767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579" y="3599546"/>
            <a:ext cx="32573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583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E2EC9-2361-6A26-D503-4C3D2037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53C5-F99A-EB0D-EEF2-FEA4C1FD4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deltoid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6F1B5-AF1D-D7C0-9BDA-DDBA9C099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Clinical Relevance</a:t>
            </a:r>
          </a:p>
          <a:p>
            <a:r>
              <a:rPr lang="en-IN" b="1" dirty="0"/>
              <a:t>Intramuscular injection site</a:t>
            </a:r>
            <a:r>
              <a:rPr lang="en-IN" dirty="0"/>
              <a:t> (safe zone: middle lateral portion)</a:t>
            </a:r>
          </a:p>
          <a:p>
            <a:r>
              <a:rPr lang="en-IN" b="1" dirty="0"/>
              <a:t>Axillary nerve injury</a:t>
            </a:r>
            <a:r>
              <a:rPr lang="en-IN" dirty="0"/>
              <a:t> (e.g., surgical neck fracture of humerus or shoulder dislocation) → Loss of shoulder contour and </a:t>
            </a:r>
            <a:r>
              <a:rPr lang="en-IN" b="1" dirty="0"/>
              <a:t>loss of sensation over "Regimental Badge Area"</a:t>
            </a:r>
            <a:r>
              <a:rPr lang="en-IN" dirty="0"/>
              <a:t> (skin over deltoid).</a:t>
            </a:r>
          </a:p>
          <a:p>
            <a:r>
              <a:rPr lang="en-IN" b="1" dirty="0"/>
              <a:t>Deltoid paralysis</a:t>
            </a:r>
            <a:r>
              <a:rPr lang="en-IN" dirty="0"/>
              <a:t> → Weakness in abduction beyond 15°</a:t>
            </a:r>
          </a:p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F68796D-38AB-414D-E191-8B557426C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579" y="3599546"/>
            <a:ext cx="32573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734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9926-7B4F-FB60-3CCD-93F1F25F9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Gluteus maximus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2E5DB-FE7B-9602-554F-10494E6B6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Anatomy Overview</a:t>
            </a:r>
          </a:p>
          <a:p>
            <a:r>
              <a:rPr lang="en-US" b="1" dirty="0"/>
              <a:t>Location:</a:t>
            </a:r>
            <a:r>
              <a:rPr lang="en-US" dirty="0"/>
              <a:t> Superficial buttock region</a:t>
            </a:r>
          </a:p>
          <a:p>
            <a:r>
              <a:rPr lang="en-US" b="1" dirty="0"/>
              <a:t>Size:</a:t>
            </a:r>
            <a:r>
              <a:rPr lang="en-US" dirty="0"/>
              <a:t> Largest muscle in the body</a:t>
            </a:r>
          </a:p>
          <a:p>
            <a:r>
              <a:rPr lang="en-US" b="1" dirty="0"/>
              <a:t>Shape:</a:t>
            </a:r>
            <a:r>
              <a:rPr lang="en-US" dirty="0"/>
              <a:t> Thick, quadrilateral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3895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0E7B1-AB2D-6609-1807-A66BB364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434B-BE5B-1BD8-5750-0DDB6D05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Gluteus maximus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BD4AB-1FF3-1C18-07EF-1982A96E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Origin</a:t>
            </a:r>
          </a:p>
          <a:p>
            <a:r>
              <a:rPr lang="en-IN" b="1" dirty="0"/>
              <a:t>Ilium</a:t>
            </a:r>
            <a:r>
              <a:rPr lang="en-IN" dirty="0"/>
              <a:t> (posterior gluteal surface, behind posterior gluteal line)</a:t>
            </a:r>
          </a:p>
          <a:p>
            <a:r>
              <a:rPr lang="en-IN" b="1" dirty="0"/>
              <a:t>Sacrum</a:t>
            </a:r>
            <a:endParaRPr lang="en-IN" dirty="0"/>
          </a:p>
          <a:p>
            <a:r>
              <a:rPr lang="en-IN" b="1" dirty="0"/>
              <a:t>Coccyx</a:t>
            </a:r>
            <a:endParaRPr lang="en-IN" dirty="0"/>
          </a:p>
          <a:p>
            <a:r>
              <a:rPr lang="en-IN" b="1" dirty="0" err="1"/>
              <a:t>Sacrotuberous</a:t>
            </a:r>
            <a:r>
              <a:rPr lang="en-IN" b="1" dirty="0"/>
              <a:t> ligament</a:t>
            </a:r>
            <a:endParaRPr lang="en-IN" dirty="0"/>
          </a:p>
          <a:p>
            <a:r>
              <a:rPr lang="en-IN" b="1" dirty="0"/>
              <a:t>Thoracolumbar fascia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043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191B-DFF2-E32C-67D2-64659225E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84863-708D-B3E9-609C-A9B76D847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Gluteus maximus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0589-6A20-6F29-5A5D-AD78C5F8B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Insertion</a:t>
            </a:r>
          </a:p>
          <a:p>
            <a:r>
              <a:rPr lang="en-US" dirty="0"/>
              <a:t>Upper fibers → </a:t>
            </a:r>
            <a:r>
              <a:rPr lang="en-US" b="1" dirty="0"/>
              <a:t>Iliotibial tract (IT band)</a:t>
            </a:r>
            <a:endParaRPr lang="en-US" dirty="0"/>
          </a:p>
          <a:p>
            <a:r>
              <a:rPr lang="en-US" dirty="0"/>
              <a:t>Lower fibers → </a:t>
            </a:r>
            <a:r>
              <a:rPr lang="en-US" b="1" dirty="0"/>
              <a:t>Gluteal tuberosity</a:t>
            </a:r>
            <a:r>
              <a:rPr lang="en-US" dirty="0"/>
              <a:t> of femur</a:t>
            </a:r>
          </a:p>
          <a:p>
            <a:pPr marL="0" indent="0">
              <a:buNone/>
            </a:pPr>
            <a:r>
              <a:rPr lang="en-US" b="1" dirty="0"/>
              <a:t>Actions</a:t>
            </a:r>
          </a:p>
          <a:p>
            <a:r>
              <a:rPr lang="en-US" b="1" dirty="0"/>
              <a:t>Main extensor of the hip</a:t>
            </a:r>
            <a:endParaRPr lang="en-US" dirty="0"/>
          </a:p>
          <a:p>
            <a:r>
              <a:rPr lang="en-US" b="1" dirty="0"/>
              <a:t>Lateral rotation of the thigh</a:t>
            </a:r>
            <a:endParaRPr lang="en-US" dirty="0"/>
          </a:p>
          <a:p>
            <a:r>
              <a:rPr lang="en-US" dirty="0"/>
              <a:t>Assists in rising from sitting, climbing stairs, running, jumping</a:t>
            </a:r>
          </a:p>
          <a:p>
            <a:r>
              <a:rPr lang="en-US" dirty="0"/>
              <a:t>Stabilizes pelvis and trunk when moving</a:t>
            </a:r>
          </a:p>
          <a:p>
            <a:pPr marL="0" indent="0">
              <a:buNone/>
            </a:pPr>
            <a:r>
              <a:rPr lang="en-US" dirty="0"/>
              <a:t>💡 </a:t>
            </a:r>
            <a:r>
              <a:rPr lang="en-US" i="1" dirty="0"/>
              <a:t>Gluteus maximus is NOT heavily used during normal walking — it is activated when </a:t>
            </a:r>
            <a:r>
              <a:rPr lang="en-US" b="1" i="1" dirty="0"/>
              <a:t>forceful extension</a:t>
            </a:r>
            <a:r>
              <a:rPr lang="en-US" i="1" dirty="0"/>
              <a:t> is needed, like sprinting or standing up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653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AC638-E662-9354-FB08-968550EA6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189B-E82D-C30A-7F68-1BC3FB988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Gluteus maximus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A7493-1699-49EE-ABB7-9AA930E7D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Nerve Supply</a:t>
            </a:r>
          </a:p>
          <a:p>
            <a:r>
              <a:rPr lang="en-US" b="1" dirty="0"/>
              <a:t>Inferior gluteal nerve</a:t>
            </a:r>
            <a:r>
              <a:rPr lang="en-US" dirty="0"/>
              <a:t> (</a:t>
            </a:r>
            <a:r>
              <a:rPr lang="en-US" b="1" dirty="0"/>
              <a:t>L5, S1, S2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💥 </a:t>
            </a:r>
            <a:r>
              <a:rPr lang="en-US" b="1" dirty="0"/>
              <a:t>ONLY muscle supplied by the inferior gluteal nerve</a:t>
            </a:r>
            <a:r>
              <a:rPr lang="en-US" dirty="0"/>
              <a:t> — important exam point!</a:t>
            </a:r>
          </a:p>
          <a:p>
            <a:pPr marL="0" indent="0">
              <a:buNone/>
            </a:pPr>
            <a:r>
              <a:rPr lang="en-US" b="1" dirty="0"/>
              <a:t>Blood Supply</a:t>
            </a:r>
          </a:p>
          <a:p>
            <a:r>
              <a:rPr lang="en-US" b="1" dirty="0"/>
              <a:t>Superior and inferior gluteal arteries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130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641C6-660E-1636-E72D-22061B0E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FEC4-5D78-ADF5-FFC3-AD2D93F1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Gluteus maximus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93358-20E1-4A6B-2D42-BD984E509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Clinical Relevance</a:t>
            </a:r>
          </a:p>
          <a:p>
            <a:r>
              <a:rPr lang="en-IN" b="1" dirty="0"/>
              <a:t>Intramuscular injection site</a:t>
            </a:r>
            <a:r>
              <a:rPr lang="en-IN" dirty="0"/>
              <a:t> is usually in the </a:t>
            </a:r>
            <a:r>
              <a:rPr lang="en-IN" b="1" dirty="0"/>
              <a:t>gluteus </a:t>
            </a:r>
            <a:r>
              <a:rPr lang="en-IN" b="1" dirty="0" err="1"/>
              <a:t>medius</a:t>
            </a:r>
            <a:r>
              <a:rPr lang="en-IN" dirty="0"/>
              <a:t> region (upper outer quadrant) to avoid injury to the </a:t>
            </a:r>
            <a:r>
              <a:rPr lang="en-IN" b="1" dirty="0"/>
              <a:t>sciatic nerve</a:t>
            </a:r>
            <a:r>
              <a:rPr lang="en-IN" dirty="0"/>
              <a:t>.</a:t>
            </a:r>
          </a:p>
          <a:p>
            <a:r>
              <a:rPr lang="en-IN" b="1" dirty="0"/>
              <a:t>Weakness/Paralysis</a:t>
            </a:r>
            <a:r>
              <a:rPr lang="en-IN" dirty="0"/>
              <a:t> → Difficulty climbing stairs or rising from chair (Positive </a:t>
            </a:r>
            <a:r>
              <a:rPr lang="en-IN" b="1" dirty="0"/>
              <a:t>Gower’s sign</a:t>
            </a:r>
            <a:r>
              <a:rPr lang="en-IN" dirty="0"/>
              <a:t> in some neuromuscular conditions)</a:t>
            </a:r>
          </a:p>
          <a:p>
            <a:r>
              <a:rPr lang="en-IN" b="1" dirty="0"/>
              <a:t>Inferior gluteal nerve injury</a:t>
            </a:r>
            <a:r>
              <a:rPr lang="en-IN" dirty="0"/>
              <a:t> → Flattened buttock, weakened hip extension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7455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9BB1-A09F-E280-6B65-53793C03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soleus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3C9E9-3665-94B0-D10E-1A936A199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Anatomy Overview</a:t>
            </a:r>
          </a:p>
          <a:p>
            <a:r>
              <a:rPr lang="en-US" b="1" dirty="0"/>
              <a:t>Location:</a:t>
            </a:r>
            <a:r>
              <a:rPr lang="en-US" dirty="0"/>
              <a:t> Posterior compartment of the leg (deep to gastrocnemius)</a:t>
            </a:r>
          </a:p>
          <a:p>
            <a:r>
              <a:rPr lang="en-US" b="1" dirty="0"/>
              <a:t>Shape:</a:t>
            </a:r>
            <a:r>
              <a:rPr lang="en-US" dirty="0"/>
              <a:t> Broad and flat (unlike the bulky gastrocnemius)</a:t>
            </a:r>
          </a:p>
          <a:p>
            <a:r>
              <a:rPr lang="en-US" b="1" dirty="0"/>
              <a:t>Nickname:</a:t>
            </a:r>
            <a:r>
              <a:rPr lang="en-US" dirty="0"/>
              <a:t> </a:t>
            </a:r>
            <a:r>
              <a:rPr lang="en-US" b="1" dirty="0"/>
              <a:t>“Peripheral heart”</a:t>
            </a:r>
            <a:r>
              <a:rPr lang="en-US" dirty="0"/>
              <a:t> – because it helps pump venous blood back toward the heart, especially during standing.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6442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91751-10B6-5B27-D8C5-7B7184835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6E34-A134-3C0B-8F81-B82D77CB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soleus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F5780-5940-2EB1-6A8F-9121425F1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Origin</a:t>
            </a:r>
          </a:p>
          <a:p>
            <a:r>
              <a:rPr lang="en-IN" b="1" dirty="0" err="1"/>
              <a:t>Soleal</a:t>
            </a:r>
            <a:r>
              <a:rPr lang="en-IN" b="1" dirty="0"/>
              <a:t> line</a:t>
            </a:r>
            <a:r>
              <a:rPr lang="en-IN" dirty="0"/>
              <a:t> of tibia</a:t>
            </a:r>
          </a:p>
          <a:p>
            <a:r>
              <a:rPr lang="en-IN" b="1" dirty="0"/>
              <a:t>Posterior surface of tibia</a:t>
            </a:r>
            <a:endParaRPr lang="en-IN" dirty="0"/>
          </a:p>
          <a:p>
            <a:r>
              <a:rPr lang="en-IN" b="1" dirty="0"/>
              <a:t>Posterior surface of fibula</a:t>
            </a:r>
            <a:r>
              <a:rPr lang="en-IN" dirty="0"/>
              <a:t> (head and proximal shaft)</a:t>
            </a:r>
          </a:p>
          <a:p>
            <a:r>
              <a:rPr lang="en-IN" b="1" dirty="0"/>
              <a:t>Tendinous arch between tibia and fibula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Insertion</a:t>
            </a:r>
          </a:p>
          <a:p>
            <a:r>
              <a:rPr lang="en-IN" b="1" dirty="0"/>
              <a:t>Calcaneus</a:t>
            </a:r>
            <a:r>
              <a:rPr lang="en-IN" dirty="0"/>
              <a:t> via </a:t>
            </a:r>
            <a:r>
              <a:rPr lang="en-IN" b="1" dirty="0"/>
              <a:t>Achilles tendon</a:t>
            </a:r>
            <a:r>
              <a:rPr lang="en-IN" dirty="0"/>
              <a:t> (shared with gastrocnemius)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742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D5AB-F2E4-FFB3-C359-4ABADB2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32EA-0D94-3984-38E4-FBE289B11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soleus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9530D-4B18-7EA8-E697-794D20279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Actions</a:t>
            </a:r>
          </a:p>
          <a:p>
            <a:r>
              <a:rPr lang="en-US" b="1" dirty="0"/>
              <a:t>Plantar flexion of the foot</a:t>
            </a:r>
            <a:r>
              <a:rPr lang="en-US" dirty="0"/>
              <a:t> (especially when the knee is flexed)</a:t>
            </a:r>
          </a:p>
          <a:p>
            <a:r>
              <a:rPr lang="en-US" b="1" dirty="0"/>
              <a:t>Maintains posture while standing</a:t>
            </a:r>
            <a:r>
              <a:rPr lang="en-US" dirty="0"/>
              <a:t> (prevents body from falling forward)</a:t>
            </a:r>
          </a:p>
          <a:p>
            <a:r>
              <a:rPr lang="en-US" b="1" dirty="0"/>
              <a:t>Venous return assistance</a:t>
            </a:r>
            <a:r>
              <a:rPr lang="en-US" dirty="0"/>
              <a:t> → Acts as a </a:t>
            </a:r>
            <a:r>
              <a:rPr lang="en-US" b="1" dirty="0"/>
              <a:t>muscle pump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💡 </a:t>
            </a:r>
            <a:r>
              <a:rPr lang="en-US" i="1" dirty="0"/>
              <a:t>Key difference:</a:t>
            </a:r>
            <a:r>
              <a:rPr lang="en-US" dirty="0"/>
              <a:t> Gastrocnemius works more during </a:t>
            </a:r>
            <a:r>
              <a:rPr lang="en-US" b="1" dirty="0"/>
              <a:t>running/jumping</a:t>
            </a:r>
            <a:r>
              <a:rPr lang="en-US" dirty="0"/>
              <a:t>, while </a:t>
            </a:r>
            <a:r>
              <a:rPr lang="en-US" b="1" dirty="0"/>
              <a:t>soleus works during steady standing and walking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Nerve Supply</a:t>
            </a:r>
          </a:p>
          <a:p>
            <a:r>
              <a:rPr lang="en-US" b="1" dirty="0"/>
              <a:t>Tibial nerve</a:t>
            </a:r>
            <a:r>
              <a:rPr lang="en-US" dirty="0"/>
              <a:t> (</a:t>
            </a:r>
            <a:r>
              <a:rPr lang="en-US" b="1" dirty="0"/>
              <a:t>S1–S2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🦵 </a:t>
            </a:r>
            <a:r>
              <a:rPr lang="en-US" b="1" dirty="0"/>
              <a:t>Same nerve that supplies the gastrocnemius</a:t>
            </a:r>
            <a:r>
              <a:rPr lang="en-US" dirty="0"/>
              <a:t> – both form the </a:t>
            </a:r>
            <a:r>
              <a:rPr lang="en-US" b="1" dirty="0"/>
              <a:t>triceps </a:t>
            </a:r>
            <a:r>
              <a:rPr lang="en-US" b="1" dirty="0" err="1"/>
              <a:t>surae</a:t>
            </a:r>
            <a:r>
              <a:rPr lang="en-US" dirty="0"/>
              <a:t> group.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1150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CD1B2-72FB-5DAC-3610-816FE62E5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ECD6-6D5D-634B-EFF8-C21DFEDA8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soleus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70991-20F4-7313-C246-7403F44BB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Blood Supply</a:t>
            </a:r>
          </a:p>
          <a:p>
            <a:r>
              <a:rPr lang="en-IN" b="1" dirty="0"/>
              <a:t>Posterior tibial artery</a:t>
            </a:r>
            <a:endParaRPr lang="en-IN" dirty="0"/>
          </a:p>
          <a:p>
            <a:r>
              <a:rPr lang="en-IN" b="1" dirty="0"/>
              <a:t>Peroneal (fibular) artery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Clinical Relevance</a:t>
            </a:r>
          </a:p>
          <a:p>
            <a:r>
              <a:rPr lang="en-IN" b="1" dirty="0"/>
              <a:t>Deep Vein Thrombosis (DVT)</a:t>
            </a:r>
            <a:r>
              <a:rPr lang="en-IN" dirty="0"/>
              <a:t> risk increases if soleus muscle pump is inactive (e.g., prolonged bed rest).</a:t>
            </a:r>
          </a:p>
          <a:p>
            <a:r>
              <a:rPr lang="en-IN" b="1" dirty="0"/>
              <a:t>Tears are rare</a:t>
            </a:r>
            <a:r>
              <a:rPr lang="en-IN" dirty="0"/>
              <a:t>, more common in athletes is gastrocnemius tear ("Tennis leg").</a:t>
            </a:r>
          </a:p>
          <a:p>
            <a:r>
              <a:rPr lang="en-IN" b="1" dirty="0"/>
              <a:t>Achilles tendon rupture</a:t>
            </a:r>
            <a:r>
              <a:rPr lang="en-IN" dirty="0"/>
              <a:t> affects both </a:t>
            </a:r>
            <a:r>
              <a:rPr lang="en-IN" dirty="0" err="1"/>
              <a:t>gastronemius</a:t>
            </a:r>
            <a:r>
              <a:rPr lang="en-IN" dirty="0"/>
              <a:t> and soleus function.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1780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CC622-829F-CFBD-6FC6-76AFC8A97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086AA-B714-2BD8-57B1-440762F1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gastrocnemius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01BCC-8BBD-B419-0983-A3A8A4C5C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Anatomy Overview</a:t>
            </a:r>
          </a:p>
          <a:p>
            <a:r>
              <a:rPr lang="en-US" b="1" dirty="0"/>
              <a:t>Location:</a:t>
            </a:r>
            <a:r>
              <a:rPr lang="en-US" dirty="0"/>
              <a:t> Superficial posterior compartment of the leg</a:t>
            </a:r>
          </a:p>
          <a:p>
            <a:r>
              <a:rPr lang="en-US" b="1" dirty="0"/>
              <a:t>Shape:</a:t>
            </a:r>
            <a:r>
              <a:rPr lang="en-US" dirty="0"/>
              <a:t> Bulky and fusiform with two visible bellies</a:t>
            </a:r>
          </a:p>
          <a:p>
            <a:r>
              <a:rPr lang="en-US" b="1" dirty="0"/>
              <a:t>Heads:</a:t>
            </a:r>
            <a:endParaRPr lang="en-US" dirty="0"/>
          </a:p>
          <a:p>
            <a:pPr lvl="1"/>
            <a:r>
              <a:rPr lang="en-US" b="1" dirty="0"/>
              <a:t>Medial head</a:t>
            </a:r>
            <a:endParaRPr lang="en-US" dirty="0"/>
          </a:p>
          <a:p>
            <a:pPr lvl="1"/>
            <a:r>
              <a:rPr lang="en-US" b="1" dirty="0"/>
              <a:t>Lateral head</a:t>
            </a:r>
            <a:endParaRPr lang="en-US" dirty="0"/>
          </a:p>
          <a:p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53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28A36-C9E7-BF57-DD2F-137D02C0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8D5E-965D-B0D1-C53B-18AA9C40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gastrocnemius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222EC-485B-66CC-A09F-D602B61E9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latin typeface="Arial" panose="020B0604020202020204" pitchFamily="34" charset="0"/>
              </a:rPr>
              <a:t>Origin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A5F37B-36A5-7914-2280-0BEC1D16A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846230"/>
              </p:ext>
            </p:extLst>
          </p:nvPr>
        </p:nvGraphicFramePr>
        <p:xfrm>
          <a:off x="872240" y="2687757"/>
          <a:ext cx="9604374" cy="109728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4233816659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126210372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Origin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5640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Medial head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Posterior surface of </a:t>
                      </a:r>
                      <a:r>
                        <a:rPr lang="en-US" sz="1800" b="1"/>
                        <a:t>medial femoral condyle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166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Lateral head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Posterior surface of </a:t>
                      </a:r>
                      <a:r>
                        <a:rPr lang="en-US" sz="1800" b="1" dirty="0"/>
                        <a:t>lateral femoral condyle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181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884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03C2A-732A-7689-D220-D6C59B31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9CCD-71D4-C32D-83C5-97524A19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gastrocnemius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FCB18-9BD7-05DB-2E59-962C9DA69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Insertion</a:t>
            </a:r>
          </a:p>
          <a:p>
            <a:r>
              <a:rPr lang="en-US" b="1" dirty="0"/>
              <a:t>Calcaneus</a:t>
            </a:r>
            <a:r>
              <a:rPr lang="en-US" dirty="0"/>
              <a:t> via the </a:t>
            </a:r>
            <a:r>
              <a:rPr lang="en-US" b="1" dirty="0"/>
              <a:t>Achilles (calcaneal) tendon</a:t>
            </a:r>
            <a:r>
              <a:rPr lang="en-US" dirty="0"/>
              <a:t> (shared with soleus)</a:t>
            </a:r>
          </a:p>
          <a:p>
            <a:pPr marL="0" indent="0">
              <a:buNone/>
            </a:pPr>
            <a:r>
              <a:rPr lang="en-US" b="1" dirty="0"/>
              <a:t>Actions</a:t>
            </a:r>
          </a:p>
          <a:p>
            <a:r>
              <a:rPr lang="en-US" b="1" dirty="0"/>
              <a:t>Powerful plantar flexion of the foot</a:t>
            </a:r>
            <a:endParaRPr lang="en-US" dirty="0"/>
          </a:p>
          <a:p>
            <a:r>
              <a:rPr lang="en-US" b="1" dirty="0"/>
              <a:t>Flexion of the knee</a:t>
            </a:r>
            <a:r>
              <a:rPr lang="en-US" dirty="0"/>
              <a:t> (since it crosses the knee joint)</a:t>
            </a:r>
          </a:p>
          <a:p>
            <a:r>
              <a:rPr lang="en-US" dirty="0"/>
              <a:t>Active during </a:t>
            </a:r>
            <a:r>
              <a:rPr lang="en-US" b="1" dirty="0"/>
              <a:t>running, jumping, sprinting</a:t>
            </a:r>
            <a:r>
              <a:rPr lang="en-US" dirty="0"/>
              <a:t> (explosive movements)</a:t>
            </a:r>
          </a:p>
          <a:p>
            <a:r>
              <a:rPr lang="en-US" dirty="0"/>
              <a:t>Works with </a:t>
            </a:r>
            <a:r>
              <a:rPr lang="en-US" b="1" dirty="0"/>
              <a:t>soleus</a:t>
            </a:r>
            <a:r>
              <a:rPr lang="en-US" dirty="0"/>
              <a:t> to form </a:t>
            </a:r>
            <a:r>
              <a:rPr lang="en-US" b="1" dirty="0"/>
              <a:t>triceps </a:t>
            </a:r>
            <a:r>
              <a:rPr lang="en-US" b="1" dirty="0" err="1"/>
              <a:t>surae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💡 </a:t>
            </a:r>
            <a:r>
              <a:rPr lang="en-US" i="1" dirty="0"/>
              <a:t>Mnemonic:</a:t>
            </a:r>
            <a:r>
              <a:rPr lang="en-US" dirty="0"/>
              <a:t> </a:t>
            </a:r>
            <a:r>
              <a:rPr lang="en-US" b="1" dirty="0"/>
              <a:t>"Gastro = Go!"</a:t>
            </a:r>
            <a:r>
              <a:rPr lang="en-US" dirty="0"/>
              <a:t> (Fast movements) — </a:t>
            </a:r>
            <a:r>
              <a:rPr lang="en-US" b="1" dirty="0"/>
              <a:t>Gastrocnemius is for quick, powerful contractions</a:t>
            </a:r>
            <a:r>
              <a:rPr lang="en-US" dirty="0"/>
              <a:t>, while </a:t>
            </a:r>
            <a:r>
              <a:rPr lang="en-US" b="1" dirty="0"/>
              <a:t>soleus works for slow, sustained posture control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6235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4C9BD-8CC2-B578-5A70-14B033E38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7A9A-596D-9AAC-21FD-54C7E743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gastrocnemius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A76DE-F547-C309-31B0-85FBB5093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Nerve Supply</a:t>
            </a:r>
          </a:p>
          <a:p>
            <a:r>
              <a:rPr lang="en-US" b="1" dirty="0"/>
              <a:t>Tibial nerve</a:t>
            </a:r>
            <a:r>
              <a:rPr lang="en-US" dirty="0"/>
              <a:t> (</a:t>
            </a:r>
            <a:r>
              <a:rPr lang="en-US" b="1" dirty="0"/>
              <a:t>S1–S2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Blood Supply</a:t>
            </a:r>
          </a:p>
          <a:p>
            <a:r>
              <a:rPr lang="en-US" b="1" dirty="0"/>
              <a:t>Sural branches of the popliteal artery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Clinical Relevance</a:t>
            </a:r>
          </a:p>
          <a:p>
            <a:r>
              <a:rPr lang="en-US" b="1" dirty="0"/>
              <a:t>Achilles Tendon Rupture</a:t>
            </a:r>
            <a:r>
              <a:rPr lang="en-US" dirty="0"/>
              <a:t> → Can't push off the ground or stand on tiptoes.</a:t>
            </a:r>
          </a:p>
          <a:p>
            <a:r>
              <a:rPr lang="en-US" b="1" dirty="0"/>
              <a:t>Tennis Leg</a:t>
            </a:r>
            <a:r>
              <a:rPr lang="en-US" dirty="0"/>
              <a:t> → Partial tear of medial head of gastrocnemius (common in athletes during sudden acceleration).</a:t>
            </a:r>
          </a:p>
          <a:p>
            <a:r>
              <a:rPr lang="en-US" b="1" dirty="0"/>
              <a:t>Calf muscle pump</a:t>
            </a:r>
            <a:r>
              <a:rPr lang="en-US" dirty="0"/>
              <a:t> → Aids venous blood return to the heart.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678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A321-C185-475C-01E7-BB1BC295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sternocleidomastoid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3E713-740B-E0FB-CC37-E4A6A0E3B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Anatomy Overview</a:t>
            </a:r>
          </a:p>
          <a:p>
            <a:r>
              <a:rPr lang="en-US" b="1" dirty="0"/>
              <a:t>Location:</a:t>
            </a:r>
            <a:r>
              <a:rPr lang="en-US" dirty="0"/>
              <a:t> Superficial muscle on both sides of the neck</a:t>
            </a:r>
          </a:p>
          <a:p>
            <a:r>
              <a:rPr lang="en-US" b="1" dirty="0"/>
              <a:t>Visible when turning the head</a:t>
            </a:r>
            <a:endParaRPr lang="en-US" dirty="0"/>
          </a:p>
          <a:p>
            <a:r>
              <a:rPr lang="en-US" b="1" dirty="0"/>
              <a:t>Bilateral, strap-like muscle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263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B3BBB-C8B1-F75C-07C8-C7E27EB04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67732-2BE1-60B5-35F8-0C91E2249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sternocleidomastoid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8186-29AE-EEC4-1100-E9635EDC4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Origin</a:t>
            </a:r>
          </a:p>
          <a:p>
            <a:r>
              <a:rPr lang="en-US" b="1" dirty="0"/>
              <a:t>Sternal head:</a:t>
            </a:r>
            <a:r>
              <a:rPr lang="en-US" dirty="0"/>
              <a:t> Manubrium of </a:t>
            </a:r>
            <a:r>
              <a:rPr lang="en-US" b="1" dirty="0"/>
              <a:t>sternum</a:t>
            </a:r>
            <a:endParaRPr lang="en-US" dirty="0"/>
          </a:p>
          <a:p>
            <a:r>
              <a:rPr lang="en-US" b="1" dirty="0"/>
              <a:t>Clavicular head:</a:t>
            </a:r>
            <a:r>
              <a:rPr lang="en-US" dirty="0"/>
              <a:t> Medial third of </a:t>
            </a:r>
            <a:r>
              <a:rPr lang="en-US" b="1" dirty="0"/>
              <a:t>clavicle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Insertion</a:t>
            </a:r>
          </a:p>
          <a:p>
            <a:r>
              <a:rPr lang="en-US" b="1" dirty="0"/>
              <a:t>Mastoid process of temporal bone</a:t>
            </a:r>
            <a:endParaRPr lang="en-US" dirty="0"/>
          </a:p>
          <a:p>
            <a:r>
              <a:rPr lang="en-US" b="1" dirty="0"/>
              <a:t>Lateral part of superior nuchal line of occipital bone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799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CF44-CB92-8471-35BD-9802D062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F639F-729F-F461-8619-75942B6B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sternocleidomastoid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3D6DF-CEAD-27EE-7AF9-2EDEAC306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Actions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BA5020-28EC-0197-EE9C-CF0AF9242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326251"/>
              </p:ext>
            </p:extLst>
          </p:nvPr>
        </p:nvGraphicFramePr>
        <p:xfrm>
          <a:off x="905652" y="3157129"/>
          <a:ext cx="9604374" cy="201168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706697865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142301619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Contraction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81846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Unilateral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Rotates head </a:t>
                      </a:r>
                      <a:r>
                        <a:rPr lang="en-US" sz="1800" b="1"/>
                        <a:t>to opposite side</a:t>
                      </a:r>
                      <a:r>
                        <a:rPr lang="en-US" sz="1800"/>
                        <a:t> and tilts head </a:t>
                      </a:r>
                      <a:r>
                        <a:rPr lang="en-US" sz="1800" b="1"/>
                        <a:t>to same side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8539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Bilateral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Flexes neck (brings chin to chest)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06547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Accessory function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Assists in </a:t>
                      </a:r>
                      <a:r>
                        <a:rPr lang="en-US" sz="1800" b="1" dirty="0"/>
                        <a:t>forced inspiration</a:t>
                      </a:r>
                      <a:r>
                        <a:rPr lang="en-US" sz="1800" dirty="0"/>
                        <a:t> by elevating sternum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71538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D89D163-4856-C082-6E7A-C776D4AD2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579" y="2490262"/>
            <a:ext cx="65101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Turn your head to the right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Left SCM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contracts.</a:t>
            </a:r>
          </a:p>
        </p:txBody>
      </p:sp>
    </p:spTree>
    <p:extLst>
      <p:ext uri="{BB962C8B-B14F-4D97-AF65-F5344CB8AC3E}">
        <p14:creationId xmlns:p14="http://schemas.microsoft.com/office/powerpoint/2010/main" val="872987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50AE7-9260-8C6F-C988-AE64A0FE6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D5FC-63B7-8717-3360-081E6E54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sternocleidomastoid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84646-B0E9-6543-2FDC-3A6143A15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Nerve Supply</a:t>
            </a:r>
          </a:p>
          <a:p>
            <a:r>
              <a:rPr lang="en-US" b="1" dirty="0"/>
              <a:t>Spinal accessory nerve (Cranial Nerve XI)</a:t>
            </a:r>
            <a:endParaRPr lang="en-US" dirty="0"/>
          </a:p>
          <a:p>
            <a:r>
              <a:rPr lang="en-US" b="1" dirty="0"/>
              <a:t>C2–C3 ventral rami for proprioception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📍 </a:t>
            </a:r>
            <a:r>
              <a:rPr lang="en-US" i="1" dirty="0"/>
              <a:t>Only two muscles are supplied by CN XI: SCM and Trapezius — easy exam point!</a:t>
            </a:r>
          </a:p>
          <a:p>
            <a:pPr marL="0" indent="0">
              <a:buNone/>
            </a:pPr>
            <a:r>
              <a:rPr lang="en-US" b="1" dirty="0"/>
              <a:t>Blood Supply</a:t>
            </a:r>
          </a:p>
          <a:p>
            <a:r>
              <a:rPr lang="en-US" b="1" dirty="0"/>
              <a:t>Occipital artery</a:t>
            </a:r>
            <a:endParaRPr lang="en-US" dirty="0"/>
          </a:p>
          <a:p>
            <a:r>
              <a:rPr lang="en-US" b="1" dirty="0"/>
              <a:t>Superior thyroid artery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44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07CC-6883-C15C-86C7-1C8F0CC57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E7537-20DC-6F9D-C1C1-949A3DEED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sternocleidomastoid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51552-6B7E-C356-7370-EBC63D7A6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Clinical Relevance</a:t>
            </a:r>
          </a:p>
          <a:p>
            <a:r>
              <a:rPr lang="en-IN" b="1" dirty="0"/>
              <a:t>Torticollis (Wry Neck):</a:t>
            </a:r>
            <a:r>
              <a:rPr lang="en-IN" dirty="0"/>
              <a:t> Spasm or contracture → Head tilted to one side</a:t>
            </a:r>
          </a:p>
          <a:p>
            <a:r>
              <a:rPr lang="en-IN" b="1" dirty="0"/>
              <a:t>Accessory nerve injury (e.g., during lymph node biopsy)</a:t>
            </a:r>
            <a:r>
              <a:rPr lang="en-IN" dirty="0"/>
              <a:t> → Weakness in head rotation and shoulder elevation (due to trapezius involvement)</a:t>
            </a:r>
          </a:p>
          <a:p>
            <a:r>
              <a:rPr lang="en-IN" b="1" dirty="0"/>
              <a:t>SCM contraction is visible when breathing heavily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02318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</TotalTime>
  <Words>1384</Words>
  <Application>Microsoft Office PowerPoint</Application>
  <PresentationFormat>Widescreen</PresentationFormat>
  <Paragraphs>244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Gill Sans MT</vt:lpstr>
      <vt:lpstr>Gallery</vt:lpstr>
      <vt:lpstr>Individual muscles</vt:lpstr>
      <vt:lpstr>Pectoralis major</vt:lpstr>
      <vt:lpstr>Pectoralis major</vt:lpstr>
      <vt:lpstr>Pectoralis major</vt:lpstr>
      <vt:lpstr>Pectoralis major</vt:lpstr>
      <vt:lpstr>Pectoralis major</vt:lpstr>
      <vt:lpstr>Biceps brachii</vt:lpstr>
      <vt:lpstr>Biceps brachii</vt:lpstr>
      <vt:lpstr>Biceps brachii</vt:lpstr>
      <vt:lpstr>Biceps brachii</vt:lpstr>
      <vt:lpstr>Biceps brachii</vt:lpstr>
      <vt:lpstr>deltoid</vt:lpstr>
      <vt:lpstr>deltoid</vt:lpstr>
      <vt:lpstr>deltoid</vt:lpstr>
      <vt:lpstr>deltoid</vt:lpstr>
      <vt:lpstr>deltoid</vt:lpstr>
      <vt:lpstr>Gluteus maximus</vt:lpstr>
      <vt:lpstr>Gluteus maximus</vt:lpstr>
      <vt:lpstr>Gluteus maximus</vt:lpstr>
      <vt:lpstr>Gluteus maximus</vt:lpstr>
      <vt:lpstr>Gluteus maximus</vt:lpstr>
      <vt:lpstr>soleus</vt:lpstr>
      <vt:lpstr>soleus</vt:lpstr>
      <vt:lpstr>soleus</vt:lpstr>
      <vt:lpstr>soleus</vt:lpstr>
      <vt:lpstr>gastrocnemius</vt:lpstr>
      <vt:lpstr>gastrocnemius</vt:lpstr>
      <vt:lpstr>gastrocnemius</vt:lpstr>
      <vt:lpstr>gastrocnemius</vt:lpstr>
      <vt:lpstr>sternocleidomastoid</vt:lpstr>
      <vt:lpstr>sternocleidomastoid</vt:lpstr>
      <vt:lpstr>sternocleidomastoid</vt:lpstr>
      <vt:lpstr>sternocleidomastoid</vt:lpstr>
      <vt:lpstr>sternocleidomastoid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2025-10-19T06:03:53Z</dcterms:created>
  <dcterms:modified xsi:type="dcterms:W3CDTF">2025-11-19T12:55:12Z</dcterms:modified>
</cp:coreProperties>
</file>