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7" r:id="rId5"/>
    <p:sldId id="268" r:id="rId6"/>
    <p:sldId id="266" r:id="rId7"/>
    <p:sldId id="259" r:id="rId8"/>
    <p:sldId id="260" r:id="rId9"/>
    <p:sldId id="258" r:id="rId10"/>
    <p:sldId id="261" r:id="rId11"/>
    <p:sldId id="262" r:id="rId12"/>
    <p:sldId id="263" r:id="rId13"/>
    <p:sldId id="26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9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65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4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49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30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36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86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30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2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9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327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81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51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91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688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64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80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729D32-45C7-4917-BE51-386D3B8A27D5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16DCEC4-036F-4AA7-A06C-86C87F564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2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6421-BF87-321E-53D2-67C4C2780A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Bones and joints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AC7A-A3D0-8505-74C5-93351028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824A7-EC12-06EE-F4F2-8A5EB6CBC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799273"/>
              </p:ext>
            </p:extLst>
          </p:nvPr>
        </p:nvGraphicFramePr>
        <p:xfrm>
          <a:off x="2275473" y="2848897"/>
          <a:ext cx="5366166" cy="3416299"/>
        </p:xfrm>
        <a:graphic>
          <a:graphicData uri="http://schemas.openxmlformats.org/drawingml/2006/table">
            <a:tbl>
              <a:tblPr/>
              <a:tblGrid>
                <a:gridCol w="1788722">
                  <a:extLst>
                    <a:ext uri="{9D8B030D-6E8A-4147-A177-3AD203B41FA5}">
                      <a16:colId xmlns:a16="http://schemas.microsoft.com/office/drawing/2014/main" val="947299808"/>
                    </a:ext>
                  </a:extLst>
                </a:gridCol>
                <a:gridCol w="1788722">
                  <a:extLst>
                    <a:ext uri="{9D8B030D-6E8A-4147-A177-3AD203B41FA5}">
                      <a16:colId xmlns:a16="http://schemas.microsoft.com/office/drawing/2014/main" val="3271608486"/>
                    </a:ext>
                  </a:extLst>
                </a:gridCol>
                <a:gridCol w="1788722">
                  <a:extLst>
                    <a:ext uri="{9D8B030D-6E8A-4147-A177-3AD203B41FA5}">
                      <a16:colId xmlns:a16="http://schemas.microsoft.com/office/drawing/2014/main" val="4069014231"/>
                    </a:ext>
                  </a:extLst>
                </a:gridCol>
              </a:tblGrid>
              <a:tr h="224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Bone Type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Description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Example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648480"/>
                  </a:ext>
                </a:extLst>
              </a:tr>
              <a:tr h="560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Long Bones</a:t>
                      </a:r>
                      <a:endParaRPr lang="en-IN" sz="1100" dirty="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Longer than they are wide; act as levers for movement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Femur, Humerus, Tibia, Radius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68772"/>
                  </a:ext>
                </a:extLst>
              </a:tr>
              <a:tr h="39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Short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Cube-shaped; provide support and stability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Carpals (wrist), Tarsals (ankle)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31900"/>
                  </a:ext>
                </a:extLst>
              </a:tr>
              <a:tr h="72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Flat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Thin, flat, often curved; protect organs and provide attachment surfaces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Skull bones, Sternum, Ribs, Scapula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307357"/>
                  </a:ext>
                </a:extLst>
              </a:tr>
              <a:tr h="560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Irregular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Complex shapes that don’t fit other categories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/>
                        <a:t>Vertebrae, Hip bone (coxal), Mandible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285756"/>
                  </a:ext>
                </a:extLst>
              </a:tr>
              <a:tr h="560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Sesamoid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Small, round bones embedded in tendons; reduce friction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Patella (kneecap) is the largest sesamoid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518412"/>
                  </a:ext>
                </a:extLst>
              </a:tr>
              <a:tr h="392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Pneumatic Bones</a:t>
                      </a:r>
                      <a:endParaRPr lang="en-IN" sz="1100"/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Contain air spaces to make bones lighter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Maxilla, Ethmoid, Sphenoid, Frontal bone</a:t>
                      </a:r>
                    </a:p>
                  </a:txBody>
                  <a:tcPr marL="56005" marR="56005" marT="28002" marB="28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33979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C90615E-C095-F40E-44D8-BC618AE2D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239169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Shape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97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CE6A-2C65-09CC-3E1B-B0A5A5CB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3091569" cy="706964"/>
          </a:xfrm>
        </p:spPr>
        <p:txBody>
          <a:bodyPr/>
          <a:lstStyle/>
          <a:p>
            <a:r>
              <a:rPr lang="en-US" dirty="0"/>
              <a:t>Long bone</a:t>
            </a:r>
            <a:endParaRPr lang="en-IN" dirty="0"/>
          </a:p>
        </p:txBody>
      </p:sp>
      <p:pic>
        <p:nvPicPr>
          <p:cNvPr id="1026" name="Picture 2" descr="The Skeletal System | Biology for Majors II">
            <a:extLst>
              <a:ext uri="{FF2B5EF4-FFF2-40B4-BE49-F238E27FC236}">
                <a16:creationId xmlns:a16="http://schemas.microsoft.com/office/drawing/2014/main" id="{21E35D6D-7E63-5FA9-E2A3-2623A91119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72" y="2044526"/>
            <a:ext cx="3281951" cy="437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059C92B-CA65-D0CC-8326-41FB8521FF16}"/>
              </a:ext>
            </a:extLst>
          </p:cNvPr>
          <p:cNvSpPr txBox="1">
            <a:spLocks/>
          </p:cNvSpPr>
          <p:nvPr/>
        </p:nvSpPr>
        <p:spPr bwMode="gray">
          <a:xfrm>
            <a:off x="7177212" y="973668"/>
            <a:ext cx="3091569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Short bone</a:t>
            </a:r>
            <a:endParaRPr lang="en-IN" dirty="0"/>
          </a:p>
        </p:txBody>
      </p:sp>
      <p:pic>
        <p:nvPicPr>
          <p:cNvPr id="1028" name="Picture 4" descr="Short Bones - Definition, Examples, &amp; Functions, with Diagram">
            <a:extLst>
              <a:ext uri="{FF2B5EF4-FFF2-40B4-BE49-F238E27FC236}">
                <a16:creationId xmlns:a16="http://schemas.microsoft.com/office/drawing/2014/main" id="{123A3B70-31C8-C436-2038-472EC8BD3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329" y="1941883"/>
            <a:ext cx="3737333" cy="4478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79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50A5-3CB9-6F43-61F9-FCA32746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5CA1-EE72-E1E6-A699-DB3C1B23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3091569" cy="706964"/>
          </a:xfrm>
        </p:spPr>
        <p:txBody>
          <a:bodyPr/>
          <a:lstStyle/>
          <a:p>
            <a:r>
              <a:rPr lang="en-US" dirty="0"/>
              <a:t>Flat bone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A5AD82-FADD-8E3B-C903-62233C86ABED}"/>
              </a:ext>
            </a:extLst>
          </p:cNvPr>
          <p:cNvSpPr txBox="1">
            <a:spLocks/>
          </p:cNvSpPr>
          <p:nvPr/>
        </p:nvSpPr>
        <p:spPr bwMode="gray">
          <a:xfrm>
            <a:off x="7177212" y="973668"/>
            <a:ext cx="3091569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Irregular bone</a:t>
            </a:r>
            <a:endParaRPr lang="en-IN" dirty="0"/>
          </a:p>
        </p:txBody>
      </p:sp>
      <p:pic>
        <p:nvPicPr>
          <p:cNvPr id="3074" name="Picture 2" descr="Flat Bones - Labster">
            <a:extLst>
              <a:ext uri="{FF2B5EF4-FFF2-40B4-BE49-F238E27FC236}">
                <a16:creationId xmlns:a16="http://schemas.microsoft.com/office/drawing/2014/main" id="{5DB8CF09-070D-1665-6982-3731F8B3AA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36" y="2468562"/>
            <a:ext cx="48768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lat &amp; Irregular Bones">
            <a:extLst>
              <a:ext uri="{FF2B5EF4-FFF2-40B4-BE49-F238E27FC236}">
                <a16:creationId xmlns:a16="http://schemas.microsoft.com/office/drawing/2014/main" id="{063AB344-6A70-CAC7-E17F-6E0703CD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695" y="2069195"/>
            <a:ext cx="3827145" cy="405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219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502A-47A4-3BED-62FD-200E3422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18AE-EB3B-0D2F-26D4-7F2C7962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3091569" cy="706964"/>
          </a:xfrm>
        </p:spPr>
        <p:txBody>
          <a:bodyPr/>
          <a:lstStyle/>
          <a:p>
            <a:r>
              <a:rPr lang="en-US" dirty="0"/>
              <a:t>Sesamoid  bone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8FBA98-8B55-2B41-ABB6-D340836981D6}"/>
              </a:ext>
            </a:extLst>
          </p:cNvPr>
          <p:cNvSpPr txBox="1">
            <a:spLocks/>
          </p:cNvSpPr>
          <p:nvPr/>
        </p:nvSpPr>
        <p:spPr bwMode="gray">
          <a:xfrm>
            <a:off x="7177212" y="973668"/>
            <a:ext cx="3091569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Pneumatic bone</a:t>
            </a:r>
            <a:endParaRPr lang="en-IN" dirty="0"/>
          </a:p>
        </p:txBody>
      </p:sp>
      <p:pic>
        <p:nvPicPr>
          <p:cNvPr id="4098" name="Picture 2" descr="Sesamoid Bones - Labster">
            <a:extLst>
              <a:ext uri="{FF2B5EF4-FFF2-40B4-BE49-F238E27FC236}">
                <a16:creationId xmlns:a16="http://schemas.microsoft.com/office/drawing/2014/main" id="{96291D4F-83A0-C5A4-43DD-C5527FEBDF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560" y="2513330"/>
            <a:ext cx="3064426" cy="312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se specimens illustrate the diversity of pneumatic bones. A , the... |  Download Scientific Diagram">
            <a:extLst>
              <a:ext uri="{FF2B5EF4-FFF2-40B4-BE49-F238E27FC236}">
                <a16:creationId xmlns:a16="http://schemas.microsoft.com/office/drawing/2014/main" id="{2776BF79-17D8-52AD-EDCF-0EB6723C3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67895"/>
            <a:ext cx="5673725" cy="241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11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ypes of Bones | Learn Skeleton Anatomy">
            <a:extLst>
              <a:ext uri="{FF2B5EF4-FFF2-40B4-BE49-F238E27FC236}">
                <a16:creationId xmlns:a16="http://schemas.microsoft.com/office/drawing/2014/main" id="{3EBFC118-26DB-D493-01D7-9DC73035D4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080" y="1111523"/>
            <a:ext cx="7355840" cy="516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1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AD57-7061-8E48-C825-79985A5A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C67B-0770-01B1-3FF0-38ECB3FC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DCCB9A-D333-3B69-6885-40D6A1633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2343298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F73BA76-9513-5F0B-0A36-29A9AA3F24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7450" y="3410268"/>
          <a:ext cx="8761413" cy="1920240"/>
        </p:xfrm>
        <a:graphic>
          <a:graphicData uri="http://schemas.openxmlformats.org/drawingml/2006/table">
            <a:tbl>
              <a:tblPr/>
              <a:tblGrid>
                <a:gridCol w="2920471">
                  <a:extLst>
                    <a:ext uri="{9D8B030D-6E8A-4147-A177-3AD203B41FA5}">
                      <a16:colId xmlns:a16="http://schemas.microsoft.com/office/drawing/2014/main" val="169127769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3475629612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887093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556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Compact (Cortical) Bone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Dense and strong outer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Shaft of long bones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90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Spongy (Cancellous/Trabecular) Bone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Porous and lightweight, contains red marrow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Ends of long bones, interior of flat bones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8202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C3E7970-0746-EB21-72BC-EE0CA91DA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4" y="26686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Internal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Compact Bone vs. Spongy Bone | Key Differences Explained! – Knya">
            <a:extLst>
              <a:ext uri="{FF2B5EF4-FFF2-40B4-BE49-F238E27FC236}">
                <a16:creationId xmlns:a16="http://schemas.microsoft.com/office/drawing/2014/main" id="{D810D0D4-C347-070B-995E-574528ECD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322" y="586836"/>
            <a:ext cx="3891280" cy="253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797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4128-13CA-E5BE-2CCF-C5197861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D430-E52F-3DDC-FE8D-0E91F343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859A8B-6A45-7526-CFD3-67C7C270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2343298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EBDDD9-5765-BAA5-9D61-19F529641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4" y="2620297"/>
            <a:ext cx="152157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Arial" panose="020B0604020202020204" pitchFamily="34" charset="0"/>
              </a:rPr>
              <a:t>Based on position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09A65BB-74C1-B82B-A0B8-16E306951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188750"/>
              </p:ext>
            </p:extLst>
          </p:nvPr>
        </p:nvGraphicFramePr>
        <p:xfrm>
          <a:off x="515151" y="3174295"/>
          <a:ext cx="8761412" cy="32918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950487456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461861517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19158860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588797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Division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Location &amp; Function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 Bones Included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Bones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02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Axial Skeleton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Central axis of the body. Protects vital organs like brain, heart, lungs.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Skull, Vertebral Column, Ribs, Sternum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80 bones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61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Appendicular Skeleton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Bones of limbs and girdles. Helps in movement and locomotion.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Upper &amp; Lower Limbs, Shoulder Girdle, Pelvic Girdle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126 bones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075719"/>
                  </a:ext>
                </a:extLst>
              </a:tr>
            </a:tbl>
          </a:graphicData>
        </a:graphic>
      </p:graphicFrame>
      <p:pic>
        <p:nvPicPr>
          <p:cNvPr id="6146" name="Picture 2" descr="The Axial &amp; Appendicular Skeleton – TeachPE.com">
            <a:extLst>
              <a:ext uri="{FF2B5EF4-FFF2-40B4-BE49-F238E27FC236}">
                <a16:creationId xmlns:a16="http://schemas.microsoft.com/office/drawing/2014/main" id="{73797A60-D4D7-2AB9-9BC9-C7D2A5BEC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2" r="12869"/>
          <a:stretch>
            <a:fillRect/>
          </a:stretch>
        </p:blipFill>
        <p:spPr bwMode="auto">
          <a:xfrm>
            <a:off x="7175758" y="177645"/>
            <a:ext cx="4201610" cy="300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87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DEE8-AF66-747E-D7EA-281C56A1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6D57-BAD8-AF2E-355D-FB83E8CF2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Axial Skeleton (</a:t>
            </a:r>
            <a:r>
              <a:rPr lang="en-IN" dirty="0" err="1"/>
              <a:t>Center</a:t>
            </a:r>
            <a:r>
              <a:rPr lang="en-IN" dirty="0"/>
              <a:t>)</a:t>
            </a:r>
          </a:p>
          <a:p>
            <a:r>
              <a:rPr lang="en-IN" dirty="0"/>
              <a:t>     |— Skull</a:t>
            </a:r>
          </a:p>
          <a:p>
            <a:r>
              <a:rPr lang="en-IN" dirty="0"/>
              <a:t>     |— Vertebral Column</a:t>
            </a:r>
          </a:p>
          <a:p>
            <a:r>
              <a:rPr lang="en-IN" dirty="0"/>
              <a:t>     |— Ribs + Sternum</a:t>
            </a:r>
          </a:p>
          <a:p>
            <a:endParaRPr lang="en-IN" dirty="0"/>
          </a:p>
          <a:p>
            <a:r>
              <a:rPr lang="en-IN" dirty="0"/>
              <a:t>     Appendicular Skeleton (Attached)</a:t>
            </a:r>
          </a:p>
          <a:p>
            <a:r>
              <a:rPr lang="en-IN" dirty="0"/>
              <a:t>     |— Shoulder Girdle + Arms</a:t>
            </a:r>
          </a:p>
          <a:p>
            <a:r>
              <a:rPr lang="en-IN" dirty="0"/>
              <a:t>     |— Pelvic Girdle + Legs</a:t>
            </a:r>
          </a:p>
        </p:txBody>
      </p:sp>
    </p:spTree>
    <p:extLst>
      <p:ext uri="{BB962C8B-B14F-4D97-AF65-F5344CB8AC3E}">
        <p14:creationId xmlns:p14="http://schemas.microsoft.com/office/powerpoint/2010/main" val="390526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F7CF-AEA3-B2A0-6E3E-0C48F9CF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34547-C3BE-C7FF-1A0F-71E6BFA3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joint (articulation)</a:t>
            </a:r>
            <a:r>
              <a:rPr lang="en-US" dirty="0"/>
              <a:t> is a point where </a:t>
            </a:r>
            <a:r>
              <a:rPr lang="en-US" b="1" dirty="0"/>
              <a:t>two or more bones meet</a:t>
            </a:r>
            <a:r>
              <a:rPr lang="en-US" dirty="0"/>
              <a:t>. Joints allow movement and provide mechanical support.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Classification of Joints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I. Based on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Structure (Anatomical Classification)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43EE2-3DC3-4134-3151-96ECA683C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35647"/>
              </p:ext>
            </p:extLst>
          </p:nvPr>
        </p:nvGraphicFramePr>
        <p:xfrm>
          <a:off x="1154954" y="3808730"/>
          <a:ext cx="8761412" cy="28346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Connecting Material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Movement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Fibrous Joints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 connective tissue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Immovable (Synarthrosis)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Skull sutures, Teeth in sockets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Cartilaginous Joints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Cartilage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Slightly movable (Amphiarthrosis)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Pubic symphysis, Intervertebral discs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Synovial Joints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Synovial cavity + fluid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Freely movable (Diarthrosis)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Knee, Shoulder, 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59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17E6-7416-AAFD-B798-74DFBDA5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2166-2D1B-3D31-7580-91DAF584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6CE94-5F4A-AAF9-9838-F3FBDD0D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850B65-5C7C-9CD6-8A60-44DE48F6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604163"/>
              </p:ext>
            </p:extLst>
          </p:nvPr>
        </p:nvGraphicFramePr>
        <p:xfrm>
          <a:off x="1154954" y="3808730"/>
          <a:ext cx="8761412" cy="14630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591C25-4C17-FF28-C534-0832C826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793355"/>
              </p:ext>
            </p:extLst>
          </p:nvPr>
        </p:nvGraphicFramePr>
        <p:xfrm>
          <a:off x="1977660" y="2855014"/>
          <a:ext cx="7116000" cy="3726072"/>
        </p:xfrm>
        <a:graphic>
          <a:graphicData uri="http://schemas.openxmlformats.org/drawingml/2006/table">
            <a:tbl>
              <a:tblPr/>
              <a:tblGrid>
                <a:gridCol w="1779000">
                  <a:extLst>
                    <a:ext uri="{9D8B030D-6E8A-4147-A177-3AD203B41FA5}">
                      <a16:colId xmlns:a16="http://schemas.microsoft.com/office/drawing/2014/main" val="3627086287"/>
                    </a:ext>
                  </a:extLst>
                </a:gridCol>
                <a:gridCol w="1779000">
                  <a:extLst>
                    <a:ext uri="{9D8B030D-6E8A-4147-A177-3AD203B41FA5}">
                      <a16:colId xmlns:a16="http://schemas.microsoft.com/office/drawing/2014/main" val="562228415"/>
                    </a:ext>
                  </a:extLst>
                </a:gridCol>
                <a:gridCol w="1779000">
                  <a:extLst>
                    <a:ext uri="{9D8B030D-6E8A-4147-A177-3AD203B41FA5}">
                      <a16:colId xmlns:a16="http://schemas.microsoft.com/office/drawing/2014/main" val="1465552316"/>
                    </a:ext>
                  </a:extLst>
                </a:gridCol>
                <a:gridCol w="1779000">
                  <a:extLst>
                    <a:ext uri="{9D8B030D-6E8A-4147-A177-3AD203B41FA5}">
                      <a16:colId xmlns:a16="http://schemas.microsoft.com/office/drawing/2014/main" val="2387832113"/>
                    </a:ext>
                  </a:extLst>
                </a:gridCol>
              </a:tblGrid>
              <a:tr h="297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Type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Description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Example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Movement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16872"/>
                  </a:ext>
                </a:extLst>
              </a:tr>
              <a:tr h="118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1. Sutures</a:t>
                      </a: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Irregular, interlocking edges of bones connected by short fibers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Skull bones (parietal, frontal, occipital)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Immovable (Synarthrosis)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6863"/>
                  </a:ext>
                </a:extLst>
              </a:tr>
              <a:tr h="96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2. Syndesmosis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Bones connected by a </a:t>
                      </a:r>
                      <a:r>
                        <a:rPr lang="en-US" sz="1500" b="1"/>
                        <a:t>ligament or interosseous membrane</a:t>
                      </a:r>
                      <a:endParaRPr lang="en-US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Inferior tibiofibular joint, Radioulnar interosseous membrane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Slight movement (Amphiarthrosis)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60470"/>
                  </a:ext>
                </a:extLst>
              </a:tr>
              <a:tr h="96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3. Gomphosis</a:t>
                      </a: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Peg-in-socket type joint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Teeth in alveolar sockets (held by periodontal ligament)</a:t>
                      </a:r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Immovable (Synarthrosis)</a:t>
                      </a: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3326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841DCF3-93E0-73D4-2CAD-72828BFD0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24286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Fibrous Joints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17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B67F-6130-A754-4CC6-18335358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E340-2F8E-6A37-3EBB-F14FA5F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0162-FE26-3312-CC35-D36B3F3C4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6FB3DE-790A-6211-9211-3C9E22948892}"/>
              </a:ext>
            </a:extLst>
          </p:cNvPr>
          <p:cNvGraphicFramePr>
            <a:graphicFrameLocks noGrp="1"/>
          </p:cNvGraphicFramePr>
          <p:nvPr/>
        </p:nvGraphicFramePr>
        <p:xfrm>
          <a:off x="1154954" y="3808730"/>
          <a:ext cx="8761412" cy="14630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83CD64-64D2-0399-2CCD-52079C6F7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782382"/>
              </p:ext>
            </p:extLst>
          </p:nvPr>
        </p:nvGraphicFramePr>
        <p:xfrm>
          <a:off x="128016" y="2603500"/>
          <a:ext cx="11770070" cy="4228366"/>
        </p:xfrm>
        <a:graphic>
          <a:graphicData uri="http://schemas.openxmlformats.org/drawingml/2006/table">
            <a:tbl>
              <a:tblPr/>
              <a:tblGrid>
                <a:gridCol w="2354014">
                  <a:extLst>
                    <a:ext uri="{9D8B030D-6E8A-4147-A177-3AD203B41FA5}">
                      <a16:colId xmlns:a16="http://schemas.microsoft.com/office/drawing/2014/main" val="3627086287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2651428681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562228415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1465552316"/>
                    </a:ext>
                  </a:extLst>
                </a:gridCol>
                <a:gridCol w="2354014">
                  <a:extLst>
                    <a:ext uri="{9D8B030D-6E8A-4147-A177-3AD203B41FA5}">
                      <a16:colId xmlns:a16="http://schemas.microsoft.com/office/drawing/2014/main" val="2387832113"/>
                    </a:ext>
                  </a:extLst>
                </a:gridCol>
              </a:tblGrid>
              <a:tr h="284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Cartilage 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Movement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16872"/>
                  </a:ext>
                </a:extLst>
              </a:tr>
              <a:tr h="1993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Synchondrosis (Primary Cartilaginous Joint)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Hyaline cartilage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Temporary or permanent union of bones with hyaline cartilage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Epiphyseal plate (growth plate in long bones — temporary) </a:t>
                      </a:r>
                      <a:br>
                        <a:rPr lang="en-US"/>
                      </a:br>
                      <a:r>
                        <a:rPr lang="en-US"/>
                        <a:t>- Joint between </a:t>
                      </a:r>
                      <a:r>
                        <a:rPr lang="en-US" b="1"/>
                        <a:t>1st rib and sternum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Immovable (Synarthrosis)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6863"/>
                  </a:ext>
                </a:extLst>
              </a:tr>
              <a:tr h="1566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Symphysis (Secondary Cartilaginous Joint)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Fibrocartilage</a:t>
                      </a:r>
                      <a:r>
                        <a:rPr lang="en-US"/>
                        <a:t> (with hyaline cartilage on surfaces)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Bones are united by a pad of fibrocartilage, allowing slight 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 </a:t>
                      </a:r>
                      <a:r>
                        <a:rPr lang="en-IN" b="1"/>
                        <a:t>Pubic symphysis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</a:t>
                      </a:r>
                      <a:r>
                        <a:rPr lang="en-IN" b="1"/>
                        <a:t>Intervertebral discs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</a:t>
                      </a:r>
                      <a:r>
                        <a:rPr lang="en-IN" b="1"/>
                        <a:t>Manubriosternal joint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Slightly movable (Amphiarthrosis)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860470"/>
                  </a:ext>
                </a:extLst>
              </a:tr>
              <a:tr h="23581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4267" marR="74267" marT="37134" marB="37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3326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A8967CE-DAA5-BB1D-F1DA-F35A6797D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2380263"/>
            <a:ext cx="226356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cartilaginous joints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3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F48D-BD29-C581-25E6-F9176081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42A6-EC67-D469-3AA5-67A96F7F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Joints classification: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CD3-E87B-97F3-A895-5D0C014C6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8DB31-8986-4E62-3459-B2A4AAE88262}"/>
              </a:ext>
            </a:extLst>
          </p:cNvPr>
          <p:cNvGraphicFramePr>
            <a:graphicFrameLocks noGrp="1"/>
          </p:cNvGraphicFramePr>
          <p:nvPr/>
        </p:nvGraphicFramePr>
        <p:xfrm>
          <a:off x="1154954" y="3808730"/>
          <a:ext cx="8761412" cy="1463040"/>
        </p:xfrm>
        <a:graphic>
          <a:graphicData uri="http://schemas.openxmlformats.org/drawingml/2006/table">
            <a:tbl>
              <a:tblPr/>
              <a:tblGrid>
                <a:gridCol w="2190353">
                  <a:extLst>
                    <a:ext uri="{9D8B030D-6E8A-4147-A177-3AD203B41FA5}">
                      <a16:colId xmlns:a16="http://schemas.microsoft.com/office/drawing/2014/main" val="3037675332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1956473461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2838288724"/>
                    </a:ext>
                  </a:extLst>
                </a:gridCol>
                <a:gridCol w="2190353">
                  <a:extLst>
                    <a:ext uri="{9D8B030D-6E8A-4147-A177-3AD203B41FA5}">
                      <a16:colId xmlns:a16="http://schemas.microsoft.com/office/drawing/2014/main" val="33071033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9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93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2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56934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FDA579C-72FA-2B23-40C7-1593D625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2380263"/>
            <a:ext cx="183556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synovial joint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23FAB-ED6F-4D8D-4F26-BA2BCA70E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580298"/>
              </p:ext>
            </p:extLst>
          </p:nvPr>
        </p:nvGraphicFramePr>
        <p:xfrm>
          <a:off x="2595772" y="2934261"/>
          <a:ext cx="6294924" cy="3431686"/>
        </p:xfrm>
        <a:graphic>
          <a:graphicData uri="http://schemas.openxmlformats.org/drawingml/2006/table">
            <a:tbl>
              <a:tblPr/>
              <a:tblGrid>
                <a:gridCol w="2098308">
                  <a:extLst>
                    <a:ext uri="{9D8B030D-6E8A-4147-A177-3AD203B41FA5}">
                      <a16:colId xmlns:a16="http://schemas.microsoft.com/office/drawing/2014/main" val="1588684740"/>
                    </a:ext>
                  </a:extLst>
                </a:gridCol>
                <a:gridCol w="2098308">
                  <a:extLst>
                    <a:ext uri="{9D8B030D-6E8A-4147-A177-3AD203B41FA5}">
                      <a16:colId xmlns:a16="http://schemas.microsoft.com/office/drawing/2014/main" val="1355001094"/>
                    </a:ext>
                  </a:extLst>
                </a:gridCol>
                <a:gridCol w="2098308">
                  <a:extLst>
                    <a:ext uri="{9D8B030D-6E8A-4147-A177-3AD203B41FA5}">
                      <a16:colId xmlns:a16="http://schemas.microsoft.com/office/drawing/2014/main" val="463758670"/>
                    </a:ext>
                  </a:extLst>
                </a:gridCol>
              </a:tblGrid>
              <a:tr h="26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Joint Type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Movement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Example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101001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Hinge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Flexion and extension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Elbow, Knee, Interphalangeal joints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800337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Ball and Socket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Movement in all directions + rotation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Shoulder, Hip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294907"/>
                  </a:ext>
                </a:extLst>
              </a:tr>
              <a:tr h="656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Pivot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Rotation around an axis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Atlantoaxial joint (neck), Radius-ulna joint (supination/pronation)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620155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Condyloid (Ellipsoid)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Biaxial movement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Wrist joint (Radiocarpal)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607063"/>
                  </a:ext>
                </a:extLst>
              </a:tr>
              <a:tr h="656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Saddle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Biaxial (like riding a saddle)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Thumb joint (Carpometacarpal of 1st digit)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095684"/>
                  </a:ext>
                </a:extLst>
              </a:tr>
              <a:tr h="45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Gliding (Plane) Joint</a:t>
                      </a:r>
                      <a:endParaRPr lang="en-IN" sz="130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Sliding movements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Intercarpal, Intertarsal, Vertebral facet joints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304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69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BC0A-66E6-3B25-476E-385C28C1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Synovial joint diagram</a:t>
            </a:r>
            <a:endParaRPr lang="en-IN" dirty="0"/>
          </a:p>
        </p:txBody>
      </p:sp>
      <p:pic>
        <p:nvPicPr>
          <p:cNvPr id="7170" name="Picture 2" descr="How to Draw Synovial Joint Easy With Colour / Synovial Joint Diagram Easy -  YouTube">
            <a:extLst>
              <a:ext uri="{FF2B5EF4-FFF2-40B4-BE49-F238E27FC236}">
                <a16:creationId xmlns:a16="http://schemas.microsoft.com/office/drawing/2014/main" id="{B82CE89C-F482-D5A8-43DB-848C7F4768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449" y="1909823"/>
            <a:ext cx="5957102" cy="446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659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1077</TotalTime>
  <Words>658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Bones and joints </vt:lpstr>
      <vt:lpstr>Bones classification:</vt:lpstr>
      <vt:lpstr>Long bone</vt:lpstr>
      <vt:lpstr>Flat bone</vt:lpstr>
      <vt:lpstr>Sesamoid  bone</vt:lpstr>
      <vt:lpstr>PowerPoint Presentation</vt:lpstr>
      <vt:lpstr>Bones classification:</vt:lpstr>
      <vt:lpstr>Bones classification:</vt:lpstr>
      <vt:lpstr>Bones classification:</vt:lpstr>
      <vt:lpstr>Joints classification:</vt:lpstr>
      <vt:lpstr>Joints classification:</vt:lpstr>
      <vt:lpstr>Joints classification:</vt:lpstr>
      <vt:lpstr>Joints classification:</vt:lpstr>
      <vt:lpstr>Synovial joint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3</cp:revision>
  <dcterms:created xsi:type="dcterms:W3CDTF">2025-10-19T09:19:43Z</dcterms:created>
  <dcterms:modified xsi:type="dcterms:W3CDTF">2025-11-20T07:06:52Z</dcterms:modified>
</cp:coreProperties>
</file>