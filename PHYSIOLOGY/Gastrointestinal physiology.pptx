
<file path=[Content_Types].xml><?xml version="1.0" encoding="utf-8"?>
<Types xmlns="http://schemas.openxmlformats.org/package/2006/content-types">
  <Default Extension="bmp" ContentType="image/bmp"/>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7" r:id="rId3"/>
    <p:sldId id="264" r:id="rId4"/>
    <p:sldId id="265" r:id="rId5"/>
    <p:sldId id="266" r:id="rId6"/>
    <p:sldId id="267" r:id="rId7"/>
    <p:sldId id="258" r:id="rId8"/>
    <p:sldId id="268" r:id="rId9"/>
    <p:sldId id="269" r:id="rId10"/>
    <p:sldId id="270" r:id="rId11"/>
    <p:sldId id="271" r:id="rId12"/>
    <p:sldId id="272" r:id="rId13"/>
    <p:sldId id="273" r:id="rId14"/>
    <p:sldId id="274" r:id="rId15"/>
    <p:sldId id="275" r:id="rId16"/>
    <p:sldId id="276" r:id="rId17"/>
    <p:sldId id="259" r:id="rId18"/>
    <p:sldId id="277" r:id="rId19"/>
    <p:sldId id="278" r:id="rId20"/>
    <p:sldId id="279" r:id="rId21"/>
    <p:sldId id="280" r:id="rId22"/>
    <p:sldId id="281" r:id="rId23"/>
    <p:sldId id="282" r:id="rId24"/>
    <p:sldId id="283" r:id="rId25"/>
    <p:sldId id="260" r:id="rId26"/>
    <p:sldId id="284" r:id="rId27"/>
    <p:sldId id="285" r:id="rId28"/>
    <p:sldId id="286" r:id="rId29"/>
    <p:sldId id="261" r:id="rId30"/>
    <p:sldId id="287" r:id="rId31"/>
    <p:sldId id="288" r:id="rId32"/>
    <p:sldId id="289" r:id="rId33"/>
    <p:sldId id="290" r:id="rId34"/>
    <p:sldId id="291" r:id="rId35"/>
    <p:sldId id="292" r:id="rId36"/>
    <p:sldId id="293" r:id="rId37"/>
    <p:sldId id="294" r:id="rId38"/>
    <p:sldId id="262" r:id="rId39"/>
    <p:sldId id="295" r:id="rId40"/>
    <p:sldId id="296" r:id="rId41"/>
    <p:sldId id="297" r:id="rId42"/>
    <p:sldId id="298" r:id="rId43"/>
    <p:sldId id="299" r:id="rId44"/>
    <p:sldId id="300" r:id="rId45"/>
    <p:sldId id="263" r:id="rId46"/>
    <p:sldId id="301" r:id="rId47"/>
    <p:sldId id="303" r:id="rId48"/>
    <p:sldId id="302" r:id="rId4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428" autoAdjust="0"/>
    <p:restoredTop sz="94660"/>
  </p:normalViewPr>
  <p:slideViewPr>
    <p:cSldViewPr snapToGrid="0">
      <p:cViewPr varScale="1">
        <p:scale>
          <a:sx n="78" d="100"/>
          <a:sy n="78" d="100"/>
        </p:scale>
        <p:origin x="629"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bmp"/><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6" name="Rectangle 15"/>
          <p:cNvSpPr/>
          <p:nvPr/>
        </p:nvSpPr>
        <p:spPr>
          <a:xfrm>
            <a:off x="1" y="0"/>
            <a:ext cx="12192000" cy="6858000"/>
          </a:xfrm>
          <a:prstGeom prst="rect">
            <a:avLst/>
          </a:prstGeom>
          <a:blipFill dpi="0" rotWithShape="1">
            <a:blip r:embed="rId2">
              <a:alphaModFix amt="45000"/>
              <a:duotone>
                <a:schemeClr val="accent2">
                  <a:shade val="45000"/>
                  <a:satMod val="135000"/>
                </a:schemeClr>
                <a:prstClr val="white"/>
              </a:duotone>
            </a:blip>
            <a:srcRect/>
            <a:tile tx="-31750" ty="-120650" sx="100000" sy="100000" flip="xy" algn="tl"/>
          </a:blipFill>
          <a:ln w="19050" cmpd="sng">
            <a:noFill/>
            <a:miter lim="800000"/>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307870" y="1267730"/>
            <a:ext cx="9576262" cy="4307950"/>
          </a:xfrm>
          <a:prstGeom prst="rect">
            <a:avLst/>
          </a:prstGeom>
          <a:solidFill>
            <a:schemeClr val="tx1"/>
          </a:solidFill>
          <a:ln w="6350" cap="flat" cmpd="sng" algn="ctr">
            <a:solidFill>
              <a:schemeClr val="tx1">
                <a:lumMod val="65000"/>
                <a:lumOff val="35000"/>
              </a:schemeClr>
            </a:solidFill>
            <a:prstDash val="solid"/>
          </a:ln>
          <a:effectLst>
            <a:outerShdw blurRad="63500" algn="ctr" rotWithShape="0">
              <a:prstClr val="black">
                <a:alpha val="40000"/>
              </a:prstClr>
            </a:outerShdw>
            <a:softEdge rad="0"/>
          </a:effectLst>
        </p:spPr>
      </p:sp>
      <p:sp>
        <p:nvSpPr>
          <p:cNvPr id="11" name="Rectangle 10"/>
          <p:cNvSpPr/>
          <p:nvPr/>
        </p:nvSpPr>
        <p:spPr>
          <a:xfrm>
            <a:off x="1447801" y="1411615"/>
            <a:ext cx="9296400" cy="4034770"/>
          </a:xfrm>
          <a:prstGeom prst="rect">
            <a:avLst/>
          </a:prstGeom>
          <a:solidFill>
            <a:schemeClr val="bg2"/>
          </a:solidFill>
          <a:ln w="9525" cap="sq" cmpd="sng" algn="ctr">
            <a:noFill/>
            <a:prstDash val="solid"/>
            <a:miter lim="800000"/>
          </a:ln>
          <a:effectLst/>
        </p:spPr>
      </p:sp>
      <p:sp>
        <p:nvSpPr>
          <p:cNvPr id="15" name="Rectangle 14"/>
          <p:cNvSpPr/>
          <p:nvPr/>
        </p:nvSpPr>
        <p:spPr>
          <a:xfrm>
            <a:off x="5135880" y="1267730"/>
            <a:ext cx="1920240" cy="731520"/>
          </a:xfrm>
          <a:prstGeom prst="rect">
            <a:avLst/>
          </a:prstGeom>
          <a:solidFill>
            <a:schemeClr val="accent1"/>
          </a:solidFill>
          <a:ln>
            <a:noFill/>
          </a:ln>
          <a:effectLst>
            <a:outerShdw blurRad="50800" dist="127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sp>
      <p:grpSp>
        <p:nvGrpSpPr>
          <p:cNvPr id="4" name="Group 3"/>
          <p:cNvGrpSpPr/>
          <p:nvPr/>
        </p:nvGrpSpPr>
        <p:grpSpPr>
          <a:xfrm>
            <a:off x="5250180" y="1267730"/>
            <a:ext cx="1691640" cy="645295"/>
            <a:chOff x="5318306" y="1386268"/>
            <a:chExt cx="1567331" cy="645295"/>
          </a:xfrm>
        </p:grpSpPr>
        <p:cxnSp>
          <p:nvCxnSpPr>
            <p:cNvPr id="17" name="Straight Connector 16"/>
            <p:cNvCxnSpPr/>
            <p:nvPr/>
          </p:nvCxnSpPr>
          <p:spPr>
            <a:xfrm>
              <a:off x="5318306" y="1386268"/>
              <a:ext cx="0" cy="64008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6885637" y="1386268"/>
              <a:ext cx="0" cy="64008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5318306" y="2031563"/>
              <a:ext cx="1567331" cy="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p:nvPr>
        </p:nvSpPr>
        <p:spPr>
          <a:xfrm>
            <a:off x="1561708" y="2091263"/>
            <a:ext cx="9068586" cy="2590800"/>
          </a:xfrm>
        </p:spPr>
        <p:txBody>
          <a:bodyPr tIns="45720" bIns="45720" anchor="ctr">
            <a:noAutofit/>
          </a:bodyPr>
          <a:lstStyle>
            <a:lvl1pPr algn="ctr">
              <a:lnSpc>
                <a:spcPct val="83000"/>
              </a:lnSpc>
              <a:defRPr lang="en-US" sz="7200" b="0" kern="1200" cap="all" spc="-100" baseline="0" dirty="0">
                <a:solidFill>
                  <a:schemeClr val="tx1"/>
                </a:solidFill>
                <a:effectLst>
                  <a:outerShdw blurRad="38100" dist="12700" dir="2700000" algn="tl" rotWithShape="0">
                    <a:prstClr val="black">
                      <a:alpha val="40000"/>
                    </a:prstClr>
                  </a:outerShdw>
                </a:effectLst>
                <a:latin typeface="+mj-lt"/>
                <a:ea typeface="+mn-ea"/>
                <a:cs typeface="+mn-cs"/>
              </a:defRPr>
            </a:lvl1pPr>
          </a:lstStyle>
          <a:p>
            <a:r>
              <a:rPr lang="en-US"/>
              <a:t>Click to edit Master title style</a:t>
            </a:r>
            <a:endParaRPr lang="en-US" dirty="0"/>
          </a:p>
        </p:txBody>
      </p:sp>
      <p:sp>
        <p:nvSpPr>
          <p:cNvPr id="3" name="Subtitle 2"/>
          <p:cNvSpPr>
            <a:spLocks noGrp="1"/>
          </p:cNvSpPr>
          <p:nvPr>
            <p:ph type="subTitle" idx="1"/>
          </p:nvPr>
        </p:nvSpPr>
        <p:spPr>
          <a:xfrm>
            <a:off x="1562100" y="4682062"/>
            <a:ext cx="9070848" cy="457201"/>
          </a:xfrm>
        </p:spPr>
        <p:txBody>
          <a:bodyPr>
            <a:normAutofit/>
          </a:bodyPr>
          <a:lstStyle>
            <a:lvl1pPr marL="0" indent="0" algn="ctr">
              <a:spcBef>
                <a:spcPts val="0"/>
              </a:spcBef>
              <a:buNone/>
              <a:defRPr sz="1600" spc="80" baseline="0">
                <a:solidFill>
                  <a:schemeClr val="tx2"/>
                </a:solidFill>
              </a:defRPr>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0" name="Date Placeholder 19"/>
          <p:cNvSpPr>
            <a:spLocks noGrp="1"/>
          </p:cNvSpPr>
          <p:nvPr>
            <p:ph type="dt" sz="half" idx="10"/>
          </p:nvPr>
        </p:nvSpPr>
        <p:spPr>
          <a:xfrm>
            <a:off x="5318760" y="1341255"/>
            <a:ext cx="1554480" cy="527213"/>
          </a:xfrm>
        </p:spPr>
        <p:txBody>
          <a:bodyPr/>
          <a:lstStyle>
            <a:lvl1pPr algn="ctr">
              <a:defRPr sz="1300" spc="0" baseline="0">
                <a:solidFill>
                  <a:srgbClr val="FFFFFF"/>
                </a:solidFill>
                <a:latin typeface="+mn-lt"/>
              </a:defRPr>
            </a:lvl1pPr>
          </a:lstStyle>
          <a:p>
            <a:fld id="{0F05C109-1BC9-4D6C-8128-4734BA335B0A}" type="datetimeFigureOut">
              <a:rPr lang="en-IN" smtClean="0"/>
              <a:t>21-11-2025</a:t>
            </a:fld>
            <a:endParaRPr lang="en-IN"/>
          </a:p>
        </p:txBody>
      </p:sp>
      <p:sp>
        <p:nvSpPr>
          <p:cNvPr id="21" name="Footer Placeholder 20"/>
          <p:cNvSpPr>
            <a:spLocks noGrp="1"/>
          </p:cNvSpPr>
          <p:nvPr>
            <p:ph type="ftr" sz="quarter" idx="11"/>
          </p:nvPr>
        </p:nvSpPr>
        <p:spPr>
          <a:xfrm>
            <a:off x="1453896" y="5212080"/>
            <a:ext cx="5905500" cy="228600"/>
          </a:xfrm>
        </p:spPr>
        <p:txBody>
          <a:bodyPr/>
          <a:lstStyle>
            <a:lvl1pPr algn="l">
              <a:defRPr>
                <a:solidFill>
                  <a:schemeClr val="tx2"/>
                </a:solidFill>
              </a:defRPr>
            </a:lvl1pPr>
          </a:lstStyle>
          <a:p>
            <a:endParaRPr lang="en-IN"/>
          </a:p>
        </p:txBody>
      </p:sp>
      <p:sp>
        <p:nvSpPr>
          <p:cNvPr id="22" name="Slide Number Placeholder 21"/>
          <p:cNvSpPr>
            <a:spLocks noGrp="1"/>
          </p:cNvSpPr>
          <p:nvPr>
            <p:ph type="sldNum" sz="quarter" idx="12"/>
          </p:nvPr>
        </p:nvSpPr>
        <p:spPr>
          <a:xfrm>
            <a:off x="8606919" y="5212080"/>
            <a:ext cx="2111881" cy="228600"/>
          </a:xfrm>
        </p:spPr>
        <p:txBody>
          <a:bodyPr/>
          <a:lstStyle>
            <a:lvl1pPr>
              <a:defRPr>
                <a:solidFill>
                  <a:schemeClr val="tx2"/>
                </a:solidFill>
              </a:defRPr>
            </a:lvl1pPr>
          </a:lstStyle>
          <a:p>
            <a:fld id="{911E62DF-CDF4-43CD-8C62-79CA13CBAB36}" type="slidenum">
              <a:rPr lang="en-IN" smtClean="0"/>
              <a:t>‹#›</a:t>
            </a:fld>
            <a:endParaRPr lang="en-IN"/>
          </a:p>
        </p:txBody>
      </p:sp>
    </p:spTree>
    <p:extLst>
      <p:ext uri="{BB962C8B-B14F-4D97-AF65-F5344CB8AC3E}">
        <p14:creationId xmlns:p14="http://schemas.microsoft.com/office/powerpoint/2010/main" val="42071593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lvl1pPr>
              <a:defRPr sz="18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solidFill>
                  <a:schemeClr val="tx2"/>
                </a:solidFill>
              </a:defRPr>
            </a:lvl1pPr>
          </a:lstStyle>
          <a:p>
            <a:fld id="{0F05C109-1BC9-4D6C-8128-4734BA335B0A}" type="datetimeFigureOut">
              <a:rPr lang="en-IN" smtClean="0"/>
              <a:t>21-11-2025</a:t>
            </a:fld>
            <a:endParaRPr lang="en-IN"/>
          </a:p>
        </p:txBody>
      </p:sp>
      <p:sp>
        <p:nvSpPr>
          <p:cNvPr id="5" name="Footer Placeholder 4"/>
          <p:cNvSpPr>
            <a:spLocks noGrp="1"/>
          </p:cNvSpPr>
          <p:nvPr>
            <p:ph type="ftr" sz="quarter" idx="11"/>
          </p:nvPr>
        </p:nvSpPr>
        <p:spPr/>
        <p:txBody>
          <a:bodyPr/>
          <a:lstStyle>
            <a:lvl1pPr>
              <a:defRPr>
                <a:solidFill>
                  <a:schemeClr val="tx2"/>
                </a:solidFill>
              </a:defRPr>
            </a:lvl1pPr>
          </a:lstStyle>
          <a:p>
            <a:endParaRPr lang="en-IN"/>
          </a:p>
        </p:txBody>
      </p:sp>
      <p:sp>
        <p:nvSpPr>
          <p:cNvPr id="6" name="Slide Number Placeholder 5"/>
          <p:cNvSpPr>
            <a:spLocks noGrp="1"/>
          </p:cNvSpPr>
          <p:nvPr>
            <p:ph type="sldNum" sz="quarter" idx="12"/>
          </p:nvPr>
        </p:nvSpPr>
        <p:spPr/>
        <p:txBody>
          <a:bodyPr/>
          <a:lstStyle>
            <a:lvl1pPr>
              <a:defRPr>
                <a:solidFill>
                  <a:schemeClr val="tx2"/>
                </a:solidFill>
              </a:defRPr>
            </a:lvl1pPr>
          </a:lstStyle>
          <a:p>
            <a:fld id="{911E62DF-CDF4-43CD-8C62-79CA13CBAB36}" type="slidenum">
              <a:rPr lang="en-IN" smtClean="0"/>
              <a:t>‹#›</a:t>
            </a:fld>
            <a:endParaRPr lang="en-IN"/>
          </a:p>
        </p:txBody>
      </p:sp>
    </p:spTree>
    <p:extLst>
      <p:ext uri="{BB962C8B-B14F-4D97-AF65-F5344CB8AC3E}">
        <p14:creationId xmlns:p14="http://schemas.microsoft.com/office/powerpoint/2010/main" val="37931077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19" name="Rectangle 18"/>
          <p:cNvSpPr/>
          <p:nvPr/>
        </p:nvSpPr>
        <p:spPr>
          <a:xfrm>
            <a:off x="0" y="0"/>
            <a:ext cx="12192000" cy="6858000"/>
          </a:xfrm>
          <a:prstGeom prst="rect">
            <a:avLst/>
          </a:prstGeom>
          <a:blipFill dpi="0" rotWithShape="1">
            <a:blip r:embed="rId2">
              <a:alphaModFix amt="40000"/>
              <a:duotone>
                <a:schemeClr val="accent3">
                  <a:shade val="45000"/>
                  <a:satMod val="135000"/>
                </a:schemeClr>
                <a:prstClr val="white"/>
              </a:duotone>
            </a:blip>
            <a:srcRect/>
            <a:tile tx="-31750" ty="-120650" sx="100000" sy="100000" flip="xy" algn="tl"/>
          </a:blipFill>
          <a:ln w="19050" cmpd="sng">
            <a:noFill/>
            <a:miter lim="800000"/>
          </a:ln>
        </p:spPr>
        <p:style>
          <a:lnRef idx="2">
            <a:schemeClr val="accent1">
              <a:shade val="50000"/>
            </a:schemeClr>
          </a:lnRef>
          <a:fillRef idx="1">
            <a:schemeClr val="accent1"/>
          </a:fillRef>
          <a:effectRef idx="0">
            <a:schemeClr val="accent1"/>
          </a:effectRef>
          <a:fontRef idx="minor">
            <a:schemeClr val="lt1"/>
          </a:fontRef>
        </p:style>
      </p:sp>
      <p:sp>
        <p:nvSpPr>
          <p:cNvPr id="23" name="Rectangle 22"/>
          <p:cNvSpPr/>
          <p:nvPr/>
        </p:nvSpPr>
        <p:spPr>
          <a:xfrm>
            <a:off x="1307870" y="1267730"/>
            <a:ext cx="9576262" cy="4307950"/>
          </a:xfrm>
          <a:prstGeom prst="rect">
            <a:avLst/>
          </a:prstGeom>
          <a:solidFill>
            <a:schemeClr val="tx1"/>
          </a:solidFill>
          <a:ln w="6350" cap="flat" cmpd="sng" algn="ctr">
            <a:solidFill>
              <a:schemeClr val="tx1">
                <a:lumMod val="65000"/>
                <a:lumOff val="35000"/>
              </a:schemeClr>
            </a:solidFill>
            <a:prstDash val="solid"/>
          </a:ln>
          <a:effectLst>
            <a:outerShdw blurRad="63500" algn="ctr" rotWithShape="0">
              <a:prstClr val="black">
                <a:alpha val="40000"/>
              </a:prstClr>
            </a:outerShdw>
            <a:softEdge rad="0"/>
          </a:effectLst>
        </p:spPr>
      </p:sp>
      <p:sp>
        <p:nvSpPr>
          <p:cNvPr id="24" name="Rectangle 23"/>
          <p:cNvSpPr/>
          <p:nvPr/>
        </p:nvSpPr>
        <p:spPr>
          <a:xfrm>
            <a:off x="1447801" y="1411615"/>
            <a:ext cx="9296400" cy="4034770"/>
          </a:xfrm>
          <a:prstGeom prst="rect">
            <a:avLst/>
          </a:prstGeom>
          <a:solidFill>
            <a:schemeClr val="bg2"/>
          </a:solidFill>
          <a:ln w="9525" cap="sq" cmpd="sng" algn="ctr">
            <a:noFill/>
            <a:prstDash val="solid"/>
            <a:miter lim="800000"/>
          </a:ln>
          <a:effectLst/>
        </p:spPr>
      </p:sp>
      <p:sp>
        <p:nvSpPr>
          <p:cNvPr id="30" name="Rectangle 29"/>
          <p:cNvSpPr/>
          <p:nvPr/>
        </p:nvSpPr>
        <p:spPr>
          <a:xfrm>
            <a:off x="5135880" y="1267730"/>
            <a:ext cx="1920240" cy="731520"/>
          </a:xfrm>
          <a:prstGeom prst="rect">
            <a:avLst/>
          </a:prstGeom>
          <a:solidFill>
            <a:schemeClr val="accent1"/>
          </a:solidFill>
          <a:ln>
            <a:noFill/>
          </a:ln>
          <a:effectLst>
            <a:outerShdw blurRad="50800" dist="127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sp>
      <p:grpSp>
        <p:nvGrpSpPr>
          <p:cNvPr id="31" name="Group 30"/>
          <p:cNvGrpSpPr/>
          <p:nvPr/>
        </p:nvGrpSpPr>
        <p:grpSpPr>
          <a:xfrm>
            <a:off x="5250180" y="1267730"/>
            <a:ext cx="1691640" cy="645295"/>
            <a:chOff x="5318306" y="1386268"/>
            <a:chExt cx="1567331" cy="645295"/>
          </a:xfrm>
        </p:grpSpPr>
        <p:cxnSp>
          <p:nvCxnSpPr>
            <p:cNvPr id="32" name="Straight Connector 31"/>
            <p:cNvCxnSpPr/>
            <p:nvPr/>
          </p:nvCxnSpPr>
          <p:spPr>
            <a:xfrm>
              <a:off x="5318306" y="1386268"/>
              <a:ext cx="0" cy="64008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a:off x="6885637" y="1386268"/>
              <a:ext cx="0" cy="64008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a:off x="5318306" y="2031563"/>
              <a:ext cx="1567331" cy="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a:xfrm>
            <a:off x="1563623" y="2094309"/>
            <a:ext cx="9070848" cy="2587752"/>
          </a:xfrm>
        </p:spPr>
        <p:txBody>
          <a:bodyPr anchor="ctr">
            <a:noAutofit/>
          </a:bodyPr>
          <a:lstStyle>
            <a:lvl1pPr algn="ctr">
              <a:lnSpc>
                <a:spcPct val="83000"/>
              </a:lnSpc>
              <a:defRPr lang="en-US" sz="7200" b="0" kern="1200" cap="all" spc="-100" baseline="0" dirty="0">
                <a:solidFill>
                  <a:schemeClr val="tx1"/>
                </a:solidFill>
                <a:effectLst>
                  <a:outerShdw blurRad="38100" dist="12700" dir="2700000" algn="tl" rotWithShape="0">
                    <a:prstClr val="black">
                      <a:alpha val="40000"/>
                    </a:prstClr>
                  </a:outerShdw>
                </a:effectLst>
                <a:latin typeface="+mj-lt"/>
                <a:ea typeface="+mn-ea"/>
                <a:cs typeface="+mn-cs"/>
              </a:defRPr>
            </a:lvl1pPr>
          </a:lstStyle>
          <a:p>
            <a:r>
              <a:rPr lang="en-US"/>
              <a:t>Click to edit Master title style</a:t>
            </a:r>
            <a:endParaRPr lang="en-US" dirty="0"/>
          </a:p>
        </p:txBody>
      </p:sp>
      <p:sp>
        <p:nvSpPr>
          <p:cNvPr id="3" name="Text Placeholder 2"/>
          <p:cNvSpPr>
            <a:spLocks noGrp="1"/>
          </p:cNvSpPr>
          <p:nvPr>
            <p:ph type="body" idx="1"/>
          </p:nvPr>
        </p:nvSpPr>
        <p:spPr>
          <a:xfrm>
            <a:off x="1563624" y="4682062"/>
            <a:ext cx="9070848" cy="457200"/>
          </a:xfrm>
        </p:spPr>
        <p:txBody>
          <a:bodyPr anchor="t">
            <a:normAutofit/>
          </a:bodyPr>
          <a:lstStyle>
            <a:lvl1pPr marL="0" indent="0" algn="ctr">
              <a:buNone/>
              <a:tabLst>
                <a:tab pos="2633663" algn="l"/>
              </a:tabLst>
              <a:defRPr sz="1600">
                <a:solidFill>
                  <a:schemeClr val="tx2"/>
                </a:solidFill>
                <a:effectLst/>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5321808" y="1344502"/>
            <a:ext cx="1554480" cy="530352"/>
          </a:xfrm>
        </p:spPr>
        <p:txBody>
          <a:bodyPr/>
          <a:lstStyle>
            <a:lvl1pPr algn="ctr">
              <a:defRPr lang="en-US" sz="1300" kern="1200" spc="0" baseline="0">
                <a:solidFill>
                  <a:srgbClr val="FFFFFF"/>
                </a:solidFill>
                <a:latin typeface="+mn-lt"/>
                <a:ea typeface="+mn-ea"/>
                <a:cs typeface="+mn-cs"/>
              </a:defRPr>
            </a:lvl1pPr>
          </a:lstStyle>
          <a:p>
            <a:fld id="{0F05C109-1BC9-4D6C-8128-4734BA335B0A}" type="datetimeFigureOut">
              <a:rPr lang="en-IN" smtClean="0"/>
              <a:t>21-11-2025</a:t>
            </a:fld>
            <a:endParaRPr lang="en-IN"/>
          </a:p>
        </p:txBody>
      </p:sp>
      <p:sp>
        <p:nvSpPr>
          <p:cNvPr id="5" name="Footer Placeholder 4"/>
          <p:cNvSpPr>
            <a:spLocks noGrp="1"/>
          </p:cNvSpPr>
          <p:nvPr>
            <p:ph type="ftr" sz="quarter" idx="11"/>
          </p:nvPr>
        </p:nvSpPr>
        <p:spPr>
          <a:xfrm>
            <a:off x="1453896" y="5212080"/>
            <a:ext cx="5907024" cy="228600"/>
          </a:xfrm>
        </p:spPr>
        <p:txBody>
          <a:bodyPr/>
          <a:lstStyle>
            <a:lvl1pPr algn="l">
              <a:defRPr>
                <a:solidFill>
                  <a:schemeClr val="tx2"/>
                </a:solidFill>
              </a:defRPr>
            </a:lvl1pPr>
          </a:lstStyle>
          <a:p>
            <a:endParaRPr lang="en-IN"/>
          </a:p>
        </p:txBody>
      </p:sp>
      <p:sp>
        <p:nvSpPr>
          <p:cNvPr id="6" name="Slide Number Placeholder 5"/>
          <p:cNvSpPr>
            <a:spLocks noGrp="1"/>
          </p:cNvSpPr>
          <p:nvPr>
            <p:ph type="sldNum" sz="quarter" idx="12"/>
          </p:nvPr>
        </p:nvSpPr>
        <p:spPr>
          <a:xfrm>
            <a:off x="8604504" y="5212080"/>
            <a:ext cx="2112264" cy="228600"/>
          </a:xfrm>
        </p:spPr>
        <p:txBody>
          <a:bodyPr/>
          <a:lstStyle>
            <a:lvl1pPr>
              <a:defRPr>
                <a:solidFill>
                  <a:schemeClr val="tx2"/>
                </a:solidFill>
              </a:defRPr>
            </a:lvl1pPr>
          </a:lstStyle>
          <a:p>
            <a:fld id="{911E62DF-CDF4-43CD-8C62-79CA13CBAB36}" type="slidenum">
              <a:rPr lang="en-IN" smtClean="0"/>
              <a:t>‹#›</a:t>
            </a:fld>
            <a:endParaRPr lang="en-IN"/>
          </a:p>
        </p:txBody>
      </p:sp>
    </p:spTree>
    <p:extLst>
      <p:ext uri="{BB962C8B-B14F-4D97-AF65-F5344CB8AC3E}">
        <p14:creationId xmlns:p14="http://schemas.microsoft.com/office/powerpoint/2010/main" val="3992793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6800" y="2103120"/>
            <a:ext cx="475488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70320" y="2103120"/>
            <a:ext cx="475488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lvl1pPr>
              <a:defRPr>
                <a:solidFill>
                  <a:schemeClr val="tx2"/>
                </a:solidFill>
              </a:defRPr>
            </a:lvl1pPr>
          </a:lstStyle>
          <a:p>
            <a:fld id="{0F05C109-1BC9-4D6C-8128-4734BA335B0A}" type="datetimeFigureOut">
              <a:rPr lang="en-IN" smtClean="0"/>
              <a:t>21-11-2025</a:t>
            </a:fld>
            <a:endParaRPr lang="en-IN"/>
          </a:p>
        </p:txBody>
      </p:sp>
      <p:sp>
        <p:nvSpPr>
          <p:cNvPr id="6" name="Footer Placeholder 5"/>
          <p:cNvSpPr>
            <a:spLocks noGrp="1"/>
          </p:cNvSpPr>
          <p:nvPr>
            <p:ph type="ftr" sz="quarter" idx="11"/>
          </p:nvPr>
        </p:nvSpPr>
        <p:spPr/>
        <p:txBody>
          <a:bodyPr/>
          <a:lstStyle>
            <a:lvl1pPr>
              <a:defRPr>
                <a:solidFill>
                  <a:schemeClr val="tx2"/>
                </a:solidFill>
              </a:defRPr>
            </a:lvl1pPr>
          </a:lstStyle>
          <a:p>
            <a:endParaRPr lang="en-IN"/>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911E62DF-CDF4-43CD-8C62-79CA13CBAB36}" type="slidenum">
              <a:rPr lang="en-IN" smtClean="0"/>
              <a:t>‹#›</a:t>
            </a:fld>
            <a:endParaRPr lang="en-IN"/>
          </a:p>
        </p:txBody>
      </p:sp>
    </p:spTree>
    <p:extLst>
      <p:ext uri="{BB962C8B-B14F-4D97-AF65-F5344CB8AC3E}">
        <p14:creationId xmlns:p14="http://schemas.microsoft.com/office/powerpoint/2010/main" val="22542854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9848" y="2074334"/>
            <a:ext cx="4754880" cy="640080"/>
          </a:xfrm>
        </p:spPr>
        <p:txBody>
          <a:bodyPr anchor="ctr">
            <a:normAutofit/>
          </a:bodyPr>
          <a:lstStyle>
            <a:lvl1pPr marL="0" indent="0" algn="ctr">
              <a:spcBef>
                <a:spcPts val="0"/>
              </a:spcBef>
              <a:buNone/>
              <a:defRPr sz="1800" b="0">
                <a:solidFill>
                  <a:schemeClr val="tx2"/>
                </a:solidFill>
                <a:latin typeface="+mn-lt"/>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9848" y="2755898"/>
            <a:ext cx="4754880" cy="3200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73368" y="2074334"/>
            <a:ext cx="4754880" cy="640080"/>
          </a:xfrm>
        </p:spPr>
        <p:txBody>
          <a:bodyPr anchor="ctr">
            <a:normAutofit/>
          </a:bodyPr>
          <a:lstStyle>
            <a:lvl1pPr marL="0" indent="0" algn="ctr">
              <a:spcBef>
                <a:spcPts val="0"/>
              </a:spcBef>
              <a:buNone/>
              <a:defRPr sz="1800" b="0">
                <a:solidFill>
                  <a:schemeClr val="tx2"/>
                </a:solidFill>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73368" y="2756581"/>
            <a:ext cx="4754880" cy="3200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lvl1pPr>
              <a:defRPr>
                <a:solidFill>
                  <a:schemeClr val="tx2"/>
                </a:solidFill>
              </a:defRPr>
            </a:lvl1pPr>
          </a:lstStyle>
          <a:p>
            <a:fld id="{0F05C109-1BC9-4D6C-8128-4734BA335B0A}" type="datetimeFigureOut">
              <a:rPr lang="en-IN" smtClean="0"/>
              <a:t>21-11-2025</a:t>
            </a:fld>
            <a:endParaRPr lang="en-IN"/>
          </a:p>
        </p:txBody>
      </p:sp>
      <p:sp>
        <p:nvSpPr>
          <p:cNvPr id="8" name="Footer Placeholder 7"/>
          <p:cNvSpPr>
            <a:spLocks noGrp="1"/>
          </p:cNvSpPr>
          <p:nvPr>
            <p:ph type="ftr" sz="quarter" idx="11"/>
          </p:nvPr>
        </p:nvSpPr>
        <p:spPr/>
        <p:txBody>
          <a:bodyPr/>
          <a:lstStyle>
            <a:lvl1pPr>
              <a:defRPr>
                <a:solidFill>
                  <a:schemeClr val="tx2"/>
                </a:solidFill>
              </a:defRPr>
            </a:lvl1pPr>
          </a:lstStyle>
          <a:p>
            <a:endParaRPr lang="en-IN"/>
          </a:p>
        </p:txBody>
      </p:sp>
      <p:sp>
        <p:nvSpPr>
          <p:cNvPr id="9" name="Slide Number Placeholder 8"/>
          <p:cNvSpPr>
            <a:spLocks noGrp="1"/>
          </p:cNvSpPr>
          <p:nvPr>
            <p:ph type="sldNum" sz="quarter" idx="12"/>
          </p:nvPr>
        </p:nvSpPr>
        <p:spPr/>
        <p:txBody>
          <a:bodyPr/>
          <a:lstStyle>
            <a:lvl1pPr>
              <a:defRPr>
                <a:solidFill>
                  <a:schemeClr val="tx2"/>
                </a:solidFill>
              </a:defRPr>
            </a:lvl1pPr>
          </a:lstStyle>
          <a:p>
            <a:fld id="{911E62DF-CDF4-43CD-8C62-79CA13CBAB36}" type="slidenum">
              <a:rPr lang="en-IN" smtClean="0"/>
              <a:t>‹#›</a:t>
            </a:fld>
            <a:endParaRPr lang="en-IN"/>
          </a:p>
        </p:txBody>
      </p:sp>
    </p:spTree>
    <p:extLst>
      <p:ext uri="{BB962C8B-B14F-4D97-AF65-F5344CB8AC3E}">
        <p14:creationId xmlns:p14="http://schemas.microsoft.com/office/powerpoint/2010/main" val="19235958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lvl1pPr>
              <a:defRPr>
                <a:solidFill>
                  <a:schemeClr val="tx2"/>
                </a:solidFill>
              </a:defRPr>
            </a:lvl1pPr>
          </a:lstStyle>
          <a:p>
            <a:fld id="{0F05C109-1BC9-4D6C-8128-4734BA335B0A}" type="datetimeFigureOut">
              <a:rPr lang="en-IN" smtClean="0"/>
              <a:t>21-11-2025</a:t>
            </a:fld>
            <a:endParaRPr lang="en-IN"/>
          </a:p>
        </p:txBody>
      </p:sp>
      <p:sp>
        <p:nvSpPr>
          <p:cNvPr id="4" name="Footer Placeholder 3"/>
          <p:cNvSpPr>
            <a:spLocks noGrp="1"/>
          </p:cNvSpPr>
          <p:nvPr>
            <p:ph type="ftr" sz="quarter" idx="11"/>
          </p:nvPr>
        </p:nvSpPr>
        <p:spPr/>
        <p:txBody>
          <a:bodyPr/>
          <a:lstStyle>
            <a:lvl1pPr>
              <a:defRPr>
                <a:solidFill>
                  <a:schemeClr val="tx2"/>
                </a:solidFill>
              </a:defRPr>
            </a:lvl1pPr>
          </a:lstStyle>
          <a:p>
            <a:endParaRPr lang="en-IN"/>
          </a:p>
        </p:txBody>
      </p:sp>
      <p:sp>
        <p:nvSpPr>
          <p:cNvPr id="5" name="Slide Number Placeholder 4"/>
          <p:cNvSpPr>
            <a:spLocks noGrp="1"/>
          </p:cNvSpPr>
          <p:nvPr>
            <p:ph type="sldNum" sz="quarter" idx="12"/>
          </p:nvPr>
        </p:nvSpPr>
        <p:spPr/>
        <p:txBody>
          <a:bodyPr/>
          <a:lstStyle>
            <a:lvl1pPr>
              <a:defRPr>
                <a:solidFill>
                  <a:schemeClr val="tx2"/>
                </a:solidFill>
              </a:defRPr>
            </a:lvl1pPr>
          </a:lstStyle>
          <a:p>
            <a:fld id="{911E62DF-CDF4-43CD-8C62-79CA13CBAB36}" type="slidenum">
              <a:rPr lang="en-IN" smtClean="0"/>
              <a:t>‹#›</a:t>
            </a:fld>
            <a:endParaRPr lang="en-IN"/>
          </a:p>
        </p:txBody>
      </p:sp>
    </p:spTree>
    <p:extLst>
      <p:ext uri="{BB962C8B-B14F-4D97-AF65-F5344CB8AC3E}">
        <p14:creationId xmlns:p14="http://schemas.microsoft.com/office/powerpoint/2010/main" val="41420926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solidFill>
                  <a:schemeClr val="tx2"/>
                </a:solidFill>
              </a:defRPr>
            </a:lvl1pPr>
          </a:lstStyle>
          <a:p>
            <a:fld id="{0F05C109-1BC9-4D6C-8128-4734BA335B0A}" type="datetimeFigureOut">
              <a:rPr lang="en-IN" smtClean="0"/>
              <a:t>21-11-2025</a:t>
            </a:fld>
            <a:endParaRPr lang="en-IN"/>
          </a:p>
        </p:txBody>
      </p:sp>
      <p:sp>
        <p:nvSpPr>
          <p:cNvPr id="3" name="Footer Placeholder 2"/>
          <p:cNvSpPr>
            <a:spLocks noGrp="1"/>
          </p:cNvSpPr>
          <p:nvPr>
            <p:ph type="ftr" sz="quarter" idx="11"/>
          </p:nvPr>
        </p:nvSpPr>
        <p:spPr/>
        <p:txBody>
          <a:bodyPr/>
          <a:lstStyle>
            <a:lvl1pPr>
              <a:defRPr>
                <a:solidFill>
                  <a:schemeClr val="tx2"/>
                </a:solidFill>
              </a:defRPr>
            </a:lvl1pPr>
          </a:lstStyle>
          <a:p>
            <a:endParaRPr lang="en-IN"/>
          </a:p>
        </p:txBody>
      </p:sp>
      <p:sp>
        <p:nvSpPr>
          <p:cNvPr id="4" name="Slide Number Placeholder 3"/>
          <p:cNvSpPr>
            <a:spLocks noGrp="1"/>
          </p:cNvSpPr>
          <p:nvPr>
            <p:ph type="sldNum" sz="quarter" idx="12"/>
          </p:nvPr>
        </p:nvSpPr>
        <p:spPr/>
        <p:txBody>
          <a:bodyPr/>
          <a:lstStyle>
            <a:lvl1pPr>
              <a:defRPr>
                <a:solidFill>
                  <a:schemeClr val="tx2"/>
                </a:solidFill>
              </a:defRPr>
            </a:lvl1pPr>
          </a:lstStyle>
          <a:p>
            <a:fld id="{911E62DF-CDF4-43CD-8C62-79CA13CBAB36}" type="slidenum">
              <a:rPr lang="en-IN" smtClean="0"/>
              <a:t>‹#›</a:t>
            </a:fld>
            <a:endParaRPr lang="en-IN"/>
          </a:p>
        </p:txBody>
      </p:sp>
    </p:spTree>
    <p:extLst>
      <p:ext uri="{BB962C8B-B14F-4D97-AF65-F5344CB8AC3E}">
        <p14:creationId xmlns:p14="http://schemas.microsoft.com/office/powerpoint/2010/main" val="21914041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4" name="Rectangle 13"/>
          <p:cNvSpPr/>
          <p:nvPr/>
        </p:nvSpPr>
        <p:spPr>
          <a:xfrm>
            <a:off x="234693" y="237744"/>
            <a:ext cx="8633081" cy="6382512"/>
          </a:xfrm>
          <a:prstGeom prst="rect">
            <a:avLst/>
          </a:prstGeom>
          <a:solidFill>
            <a:schemeClr val="tx1"/>
          </a:solidFill>
          <a:ln w="6350" cap="flat" cmpd="sng" algn="ctr">
            <a:solidFill>
              <a:schemeClr val="tx1">
                <a:lumMod val="75000"/>
              </a:schemeClr>
            </a:solidFill>
            <a:prstDash val="solid"/>
          </a:ln>
          <a:effectLst>
            <a:softEdge rad="0"/>
          </a:effectLst>
        </p:spPr>
      </p:sp>
      <p:sp>
        <p:nvSpPr>
          <p:cNvPr id="16" name="Rectangle 15"/>
          <p:cNvSpPr/>
          <p:nvPr/>
        </p:nvSpPr>
        <p:spPr>
          <a:xfrm>
            <a:off x="371856" y="374904"/>
            <a:ext cx="8353044" cy="6108192"/>
          </a:xfrm>
          <a:prstGeom prst="rect">
            <a:avLst/>
          </a:prstGeom>
          <a:solidFill>
            <a:schemeClr val="bg2"/>
          </a:solidFill>
          <a:ln w="6350" cap="sq" cmpd="sng" algn="ctr">
            <a:noFill/>
            <a:prstDash val="solid"/>
            <a:miter lim="800000"/>
          </a:ln>
          <a:effectLst/>
        </p:spPr>
      </p:sp>
      <p:sp>
        <p:nvSpPr>
          <p:cNvPr id="15" name="Rectangle 14"/>
          <p:cNvSpPr/>
          <p:nvPr/>
        </p:nvSpPr>
        <p:spPr>
          <a:xfrm>
            <a:off x="9020386" y="237744"/>
            <a:ext cx="2926080" cy="638251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296400" y="607392"/>
            <a:ext cx="2430780" cy="1645920"/>
          </a:xfrm>
        </p:spPr>
        <p:txBody>
          <a:bodyPr anchor="b">
            <a:normAutofit/>
          </a:bodyPr>
          <a:lstStyle>
            <a:lvl1pPr algn="l" defTabSz="914400" rtl="0" eaLnBrk="1" latinLnBrk="0" hangingPunct="1">
              <a:lnSpc>
                <a:spcPct val="90000"/>
              </a:lnSpc>
              <a:spcBef>
                <a:spcPct val="0"/>
              </a:spcBef>
              <a:buNone/>
              <a:defRPr lang="en-US" sz="2800" b="0" kern="1200" cap="none" spc="0" baseline="0" dirty="0">
                <a:solidFill>
                  <a:schemeClr val="bg1"/>
                </a:solidFill>
                <a:effectLst/>
                <a:latin typeface="+mj-lt"/>
                <a:ea typeface="+mn-ea"/>
                <a:cs typeface="+mn-cs"/>
              </a:defRPr>
            </a:lvl1pPr>
          </a:lstStyle>
          <a:p>
            <a:r>
              <a:rPr lang="en-US"/>
              <a:t>Click to edit Master title style</a:t>
            </a:r>
            <a:endParaRPr lang="en-US" dirty="0"/>
          </a:p>
        </p:txBody>
      </p:sp>
      <p:sp>
        <p:nvSpPr>
          <p:cNvPr id="3" name="Content Placeholder 2"/>
          <p:cNvSpPr>
            <a:spLocks noGrp="1"/>
          </p:cNvSpPr>
          <p:nvPr>
            <p:ph idx="1"/>
          </p:nvPr>
        </p:nvSpPr>
        <p:spPr>
          <a:xfrm>
            <a:off x="790575" y="704850"/>
            <a:ext cx="7562850" cy="5143500"/>
          </a:xfrm>
        </p:spPr>
        <p:txBody>
          <a:bodyPr/>
          <a:lstStyle>
            <a:lvl1pPr>
              <a:defRPr sz="19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296400" y="2286000"/>
            <a:ext cx="2430780" cy="3505200"/>
          </a:xfrm>
        </p:spPr>
        <p:txBody>
          <a:bodyPr>
            <a:normAutofit/>
          </a:bodyPr>
          <a:lstStyle>
            <a:lvl1pPr marL="0" indent="0">
              <a:lnSpc>
                <a:spcPct val="110000"/>
              </a:lnSpc>
              <a:spcBef>
                <a:spcPts val="80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chemeClr val="tx2"/>
                </a:solidFill>
              </a:defRPr>
            </a:lvl1pPr>
          </a:lstStyle>
          <a:p>
            <a:fld id="{0F05C109-1BC9-4D6C-8128-4734BA335B0A}" type="datetimeFigureOut">
              <a:rPr lang="en-IN" smtClean="0"/>
              <a:t>21-11-2025</a:t>
            </a:fld>
            <a:endParaRPr lang="en-IN"/>
          </a:p>
        </p:txBody>
      </p:sp>
      <p:sp>
        <p:nvSpPr>
          <p:cNvPr id="6" name="Footer Placeholder 5"/>
          <p:cNvSpPr>
            <a:spLocks noGrp="1"/>
          </p:cNvSpPr>
          <p:nvPr>
            <p:ph type="ftr" sz="quarter" idx="11"/>
          </p:nvPr>
        </p:nvSpPr>
        <p:spPr>
          <a:xfrm>
            <a:off x="3439158" y="6214535"/>
            <a:ext cx="5184648" cy="256032"/>
          </a:xfrm>
        </p:spPr>
        <p:txBody>
          <a:bodyPr/>
          <a:lstStyle>
            <a:lvl1pPr algn="r">
              <a:defRPr>
                <a:solidFill>
                  <a:schemeClr val="tx2"/>
                </a:solidFill>
              </a:defRPr>
            </a:lvl1pPr>
          </a:lstStyle>
          <a:p>
            <a:endParaRPr lang="en-IN"/>
          </a:p>
        </p:txBody>
      </p:sp>
      <p:sp>
        <p:nvSpPr>
          <p:cNvPr id="7" name="Slide Number Placeholder 6"/>
          <p:cNvSpPr>
            <a:spLocks noGrp="1"/>
          </p:cNvSpPr>
          <p:nvPr>
            <p:ph type="sldNum" sz="quarter" idx="12"/>
          </p:nvPr>
        </p:nvSpPr>
        <p:spPr/>
        <p:txBody>
          <a:bodyPr/>
          <a:lstStyle>
            <a:lvl1pPr>
              <a:defRPr>
                <a:solidFill>
                  <a:schemeClr val="bg2"/>
                </a:solidFill>
              </a:defRPr>
            </a:lvl1pPr>
          </a:lstStyle>
          <a:p>
            <a:fld id="{911E62DF-CDF4-43CD-8C62-79CA13CBAB36}" type="slidenum">
              <a:rPr lang="en-IN" smtClean="0"/>
              <a:t>‹#›</a:t>
            </a:fld>
            <a:endParaRPr lang="en-IN"/>
          </a:p>
        </p:txBody>
      </p:sp>
      <p:sp>
        <p:nvSpPr>
          <p:cNvPr id="11" name="Rectangle 10"/>
          <p:cNvSpPr/>
          <p:nvPr/>
        </p:nvSpPr>
        <p:spPr>
          <a:xfrm>
            <a:off x="9157546" y="374904"/>
            <a:ext cx="2651760" cy="6108192"/>
          </a:xfrm>
          <a:prstGeom prst="rect">
            <a:avLst/>
          </a:prstGeom>
          <a:noFill/>
          <a:ln w="6350" cap="sq">
            <a:solidFill>
              <a:schemeClr val="tx1">
                <a:lumMod val="65000"/>
                <a:lumOff val="35000"/>
              </a:schemeClr>
            </a:solidFill>
            <a:miter lim="800000"/>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6986846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4" name="Rectangle 13"/>
          <p:cNvSpPr/>
          <p:nvPr/>
        </p:nvSpPr>
        <p:spPr>
          <a:xfrm>
            <a:off x="9020386" y="237744"/>
            <a:ext cx="2926080" cy="6382512"/>
          </a:xfrm>
          <a:prstGeom prst="rect">
            <a:avLst/>
          </a:prstGeom>
          <a:solidFill>
            <a:schemeClr val="tx1"/>
          </a:solidFill>
          <a:ln w="6350" cap="sq">
            <a:solidFill>
              <a:schemeClr val="tx1">
                <a:lumMod val="75000"/>
              </a:schemeClr>
            </a:solidFill>
            <a:miter lim="800000"/>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9157546" y="374904"/>
            <a:ext cx="2651760" cy="6108192"/>
          </a:xfrm>
          <a:prstGeom prst="rect">
            <a:avLst/>
          </a:prstGeom>
          <a:solidFill>
            <a:schemeClr val="bg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296400" y="603504"/>
            <a:ext cx="2432304" cy="1645920"/>
          </a:xfrm>
        </p:spPr>
        <p:txBody>
          <a:bodyPr anchor="b">
            <a:noAutofit/>
          </a:bodyPr>
          <a:lstStyle>
            <a:lvl1pPr algn="l">
              <a:defRPr sz="2800" b="0">
                <a:solidFill>
                  <a:schemeClr val="tx1"/>
                </a:solidFill>
                <a:latin typeface="+mj-lt"/>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228599" y="237744"/>
            <a:ext cx="8601076" cy="6382512"/>
          </a:xfrm>
          <a:solidFill>
            <a:srgbClr val="808080"/>
          </a:solidFill>
          <a:ln>
            <a:noFill/>
          </a:ln>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296400" y="2286000"/>
            <a:ext cx="2432304" cy="3502152"/>
          </a:xfrm>
        </p:spPr>
        <p:txBody>
          <a:bodyPr>
            <a:normAutofit/>
          </a:bodyPr>
          <a:lstStyle>
            <a:lvl1pPr marL="0" indent="0" algn="l">
              <a:lnSpc>
                <a:spcPct val="110000"/>
              </a:lnSpc>
              <a:spcBef>
                <a:spcPts val="800"/>
              </a:spcBef>
              <a:buNone/>
              <a:defRPr sz="14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rgbClr val="FFFFFF"/>
                </a:solidFill>
                <a:effectLst>
                  <a:outerShdw blurRad="19050" dist="6350" dir="2700000" algn="tl" rotWithShape="0">
                    <a:prstClr val="black">
                      <a:alpha val="40000"/>
                    </a:prstClr>
                  </a:outerShdw>
                </a:effectLst>
              </a:defRPr>
            </a:lvl1pPr>
          </a:lstStyle>
          <a:p>
            <a:fld id="{0F05C109-1BC9-4D6C-8128-4734BA335B0A}" type="datetimeFigureOut">
              <a:rPr lang="en-IN" smtClean="0"/>
              <a:t>21-11-2025</a:t>
            </a:fld>
            <a:endParaRPr lang="en-IN"/>
          </a:p>
        </p:txBody>
      </p:sp>
      <p:sp>
        <p:nvSpPr>
          <p:cNvPr id="6" name="Footer Placeholder 5"/>
          <p:cNvSpPr>
            <a:spLocks noGrp="1"/>
          </p:cNvSpPr>
          <p:nvPr>
            <p:ph type="ftr" sz="quarter" idx="11"/>
          </p:nvPr>
        </p:nvSpPr>
        <p:spPr/>
        <p:txBody>
          <a:bodyPr/>
          <a:lstStyle>
            <a:lvl1pPr marL="0" algn="r" defTabSz="914400" rtl="0" eaLnBrk="1" latinLnBrk="0" hangingPunct="1">
              <a:defRPr lang="en-US" sz="1000" kern="1200" dirty="0">
                <a:solidFill>
                  <a:srgbClr val="FFFFFF"/>
                </a:solidFill>
                <a:effectLst>
                  <a:outerShdw blurRad="19050" dist="6350" dir="2700000" algn="tl" rotWithShape="0">
                    <a:prstClr val="black">
                      <a:alpha val="40000"/>
                    </a:prstClr>
                  </a:outerShdw>
                </a:effectLst>
                <a:latin typeface="+mn-lt"/>
                <a:ea typeface="+mn-ea"/>
                <a:cs typeface="+mn-cs"/>
              </a:defRPr>
            </a:lvl1pPr>
          </a:lstStyle>
          <a:p>
            <a:endParaRPr lang="en-IN"/>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911E62DF-CDF4-43CD-8C62-79CA13CBAB36}" type="slidenum">
              <a:rPr lang="en-IN" smtClean="0"/>
              <a:t>‹#›</a:t>
            </a:fld>
            <a:endParaRPr lang="en-IN"/>
          </a:p>
        </p:txBody>
      </p:sp>
    </p:spTree>
    <p:extLst>
      <p:ext uri="{BB962C8B-B14F-4D97-AF65-F5344CB8AC3E}">
        <p14:creationId xmlns:p14="http://schemas.microsoft.com/office/powerpoint/2010/main" val="20342433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solidFill>
                  <a:schemeClr val="tx2"/>
                </a:solidFill>
              </a:defRPr>
            </a:lvl1pPr>
          </a:lstStyle>
          <a:p>
            <a:fld id="{0F05C109-1BC9-4D6C-8128-4734BA335B0A}" type="datetimeFigureOut">
              <a:rPr lang="en-IN" smtClean="0"/>
              <a:t>21-11-2025</a:t>
            </a:fld>
            <a:endParaRPr lang="en-IN"/>
          </a:p>
        </p:txBody>
      </p:sp>
      <p:sp>
        <p:nvSpPr>
          <p:cNvPr id="5" name="Footer Placeholder 4"/>
          <p:cNvSpPr>
            <a:spLocks noGrp="1"/>
          </p:cNvSpPr>
          <p:nvPr>
            <p:ph type="ftr" sz="quarter" idx="11"/>
          </p:nvPr>
        </p:nvSpPr>
        <p:spPr/>
        <p:txBody>
          <a:bodyPr/>
          <a:lstStyle>
            <a:lvl1pPr>
              <a:defRPr>
                <a:solidFill>
                  <a:schemeClr val="tx2"/>
                </a:solidFill>
              </a:defRPr>
            </a:lvl1pPr>
          </a:lstStyle>
          <a:p>
            <a:endParaRPr lang="en-IN"/>
          </a:p>
        </p:txBody>
      </p:sp>
      <p:sp>
        <p:nvSpPr>
          <p:cNvPr id="6" name="Slide Number Placeholder 5"/>
          <p:cNvSpPr>
            <a:spLocks noGrp="1"/>
          </p:cNvSpPr>
          <p:nvPr>
            <p:ph type="sldNum" sz="quarter" idx="12"/>
          </p:nvPr>
        </p:nvSpPr>
        <p:spPr/>
        <p:txBody>
          <a:bodyPr/>
          <a:lstStyle>
            <a:lvl1pPr>
              <a:defRPr>
                <a:solidFill>
                  <a:schemeClr val="tx2"/>
                </a:solidFill>
              </a:defRPr>
            </a:lvl1pPr>
          </a:lstStyle>
          <a:p>
            <a:fld id="{911E62DF-CDF4-43CD-8C62-79CA13CBAB36}" type="slidenum">
              <a:rPr lang="en-IN" smtClean="0"/>
              <a:t>‹#›</a:t>
            </a:fld>
            <a:endParaRPr lang="en-IN"/>
          </a:p>
        </p:txBody>
      </p:sp>
    </p:spTree>
    <p:extLst>
      <p:ext uri="{BB962C8B-B14F-4D97-AF65-F5344CB8AC3E}">
        <p14:creationId xmlns:p14="http://schemas.microsoft.com/office/powerpoint/2010/main" val="14052664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1600" y="762000"/>
            <a:ext cx="2362200" cy="5257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762000"/>
            <a:ext cx="8077200" cy="5257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solidFill>
                  <a:schemeClr val="tx2"/>
                </a:solidFill>
              </a:defRPr>
            </a:lvl1pPr>
          </a:lstStyle>
          <a:p>
            <a:fld id="{0F05C109-1BC9-4D6C-8128-4734BA335B0A}" type="datetimeFigureOut">
              <a:rPr lang="en-IN" smtClean="0"/>
              <a:t>21-11-2025</a:t>
            </a:fld>
            <a:endParaRPr lang="en-IN"/>
          </a:p>
        </p:txBody>
      </p:sp>
      <p:sp>
        <p:nvSpPr>
          <p:cNvPr id="5" name="Footer Placeholder 4"/>
          <p:cNvSpPr>
            <a:spLocks noGrp="1"/>
          </p:cNvSpPr>
          <p:nvPr>
            <p:ph type="ftr" sz="quarter" idx="11"/>
          </p:nvPr>
        </p:nvSpPr>
        <p:spPr/>
        <p:txBody>
          <a:bodyPr/>
          <a:lstStyle>
            <a:lvl1pPr>
              <a:defRPr>
                <a:solidFill>
                  <a:schemeClr val="tx2"/>
                </a:solidFill>
              </a:defRPr>
            </a:lvl1pPr>
          </a:lstStyle>
          <a:p>
            <a:endParaRPr lang="en-IN"/>
          </a:p>
        </p:txBody>
      </p:sp>
      <p:sp>
        <p:nvSpPr>
          <p:cNvPr id="6" name="Slide Number Placeholder 5"/>
          <p:cNvSpPr>
            <a:spLocks noGrp="1"/>
          </p:cNvSpPr>
          <p:nvPr>
            <p:ph type="sldNum" sz="quarter" idx="12"/>
          </p:nvPr>
        </p:nvSpPr>
        <p:spPr/>
        <p:txBody>
          <a:bodyPr/>
          <a:lstStyle>
            <a:lvl1pPr>
              <a:defRPr>
                <a:solidFill>
                  <a:schemeClr val="tx2"/>
                </a:solidFill>
              </a:defRPr>
            </a:lvl1pPr>
          </a:lstStyle>
          <a:p>
            <a:fld id="{911E62DF-CDF4-43CD-8C62-79CA13CBAB36}" type="slidenum">
              <a:rPr lang="en-IN" smtClean="0"/>
              <a:t>‹#›</a:t>
            </a:fld>
            <a:endParaRPr lang="en-IN"/>
          </a:p>
        </p:txBody>
      </p:sp>
    </p:spTree>
    <p:extLst>
      <p:ext uri="{BB962C8B-B14F-4D97-AF65-F5344CB8AC3E}">
        <p14:creationId xmlns:p14="http://schemas.microsoft.com/office/powerpoint/2010/main" val="987566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7" name="Rectangle 6"/>
          <p:cNvSpPr/>
          <p:nvPr/>
        </p:nvSpPr>
        <p:spPr>
          <a:xfrm>
            <a:off x="234696" y="237744"/>
            <a:ext cx="11722608" cy="6382512"/>
          </a:xfrm>
          <a:prstGeom prst="rect">
            <a:avLst/>
          </a:prstGeom>
          <a:solidFill>
            <a:schemeClr val="tx1"/>
          </a:solidFill>
          <a:ln w="6350" cap="flat" cmpd="sng" algn="ctr">
            <a:solidFill>
              <a:schemeClr val="tx1">
                <a:lumMod val="75000"/>
              </a:schemeClr>
            </a:solidFill>
            <a:prstDash val="solid"/>
          </a:ln>
          <a:effectLst>
            <a:softEdge rad="0"/>
          </a:effectLst>
        </p:spPr>
      </p:sp>
      <p:sp>
        <p:nvSpPr>
          <p:cNvPr id="8" name="Rectangle 7"/>
          <p:cNvSpPr/>
          <p:nvPr/>
        </p:nvSpPr>
        <p:spPr>
          <a:xfrm>
            <a:off x="371856" y="374904"/>
            <a:ext cx="11448288" cy="6108192"/>
          </a:xfrm>
          <a:prstGeom prst="rect">
            <a:avLst/>
          </a:prstGeom>
          <a:solidFill>
            <a:schemeClr val="bg2"/>
          </a:solidFill>
          <a:ln w="6350" cap="sq" cmpd="sng" algn="ctr">
            <a:noFill/>
            <a:prstDash val="solid"/>
            <a:miter lim="800000"/>
          </a:ln>
          <a:effectLst/>
        </p:spPr>
      </p:sp>
      <p:sp>
        <p:nvSpPr>
          <p:cNvPr id="2" name="Title Placeholder 1"/>
          <p:cNvSpPr>
            <a:spLocks noGrp="1"/>
          </p:cNvSpPr>
          <p:nvPr>
            <p:ph type="title"/>
          </p:nvPr>
        </p:nvSpPr>
        <p:spPr>
          <a:xfrm>
            <a:off x="1066800" y="642594"/>
            <a:ext cx="10058400" cy="13716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6800" y="2103120"/>
            <a:ext cx="10058400" cy="39319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389464" y="6214535"/>
            <a:ext cx="2743200" cy="256032"/>
          </a:xfrm>
          <a:prstGeom prst="rect">
            <a:avLst/>
          </a:prstGeom>
        </p:spPr>
        <p:txBody>
          <a:bodyPr vert="horz" lIns="91440" tIns="45720" rIns="91440" bIns="45720" rtlCol="0" anchor="b"/>
          <a:lstStyle>
            <a:lvl1pPr algn="l">
              <a:defRPr sz="1000">
                <a:solidFill>
                  <a:schemeClr val="bg2"/>
                </a:solidFill>
              </a:defRPr>
            </a:lvl1pPr>
          </a:lstStyle>
          <a:p>
            <a:fld id="{0F05C109-1BC9-4D6C-8128-4734BA335B0A}" type="datetimeFigureOut">
              <a:rPr lang="en-IN" smtClean="0"/>
              <a:t>21-11-2025</a:t>
            </a:fld>
            <a:endParaRPr lang="en-IN"/>
          </a:p>
        </p:txBody>
      </p:sp>
      <p:sp>
        <p:nvSpPr>
          <p:cNvPr id="5" name="Footer Placeholder 4"/>
          <p:cNvSpPr>
            <a:spLocks noGrp="1"/>
          </p:cNvSpPr>
          <p:nvPr>
            <p:ph type="ftr" sz="quarter" idx="3"/>
          </p:nvPr>
        </p:nvSpPr>
        <p:spPr>
          <a:xfrm>
            <a:off x="3489960" y="6214535"/>
            <a:ext cx="5212080" cy="256032"/>
          </a:xfrm>
          <a:prstGeom prst="rect">
            <a:avLst/>
          </a:prstGeom>
        </p:spPr>
        <p:txBody>
          <a:bodyPr vert="horz" lIns="91440" tIns="45720" rIns="91440" bIns="45720" rtlCol="0" anchor="b"/>
          <a:lstStyle>
            <a:lvl1pPr algn="ctr">
              <a:defRPr sz="1000">
                <a:solidFill>
                  <a:schemeClr val="bg2"/>
                </a:solidFill>
              </a:defRPr>
            </a:lvl1pPr>
          </a:lstStyle>
          <a:p>
            <a:endParaRPr lang="en-IN"/>
          </a:p>
        </p:txBody>
      </p:sp>
      <p:sp>
        <p:nvSpPr>
          <p:cNvPr id="6" name="Slide Number Placeholder 5"/>
          <p:cNvSpPr>
            <a:spLocks noGrp="1"/>
          </p:cNvSpPr>
          <p:nvPr>
            <p:ph type="sldNum" sz="quarter" idx="4"/>
          </p:nvPr>
        </p:nvSpPr>
        <p:spPr>
          <a:xfrm>
            <a:off x="10348535" y="6214535"/>
            <a:ext cx="1463040" cy="256032"/>
          </a:xfrm>
          <a:prstGeom prst="rect">
            <a:avLst/>
          </a:prstGeom>
        </p:spPr>
        <p:txBody>
          <a:bodyPr vert="horz" lIns="91440" tIns="45720" rIns="91440" bIns="45720" rtlCol="0" anchor="b"/>
          <a:lstStyle>
            <a:lvl1pPr algn="r">
              <a:defRPr sz="1000">
                <a:solidFill>
                  <a:schemeClr val="bg2"/>
                </a:solidFill>
              </a:defRPr>
            </a:lvl1pPr>
          </a:lstStyle>
          <a:p>
            <a:fld id="{911E62DF-CDF4-43CD-8C62-79CA13CBAB36}" type="slidenum">
              <a:rPr lang="en-IN" smtClean="0"/>
              <a:t>‹#›</a:t>
            </a:fld>
            <a:endParaRPr lang="en-IN"/>
          </a:p>
        </p:txBody>
      </p:sp>
    </p:spTree>
    <p:extLst>
      <p:ext uri="{BB962C8B-B14F-4D97-AF65-F5344CB8AC3E}">
        <p14:creationId xmlns:p14="http://schemas.microsoft.com/office/powerpoint/2010/main" val="263741443"/>
      </p:ext>
    </p:extLst>
  </p:cSld>
  <p:clrMap bg1="dk1" tx1="lt1" bg2="dk2" tx2="lt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lang="en-US" sz="4800" kern="1200" cap="none" spc="0" baseline="0" dirty="0">
          <a:solidFill>
            <a:schemeClr val="tx1"/>
          </a:solidFill>
          <a:effectLst/>
          <a:latin typeface="+mj-lt"/>
          <a:ea typeface="+mn-ea"/>
          <a:cs typeface="+mn-cs"/>
        </a:defRPr>
      </a:lvl1pPr>
    </p:titleStyle>
    <p:bodyStyle>
      <a:lvl1pPr marL="182880" indent="-182880" algn="l" defTabSz="914400" rtl="0" eaLnBrk="1" latinLnBrk="0" hangingPunct="1">
        <a:lnSpc>
          <a:spcPct val="100000"/>
        </a:lnSpc>
        <a:spcBef>
          <a:spcPts val="900"/>
        </a:spcBef>
        <a:spcAft>
          <a:spcPts val="0"/>
        </a:spcAft>
        <a:buClr>
          <a:schemeClr val="tx2">
            <a:lumMod val="60000"/>
            <a:lumOff val="40000"/>
          </a:schemeClr>
        </a:buClr>
        <a:buFont typeface="Arial" pitchFamily="34" charset="0"/>
        <a:buChar char="•"/>
        <a:defRPr sz="1800" kern="1200">
          <a:solidFill>
            <a:schemeClr val="tx1"/>
          </a:solidFill>
          <a:latin typeface="+mn-lt"/>
          <a:ea typeface="+mn-ea"/>
          <a:cs typeface="+mn-cs"/>
        </a:defRPr>
      </a:lvl1pPr>
      <a:lvl2pPr marL="457200" indent="-182880" algn="l" defTabSz="914400" rtl="0" eaLnBrk="1" latinLnBrk="0" hangingPunct="1">
        <a:lnSpc>
          <a:spcPct val="100000"/>
        </a:lnSpc>
        <a:spcBef>
          <a:spcPts val="500"/>
        </a:spcBef>
        <a:buClr>
          <a:schemeClr val="tx2">
            <a:lumMod val="60000"/>
            <a:lumOff val="40000"/>
          </a:schemeClr>
        </a:buClr>
        <a:buFont typeface="Arial" pitchFamily="34" charset="0"/>
        <a:buChar char="•"/>
        <a:defRPr sz="1600" kern="1200">
          <a:solidFill>
            <a:schemeClr val="tx1"/>
          </a:solidFill>
          <a:latin typeface="+mn-lt"/>
          <a:ea typeface="+mn-ea"/>
          <a:cs typeface="+mn-cs"/>
        </a:defRPr>
      </a:lvl2pPr>
      <a:lvl3pPr marL="731520" indent="-182880" algn="l" defTabSz="914400" rtl="0" eaLnBrk="1" latinLnBrk="0" hangingPunct="1">
        <a:lnSpc>
          <a:spcPct val="100000"/>
        </a:lnSpc>
        <a:spcBef>
          <a:spcPts val="500"/>
        </a:spcBef>
        <a:buClr>
          <a:schemeClr val="tx2">
            <a:lumMod val="60000"/>
            <a:lumOff val="40000"/>
          </a:schemeClr>
        </a:buClr>
        <a:buFont typeface="Arial" pitchFamily="34" charset="0"/>
        <a:buChar char="•"/>
        <a:defRPr sz="1400" kern="1200">
          <a:solidFill>
            <a:schemeClr val="tx1"/>
          </a:solidFill>
          <a:latin typeface="+mn-lt"/>
          <a:ea typeface="+mn-ea"/>
          <a:cs typeface="+mn-cs"/>
        </a:defRPr>
      </a:lvl3pPr>
      <a:lvl4pPr marL="1005840" indent="-182880" algn="l" defTabSz="914400" rtl="0" eaLnBrk="1" latinLnBrk="0" hangingPunct="1">
        <a:lnSpc>
          <a:spcPct val="100000"/>
        </a:lnSpc>
        <a:spcBef>
          <a:spcPts val="500"/>
        </a:spcBef>
        <a:buClr>
          <a:schemeClr val="tx2">
            <a:lumMod val="60000"/>
            <a:lumOff val="40000"/>
          </a:schemeClr>
        </a:buClr>
        <a:buFont typeface="Arial" pitchFamily="34" charset="0"/>
        <a:buChar char="•"/>
        <a:defRPr sz="1400" kern="1200">
          <a:solidFill>
            <a:schemeClr val="tx1"/>
          </a:solidFill>
          <a:latin typeface="+mn-lt"/>
          <a:ea typeface="+mn-ea"/>
          <a:cs typeface="+mn-cs"/>
        </a:defRPr>
      </a:lvl4pPr>
      <a:lvl5pPr marL="1280160" indent="-182880" algn="l" defTabSz="914400" rtl="0" eaLnBrk="1" latinLnBrk="0" hangingPunct="1">
        <a:lnSpc>
          <a:spcPct val="100000"/>
        </a:lnSpc>
        <a:spcBef>
          <a:spcPts val="500"/>
        </a:spcBef>
        <a:buClr>
          <a:schemeClr val="tx2">
            <a:lumMod val="60000"/>
            <a:lumOff val="40000"/>
          </a:schemeClr>
        </a:buClr>
        <a:buFont typeface="Arial" pitchFamily="34" charset="0"/>
        <a:buChar char="•"/>
        <a:defRPr sz="1400" kern="1200">
          <a:solidFill>
            <a:schemeClr val="tx1"/>
          </a:solidFill>
          <a:latin typeface="+mn-lt"/>
          <a:ea typeface="+mn-ea"/>
          <a:cs typeface="+mn-cs"/>
        </a:defRPr>
      </a:lvl5pPr>
      <a:lvl6pPr marL="1600000" indent="-228600" algn="l" defTabSz="914400" rtl="0" eaLnBrk="1" latinLnBrk="0" hangingPunct="1">
        <a:lnSpc>
          <a:spcPct val="100000"/>
        </a:lnSpc>
        <a:spcBef>
          <a:spcPts val="500"/>
        </a:spcBef>
        <a:buClr>
          <a:schemeClr val="tx2">
            <a:lumMod val="60000"/>
            <a:lumOff val="40000"/>
          </a:schemeClr>
        </a:buClr>
        <a:buFont typeface="Arial" pitchFamily="34" charset="0"/>
        <a:buChar char="•"/>
        <a:defRPr sz="1400" kern="1200">
          <a:solidFill>
            <a:schemeClr val="bg1"/>
          </a:solidFill>
          <a:latin typeface="+mn-lt"/>
          <a:ea typeface="+mn-ea"/>
          <a:cs typeface="+mn-cs"/>
        </a:defRPr>
      </a:lvl6pPr>
      <a:lvl7pPr marL="1900000" indent="-228600" algn="l" defTabSz="914400" rtl="0" eaLnBrk="1" latinLnBrk="0" hangingPunct="1">
        <a:lnSpc>
          <a:spcPct val="100000"/>
        </a:lnSpc>
        <a:spcBef>
          <a:spcPts val="500"/>
        </a:spcBef>
        <a:buClr>
          <a:schemeClr val="tx2">
            <a:lumMod val="60000"/>
            <a:lumOff val="40000"/>
          </a:schemeClr>
        </a:buClr>
        <a:buFont typeface="Arial" pitchFamily="34" charset="0"/>
        <a:buChar char="•"/>
        <a:defRPr sz="1400" kern="1200">
          <a:solidFill>
            <a:schemeClr val="bg1"/>
          </a:solidFill>
          <a:latin typeface="+mn-lt"/>
          <a:ea typeface="+mn-ea"/>
          <a:cs typeface="+mn-cs"/>
        </a:defRPr>
      </a:lvl7pPr>
      <a:lvl8pPr marL="2200000" indent="-228600" algn="l" defTabSz="914400" rtl="0" eaLnBrk="1" latinLnBrk="0" hangingPunct="1">
        <a:lnSpc>
          <a:spcPct val="100000"/>
        </a:lnSpc>
        <a:spcBef>
          <a:spcPts val="500"/>
        </a:spcBef>
        <a:buClr>
          <a:schemeClr val="tx2">
            <a:lumMod val="60000"/>
            <a:lumOff val="40000"/>
          </a:schemeClr>
        </a:buClr>
        <a:buFont typeface="Arial" pitchFamily="34" charset="0"/>
        <a:buChar char="•"/>
        <a:defRPr sz="1400" kern="1200">
          <a:solidFill>
            <a:schemeClr val="bg1"/>
          </a:solidFill>
          <a:latin typeface="+mn-lt"/>
          <a:ea typeface="+mn-ea"/>
          <a:cs typeface="+mn-cs"/>
        </a:defRPr>
      </a:lvl8pPr>
      <a:lvl9pPr marL="2500000" indent="-228600" algn="l" defTabSz="914400" rtl="0" eaLnBrk="1" latinLnBrk="0" hangingPunct="1">
        <a:lnSpc>
          <a:spcPct val="100000"/>
        </a:lnSpc>
        <a:spcBef>
          <a:spcPts val="500"/>
        </a:spcBef>
        <a:buClr>
          <a:schemeClr val="tx2">
            <a:lumMod val="60000"/>
            <a:lumOff val="40000"/>
          </a:schemeClr>
        </a:buClr>
        <a:buFont typeface="Arial" pitchFamily="34" charset="0"/>
        <a:buChar char="•"/>
        <a:defRPr sz="1400" kern="1200">
          <a:solidFill>
            <a:schemeClr val="bg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9D77CF-44DB-F1F4-2485-4A1C6B5F9AB9}"/>
              </a:ext>
            </a:extLst>
          </p:cNvPr>
          <p:cNvSpPr>
            <a:spLocks noGrp="1"/>
          </p:cNvSpPr>
          <p:nvPr>
            <p:ph type="ctrTitle"/>
          </p:nvPr>
        </p:nvSpPr>
        <p:spPr/>
        <p:txBody>
          <a:bodyPr/>
          <a:lstStyle/>
          <a:p>
            <a:r>
              <a:rPr lang="en-IN" dirty="0"/>
              <a:t>Gastrointestinal physiology</a:t>
            </a:r>
          </a:p>
        </p:txBody>
      </p:sp>
      <p:sp>
        <p:nvSpPr>
          <p:cNvPr id="3" name="Subtitle 2">
            <a:extLst>
              <a:ext uri="{FF2B5EF4-FFF2-40B4-BE49-F238E27FC236}">
                <a16:creationId xmlns:a16="http://schemas.microsoft.com/office/drawing/2014/main" id="{CA9CC62F-8C99-8181-1687-DEBC911440B9}"/>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26283030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899F41-1349-6A4D-944A-FD917CAFE6D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EAE183-B601-56F8-400B-6BC7C22DF7CE}"/>
              </a:ext>
            </a:extLst>
          </p:cNvPr>
          <p:cNvSpPr>
            <a:spLocks noGrp="1"/>
          </p:cNvSpPr>
          <p:nvPr>
            <p:ph type="ctrTitle"/>
          </p:nvPr>
        </p:nvSpPr>
        <p:spPr/>
        <p:txBody>
          <a:bodyPr/>
          <a:lstStyle/>
          <a:p>
            <a:r>
              <a:rPr lang="en-IN" dirty="0"/>
              <a:t>Unit 1</a:t>
            </a:r>
          </a:p>
        </p:txBody>
      </p:sp>
      <p:sp>
        <p:nvSpPr>
          <p:cNvPr id="3" name="Subtitle 2">
            <a:extLst>
              <a:ext uri="{FF2B5EF4-FFF2-40B4-BE49-F238E27FC236}">
                <a16:creationId xmlns:a16="http://schemas.microsoft.com/office/drawing/2014/main" id="{3F17E5D1-6C47-7DFA-07BF-5B1E19FC00F5}"/>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34440573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D12156-1AA4-C2FE-A2B3-CDA628F46B26}"/>
              </a:ext>
            </a:extLst>
          </p:cNvPr>
          <p:cNvSpPr>
            <a:spLocks noGrp="1"/>
          </p:cNvSpPr>
          <p:nvPr>
            <p:ph type="title"/>
          </p:nvPr>
        </p:nvSpPr>
        <p:spPr/>
        <p:txBody>
          <a:bodyPr/>
          <a:lstStyle/>
          <a:p>
            <a:r>
              <a:rPr lang="en-IN" dirty="0"/>
              <a:t>Gastrointestinal system</a:t>
            </a:r>
          </a:p>
        </p:txBody>
      </p:sp>
      <p:sp>
        <p:nvSpPr>
          <p:cNvPr id="3" name="Content Placeholder 2">
            <a:extLst>
              <a:ext uri="{FF2B5EF4-FFF2-40B4-BE49-F238E27FC236}">
                <a16:creationId xmlns:a16="http://schemas.microsoft.com/office/drawing/2014/main" id="{2CA93F7C-0FED-B346-117B-41E664EA2EDE}"/>
              </a:ext>
            </a:extLst>
          </p:cNvPr>
          <p:cNvSpPr>
            <a:spLocks noGrp="1"/>
          </p:cNvSpPr>
          <p:nvPr>
            <p:ph idx="1"/>
          </p:nvPr>
        </p:nvSpPr>
        <p:spPr/>
        <p:txBody>
          <a:bodyPr/>
          <a:lstStyle/>
          <a:p>
            <a:r>
              <a:rPr lang="en-US" dirty="0"/>
              <a:t>The gastrointestinal system is responsible for </a:t>
            </a:r>
            <a:r>
              <a:rPr lang="en-US" b="1" dirty="0"/>
              <a:t>digestion and absorption of nutrients</a:t>
            </a:r>
            <a:r>
              <a:rPr lang="en-US" dirty="0"/>
              <a:t> required for growth, energy, and body maintenance.</a:t>
            </a:r>
            <a:br>
              <a:rPr lang="en-US" dirty="0"/>
            </a:br>
            <a:r>
              <a:rPr lang="en-US" dirty="0"/>
              <a:t>It consists of a long muscular tube known as the </a:t>
            </a:r>
            <a:r>
              <a:rPr lang="en-US" b="1" dirty="0"/>
              <a:t>alimentary canal</a:t>
            </a:r>
            <a:r>
              <a:rPr lang="en-US" dirty="0"/>
              <a:t> plus associated digestive glands.</a:t>
            </a:r>
            <a:endParaRPr lang="en-IN" dirty="0"/>
          </a:p>
        </p:txBody>
      </p:sp>
    </p:spTree>
    <p:extLst>
      <p:ext uri="{BB962C8B-B14F-4D97-AF65-F5344CB8AC3E}">
        <p14:creationId xmlns:p14="http://schemas.microsoft.com/office/powerpoint/2010/main" val="41018496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EE4DB4-B2AD-F22E-418D-D31B5C1D9380}"/>
              </a:ext>
            </a:extLst>
          </p:cNvPr>
          <p:cNvSpPr>
            <a:spLocks noGrp="1"/>
          </p:cNvSpPr>
          <p:nvPr>
            <p:ph type="title"/>
          </p:nvPr>
        </p:nvSpPr>
        <p:spPr/>
        <p:txBody>
          <a:bodyPr/>
          <a:lstStyle/>
          <a:p>
            <a:endParaRPr lang="en-IN"/>
          </a:p>
        </p:txBody>
      </p:sp>
      <p:graphicFrame>
        <p:nvGraphicFramePr>
          <p:cNvPr id="4" name="Content Placeholder 3">
            <a:extLst>
              <a:ext uri="{FF2B5EF4-FFF2-40B4-BE49-F238E27FC236}">
                <a16:creationId xmlns:a16="http://schemas.microsoft.com/office/drawing/2014/main" id="{BB7CD28C-020D-35FE-148B-6568F5E03E7F}"/>
              </a:ext>
            </a:extLst>
          </p:cNvPr>
          <p:cNvGraphicFramePr>
            <a:graphicFrameLocks noGrp="1"/>
          </p:cNvGraphicFramePr>
          <p:nvPr>
            <p:ph idx="1"/>
            <p:extLst>
              <p:ext uri="{D42A27DB-BD31-4B8C-83A1-F6EECF244321}">
                <p14:modId xmlns:p14="http://schemas.microsoft.com/office/powerpoint/2010/main" val="794848065"/>
              </p:ext>
            </p:extLst>
          </p:nvPr>
        </p:nvGraphicFramePr>
        <p:xfrm>
          <a:off x="1066800" y="2103596"/>
          <a:ext cx="10058400" cy="3931920"/>
        </p:xfrm>
        <a:graphic>
          <a:graphicData uri="http://schemas.openxmlformats.org/drawingml/2006/table">
            <a:tbl>
              <a:tblPr/>
              <a:tblGrid>
                <a:gridCol w="5029200">
                  <a:extLst>
                    <a:ext uri="{9D8B030D-6E8A-4147-A177-3AD203B41FA5}">
                      <a16:colId xmlns:a16="http://schemas.microsoft.com/office/drawing/2014/main" val="3897454924"/>
                    </a:ext>
                  </a:extLst>
                </a:gridCol>
                <a:gridCol w="5029200">
                  <a:extLst>
                    <a:ext uri="{9D8B030D-6E8A-4147-A177-3AD203B41FA5}">
                      <a16:colId xmlns:a16="http://schemas.microsoft.com/office/drawing/2014/main" val="2621936545"/>
                    </a:ext>
                  </a:extLst>
                </a:gridCol>
              </a:tblGrid>
              <a:tr h="0">
                <a:tc>
                  <a:txBody>
                    <a:bodyPr/>
                    <a:lstStyle/>
                    <a:p>
                      <a:pPr>
                        <a:buNone/>
                      </a:pPr>
                      <a:r>
                        <a:rPr lang="en-IN"/>
                        <a:t>Organ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Main Function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61380242"/>
                  </a:ext>
                </a:extLst>
              </a:tr>
              <a:tr h="0">
                <a:tc>
                  <a:txBody>
                    <a:bodyPr/>
                    <a:lstStyle/>
                    <a:p>
                      <a:pPr>
                        <a:buNone/>
                      </a:pPr>
                      <a:r>
                        <a:rPr lang="en-IN" b="1"/>
                        <a:t>Mouth</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t>Chewing (mastication), mixing food with saliva, beginning of starch digestion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52721562"/>
                  </a:ext>
                </a:extLst>
              </a:tr>
              <a:tr h="0">
                <a:tc>
                  <a:txBody>
                    <a:bodyPr/>
                    <a:lstStyle/>
                    <a:p>
                      <a:pPr>
                        <a:buNone/>
                      </a:pPr>
                      <a:r>
                        <a:rPr lang="en-IN" b="1"/>
                        <a:t>Pharynx &amp; Esophagus</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t>Swallowing and transport of food to stomach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91711981"/>
                  </a:ext>
                </a:extLst>
              </a:tr>
              <a:tr h="0">
                <a:tc>
                  <a:txBody>
                    <a:bodyPr/>
                    <a:lstStyle/>
                    <a:p>
                      <a:pPr>
                        <a:buNone/>
                      </a:pPr>
                      <a:r>
                        <a:rPr lang="en-IN" b="1"/>
                        <a:t>Stomach</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t>Storage and mixing of food; begins protein digestion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15270547"/>
                  </a:ext>
                </a:extLst>
              </a:tr>
              <a:tr h="0">
                <a:tc>
                  <a:txBody>
                    <a:bodyPr/>
                    <a:lstStyle/>
                    <a:p>
                      <a:pPr>
                        <a:buNone/>
                      </a:pPr>
                      <a:r>
                        <a:rPr lang="en-IN" b="1"/>
                        <a:t>Small Intestine (Duodenum, Jejunum, Ileum)</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t>Major digestion and absorption of nutrients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14505187"/>
                  </a:ext>
                </a:extLst>
              </a:tr>
              <a:tr h="0">
                <a:tc>
                  <a:txBody>
                    <a:bodyPr/>
                    <a:lstStyle/>
                    <a:p>
                      <a:pPr>
                        <a:buNone/>
                      </a:pPr>
                      <a:r>
                        <a:rPr lang="en-IN" b="1"/>
                        <a:t>Large Intestine (Colon)</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t>Absorption of water &amp; electrolytes, formation of feces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44961259"/>
                  </a:ext>
                </a:extLst>
              </a:tr>
              <a:tr h="0">
                <a:tc>
                  <a:txBody>
                    <a:bodyPr/>
                    <a:lstStyle/>
                    <a:p>
                      <a:pPr>
                        <a:buNone/>
                      </a:pPr>
                      <a:r>
                        <a:rPr lang="en-IN" b="1"/>
                        <a:t>Rectum &amp; Anus</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dirty="0"/>
                        <a:t>Storage and expulsion of feces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67363212"/>
                  </a:ext>
                </a:extLst>
              </a:tr>
            </a:tbl>
          </a:graphicData>
        </a:graphic>
      </p:graphicFrame>
    </p:spTree>
    <p:extLst>
      <p:ext uri="{BB962C8B-B14F-4D97-AF65-F5344CB8AC3E}">
        <p14:creationId xmlns:p14="http://schemas.microsoft.com/office/powerpoint/2010/main" val="36709359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4230D3-A22B-B493-23BB-4EBC7331FF47}"/>
              </a:ext>
            </a:extLst>
          </p:cNvPr>
          <p:cNvSpPr>
            <a:spLocks noGrp="1"/>
          </p:cNvSpPr>
          <p:nvPr>
            <p:ph type="title"/>
          </p:nvPr>
        </p:nvSpPr>
        <p:spPr/>
        <p:txBody>
          <a:bodyPr/>
          <a:lstStyle/>
          <a:p>
            <a:r>
              <a:rPr lang="en-IN" dirty="0"/>
              <a:t>Functions </a:t>
            </a:r>
          </a:p>
        </p:txBody>
      </p:sp>
      <p:sp>
        <p:nvSpPr>
          <p:cNvPr id="3" name="Content Placeholder 2">
            <a:extLst>
              <a:ext uri="{FF2B5EF4-FFF2-40B4-BE49-F238E27FC236}">
                <a16:creationId xmlns:a16="http://schemas.microsoft.com/office/drawing/2014/main" id="{939AB078-8D63-9904-4524-4A152B021647}"/>
              </a:ext>
            </a:extLst>
          </p:cNvPr>
          <p:cNvSpPr>
            <a:spLocks noGrp="1"/>
          </p:cNvSpPr>
          <p:nvPr>
            <p:ph idx="1"/>
          </p:nvPr>
        </p:nvSpPr>
        <p:spPr/>
        <p:txBody>
          <a:bodyPr>
            <a:normAutofit fontScale="92500" lnSpcReduction="10000"/>
          </a:bodyPr>
          <a:lstStyle/>
          <a:p>
            <a:r>
              <a:rPr lang="en-IN" b="1" dirty="0"/>
              <a:t>1. Ingestion</a:t>
            </a:r>
          </a:p>
          <a:p>
            <a:r>
              <a:rPr lang="en-IN" dirty="0"/>
              <a:t>Intake of food into the mouth</a:t>
            </a:r>
          </a:p>
          <a:p>
            <a:r>
              <a:rPr lang="en-IN" b="1" dirty="0"/>
              <a:t>2. Digestion</a:t>
            </a:r>
          </a:p>
          <a:p>
            <a:r>
              <a:rPr lang="en-IN" dirty="0"/>
              <a:t>Breakdown of food into smaller components</a:t>
            </a:r>
          </a:p>
          <a:p>
            <a:pPr lvl="1"/>
            <a:r>
              <a:rPr lang="en-IN" b="1" dirty="0"/>
              <a:t>Mechanical digestion</a:t>
            </a:r>
            <a:r>
              <a:rPr lang="en-IN" dirty="0"/>
              <a:t> → chewing &amp; churning</a:t>
            </a:r>
          </a:p>
          <a:p>
            <a:pPr lvl="1"/>
            <a:r>
              <a:rPr lang="en-IN" b="1" dirty="0"/>
              <a:t>Chemical digestion</a:t>
            </a:r>
            <a:r>
              <a:rPr lang="en-IN" dirty="0"/>
              <a:t> → enzymes &amp; acids</a:t>
            </a:r>
          </a:p>
          <a:p>
            <a:r>
              <a:rPr lang="en-IN" b="1" dirty="0"/>
              <a:t>3. Absorption</a:t>
            </a:r>
          </a:p>
          <a:p>
            <a:r>
              <a:rPr lang="en-IN" dirty="0"/>
              <a:t>Transfer of nutrients from intestine to blood/lymph:</a:t>
            </a:r>
          </a:p>
          <a:p>
            <a:pPr lvl="1"/>
            <a:r>
              <a:rPr lang="en-IN" dirty="0"/>
              <a:t>Carbohydrates → glucose</a:t>
            </a:r>
          </a:p>
          <a:p>
            <a:pPr lvl="1"/>
            <a:r>
              <a:rPr lang="en-IN" dirty="0"/>
              <a:t>Proteins → amino acids</a:t>
            </a:r>
          </a:p>
          <a:p>
            <a:pPr lvl="1"/>
            <a:r>
              <a:rPr lang="en-IN" dirty="0"/>
              <a:t>Fats → fatty acids &amp; glycerol</a:t>
            </a:r>
          </a:p>
          <a:p>
            <a:pPr lvl="1"/>
            <a:r>
              <a:rPr lang="en-IN" dirty="0"/>
              <a:t>Vitamins, minerals &amp; water also absorbed</a:t>
            </a:r>
          </a:p>
          <a:p>
            <a:endParaRPr lang="en-IN" dirty="0"/>
          </a:p>
        </p:txBody>
      </p:sp>
    </p:spTree>
    <p:extLst>
      <p:ext uri="{BB962C8B-B14F-4D97-AF65-F5344CB8AC3E}">
        <p14:creationId xmlns:p14="http://schemas.microsoft.com/office/powerpoint/2010/main" val="40030654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765F26-EC79-4B70-EC4C-53B8697E22C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07FDCB-C651-92AE-A555-96D1674A3AA6}"/>
              </a:ext>
            </a:extLst>
          </p:cNvPr>
          <p:cNvSpPr>
            <a:spLocks noGrp="1"/>
          </p:cNvSpPr>
          <p:nvPr>
            <p:ph type="title"/>
          </p:nvPr>
        </p:nvSpPr>
        <p:spPr/>
        <p:txBody>
          <a:bodyPr/>
          <a:lstStyle/>
          <a:p>
            <a:r>
              <a:rPr lang="en-IN" dirty="0"/>
              <a:t>Functions </a:t>
            </a:r>
          </a:p>
        </p:txBody>
      </p:sp>
      <p:sp>
        <p:nvSpPr>
          <p:cNvPr id="3" name="Content Placeholder 2">
            <a:extLst>
              <a:ext uri="{FF2B5EF4-FFF2-40B4-BE49-F238E27FC236}">
                <a16:creationId xmlns:a16="http://schemas.microsoft.com/office/drawing/2014/main" id="{E011DD6C-3720-6998-7662-012D6B5018D1}"/>
              </a:ext>
            </a:extLst>
          </p:cNvPr>
          <p:cNvSpPr>
            <a:spLocks noGrp="1"/>
          </p:cNvSpPr>
          <p:nvPr>
            <p:ph idx="1"/>
          </p:nvPr>
        </p:nvSpPr>
        <p:spPr/>
        <p:txBody>
          <a:bodyPr>
            <a:normAutofit fontScale="77500" lnSpcReduction="20000"/>
          </a:bodyPr>
          <a:lstStyle/>
          <a:p>
            <a:r>
              <a:rPr lang="en-IN" b="1" dirty="0"/>
              <a:t>4. Motility</a:t>
            </a:r>
          </a:p>
          <a:p>
            <a:r>
              <a:rPr lang="en-IN" dirty="0"/>
              <a:t>Coordinated movement of food along the GI tract by </a:t>
            </a:r>
            <a:r>
              <a:rPr lang="en-IN" b="1" dirty="0"/>
              <a:t>peristalsis</a:t>
            </a:r>
            <a:endParaRPr lang="en-IN" dirty="0"/>
          </a:p>
          <a:p>
            <a:r>
              <a:rPr lang="en-IN" dirty="0"/>
              <a:t>Controlled by:</a:t>
            </a:r>
          </a:p>
          <a:p>
            <a:pPr lvl="1"/>
            <a:r>
              <a:rPr lang="en-IN" dirty="0"/>
              <a:t>Enteric nervous system</a:t>
            </a:r>
          </a:p>
          <a:p>
            <a:pPr lvl="1"/>
            <a:r>
              <a:rPr lang="en-IN" dirty="0"/>
              <a:t>ANS</a:t>
            </a:r>
          </a:p>
          <a:p>
            <a:pPr lvl="1"/>
            <a:r>
              <a:rPr lang="en-IN" dirty="0"/>
              <a:t>GI hormones</a:t>
            </a:r>
          </a:p>
          <a:p>
            <a:r>
              <a:rPr lang="en-IN" b="1" dirty="0"/>
              <a:t>5. Secretion</a:t>
            </a:r>
          </a:p>
          <a:p>
            <a:r>
              <a:rPr lang="en-IN" dirty="0"/>
              <a:t>GI tract &amp; glands release enzymes, mucus, hormones, HCl, bile, etc.</a:t>
            </a:r>
          </a:p>
          <a:p>
            <a:r>
              <a:rPr lang="en-IN" b="1" dirty="0"/>
              <a:t>6. Excretion</a:t>
            </a:r>
          </a:p>
          <a:p>
            <a:r>
              <a:rPr lang="en-IN" dirty="0"/>
              <a:t>Removal of undigested waste as </a:t>
            </a:r>
            <a:r>
              <a:rPr lang="en-IN" b="1" dirty="0" err="1"/>
              <a:t>feces</a:t>
            </a:r>
            <a:endParaRPr lang="en-IN" dirty="0"/>
          </a:p>
          <a:p>
            <a:r>
              <a:rPr lang="en-IN" b="1" dirty="0"/>
              <a:t>7. Host </a:t>
            </a:r>
            <a:r>
              <a:rPr lang="en-IN" b="1" dirty="0" err="1"/>
              <a:t>Defense</a:t>
            </a:r>
            <a:endParaRPr lang="en-IN" b="1" dirty="0"/>
          </a:p>
          <a:p>
            <a:r>
              <a:rPr lang="en-IN" dirty="0"/>
              <a:t>GI immunity prevents entry of pathogens:</a:t>
            </a:r>
          </a:p>
          <a:p>
            <a:pPr lvl="1"/>
            <a:r>
              <a:rPr lang="en-IN" dirty="0"/>
              <a:t>Acidic environment of stomach</a:t>
            </a:r>
          </a:p>
          <a:p>
            <a:pPr lvl="1"/>
            <a:r>
              <a:rPr lang="en-IN" dirty="0"/>
              <a:t>Immunoglobulin A (IgA)</a:t>
            </a:r>
          </a:p>
          <a:p>
            <a:pPr lvl="1"/>
            <a:r>
              <a:rPr lang="en-IN" dirty="0"/>
              <a:t>Gut-associated lymphoid tissue (GALT)</a:t>
            </a:r>
          </a:p>
        </p:txBody>
      </p:sp>
    </p:spTree>
    <p:extLst>
      <p:ext uri="{BB962C8B-B14F-4D97-AF65-F5344CB8AC3E}">
        <p14:creationId xmlns:p14="http://schemas.microsoft.com/office/powerpoint/2010/main" val="38664470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04688D-1802-B068-9A93-0A96FC59062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485C06-1F4A-BE93-54D9-D51B43272593}"/>
              </a:ext>
            </a:extLst>
          </p:cNvPr>
          <p:cNvSpPr>
            <a:spLocks noGrp="1"/>
          </p:cNvSpPr>
          <p:nvPr>
            <p:ph type="ctrTitle"/>
          </p:nvPr>
        </p:nvSpPr>
        <p:spPr/>
        <p:txBody>
          <a:bodyPr/>
          <a:lstStyle/>
          <a:p>
            <a:r>
              <a:rPr lang="en-IN" dirty="0"/>
              <a:t>Unit 2 </a:t>
            </a:r>
          </a:p>
        </p:txBody>
      </p:sp>
      <p:sp>
        <p:nvSpPr>
          <p:cNvPr id="3" name="Subtitle 2">
            <a:extLst>
              <a:ext uri="{FF2B5EF4-FFF2-40B4-BE49-F238E27FC236}">
                <a16:creationId xmlns:a16="http://schemas.microsoft.com/office/drawing/2014/main" id="{9EBB798B-F1C4-F95A-1C5D-3239DA7571ED}"/>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27640184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6986C3-71B8-0074-12FE-396CDAFA45CB}"/>
              </a:ext>
            </a:extLst>
          </p:cNvPr>
          <p:cNvSpPr>
            <a:spLocks noGrp="1"/>
          </p:cNvSpPr>
          <p:nvPr>
            <p:ph type="title"/>
          </p:nvPr>
        </p:nvSpPr>
        <p:spPr/>
        <p:txBody>
          <a:bodyPr/>
          <a:lstStyle/>
          <a:p>
            <a:endParaRPr lang="en-IN" dirty="0"/>
          </a:p>
        </p:txBody>
      </p:sp>
      <p:pic>
        <p:nvPicPr>
          <p:cNvPr id="5" name="Content Placeholder 4">
            <a:extLst>
              <a:ext uri="{FF2B5EF4-FFF2-40B4-BE49-F238E27FC236}">
                <a16:creationId xmlns:a16="http://schemas.microsoft.com/office/drawing/2014/main" id="{27EB6E52-8975-DDDB-B1AC-24E6D4F8B22A}"/>
              </a:ext>
            </a:extLst>
          </p:cNvPr>
          <p:cNvPicPr>
            <a:picLocks noGrp="1" noChangeAspect="1"/>
          </p:cNvPicPr>
          <p:nvPr>
            <p:ph idx="1"/>
          </p:nvPr>
        </p:nvPicPr>
        <p:blipFill>
          <a:blip r:embed="rId2"/>
          <a:stretch>
            <a:fillRect/>
          </a:stretch>
        </p:blipFill>
        <p:spPr>
          <a:xfrm>
            <a:off x="2867702" y="642594"/>
            <a:ext cx="6456595" cy="5506578"/>
          </a:xfrm>
          <a:prstGeom prst="rect">
            <a:avLst/>
          </a:prstGeom>
        </p:spPr>
      </p:pic>
    </p:spTree>
    <p:extLst>
      <p:ext uri="{BB962C8B-B14F-4D97-AF65-F5344CB8AC3E}">
        <p14:creationId xmlns:p14="http://schemas.microsoft.com/office/powerpoint/2010/main" val="33434041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D5689A-E715-CA8E-9F89-BC25AFC96559}"/>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01F9958C-F199-2FB6-512B-ABE23F565D98}"/>
              </a:ext>
            </a:extLst>
          </p:cNvPr>
          <p:cNvPicPr>
            <a:picLocks noGrp="1" noChangeAspect="1"/>
          </p:cNvPicPr>
          <p:nvPr>
            <p:ph idx="1"/>
          </p:nvPr>
        </p:nvPicPr>
        <p:blipFill>
          <a:blip r:embed="rId2"/>
          <a:stretch>
            <a:fillRect/>
          </a:stretch>
        </p:blipFill>
        <p:spPr>
          <a:xfrm>
            <a:off x="2585884" y="397536"/>
            <a:ext cx="7020232" cy="6062927"/>
          </a:xfrm>
          <a:prstGeom prst="rect">
            <a:avLst/>
          </a:prstGeom>
        </p:spPr>
      </p:pic>
    </p:spTree>
    <p:extLst>
      <p:ext uri="{BB962C8B-B14F-4D97-AF65-F5344CB8AC3E}">
        <p14:creationId xmlns:p14="http://schemas.microsoft.com/office/powerpoint/2010/main" val="19936287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27D1E8-0FD1-60A1-0C29-75EF9548ED05}"/>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A74A6B9B-6E8D-89E0-ECE9-48E057F6FFE2}"/>
              </a:ext>
            </a:extLst>
          </p:cNvPr>
          <p:cNvPicPr>
            <a:picLocks noGrp="1" noChangeAspect="1"/>
          </p:cNvPicPr>
          <p:nvPr>
            <p:ph idx="1"/>
          </p:nvPr>
        </p:nvPicPr>
        <p:blipFill>
          <a:blip r:embed="rId2"/>
          <a:stretch>
            <a:fillRect/>
          </a:stretch>
        </p:blipFill>
        <p:spPr>
          <a:xfrm>
            <a:off x="386742" y="335225"/>
            <a:ext cx="5984562" cy="6095071"/>
          </a:xfrm>
          <a:prstGeom prst="rect">
            <a:avLst/>
          </a:prstGeom>
        </p:spPr>
      </p:pic>
      <p:pic>
        <p:nvPicPr>
          <p:cNvPr id="7" name="Picture 6">
            <a:extLst>
              <a:ext uri="{FF2B5EF4-FFF2-40B4-BE49-F238E27FC236}">
                <a16:creationId xmlns:a16="http://schemas.microsoft.com/office/drawing/2014/main" id="{6D843CA2-860D-1154-5D49-5AB82711AE53}"/>
              </a:ext>
            </a:extLst>
          </p:cNvPr>
          <p:cNvPicPr>
            <a:picLocks noChangeAspect="1"/>
          </p:cNvPicPr>
          <p:nvPr/>
        </p:nvPicPr>
        <p:blipFill>
          <a:blip r:embed="rId3"/>
          <a:stretch>
            <a:fillRect/>
          </a:stretch>
        </p:blipFill>
        <p:spPr>
          <a:xfrm>
            <a:off x="6300692" y="335225"/>
            <a:ext cx="5677473" cy="6187550"/>
          </a:xfrm>
          <a:prstGeom prst="rect">
            <a:avLst/>
          </a:prstGeom>
        </p:spPr>
      </p:pic>
    </p:spTree>
    <p:extLst>
      <p:ext uri="{BB962C8B-B14F-4D97-AF65-F5344CB8AC3E}">
        <p14:creationId xmlns:p14="http://schemas.microsoft.com/office/powerpoint/2010/main" val="24276168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0BD1CD-5DD4-17F8-7242-A76BAB2836A3}"/>
              </a:ext>
            </a:extLst>
          </p:cNvPr>
          <p:cNvSpPr>
            <a:spLocks noGrp="1"/>
          </p:cNvSpPr>
          <p:nvPr>
            <p:ph type="title"/>
          </p:nvPr>
        </p:nvSpPr>
        <p:spPr>
          <a:xfrm>
            <a:off x="1066800" y="642594"/>
            <a:ext cx="2777613" cy="5512400"/>
          </a:xfrm>
        </p:spPr>
        <p:txBody>
          <a:bodyPr/>
          <a:lstStyle/>
          <a:p>
            <a:r>
              <a:rPr lang="en-IN" dirty="0"/>
              <a:t>Applied aspect</a:t>
            </a:r>
          </a:p>
        </p:txBody>
      </p:sp>
      <p:pic>
        <p:nvPicPr>
          <p:cNvPr id="5" name="Content Placeholder 4">
            <a:extLst>
              <a:ext uri="{FF2B5EF4-FFF2-40B4-BE49-F238E27FC236}">
                <a16:creationId xmlns:a16="http://schemas.microsoft.com/office/drawing/2014/main" id="{55414AB9-7962-E53C-F1B2-26AB4B24B8B0}"/>
              </a:ext>
            </a:extLst>
          </p:cNvPr>
          <p:cNvPicPr>
            <a:picLocks noGrp="1" noChangeAspect="1"/>
          </p:cNvPicPr>
          <p:nvPr>
            <p:ph idx="1"/>
          </p:nvPr>
        </p:nvPicPr>
        <p:blipFill>
          <a:blip r:embed="rId2"/>
          <a:stretch>
            <a:fillRect/>
          </a:stretch>
        </p:blipFill>
        <p:spPr>
          <a:xfrm>
            <a:off x="6400800" y="363128"/>
            <a:ext cx="5417762" cy="6120066"/>
          </a:xfrm>
          <a:prstGeom prst="rect">
            <a:avLst/>
          </a:prstGeom>
        </p:spPr>
      </p:pic>
    </p:spTree>
    <p:extLst>
      <p:ext uri="{BB962C8B-B14F-4D97-AF65-F5344CB8AC3E}">
        <p14:creationId xmlns:p14="http://schemas.microsoft.com/office/powerpoint/2010/main" val="18715082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B7531E-A390-788E-AD66-CFE9F662216B}"/>
              </a:ext>
            </a:extLst>
          </p:cNvPr>
          <p:cNvSpPr>
            <a:spLocks noGrp="1"/>
          </p:cNvSpPr>
          <p:nvPr>
            <p:ph type="title"/>
          </p:nvPr>
        </p:nvSpPr>
        <p:spPr/>
        <p:txBody>
          <a:bodyPr/>
          <a:lstStyle/>
          <a:p>
            <a:r>
              <a:rPr lang="en-IN" dirty="0" err="1"/>
              <a:t>Degluttion</a:t>
            </a:r>
            <a:r>
              <a:rPr lang="en-IN" dirty="0"/>
              <a:t> </a:t>
            </a:r>
          </a:p>
        </p:txBody>
      </p:sp>
      <p:sp>
        <p:nvSpPr>
          <p:cNvPr id="3" name="Content Placeholder 2">
            <a:extLst>
              <a:ext uri="{FF2B5EF4-FFF2-40B4-BE49-F238E27FC236}">
                <a16:creationId xmlns:a16="http://schemas.microsoft.com/office/drawing/2014/main" id="{FB3290FB-3E20-3248-8A7D-A254EF9C465B}"/>
              </a:ext>
            </a:extLst>
          </p:cNvPr>
          <p:cNvSpPr>
            <a:spLocks noGrp="1"/>
          </p:cNvSpPr>
          <p:nvPr>
            <p:ph idx="1"/>
          </p:nvPr>
        </p:nvSpPr>
        <p:spPr/>
        <p:txBody>
          <a:bodyPr/>
          <a:lstStyle/>
          <a:p>
            <a:r>
              <a:rPr lang="en-US" dirty="0"/>
              <a:t>Deglutition (swallowing) is the </a:t>
            </a:r>
            <a:r>
              <a:rPr lang="en-US" b="1" dirty="0"/>
              <a:t>process of transporting food from the mouth to the stomach</a:t>
            </a:r>
            <a:r>
              <a:rPr lang="en-US" dirty="0"/>
              <a:t>.</a:t>
            </a:r>
            <a:br>
              <a:rPr lang="en-US" dirty="0"/>
            </a:br>
            <a:r>
              <a:rPr lang="en-US" dirty="0"/>
              <a:t>It involves </a:t>
            </a:r>
            <a:r>
              <a:rPr lang="en-US" b="1" dirty="0"/>
              <a:t>voluntary and involuntary (reflex) actions</a:t>
            </a:r>
            <a:r>
              <a:rPr lang="en-US" dirty="0"/>
              <a:t> that ensure safe movement of food without entering the respiratory tract.</a:t>
            </a:r>
          </a:p>
          <a:p>
            <a:endParaRPr lang="en-IN" dirty="0"/>
          </a:p>
        </p:txBody>
      </p:sp>
      <p:graphicFrame>
        <p:nvGraphicFramePr>
          <p:cNvPr id="4" name="Table 3">
            <a:extLst>
              <a:ext uri="{FF2B5EF4-FFF2-40B4-BE49-F238E27FC236}">
                <a16:creationId xmlns:a16="http://schemas.microsoft.com/office/drawing/2014/main" id="{B208357B-23A2-5595-9F59-E7AF237B6D41}"/>
              </a:ext>
            </a:extLst>
          </p:cNvPr>
          <p:cNvGraphicFramePr>
            <a:graphicFrameLocks noGrp="1"/>
          </p:cNvGraphicFramePr>
          <p:nvPr>
            <p:extLst>
              <p:ext uri="{D42A27DB-BD31-4B8C-83A1-F6EECF244321}">
                <p14:modId xmlns:p14="http://schemas.microsoft.com/office/powerpoint/2010/main" val="2102340607"/>
              </p:ext>
            </p:extLst>
          </p:nvPr>
        </p:nvGraphicFramePr>
        <p:xfrm>
          <a:off x="1135626" y="3750991"/>
          <a:ext cx="10058400" cy="1463040"/>
        </p:xfrm>
        <a:graphic>
          <a:graphicData uri="http://schemas.openxmlformats.org/drawingml/2006/table">
            <a:tbl>
              <a:tblPr/>
              <a:tblGrid>
                <a:gridCol w="3352800">
                  <a:extLst>
                    <a:ext uri="{9D8B030D-6E8A-4147-A177-3AD203B41FA5}">
                      <a16:colId xmlns:a16="http://schemas.microsoft.com/office/drawing/2014/main" val="217165194"/>
                    </a:ext>
                  </a:extLst>
                </a:gridCol>
                <a:gridCol w="3352800">
                  <a:extLst>
                    <a:ext uri="{9D8B030D-6E8A-4147-A177-3AD203B41FA5}">
                      <a16:colId xmlns:a16="http://schemas.microsoft.com/office/drawing/2014/main" val="3301989938"/>
                    </a:ext>
                  </a:extLst>
                </a:gridCol>
                <a:gridCol w="3352800">
                  <a:extLst>
                    <a:ext uri="{9D8B030D-6E8A-4147-A177-3AD203B41FA5}">
                      <a16:colId xmlns:a16="http://schemas.microsoft.com/office/drawing/2014/main" val="2410309278"/>
                    </a:ext>
                  </a:extLst>
                </a:gridCol>
              </a:tblGrid>
              <a:tr h="0">
                <a:tc>
                  <a:txBody>
                    <a:bodyPr/>
                    <a:lstStyle/>
                    <a:p>
                      <a:pPr>
                        <a:buNone/>
                      </a:pPr>
                      <a:r>
                        <a:rPr lang="en-IN"/>
                        <a:t>Stage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Location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Nature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18883840"/>
                  </a:ext>
                </a:extLst>
              </a:tr>
              <a:tr h="0">
                <a:tc>
                  <a:txBody>
                    <a:bodyPr/>
                    <a:lstStyle/>
                    <a:p>
                      <a:pPr>
                        <a:buNone/>
                      </a:pPr>
                      <a:r>
                        <a:rPr lang="en-IN" b="1"/>
                        <a:t>1. Oral stage</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Mouth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b="1"/>
                        <a:t>Voluntary</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90508487"/>
                  </a:ext>
                </a:extLst>
              </a:tr>
              <a:tr h="0">
                <a:tc>
                  <a:txBody>
                    <a:bodyPr/>
                    <a:lstStyle/>
                    <a:p>
                      <a:pPr>
                        <a:buNone/>
                      </a:pPr>
                      <a:r>
                        <a:rPr lang="en-IN" b="1"/>
                        <a:t>2. Pharyngeal stage</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Pharynx</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b="1"/>
                        <a:t>Involuntary / Reflex</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45417013"/>
                  </a:ext>
                </a:extLst>
              </a:tr>
              <a:tr h="0">
                <a:tc>
                  <a:txBody>
                    <a:bodyPr/>
                    <a:lstStyle/>
                    <a:p>
                      <a:pPr>
                        <a:buNone/>
                      </a:pPr>
                      <a:r>
                        <a:rPr lang="en-IN" b="1"/>
                        <a:t>3. Esophageal stage</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Esophagus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b="1" dirty="0"/>
                        <a:t>Involuntary / Reflex</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10641285"/>
                  </a:ext>
                </a:extLst>
              </a:tr>
            </a:tbl>
          </a:graphicData>
        </a:graphic>
      </p:graphicFrame>
    </p:spTree>
    <p:extLst>
      <p:ext uri="{BB962C8B-B14F-4D97-AF65-F5344CB8AC3E}">
        <p14:creationId xmlns:p14="http://schemas.microsoft.com/office/powerpoint/2010/main" val="381462516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4DBC3F-BE3F-54B3-98F9-4C45C465B8BF}"/>
              </a:ext>
            </a:extLst>
          </p:cNvPr>
          <p:cNvSpPr>
            <a:spLocks noGrp="1"/>
          </p:cNvSpPr>
          <p:nvPr>
            <p:ph type="title"/>
          </p:nvPr>
        </p:nvSpPr>
        <p:spPr/>
        <p:txBody>
          <a:bodyPr>
            <a:normAutofit/>
          </a:bodyPr>
          <a:lstStyle/>
          <a:p>
            <a:r>
              <a:rPr lang="en-IN" b="1" dirty="0"/>
              <a:t>Oral Stage (Voluntary Phase)</a:t>
            </a:r>
            <a:endParaRPr lang="en-IN" dirty="0"/>
          </a:p>
        </p:txBody>
      </p:sp>
      <p:sp>
        <p:nvSpPr>
          <p:cNvPr id="3" name="Content Placeholder 2">
            <a:extLst>
              <a:ext uri="{FF2B5EF4-FFF2-40B4-BE49-F238E27FC236}">
                <a16:creationId xmlns:a16="http://schemas.microsoft.com/office/drawing/2014/main" id="{F81E588B-FA2D-891B-7AE8-C4937399C06E}"/>
              </a:ext>
            </a:extLst>
          </p:cNvPr>
          <p:cNvSpPr>
            <a:spLocks noGrp="1"/>
          </p:cNvSpPr>
          <p:nvPr>
            <p:ph idx="1"/>
          </p:nvPr>
        </p:nvSpPr>
        <p:spPr/>
        <p:txBody>
          <a:bodyPr/>
          <a:lstStyle/>
          <a:p>
            <a:r>
              <a:rPr lang="en-IN" dirty="0"/>
              <a:t>Food is chewed and mixed with saliva → </a:t>
            </a:r>
            <a:r>
              <a:rPr lang="en-IN" b="1" dirty="0"/>
              <a:t>bolus formation</a:t>
            </a:r>
            <a:endParaRPr lang="en-IN" dirty="0"/>
          </a:p>
          <a:p>
            <a:r>
              <a:rPr lang="en-IN" b="1" dirty="0"/>
              <a:t>Tip of tongue presses against hard palate</a:t>
            </a:r>
            <a:endParaRPr lang="en-IN" dirty="0"/>
          </a:p>
          <a:p>
            <a:r>
              <a:rPr lang="en-IN" dirty="0"/>
              <a:t>Tongue pushes bolus backward into pharynx</a:t>
            </a:r>
          </a:p>
          <a:p>
            <a:r>
              <a:rPr lang="en-IN" dirty="0"/>
              <a:t>🔹 Ends when bolus reaches the </a:t>
            </a:r>
            <a:r>
              <a:rPr lang="en-IN" b="1" dirty="0"/>
              <a:t>oropharynx</a:t>
            </a:r>
            <a:br>
              <a:rPr lang="en-IN" dirty="0"/>
            </a:br>
            <a:r>
              <a:rPr lang="en-IN" dirty="0"/>
              <a:t>🔹 Controlled voluntarily</a:t>
            </a:r>
          </a:p>
          <a:p>
            <a:endParaRPr lang="en-IN" dirty="0"/>
          </a:p>
        </p:txBody>
      </p:sp>
    </p:spTree>
    <p:extLst>
      <p:ext uri="{BB962C8B-B14F-4D97-AF65-F5344CB8AC3E}">
        <p14:creationId xmlns:p14="http://schemas.microsoft.com/office/powerpoint/2010/main" val="15263164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2891C0-1074-0C7A-8A3E-F5720286A547}"/>
              </a:ext>
            </a:extLst>
          </p:cNvPr>
          <p:cNvSpPr>
            <a:spLocks noGrp="1"/>
          </p:cNvSpPr>
          <p:nvPr>
            <p:ph type="title"/>
          </p:nvPr>
        </p:nvSpPr>
        <p:spPr/>
        <p:txBody>
          <a:bodyPr>
            <a:normAutofit fontScale="90000"/>
          </a:bodyPr>
          <a:lstStyle/>
          <a:p>
            <a:r>
              <a:rPr lang="en-IN" b="1" dirty="0"/>
              <a:t>Pharyngeal Stage (Involuntary Reflex Phase)</a:t>
            </a:r>
            <a:endParaRPr lang="en-IN" dirty="0"/>
          </a:p>
        </p:txBody>
      </p:sp>
      <p:sp>
        <p:nvSpPr>
          <p:cNvPr id="3" name="Content Placeholder 2">
            <a:extLst>
              <a:ext uri="{FF2B5EF4-FFF2-40B4-BE49-F238E27FC236}">
                <a16:creationId xmlns:a16="http://schemas.microsoft.com/office/drawing/2014/main" id="{FDA66193-B6CD-7205-F6E9-E2A5A3075970}"/>
              </a:ext>
            </a:extLst>
          </p:cNvPr>
          <p:cNvSpPr>
            <a:spLocks noGrp="1"/>
          </p:cNvSpPr>
          <p:nvPr>
            <p:ph idx="1"/>
          </p:nvPr>
        </p:nvSpPr>
        <p:spPr/>
        <p:txBody>
          <a:bodyPr/>
          <a:lstStyle/>
          <a:p>
            <a:r>
              <a:rPr lang="en-IN" dirty="0"/>
              <a:t>Bolus enters the pharynx → </a:t>
            </a:r>
            <a:r>
              <a:rPr lang="en-IN" b="1" dirty="0"/>
              <a:t>swallowing reflex triggered</a:t>
            </a:r>
            <a:endParaRPr lang="en-IN" dirty="0"/>
          </a:p>
          <a:p>
            <a:r>
              <a:rPr lang="en-IN" b="1" dirty="0"/>
              <a:t>Respiration is temporarily inhibited</a:t>
            </a:r>
            <a:r>
              <a:rPr lang="en-IN" dirty="0"/>
              <a:t> (to prevent choking)</a:t>
            </a:r>
          </a:p>
          <a:p>
            <a:r>
              <a:rPr lang="en-IN" dirty="0"/>
              <a:t>Protective mechanisms to prevent entry into airway:</a:t>
            </a:r>
          </a:p>
          <a:p>
            <a:pPr lvl="1"/>
            <a:r>
              <a:rPr lang="en-IN" b="1" dirty="0"/>
              <a:t>Soft palate elevates</a:t>
            </a:r>
            <a:r>
              <a:rPr lang="en-IN" dirty="0"/>
              <a:t> → closes nasopharynx</a:t>
            </a:r>
          </a:p>
          <a:p>
            <a:pPr lvl="1"/>
            <a:r>
              <a:rPr lang="en-IN" b="1" dirty="0"/>
              <a:t>Epiglottis covers larynx</a:t>
            </a:r>
            <a:r>
              <a:rPr lang="en-IN" dirty="0"/>
              <a:t> → closes airway</a:t>
            </a:r>
          </a:p>
          <a:p>
            <a:pPr lvl="1"/>
            <a:r>
              <a:rPr lang="en-IN" b="1" dirty="0"/>
              <a:t>Vocal cords close</a:t>
            </a:r>
            <a:endParaRPr lang="en-IN" dirty="0"/>
          </a:p>
          <a:p>
            <a:r>
              <a:rPr lang="en-IN" dirty="0"/>
              <a:t>Bolus moves rapidly from pharynx to </a:t>
            </a:r>
            <a:r>
              <a:rPr lang="en-IN" dirty="0" err="1"/>
              <a:t>esophagus</a:t>
            </a:r>
            <a:endParaRPr lang="en-IN" dirty="0"/>
          </a:p>
          <a:p>
            <a:r>
              <a:rPr lang="en-IN" dirty="0"/>
              <a:t>⏳ Very fast stage (about 1 second)</a:t>
            </a:r>
          </a:p>
          <a:p>
            <a:endParaRPr lang="en-IN" dirty="0"/>
          </a:p>
        </p:txBody>
      </p:sp>
    </p:spTree>
    <p:extLst>
      <p:ext uri="{BB962C8B-B14F-4D97-AF65-F5344CB8AC3E}">
        <p14:creationId xmlns:p14="http://schemas.microsoft.com/office/powerpoint/2010/main" val="2566854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D28DDD-AB4D-E9F0-AA01-206D64DEB161}"/>
              </a:ext>
            </a:extLst>
          </p:cNvPr>
          <p:cNvSpPr>
            <a:spLocks noGrp="1"/>
          </p:cNvSpPr>
          <p:nvPr>
            <p:ph type="title"/>
          </p:nvPr>
        </p:nvSpPr>
        <p:spPr/>
        <p:txBody>
          <a:bodyPr>
            <a:normAutofit fontScale="90000"/>
          </a:bodyPr>
          <a:lstStyle/>
          <a:p>
            <a:r>
              <a:rPr lang="en-IN" b="1" dirty="0" err="1"/>
              <a:t>Esophageal</a:t>
            </a:r>
            <a:r>
              <a:rPr lang="en-IN" b="1" dirty="0"/>
              <a:t> Stage (Involuntary Phase)</a:t>
            </a:r>
            <a:endParaRPr lang="en-IN" dirty="0"/>
          </a:p>
        </p:txBody>
      </p:sp>
      <p:sp>
        <p:nvSpPr>
          <p:cNvPr id="3" name="Content Placeholder 2">
            <a:extLst>
              <a:ext uri="{FF2B5EF4-FFF2-40B4-BE49-F238E27FC236}">
                <a16:creationId xmlns:a16="http://schemas.microsoft.com/office/drawing/2014/main" id="{B9623D90-E582-9C1A-F69F-26D2357B6916}"/>
              </a:ext>
            </a:extLst>
          </p:cNvPr>
          <p:cNvSpPr>
            <a:spLocks noGrp="1"/>
          </p:cNvSpPr>
          <p:nvPr>
            <p:ph idx="1"/>
          </p:nvPr>
        </p:nvSpPr>
        <p:spPr/>
        <p:txBody>
          <a:bodyPr/>
          <a:lstStyle/>
          <a:p>
            <a:r>
              <a:rPr lang="en-IN" dirty="0"/>
              <a:t>Bolus enters </a:t>
            </a:r>
            <a:r>
              <a:rPr lang="en-IN" dirty="0" err="1"/>
              <a:t>esophagus</a:t>
            </a:r>
            <a:endParaRPr lang="en-IN" dirty="0"/>
          </a:p>
          <a:p>
            <a:r>
              <a:rPr lang="en-IN" dirty="0"/>
              <a:t>Transport to stomach by </a:t>
            </a:r>
            <a:r>
              <a:rPr lang="en-IN" b="1" dirty="0"/>
              <a:t>peristaltic waves</a:t>
            </a:r>
            <a:endParaRPr lang="en-IN" dirty="0"/>
          </a:p>
          <a:p>
            <a:pPr lvl="1"/>
            <a:r>
              <a:rPr lang="en-IN" b="1" dirty="0"/>
              <a:t>Primary peristalsis</a:t>
            </a:r>
            <a:r>
              <a:rPr lang="en-IN" dirty="0"/>
              <a:t> – normal wave triggered by swallowing</a:t>
            </a:r>
          </a:p>
          <a:p>
            <a:pPr lvl="1"/>
            <a:r>
              <a:rPr lang="en-IN" b="1" dirty="0"/>
              <a:t>Secondary peristalsis</a:t>
            </a:r>
            <a:r>
              <a:rPr lang="en-IN" dirty="0"/>
              <a:t> – if food remains in </a:t>
            </a:r>
            <a:r>
              <a:rPr lang="en-IN" dirty="0" err="1"/>
              <a:t>esophagus</a:t>
            </a:r>
            <a:endParaRPr lang="en-IN" dirty="0"/>
          </a:p>
          <a:p>
            <a:r>
              <a:rPr lang="en-IN" b="1" dirty="0"/>
              <a:t>Lower </a:t>
            </a:r>
            <a:r>
              <a:rPr lang="en-IN" b="1" dirty="0" err="1"/>
              <a:t>esophageal</a:t>
            </a:r>
            <a:r>
              <a:rPr lang="en-IN" b="1" dirty="0"/>
              <a:t> sphincter (LES)</a:t>
            </a:r>
            <a:r>
              <a:rPr lang="en-IN" dirty="0"/>
              <a:t> relaxes</a:t>
            </a:r>
            <a:br>
              <a:rPr lang="en-IN" dirty="0"/>
            </a:br>
            <a:r>
              <a:rPr lang="en-IN" dirty="0"/>
              <a:t>→ Bolus enters stomach</a:t>
            </a:r>
          </a:p>
          <a:p>
            <a:endParaRPr lang="en-IN" dirty="0"/>
          </a:p>
        </p:txBody>
      </p:sp>
    </p:spTree>
    <p:extLst>
      <p:ext uri="{BB962C8B-B14F-4D97-AF65-F5344CB8AC3E}">
        <p14:creationId xmlns:p14="http://schemas.microsoft.com/office/powerpoint/2010/main" val="264391079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48AC69-EF23-09EE-C572-6D3F0BC4E044}"/>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DB09BDC5-407E-36B3-B494-FAC5E3806BB7}"/>
              </a:ext>
            </a:extLst>
          </p:cNvPr>
          <p:cNvPicPr>
            <a:picLocks noGrp="1" noChangeAspect="1"/>
          </p:cNvPicPr>
          <p:nvPr>
            <p:ph idx="1"/>
          </p:nvPr>
        </p:nvPicPr>
        <p:blipFill>
          <a:blip r:embed="rId2"/>
          <a:stretch>
            <a:fillRect/>
          </a:stretch>
        </p:blipFill>
        <p:spPr>
          <a:xfrm>
            <a:off x="3095261" y="0"/>
            <a:ext cx="6001477" cy="6809117"/>
          </a:xfrm>
          <a:prstGeom prst="rect">
            <a:avLst/>
          </a:prstGeom>
        </p:spPr>
      </p:pic>
    </p:spTree>
    <p:extLst>
      <p:ext uri="{BB962C8B-B14F-4D97-AF65-F5344CB8AC3E}">
        <p14:creationId xmlns:p14="http://schemas.microsoft.com/office/powerpoint/2010/main" val="238352684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2A3A04-9526-2F9A-CCC1-DF56533A12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4C4DA6F-053A-1BEE-B3FF-996FB65E863D}"/>
              </a:ext>
            </a:extLst>
          </p:cNvPr>
          <p:cNvSpPr>
            <a:spLocks noGrp="1"/>
          </p:cNvSpPr>
          <p:nvPr>
            <p:ph type="ctrTitle"/>
          </p:nvPr>
        </p:nvSpPr>
        <p:spPr/>
        <p:txBody>
          <a:bodyPr/>
          <a:lstStyle/>
          <a:p>
            <a:r>
              <a:rPr lang="en-IN" dirty="0"/>
              <a:t>Unit 3 </a:t>
            </a:r>
          </a:p>
        </p:txBody>
      </p:sp>
      <p:sp>
        <p:nvSpPr>
          <p:cNvPr id="3" name="Subtitle 2">
            <a:extLst>
              <a:ext uri="{FF2B5EF4-FFF2-40B4-BE49-F238E27FC236}">
                <a16:creationId xmlns:a16="http://schemas.microsoft.com/office/drawing/2014/main" id="{4727D733-C455-E51B-3DF2-CD38E72F250F}"/>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419524964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EEE308-B493-946E-440E-3D3D147A9A6F}"/>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06E014E8-2E5E-F947-5B3F-82E71B59D9C8}"/>
              </a:ext>
            </a:extLst>
          </p:cNvPr>
          <p:cNvPicPr>
            <a:picLocks noGrp="1" noChangeAspect="1"/>
          </p:cNvPicPr>
          <p:nvPr>
            <p:ph idx="1"/>
          </p:nvPr>
        </p:nvPicPr>
        <p:blipFill>
          <a:blip r:embed="rId2"/>
          <a:stretch>
            <a:fillRect/>
          </a:stretch>
        </p:blipFill>
        <p:spPr>
          <a:xfrm>
            <a:off x="2373086" y="381001"/>
            <a:ext cx="7620007" cy="5915789"/>
          </a:xfrm>
          <a:prstGeom prst="rect">
            <a:avLst/>
          </a:prstGeom>
        </p:spPr>
      </p:pic>
    </p:spTree>
    <p:extLst>
      <p:ext uri="{BB962C8B-B14F-4D97-AF65-F5344CB8AC3E}">
        <p14:creationId xmlns:p14="http://schemas.microsoft.com/office/powerpoint/2010/main" val="373235820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4423EB-2755-64C8-B081-E1AD55A4BEAB}"/>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6EAC59C3-A5F5-2860-F48E-108749D6B7F6}"/>
              </a:ext>
            </a:extLst>
          </p:cNvPr>
          <p:cNvPicPr>
            <a:picLocks noGrp="1" noChangeAspect="1"/>
          </p:cNvPicPr>
          <p:nvPr>
            <p:ph idx="1"/>
          </p:nvPr>
        </p:nvPicPr>
        <p:blipFill>
          <a:blip r:embed="rId2"/>
          <a:stretch>
            <a:fillRect/>
          </a:stretch>
        </p:blipFill>
        <p:spPr>
          <a:xfrm>
            <a:off x="2761436" y="1077255"/>
            <a:ext cx="6669128" cy="4703490"/>
          </a:xfrm>
          <a:prstGeom prst="rect">
            <a:avLst/>
          </a:prstGeom>
        </p:spPr>
      </p:pic>
    </p:spTree>
    <p:extLst>
      <p:ext uri="{BB962C8B-B14F-4D97-AF65-F5344CB8AC3E}">
        <p14:creationId xmlns:p14="http://schemas.microsoft.com/office/powerpoint/2010/main" val="27998907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F5212B-757D-B176-74B9-814BE0C93AED}"/>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9B0799BB-14F4-DB52-FFE3-0F0438D2CFED}"/>
              </a:ext>
            </a:extLst>
          </p:cNvPr>
          <p:cNvPicPr>
            <a:picLocks noGrp="1" noChangeAspect="1"/>
          </p:cNvPicPr>
          <p:nvPr>
            <p:ph idx="1"/>
          </p:nvPr>
        </p:nvPicPr>
        <p:blipFill>
          <a:blip r:embed="rId2"/>
          <a:stretch>
            <a:fillRect/>
          </a:stretch>
        </p:blipFill>
        <p:spPr>
          <a:xfrm>
            <a:off x="3534213" y="430618"/>
            <a:ext cx="5123573" cy="5996764"/>
          </a:xfrm>
          <a:prstGeom prst="rect">
            <a:avLst/>
          </a:prstGeom>
        </p:spPr>
      </p:pic>
    </p:spTree>
    <p:extLst>
      <p:ext uri="{BB962C8B-B14F-4D97-AF65-F5344CB8AC3E}">
        <p14:creationId xmlns:p14="http://schemas.microsoft.com/office/powerpoint/2010/main" val="113441693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71AB7B-6A31-5805-2F52-7D4498E08F74}"/>
              </a:ext>
            </a:extLst>
          </p:cNvPr>
          <p:cNvSpPr>
            <a:spLocks noGrp="1"/>
          </p:cNvSpPr>
          <p:nvPr>
            <p:ph type="title"/>
          </p:nvPr>
        </p:nvSpPr>
        <p:spPr/>
        <p:txBody>
          <a:bodyPr>
            <a:normAutofit/>
          </a:bodyPr>
          <a:lstStyle/>
          <a:p>
            <a:r>
              <a:rPr lang="en-IN" b="1" dirty="0"/>
              <a:t>Cephalic Phase (Head Phase)</a:t>
            </a:r>
            <a:endParaRPr lang="en-IN" dirty="0"/>
          </a:p>
        </p:txBody>
      </p:sp>
      <p:sp>
        <p:nvSpPr>
          <p:cNvPr id="3" name="Content Placeholder 2">
            <a:extLst>
              <a:ext uri="{FF2B5EF4-FFF2-40B4-BE49-F238E27FC236}">
                <a16:creationId xmlns:a16="http://schemas.microsoft.com/office/drawing/2014/main" id="{8260F287-3166-8A3B-86E1-A793CA34AAE2}"/>
              </a:ext>
            </a:extLst>
          </p:cNvPr>
          <p:cNvSpPr>
            <a:spLocks noGrp="1"/>
          </p:cNvSpPr>
          <p:nvPr>
            <p:ph idx="1"/>
          </p:nvPr>
        </p:nvSpPr>
        <p:spPr/>
        <p:txBody>
          <a:bodyPr/>
          <a:lstStyle/>
          <a:p>
            <a:r>
              <a:rPr lang="en-IN" dirty="0"/>
              <a:t>🔹 </a:t>
            </a:r>
            <a:r>
              <a:rPr lang="en-IN" b="1" dirty="0"/>
              <a:t>Initiated before food enters the stomach</a:t>
            </a:r>
            <a:br>
              <a:rPr lang="en-IN" dirty="0"/>
            </a:br>
            <a:r>
              <a:rPr lang="en-IN" dirty="0"/>
              <a:t>🔹 Triggered by: </a:t>
            </a:r>
            <a:r>
              <a:rPr lang="en-IN" b="1" dirty="0"/>
              <a:t>sight, smell, taste, or thought of food</a:t>
            </a:r>
            <a:br>
              <a:rPr lang="en-IN" dirty="0"/>
            </a:br>
            <a:r>
              <a:rPr lang="en-IN" dirty="0"/>
              <a:t>🔹 Mediated by the </a:t>
            </a:r>
            <a:r>
              <a:rPr lang="en-IN" b="1" dirty="0" err="1"/>
              <a:t>vagus</a:t>
            </a:r>
            <a:r>
              <a:rPr lang="en-IN" b="1" dirty="0"/>
              <a:t> nerve (parasympathetic)</a:t>
            </a:r>
            <a:r>
              <a:rPr lang="en-IN" dirty="0"/>
              <a:t> → stimulates </a:t>
            </a:r>
            <a:r>
              <a:rPr lang="en-IN" b="1" dirty="0"/>
              <a:t>gastric glands</a:t>
            </a:r>
            <a:endParaRPr lang="en-IN" dirty="0"/>
          </a:p>
          <a:p>
            <a:r>
              <a:rPr lang="en-IN" b="1" dirty="0"/>
              <a:t>Mechanism</a:t>
            </a:r>
            <a:br>
              <a:rPr lang="en-IN" dirty="0"/>
            </a:br>
            <a:r>
              <a:rPr lang="en-IN" dirty="0"/>
              <a:t>Food stimulus → hypothalamus → medulla → </a:t>
            </a:r>
            <a:r>
              <a:rPr lang="en-IN" b="1" dirty="0" err="1"/>
              <a:t>vagus</a:t>
            </a:r>
            <a:r>
              <a:rPr lang="en-IN" b="1" dirty="0"/>
              <a:t> nerve</a:t>
            </a:r>
            <a:r>
              <a:rPr lang="en-IN" dirty="0"/>
              <a:t> → </a:t>
            </a:r>
            <a:r>
              <a:rPr lang="en-IN" b="1" dirty="0" err="1"/>
              <a:t>ACh</a:t>
            </a:r>
            <a:r>
              <a:rPr lang="en-IN" b="1" dirty="0"/>
              <a:t> release</a:t>
            </a:r>
            <a:r>
              <a:rPr lang="en-IN" dirty="0"/>
              <a:t> → gastric glands secrete:</a:t>
            </a:r>
          </a:p>
          <a:p>
            <a:r>
              <a:rPr lang="en-IN" b="1" dirty="0"/>
              <a:t>HCl</a:t>
            </a:r>
            <a:r>
              <a:rPr lang="en-IN" dirty="0"/>
              <a:t> from parietal cells</a:t>
            </a:r>
          </a:p>
          <a:p>
            <a:r>
              <a:rPr lang="en-IN" b="1" dirty="0"/>
              <a:t>Pepsinogen</a:t>
            </a:r>
            <a:r>
              <a:rPr lang="en-IN" dirty="0"/>
              <a:t> from chief cells</a:t>
            </a:r>
          </a:p>
          <a:p>
            <a:r>
              <a:rPr lang="en-IN" b="1" dirty="0"/>
              <a:t>Mucus</a:t>
            </a:r>
            <a:r>
              <a:rPr lang="en-IN" dirty="0"/>
              <a:t> from mucous cells</a:t>
            </a:r>
          </a:p>
          <a:p>
            <a:r>
              <a:rPr lang="en-IN" dirty="0"/>
              <a:t>📌 </a:t>
            </a:r>
            <a:r>
              <a:rPr lang="en-IN" b="1" dirty="0"/>
              <a:t>Accounts for ~20–30% of total gastric secretion</a:t>
            </a:r>
            <a:endParaRPr lang="en-IN" dirty="0"/>
          </a:p>
          <a:p>
            <a:endParaRPr lang="en-IN" dirty="0"/>
          </a:p>
        </p:txBody>
      </p:sp>
    </p:spTree>
    <p:extLst>
      <p:ext uri="{BB962C8B-B14F-4D97-AF65-F5344CB8AC3E}">
        <p14:creationId xmlns:p14="http://schemas.microsoft.com/office/powerpoint/2010/main" val="100516963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8A1191-524C-BB1D-3642-C79A281B17CC}"/>
              </a:ext>
            </a:extLst>
          </p:cNvPr>
          <p:cNvSpPr>
            <a:spLocks noGrp="1"/>
          </p:cNvSpPr>
          <p:nvPr>
            <p:ph type="title"/>
          </p:nvPr>
        </p:nvSpPr>
        <p:spPr/>
        <p:txBody>
          <a:bodyPr>
            <a:normAutofit/>
          </a:bodyPr>
          <a:lstStyle/>
          <a:p>
            <a:r>
              <a:rPr lang="en-IN" b="1" dirty="0"/>
              <a:t>Gastric Phase</a:t>
            </a:r>
            <a:endParaRPr lang="en-IN" dirty="0"/>
          </a:p>
        </p:txBody>
      </p:sp>
      <p:sp>
        <p:nvSpPr>
          <p:cNvPr id="3" name="Content Placeholder 2">
            <a:extLst>
              <a:ext uri="{FF2B5EF4-FFF2-40B4-BE49-F238E27FC236}">
                <a16:creationId xmlns:a16="http://schemas.microsoft.com/office/drawing/2014/main" id="{BBF50ACA-5D2B-55A2-A17F-1E869E8C50E8}"/>
              </a:ext>
            </a:extLst>
          </p:cNvPr>
          <p:cNvSpPr>
            <a:spLocks noGrp="1"/>
          </p:cNvSpPr>
          <p:nvPr>
            <p:ph idx="1"/>
          </p:nvPr>
        </p:nvSpPr>
        <p:spPr/>
        <p:txBody>
          <a:bodyPr>
            <a:normAutofit/>
          </a:bodyPr>
          <a:lstStyle/>
          <a:p>
            <a:r>
              <a:rPr lang="en-IN" dirty="0"/>
              <a:t>🔹 Begins when </a:t>
            </a:r>
            <a:r>
              <a:rPr lang="en-IN" b="1" dirty="0"/>
              <a:t>food enters the stomach</a:t>
            </a:r>
            <a:br>
              <a:rPr lang="en-IN" dirty="0"/>
            </a:br>
            <a:r>
              <a:rPr lang="en-IN" dirty="0"/>
              <a:t>🔹 Main stimuli:</a:t>
            </a:r>
          </a:p>
          <a:p>
            <a:r>
              <a:rPr lang="en-IN" b="1" dirty="0"/>
              <a:t>Distension of stomach</a:t>
            </a:r>
            <a:endParaRPr lang="en-IN" dirty="0"/>
          </a:p>
          <a:p>
            <a:r>
              <a:rPr lang="en-IN" b="1" dirty="0"/>
              <a:t>Peptides and amino acids in food</a:t>
            </a:r>
            <a:endParaRPr lang="en-IN" dirty="0"/>
          </a:p>
          <a:p>
            <a:r>
              <a:rPr lang="en-IN" dirty="0"/>
              <a:t>↓ Gastric acidity (rise in pH)</a:t>
            </a:r>
          </a:p>
          <a:p>
            <a:r>
              <a:rPr lang="en-IN" b="1" dirty="0"/>
              <a:t>Mechanism</a:t>
            </a:r>
            <a:endParaRPr lang="en-IN" dirty="0"/>
          </a:p>
          <a:p>
            <a:r>
              <a:rPr lang="en-IN" b="1" dirty="0"/>
              <a:t>Neural</a:t>
            </a:r>
            <a:r>
              <a:rPr lang="en-IN" dirty="0"/>
              <a:t>: Local enteric reflexes + </a:t>
            </a:r>
            <a:r>
              <a:rPr lang="en-IN" dirty="0" err="1"/>
              <a:t>vagovagal</a:t>
            </a:r>
            <a:r>
              <a:rPr lang="en-IN" dirty="0"/>
              <a:t> reflexes stimulate secretion</a:t>
            </a:r>
          </a:p>
          <a:p>
            <a:r>
              <a:rPr lang="en-IN" b="1" dirty="0"/>
              <a:t>Hormonal</a:t>
            </a:r>
            <a:r>
              <a:rPr lang="en-IN" dirty="0"/>
              <a:t>: </a:t>
            </a:r>
            <a:r>
              <a:rPr lang="en-IN" b="1" dirty="0"/>
              <a:t>G cells release Gastrin</a:t>
            </a:r>
            <a:r>
              <a:rPr lang="en-IN" dirty="0"/>
              <a:t> → stimulates parietal cells to produce </a:t>
            </a:r>
            <a:r>
              <a:rPr lang="en-IN" b="1" dirty="0"/>
              <a:t>HCl</a:t>
            </a:r>
            <a:r>
              <a:rPr lang="en-IN" dirty="0"/>
              <a:t> and enhances </a:t>
            </a:r>
            <a:r>
              <a:rPr lang="en-IN" b="1" dirty="0"/>
              <a:t>pepsinogen release</a:t>
            </a:r>
            <a:endParaRPr lang="en-IN" dirty="0"/>
          </a:p>
          <a:p>
            <a:r>
              <a:rPr lang="en-IN" dirty="0"/>
              <a:t>📌 </a:t>
            </a:r>
            <a:r>
              <a:rPr lang="en-IN" b="1" dirty="0"/>
              <a:t>Accounts for ~60–70% of gastric secretion</a:t>
            </a:r>
            <a:r>
              <a:rPr lang="en-IN" dirty="0"/>
              <a:t> → </a:t>
            </a:r>
            <a:r>
              <a:rPr lang="en-IN" b="1" dirty="0"/>
              <a:t>largest contributor</a:t>
            </a:r>
            <a:endParaRPr lang="en-IN" dirty="0"/>
          </a:p>
          <a:p>
            <a:endParaRPr lang="en-IN" dirty="0"/>
          </a:p>
        </p:txBody>
      </p:sp>
    </p:spTree>
    <p:extLst>
      <p:ext uri="{BB962C8B-B14F-4D97-AF65-F5344CB8AC3E}">
        <p14:creationId xmlns:p14="http://schemas.microsoft.com/office/powerpoint/2010/main" val="321995358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36A676-C1FB-4A47-5879-09EAB1FD612C}"/>
              </a:ext>
            </a:extLst>
          </p:cNvPr>
          <p:cNvSpPr>
            <a:spLocks noGrp="1"/>
          </p:cNvSpPr>
          <p:nvPr>
            <p:ph type="title"/>
          </p:nvPr>
        </p:nvSpPr>
        <p:spPr/>
        <p:txBody>
          <a:bodyPr/>
          <a:lstStyle/>
          <a:p>
            <a:r>
              <a:rPr lang="en-IN" b="1" dirty="0"/>
              <a:t>Intestinal Phase</a:t>
            </a:r>
          </a:p>
        </p:txBody>
      </p:sp>
      <p:sp>
        <p:nvSpPr>
          <p:cNvPr id="3" name="Content Placeholder 2">
            <a:extLst>
              <a:ext uri="{FF2B5EF4-FFF2-40B4-BE49-F238E27FC236}">
                <a16:creationId xmlns:a16="http://schemas.microsoft.com/office/drawing/2014/main" id="{6AC56A84-3EBB-E1E9-F0C5-8308A0B1922F}"/>
              </a:ext>
            </a:extLst>
          </p:cNvPr>
          <p:cNvSpPr>
            <a:spLocks noGrp="1"/>
          </p:cNvSpPr>
          <p:nvPr>
            <p:ph idx="1"/>
          </p:nvPr>
        </p:nvSpPr>
        <p:spPr/>
        <p:txBody>
          <a:bodyPr/>
          <a:lstStyle/>
          <a:p>
            <a:r>
              <a:rPr lang="en-US" dirty="0"/>
              <a:t>🔹 Begins when </a:t>
            </a:r>
            <a:r>
              <a:rPr lang="en-US" b="1" dirty="0"/>
              <a:t>chyme enters duodenum</a:t>
            </a:r>
          </a:p>
          <a:p>
            <a:r>
              <a:rPr lang="en-IN" b="1" dirty="0"/>
              <a:t>Inhibitory mechanisms (major portion)</a:t>
            </a:r>
            <a:endParaRPr lang="en-IN" dirty="0"/>
          </a:p>
          <a:p>
            <a:r>
              <a:rPr lang="en-IN" b="1" dirty="0"/>
              <a:t>Secretin</a:t>
            </a:r>
            <a:endParaRPr lang="en-IN" dirty="0"/>
          </a:p>
          <a:p>
            <a:r>
              <a:rPr lang="en-IN" b="1" dirty="0"/>
              <a:t>Cholecystokinin (CCK)</a:t>
            </a:r>
            <a:endParaRPr lang="en-IN" dirty="0"/>
          </a:p>
          <a:p>
            <a:r>
              <a:rPr lang="en-IN" b="1" dirty="0"/>
              <a:t>Gastric inhibitory peptide (GIP)</a:t>
            </a:r>
            <a:endParaRPr lang="en-IN" dirty="0"/>
          </a:p>
          <a:p>
            <a:r>
              <a:rPr lang="en-IN" b="1" dirty="0"/>
              <a:t>Enterogastric reflex</a:t>
            </a:r>
            <a:endParaRPr lang="en-IN" dirty="0"/>
          </a:p>
          <a:p>
            <a:r>
              <a:rPr lang="en-IN" dirty="0"/>
              <a:t>These inhibit:</a:t>
            </a:r>
          </a:p>
          <a:p>
            <a:r>
              <a:rPr lang="en-IN" dirty="0"/>
              <a:t>Gastric acid secretion</a:t>
            </a:r>
          </a:p>
          <a:p>
            <a:r>
              <a:rPr lang="en-IN" dirty="0"/>
              <a:t>Gastric motility</a:t>
            </a:r>
          </a:p>
          <a:p>
            <a:r>
              <a:rPr lang="en-IN" dirty="0"/>
              <a:t>📌 Prevents </a:t>
            </a:r>
            <a:r>
              <a:rPr lang="en-IN" b="1" dirty="0"/>
              <a:t>over-filling of duodenum</a:t>
            </a:r>
            <a:endParaRPr lang="en-IN" dirty="0"/>
          </a:p>
          <a:p>
            <a:endParaRPr lang="en-IN" dirty="0"/>
          </a:p>
        </p:txBody>
      </p:sp>
    </p:spTree>
    <p:extLst>
      <p:ext uri="{BB962C8B-B14F-4D97-AF65-F5344CB8AC3E}">
        <p14:creationId xmlns:p14="http://schemas.microsoft.com/office/powerpoint/2010/main" val="398619981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A9AF37-C3AC-3AFE-A5F9-9D1BF42A75A5}"/>
              </a:ext>
            </a:extLst>
          </p:cNvPr>
          <p:cNvSpPr>
            <a:spLocks noGrp="1"/>
          </p:cNvSpPr>
          <p:nvPr>
            <p:ph type="title"/>
          </p:nvPr>
        </p:nvSpPr>
        <p:spPr>
          <a:xfrm>
            <a:off x="974202" y="2344072"/>
            <a:ext cx="2752846" cy="1371600"/>
          </a:xfrm>
        </p:spPr>
        <p:txBody>
          <a:bodyPr>
            <a:normAutofit fontScale="90000"/>
          </a:bodyPr>
          <a:lstStyle/>
          <a:p>
            <a:r>
              <a:rPr lang="en-IN" dirty="0"/>
              <a:t>Applied aspects</a:t>
            </a:r>
          </a:p>
        </p:txBody>
      </p:sp>
      <p:pic>
        <p:nvPicPr>
          <p:cNvPr id="5" name="Content Placeholder 4">
            <a:extLst>
              <a:ext uri="{FF2B5EF4-FFF2-40B4-BE49-F238E27FC236}">
                <a16:creationId xmlns:a16="http://schemas.microsoft.com/office/drawing/2014/main" id="{C958698C-647B-E548-A79D-F9BD8C9A9AC3}"/>
              </a:ext>
            </a:extLst>
          </p:cNvPr>
          <p:cNvPicPr>
            <a:picLocks noGrp="1" noChangeAspect="1"/>
          </p:cNvPicPr>
          <p:nvPr>
            <p:ph idx="1"/>
          </p:nvPr>
        </p:nvPicPr>
        <p:blipFill>
          <a:blip r:embed="rId2"/>
          <a:stretch>
            <a:fillRect/>
          </a:stretch>
        </p:blipFill>
        <p:spPr>
          <a:xfrm>
            <a:off x="4309812" y="798654"/>
            <a:ext cx="5137522" cy="5014222"/>
          </a:xfrm>
          <a:prstGeom prst="rect">
            <a:avLst/>
          </a:prstGeom>
        </p:spPr>
      </p:pic>
    </p:spTree>
    <p:extLst>
      <p:ext uri="{BB962C8B-B14F-4D97-AF65-F5344CB8AC3E}">
        <p14:creationId xmlns:p14="http://schemas.microsoft.com/office/powerpoint/2010/main" val="330883707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1BEB47-D178-ADAE-8439-04577896D27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E3E94F-7C05-E433-9FF9-CB1EB5CB47AF}"/>
              </a:ext>
            </a:extLst>
          </p:cNvPr>
          <p:cNvSpPr>
            <a:spLocks noGrp="1"/>
          </p:cNvSpPr>
          <p:nvPr>
            <p:ph type="ctrTitle"/>
          </p:nvPr>
        </p:nvSpPr>
        <p:spPr/>
        <p:txBody>
          <a:bodyPr/>
          <a:lstStyle/>
          <a:p>
            <a:r>
              <a:rPr lang="en-IN" dirty="0"/>
              <a:t>Unit 4</a:t>
            </a:r>
          </a:p>
        </p:txBody>
      </p:sp>
      <p:sp>
        <p:nvSpPr>
          <p:cNvPr id="3" name="Subtitle 2">
            <a:extLst>
              <a:ext uri="{FF2B5EF4-FFF2-40B4-BE49-F238E27FC236}">
                <a16:creationId xmlns:a16="http://schemas.microsoft.com/office/drawing/2014/main" id="{EF367FF9-D959-75BF-E760-A7F759C9237E}"/>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276805324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0B7F39-E4F5-3E28-D34F-03CE05C5B179}"/>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35B28F15-2498-D25E-61CE-D89DD77A4866}"/>
              </a:ext>
            </a:extLst>
          </p:cNvPr>
          <p:cNvPicPr>
            <a:picLocks noGrp="1" noChangeAspect="1"/>
          </p:cNvPicPr>
          <p:nvPr>
            <p:ph idx="1"/>
          </p:nvPr>
        </p:nvPicPr>
        <p:blipFill>
          <a:blip r:embed="rId2"/>
          <a:stretch>
            <a:fillRect/>
          </a:stretch>
        </p:blipFill>
        <p:spPr>
          <a:xfrm>
            <a:off x="2792362" y="480614"/>
            <a:ext cx="6420463" cy="5545230"/>
          </a:xfrm>
          <a:prstGeom prst="rect">
            <a:avLst/>
          </a:prstGeom>
        </p:spPr>
      </p:pic>
    </p:spTree>
    <p:extLst>
      <p:ext uri="{BB962C8B-B14F-4D97-AF65-F5344CB8AC3E}">
        <p14:creationId xmlns:p14="http://schemas.microsoft.com/office/powerpoint/2010/main" val="65370794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D1E277-A0BE-C109-3319-C61D61C10B55}"/>
              </a:ext>
            </a:extLst>
          </p:cNvPr>
          <p:cNvSpPr>
            <a:spLocks noGrp="1"/>
          </p:cNvSpPr>
          <p:nvPr>
            <p:ph type="title"/>
          </p:nvPr>
        </p:nvSpPr>
        <p:spPr>
          <a:xfrm>
            <a:off x="1066800" y="642594"/>
            <a:ext cx="2052320" cy="4528846"/>
          </a:xfrm>
        </p:spPr>
        <p:txBody>
          <a:bodyPr>
            <a:normAutofit/>
          </a:bodyPr>
          <a:lstStyle/>
          <a:p>
            <a:r>
              <a:rPr lang="en-IN" sz="2400" dirty="0"/>
              <a:t>Functions of pancreatic juices</a:t>
            </a:r>
          </a:p>
        </p:txBody>
      </p:sp>
      <p:graphicFrame>
        <p:nvGraphicFramePr>
          <p:cNvPr id="4" name="Content Placeholder 3">
            <a:extLst>
              <a:ext uri="{FF2B5EF4-FFF2-40B4-BE49-F238E27FC236}">
                <a16:creationId xmlns:a16="http://schemas.microsoft.com/office/drawing/2014/main" id="{D42B6D0D-3102-2CD3-CCA3-A9DAB17FEF0F}"/>
              </a:ext>
            </a:extLst>
          </p:cNvPr>
          <p:cNvGraphicFramePr>
            <a:graphicFrameLocks noGrp="1"/>
          </p:cNvGraphicFramePr>
          <p:nvPr>
            <p:ph idx="1"/>
            <p:extLst>
              <p:ext uri="{D42A27DB-BD31-4B8C-83A1-F6EECF244321}">
                <p14:modId xmlns:p14="http://schemas.microsoft.com/office/powerpoint/2010/main" val="2622081756"/>
              </p:ext>
            </p:extLst>
          </p:nvPr>
        </p:nvGraphicFramePr>
        <p:xfrm>
          <a:off x="3638352" y="570271"/>
          <a:ext cx="7832289" cy="5572814"/>
        </p:xfrm>
        <a:graphic>
          <a:graphicData uri="http://schemas.openxmlformats.org/drawingml/2006/table">
            <a:tbl>
              <a:tblPr/>
              <a:tblGrid>
                <a:gridCol w="2610763">
                  <a:extLst>
                    <a:ext uri="{9D8B030D-6E8A-4147-A177-3AD203B41FA5}">
                      <a16:colId xmlns:a16="http://schemas.microsoft.com/office/drawing/2014/main" val="1994655927"/>
                    </a:ext>
                  </a:extLst>
                </a:gridCol>
                <a:gridCol w="2610763">
                  <a:extLst>
                    <a:ext uri="{9D8B030D-6E8A-4147-A177-3AD203B41FA5}">
                      <a16:colId xmlns:a16="http://schemas.microsoft.com/office/drawing/2014/main" val="877596706"/>
                    </a:ext>
                  </a:extLst>
                </a:gridCol>
                <a:gridCol w="2610763">
                  <a:extLst>
                    <a:ext uri="{9D8B030D-6E8A-4147-A177-3AD203B41FA5}">
                      <a16:colId xmlns:a16="http://schemas.microsoft.com/office/drawing/2014/main" val="1630250094"/>
                    </a:ext>
                  </a:extLst>
                </a:gridCol>
              </a:tblGrid>
              <a:tr h="244362">
                <a:tc>
                  <a:txBody>
                    <a:bodyPr/>
                    <a:lstStyle/>
                    <a:p>
                      <a:pPr>
                        <a:buNone/>
                      </a:pPr>
                      <a:r>
                        <a:rPr lang="en-IN" sz="1200" b="1" dirty="0"/>
                        <a:t>Component / Enzyme</a:t>
                      </a:r>
                      <a:endParaRPr lang="en-IN" sz="1200" dirty="0"/>
                    </a:p>
                  </a:txBody>
                  <a:tcPr marL="44685" marR="44685" marT="22342" marB="2234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b="1"/>
                        <a:t>Type</a:t>
                      </a:r>
                      <a:endParaRPr lang="en-IN" sz="1200"/>
                    </a:p>
                  </a:txBody>
                  <a:tcPr marL="44685" marR="44685" marT="22342" marB="2234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b="1"/>
                        <a:t>Specific Function</a:t>
                      </a:r>
                      <a:endParaRPr lang="en-IN" sz="1200"/>
                    </a:p>
                  </a:txBody>
                  <a:tcPr marL="44685" marR="44685" marT="22342" marB="2234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80496527"/>
                  </a:ext>
                </a:extLst>
              </a:tr>
              <a:tr h="428678">
                <a:tc>
                  <a:txBody>
                    <a:bodyPr/>
                    <a:lstStyle/>
                    <a:p>
                      <a:pPr>
                        <a:buNone/>
                      </a:pPr>
                      <a:r>
                        <a:rPr lang="en-IN" sz="1200" b="1" dirty="0"/>
                        <a:t>Pancreatic Amylase</a:t>
                      </a:r>
                      <a:endParaRPr lang="en-IN" sz="1200" dirty="0"/>
                    </a:p>
                  </a:txBody>
                  <a:tcPr marL="44685" marR="44685" marT="22342" marB="2234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Carbohydrate-digesting enzyme</a:t>
                      </a:r>
                    </a:p>
                  </a:txBody>
                  <a:tcPr marL="44685" marR="44685" marT="22342" marB="2234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Converts </a:t>
                      </a:r>
                      <a:r>
                        <a:rPr lang="en-IN" sz="1200" b="1"/>
                        <a:t>starch → maltose, dextrins</a:t>
                      </a:r>
                      <a:endParaRPr lang="en-IN" sz="1200"/>
                    </a:p>
                  </a:txBody>
                  <a:tcPr marL="44685" marR="44685" marT="22342" marB="2234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64261272"/>
                  </a:ext>
                </a:extLst>
              </a:tr>
              <a:tr h="612994">
                <a:tc>
                  <a:txBody>
                    <a:bodyPr/>
                    <a:lstStyle/>
                    <a:p>
                      <a:pPr>
                        <a:buNone/>
                      </a:pPr>
                      <a:r>
                        <a:rPr lang="en-IN" sz="1200" b="1" dirty="0"/>
                        <a:t>Trypsinogen → Trypsin</a:t>
                      </a:r>
                      <a:endParaRPr lang="en-IN" sz="1200" dirty="0"/>
                    </a:p>
                  </a:txBody>
                  <a:tcPr marL="44685" marR="44685" marT="22342" marB="2234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dirty="0"/>
                        <a:t>Protein-digesting enzyme</a:t>
                      </a:r>
                    </a:p>
                  </a:txBody>
                  <a:tcPr marL="44685" marR="44685" marT="22342" marB="2234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t>Breaks proteins into polypeptides; activates other proteases</a:t>
                      </a:r>
                    </a:p>
                  </a:txBody>
                  <a:tcPr marL="44685" marR="44685" marT="22342" marB="2234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57047187"/>
                  </a:ext>
                </a:extLst>
              </a:tr>
              <a:tr h="428678">
                <a:tc>
                  <a:txBody>
                    <a:bodyPr/>
                    <a:lstStyle/>
                    <a:p>
                      <a:pPr>
                        <a:buNone/>
                      </a:pPr>
                      <a:r>
                        <a:rPr lang="en-IN" sz="1200" b="1"/>
                        <a:t>Chymotrypsinogen → Chymotrypsin</a:t>
                      </a:r>
                      <a:endParaRPr lang="en-IN" sz="1200"/>
                    </a:p>
                  </a:txBody>
                  <a:tcPr marL="44685" marR="44685" marT="22342" marB="2234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dirty="0"/>
                        <a:t>Protein-digesting enzyme</a:t>
                      </a:r>
                    </a:p>
                  </a:txBody>
                  <a:tcPr marL="44685" marR="44685" marT="22342" marB="2234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Further digestion of polypeptides</a:t>
                      </a:r>
                    </a:p>
                  </a:txBody>
                  <a:tcPr marL="44685" marR="44685" marT="22342" marB="2234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33443961"/>
                  </a:ext>
                </a:extLst>
              </a:tr>
              <a:tr h="428678">
                <a:tc>
                  <a:txBody>
                    <a:bodyPr/>
                    <a:lstStyle/>
                    <a:p>
                      <a:pPr>
                        <a:buNone/>
                      </a:pPr>
                      <a:r>
                        <a:rPr lang="en-IN" sz="1200" b="1"/>
                        <a:t>Procarboxypeptidase → Carboxypeptidase</a:t>
                      </a:r>
                      <a:endParaRPr lang="en-IN" sz="1200"/>
                    </a:p>
                  </a:txBody>
                  <a:tcPr marL="44685" marR="44685" marT="22342" marB="2234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Protein-digesting enzyme</a:t>
                      </a:r>
                    </a:p>
                  </a:txBody>
                  <a:tcPr marL="44685" marR="44685" marT="22342" marB="2234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t>Releases terminal amino acids from peptides</a:t>
                      </a:r>
                    </a:p>
                  </a:txBody>
                  <a:tcPr marL="44685" marR="44685" marT="22342" marB="2234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68254591"/>
                  </a:ext>
                </a:extLst>
              </a:tr>
              <a:tr h="428678">
                <a:tc>
                  <a:txBody>
                    <a:bodyPr/>
                    <a:lstStyle/>
                    <a:p>
                      <a:pPr>
                        <a:buNone/>
                      </a:pPr>
                      <a:r>
                        <a:rPr lang="en-IN" sz="1200" b="1"/>
                        <a:t>Proelastase → Elastase</a:t>
                      </a:r>
                      <a:endParaRPr lang="en-IN" sz="1200"/>
                    </a:p>
                  </a:txBody>
                  <a:tcPr marL="44685" marR="44685" marT="22342" marB="2234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dirty="0"/>
                        <a:t>Protein-digesting enzyme</a:t>
                      </a:r>
                    </a:p>
                  </a:txBody>
                  <a:tcPr marL="44685" marR="44685" marT="22342" marB="2234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t>Digests elastin and other proteins</a:t>
                      </a:r>
                    </a:p>
                  </a:txBody>
                  <a:tcPr marL="44685" marR="44685" marT="22342" marB="2234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49715600"/>
                  </a:ext>
                </a:extLst>
              </a:tr>
              <a:tr h="612994">
                <a:tc>
                  <a:txBody>
                    <a:bodyPr/>
                    <a:lstStyle/>
                    <a:p>
                      <a:pPr>
                        <a:buNone/>
                      </a:pPr>
                      <a:r>
                        <a:rPr lang="en-IN" sz="1200" b="1"/>
                        <a:t>Pancreatic Lipase</a:t>
                      </a:r>
                      <a:endParaRPr lang="en-IN" sz="1200"/>
                    </a:p>
                  </a:txBody>
                  <a:tcPr marL="44685" marR="44685" marT="22342" marB="2234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Fat-digesting enzyme</a:t>
                      </a:r>
                    </a:p>
                  </a:txBody>
                  <a:tcPr marL="44685" marR="44685" marT="22342" marB="2234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Converts </a:t>
                      </a:r>
                      <a:r>
                        <a:rPr lang="en-IN" sz="1200" b="1"/>
                        <a:t>triglycerides → monoglycerides + fatty acids</a:t>
                      </a:r>
                      <a:endParaRPr lang="en-IN" sz="1200"/>
                    </a:p>
                  </a:txBody>
                  <a:tcPr marL="44685" marR="44685" marT="22342" marB="2234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30467058"/>
                  </a:ext>
                </a:extLst>
              </a:tr>
              <a:tr h="244362">
                <a:tc>
                  <a:txBody>
                    <a:bodyPr/>
                    <a:lstStyle/>
                    <a:p>
                      <a:pPr>
                        <a:buNone/>
                      </a:pPr>
                      <a:r>
                        <a:rPr lang="en-IN" sz="1200" b="1"/>
                        <a:t>Phospholipase A₂</a:t>
                      </a:r>
                      <a:endParaRPr lang="en-IN" sz="1200"/>
                    </a:p>
                  </a:txBody>
                  <a:tcPr marL="44685" marR="44685" marT="22342" marB="2234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Fat-digesting enzyme</a:t>
                      </a:r>
                    </a:p>
                  </a:txBody>
                  <a:tcPr marL="44685" marR="44685" marT="22342" marB="2234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Digests phospholipids</a:t>
                      </a:r>
                    </a:p>
                  </a:txBody>
                  <a:tcPr marL="44685" marR="44685" marT="22342" marB="2234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03042330"/>
                  </a:ext>
                </a:extLst>
              </a:tr>
              <a:tr h="244362">
                <a:tc>
                  <a:txBody>
                    <a:bodyPr/>
                    <a:lstStyle/>
                    <a:p>
                      <a:pPr>
                        <a:buNone/>
                      </a:pPr>
                      <a:r>
                        <a:rPr lang="en-IN" sz="1200" b="1"/>
                        <a:t>Cholesterol Esterase</a:t>
                      </a:r>
                      <a:endParaRPr lang="en-IN" sz="1200"/>
                    </a:p>
                  </a:txBody>
                  <a:tcPr marL="44685" marR="44685" marT="22342" marB="2234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Fat-digesting enzyme</a:t>
                      </a:r>
                    </a:p>
                  </a:txBody>
                  <a:tcPr marL="44685" marR="44685" marT="22342" marB="2234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Breaks cholesterol esters</a:t>
                      </a:r>
                    </a:p>
                  </a:txBody>
                  <a:tcPr marL="44685" marR="44685" marT="22342" marB="2234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95284952"/>
                  </a:ext>
                </a:extLst>
              </a:tr>
              <a:tr h="244362">
                <a:tc>
                  <a:txBody>
                    <a:bodyPr/>
                    <a:lstStyle/>
                    <a:p>
                      <a:pPr>
                        <a:buNone/>
                      </a:pPr>
                      <a:r>
                        <a:rPr lang="en-IN" sz="1200" b="1"/>
                        <a:t>Ribonuclease (RNase)</a:t>
                      </a:r>
                      <a:endParaRPr lang="en-IN" sz="1200"/>
                    </a:p>
                  </a:txBody>
                  <a:tcPr marL="44685" marR="44685" marT="22342" marB="2234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Nucleic acid enzyme</a:t>
                      </a:r>
                    </a:p>
                  </a:txBody>
                  <a:tcPr marL="44685" marR="44685" marT="22342" marB="2234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dirty="0"/>
                        <a:t>Digests </a:t>
                      </a:r>
                      <a:r>
                        <a:rPr lang="en-IN" sz="1200" b="1" dirty="0"/>
                        <a:t>RNA → nucleotides</a:t>
                      </a:r>
                      <a:endParaRPr lang="en-IN" sz="1200" dirty="0"/>
                    </a:p>
                  </a:txBody>
                  <a:tcPr marL="44685" marR="44685" marT="22342" marB="2234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32431921"/>
                  </a:ext>
                </a:extLst>
              </a:tr>
              <a:tr h="428678">
                <a:tc>
                  <a:txBody>
                    <a:bodyPr/>
                    <a:lstStyle/>
                    <a:p>
                      <a:pPr>
                        <a:buNone/>
                      </a:pPr>
                      <a:r>
                        <a:rPr lang="en-IN" sz="1200" b="1"/>
                        <a:t>Deoxyribonuclease (DNase)</a:t>
                      </a:r>
                      <a:endParaRPr lang="en-IN" sz="1200"/>
                    </a:p>
                  </a:txBody>
                  <a:tcPr marL="44685" marR="44685" marT="22342" marB="2234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Nucleic acid enzyme</a:t>
                      </a:r>
                    </a:p>
                  </a:txBody>
                  <a:tcPr marL="44685" marR="44685" marT="22342" marB="2234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dirty="0"/>
                        <a:t>Digests </a:t>
                      </a:r>
                      <a:r>
                        <a:rPr lang="en-IN" sz="1200" b="1" dirty="0"/>
                        <a:t>DNA → nucleotides</a:t>
                      </a:r>
                      <a:endParaRPr lang="en-IN" sz="1200" dirty="0"/>
                    </a:p>
                  </a:txBody>
                  <a:tcPr marL="44685" marR="44685" marT="22342" marB="2234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34085372"/>
                  </a:ext>
                </a:extLst>
              </a:tr>
              <a:tr h="612994">
                <a:tc>
                  <a:txBody>
                    <a:bodyPr/>
                    <a:lstStyle/>
                    <a:p>
                      <a:pPr>
                        <a:buNone/>
                      </a:pPr>
                      <a:r>
                        <a:rPr lang="en-IN" sz="1200" b="1"/>
                        <a:t>Sodium Bicarbonate (HCO₃⁻)</a:t>
                      </a:r>
                      <a:endParaRPr lang="en-IN" sz="1200"/>
                    </a:p>
                  </a:txBody>
                  <a:tcPr marL="44685" marR="44685" marT="22342" marB="2234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Alkaline secretion</a:t>
                      </a:r>
                    </a:p>
                  </a:txBody>
                  <a:tcPr marL="44685" marR="44685" marT="22342" marB="2234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dirty="0"/>
                        <a:t>Neutralizes gastric acid; maintains </a:t>
                      </a:r>
                      <a:r>
                        <a:rPr lang="en-US" sz="1200" b="1" dirty="0"/>
                        <a:t>pH 7–8</a:t>
                      </a:r>
                      <a:r>
                        <a:rPr lang="en-US" sz="1200" dirty="0"/>
                        <a:t> for enzyme activity</a:t>
                      </a:r>
                    </a:p>
                  </a:txBody>
                  <a:tcPr marL="44685" marR="44685" marT="22342" marB="2234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66355064"/>
                  </a:ext>
                </a:extLst>
              </a:tr>
              <a:tr h="612994">
                <a:tc>
                  <a:txBody>
                    <a:bodyPr/>
                    <a:lstStyle/>
                    <a:p>
                      <a:pPr>
                        <a:buNone/>
                      </a:pPr>
                      <a:r>
                        <a:rPr lang="en-IN" sz="1200" b="1"/>
                        <a:t>Water + Electrolytes</a:t>
                      </a:r>
                      <a:endParaRPr lang="en-IN" sz="1200"/>
                    </a:p>
                  </a:txBody>
                  <a:tcPr marL="44685" marR="44685" marT="22342" marB="2234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Fluid component</a:t>
                      </a:r>
                    </a:p>
                  </a:txBody>
                  <a:tcPr marL="44685" marR="44685" marT="22342" marB="2234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dirty="0"/>
                        <a:t>Provide medium for enzyme action and transport of chyme</a:t>
                      </a:r>
                    </a:p>
                  </a:txBody>
                  <a:tcPr marL="44685" marR="44685" marT="22342" marB="2234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61687967"/>
                  </a:ext>
                </a:extLst>
              </a:tr>
            </a:tbl>
          </a:graphicData>
        </a:graphic>
      </p:graphicFrame>
    </p:spTree>
    <p:extLst>
      <p:ext uri="{BB962C8B-B14F-4D97-AF65-F5344CB8AC3E}">
        <p14:creationId xmlns:p14="http://schemas.microsoft.com/office/powerpoint/2010/main" val="364106146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5291F4-89C3-F5AB-399B-041C482A477F}"/>
              </a:ext>
            </a:extLst>
          </p:cNvPr>
          <p:cNvSpPr>
            <a:spLocks noGrp="1"/>
          </p:cNvSpPr>
          <p:nvPr>
            <p:ph type="title"/>
          </p:nvPr>
        </p:nvSpPr>
        <p:spPr/>
        <p:txBody>
          <a:bodyPr/>
          <a:lstStyle/>
          <a:p>
            <a:r>
              <a:rPr lang="en-IN" dirty="0"/>
              <a:t>Applied aspects</a:t>
            </a:r>
          </a:p>
        </p:txBody>
      </p:sp>
      <p:graphicFrame>
        <p:nvGraphicFramePr>
          <p:cNvPr id="4" name="Content Placeholder 3">
            <a:extLst>
              <a:ext uri="{FF2B5EF4-FFF2-40B4-BE49-F238E27FC236}">
                <a16:creationId xmlns:a16="http://schemas.microsoft.com/office/drawing/2014/main" id="{69A82B62-29AD-6F3C-C186-E53648A6CBF5}"/>
              </a:ext>
            </a:extLst>
          </p:cNvPr>
          <p:cNvGraphicFramePr>
            <a:graphicFrameLocks noGrp="1"/>
          </p:cNvGraphicFramePr>
          <p:nvPr>
            <p:ph idx="1"/>
            <p:extLst>
              <p:ext uri="{D42A27DB-BD31-4B8C-83A1-F6EECF244321}">
                <p14:modId xmlns:p14="http://schemas.microsoft.com/office/powerpoint/2010/main" val="357428049"/>
              </p:ext>
            </p:extLst>
          </p:nvPr>
        </p:nvGraphicFramePr>
        <p:xfrm>
          <a:off x="1066800" y="3200876"/>
          <a:ext cx="10058400" cy="1737360"/>
        </p:xfrm>
        <a:graphic>
          <a:graphicData uri="http://schemas.openxmlformats.org/drawingml/2006/table">
            <a:tbl>
              <a:tblPr/>
              <a:tblGrid>
                <a:gridCol w="5029200">
                  <a:extLst>
                    <a:ext uri="{9D8B030D-6E8A-4147-A177-3AD203B41FA5}">
                      <a16:colId xmlns:a16="http://schemas.microsoft.com/office/drawing/2014/main" val="3408217963"/>
                    </a:ext>
                  </a:extLst>
                </a:gridCol>
                <a:gridCol w="5029200">
                  <a:extLst>
                    <a:ext uri="{9D8B030D-6E8A-4147-A177-3AD203B41FA5}">
                      <a16:colId xmlns:a16="http://schemas.microsoft.com/office/drawing/2014/main" val="3837358504"/>
                    </a:ext>
                  </a:extLst>
                </a:gridCol>
              </a:tblGrid>
              <a:tr h="0">
                <a:tc>
                  <a:txBody>
                    <a:bodyPr/>
                    <a:lstStyle/>
                    <a:p>
                      <a:pPr>
                        <a:buNone/>
                      </a:pPr>
                      <a:r>
                        <a:rPr lang="en-IN"/>
                        <a:t>Disorder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Effect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0632071"/>
                  </a:ext>
                </a:extLst>
              </a:tr>
              <a:tr h="0">
                <a:tc>
                  <a:txBody>
                    <a:bodyPr/>
                    <a:lstStyle/>
                    <a:p>
                      <a:pPr>
                        <a:buNone/>
                      </a:pPr>
                      <a:r>
                        <a:rPr lang="en-IN"/>
                        <a:t>Pancreatitis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 secretion of enzymes → malabsorption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45761248"/>
                  </a:ext>
                </a:extLst>
              </a:tr>
              <a:tr h="0">
                <a:tc>
                  <a:txBody>
                    <a:bodyPr/>
                    <a:lstStyle/>
                    <a:p>
                      <a:pPr>
                        <a:buNone/>
                      </a:pPr>
                      <a:r>
                        <a:rPr lang="en-IN"/>
                        <a:t>Cystic fibrosis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dirty="0"/>
                        <a:t>Thick secretion blocks ducts → steatorrhea (fatty stool)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5698476"/>
                  </a:ext>
                </a:extLst>
              </a:tr>
              <a:tr h="0">
                <a:tc>
                  <a:txBody>
                    <a:bodyPr/>
                    <a:lstStyle/>
                    <a:p>
                      <a:pPr>
                        <a:buNone/>
                      </a:pPr>
                      <a:r>
                        <a:rPr lang="en-IN"/>
                        <a:t>Lack of lipase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dirty="0"/>
                        <a:t>Major fat malabsorption → weight loss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4632418"/>
                  </a:ext>
                </a:extLst>
              </a:tr>
            </a:tbl>
          </a:graphicData>
        </a:graphic>
      </p:graphicFrame>
    </p:spTree>
    <p:extLst>
      <p:ext uri="{BB962C8B-B14F-4D97-AF65-F5344CB8AC3E}">
        <p14:creationId xmlns:p14="http://schemas.microsoft.com/office/powerpoint/2010/main" val="140181743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4191C8-DACA-4F06-8AD7-5991B72C576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4EC284B-7E31-7B4A-9D6F-C035CA67EA41}"/>
              </a:ext>
            </a:extLst>
          </p:cNvPr>
          <p:cNvSpPr>
            <a:spLocks noGrp="1"/>
          </p:cNvSpPr>
          <p:nvPr>
            <p:ph type="ctrTitle"/>
          </p:nvPr>
        </p:nvSpPr>
        <p:spPr/>
        <p:txBody>
          <a:bodyPr/>
          <a:lstStyle/>
          <a:p>
            <a:r>
              <a:rPr lang="en-IN" dirty="0"/>
              <a:t>Unit 5 </a:t>
            </a:r>
          </a:p>
        </p:txBody>
      </p:sp>
      <p:sp>
        <p:nvSpPr>
          <p:cNvPr id="3" name="Subtitle 2">
            <a:extLst>
              <a:ext uri="{FF2B5EF4-FFF2-40B4-BE49-F238E27FC236}">
                <a16:creationId xmlns:a16="http://schemas.microsoft.com/office/drawing/2014/main" id="{C2DC700A-A801-169D-82BC-3A22E0DEEB46}"/>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28188856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A70774-EA24-E551-A146-CD279D5D3C98}"/>
              </a:ext>
            </a:extLst>
          </p:cNvPr>
          <p:cNvSpPr>
            <a:spLocks noGrp="1"/>
          </p:cNvSpPr>
          <p:nvPr>
            <p:ph type="title"/>
          </p:nvPr>
        </p:nvSpPr>
        <p:spPr>
          <a:xfrm>
            <a:off x="1016000" y="1099794"/>
            <a:ext cx="2550160" cy="4203726"/>
          </a:xfrm>
        </p:spPr>
        <p:txBody>
          <a:bodyPr>
            <a:normAutofit/>
          </a:bodyPr>
          <a:lstStyle/>
          <a:p>
            <a:r>
              <a:rPr lang="en-IN" sz="4000" dirty="0"/>
              <a:t>Functions of liver</a:t>
            </a:r>
          </a:p>
        </p:txBody>
      </p:sp>
      <p:graphicFrame>
        <p:nvGraphicFramePr>
          <p:cNvPr id="4" name="Content Placeholder 3">
            <a:extLst>
              <a:ext uri="{FF2B5EF4-FFF2-40B4-BE49-F238E27FC236}">
                <a16:creationId xmlns:a16="http://schemas.microsoft.com/office/drawing/2014/main" id="{8A0C42DD-92CC-A7EF-C6F5-682C09D49E87}"/>
              </a:ext>
            </a:extLst>
          </p:cNvPr>
          <p:cNvGraphicFramePr>
            <a:graphicFrameLocks noGrp="1"/>
          </p:cNvGraphicFramePr>
          <p:nvPr>
            <p:ph idx="1"/>
            <p:extLst>
              <p:ext uri="{D42A27DB-BD31-4B8C-83A1-F6EECF244321}">
                <p14:modId xmlns:p14="http://schemas.microsoft.com/office/powerpoint/2010/main" val="1243184444"/>
              </p:ext>
            </p:extLst>
          </p:nvPr>
        </p:nvGraphicFramePr>
        <p:xfrm>
          <a:off x="4055688" y="436880"/>
          <a:ext cx="7760392" cy="6106364"/>
        </p:xfrm>
        <a:graphic>
          <a:graphicData uri="http://schemas.openxmlformats.org/drawingml/2006/table">
            <a:tbl>
              <a:tblPr/>
              <a:tblGrid>
                <a:gridCol w="2182552">
                  <a:extLst>
                    <a:ext uri="{9D8B030D-6E8A-4147-A177-3AD203B41FA5}">
                      <a16:colId xmlns:a16="http://schemas.microsoft.com/office/drawing/2014/main" val="3237705618"/>
                    </a:ext>
                  </a:extLst>
                </a:gridCol>
                <a:gridCol w="5577840">
                  <a:extLst>
                    <a:ext uri="{9D8B030D-6E8A-4147-A177-3AD203B41FA5}">
                      <a16:colId xmlns:a16="http://schemas.microsoft.com/office/drawing/2014/main" val="3241893466"/>
                    </a:ext>
                  </a:extLst>
                </a:gridCol>
              </a:tblGrid>
              <a:tr h="244740">
                <a:tc>
                  <a:txBody>
                    <a:bodyPr/>
                    <a:lstStyle/>
                    <a:p>
                      <a:pPr>
                        <a:buNone/>
                      </a:pPr>
                      <a:r>
                        <a:rPr lang="en-IN" sz="1400" b="1" dirty="0"/>
                        <a:t>Category</a:t>
                      </a:r>
                      <a:endParaRPr lang="en-IN" sz="1400" dirty="0"/>
                    </a:p>
                  </a:txBody>
                  <a:tcPr marL="37097" marR="37097" marT="18548" marB="185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b="1"/>
                        <a:t>Functions</a:t>
                      </a:r>
                      <a:endParaRPr lang="en-IN" sz="1400"/>
                    </a:p>
                  </a:txBody>
                  <a:tcPr marL="37097" marR="37097" marT="18548" marB="185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82865754"/>
                  </a:ext>
                </a:extLst>
              </a:tr>
              <a:tr h="1248696">
                <a:tc>
                  <a:txBody>
                    <a:bodyPr/>
                    <a:lstStyle/>
                    <a:p>
                      <a:pPr>
                        <a:buNone/>
                      </a:pPr>
                      <a:r>
                        <a:rPr lang="en-IN" sz="1400" b="1" dirty="0"/>
                        <a:t>Metabolic Functions</a:t>
                      </a:r>
                      <a:endParaRPr lang="en-IN" sz="1400" dirty="0"/>
                    </a:p>
                  </a:txBody>
                  <a:tcPr marL="37097" marR="37097" marT="18548" marB="185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dirty="0"/>
                        <a:t>• Carbohydrate metabolism (glycogenesis, glycogenolysis, gluconeogenesis) • Fat metabolism (</a:t>
                      </a:r>
                      <a:r>
                        <a:rPr lang="el-GR" sz="1400" dirty="0"/>
                        <a:t>β-</a:t>
                      </a:r>
                      <a:r>
                        <a:rPr lang="en-IN" sz="1400" dirty="0"/>
                        <a:t>oxidation of fatty acids, synthesis of cholesterol, lipoproteins, phospholipids) • Protein metabolism (deamination of amino acids, urea formation, synthesis of plasma proteins)</a:t>
                      </a:r>
                    </a:p>
                  </a:txBody>
                  <a:tcPr marL="37097" marR="37097" marT="18548" marB="185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85952831"/>
                  </a:ext>
                </a:extLst>
              </a:tr>
              <a:tr h="737864">
                <a:tc>
                  <a:txBody>
                    <a:bodyPr/>
                    <a:lstStyle/>
                    <a:p>
                      <a:pPr>
                        <a:buNone/>
                      </a:pPr>
                      <a:r>
                        <a:rPr lang="en-IN" sz="1400" b="1"/>
                        <a:t>Synthetic Functions</a:t>
                      </a:r>
                      <a:endParaRPr lang="en-IN" sz="1400"/>
                    </a:p>
                  </a:txBody>
                  <a:tcPr marL="37097" marR="37097" marT="18548" marB="185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dirty="0"/>
                        <a:t>• Synthesis of plasma proteins: albumin, globulins, fibrinogen, prothrombin • Synthesis of bile salts and bile pigments • Synthesis of clotting factors (II, V, VII, IX, X)</a:t>
                      </a:r>
                    </a:p>
                  </a:txBody>
                  <a:tcPr marL="37097" marR="37097" marT="18548" marB="185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4421948"/>
                  </a:ext>
                </a:extLst>
              </a:tr>
              <a:tr h="453230">
                <a:tc>
                  <a:txBody>
                    <a:bodyPr/>
                    <a:lstStyle/>
                    <a:p>
                      <a:pPr>
                        <a:buNone/>
                      </a:pPr>
                      <a:r>
                        <a:rPr lang="en-IN" sz="1400" b="1"/>
                        <a:t>Storage Functions</a:t>
                      </a:r>
                      <a:endParaRPr lang="en-IN" sz="1400"/>
                    </a:p>
                  </a:txBody>
                  <a:tcPr marL="37097" marR="37097" marT="18548" marB="185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a:t>• Stores glycogen • Fat-soluble vitamins A, D, E, K • Vitamin B12 • Iron and copper</a:t>
                      </a:r>
                    </a:p>
                  </a:txBody>
                  <a:tcPr marL="37097" marR="37097" marT="18548" marB="185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83063078"/>
                  </a:ext>
                </a:extLst>
              </a:tr>
              <a:tr h="737864">
                <a:tc>
                  <a:txBody>
                    <a:bodyPr/>
                    <a:lstStyle/>
                    <a:p>
                      <a:pPr>
                        <a:buNone/>
                      </a:pPr>
                      <a:r>
                        <a:rPr lang="en-IN" sz="1400" b="1"/>
                        <a:t>Detoxification / Excretory Functions</a:t>
                      </a:r>
                      <a:endParaRPr lang="en-IN" sz="1400"/>
                    </a:p>
                  </a:txBody>
                  <a:tcPr marL="37097" marR="37097" marT="18548" marB="185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a:t>• Detoxifies drugs, alcohol, hormones, and toxins • Converts ammonia → urea • Excretes bilirubin and cholesterol through bile</a:t>
                      </a:r>
                    </a:p>
                  </a:txBody>
                  <a:tcPr marL="37097" marR="37097" marT="18548" marB="185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82152597"/>
                  </a:ext>
                </a:extLst>
              </a:tr>
              <a:tr h="567589">
                <a:tc>
                  <a:txBody>
                    <a:bodyPr/>
                    <a:lstStyle/>
                    <a:p>
                      <a:pPr>
                        <a:buNone/>
                      </a:pPr>
                      <a:r>
                        <a:rPr lang="en-IN" sz="1400" b="1"/>
                        <a:t>Immune Functions</a:t>
                      </a:r>
                      <a:endParaRPr lang="en-IN" sz="1400"/>
                    </a:p>
                  </a:txBody>
                  <a:tcPr marL="37097" marR="37097" marT="18548" marB="185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dirty="0"/>
                        <a:t>• Contains </a:t>
                      </a:r>
                      <a:r>
                        <a:rPr lang="en-US" sz="1400" b="1" dirty="0"/>
                        <a:t>Kupffer cells</a:t>
                      </a:r>
                      <a:r>
                        <a:rPr lang="en-US" sz="1400" dirty="0"/>
                        <a:t> → phagocytosis of bacteria and old RBCs • Helps in antigen clearance</a:t>
                      </a:r>
                    </a:p>
                  </a:txBody>
                  <a:tcPr marL="37097" marR="37097" marT="18548" marB="185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10641491"/>
                  </a:ext>
                </a:extLst>
              </a:tr>
              <a:tr h="567589">
                <a:tc>
                  <a:txBody>
                    <a:bodyPr/>
                    <a:lstStyle/>
                    <a:p>
                      <a:pPr>
                        <a:buNone/>
                      </a:pPr>
                      <a:r>
                        <a:rPr lang="en-IN" sz="1400" b="1"/>
                        <a:t>Hematological Functions</a:t>
                      </a:r>
                      <a:endParaRPr lang="en-IN" sz="1400"/>
                    </a:p>
                  </a:txBody>
                  <a:tcPr marL="37097" marR="37097" marT="18548" marB="185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dirty="0"/>
                        <a:t>• RBC production in fetus • Breakdown of hemoglobin • Synthesis of clotting and anticoagulant proteins</a:t>
                      </a:r>
                    </a:p>
                  </a:txBody>
                  <a:tcPr marL="37097" marR="37097" marT="18548" marB="185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20565508"/>
                  </a:ext>
                </a:extLst>
              </a:tr>
              <a:tr h="567589">
                <a:tc>
                  <a:txBody>
                    <a:bodyPr/>
                    <a:lstStyle/>
                    <a:p>
                      <a:pPr>
                        <a:buNone/>
                      </a:pPr>
                      <a:r>
                        <a:rPr lang="en-IN" sz="1400" b="1"/>
                        <a:t>Endocrine / Hormonal Functions</a:t>
                      </a:r>
                      <a:endParaRPr lang="en-IN" sz="1400"/>
                    </a:p>
                  </a:txBody>
                  <a:tcPr marL="37097" marR="37097" marT="18548" marB="185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dirty="0"/>
                        <a:t>• Metabolizes hormones (insulin, glucagon, steroid hormones) • Produces somatomedins (IGF-1)</a:t>
                      </a:r>
                    </a:p>
                  </a:txBody>
                  <a:tcPr marL="37097" marR="37097" marT="18548" marB="185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48003661"/>
                  </a:ext>
                </a:extLst>
              </a:tr>
              <a:tr h="567589">
                <a:tc>
                  <a:txBody>
                    <a:bodyPr/>
                    <a:lstStyle/>
                    <a:p>
                      <a:pPr>
                        <a:buNone/>
                      </a:pPr>
                      <a:r>
                        <a:rPr lang="en-IN" sz="1400" b="1"/>
                        <a:t>Water &amp; Mineral Balance</a:t>
                      </a:r>
                      <a:endParaRPr lang="en-IN" sz="1400"/>
                    </a:p>
                  </a:txBody>
                  <a:tcPr marL="37097" marR="37097" marT="18548" marB="185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dirty="0"/>
                        <a:t>• Helps maintain osmotic pressure via albumin • Helps regulate blood volume and electrolytes</a:t>
                      </a:r>
                    </a:p>
                  </a:txBody>
                  <a:tcPr marL="37097" marR="37097" marT="18548" marB="185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09943431"/>
                  </a:ext>
                </a:extLst>
              </a:tr>
              <a:tr h="397312">
                <a:tc>
                  <a:txBody>
                    <a:bodyPr/>
                    <a:lstStyle/>
                    <a:p>
                      <a:pPr>
                        <a:buNone/>
                      </a:pPr>
                      <a:r>
                        <a:rPr lang="en-IN" sz="1400" b="1"/>
                        <a:t>Thermoregulation</a:t>
                      </a:r>
                      <a:endParaRPr lang="en-IN" sz="1400"/>
                    </a:p>
                  </a:txBody>
                  <a:tcPr marL="37097" marR="37097" marT="18548" marB="185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dirty="0"/>
                        <a:t>• Generates heat due to high metabolic activity</a:t>
                      </a:r>
                    </a:p>
                  </a:txBody>
                  <a:tcPr marL="37097" marR="37097" marT="18548" marB="1854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91471411"/>
                  </a:ext>
                </a:extLst>
              </a:tr>
            </a:tbl>
          </a:graphicData>
        </a:graphic>
      </p:graphicFrame>
    </p:spTree>
    <p:extLst>
      <p:ext uri="{BB962C8B-B14F-4D97-AF65-F5344CB8AC3E}">
        <p14:creationId xmlns:p14="http://schemas.microsoft.com/office/powerpoint/2010/main" val="245973379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AF32E8-6A38-BE42-D969-959C9BF3BBA7}"/>
              </a:ext>
            </a:extLst>
          </p:cNvPr>
          <p:cNvSpPr>
            <a:spLocks noGrp="1"/>
          </p:cNvSpPr>
          <p:nvPr>
            <p:ph type="title"/>
          </p:nvPr>
        </p:nvSpPr>
        <p:spPr>
          <a:xfrm>
            <a:off x="1066800" y="642594"/>
            <a:ext cx="2021840" cy="5087646"/>
          </a:xfrm>
        </p:spPr>
        <p:txBody>
          <a:bodyPr>
            <a:normAutofit/>
          </a:bodyPr>
          <a:lstStyle/>
          <a:p>
            <a:r>
              <a:rPr lang="en-IN" sz="2400" dirty="0" err="1"/>
              <a:t>Compostion</a:t>
            </a:r>
            <a:r>
              <a:rPr lang="en-IN" sz="2400" dirty="0"/>
              <a:t> of bile</a:t>
            </a:r>
          </a:p>
        </p:txBody>
      </p:sp>
      <p:graphicFrame>
        <p:nvGraphicFramePr>
          <p:cNvPr id="4" name="Content Placeholder 3">
            <a:extLst>
              <a:ext uri="{FF2B5EF4-FFF2-40B4-BE49-F238E27FC236}">
                <a16:creationId xmlns:a16="http://schemas.microsoft.com/office/drawing/2014/main" id="{A3BC27ED-6713-958E-CAD8-73E775BDC262}"/>
              </a:ext>
            </a:extLst>
          </p:cNvPr>
          <p:cNvGraphicFramePr>
            <a:graphicFrameLocks noGrp="1"/>
          </p:cNvGraphicFramePr>
          <p:nvPr>
            <p:ph idx="1"/>
            <p:extLst>
              <p:ext uri="{D42A27DB-BD31-4B8C-83A1-F6EECF244321}">
                <p14:modId xmlns:p14="http://schemas.microsoft.com/office/powerpoint/2010/main" val="3921658296"/>
              </p:ext>
            </p:extLst>
          </p:nvPr>
        </p:nvGraphicFramePr>
        <p:xfrm>
          <a:off x="3535680" y="426720"/>
          <a:ext cx="8239761" cy="5800498"/>
        </p:xfrm>
        <a:graphic>
          <a:graphicData uri="http://schemas.openxmlformats.org/drawingml/2006/table">
            <a:tbl>
              <a:tblPr/>
              <a:tblGrid>
                <a:gridCol w="2265680">
                  <a:extLst>
                    <a:ext uri="{9D8B030D-6E8A-4147-A177-3AD203B41FA5}">
                      <a16:colId xmlns:a16="http://schemas.microsoft.com/office/drawing/2014/main" val="4057518323"/>
                    </a:ext>
                  </a:extLst>
                </a:gridCol>
                <a:gridCol w="2794000">
                  <a:extLst>
                    <a:ext uri="{9D8B030D-6E8A-4147-A177-3AD203B41FA5}">
                      <a16:colId xmlns:a16="http://schemas.microsoft.com/office/drawing/2014/main" val="1317171358"/>
                    </a:ext>
                  </a:extLst>
                </a:gridCol>
                <a:gridCol w="3180081">
                  <a:extLst>
                    <a:ext uri="{9D8B030D-6E8A-4147-A177-3AD203B41FA5}">
                      <a16:colId xmlns:a16="http://schemas.microsoft.com/office/drawing/2014/main" val="3488925401"/>
                    </a:ext>
                  </a:extLst>
                </a:gridCol>
              </a:tblGrid>
              <a:tr h="374500">
                <a:tc>
                  <a:txBody>
                    <a:bodyPr/>
                    <a:lstStyle/>
                    <a:p>
                      <a:pPr>
                        <a:buNone/>
                      </a:pPr>
                      <a:r>
                        <a:rPr lang="en-IN" sz="1600" b="1"/>
                        <a:t>Category</a:t>
                      </a:r>
                      <a:endParaRPr lang="en-IN" sz="1600"/>
                    </a:p>
                  </a:txBody>
                  <a:tcPr marL="65537" marR="65537" marT="32769" marB="327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b="1"/>
                        <a:t>Components</a:t>
                      </a:r>
                      <a:endParaRPr lang="en-IN" sz="1600"/>
                    </a:p>
                  </a:txBody>
                  <a:tcPr marL="65537" marR="65537" marT="32769" marB="327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b="1"/>
                        <a:t>Notes / Functions</a:t>
                      </a:r>
                      <a:endParaRPr lang="en-IN" sz="1600"/>
                    </a:p>
                  </a:txBody>
                  <a:tcPr marL="65537" marR="65537" marT="32769" marB="327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44279528"/>
                  </a:ext>
                </a:extLst>
              </a:tr>
              <a:tr h="374500">
                <a:tc>
                  <a:txBody>
                    <a:bodyPr/>
                    <a:lstStyle/>
                    <a:p>
                      <a:pPr>
                        <a:buNone/>
                      </a:pPr>
                      <a:r>
                        <a:rPr lang="en-IN" sz="1600" b="1"/>
                        <a:t>Water (Major Component)</a:t>
                      </a:r>
                      <a:endParaRPr lang="en-IN" sz="1600"/>
                    </a:p>
                  </a:txBody>
                  <a:tcPr marL="65537" marR="65537" marT="32769" marB="327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t>~97–98%</a:t>
                      </a:r>
                    </a:p>
                  </a:txBody>
                  <a:tcPr marL="65537" marR="65537" marT="32769" marB="327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t>Medium for transport</a:t>
                      </a:r>
                    </a:p>
                  </a:txBody>
                  <a:tcPr marL="65537" marR="65537" marT="32769" marB="327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34808622"/>
                  </a:ext>
                </a:extLst>
              </a:tr>
              <a:tr h="655910">
                <a:tc>
                  <a:txBody>
                    <a:bodyPr/>
                    <a:lstStyle/>
                    <a:p>
                      <a:pPr>
                        <a:buNone/>
                      </a:pPr>
                      <a:r>
                        <a:rPr lang="en-IN" sz="1600" b="1"/>
                        <a:t>Bile Salts</a:t>
                      </a:r>
                      <a:endParaRPr lang="en-IN" sz="1600"/>
                    </a:p>
                  </a:txBody>
                  <a:tcPr marL="65537" marR="65537" marT="32769" marB="327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t>Sodium glycocholate, sodium taurocholate</a:t>
                      </a:r>
                    </a:p>
                  </a:txBody>
                  <a:tcPr marL="65537" marR="65537" marT="32769" marB="327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a:t>Important for </a:t>
                      </a:r>
                      <a:r>
                        <a:rPr lang="en-US" sz="1600" b="1"/>
                        <a:t>emulsification and absorption of fats</a:t>
                      </a:r>
                      <a:endParaRPr lang="en-US" sz="1600"/>
                    </a:p>
                  </a:txBody>
                  <a:tcPr marL="65537" marR="65537" marT="32769" marB="327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23430028"/>
                  </a:ext>
                </a:extLst>
              </a:tr>
              <a:tr h="937320">
                <a:tc>
                  <a:txBody>
                    <a:bodyPr/>
                    <a:lstStyle/>
                    <a:p>
                      <a:pPr>
                        <a:buNone/>
                      </a:pPr>
                      <a:r>
                        <a:rPr lang="en-IN" sz="1600" b="1"/>
                        <a:t>Bile Pigments</a:t>
                      </a:r>
                      <a:endParaRPr lang="en-IN" sz="1600"/>
                    </a:p>
                  </a:txBody>
                  <a:tcPr marL="65537" marR="65537" marT="32769" marB="327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t>Bilirubin, biliverdin</a:t>
                      </a:r>
                    </a:p>
                  </a:txBody>
                  <a:tcPr marL="65537" marR="65537" marT="32769" marB="327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a:t>End products of hemoglobin breakdown; excretory function</a:t>
                      </a:r>
                    </a:p>
                  </a:txBody>
                  <a:tcPr marL="65537" marR="65537" marT="32769" marB="327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61444108"/>
                  </a:ext>
                </a:extLst>
              </a:tr>
              <a:tr h="937320">
                <a:tc>
                  <a:txBody>
                    <a:bodyPr/>
                    <a:lstStyle/>
                    <a:p>
                      <a:pPr>
                        <a:buNone/>
                      </a:pPr>
                      <a:r>
                        <a:rPr lang="en-IN" sz="1600" b="1"/>
                        <a:t>Phospholipids</a:t>
                      </a:r>
                      <a:endParaRPr lang="en-IN" sz="1600"/>
                    </a:p>
                  </a:txBody>
                  <a:tcPr marL="65537" marR="65537" marT="32769" marB="327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t>Mainly </a:t>
                      </a:r>
                      <a:r>
                        <a:rPr lang="en-IN" sz="1600" b="1"/>
                        <a:t>Lecithin</a:t>
                      </a:r>
                      <a:endParaRPr lang="en-IN" sz="1600"/>
                    </a:p>
                  </a:txBody>
                  <a:tcPr marL="65537" marR="65537" marT="32769" marB="327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a:t>Assist in fat digestion; prevent precipitation of cholesterol</a:t>
                      </a:r>
                    </a:p>
                  </a:txBody>
                  <a:tcPr marL="65537" marR="65537" marT="32769" marB="327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35329457"/>
                  </a:ext>
                </a:extLst>
              </a:tr>
              <a:tr h="655910">
                <a:tc>
                  <a:txBody>
                    <a:bodyPr/>
                    <a:lstStyle/>
                    <a:p>
                      <a:pPr>
                        <a:buNone/>
                      </a:pPr>
                      <a:r>
                        <a:rPr lang="en-IN" sz="1600" b="1"/>
                        <a:t>Cholesterol</a:t>
                      </a:r>
                      <a:endParaRPr lang="en-IN" sz="1600"/>
                    </a:p>
                  </a:txBody>
                  <a:tcPr marL="65537" marR="65537" marT="32769" marB="327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t>Free cholesterol</a:t>
                      </a:r>
                    </a:p>
                  </a:txBody>
                  <a:tcPr marL="65537" marR="65537" marT="32769" marB="327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a:t>Excreted in bile (only route of elimination)</a:t>
                      </a:r>
                    </a:p>
                  </a:txBody>
                  <a:tcPr marL="65537" marR="65537" marT="32769" marB="327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04699205"/>
                  </a:ext>
                </a:extLst>
              </a:tr>
              <a:tr h="374500">
                <a:tc>
                  <a:txBody>
                    <a:bodyPr/>
                    <a:lstStyle/>
                    <a:p>
                      <a:pPr>
                        <a:buNone/>
                      </a:pPr>
                      <a:r>
                        <a:rPr lang="en-IN" sz="1600" b="1"/>
                        <a:t>Electrolytes</a:t>
                      </a:r>
                      <a:endParaRPr lang="en-IN" sz="1600"/>
                    </a:p>
                  </a:txBody>
                  <a:tcPr marL="65537" marR="65537" marT="32769" marB="327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t>Na⁺, K⁺, Ca²⁺, Cl⁻, HCO₃⁻</a:t>
                      </a:r>
                    </a:p>
                  </a:txBody>
                  <a:tcPr marL="65537" marR="65537" marT="32769" marB="327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t>Produce alkaline pH</a:t>
                      </a:r>
                    </a:p>
                  </a:txBody>
                  <a:tcPr marL="65537" marR="65537" marT="32769" marB="327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26138634"/>
                  </a:ext>
                </a:extLst>
              </a:tr>
              <a:tr h="655910">
                <a:tc>
                  <a:txBody>
                    <a:bodyPr/>
                    <a:lstStyle/>
                    <a:p>
                      <a:pPr>
                        <a:buNone/>
                      </a:pPr>
                      <a:r>
                        <a:rPr lang="en-IN" sz="1600" b="1"/>
                        <a:t>Proteins &amp; Mucus</a:t>
                      </a:r>
                      <a:endParaRPr lang="en-IN" sz="1600"/>
                    </a:p>
                  </a:txBody>
                  <a:tcPr marL="65537" marR="65537" marT="32769" marB="327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t>Small quantity</a:t>
                      </a:r>
                    </a:p>
                  </a:txBody>
                  <a:tcPr marL="65537" marR="65537" marT="32769" marB="327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t>Protective and lubricating action</a:t>
                      </a:r>
                    </a:p>
                  </a:txBody>
                  <a:tcPr marL="65537" marR="65537" marT="32769" marB="327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69210842"/>
                  </a:ext>
                </a:extLst>
              </a:tr>
              <a:tr h="655910">
                <a:tc>
                  <a:txBody>
                    <a:bodyPr/>
                    <a:lstStyle/>
                    <a:p>
                      <a:pPr>
                        <a:buNone/>
                      </a:pPr>
                      <a:r>
                        <a:rPr lang="en-IN" sz="1600" b="1"/>
                        <a:t>Trace Substances</a:t>
                      </a:r>
                      <a:endParaRPr lang="en-IN" sz="1600"/>
                    </a:p>
                  </a:txBody>
                  <a:tcPr marL="65537" marR="65537" marT="32769" marB="327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t>Heavy metals, xenobiotics, drugs</a:t>
                      </a:r>
                    </a:p>
                  </a:txBody>
                  <a:tcPr marL="65537" marR="65537" marT="32769" marB="327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dirty="0"/>
                        <a:t>Excretory function</a:t>
                      </a:r>
                    </a:p>
                  </a:txBody>
                  <a:tcPr marL="65537" marR="65537" marT="32769" marB="327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39148319"/>
                  </a:ext>
                </a:extLst>
              </a:tr>
            </a:tbl>
          </a:graphicData>
        </a:graphic>
      </p:graphicFrame>
    </p:spTree>
    <p:extLst>
      <p:ext uri="{BB962C8B-B14F-4D97-AF65-F5344CB8AC3E}">
        <p14:creationId xmlns:p14="http://schemas.microsoft.com/office/powerpoint/2010/main" val="196070976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906178-7810-C8AE-8EDB-9410ED8A2951}"/>
              </a:ext>
            </a:extLst>
          </p:cNvPr>
          <p:cNvSpPr>
            <a:spLocks noGrp="1"/>
          </p:cNvSpPr>
          <p:nvPr>
            <p:ph type="title"/>
          </p:nvPr>
        </p:nvSpPr>
        <p:spPr>
          <a:xfrm>
            <a:off x="843280" y="2583154"/>
            <a:ext cx="2794000" cy="1371600"/>
          </a:xfrm>
        </p:spPr>
        <p:txBody>
          <a:bodyPr>
            <a:normAutofit fontScale="90000"/>
          </a:bodyPr>
          <a:lstStyle/>
          <a:p>
            <a:r>
              <a:rPr lang="en-IN" dirty="0"/>
              <a:t>Functions of bile</a:t>
            </a:r>
          </a:p>
        </p:txBody>
      </p:sp>
      <p:graphicFrame>
        <p:nvGraphicFramePr>
          <p:cNvPr id="4" name="Content Placeholder 3">
            <a:extLst>
              <a:ext uri="{FF2B5EF4-FFF2-40B4-BE49-F238E27FC236}">
                <a16:creationId xmlns:a16="http://schemas.microsoft.com/office/drawing/2014/main" id="{418A11DA-491A-9A97-F628-4EDBB7D975EE}"/>
              </a:ext>
            </a:extLst>
          </p:cNvPr>
          <p:cNvGraphicFramePr>
            <a:graphicFrameLocks noGrp="1"/>
          </p:cNvGraphicFramePr>
          <p:nvPr>
            <p:ph idx="1"/>
            <p:extLst>
              <p:ext uri="{D42A27DB-BD31-4B8C-83A1-F6EECF244321}">
                <p14:modId xmlns:p14="http://schemas.microsoft.com/office/powerpoint/2010/main" val="1833220993"/>
              </p:ext>
            </p:extLst>
          </p:nvPr>
        </p:nvGraphicFramePr>
        <p:xfrm>
          <a:off x="4232126" y="642594"/>
          <a:ext cx="7472193" cy="5605549"/>
        </p:xfrm>
        <a:graphic>
          <a:graphicData uri="http://schemas.openxmlformats.org/drawingml/2006/table">
            <a:tbl>
              <a:tblPr/>
              <a:tblGrid>
                <a:gridCol w="2097554">
                  <a:extLst>
                    <a:ext uri="{9D8B030D-6E8A-4147-A177-3AD203B41FA5}">
                      <a16:colId xmlns:a16="http://schemas.microsoft.com/office/drawing/2014/main" val="813779517"/>
                    </a:ext>
                  </a:extLst>
                </a:gridCol>
                <a:gridCol w="2883908">
                  <a:extLst>
                    <a:ext uri="{9D8B030D-6E8A-4147-A177-3AD203B41FA5}">
                      <a16:colId xmlns:a16="http://schemas.microsoft.com/office/drawing/2014/main" val="1746893247"/>
                    </a:ext>
                  </a:extLst>
                </a:gridCol>
                <a:gridCol w="2490731">
                  <a:extLst>
                    <a:ext uri="{9D8B030D-6E8A-4147-A177-3AD203B41FA5}">
                      <a16:colId xmlns:a16="http://schemas.microsoft.com/office/drawing/2014/main" val="1590333136"/>
                    </a:ext>
                  </a:extLst>
                </a:gridCol>
              </a:tblGrid>
              <a:tr h="271141">
                <a:tc>
                  <a:txBody>
                    <a:bodyPr/>
                    <a:lstStyle/>
                    <a:p>
                      <a:pPr>
                        <a:buNone/>
                      </a:pPr>
                      <a:r>
                        <a:rPr lang="en-IN" sz="1400" b="1"/>
                        <a:t>Category</a:t>
                      </a:r>
                      <a:endParaRPr lang="en-IN" sz="1400"/>
                    </a:p>
                  </a:txBody>
                  <a:tcPr marL="49775" marR="49775" marT="24888" marB="248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b="1"/>
                        <a:t>Functions of Bile</a:t>
                      </a:r>
                      <a:endParaRPr lang="en-IN" sz="1400"/>
                    </a:p>
                  </a:txBody>
                  <a:tcPr marL="49775" marR="49775" marT="24888" marB="248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b="1"/>
                        <a:t>Key Notes</a:t>
                      </a:r>
                      <a:endParaRPr lang="en-IN" sz="1400"/>
                    </a:p>
                  </a:txBody>
                  <a:tcPr marL="49775" marR="49775" marT="24888" marB="248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19669047"/>
                  </a:ext>
                </a:extLst>
              </a:tr>
              <a:tr h="679913">
                <a:tc>
                  <a:txBody>
                    <a:bodyPr/>
                    <a:lstStyle/>
                    <a:p>
                      <a:pPr>
                        <a:buNone/>
                      </a:pPr>
                      <a:r>
                        <a:rPr lang="en-IN" sz="1400" b="1"/>
                        <a:t>Digestion of Fats</a:t>
                      </a:r>
                      <a:endParaRPr lang="en-IN" sz="1400"/>
                    </a:p>
                  </a:txBody>
                  <a:tcPr marL="49775" marR="49775" marT="24888" marB="248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a:t>• </a:t>
                      </a:r>
                      <a:r>
                        <a:rPr lang="en-IN" sz="1400" b="1"/>
                        <a:t>Emulsification</a:t>
                      </a:r>
                      <a:r>
                        <a:rPr lang="en-IN" sz="1400"/>
                        <a:t> of fats</a:t>
                      </a:r>
                    </a:p>
                  </a:txBody>
                  <a:tcPr marL="49775" marR="49775" marT="24888" marB="248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a:t>Breaks large fat globules → tiny micelles to increase surface area</a:t>
                      </a:r>
                    </a:p>
                  </a:txBody>
                  <a:tcPr marL="49775" marR="49775" marT="24888" marB="248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63835296"/>
                  </a:ext>
                </a:extLst>
              </a:tr>
              <a:tr h="679913">
                <a:tc>
                  <a:txBody>
                    <a:bodyPr/>
                    <a:lstStyle/>
                    <a:p>
                      <a:pPr>
                        <a:buNone/>
                      </a:pPr>
                      <a:endParaRPr lang="en-IN" sz="1400"/>
                    </a:p>
                  </a:txBody>
                  <a:tcPr marL="49775" marR="49775" marT="24888" marB="248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a:t>• </a:t>
                      </a:r>
                      <a:r>
                        <a:rPr lang="en-IN" sz="1400" b="1"/>
                        <a:t>Activation of lipase</a:t>
                      </a:r>
                      <a:endParaRPr lang="en-IN" sz="1400"/>
                    </a:p>
                  </a:txBody>
                  <a:tcPr marL="49775" marR="49775" marT="24888" marB="248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dirty="0"/>
                        <a:t>Provides optimal pH and conditions for pancreatic lipase</a:t>
                      </a:r>
                    </a:p>
                  </a:txBody>
                  <a:tcPr marL="49775" marR="49775" marT="24888" marB="248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6381404"/>
                  </a:ext>
                </a:extLst>
              </a:tr>
              <a:tr h="475526">
                <a:tc>
                  <a:txBody>
                    <a:bodyPr/>
                    <a:lstStyle/>
                    <a:p>
                      <a:pPr>
                        <a:buNone/>
                      </a:pPr>
                      <a:r>
                        <a:rPr lang="en-IN" sz="1400" b="1"/>
                        <a:t>Absorption of Fats</a:t>
                      </a:r>
                      <a:endParaRPr lang="en-IN" sz="1400"/>
                    </a:p>
                  </a:txBody>
                  <a:tcPr marL="49775" marR="49775" marT="24888" marB="248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a:t>• Helps absorption of </a:t>
                      </a:r>
                      <a:r>
                        <a:rPr lang="en-US" sz="1400" b="1"/>
                        <a:t>fatty acids, monoglycerides</a:t>
                      </a:r>
                      <a:endParaRPr lang="en-US" sz="1400"/>
                    </a:p>
                  </a:txBody>
                  <a:tcPr marL="49775" marR="49775" marT="24888" marB="248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a:t>Forms </a:t>
                      </a:r>
                      <a:r>
                        <a:rPr lang="en-IN" sz="1400" b="1"/>
                        <a:t>micelles</a:t>
                      </a:r>
                      <a:r>
                        <a:rPr lang="en-IN" sz="1400"/>
                        <a:t> for transport to intestinal mucosa</a:t>
                      </a:r>
                    </a:p>
                  </a:txBody>
                  <a:tcPr marL="49775" marR="49775" marT="24888" marB="248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63073077"/>
                  </a:ext>
                </a:extLst>
              </a:tr>
              <a:tr h="679913">
                <a:tc>
                  <a:txBody>
                    <a:bodyPr/>
                    <a:lstStyle/>
                    <a:p>
                      <a:pPr>
                        <a:buNone/>
                      </a:pPr>
                      <a:endParaRPr lang="en-IN" sz="1400"/>
                    </a:p>
                  </a:txBody>
                  <a:tcPr marL="49775" marR="49775" marT="24888" marB="248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a:t>• Necessary for absorption of </a:t>
                      </a:r>
                      <a:r>
                        <a:rPr lang="en-US" sz="1400" b="1"/>
                        <a:t>fat-soluble vitamins A, D, E, K</a:t>
                      </a:r>
                      <a:endParaRPr lang="en-US" sz="1400"/>
                    </a:p>
                  </a:txBody>
                  <a:tcPr marL="49775" marR="49775" marT="24888" marB="248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a:t>Without bile → steatorrhea + vitamin deficiency</a:t>
                      </a:r>
                    </a:p>
                  </a:txBody>
                  <a:tcPr marL="49775" marR="49775" marT="24888" marB="248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07887071"/>
                  </a:ext>
                </a:extLst>
              </a:tr>
              <a:tr h="475526">
                <a:tc>
                  <a:txBody>
                    <a:bodyPr/>
                    <a:lstStyle/>
                    <a:p>
                      <a:pPr>
                        <a:buNone/>
                      </a:pPr>
                      <a:r>
                        <a:rPr lang="en-IN" sz="1400" b="1"/>
                        <a:t>Excretory Role</a:t>
                      </a:r>
                      <a:endParaRPr lang="en-IN" sz="1400"/>
                    </a:p>
                  </a:txBody>
                  <a:tcPr marL="49775" marR="49775" marT="24888" marB="248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a:t>• Removes </a:t>
                      </a:r>
                      <a:r>
                        <a:rPr lang="en-US" sz="1400" b="1"/>
                        <a:t>bilirubin</a:t>
                      </a:r>
                      <a:r>
                        <a:rPr lang="en-US" sz="1400"/>
                        <a:t> (waste product of hemoglobin)</a:t>
                      </a:r>
                    </a:p>
                  </a:txBody>
                  <a:tcPr marL="49775" marR="49775" marT="24888" marB="248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a:t>Gives bile its yellow color</a:t>
                      </a:r>
                    </a:p>
                  </a:txBody>
                  <a:tcPr marL="49775" marR="49775" marT="24888" marB="248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34950668"/>
                  </a:ext>
                </a:extLst>
              </a:tr>
              <a:tr h="679913">
                <a:tc>
                  <a:txBody>
                    <a:bodyPr/>
                    <a:lstStyle/>
                    <a:p>
                      <a:pPr>
                        <a:buNone/>
                      </a:pPr>
                      <a:endParaRPr lang="en-IN" sz="1400"/>
                    </a:p>
                  </a:txBody>
                  <a:tcPr marL="49775" marR="49775" marT="24888" marB="248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a:t>• Excretes </a:t>
                      </a:r>
                      <a:r>
                        <a:rPr lang="en-US" sz="1400" b="1"/>
                        <a:t>cholesterol, drugs, toxins &amp; heavy metals</a:t>
                      </a:r>
                      <a:endParaRPr lang="en-US" sz="1400"/>
                    </a:p>
                  </a:txBody>
                  <a:tcPr marL="49775" marR="49775" marT="24888" marB="248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a:t>Bile is the major route for cholesterol excretion</a:t>
                      </a:r>
                    </a:p>
                  </a:txBody>
                  <a:tcPr marL="49775" marR="49775" marT="24888" marB="248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04045010"/>
                  </a:ext>
                </a:extLst>
              </a:tr>
              <a:tr h="679913">
                <a:tc>
                  <a:txBody>
                    <a:bodyPr/>
                    <a:lstStyle/>
                    <a:p>
                      <a:pPr>
                        <a:buNone/>
                      </a:pPr>
                      <a:r>
                        <a:rPr lang="en-IN" sz="1400" b="1"/>
                        <a:t>Neutralization Function</a:t>
                      </a:r>
                      <a:endParaRPr lang="en-IN" sz="1400"/>
                    </a:p>
                  </a:txBody>
                  <a:tcPr marL="49775" marR="49775" marT="24888" marB="248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a:t>• </a:t>
                      </a:r>
                      <a:r>
                        <a:rPr lang="en-IN" sz="1400" b="1"/>
                        <a:t>Alkaline pH (7.6 – 8.6)</a:t>
                      </a:r>
                      <a:r>
                        <a:rPr lang="en-IN" sz="1400"/>
                        <a:t> neutralizes gastric acid</a:t>
                      </a:r>
                    </a:p>
                  </a:txBody>
                  <a:tcPr marL="49775" marR="49775" marT="24888" marB="248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a:t>Protects intestinal mucosa and provides suitable pH for enzymes</a:t>
                      </a:r>
                    </a:p>
                  </a:txBody>
                  <a:tcPr marL="49775" marR="49775" marT="24888" marB="248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45005066"/>
                  </a:ext>
                </a:extLst>
              </a:tr>
              <a:tr h="475526">
                <a:tc>
                  <a:txBody>
                    <a:bodyPr/>
                    <a:lstStyle/>
                    <a:p>
                      <a:pPr>
                        <a:buNone/>
                      </a:pPr>
                      <a:r>
                        <a:rPr lang="en-IN" sz="1400" b="1"/>
                        <a:t>Antibacterial / Immune Function</a:t>
                      </a:r>
                      <a:endParaRPr lang="en-IN" sz="1400"/>
                    </a:p>
                  </a:txBody>
                  <a:tcPr marL="49775" marR="49775" marT="24888" marB="248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a:t>• Bile salts have </a:t>
                      </a:r>
                      <a:r>
                        <a:rPr lang="en-US" sz="1400" b="1"/>
                        <a:t>bacteriostatic effect</a:t>
                      </a:r>
                      <a:endParaRPr lang="en-US" sz="1400"/>
                    </a:p>
                  </a:txBody>
                  <a:tcPr marL="49775" marR="49775" marT="24888" marB="248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a:t>Prevents growth of bacteria in small intestine</a:t>
                      </a:r>
                    </a:p>
                  </a:txBody>
                  <a:tcPr marL="49775" marR="49775" marT="24888" marB="248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56172301"/>
                  </a:ext>
                </a:extLst>
              </a:tr>
              <a:tr h="475526">
                <a:tc>
                  <a:txBody>
                    <a:bodyPr/>
                    <a:lstStyle/>
                    <a:p>
                      <a:pPr>
                        <a:buNone/>
                      </a:pPr>
                      <a:r>
                        <a:rPr lang="en-IN" sz="1400" b="1"/>
                        <a:t>Laxative Function</a:t>
                      </a:r>
                      <a:endParaRPr lang="en-IN" sz="1400"/>
                    </a:p>
                  </a:txBody>
                  <a:tcPr marL="49775" marR="49775" marT="24888" marB="248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a:t>• Stimulates intestinal motility</a:t>
                      </a:r>
                    </a:p>
                  </a:txBody>
                  <a:tcPr marL="49775" marR="49775" marT="24888" marB="248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dirty="0"/>
                        <a:t>Helps prevent constipation</a:t>
                      </a:r>
                    </a:p>
                  </a:txBody>
                  <a:tcPr marL="49775" marR="49775" marT="24888" marB="2488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33718645"/>
                  </a:ext>
                </a:extLst>
              </a:tr>
            </a:tbl>
          </a:graphicData>
        </a:graphic>
      </p:graphicFrame>
    </p:spTree>
    <p:extLst>
      <p:ext uri="{BB962C8B-B14F-4D97-AF65-F5344CB8AC3E}">
        <p14:creationId xmlns:p14="http://schemas.microsoft.com/office/powerpoint/2010/main" val="110019089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26D497-7A61-3357-C63F-0643313BEA6A}"/>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76C5D106-BB48-6DE4-FF30-7556E9D1400A}"/>
              </a:ext>
            </a:extLst>
          </p:cNvPr>
          <p:cNvPicPr>
            <a:picLocks noGrp="1" noChangeAspect="1"/>
          </p:cNvPicPr>
          <p:nvPr>
            <p:ph idx="1"/>
          </p:nvPr>
        </p:nvPicPr>
        <p:blipFill>
          <a:blip r:embed="rId2"/>
          <a:stretch>
            <a:fillRect/>
          </a:stretch>
        </p:blipFill>
        <p:spPr>
          <a:xfrm>
            <a:off x="3112813" y="1035489"/>
            <a:ext cx="5664870" cy="4787021"/>
          </a:xfrm>
          <a:prstGeom prst="rect">
            <a:avLst/>
          </a:prstGeom>
        </p:spPr>
      </p:pic>
    </p:spTree>
    <p:extLst>
      <p:ext uri="{BB962C8B-B14F-4D97-AF65-F5344CB8AC3E}">
        <p14:creationId xmlns:p14="http://schemas.microsoft.com/office/powerpoint/2010/main" val="236737773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574D5F-F5C5-61A7-383D-FCF271AEE51D}"/>
              </a:ext>
            </a:extLst>
          </p:cNvPr>
          <p:cNvSpPr>
            <a:spLocks noGrp="1"/>
          </p:cNvSpPr>
          <p:nvPr>
            <p:ph type="title"/>
          </p:nvPr>
        </p:nvSpPr>
        <p:spPr/>
        <p:txBody>
          <a:bodyPr/>
          <a:lstStyle/>
          <a:p>
            <a:r>
              <a:rPr lang="en-IN" dirty="0"/>
              <a:t>Applied aspect</a:t>
            </a:r>
          </a:p>
        </p:txBody>
      </p:sp>
      <p:sp>
        <p:nvSpPr>
          <p:cNvPr id="3" name="Content Placeholder 2">
            <a:extLst>
              <a:ext uri="{FF2B5EF4-FFF2-40B4-BE49-F238E27FC236}">
                <a16:creationId xmlns:a16="http://schemas.microsoft.com/office/drawing/2014/main" id="{D0AF3CD3-EB60-9954-3806-48EA333E66C5}"/>
              </a:ext>
            </a:extLst>
          </p:cNvPr>
          <p:cNvSpPr>
            <a:spLocks noGrp="1"/>
          </p:cNvSpPr>
          <p:nvPr>
            <p:ph idx="1"/>
          </p:nvPr>
        </p:nvSpPr>
        <p:spPr>
          <a:xfrm>
            <a:off x="619760" y="2103120"/>
            <a:ext cx="10972800" cy="4450080"/>
          </a:xfrm>
        </p:spPr>
        <p:txBody>
          <a:bodyPr>
            <a:normAutofit/>
          </a:bodyPr>
          <a:lstStyle/>
          <a:p>
            <a:r>
              <a:rPr lang="en-US" dirty="0"/>
              <a:t>Jaundice is the yellow appearance of skin, sclera and mucous membrane due to accumulation of free or conjugated bilirubin in the blood and is detectable when total plasma bilirubin &gt;2mg/dl. Jaundice can occur due to excessive production of bilirubin, decreased hepatocyte uptake, impaired conjugation, decreased hepatocyte excretion of bilirubin glucuronides or impaired bile flow due to obstruction of bile duct. Pre hepatic (hemolytic) jaundice is due to excess production of bilirubin due to increased hemolysis of RBCs and is manifested by increased serum unconjugated bilirubin. Hepatic (Hepatocellular) jaundice is due to infections (bacterial or viral) or toxins (alcohol). In this condition, there is decreased uptake of bilirubin into hepatic cells, disturbed intracellular protein binding or conjugation, disturbed secretion of conjugated bilirubin into bile canaliculi and increased serum levels of both conjugated and unconjugated bilirubin. Post hepatic (obstructive) jaundice is due to bile duct obstruction which may be due to intra hepatic cause as in congenital biliary atresia or extrahepatic cause as in gallstones or tumor and is manifested by increased serum conjugated bilirubin. Decreased bile secretion can occur in liver diseases such as hepatitis or cirrhosis and gallbladder diseases such as gallstones</a:t>
            </a:r>
            <a:endParaRPr lang="en-IN" dirty="0"/>
          </a:p>
        </p:txBody>
      </p:sp>
    </p:spTree>
    <p:extLst>
      <p:ext uri="{BB962C8B-B14F-4D97-AF65-F5344CB8AC3E}">
        <p14:creationId xmlns:p14="http://schemas.microsoft.com/office/powerpoint/2010/main" val="217129757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12B54A-C9BD-8F69-BBE5-4B2B2E44A8CA}"/>
              </a:ext>
            </a:extLst>
          </p:cNvPr>
          <p:cNvSpPr>
            <a:spLocks noGrp="1"/>
          </p:cNvSpPr>
          <p:nvPr>
            <p:ph type="title"/>
          </p:nvPr>
        </p:nvSpPr>
        <p:spPr/>
        <p:txBody>
          <a:bodyPr/>
          <a:lstStyle/>
          <a:p>
            <a:r>
              <a:rPr lang="en-IN" dirty="0"/>
              <a:t>Succus </a:t>
            </a:r>
            <a:r>
              <a:rPr lang="en-IN" dirty="0" err="1"/>
              <a:t>entricus</a:t>
            </a:r>
            <a:endParaRPr lang="en-IN" dirty="0"/>
          </a:p>
        </p:txBody>
      </p:sp>
      <p:sp>
        <p:nvSpPr>
          <p:cNvPr id="3" name="Content Placeholder 2">
            <a:extLst>
              <a:ext uri="{FF2B5EF4-FFF2-40B4-BE49-F238E27FC236}">
                <a16:creationId xmlns:a16="http://schemas.microsoft.com/office/drawing/2014/main" id="{5756B583-452D-DC4E-02AA-4B5D0EA818B9}"/>
              </a:ext>
            </a:extLst>
          </p:cNvPr>
          <p:cNvSpPr>
            <a:spLocks noGrp="1"/>
          </p:cNvSpPr>
          <p:nvPr>
            <p:ph idx="1"/>
          </p:nvPr>
        </p:nvSpPr>
        <p:spPr>
          <a:xfrm>
            <a:off x="1066800" y="2103120"/>
            <a:ext cx="2712720" cy="3931920"/>
          </a:xfrm>
        </p:spPr>
        <p:txBody>
          <a:bodyPr>
            <a:normAutofit lnSpcReduction="10000"/>
          </a:bodyPr>
          <a:lstStyle/>
          <a:p>
            <a:r>
              <a:rPr lang="en-IN" dirty="0"/>
              <a:t>Succus entericus (also called </a:t>
            </a:r>
            <a:r>
              <a:rPr lang="en-IN" b="1" dirty="0"/>
              <a:t>intestinal juice</a:t>
            </a:r>
            <a:r>
              <a:rPr lang="en-IN" dirty="0"/>
              <a:t>) is a </a:t>
            </a:r>
            <a:r>
              <a:rPr lang="en-IN" b="1" dirty="0"/>
              <a:t>alkaline digestive fluid secreted by the glands of the small intestine</a:t>
            </a:r>
            <a:r>
              <a:rPr lang="en-IN" dirty="0"/>
              <a:t>, especially the </a:t>
            </a:r>
            <a:r>
              <a:rPr lang="en-IN" b="1" dirty="0"/>
              <a:t>crypts of Lieberkühn</a:t>
            </a:r>
            <a:r>
              <a:rPr lang="en-IN" dirty="0"/>
              <a:t>.</a:t>
            </a:r>
          </a:p>
          <a:p>
            <a:r>
              <a:rPr lang="en-IN" dirty="0"/>
              <a:t>📌 </a:t>
            </a:r>
            <a:r>
              <a:rPr lang="en-IN" b="1" dirty="0"/>
              <a:t>Daily secretion:</a:t>
            </a:r>
            <a:r>
              <a:rPr lang="en-IN" dirty="0"/>
              <a:t> ~1–2 </a:t>
            </a:r>
            <a:r>
              <a:rPr lang="en-IN" dirty="0" err="1"/>
              <a:t>liters</a:t>
            </a:r>
            <a:br>
              <a:rPr lang="en-IN" dirty="0"/>
            </a:br>
            <a:r>
              <a:rPr lang="en-IN" dirty="0"/>
              <a:t>📌 </a:t>
            </a:r>
            <a:r>
              <a:rPr lang="en-IN" b="1" dirty="0"/>
              <a:t>pH:</a:t>
            </a:r>
            <a:r>
              <a:rPr lang="en-IN" dirty="0"/>
              <a:t> </a:t>
            </a:r>
            <a:r>
              <a:rPr lang="en-IN" b="1" dirty="0"/>
              <a:t>7.5 – 8.0</a:t>
            </a:r>
            <a:br>
              <a:rPr lang="en-IN" dirty="0"/>
            </a:br>
            <a:r>
              <a:rPr lang="en-IN" dirty="0"/>
              <a:t>📌 </a:t>
            </a:r>
            <a:r>
              <a:rPr lang="en-IN" b="1" dirty="0"/>
              <a:t>Consistency:</a:t>
            </a:r>
            <a:r>
              <a:rPr lang="en-IN" dirty="0"/>
              <a:t> Watery, alkaline fluid</a:t>
            </a:r>
          </a:p>
          <a:p>
            <a:endParaRPr lang="en-IN" dirty="0"/>
          </a:p>
        </p:txBody>
      </p:sp>
      <p:graphicFrame>
        <p:nvGraphicFramePr>
          <p:cNvPr id="4" name="Table 3">
            <a:extLst>
              <a:ext uri="{FF2B5EF4-FFF2-40B4-BE49-F238E27FC236}">
                <a16:creationId xmlns:a16="http://schemas.microsoft.com/office/drawing/2014/main" id="{1491A95D-4CBD-1245-F827-B687AAA128CD}"/>
              </a:ext>
            </a:extLst>
          </p:cNvPr>
          <p:cNvGraphicFramePr>
            <a:graphicFrameLocks noGrp="1"/>
          </p:cNvGraphicFramePr>
          <p:nvPr>
            <p:extLst>
              <p:ext uri="{D42A27DB-BD31-4B8C-83A1-F6EECF244321}">
                <p14:modId xmlns:p14="http://schemas.microsoft.com/office/powerpoint/2010/main" val="2767160659"/>
              </p:ext>
            </p:extLst>
          </p:nvPr>
        </p:nvGraphicFramePr>
        <p:xfrm>
          <a:off x="3907016" y="2000406"/>
          <a:ext cx="7588527" cy="4034634"/>
        </p:xfrm>
        <a:graphic>
          <a:graphicData uri="http://schemas.openxmlformats.org/drawingml/2006/table">
            <a:tbl>
              <a:tblPr/>
              <a:tblGrid>
                <a:gridCol w="2529509">
                  <a:extLst>
                    <a:ext uri="{9D8B030D-6E8A-4147-A177-3AD203B41FA5}">
                      <a16:colId xmlns:a16="http://schemas.microsoft.com/office/drawing/2014/main" val="1934091124"/>
                    </a:ext>
                  </a:extLst>
                </a:gridCol>
                <a:gridCol w="2529509">
                  <a:extLst>
                    <a:ext uri="{9D8B030D-6E8A-4147-A177-3AD203B41FA5}">
                      <a16:colId xmlns:a16="http://schemas.microsoft.com/office/drawing/2014/main" val="3472159334"/>
                    </a:ext>
                  </a:extLst>
                </a:gridCol>
                <a:gridCol w="2529509">
                  <a:extLst>
                    <a:ext uri="{9D8B030D-6E8A-4147-A177-3AD203B41FA5}">
                      <a16:colId xmlns:a16="http://schemas.microsoft.com/office/drawing/2014/main" val="1170197908"/>
                    </a:ext>
                  </a:extLst>
                </a:gridCol>
              </a:tblGrid>
              <a:tr h="275946">
                <a:tc>
                  <a:txBody>
                    <a:bodyPr/>
                    <a:lstStyle/>
                    <a:p>
                      <a:pPr>
                        <a:buNone/>
                      </a:pPr>
                      <a:r>
                        <a:rPr lang="en-IN" sz="1400" b="1"/>
                        <a:t>Component</a:t>
                      </a:r>
                      <a:endParaRPr lang="en-IN" sz="1400"/>
                    </a:p>
                  </a:txBody>
                  <a:tcPr marL="68987" marR="68987" marT="34493" marB="344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b="1"/>
                        <a:t>Examples / Details</a:t>
                      </a:r>
                      <a:endParaRPr lang="en-IN" sz="1400"/>
                    </a:p>
                  </a:txBody>
                  <a:tcPr marL="68987" marR="68987" marT="34493" marB="344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b="1"/>
                        <a:t>Function</a:t>
                      </a:r>
                      <a:endParaRPr lang="en-IN" sz="1400"/>
                    </a:p>
                  </a:txBody>
                  <a:tcPr marL="68987" marR="68987" marT="34493" marB="344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52862593"/>
                  </a:ext>
                </a:extLst>
              </a:tr>
              <a:tr h="482906">
                <a:tc>
                  <a:txBody>
                    <a:bodyPr/>
                    <a:lstStyle/>
                    <a:p>
                      <a:pPr>
                        <a:buNone/>
                      </a:pPr>
                      <a:r>
                        <a:rPr lang="en-IN" sz="1400" b="1"/>
                        <a:t>Water</a:t>
                      </a:r>
                      <a:endParaRPr lang="en-IN" sz="1400"/>
                    </a:p>
                  </a:txBody>
                  <a:tcPr marL="68987" marR="68987" marT="34493" marB="344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a:t>Major component</a:t>
                      </a:r>
                    </a:p>
                  </a:txBody>
                  <a:tcPr marL="68987" marR="68987" marT="34493" marB="344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a:t>Solvent and transport medium</a:t>
                      </a:r>
                    </a:p>
                  </a:txBody>
                  <a:tcPr marL="68987" marR="68987" marT="34493" marB="344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87569140"/>
                  </a:ext>
                </a:extLst>
              </a:tr>
              <a:tr h="482906">
                <a:tc>
                  <a:txBody>
                    <a:bodyPr/>
                    <a:lstStyle/>
                    <a:p>
                      <a:pPr>
                        <a:buNone/>
                      </a:pPr>
                      <a:r>
                        <a:rPr lang="en-IN" sz="1400" b="1"/>
                        <a:t>Mucus</a:t>
                      </a:r>
                      <a:endParaRPr lang="en-IN" sz="1400"/>
                    </a:p>
                  </a:txBody>
                  <a:tcPr marL="68987" marR="68987" marT="34493" marB="344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a:t>Goblet cells</a:t>
                      </a:r>
                    </a:p>
                  </a:txBody>
                  <a:tcPr marL="68987" marR="68987" marT="34493" marB="344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a:t>Lubrication &amp; protection of mucosa</a:t>
                      </a:r>
                    </a:p>
                  </a:txBody>
                  <a:tcPr marL="68987" marR="68987" marT="34493" marB="344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58700449"/>
                  </a:ext>
                </a:extLst>
              </a:tr>
              <a:tr h="275946">
                <a:tc>
                  <a:txBody>
                    <a:bodyPr/>
                    <a:lstStyle/>
                    <a:p>
                      <a:pPr>
                        <a:buNone/>
                      </a:pPr>
                      <a:r>
                        <a:rPr lang="en-IN" sz="1400" b="1"/>
                        <a:t>Electrolytes</a:t>
                      </a:r>
                      <a:endParaRPr lang="en-IN" sz="1400"/>
                    </a:p>
                  </a:txBody>
                  <a:tcPr marL="68987" marR="68987" marT="34493" marB="344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a:t>Na⁺, K⁺, HCO₃⁻, Cl⁻</a:t>
                      </a:r>
                    </a:p>
                  </a:txBody>
                  <a:tcPr marL="68987" marR="68987" marT="34493" marB="344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a:t>Maintain alkaline pH</a:t>
                      </a:r>
                    </a:p>
                  </a:txBody>
                  <a:tcPr marL="68987" marR="68987" marT="34493" marB="344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72048802"/>
                  </a:ext>
                </a:extLst>
              </a:tr>
              <a:tr h="482906">
                <a:tc>
                  <a:txBody>
                    <a:bodyPr/>
                    <a:lstStyle/>
                    <a:p>
                      <a:pPr>
                        <a:buNone/>
                      </a:pPr>
                      <a:r>
                        <a:rPr lang="en-IN" sz="1400" b="1"/>
                        <a:t>Digestive Enzymes</a:t>
                      </a:r>
                      <a:endParaRPr lang="en-IN" sz="1400"/>
                    </a:p>
                  </a:txBody>
                  <a:tcPr marL="68987" marR="68987" marT="34493" marB="344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a:t>Disaccharidases — </a:t>
                      </a:r>
                      <a:r>
                        <a:rPr lang="en-IN" sz="1400" i="1"/>
                        <a:t>maltase, sucrase, lactase</a:t>
                      </a:r>
                      <a:endParaRPr lang="en-IN" sz="1400"/>
                    </a:p>
                  </a:txBody>
                  <a:tcPr marL="68987" marR="68987" marT="34493" marB="344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a:t>Carbohydrate digestion</a:t>
                      </a:r>
                    </a:p>
                  </a:txBody>
                  <a:tcPr marL="68987" marR="68987" marT="34493" marB="344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95361099"/>
                  </a:ext>
                </a:extLst>
              </a:tr>
              <a:tr h="275946">
                <a:tc>
                  <a:txBody>
                    <a:bodyPr/>
                    <a:lstStyle/>
                    <a:p>
                      <a:pPr>
                        <a:buNone/>
                      </a:pPr>
                      <a:endParaRPr lang="en-IN" sz="1400"/>
                    </a:p>
                  </a:txBody>
                  <a:tcPr marL="68987" marR="68987" marT="34493" marB="344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a:t>Intestinal lipase</a:t>
                      </a:r>
                    </a:p>
                  </a:txBody>
                  <a:tcPr marL="68987" marR="68987" marT="34493" marB="344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a:t>Fat digestion</a:t>
                      </a:r>
                    </a:p>
                  </a:txBody>
                  <a:tcPr marL="68987" marR="68987" marT="34493" marB="344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05857352"/>
                  </a:ext>
                </a:extLst>
              </a:tr>
              <a:tr h="689866">
                <a:tc>
                  <a:txBody>
                    <a:bodyPr/>
                    <a:lstStyle/>
                    <a:p>
                      <a:pPr>
                        <a:buNone/>
                      </a:pPr>
                      <a:endParaRPr lang="en-IN" sz="1400"/>
                    </a:p>
                  </a:txBody>
                  <a:tcPr marL="68987" marR="68987" marT="34493" marB="344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a:t>Peptidases — </a:t>
                      </a:r>
                      <a:r>
                        <a:rPr lang="en-IN" sz="1400" i="1"/>
                        <a:t>aminopeptidase, dipeptidase, tripeptidase</a:t>
                      </a:r>
                      <a:endParaRPr lang="en-IN" sz="1400"/>
                    </a:p>
                  </a:txBody>
                  <a:tcPr marL="68987" marR="68987" marT="34493" marB="344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a:t>Protein digestion</a:t>
                      </a:r>
                    </a:p>
                  </a:txBody>
                  <a:tcPr marL="68987" marR="68987" marT="34493" marB="344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91800256"/>
                  </a:ext>
                </a:extLst>
              </a:tr>
              <a:tr h="482906">
                <a:tc>
                  <a:txBody>
                    <a:bodyPr/>
                    <a:lstStyle/>
                    <a:p>
                      <a:pPr>
                        <a:buNone/>
                      </a:pPr>
                      <a:endParaRPr lang="en-IN" sz="1400"/>
                    </a:p>
                  </a:txBody>
                  <a:tcPr marL="68987" marR="68987" marT="34493" marB="344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a:t>Enterokinase (enteropeptidase)</a:t>
                      </a:r>
                    </a:p>
                  </a:txBody>
                  <a:tcPr marL="68987" marR="68987" marT="34493" marB="344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a:t>Activates </a:t>
                      </a:r>
                      <a:r>
                        <a:rPr lang="en-IN" sz="1400" b="1"/>
                        <a:t>trypsinogen → trypsin</a:t>
                      </a:r>
                      <a:endParaRPr lang="en-IN" sz="1400"/>
                    </a:p>
                  </a:txBody>
                  <a:tcPr marL="68987" marR="68987" marT="34493" marB="344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02005094"/>
                  </a:ext>
                </a:extLst>
              </a:tr>
              <a:tr h="482906">
                <a:tc>
                  <a:txBody>
                    <a:bodyPr/>
                    <a:lstStyle/>
                    <a:p>
                      <a:pPr>
                        <a:buNone/>
                      </a:pPr>
                      <a:r>
                        <a:rPr lang="en-IN" sz="1400" b="1"/>
                        <a:t>Hormones (minor)</a:t>
                      </a:r>
                      <a:endParaRPr lang="en-IN" sz="1400"/>
                    </a:p>
                  </a:txBody>
                  <a:tcPr marL="68987" marR="68987" marT="34493" marB="344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400"/>
                        <a:t>Secretin, CCK, GIP (from mucosa)</a:t>
                      </a:r>
                    </a:p>
                  </a:txBody>
                  <a:tcPr marL="68987" marR="68987" marT="34493" marB="344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400" dirty="0"/>
                        <a:t>Regulate digestion</a:t>
                      </a:r>
                    </a:p>
                  </a:txBody>
                  <a:tcPr marL="68987" marR="68987" marT="34493" marB="344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56533226"/>
                  </a:ext>
                </a:extLst>
              </a:tr>
            </a:tbl>
          </a:graphicData>
        </a:graphic>
      </p:graphicFrame>
    </p:spTree>
    <p:extLst>
      <p:ext uri="{BB962C8B-B14F-4D97-AF65-F5344CB8AC3E}">
        <p14:creationId xmlns:p14="http://schemas.microsoft.com/office/powerpoint/2010/main" val="3953172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76A607-EBD9-C797-1A68-5DCE8D2DCFA0}"/>
              </a:ext>
            </a:extLst>
          </p:cNvPr>
          <p:cNvSpPr>
            <a:spLocks noGrp="1"/>
          </p:cNvSpPr>
          <p:nvPr>
            <p:ph type="title"/>
          </p:nvPr>
        </p:nvSpPr>
        <p:spPr/>
        <p:txBody>
          <a:bodyPr/>
          <a:lstStyle/>
          <a:p>
            <a:r>
              <a:rPr lang="en-IN" dirty="0"/>
              <a:t>Applied aspects</a:t>
            </a:r>
          </a:p>
        </p:txBody>
      </p:sp>
      <p:sp>
        <p:nvSpPr>
          <p:cNvPr id="3" name="Content Placeholder 2">
            <a:extLst>
              <a:ext uri="{FF2B5EF4-FFF2-40B4-BE49-F238E27FC236}">
                <a16:creationId xmlns:a16="http://schemas.microsoft.com/office/drawing/2014/main" id="{1C153A5A-6F50-5916-D1C8-FB380550D43C}"/>
              </a:ext>
            </a:extLst>
          </p:cNvPr>
          <p:cNvSpPr>
            <a:spLocks noGrp="1"/>
          </p:cNvSpPr>
          <p:nvPr>
            <p:ph idx="1"/>
          </p:nvPr>
        </p:nvSpPr>
        <p:spPr/>
        <p:txBody>
          <a:bodyPr/>
          <a:lstStyle/>
          <a:p>
            <a:r>
              <a:rPr lang="en-US" dirty="0"/>
              <a:t>Duodenal ulcer occurs due to impaired secretion of mucus by Brunner’s glands and reduced bicarbonate </a:t>
            </a:r>
            <a:r>
              <a:rPr lang="en-IN" dirty="0"/>
              <a:t>secretion by epithelial cells and Brunner’s glands. Cholera, E.coli, Clostridium and Shigella toxin can affect the small intestine leading to </a:t>
            </a:r>
            <a:r>
              <a:rPr lang="en-IN" dirty="0" err="1"/>
              <a:t>diarrhea</a:t>
            </a:r>
            <a:r>
              <a:rPr lang="en-IN" dirty="0"/>
              <a:t>. Lactose intolerance due to lactase deficiency leads to milk intolerance, </a:t>
            </a:r>
            <a:r>
              <a:rPr lang="en-IN" dirty="0" err="1"/>
              <a:t>diarrhea</a:t>
            </a:r>
            <a:r>
              <a:rPr lang="en-IN" dirty="0"/>
              <a:t>, bloating and flatulence. Malabsorption syndrome is an autoimmune disease which leads to deficient absorption of amino acids, carbohydrates, fat and fat soluble vitamins.</a:t>
            </a:r>
          </a:p>
        </p:txBody>
      </p:sp>
    </p:spTree>
    <p:extLst>
      <p:ext uri="{BB962C8B-B14F-4D97-AF65-F5344CB8AC3E}">
        <p14:creationId xmlns:p14="http://schemas.microsoft.com/office/powerpoint/2010/main" val="286310042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76E132-4682-A904-3E9E-157473E6B251}"/>
              </a:ext>
            </a:extLst>
          </p:cNvPr>
          <p:cNvSpPr>
            <a:spLocks noGrp="1"/>
          </p:cNvSpPr>
          <p:nvPr>
            <p:ph type="title"/>
          </p:nvPr>
        </p:nvSpPr>
        <p:spPr>
          <a:xfrm>
            <a:off x="457200" y="642594"/>
            <a:ext cx="2286000" cy="5250206"/>
          </a:xfrm>
        </p:spPr>
        <p:txBody>
          <a:bodyPr>
            <a:normAutofit/>
          </a:bodyPr>
          <a:lstStyle/>
          <a:p>
            <a:r>
              <a:rPr lang="en-IN" sz="4000" dirty="0"/>
              <a:t>Func of large intestine</a:t>
            </a:r>
          </a:p>
        </p:txBody>
      </p:sp>
      <p:graphicFrame>
        <p:nvGraphicFramePr>
          <p:cNvPr id="4" name="Content Placeholder 3">
            <a:extLst>
              <a:ext uri="{FF2B5EF4-FFF2-40B4-BE49-F238E27FC236}">
                <a16:creationId xmlns:a16="http://schemas.microsoft.com/office/drawing/2014/main" id="{803C3248-A833-66B1-535B-FA436800EDAB}"/>
              </a:ext>
            </a:extLst>
          </p:cNvPr>
          <p:cNvGraphicFramePr>
            <a:graphicFrameLocks noGrp="1"/>
          </p:cNvGraphicFramePr>
          <p:nvPr>
            <p:ph idx="1"/>
            <p:extLst>
              <p:ext uri="{D42A27DB-BD31-4B8C-83A1-F6EECF244321}">
                <p14:modId xmlns:p14="http://schemas.microsoft.com/office/powerpoint/2010/main" val="2885120407"/>
              </p:ext>
            </p:extLst>
          </p:nvPr>
        </p:nvGraphicFramePr>
        <p:xfrm>
          <a:off x="3006384" y="467360"/>
          <a:ext cx="8728416" cy="5933438"/>
        </p:xfrm>
        <a:graphic>
          <a:graphicData uri="http://schemas.openxmlformats.org/drawingml/2006/table">
            <a:tbl>
              <a:tblPr/>
              <a:tblGrid>
                <a:gridCol w="2909472">
                  <a:extLst>
                    <a:ext uri="{9D8B030D-6E8A-4147-A177-3AD203B41FA5}">
                      <a16:colId xmlns:a16="http://schemas.microsoft.com/office/drawing/2014/main" val="1095775774"/>
                    </a:ext>
                  </a:extLst>
                </a:gridCol>
                <a:gridCol w="2909472">
                  <a:extLst>
                    <a:ext uri="{9D8B030D-6E8A-4147-A177-3AD203B41FA5}">
                      <a16:colId xmlns:a16="http://schemas.microsoft.com/office/drawing/2014/main" val="2367607111"/>
                    </a:ext>
                  </a:extLst>
                </a:gridCol>
                <a:gridCol w="2909472">
                  <a:extLst>
                    <a:ext uri="{9D8B030D-6E8A-4147-A177-3AD203B41FA5}">
                      <a16:colId xmlns:a16="http://schemas.microsoft.com/office/drawing/2014/main" val="4063917678"/>
                    </a:ext>
                  </a:extLst>
                </a:gridCol>
              </a:tblGrid>
              <a:tr h="339053">
                <a:tc>
                  <a:txBody>
                    <a:bodyPr/>
                    <a:lstStyle/>
                    <a:p>
                      <a:pPr>
                        <a:buNone/>
                      </a:pPr>
                      <a:r>
                        <a:rPr lang="en-IN" sz="1400" b="1"/>
                        <a:t>Category</a:t>
                      </a:r>
                      <a:endParaRPr lang="en-IN" sz="1400"/>
                    </a:p>
                  </a:txBody>
                  <a:tcPr marL="56175" marR="56175" marT="28087" marB="28087" anchor="ctr">
                    <a:lnL>
                      <a:noFill/>
                    </a:lnL>
                    <a:lnR>
                      <a:noFill/>
                    </a:lnR>
                    <a:lnT>
                      <a:noFill/>
                    </a:lnT>
                    <a:lnB>
                      <a:noFill/>
                    </a:lnB>
                    <a:noFill/>
                  </a:tcPr>
                </a:tc>
                <a:tc>
                  <a:txBody>
                    <a:bodyPr/>
                    <a:lstStyle/>
                    <a:p>
                      <a:pPr>
                        <a:buNone/>
                      </a:pPr>
                      <a:r>
                        <a:rPr lang="en-IN" sz="1400" b="1"/>
                        <a:t>Functions</a:t>
                      </a:r>
                      <a:endParaRPr lang="en-IN" sz="1400"/>
                    </a:p>
                  </a:txBody>
                  <a:tcPr marL="56175" marR="56175" marT="28087" marB="28087" anchor="ctr">
                    <a:lnL>
                      <a:noFill/>
                    </a:lnL>
                    <a:lnR>
                      <a:noFill/>
                    </a:lnR>
                    <a:lnT>
                      <a:noFill/>
                    </a:lnT>
                    <a:lnB>
                      <a:noFill/>
                    </a:lnB>
                    <a:noFill/>
                  </a:tcPr>
                </a:tc>
                <a:tc>
                  <a:txBody>
                    <a:bodyPr/>
                    <a:lstStyle/>
                    <a:p>
                      <a:pPr>
                        <a:buNone/>
                      </a:pPr>
                      <a:r>
                        <a:rPr lang="en-IN" sz="1400" b="1"/>
                        <a:t>Notes / Importance</a:t>
                      </a:r>
                      <a:endParaRPr lang="en-IN" sz="1400"/>
                    </a:p>
                  </a:txBody>
                  <a:tcPr marL="56175" marR="56175" marT="28087" marB="28087" anchor="ctr">
                    <a:lnL>
                      <a:noFill/>
                    </a:lnL>
                    <a:lnR>
                      <a:noFill/>
                    </a:lnR>
                    <a:lnT>
                      <a:noFill/>
                    </a:lnT>
                    <a:lnB>
                      <a:noFill/>
                    </a:lnB>
                    <a:noFill/>
                  </a:tcPr>
                </a:tc>
                <a:extLst>
                  <a:ext uri="{0D108BD9-81ED-4DB2-BD59-A6C34878D82A}">
                    <a16:rowId xmlns:a16="http://schemas.microsoft.com/office/drawing/2014/main" val="1124171345"/>
                  </a:ext>
                </a:extLst>
              </a:tr>
              <a:tr h="593344">
                <a:tc>
                  <a:txBody>
                    <a:bodyPr/>
                    <a:lstStyle/>
                    <a:p>
                      <a:pPr>
                        <a:buNone/>
                      </a:pPr>
                      <a:r>
                        <a:rPr lang="en-IN" sz="1400" b="1"/>
                        <a:t>Absorptive Function</a:t>
                      </a:r>
                      <a:endParaRPr lang="en-IN" sz="1400"/>
                    </a:p>
                  </a:txBody>
                  <a:tcPr marL="56175" marR="56175" marT="28087" marB="28087" anchor="ctr">
                    <a:lnL>
                      <a:noFill/>
                    </a:lnL>
                    <a:lnR>
                      <a:noFill/>
                    </a:lnR>
                    <a:lnT>
                      <a:noFill/>
                    </a:lnT>
                    <a:lnB>
                      <a:noFill/>
                    </a:lnB>
                    <a:noFill/>
                  </a:tcPr>
                </a:tc>
                <a:tc>
                  <a:txBody>
                    <a:bodyPr/>
                    <a:lstStyle/>
                    <a:p>
                      <a:pPr>
                        <a:buNone/>
                      </a:pPr>
                      <a:r>
                        <a:rPr lang="en-US" sz="1400"/>
                        <a:t>Absorption of </a:t>
                      </a:r>
                      <a:r>
                        <a:rPr lang="en-US" sz="1400" b="1"/>
                        <a:t>water and electrolytes (Na⁺, Cl⁻)</a:t>
                      </a:r>
                      <a:endParaRPr lang="en-US" sz="1400"/>
                    </a:p>
                  </a:txBody>
                  <a:tcPr marL="56175" marR="56175" marT="28087" marB="28087" anchor="ctr">
                    <a:lnL>
                      <a:noFill/>
                    </a:lnL>
                    <a:lnR>
                      <a:noFill/>
                    </a:lnR>
                    <a:lnT>
                      <a:noFill/>
                    </a:lnT>
                    <a:lnB>
                      <a:noFill/>
                    </a:lnB>
                    <a:noFill/>
                  </a:tcPr>
                </a:tc>
                <a:tc>
                  <a:txBody>
                    <a:bodyPr/>
                    <a:lstStyle/>
                    <a:p>
                      <a:pPr>
                        <a:buNone/>
                      </a:pPr>
                      <a:r>
                        <a:rPr lang="en-IN" sz="1400"/>
                        <a:t>Converts liquid chyme → semisolid feces</a:t>
                      </a:r>
                    </a:p>
                  </a:txBody>
                  <a:tcPr marL="56175" marR="56175" marT="28087" marB="28087" anchor="ctr">
                    <a:lnL>
                      <a:noFill/>
                    </a:lnL>
                    <a:lnR>
                      <a:noFill/>
                    </a:lnR>
                    <a:lnT>
                      <a:noFill/>
                    </a:lnT>
                    <a:lnB>
                      <a:noFill/>
                    </a:lnB>
                    <a:noFill/>
                  </a:tcPr>
                </a:tc>
                <a:extLst>
                  <a:ext uri="{0D108BD9-81ED-4DB2-BD59-A6C34878D82A}">
                    <a16:rowId xmlns:a16="http://schemas.microsoft.com/office/drawing/2014/main" val="787839453"/>
                  </a:ext>
                </a:extLst>
              </a:tr>
              <a:tr h="593344">
                <a:tc>
                  <a:txBody>
                    <a:bodyPr/>
                    <a:lstStyle/>
                    <a:p>
                      <a:pPr>
                        <a:buNone/>
                      </a:pPr>
                      <a:endParaRPr lang="en-IN" sz="1400"/>
                    </a:p>
                  </a:txBody>
                  <a:tcPr marL="56175" marR="56175" marT="28087" marB="28087" anchor="ctr">
                    <a:lnL>
                      <a:noFill/>
                    </a:lnL>
                    <a:lnR>
                      <a:noFill/>
                    </a:lnR>
                    <a:lnT>
                      <a:noFill/>
                    </a:lnT>
                    <a:lnB>
                      <a:noFill/>
                    </a:lnB>
                    <a:noFill/>
                  </a:tcPr>
                </a:tc>
                <a:tc>
                  <a:txBody>
                    <a:bodyPr/>
                    <a:lstStyle/>
                    <a:p>
                      <a:pPr>
                        <a:buNone/>
                      </a:pPr>
                      <a:r>
                        <a:rPr lang="en-IN" sz="1400"/>
                        <a:t>Absorption of </a:t>
                      </a:r>
                      <a:r>
                        <a:rPr lang="en-IN" sz="1400" b="1"/>
                        <a:t>vitamins</a:t>
                      </a:r>
                      <a:r>
                        <a:rPr lang="en-IN" sz="1400"/>
                        <a:t> (B₁₂, biotin, vitamin K)</a:t>
                      </a:r>
                    </a:p>
                  </a:txBody>
                  <a:tcPr marL="56175" marR="56175" marT="28087" marB="28087" anchor="ctr">
                    <a:lnL>
                      <a:noFill/>
                    </a:lnL>
                    <a:lnR>
                      <a:noFill/>
                    </a:lnR>
                    <a:lnT>
                      <a:noFill/>
                    </a:lnT>
                    <a:lnB>
                      <a:noFill/>
                    </a:lnB>
                    <a:noFill/>
                  </a:tcPr>
                </a:tc>
                <a:tc>
                  <a:txBody>
                    <a:bodyPr/>
                    <a:lstStyle/>
                    <a:p>
                      <a:pPr>
                        <a:buNone/>
                      </a:pPr>
                      <a:r>
                        <a:rPr lang="en-IN" sz="1400"/>
                        <a:t>Produced by intestinal bacteria</a:t>
                      </a:r>
                    </a:p>
                  </a:txBody>
                  <a:tcPr marL="56175" marR="56175" marT="28087" marB="28087" anchor="ctr">
                    <a:lnL>
                      <a:noFill/>
                    </a:lnL>
                    <a:lnR>
                      <a:noFill/>
                    </a:lnR>
                    <a:lnT>
                      <a:noFill/>
                    </a:lnT>
                    <a:lnB>
                      <a:noFill/>
                    </a:lnB>
                    <a:noFill/>
                  </a:tcPr>
                </a:tc>
                <a:extLst>
                  <a:ext uri="{0D108BD9-81ED-4DB2-BD59-A6C34878D82A}">
                    <a16:rowId xmlns:a16="http://schemas.microsoft.com/office/drawing/2014/main" val="2884669166"/>
                  </a:ext>
                </a:extLst>
              </a:tr>
              <a:tr h="593344">
                <a:tc>
                  <a:txBody>
                    <a:bodyPr/>
                    <a:lstStyle/>
                    <a:p>
                      <a:pPr>
                        <a:buNone/>
                      </a:pPr>
                      <a:r>
                        <a:rPr lang="en-IN" sz="1400" b="1"/>
                        <a:t>Digestive Function (Limited)</a:t>
                      </a:r>
                      <a:endParaRPr lang="en-IN" sz="1400"/>
                    </a:p>
                  </a:txBody>
                  <a:tcPr marL="56175" marR="56175" marT="28087" marB="28087" anchor="ctr">
                    <a:lnL>
                      <a:noFill/>
                    </a:lnL>
                    <a:lnR>
                      <a:noFill/>
                    </a:lnR>
                    <a:lnT>
                      <a:noFill/>
                    </a:lnT>
                    <a:lnB>
                      <a:noFill/>
                    </a:lnB>
                    <a:noFill/>
                  </a:tcPr>
                </a:tc>
                <a:tc>
                  <a:txBody>
                    <a:bodyPr/>
                    <a:lstStyle/>
                    <a:p>
                      <a:pPr>
                        <a:buNone/>
                      </a:pPr>
                      <a:r>
                        <a:rPr lang="en-US" sz="1400"/>
                        <a:t>Bacterial fermentation of undigested carbohydrates</a:t>
                      </a:r>
                    </a:p>
                  </a:txBody>
                  <a:tcPr marL="56175" marR="56175" marT="28087" marB="28087" anchor="ctr">
                    <a:lnL>
                      <a:noFill/>
                    </a:lnL>
                    <a:lnR>
                      <a:noFill/>
                    </a:lnR>
                    <a:lnT>
                      <a:noFill/>
                    </a:lnT>
                    <a:lnB>
                      <a:noFill/>
                    </a:lnB>
                    <a:noFill/>
                  </a:tcPr>
                </a:tc>
                <a:tc>
                  <a:txBody>
                    <a:bodyPr/>
                    <a:lstStyle/>
                    <a:p>
                      <a:pPr>
                        <a:buNone/>
                      </a:pPr>
                      <a:r>
                        <a:rPr lang="en-US" sz="1400"/>
                        <a:t>Produces short-chain fatty acids (SCFA)</a:t>
                      </a:r>
                    </a:p>
                  </a:txBody>
                  <a:tcPr marL="56175" marR="56175" marT="28087" marB="28087" anchor="ctr">
                    <a:lnL>
                      <a:noFill/>
                    </a:lnL>
                    <a:lnR>
                      <a:noFill/>
                    </a:lnR>
                    <a:lnT>
                      <a:noFill/>
                    </a:lnT>
                    <a:lnB>
                      <a:noFill/>
                    </a:lnB>
                    <a:noFill/>
                  </a:tcPr>
                </a:tc>
                <a:extLst>
                  <a:ext uri="{0D108BD9-81ED-4DB2-BD59-A6C34878D82A}">
                    <a16:rowId xmlns:a16="http://schemas.microsoft.com/office/drawing/2014/main" val="2995020235"/>
                  </a:ext>
                </a:extLst>
              </a:tr>
              <a:tr h="847633">
                <a:tc>
                  <a:txBody>
                    <a:bodyPr/>
                    <a:lstStyle/>
                    <a:p>
                      <a:pPr>
                        <a:buNone/>
                      </a:pPr>
                      <a:r>
                        <a:rPr lang="en-IN" sz="1400" b="1"/>
                        <a:t>Synthetic Function</a:t>
                      </a:r>
                      <a:endParaRPr lang="en-IN" sz="1400"/>
                    </a:p>
                  </a:txBody>
                  <a:tcPr marL="56175" marR="56175" marT="28087" marB="28087" anchor="ctr">
                    <a:lnL>
                      <a:noFill/>
                    </a:lnL>
                    <a:lnR>
                      <a:noFill/>
                    </a:lnR>
                    <a:lnT>
                      <a:noFill/>
                    </a:lnT>
                    <a:lnB>
                      <a:noFill/>
                    </a:lnB>
                    <a:noFill/>
                  </a:tcPr>
                </a:tc>
                <a:tc>
                  <a:txBody>
                    <a:bodyPr/>
                    <a:lstStyle/>
                    <a:p>
                      <a:pPr>
                        <a:buNone/>
                      </a:pPr>
                      <a:r>
                        <a:rPr lang="en-IN" sz="1400"/>
                        <a:t>Intestinal bacteria synthesize </a:t>
                      </a:r>
                      <a:r>
                        <a:rPr lang="en-IN" sz="1400" b="1"/>
                        <a:t>vitamin K and certain B vitamins</a:t>
                      </a:r>
                      <a:endParaRPr lang="en-IN" sz="1400"/>
                    </a:p>
                  </a:txBody>
                  <a:tcPr marL="56175" marR="56175" marT="28087" marB="28087" anchor="ctr">
                    <a:lnL>
                      <a:noFill/>
                    </a:lnL>
                    <a:lnR>
                      <a:noFill/>
                    </a:lnR>
                    <a:lnT>
                      <a:noFill/>
                    </a:lnT>
                    <a:lnB>
                      <a:noFill/>
                    </a:lnB>
                    <a:noFill/>
                  </a:tcPr>
                </a:tc>
                <a:tc>
                  <a:txBody>
                    <a:bodyPr/>
                    <a:lstStyle/>
                    <a:p>
                      <a:pPr>
                        <a:buNone/>
                      </a:pPr>
                      <a:r>
                        <a:rPr lang="en-US" sz="1400"/>
                        <a:t>Important for blood clotting &amp; metabolism</a:t>
                      </a:r>
                    </a:p>
                  </a:txBody>
                  <a:tcPr marL="56175" marR="56175" marT="28087" marB="28087" anchor="ctr">
                    <a:lnL>
                      <a:noFill/>
                    </a:lnL>
                    <a:lnR>
                      <a:noFill/>
                    </a:lnR>
                    <a:lnT>
                      <a:noFill/>
                    </a:lnT>
                    <a:lnB>
                      <a:noFill/>
                    </a:lnB>
                    <a:noFill/>
                  </a:tcPr>
                </a:tc>
                <a:extLst>
                  <a:ext uri="{0D108BD9-81ED-4DB2-BD59-A6C34878D82A}">
                    <a16:rowId xmlns:a16="http://schemas.microsoft.com/office/drawing/2014/main" val="4141799131"/>
                  </a:ext>
                </a:extLst>
              </a:tr>
              <a:tr h="593344">
                <a:tc>
                  <a:txBody>
                    <a:bodyPr/>
                    <a:lstStyle/>
                    <a:p>
                      <a:pPr>
                        <a:buNone/>
                      </a:pPr>
                      <a:r>
                        <a:rPr lang="en-IN" sz="1400" b="1"/>
                        <a:t>Storage Function</a:t>
                      </a:r>
                      <a:endParaRPr lang="en-IN" sz="1400"/>
                    </a:p>
                  </a:txBody>
                  <a:tcPr marL="56175" marR="56175" marT="28087" marB="28087" anchor="ctr">
                    <a:lnL>
                      <a:noFill/>
                    </a:lnL>
                    <a:lnR>
                      <a:noFill/>
                    </a:lnR>
                    <a:lnT>
                      <a:noFill/>
                    </a:lnT>
                    <a:lnB>
                      <a:noFill/>
                    </a:lnB>
                    <a:noFill/>
                  </a:tcPr>
                </a:tc>
                <a:tc>
                  <a:txBody>
                    <a:bodyPr/>
                    <a:lstStyle/>
                    <a:p>
                      <a:pPr>
                        <a:buNone/>
                      </a:pPr>
                      <a:r>
                        <a:rPr lang="en-US" sz="1400"/>
                        <a:t>Temporary storage of feces in rectum</a:t>
                      </a:r>
                    </a:p>
                  </a:txBody>
                  <a:tcPr marL="56175" marR="56175" marT="28087" marB="28087" anchor="ctr">
                    <a:lnL>
                      <a:noFill/>
                    </a:lnL>
                    <a:lnR>
                      <a:noFill/>
                    </a:lnR>
                    <a:lnT>
                      <a:noFill/>
                    </a:lnT>
                    <a:lnB>
                      <a:noFill/>
                    </a:lnB>
                    <a:noFill/>
                  </a:tcPr>
                </a:tc>
                <a:tc>
                  <a:txBody>
                    <a:bodyPr/>
                    <a:lstStyle/>
                    <a:p>
                      <a:pPr>
                        <a:buNone/>
                      </a:pPr>
                      <a:r>
                        <a:rPr lang="en-IN" sz="1400"/>
                        <a:t>Allows controlled defecation</a:t>
                      </a:r>
                    </a:p>
                  </a:txBody>
                  <a:tcPr marL="56175" marR="56175" marT="28087" marB="28087" anchor="ctr">
                    <a:lnL>
                      <a:noFill/>
                    </a:lnL>
                    <a:lnR>
                      <a:noFill/>
                    </a:lnR>
                    <a:lnT>
                      <a:noFill/>
                    </a:lnT>
                    <a:lnB>
                      <a:noFill/>
                    </a:lnB>
                    <a:noFill/>
                  </a:tcPr>
                </a:tc>
                <a:extLst>
                  <a:ext uri="{0D108BD9-81ED-4DB2-BD59-A6C34878D82A}">
                    <a16:rowId xmlns:a16="http://schemas.microsoft.com/office/drawing/2014/main" val="3998223435"/>
                  </a:ext>
                </a:extLst>
              </a:tr>
              <a:tr h="593344">
                <a:tc>
                  <a:txBody>
                    <a:bodyPr/>
                    <a:lstStyle/>
                    <a:p>
                      <a:pPr>
                        <a:buNone/>
                      </a:pPr>
                      <a:r>
                        <a:rPr lang="en-IN" sz="1400" b="1"/>
                        <a:t>Motor Function</a:t>
                      </a:r>
                      <a:endParaRPr lang="en-IN" sz="1400"/>
                    </a:p>
                  </a:txBody>
                  <a:tcPr marL="56175" marR="56175" marT="28087" marB="28087" anchor="ctr">
                    <a:lnL>
                      <a:noFill/>
                    </a:lnL>
                    <a:lnR>
                      <a:noFill/>
                    </a:lnR>
                    <a:lnT>
                      <a:noFill/>
                    </a:lnT>
                    <a:lnB>
                      <a:noFill/>
                    </a:lnB>
                    <a:noFill/>
                  </a:tcPr>
                </a:tc>
                <a:tc>
                  <a:txBody>
                    <a:bodyPr/>
                    <a:lstStyle/>
                    <a:p>
                      <a:pPr>
                        <a:buNone/>
                      </a:pPr>
                      <a:r>
                        <a:rPr lang="en-US" sz="1400"/>
                        <a:t>Mass peristalsis and segmental movements</a:t>
                      </a:r>
                    </a:p>
                  </a:txBody>
                  <a:tcPr marL="56175" marR="56175" marT="28087" marB="28087" anchor="ctr">
                    <a:lnL>
                      <a:noFill/>
                    </a:lnL>
                    <a:lnR>
                      <a:noFill/>
                    </a:lnR>
                    <a:lnT>
                      <a:noFill/>
                    </a:lnT>
                    <a:lnB>
                      <a:noFill/>
                    </a:lnB>
                    <a:noFill/>
                  </a:tcPr>
                </a:tc>
                <a:tc>
                  <a:txBody>
                    <a:bodyPr/>
                    <a:lstStyle/>
                    <a:p>
                      <a:pPr>
                        <a:buNone/>
                      </a:pPr>
                      <a:r>
                        <a:rPr lang="en-IN" sz="1400"/>
                        <a:t>Helps propulsion of feces</a:t>
                      </a:r>
                    </a:p>
                  </a:txBody>
                  <a:tcPr marL="56175" marR="56175" marT="28087" marB="28087" anchor="ctr">
                    <a:lnL>
                      <a:noFill/>
                    </a:lnL>
                    <a:lnR>
                      <a:noFill/>
                    </a:lnR>
                    <a:lnT>
                      <a:noFill/>
                    </a:lnT>
                    <a:lnB>
                      <a:noFill/>
                    </a:lnB>
                    <a:noFill/>
                  </a:tcPr>
                </a:tc>
                <a:extLst>
                  <a:ext uri="{0D108BD9-81ED-4DB2-BD59-A6C34878D82A}">
                    <a16:rowId xmlns:a16="http://schemas.microsoft.com/office/drawing/2014/main" val="4008525832"/>
                  </a:ext>
                </a:extLst>
              </a:tr>
              <a:tr h="593344">
                <a:tc>
                  <a:txBody>
                    <a:bodyPr/>
                    <a:lstStyle/>
                    <a:p>
                      <a:pPr>
                        <a:buNone/>
                      </a:pPr>
                      <a:r>
                        <a:rPr lang="en-IN" sz="1400" b="1"/>
                        <a:t>Protective Function</a:t>
                      </a:r>
                      <a:endParaRPr lang="en-IN" sz="1400"/>
                    </a:p>
                  </a:txBody>
                  <a:tcPr marL="56175" marR="56175" marT="28087" marB="28087" anchor="ctr">
                    <a:lnL>
                      <a:noFill/>
                    </a:lnL>
                    <a:lnR>
                      <a:noFill/>
                    </a:lnR>
                    <a:lnT>
                      <a:noFill/>
                    </a:lnT>
                    <a:lnB>
                      <a:noFill/>
                    </a:lnB>
                    <a:noFill/>
                  </a:tcPr>
                </a:tc>
                <a:tc>
                  <a:txBody>
                    <a:bodyPr/>
                    <a:lstStyle/>
                    <a:p>
                      <a:pPr>
                        <a:buNone/>
                      </a:pPr>
                      <a:r>
                        <a:rPr lang="en-IN" sz="1400"/>
                        <a:t>Mucus secretion</a:t>
                      </a:r>
                    </a:p>
                  </a:txBody>
                  <a:tcPr marL="56175" marR="56175" marT="28087" marB="28087" anchor="ctr">
                    <a:lnL>
                      <a:noFill/>
                    </a:lnL>
                    <a:lnR>
                      <a:noFill/>
                    </a:lnR>
                    <a:lnT>
                      <a:noFill/>
                    </a:lnT>
                    <a:lnB>
                      <a:noFill/>
                    </a:lnB>
                    <a:noFill/>
                  </a:tcPr>
                </a:tc>
                <a:tc>
                  <a:txBody>
                    <a:bodyPr/>
                    <a:lstStyle/>
                    <a:p>
                      <a:pPr>
                        <a:buNone/>
                      </a:pPr>
                      <a:r>
                        <a:rPr lang="en-US" sz="1400"/>
                        <a:t>Lubricates feces and protects mucosa</a:t>
                      </a:r>
                    </a:p>
                  </a:txBody>
                  <a:tcPr marL="56175" marR="56175" marT="28087" marB="28087" anchor="ctr">
                    <a:lnL>
                      <a:noFill/>
                    </a:lnL>
                    <a:lnR>
                      <a:noFill/>
                    </a:lnR>
                    <a:lnT>
                      <a:noFill/>
                    </a:lnT>
                    <a:lnB>
                      <a:noFill/>
                    </a:lnB>
                    <a:noFill/>
                  </a:tcPr>
                </a:tc>
                <a:extLst>
                  <a:ext uri="{0D108BD9-81ED-4DB2-BD59-A6C34878D82A}">
                    <a16:rowId xmlns:a16="http://schemas.microsoft.com/office/drawing/2014/main" val="3621821905"/>
                  </a:ext>
                </a:extLst>
              </a:tr>
              <a:tr h="593344">
                <a:tc>
                  <a:txBody>
                    <a:bodyPr/>
                    <a:lstStyle/>
                    <a:p>
                      <a:pPr>
                        <a:buNone/>
                      </a:pPr>
                      <a:r>
                        <a:rPr lang="en-IN" sz="1400" b="1"/>
                        <a:t>Immune Function</a:t>
                      </a:r>
                      <a:endParaRPr lang="en-IN" sz="1400"/>
                    </a:p>
                  </a:txBody>
                  <a:tcPr marL="56175" marR="56175" marT="28087" marB="28087" anchor="ctr">
                    <a:lnL>
                      <a:noFill/>
                    </a:lnL>
                    <a:lnR>
                      <a:noFill/>
                    </a:lnR>
                    <a:lnT>
                      <a:noFill/>
                    </a:lnT>
                    <a:lnB>
                      <a:noFill/>
                    </a:lnB>
                    <a:noFill/>
                  </a:tcPr>
                </a:tc>
                <a:tc>
                  <a:txBody>
                    <a:bodyPr/>
                    <a:lstStyle/>
                    <a:p>
                      <a:pPr>
                        <a:buNone/>
                      </a:pPr>
                      <a:r>
                        <a:rPr lang="en-IN" sz="1400"/>
                        <a:t>Gut-associated lymphoid tissue (GALT)</a:t>
                      </a:r>
                    </a:p>
                  </a:txBody>
                  <a:tcPr marL="56175" marR="56175" marT="28087" marB="28087" anchor="ctr">
                    <a:lnL>
                      <a:noFill/>
                    </a:lnL>
                    <a:lnR>
                      <a:noFill/>
                    </a:lnR>
                    <a:lnT>
                      <a:noFill/>
                    </a:lnT>
                    <a:lnB>
                      <a:noFill/>
                    </a:lnB>
                    <a:noFill/>
                  </a:tcPr>
                </a:tc>
                <a:tc>
                  <a:txBody>
                    <a:bodyPr/>
                    <a:lstStyle/>
                    <a:p>
                      <a:pPr>
                        <a:buNone/>
                      </a:pPr>
                      <a:r>
                        <a:rPr lang="en-IN" sz="1400"/>
                        <a:t>Defense against pathogens</a:t>
                      </a:r>
                    </a:p>
                  </a:txBody>
                  <a:tcPr marL="56175" marR="56175" marT="28087" marB="28087" anchor="ctr">
                    <a:lnL>
                      <a:noFill/>
                    </a:lnL>
                    <a:lnR>
                      <a:noFill/>
                    </a:lnR>
                    <a:lnT>
                      <a:noFill/>
                    </a:lnT>
                    <a:lnB>
                      <a:noFill/>
                    </a:lnB>
                    <a:noFill/>
                  </a:tcPr>
                </a:tc>
                <a:extLst>
                  <a:ext uri="{0D108BD9-81ED-4DB2-BD59-A6C34878D82A}">
                    <a16:rowId xmlns:a16="http://schemas.microsoft.com/office/drawing/2014/main" val="2463631819"/>
                  </a:ext>
                </a:extLst>
              </a:tr>
              <a:tr h="593344">
                <a:tc>
                  <a:txBody>
                    <a:bodyPr/>
                    <a:lstStyle/>
                    <a:p>
                      <a:pPr>
                        <a:buNone/>
                      </a:pPr>
                      <a:r>
                        <a:rPr lang="en-IN" sz="1400" b="1"/>
                        <a:t>Gas Production (Flatus)</a:t>
                      </a:r>
                      <a:endParaRPr lang="en-IN" sz="1400"/>
                    </a:p>
                  </a:txBody>
                  <a:tcPr marL="56175" marR="56175" marT="28087" marB="28087" anchor="ctr">
                    <a:lnL>
                      <a:noFill/>
                    </a:lnL>
                    <a:lnR>
                      <a:noFill/>
                    </a:lnR>
                    <a:lnT>
                      <a:noFill/>
                    </a:lnT>
                    <a:lnB>
                      <a:noFill/>
                    </a:lnB>
                    <a:noFill/>
                  </a:tcPr>
                </a:tc>
                <a:tc>
                  <a:txBody>
                    <a:bodyPr/>
                    <a:lstStyle/>
                    <a:p>
                      <a:pPr>
                        <a:buNone/>
                      </a:pPr>
                      <a:r>
                        <a:rPr lang="en-US" sz="1400"/>
                        <a:t>Bacterial action produces gases such as CO₂, CH₄, H₂</a:t>
                      </a:r>
                    </a:p>
                  </a:txBody>
                  <a:tcPr marL="56175" marR="56175" marT="28087" marB="28087" anchor="ctr">
                    <a:lnL>
                      <a:noFill/>
                    </a:lnL>
                    <a:lnR>
                      <a:noFill/>
                    </a:lnR>
                    <a:lnT>
                      <a:noFill/>
                    </a:lnT>
                    <a:lnB>
                      <a:noFill/>
                    </a:lnB>
                    <a:noFill/>
                  </a:tcPr>
                </a:tc>
                <a:tc>
                  <a:txBody>
                    <a:bodyPr/>
                    <a:lstStyle/>
                    <a:p>
                      <a:pPr>
                        <a:buNone/>
                      </a:pPr>
                      <a:r>
                        <a:rPr lang="en-US" sz="1400" dirty="0"/>
                        <a:t>Physiological by-product of colonic bacteria</a:t>
                      </a:r>
                    </a:p>
                  </a:txBody>
                  <a:tcPr marL="56175" marR="56175" marT="28087" marB="28087" anchor="ctr">
                    <a:lnL>
                      <a:noFill/>
                    </a:lnL>
                    <a:lnR>
                      <a:noFill/>
                    </a:lnR>
                    <a:lnT>
                      <a:noFill/>
                    </a:lnT>
                    <a:lnB>
                      <a:noFill/>
                    </a:lnB>
                    <a:noFill/>
                  </a:tcPr>
                </a:tc>
                <a:extLst>
                  <a:ext uri="{0D108BD9-81ED-4DB2-BD59-A6C34878D82A}">
                    <a16:rowId xmlns:a16="http://schemas.microsoft.com/office/drawing/2014/main" val="3668307976"/>
                  </a:ext>
                </a:extLst>
              </a:tr>
            </a:tbl>
          </a:graphicData>
        </a:graphic>
      </p:graphicFrame>
    </p:spTree>
    <p:extLst>
      <p:ext uri="{BB962C8B-B14F-4D97-AF65-F5344CB8AC3E}">
        <p14:creationId xmlns:p14="http://schemas.microsoft.com/office/powerpoint/2010/main" val="306285984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979A07-A7A5-B227-D344-E17C9358C6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2A1627D-1EA7-405A-DCC6-7A8F2B1AF273}"/>
              </a:ext>
            </a:extLst>
          </p:cNvPr>
          <p:cNvSpPr>
            <a:spLocks noGrp="1"/>
          </p:cNvSpPr>
          <p:nvPr>
            <p:ph type="ctrTitle"/>
          </p:nvPr>
        </p:nvSpPr>
        <p:spPr/>
        <p:txBody>
          <a:bodyPr/>
          <a:lstStyle/>
          <a:p>
            <a:r>
              <a:rPr lang="en-IN" dirty="0"/>
              <a:t>Unit 6</a:t>
            </a:r>
          </a:p>
        </p:txBody>
      </p:sp>
      <p:sp>
        <p:nvSpPr>
          <p:cNvPr id="3" name="Subtitle 2">
            <a:extLst>
              <a:ext uri="{FF2B5EF4-FFF2-40B4-BE49-F238E27FC236}">
                <a16:creationId xmlns:a16="http://schemas.microsoft.com/office/drawing/2014/main" id="{2CB4EF8D-EDE8-13C9-5539-AB712C6C8044}"/>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186867894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2C6B5D-ED1C-E649-8C89-F9B74EED154A}"/>
              </a:ext>
            </a:extLst>
          </p:cNvPr>
          <p:cNvSpPr>
            <a:spLocks noGrp="1"/>
          </p:cNvSpPr>
          <p:nvPr>
            <p:ph type="title"/>
          </p:nvPr>
        </p:nvSpPr>
        <p:spPr/>
        <p:txBody>
          <a:bodyPr/>
          <a:lstStyle/>
          <a:p>
            <a:r>
              <a:rPr lang="en-IN" dirty="0"/>
              <a:t>Motility of gut</a:t>
            </a:r>
          </a:p>
        </p:txBody>
      </p:sp>
      <p:sp>
        <p:nvSpPr>
          <p:cNvPr id="3" name="Content Placeholder 2">
            <a:extLst>
              <a:ext uri="{FF2B5EF4-FFF2-40B4-BE49-F238E27FC236}">
                <a16:creationId xmlns:a16="http://schemas.microsoft.com/office/drawing/2014/main" id="{D8DA1237-FEB6-824A-D65E-5C134763E09C}"/>
              </a:ext>
            </a:extLst>
          </p:cNvPr>
          <p:cNvSpPr>
            <a:spLocks noGrp="1"/>
          </p:cNvSpPr>
          <p:nvPr>
            <p:ph idx="1"/>
          </p:nvPr>
        </p:nvSpPr>
        <p:spPr/>
        <p:txBody>
          <a:bodyPr/>
          <a:lstStyle/>
          <a:p>
            <a:r>
              <a:rPr lang="en-IN" dirty="0"/>
              <a:t>Gastric motility</a:t>
            </a:r>
          </a:p>
          <a:p>
            <a:r>
              <a:rPr lang="en-IN" dirty="0"/>
              <a:t>Small intestine motility</a:t>
            </a:r>
          </a:p>
          <a:p>
            <a:r>
              <a:rPr lang="en-IN" dirty="0"/>
              <a:t>Large intestine motility</a:t>
            </a:r>
          </a:p>
        </p:txBody>
      </p:sp>
    </p:spTree>
    <p:extLst>
      <p:ext uri="{BB962C8B-B14F-4D97-AF65-F5344CB8AC3E}">
        <p14:creationId xmlns:p14="http://schemas.microsoft.com/office/powerpoint/2010/main" val="364048791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67CE66-9B9B-DD4F-A042-0DD0D435967B}"/>
              </a:ext>
            </a:extLst>
          </p:cNvPr>
          <p:cNvSpPr>
            <a:spLocks noGrp="1"/>
          </p:cNvSpPr>
          <p:nvPr>
            <p:ph type="title"/>
          </p:nvPr>
        </p:nvSpPr>
        <p:spPr/>
        <p:txBody>
          <a:bodyPr/>
          <a:lstStyle/>
          <a:p>
            <a:r>
              <a:rPr lang="en-IN" dirty="0"/>
              <a:t>Gastric motility</a:t>
            </a:r>
          </a:p>
        </p:txBody>
      </p:sp>
      <p:graphicFrame>
        <p:nvGraphicFramePr>
          <p:cNvPr id="4" name="Content Placeholder 3">
            <a:extLst>
              <a:ext uri="{FF2B5EF4-FFF2-40B4-BE49-F238E27FC236}">
                <a16:creationId xmlns:a16="http://schemas.microsoft.com/office/drawing/2014/main" id="{C72D2EE1-4F4D-A46E-D1D9-2654D1032DEB}"/>
              </a:ext>
            </a:extLst>
          </p:cNvPr>
          <p:cNvGraphicFramePr>
            <a:graphicFrameLocks noGrp="1"/>
          </p:cNvGraphicFramePr>
          <p:nvPr>
            <p:ph idx="1"/>
            <p:extLst>
              <p:ext uri="{D42A27DB-BD31-4B8C-83A1-F6EECF244321}">
                <p14:modId xmlns:p14="http://schemas.microsoft.com/office/powerpoint/2010/main" val="1155692035"/>
              </p:ext>
            </p:extLst>
          </p:nvPr>
        </p:nvGraphicFramePr>
        <p:xfrm>
          <a:off x="1066800" y="2240756"/>
          <a:ext cx="10058400" cy="3657600"/>
        </p:xfrm>
        <a:graphic>
          <a:graphicData uri="http://schemas.openxmlformats.org/drawingml/2006/table">
            <a:tbl>
              <a:tblPr/>
              <a:tblGrid>
                <a:gridCol w="3352800">
                  <a:extLst>
                    <a:ext uri="{9D8B030D-6E8A-4147-A177-3AD203B41FA5}">
                      <a16:colId xmlns:a16="http://schemas.microsoft.com/office/drawing/2014/main" val="3919681622"/>
                    </a:ext>
                  </a:extLst>
                </a:gridCol>
                <a:gridCol w="3352800">
                  <a:extLst>
                    <a:ext uri="{9D8B030D-6E8A-4147-A177-3AD203B41FA5}">
                      <a16:colId xmlns:a16="http://schemas.microsoft.com/office/drawing/2014/main" val="2085762975"/>
                    </a:ext>
                  </a:extLst>
                </a:gridCol>
                <a:gridCol w="3352800">
                  <a:extLst>
                    <a:ext uri="{9D8B030D-6E8A-4147-A177-3AD203B41FA5}">
                      <a16:colId xmlns:a16="http://schemas.microsoft.com/office/drawing/2014/main" val="2978726492"/>
                    </a:ext>
                  </a:extLst>
                </a:gridCol>
              </a:tblGrid>
              <a:tr h="0">
                <a:tc>
                  <a:txBody>
                    <a:bodyPr/>
                    <a:lstStyle/>
                    <a:p>
                      <a:pPr>
                        <a:buNone/>
                      </a:pPr>
                      <a:r>
                        <a:rPr lang="en-IN" b="1"/>
                        <a:t>Phase</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b="1"/>
                        <a:t>Description / Major Events</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b="1"/>
                        <a:t>Purpose</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44135935"/>
                  </a:ext>
                </a:extLst>
              </a:tr>
              <a:tr h="0">
                <a:tc>
                  <a:txBody>
                    <a:bodyPr/>
                    <a:lstStyle/>
                    <a:p>
                      <a:pPr>
                        <a:buNone/>
                      </a:pPr>
                      <a:r>
                        <a:rPr lang="en-IN" b="1"/>
                        <a:t>1. Receptive Relaxation</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t>Relaxation of fundus and upper body when food enters stomach (via vagovagal reflex)</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t>Allows </a:t>
                      </a:r>
                      <a:r>
                        <a:rPr lang="en-US" b="1"/>
                        <a:t>storage</a:t>
                      </a:r>
                      <a:r>
                        <a:rPr lang="en-US"/>
                        <a:t> of food without increase in pressure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6750952"/>
                  </a:ext>
                </a:extLst>
              </a:tr>
              <a:tr h="0">
                <a:tc>
                  <a:txBody>
                    <a:bodyPr/>
                    <a:lstStyle/>
                    <a:p>
                      <a:pPr>
                        <a:buNone/>
                      </a:pPr>
                      <a:r>
                        <a:rPr lang="en-IN" b="1"/>
                        <a:t>2. Mixing / Churning Contractions</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t>Strong peristaltic waves in antrum grind food and mix with gastric juice → </a:t>
                      </a:r>
                      <a:r>
                        <a:rPr lang="en-US" b="1"/>
                        <a:t>formation of chyme</a:t>
                      </a:r>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Mechanical &amp; chemical digestion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62064333"/>
                  </a:ext>
                </a:extLst>
              </a:tr>
              <a:tr h="0">
                <a:tc>
                  <a:txBody>
                    <a:bodyPr/>
                    <a:lstStyle/>
                    <a:p>
                      <a:pPr>
                        <a:buNone/>
                      </a:pPr>
                      <a:r>
                        <a:rPr lang="en-IN" b="1"/>
                        <a:t>3. Gastric Emptying</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t>Peristaltic contractions push chyme through pylorus to duodenum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dirty="0"/>
                        <a:t>Regulated release of chyme to small intestine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55422651"/>
                  </a:ext>
                </a:extLst>
              </a:tr>
            </a:tbl>
          </a:graphicData>
        </a:graphic>
      </p:graphicFrame>
    </p:spTree>
    <p:extLst>
      <p:ext uri="{BB962C8B-B14F-4D97-AF65-F5344CB8AC3E}">
        <p14:creationId xmlns:p14="http://schemas.microsoft.com/office/powerpoint/2010/main" val="296360628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B17EFB-9DAB-E1DE-B068-5DCAD2261187}"/>
              </a:ext>
            </a:extLst>
          </p:cNvPr>
          <p:cNvSpPr>
            <a:spLocks noGrp="1"/>
          </p:cNvSpPr>
          <p:nvPr>
            <p:ph type="title"/>
          </p:nvPr>
        </p:nvSpPr>
        <p:spPr/>
        <p:txBody>
          <a:bodyPr/>
          <a:lstStyle/>
          <a:p>
            <a:r>
              <a:rPr lang="en-IN" dirty="0"/>
              <a:t>movements of small intestine</a:t>
            </a:r>
          </a:p>
        </p:txBody>
      </p:sp>
      <p:graphicFrame>
        <p:nvGraphicFramePr>
          <p:cNvPr id="4" name="Content Placeholder 3">
            <a:extLst>
              <a:ext uri="{FF2B5EF4-FFF2-40B4-BE49-F238E27FC236}">
                <a16:creationId xmlns:a16="http://schemas.microsoft.com/office/drawing/2014/main" id="{2246944F-D5B2-D6F4-F2A3-845A46A86948}"/>
              </a:ext>
            </a:extLst>
          </p:cNvPr>
          <p:cNvGraphicFramePr>
            <a:graphicFrameLocks noGrp="1"/>
          </p:cNvGraphicFramePr>
          <p:nvPr>
            <p:ph idx="1"/>
            <p:extLst>
              <p:ext uri="{D42A27DB-BD31-4B8C-83A1-F6EECF244321}">
                <p14:modId xmlns:p14="http://schemas.microsoft.com/office/powerpoint/2010/main" val="1697003511"/>
              </p:ext>
            </p:extLst>
          </p:nvPr>
        </p:nvGraphicFramePr>
        <p:xfrm>
          <a:off x="1855353" y="2103438"/>
          <a:ext cx="8481294" cy="3932238"/>
        </p:xfrm>
        <a:graphic>
          <a:graphicData uri="http://schemas.openxmlformats.org/drawingml/2006/table">
            <a:tbl>
              <a:tblPr/>
              <a:tblGrid>
                <a:gridCol w="2827098">
                  <a:extLst>
                    <a:ext uri="{9D8B030D-6E8A-4147-A177-3AD203B41FA5}">
                      <a16:colId xmlns:a16="http://schemas.microsoft.com/office/drawing/2014/main" val="3468346870"/>
                    </a:ext>
                  </a:extLst>
                </a:gridCol>
                <a:gridCol w="2827098">
                  <a:extLst>
                    <a:ext uri="{9D8B030D-6E8A-4147-A177-3AD203B41FA5}">
                      <a16:colId xmlns:a16="http://schemas.microsoft.com/office/drawing/2014/main" val="1039043231"/>
                    </a:ext>
                  </a:extLst>
                </a:gridCol>
                <a:gridCol w="2827098">
                  <a:extLst>
                    <a:ext uri="{9D8B030D-6E8A-4147-A177-3AD203B41FA5}">
                      <a16:colId xmlns:a16="http://schemas.microsoft.com/office/drawing/2014/main" val="3519009260"/>
                    </a:ext>
                  </a:extLst>
                </a:gridCol>
              </a:tblGrid>
              <a:tr h="308411">
                <a:tc>
                  <a:txBody>
                    <a:bodyPr/>
                    <a:lstStyle/>
                    <a:p>
                      <a:pPr>
                        <a:buNone/>
                      </a:pPr>
                      <a:r>
                        <a:rPr lang="en-IN" sz="1500" b="1"/>
                        <a:t>Type of Movement</a:t>
                      </a:r>
                      <a:endParaRPr lang="en-IN" sz="1500"/>
                    </a:p>
                  </a:txBody>
                  <a:tcPr marL="77103" marR="77103" marT="38551" marB="3855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500" b="1"/>
                        <a:t>Description</a:t>
                      </a:r>
                      <a:endParaRPr lang="en-IN" sz="1500"/>
                    </a:p>
                  </a:txBody>
                  <a:tcPr marL="77103" marR="77103" marT="38551" marB="3855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500" b="1"/>
                        <a:t>Purpose</a:t>
                      </a:r>
                      <a:endParaRPr lang="en-IN" sz="1500"/>
                    </a:p>
                  </a:txBody>
                  <a:tcPr marL="77103" marR="77103" marT="38551" marB="3855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43880737"/>
                  </a:ext>
                </a:extLst>
              </a:tr>
              <a:tr h="771027">
                <a:tc>
                  <a:txBody>
                    <a:bodyPr/>
                    <a:lstStyle/>
                    <a:p>
                      <a:pPr>
                        <a:buNone/>
                      </a:pPr>
                      <a:r>
                        <a:rPr lang="en-IN" sz="1500" b="1"/>
                        <a:t>1. Segmental Contractions (Mixing movements)</a:t>
                      </a:r>
                      <a:endParaRPr lang="en-IN" sz="1500"/>
                    </a:p>
                  </a:txBody>
                  <a:tcPr marL="77103" marR="77103" marT="38551" marB="3855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500"/>
                        <a:t>Rhythmic contraction of circular muscles forming segments</a:t>
                      </a:r>
                    </a:p>
                  </a:txBody>
                  <a:tcPr marL="77103" marR="77103" marT="38551" marB="3855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500"/>
                        <a:t>Mixes chyme with enzymes &amp; brings nutrients in contact with mucosa for absorption</a:t>
                      </a:r>
                    </a:p>
                  </a:txBody>
                  <a:tcPr marL="77103" marR="77103" marT="38551" marB="3855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28285407"/>
                  </a:ext>
                </a:extLst>
              </a:tr>
              <a:tr h="771027">
                <a:tc>
                  <a:txBody>
                    <a:bodyPr/>
                    <a:lstStyle/>
                    <a:p>
                      <a:pPr>
                        <a:buNone/>
                      </a:pPr>
                      <a:r>
                        <a:rPr lang="en-US" sz="1500" b="1"/>
                        <a:t>2. Peristaltic Movements (Propulsive movements)</a:t>
                      </a:r>
                      <a:endParaRPr lang="en-US" sz="1500"/>
                    </a:p>
                  </a:txBody>
                  <a:tcPr marL="77103" marR="77103" marT="38551" marB="3855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500"/>
                        <a:t>Successive waves of contraction pushing chyme forward</a:t>
                      </a:r>
                    </a:p>
                  </a:txBody>
                  <a:tcPr marL="77103" marR="77103" marT="38551" marB="3855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500"/>
                        <a:t>Propel chyme toward ileocecal valve</a:t>
                      </a:r>
                    </a:p>
                  </a:txBody>
                  <a:tcPr marL="77103" marR="77103" marT="38551" marB="3855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40123902"/>
                  </a:ext>
                </a:extLst>
              </a:tr>
              <a:tr h="771027">
                <a:tc>
                  <a:txBody>
                    <a:bodyPr/>
                    <a:lstStyle/>
                    <a:p>
                      <a:pPr>
                        <a:buNone/>
                      </a:pPr>
                      <a:r>
                        <a:rPr lang="en-IN" sz="1500" b="1"/>
                        <a:t>3. Pendular Movements</a:t>
                      </a:r>
                      <a:endParaRPr lang="en-IN" sz="1500"/>
                    </a:p>
                  </a:txBody>
                  <a:tcPr marL="77103" marR="77103" marT="38551" marB="3855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500"/>
                        <a:t>To-and-fro swinging of small intestine due to longitudinal muscle contraction</a:t>
                      </a:r>
                    </a:p>
                  </a:txBody>
                  <a:tcPr marL="77103" marR="77103" marT="38551" marB="3855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500"/>
                        <a:t>Improves mixing &amp; exposure to mucosal surface</a:t>
                      </a:r>
                    </a:p>
                  </a:txBody>
                  <a:tcPr marL="77103" marR="77103" marT="38551" marB="3855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28215806"/>
                  </a:ext>
                </a:extLst>
              </a:tr>
              <a:tr h="539719">
                <a:tc>
                  <a:txBody>
                    <a:bodyPr/>
                    <a:lstStyle/>
                    <a:p>
                      <a:pPr>
                        <a:buNone/>
                      </a:pPr>
                      <a:r>
                        <a:rPr lang="en-IN" sz="1500" b="1"/>
                        <a:t>4. Tonic Contractions</a:t>
                      </a:r>
                      <a:endParaRPr lang="en-IN" sz="1500"/>
                    </a:p>
                  </a:txBody>
                  <a:tcPr marL="77103" marR="77103" marT="38551" marB="3855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500"/>
                        <a:t>Sustained contractions of isolated small segments</a:t>
                      </a:r>
                    </a:p>
                  </a:txBody>
                  <a:tcPr marL="77103" marR="77103" marT="38551" marB="3855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500"/>
                        <a:t>Slow chyme movement; allows prolonged absorption</a:t>
                      </a:r>
                    </a:p>
                  </a:txBody>
                  <a:tcPr marL="77103" marR="77103" marT="38551" marB="3855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49555442"/>
                  </a:ext>
                </a:extLst>
              </a:tr>
              <a:tr h="771027">
                <a:tc>
                  <a:txBody>
                    <a:bodyPr/>
                    <a:lstStyle/>
                    <a:p>
                      <a:pPr>
                        <a:buNone/>
                      </a:pPr>
                      <a:r>
                        <a:rPr lang="en-IN" sz="1500" b="1"/>
                        <a:t>5. Migrating Motor Complex (MMC)</a:t>
                      </a:r>
                      <a:endParaRPr lang="en-IN" sz="1500"/>
                    </a:p>
                  </a:txBody>
                  <a:tcPr marL="77103" marR="77103" marT="38551" marB="3855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500"/>
                        <a:t>Strong peristaltic waves during </a:t>
                      </a:r>
                      <a:r>
                        <a:rPr lang="en-IN" sz="1500" b="1"/>
                        <a:t>fasting</a:t>
                      </a:r>
                      <a:r>
                        <a:rPr lang="en-IN" sz="1500"/>
                        <a:t> at 90–120 min intervals</a:t>
                      </a:r>
                    </a:p>
                  </a:txBody>
                  <a:tcPr marL="77103" marR="77103" marT="38551" marB="3855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500" dirty="0"/>
                        <a:t>Clears residual food &amp; bacteria (“intestinal housekeeper”)</a:t>
                      </a:r>
                    </a:p>
                  </a:txBody>
                  <a:tcPr marL="77103" marR="77103" marT="38551" marB="3855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70681529"/>
                  </a:ext>
                </a:extLst>
              </a:tr>
            </a:tbl>
          </a:graphicData>
        </a:graphic>
      </p:graphicFrame>
    </p:spTree>
    <p:extLst>
      <p:ext uri="{BB962C8B-B14F-4D97-AF65-F5344CB8AC3E}">
        <p14:creationId xmlns:p14="http://schemas.microsoft.com/office/powerpoint/2010/main" val="126807316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27C014-83EF-797A-2BFA-C4430DB1E444}"/>
              </a:ext>
            </a:extLst>
          </p:cNvPr>
          <p:cNvSpPr>
            <a:spLocks noGrp="1"/>
          </p:cNvSpPr>
          <p:nvPr>
            <p:ph type="title"/>
          </p:nvPr>
        </p:nvSpPr>
        <p:spPr>
          <a:xfrm>
            <a:off x="1066800" y="731520"/>
            <a:ext cx="10058400" cy="1371600"/>
          </a:xfrm>
        </p:spPr>
        <p:txBody>
          <a:bodyPr/>
          <a:lstStyle/>
          <a:p>
            <a:r>
              <a:rPr lang="en-IN" dirty="0"/>
              <a:t>movements of large intestine</a:t>
            </a:r>
          </a:p>
        </p:txBody>
      </p:sp>
      <p:graphicFrame>
        <p:nvGraphicFramePr>
          <p:cNvPr id="4" name="Content Placeholder 3">
            <a:extLst>
              <a:ext uri="{FF2B5EF4-FFF2-40B4-BE49-F238E27FC236}">
                <a16:creationId xmlns:a16="http://schemas.microsoft.com/office/drawing/2014/main" id="{990A87CF-AC16-0CB1-61E5-060B854EF931}"/>
              </a:ext>
            </a:extLst>
          </p:cNvPr>
          <p:cNvGraphicFramePr>
            <a:graphicFrameLocks noGrp="1"/>
          </p:cNvGraphicFramePr>
          <p:nvPr>
            <p:ph idx="1"/>
            <p:extLst>
              <p:ext uri="{D42A27DB-BD31-4B8C-83A1-F6EECF244321}">
                <p14:modId xmlns:p14="http://schemas.microsoft.com/office/powerpoint/2010/main" val="2832289450"/>
              </p:ext>
            </p:extLst>
          </p:nvPr>
        </p:nvGraphicFramePr>
        <p:xfrm>
          <a:off x="2491449" y="1990803"/>
          <a:ext cx="7209102" cy="4157508"/>
        </p:xfrm>
        <a:graphic>
          <a:graphicData uri="http://schemas.openxmlformats.org/drawingml/2006/table">
            <a:tbl>
              <a:tblPr/>
              <a:tblGrid>
                <a:gridCol w="2403034">
                  <a:extLst>
                    <a:ext uri="{9D8B030D-6E8A-4147-A177-3AD203B41FA5}">
                      <a16:colId xmlns:a16="http://schemas.microsoft.com/office/drawing/2014/main" val="1951776086"/>
                    </a:ext>
                  </a:extLst>
                </a:gridCol>
                <a:gridCol w="2403034">
                  <a:extLst>
                    <a:ext uri="{9D8B030D-6E8A-4147-A177-3AD203B41FA5}">
                      <a16:colId xmlns:a16="http://schemas.microsoft.com/office/drawing/2014/main" val="3703410023"/>
                    </a:ext>
                  </a:extLst>
                </a:gridCol>
                <a:gridCol w="2403034">
                  <a:extLst>
                    <a:ext uri="{9D8B030D-6E8A-4147-A177-3AD203B41FA5}">
                      <a16:colId xmlns:a16="http://schemas.microsoft.com/office/drawing/2014/main" val="813593093"/>
                    </a:ext>
                  </a:extLst>
                </a:gridCol>
              </a:tblGrid>
              <a:tr h="262149">
                <a:tc>
                  <a:txBody>
                    <a:bodyPr/>
                    <a:lstStyle/>
                    <a:p>
                      <a:pPr>
                        <a:buNone/>
                      </a:pPr>
                      <a:r>
                        <a:rPr lang="en-IN" sz="1300" b="1"/>
                        <a:t>Movement Type</a:t>
                      </a:r>
                      <a:endParaRPr lang="en-IN" sz="1300"/>
                    </a:p>
                  </a:txBody>
                  <a:tcPr marL="65537" marR="65537" marT="32769" marB="327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300" b="1"/>
                        <a:t>Description</a:t>
                      </a:r>
                      <a:endParaRPr lang="en-IN" sz="1300"/>
                    </a:p>
                  </a:txBody>
                  <a:tcPr marL="65537" marR="65537" marT="32769" marB="327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300" b="1"/>
                        <a:t>Function</a:t>
                      </a:r>
                      <a:endParaRPr lang="en-IN" sz="1300"/>
                    </a:p>
                  </a:txBody>
                  <a:tcPr marL="65537" marR="65537" marT="32769" marB="327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5929063"/>
                  </a:ext>
                </a:extLst>
              </a:tr>
              <a:tr h="851985">
                <a:tc>
                  <a:txBody>
                    <a:bodyPr/>
                    <a:lstStyle/>
                    <a:p>
                      <a:pPr>
                        <a:buNone/>
                      </a:pPr>
                      <a:r>
                        <a:rPr lang="en-IN" sz="1300" b="1"/>
                        <a:t>1. Haustral Contractions (Segmental movements)</a:t>
                      </a:r>
                      <a:endParaRPr lang="en-IN" sz="1300"/>
                    </a:p>
                  </a:txBody>
                  <a:tcPr marL="65537" marR="65537" marT="32769" marB="327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300"/>
                        <a:t>Localized rhythmic contractions of circular muscle forming haustra (sac-like bulges)</a:t>
                      </a:r>
                    </a:p>
                  </a:txBody>
                  <a:tcPr marL="65537" marR="65537" marT="32769" marB="327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300"/>
                        <a:t>Mixing of chyme &amp; absorption of water and electrolytes</a:t>
                      </a:r>
                    </a:p>
                  </a:txBody>
                  <a:tcPr marL="65537" marR="65537" marT="32769" marB="327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02584065"/>
                  </a:ext>
                </a:extLst>
              </a:tr>
              <a:tr h="655373">
                <a:tc>
                  <a:txBody>
                    <a:bodyPr/>
                    <a:lstStyle/>
                    <a:p>
                      <a:pPr>
                        <a:buNone/>
                      </a:pPr>
                      <a:r>
                        <a:rPr lang="en-IN" sz="1300" b="1"/>
                        <a:t>2. Peristaltic Movements</a:t>
                      </a:r>
                      <a:endParaRPr lang="en-IN" sz="1300"/>
                    </a:p>
                  </a:txBody>
                  <a:tcPr marL="65537" marR="65537" marT="32769" marB="327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300"/>
                        <a:t>Weak peristaltic waves that slowly push contents forward</a:t>
                      </a:r>
                    </a:p>
                  </a:txBody>
                  <a:tcPr marL="65537" marR="65537" marT="32769" marB="327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300"/>
                        <a:t>Slow propulsion of fecal material</a:t>
                      </a:r>
                    </a:p>
                  </a:txBody>
                  <a:tcPr marL="65537" marR="65537" marT="32769" marB="327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75991136"/>
                  </a:ext>
                </a:extLst>
              </a:tr>
              <a:tr h="458761">
                <a:tc>
                  <a:txBody>
                    <a:bodyPr/>
                    <a:lstStyle/>
                    <a:p>
                      <a:pPr>
                        <a:buNone/>
                      </a:pPr>
                      <a:r>
                        <a:rPr lang="en-IN" sz="1300" b="1"/>
                        <a:t>3. Anti-peristaltic Movements</a:t>
                      </a:r>
                      <a:endParaRPr lang="en-IN" sz="1300"/>
                    </a:p>
                  </a:txBody>
                  <a:tcPr marL="65537" marR="65537" marT="32769" marB="327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300"/>
                        <a:t>Reverse peristalsis (mainly in proximal colon)</a:t>
                      </a:r>
                    </a:p>
                  </a:txBody>
                  <a:tcPr marL="65537" marR="65537" marT="32769" marB="327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300"/>
                        <a:t>Delays passage of chyme to allow maximum absorption</a:t>
                      </a:r>
                    </a:p>
                  </a:txBody>
                  <a:tcPr marL="65537" marR="65537" marT="32769" marB="327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94893249"/>
                  </a:ext>
                </a:extLst>
              </a:tr>
              <a:tr h="851985">
                <a:tc>
                  <a:txBody>
                    <a:bodyPr/>
                    <a:lstStyle/>
                    <a:p>
                      <a:pPr>
                        <a:buNone/>
                      </a:pPr>
                      <a:r>
                        <a:rPr lang="en-US" sz="1300" b="1"/>
                        <a:t>4. Mass Peristalsis / Mass Movements</a:t>
                      </a:r>
                      <a:endParaRPr lang="en-US" sz="1300"/>
                    </a:p>
                  </a:txBody>
                  <a:tcPr marL="65537" marR="65537" marT="32769" marB="327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300"/>
                        <a:t>Powerful, long peristaltic waves moving large volumes toward rectum (few times/day)</a:t>
                      </a:r>
                    </a:p>
                  </a:txBody>
                  <a:tcPr marL="65537" marR="65537" marT="32769" marB="327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300"/>
                        <a:t>Drives feces into rectum → initiates defecation reflex</a:t>
                      </a:r>
                    </a:p>
                  </a:txBody>
                  <a:tcPr marL="65537" marR="65537" marT="32769" marB="327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43019597"/>
                  </a:ext>
                </a:extLst>
              </a:tr>
              <a:tr h="851985">
                <a:tc>
                  <a:txBody>
                    <a:bodyPr/>
                    <a:lstStyle/>
                    <a:p>
                      <a:pPr>
                        <a:buNone/>
                      </a:pPr>
                      <a:r>
                        <a:rPr lang="en-IN" sz="1300" b="1"/>
                        <a:t>5. Tonic Contractions</a:t>
                      </a:r>
                      <a:endParaRPr lang="en-IN" sz="1300"/>
                    </a:p>
                  </a:txBody>
                  <a:tcPr marL="65537" marR="65537" marT="32769" marB="327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300"/>
                        <a:t>Sustained muscle contractions in some regions (especially sphincters)</a:t>
                      </a:r>
                    </a:p>
                  </a:txBody>
                  <a:tcPr marL="65537" marR="65537" marT="32769" marB="327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300" dirty="0"/>
                        <a:t>Maintains compartmentalization &amp; prevents premature emptying</a:t>
                      </a:r>
                    </a:p>
                  </a:txBody>
                  <a:tcPr marL="65537" marR="65537" marT="32769" marB="327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31503229"/>
                  </a:ext>
                </a:extLst>
              </a:tr>
            </a:tbl>
          </a:graphicData>
        </a:graphic>
      </p:graphicFrame>
    </p:spTree>
    <p:extLst>
      <p:ext uri="{BB962C8B-B14F-4D97-AF65-F5344CB8AC3E}">
        <p14:creationId xmlns:p14="http://schemas.microsoft.com/office/powerpoint/2010/main" val="342986197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B1A693-FC4D-8E27-B9CC-C5E712A39F5B}"/>
              </a:ext>
            </a:extLst>
          </p:cNvPr>
          <p:cNvSpPr>
            <a:spLocks noGrp="1"/>
          </p:cNvSpPr>
          <p:nvPr>
            <p:ph type="title"/>
          </p:nvPr>
        </p:nvSpPr>
        <p:spPr/>
        <p:txBody>
          <a:bodyPr/>
          <a:lstStyle/>
          <a:p>
            <a:r>
              <a:rPr lang="en-IN" dirty="0"/>
              <a:t>defecation reflex</a:t>
            </a:r>
          </a:p>
        </p:txBody>
      </p:sp>
      <p:sp>
        <p:nvSpPr>
          <p:cNvPr id="3" name="Content Placeholder 2">
            <a:extLst>
              <a:ext uri="{FF2B5EF4-FFF2-40B4-BE49-F238E27FC236}">
                <a16:creationId xmlns:a16="http://schemas.microsoft.com/office/drawing/2014/main" id="{779D58CD-2AB3-7F17-4D25-8465FC86CE82}"/>
              </a:ext>
            </a:extLst>
          </p:cNvPr>
          <p:cNvSpPr>
            <a:spLocks noGrp="1"/>
          </p:cNvSpPr>
          <p:nvPr>
            <p:ph idx="1"/>
          </p:nvPr>
        </p:nvSpPr>
        <p:spPr>
          <a:xfrm>
            <a:off x="1066800" y="2103120"/>
            <a:ext cx="2550160" cy="3931920"/>
          </a:xfrm>
        </p:spPr>
        <p:txBody>
          <a:bodyPr>
            <a:normAutofit lnSpcReduction="10000"/>
          </a:bodyPr>
          <a:lstStyle/>
          <a:p>
            <a:r>
              <a:rPr lang="en-US" dirty="0"/>
              <a:t>Defecation reflex is a </a:t>
            </a:r>
            <a:r>
              <a:rPr lang="en-US" b="1" dirty="0"/>
              <a:t>spinal reflex</a:t>
            </a:r>
            <a:r>
              <a:rPr lang="en-US" dirty="0"/>
              <a:t> that controls the </a:t>
            </a:r>
            <a:r>
              <a:rPr lang="en-US" b="1" dirty="0"/>
              <a:t>elimination of feces from the rectum through the anus</a:t>
            </a:r>
            <a:r>
              <a:rPr lang="en-US" dirty="0"/>
              <a:t> when the rectum becomes filled.</a:t>
            </a:r>
          </a:p>
          <a:p>
            <a:r>
              <a:rPr lang="en-US" dirty="0"/>
              <a:t>It involves </a:t>
            </a:r>
            <a:r>
              <a:rPr lang="en-US" b="1" dirty="0"/>
              <a:t>coordinated contraction of smooth muscles &amp; relaxation of sphincters</a:t>
            </a:r>
            <a:r>
              <a:rPr lang="en-US" dirty="0"/>
              <a:t>.</a:t>
            </a:r>
          </a:p>
          <a:p>
            <a:endParaRPr lang="en-IN" dirty="0"/>
          </a:p>
        </p:txBody>
      </p:sp>
      <p:graphicFrame>
        <p:nvGraphicFramePr>
          <p:cNvPr id="4" name="Table 3">
            <a:extLst>
              <a:ext uri="{FF2B5EF4-FFF2-40B4-BE49-F238E27FC236}">
                <a16:creationId xmlns:a16="http://schemas.microsoft.com/office/drawing/2014/main" id="{F0D07AED-6730-3B1E-7957-562B4645E0C9}"/>
              </a:ext>
            </a:extLst>
          </p:cNvPr>
          <p:cNvGraphicFramePr>
            <a:graphicFrameLocks noGrp="1"/>
          </p:cNvGraphicFramePr>
          <p:nvPr>
            <p:extLst>
              <p:ext uri="{D42A27DB-BD31-4B8C-83A1-F6EECF244321}">
                <p14:modId xmlns:p14="http://schemas.microsoft.com/office/powerpoint/2010/main" val="2922139009"/>
              </p:ext>
            </p:extLst>
          </p:nvPr>
        </p:nvGraphicFramePr>
        <p:xfrm>
          <a:off x="3616960" y="1916041"/>
          <a:ext cx="8161246" cy="4022552"/>
        </p:xfrm>
        <a:graphic>
          <a:graphicData uri="http://schemas.openxmlformats.org/drawingml/2006/table">
            <a:tbl>
              <a:tblPr/>
              <a:tblGrid>
                <a:gridCol w="4080623">
                  <a:extLst>
                    <a:ext uri="{9D8B030D-6E8A-4147-A177-3AD203B41FA5}">
                      <a16:colId xmlns:a16="http://schemas.microsoft.com/office/drawing/2014/main" val="735575577"/>
                    </a:ext>
                  </a:extLst>
                </a:gridCol>
                <a:gridCol w="4080623">
                  <a:extLst>
                    <a:ext uri="{9D8B030D-6E8A-4147-A177-3AD203B41FA5}">
                      <a16:colId xmlns:a16="http://schemas.microsoft.com/office/drawing/2014/main" val="1091143441"/>
                    </a:ext>
                  </a:extLst>
                </a:gridCol>
              </a:tblGrid>
              <a:tr h="296773">
                <a:tc>
                  <a:txBody>
                    <a:bodyPr/>
                    <a:lstStyle/>
                    <a:p>
                      <a:pPr>
                        <a:buNone/>
                      </a:pPr>
                      <a:r>
                        <a:rPr lang="en-IN" sz="1500" b="1"/>
                        <a:t>Step</a:t>
                      </a:r>
                      <a:endParaRPr lang="en-IN" sz="1500"/>
                    </a:p>
                  </a:txBody>
                  <a:tcPr marL="74193" marR="74193" marT="37097" marB="37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500" b="1"/>
                        <a:t>Process</a:t>
                      </a:r>
                      <a:endParaRPr lang="en-IN" sz="1500"/>
                    </a:p>
                  </a:txBody>
                  <a:tcPr marL="74193" marR="74193" marT="37097" marB="37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45820085"/>
                  </a:ext>
                </a:extLst>
              </a:tr>
              <a:tr h="519352">
                <a:tc>
                  <a:txBody>
                    <a:bodyPr/>
                    <a:lstStyle/>
                    <a:p>
                      <a:pPr>
                        <a:buNone/>
                      </a:pPr>
                      <a:r>
                        <a:rPr lang="en-IN" sz="1500" b="1"/>
                        <a:t>1. Filling of rectum</a:t>
                      </a:r>
                      <a:endParaRPr lang="en-IN" sz="1500"/>
                    </a:p>
                  </a:txBody>
                  <a:tcPr marL="74193" marR="74193" marT="37097" marB="37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500"/>
                        <a:t>Feces enter the rectum due to mass peristalsis of colon</a:t>
                      </a:r>
                    </a:p>
                  </a:txBody>
                  <a:tcPr marL="74193" marR="74193" marT="37097" marB="37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39946654"/>
                  </a:ext>
                </a:extLst>
              </a:tr>
              <a:tr h="519352">
                <a:tc>
                  <a:txBody>
                    <a:bodyPr/>
                    <a:lstStyle/>
                    <a:p>
                      <a:pPr>
                        <a:buNone/>
                      </a:pPr>
                      <a:r>
                        <a:rPr lang="en-IN" sz="1500" b="1"/>
                        <a:t>2. Stretch receptors activated</a:t>
                      </a:r>
                      <a:endParaRPr lang="en-IN" sz="1500"/>
                    </a:p>
                  </a:txBody>
                  <a:tcPr marL="74193" marR="74193" marT="37097" marB="37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500"/>
                        <a:t>Distension of rectal wall → stimulates stretch receptors</a:t>
                      </a:r>
                    </a:p>
                  </a:txBody>
                  <a:tcPr marL="74193" marR="74193" marT="37097" marB="37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94723947"/>
                  </a:ext>
                </a:extLst>
              </a:tr>
              <a:tr h="519352">
                <a:tc>
                  <a:txBody>
                    <a:bodyPr/>
                    <a:lstStyle/>
                    <a:p>
                      <a:pPr>
                        <a:buNone/>
                      </a:pPr>
                      <a:r>
                        <a:rPr lang="en-IN" sz="1500" b="1"/>
                        <a:t>3. Afferent impulses to spinal cord</a:t>
                      </a:r>
                      <a:endParaRPr lang="en-IN" sz="1500"/>
                    </a:p>
                  </a:txBody>
                  <a:tcPr marL="74193" marR="74193" marT="37097" marB="37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500"/>
                        <a:t>Sensory signals travel to </a:t>
                      </a:r>
                      <a:r>
                        <a:rPr lang="en-US" sz="1500" b="1"/>
                        <a:t>sacral spinal segments (S2–S4)</a:t>
                      </a:r>
                      <a:endParaRPr lang="en-US" sz="1500"/>
                    </a:p>
                  </a:txBody>
                  <a:tcPr marL="74193" marR="74193" marT="37097" marB="37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27276992"/>
                  </a:ext>
                </a:extLst>
              </a:tr>
              <a:tr h="519352">
                <a:tc>
                  <a:txBody>
                    <a:bodyPr/>
                    <a:lstStyle/>
                    <a:p>
                      <a:pPr>
                        <a:buNone/>
                      </a:pPr>
                      <a:r>
                        <a:rPr lang="en-IN" sz="1500" b="1"/>
                        <a:t>4. Parasympathetic efferents activated</a:t>
                      </a:r>
                      <a:endParaRPr lang="en-IN" sz="1500"/>
                    </a:p>
                  </a:txBody>
                  <a:tcPr marL="74193" marR="74193" marT="37097" marB="37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500"/>
                        <a:t>Pelvic nerves send signals to rectum and internal anal sphincter</a:t>
                      </a:r>
                    </a:p>
                  </a:txBody>
                  <a:tcPr marL="74193" marR="74193" marT="37097" marB="37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49105338"/>
                  </a:ext>
                </a:extLst>
              </a:tr>
              <a:tr h="519352">
                <a:tc>
                  <a:txBody>
                    <a:bodyPr/>
                    <a:lstStyle/>
                    <a:p>
                      <a:pPr>
                        <a:buNone/>
                      </a:pPr>
                      <a:r>
                        <a:rPr lang="en-IN" sz="1500" b="1"/>
                        <a:t>5. Contraction and relaxation</a:t>
                      </a:r>
                      <a:endParaRPr lang="en-IN" sz="1500"/>
                    </a:p>
                  </a:txBody>
                  <a:tcPr marL="74193" marR="74193" marT="37097" marB="37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500"/>
                        <a:t>Rectum contracts; </a:t>
                      </a:r>
                      <a:r>
                        <a:rPr lang="en-IN" sz="1500" b="1"/>
                        <a:t>internal anal sphincter relaxes</a:t>
                      </a:r>
                      <a:endParaRPr lang="en-IN" sz="1500"/>
                    </a:p>
                  </a:txBody>
                  <a:tcPr marL="74193" marR="74193" marT="37097" marB="37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16674798"/>
                  </a:ext>
                </a:extLst>
              </a:tr>
              <a:tr h="519352">
                <a:tc>
                  <a:txBody>
                    <a:bodyPr/>
                    <a:lstStyle/>
                    <a:p>
                      <a:pPr>
                        <a:buNone/>
                      </a:pPr>
                      <a:r>
                        <a:rPr lang="en-IN" sz="1500" b="1"/>
                        <a:t>6. Conscious control</a:t>
                      </a:r>
                      <a:endParaRPr lang="en-IN" sz="1500"/>
                    </a:p>
                  </a:txBody>
                  <a:tcPr marL="74193" marR="74193" marT="37097" marB="37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500"/>
                        <a:t>External anal sphincter (skeletal muscle) voluntarily relaxed → defecation occurs</a:t>
                      </a:r>
                    </a:p>
                  </a:txBody>
                  <a:tcPr marL="74193" marR="74193" marT="37097" marB="37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82870660"/>
                  </a:ext>
                </a:extLst>
              </a:tr>
              <a:tr h="519352">
                <a:tc>
                  <a:txBody>
                    <a:bodyPr/>
                    <a:lstStyle/>
                    <a:p>
                      <a:pPr>
                        <a:buNone/>
                      </a:pPr>
                      <a:r>
                        <a:rPr lang="en-US" sz="1500" b="1"/>
                        <a:t>If not convenient to defecate</a:t>
                      </a:r>
                      <a:endParaRPr lang="en-US" sz="1500"/>
                    </a:p>
                  </a:txBody>
                  <a:tcPr marL="74193" marR="74193" marT="37097" marB="37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500" dirty="0"/>
                        <a:t>External anal sphincter contracts voluntarily → reflex temporarily inhibited</a:t>
                      </a:r>
                    </a:p>
                  </a:txBody>
                  <a:tcPr marL="74193" marR="74193" marT="37097" marB="370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60606372"/>
                  </a:ext>
                </a:extLst>
              </a:tr>
            </a:tbl>
          </a:graphicData>
        </a:graphic>
      </p:graphicFrame>
    </p:spTree>
    <p:extLst>
      <p:ext uri="{BB962C8B-B14F-4D97-AF65-F5344CB8AC3E}">
        <p14:creationId xmlns:p14="http://schemas.microsoft.com/office/powerpoint/2010/main" val="257663896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C07A8A-0BA3-0CCF-ACDC-645040BF0577}"/>
              </a:ext>
            </a:extLst>
          </p:cNvPr>
          <p:cNvSpPr>
            <a:spLocks noGrp="1"/>
          </p:cNvSpPr>
          <p:nvPr>
            <p:ph type="title"/>
          </p:nvPr>
        </p:nvSpPr>
        <p:spPr/>
        <p:txBody>
          <a:bodyPr/>
          <a:lstStyle/>
          <a:p>
            <a:r>
              <a:rPr lang="en-IN" dirty="0"/>
              <a:t>Applied aspect</a:t>
            </a:r>
          </a:p>
        </p:txBody>
      </p:sp>
      <p:sp>
        <p:nvSpPr>
          <p:cNvPr id="3" name="Content Placeholder 2">
            <a:extLst>
              <a:ext uri="{FF2B5EF4-FFF2-40B4-BE49-F238E27FC236}">
                <a16:creationId xmlns:a16="http://schemas.microsoft.com/office/drawing/2014/main" id="{43CDBA54-AB09-669A-BC14-83CF5BF453EE}"/>
              </a:ext>
            </a:extLst>
          </p:cNvPr>
          <p:cNvSpPr>
            <a:spLocks noGrp="1"/>
          </p:cNvSpPr>
          <p:nvPr>
            <p:ph idx="1"/>
          </p:nvPr>
        </p:nvSpPr>
        <p:spPr/>
        <p:txBody>
          <a:bodyPr/>
          <a:lstStyle/>
          <a:p>
            <a:r>
              <a:rPr lang="en-US" dirty="0"/>
              <a:t>Adynamic ileus is reflex inhibition of movement of intestines after surgery due to trauma to peritoneum or intestines. Intestinal obstruction can occur due to mechanical obstruction leading to distension of the proximal segment which may occlude the blood vessels causing local ischemia. Peristaltic rush is powerful peristaltic contraction which occurs due to excessive irritation as in diarrhea. Hirschsprung disease is congenital absence of ganglion cells (</a:t>
            </a:r>
            <a:r>
              <a:rPr lang="en-US" dirty="0" err="1"/>
              <a:t>aganglionic</a:t>
            </a:r>
            <a:r>
              <a:rPr lang="en-US" dirty="0"/>
              <a:t> megacolon) which occurs in children who will defecate once in three weeks. </a:t>
            </a:r>
            <a:endParaRPr lang="en-IN" dirty="0"/>
          </a:p>
        </p:txBody>
      </p:sp>
    </p:spTree>
    <p:extLst>
      <p:ext uri="{BB962C8B-B14F-4D97-AF65-F5344CB8AC3E}">
        <p14:creationId xmlns:p14="http://schemas.microsoft.com/office/powerpoint/2010/main" val="23147451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ABEDF0-731C-BE56-0EF8-4AC64099C9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84B89F-C7D9-8185-CC17-514F0D63B659}"/>
              </a:ext>
            </a:extLst>
          </p:cNvPr>
          <p:cNvSpPr>
            <a:spLocks noGrp="1"/>
          </p:cNvSpPr>
          <p:nvPr>
            <p:ph type="ctrTitle"/>
          </p:nvPr>
        </p:nvSpPr>
        <p:spPr/>
        <p:txBody>
          <a:bodyPr/>
          <a:lstStyle/>
          <a:p>
            <a:r>
              <a:rPr lang="en-IN" dirty="0"/>
              <a:t>Unit 7</a:t>
            </a:r>
          </a:p>
        </p:txBody>
      </p:sp>
      <p:sp>
        <p:nvSpPr>
          <p:cNvPr id="3" name="Subtitle 2">
            <a:extLst>
              <a:ext uri="{FF2B5EF4-FFF2-40B4-BE49-F238E27FC236}">
                <a16:creationId xmlns:a16="http://schemas.microsoft.com/office/drawing/2014/main" id="{28CAB609-7DE0-504C-C9EB-27AF578A468A}"/>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319581857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DF7AEA-767B-3AA5-47A9-5FA0835344FF}"/>
              </a:ext>
            </a:extLst>
          </p:cNvPr>
          <p:cNvSpPr>
            <a:spLocks noGrp="1"/>
          </p:cNvSpPr>
          <p:nvPr>
            <p:ph type="title"/>
          </p:nvPr>
        </p:nvSpPr>
        <p:spPr/>
        <p:txBody>
          <a:bodyPr/>
          <a:lstStyle/>
          <a:p>
            <a:r>
              <a:rPr lang="en-IN" dirty="0"/>
              <a:t>Gi hormones</a:t>
            </a:r>
          </a:p>
        </p:txBody>
      </p:sp>
      <p:pic>
        <p:nvPicPr>
          <p:cNvPr id="5" name="Content Placeholder 4">
            <a:extLst>
              <a:ext uri="{FF2B5EF4-FFF2-40B4-BE49-F238E27FC236}">
                <a16:creationId xmlns:a16="http://schemas.microsoft.com/office/drawing/2014/main" id="{089FC7D9-FB6A-931B-2EF7-2D1AC208AA1C}"/>
              </a:ext>
            </a:extLst>
          </p:cNvPr>
          <p:cNvPicPr>
            <a:picLocks noGrp="1" noChangeAspect="1"/>
          </p:cNvPicPr>
          <p:nvPr>
            <p:ph idx="1"/>
          </p:nvPr>
        </p:nvPicPr>
        <p:blipFill>
          <a:blip r:embed="rId2"/>
          <a:stretch>
            <a:fillRect/>
          </a:stretch>
        </p:blipFill>
        <p:spPr>
          <a:xfrm>
            <a:off x="2944887" y="2377440"/>
            <a:ext cx="6043365" cy="3535680"/>
          </a:xfrm>
          <a:prstGeom prst="rect">
            <a:avLst/>
          </a:prstGeom>
        </p:spPr>
      </p:pic>
    </p:spTree>
    <p:extLst>
      <p:ext uri="{BB962C8B-B14F-4D97-AF65-F5344CB8AC3E}">
        <p14:creationId xmlns:p14="http://schemas.microsoft.com/office/powerpoint/2010/main" val="389015023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C89F92E8-5335-9DE2-7706-ECDEC6C1A517}"/>
              </a:ext>
            </a:extLst>
          </p:cNvPr>
          <p:cNvGraphicFramePr>
            <a:graphicFrameLocks noGrp="1"/>
          </p:cNvGraphicFramePr>
          <p:nvPr>
            <p:ph idx="1"/>
            <p:extLst>
              <p:ext uri="{D42A27DB-BD31-4B8C-83A1-F6EECF244321}">
                <p14:modId xmlns:p14="http://schemas.microsoft.com/office/powerpoint/2010/main" val="2704366620"/>
              </p:ext>
            </p:extLst>
          </p:nvPr>
        </p:nvGraphicFramePr>
        <p:xfrm>
          <a:off x="533398" y="598402"/>
          <a:ext cx="11125204" cy="5661195"/>
        </p:xfrm>
        <a:graphic>
          <a:graphicData uri="http://schemas.openxmlformats.org/drawingml/2006/table">
            <a:tbl>
              <a:tblPr/>
              <a:tblGrid>
                <a:gridCol w="2781301">
                  <a:extLst>
                    <a:ext uri="{9D8B030D-6E8A-4147-A177-3AD203B41FA5}">
                      <a16:colId xmlns:a16="http://schemas.microsoft.com/office/drawing/2014/main" val="2545857802"/>
                    </a:ext>
                  </a:extLst>
                </a:gridCol>
                <a:gridCol w="2781301">
                  <a:extLst>
                    <a:ext uri="{9D8B030D-6E8A-4147-A177-3AD203B41FA5}">
                      <a16:colId xmlns:a16="http://schemas.microsoft.com/office/drawing/2014/main" val="2215830446"/>
                    </a:ext>
                  </a:extLst>
                </a:gridCol>
                <a:gridCol w="2781301">
                  <a:extLst>
                    <a:ext uri="{9D8B030D-6E8A-4147-A177-3AD203B41FA5}">
                      <a16:colId xmlns:a16="http://schemas.microsoft.com/office/drawing/2014/main" val="2970861542"/>
                    </a:ext>
                  </a:extLst>
                </a:gridCol>
                <a:gridCol w="2781301">
                  <a:extLst>
                    <a:ext uri="{9D8B030D-6E8A-4147-A177-3AD203B41FA5}">
                      <a16:colId xmlns:a16="http://schemas.microsoft.com/office/drawing/2014/main" val="2989633912"/>
                    </a:ext>
                  </a:extLst>
                </a:gridCol>
              </a:tblGrid>
              <a:tr h="256858">
                <a:tc>
                  <a:txBody>
                    <a:bodyPr/>
                    <a:lstStyle/>
                    <a:p>
                      <a:pPr>
                        <a:buNone/>
                      </a:pPr>
                      <a:r>
                        <a:rPr lang="en-IN" sz="1200" b="1" dirty="0"/>
                        <a:t>Hormone</a:t>
                      </a:r>
                      <a:endParaRPr lang="en-IN" sz="1200" dirty="0"/>
                    </a:p>
                  </a:txBody>
                  <a:tcPr marL="28914" marR="28914" marT="14457" marB="144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b="1"/>
                        <a:t>Site of Secretion</a:t>
                      </a:r>
                      <a:endParaRPr lang="en-IN" sz="1200"/>
                    </a:p>
                  </a:txBody>
                  <a:tcPr marL="28914" marR="28914" marT="14457" marB="144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b="1"/>
                        <a:t>Primary Stimulus</a:t>
                      </a:r>
                      <a:endParaRPr lang="en-IN" sz="1200"/>
                    </a:p>
                  </a:txBody>
                  <a:tcPr marL="28914" marR="28914" marT="14457" marB="144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b="1"/>
                        <a:t>Main Actions / Functions</a:t>
                      </a:r>
                      <a:endParaRPr lang="en-IN" sz="1200"/>
                    </a:p>
                  </a:txBody>
                  <a:tcPr marL="28914" marR="28914" marT="14457" marB="144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24851597"/>
                  </a:ext>
                </a:extLst>
              </a:tr>
              <a:tr h="644278">
                <a:tc>
                  <a:txBody>
                    <a:bodyPr/>
                    <a:lstStyle/>
                    <a:p>
                      <a:pPr>
                        <a:buNone/>
                      </a:pPr>
                      <a:r>
                        <a:rPr lang="en-IN" sz="1200" b="1" dirty="0"/>
                        <a:t>Gastrin</a:t>
                      </a:r>
                      <a:endParaRPr lang="en-IN" sz="1200" dirty="0"/>
                    </a:p>
                  </a:txBody>
                  <a:tcPr marL="28914" marR="28914" marT="14457" marB="144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dirty="0"/>
                        <a:t>G cells of stomach (antrum)</a:t>
                      </a:r>
                    </a:p>
                  </a:txBody>
                  <a:tcPr marL="28914" marR="28914" marT="14457" marB="144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t>Presence of peptides, amino acids; stomach distension; vagal stimulation</a:t>
                      </a:r>
                    </a:p>
                  </a:txBody>
                  <a:tcPr marL="28914" marR="28914" marT="14457" marB="144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t>↑ Gastric acid (HCl) secretion, ↑ gastric motility, ↑ growth of gastric mucosa</a:t>
                      </a:r>
                    </a:p>
                  </a:txBody>
                  <a:tcPr marL="28914" marR="28914" marT="14457" marB="144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16245739"/>
                  </a:ext>
                </a:extLst>
              </a:tr>
              <a:tr h="490783">
                <a:tc>
                  <a:txBody>
                    <a:bodyPr/>
                    <a:lstStyle/>
                    <a:p>
                      <a:pPr>
                        <a:buNone/>
                      </a:pPr>
                      <a:r>
                        <a:rPr lang="en-IN" sz="1200" b="1"/>
                        <a:t>Secretin</a:t>
                      </a:r>
                      <a:endParaRPr lang="en-IN" sz="1200"/>
                    </a:p>
                  </a:txBody>
                  <a:tcPr marL="28914" marR="28914" marT="14457" marB="144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S cells of duodenum</a:t>
                      </a:r>
                    </a:p>
                  </a:txBody>
                  <a:tcPr marL="28914" marR="28914" marT="14457" marB="144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Acidic chyme (↓ pH) entering duodenum</a:t>
                      </a:r>
                    </a:p>
                  </a:txBody>
                  <a:tcPr marL="28914" marR="28914" marT="14457" marB="144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t>↑ Bicarbonate secretion from pancreas, ↓ gastric acid secretion, ↓ gastric motility</a:t>
                      </a:r>
                    </a:p>
                  </a:txBody>
                  <a:tcPr marL="28914" marR="28914" marT="14457" marB="144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02106350"/>
                  </a:ext>
                </a:extLst>
              </a:tr>
              <a:tr h="766669">
                <a:tc>
                  <a:txBody>
                    <a:bodyPr/>
                    <a:lstStyle/>
                    <a:p>
                      <a:pPr>
                        <a:buNone/>
                      </a:pPr>
                      <a:r>
                        <a:rPr lang="en-IN" sz="1200" b="1" dirty="0"/>
                        <a:t>Cholecystokinin (CCK)</a:t>
                      </a:r>
                      <a:endParaRPr lang="en-IN" sz="1200" dirty="0"/>
                    </a:p>
                  </a:txBody>
                  <a:tcPr marL="28914" marR="28914" marT="14457" marB="144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t>I cells of duodenum &amp; jejunum</a:t>
                      </a:r>
                    </a:p>
                  </a:txBody>
                  <a:tcPr marL="28914" marR="28914" marT="14457" marB="144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Fatty acids &amp; amino acids</a:t>
                      </a:r>
                    </a:p>
                  </a:txBody>
                  <a:tcPr marL="28914" marR="28914" marT="14457" marB="144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Contracts gallbladder, relaxes sphincter of Oddi, ↑ pancreatic enzyme secretion, ↓ gastric emptying</a:t>
                      </a:r>
                    </a:p>
                  </a:txBody>
                  <a:tcPr marL="28914" marR="28914" marT="14457" marB="144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2905061"/>
                  </a:ext>
                </a:extLst>
              </a:tr>
              <a:tr h="741680">
                <a:tc>
                  <a:txBody>
                    <a:bodyPr/>
                    <a:lstStyle/>
                    <a:p>
                      <a:pPr>
                        <a:buNone/>
                      </a:pPr>
                      <a:r>
                        <a:rPr lang="en-IN" sz="1200" b="1" dirty="0"/>
                        <a:t>Gastric Inhibitory Peptide / Glucose-dependent insulinotropic peptide (GIP / GLP)</a:t>
                      </a:r>
                      <a:endParaRPr lang="en-IN" sz="1200" dirty="0"/>
                    </a:p>
                  </a:txBody>
                  <a:tcPr marL="28914" marR="28914" marT="14457" marB="144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t>K cells of duodenum &amp; jejunum</a:t>
                      </a:r>
                    </a:p>
                  </a:txBody>
                  <a:tcPr marL="28914" marR="28914" marT="14457" marB="144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Fatty acids, glucose</a:t>
                      </a:r>
                    </a:p>
                  </a:txBody>
                  <a:tcPr marL="28914" marR="28914" marT="14457" marB="144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t>↓ Gastric acid secretion, ↓ gastric motility, </a:t>
                      </a:r>
                      <a:r>
                        <a:rPr lang="en-US" sz="1200" b="1"/>
                        <a:t>↑ insulin secretion</a:t>
                      </a:r>
                      <a:endParaRPr lang="en-US" sz="1200"/>
                    </a:p>
                  </a:txBody>
                  <a:tcPr marL="28914" marR="28914" marT="14457" marB="144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14224260"/>
                  </a:ext>
                </a:extLst>
              </a:tr>
              <a:tr h="508000">
                <a:tc>
                  <a:txBody>
                    <a:bodyPr/>
                    <a:lstStyle/>
                    <a:p>
                      <a:pPr>
                        <a:buNone/>
                      </a:pPr>
                      <a:r>
                        <a:rPr lang="en-IN" sz="1200" b="1"/>
                        <a:t>Motilin</a:t>
                      </a:r>
                      <a:endParaRPr lang="en-IN" sz="1200"/>
                    </a:p>
                  </a:txBody>
                  <a:tcPr marL="28914" marR="28914" marT="14457" marB="144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t>M cells of duodenum &amp; jejunum</a:t>
                      </a:r>
                    </a:p>
                  </a:txBody>
                  <a:tcPr marL="28914" marR="28914" marT="14457" marB="144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t>Fasting state (every 90 min)</a:t>
                      </a:r>
                    </a:p>
                  </a:txBody>
                  <a:tcPr marL="28914" marR="28914" marT="14457" marB="144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t>Increases GI motility; initiates migrating motor complex (MMC)</a:t>
                      </a:r>
                    </a:p>
                  </a:txBody>
                  <a:tcPr marL="28914" marR="28914" marT="14457" marB="144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33023873"/>
                  </a:ext>
                </a:extLst>
              </a:tr>
              <a:tr h="644278">
                <a:tc>
                  <a:txBody>
                    <a:bodyPr/>
                    <a:lstStyle/>
                    <a:p>
                      <a:pPr>
                        <a:buNone/>
                      </a:pPr>
                      <a:r>
                        <a:rPr lang="en-IN" sz="1200" b="1"/>
                        <a:t>Vasoactive Intestinal Peptide (VIP)</a:t>
                      </a:r>
                      <a:endParaRPr lang="en-IN" sz="1200"/>
                    </a:p>
                  </a:txBody>
                  <a:tcPr marL="28914" marR="28914" marT="14457" marB="144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Enteric neurons</a:t>
                      </a:r>
                    </a:p>
                  </a:txBody>
                  <a:tcPr marL="28914" marR="28914" marT="14457" marB="144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Distension &amp; vagal stimulation</a:t>
                      </a:r>
                    </a:p>
                  </a:txBody>
                  <a:tcPr marL="28914" marR="28914" marT="14457" marB="144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Relaxes smooth muscle; ↑ intestinal secretion; dilates blood vessels</a:t>
                      </a:r>
                    </a:p>
                  </a:txBody>
                  <a:tcPr marL="28914" marR="28914" marT="14457" marB="144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10469839"/>
                  </a:ext>
                </a:extLst>
              </a:tr>
              <a:tr h="644278">
                <a:tc>
                  <a:txBody>
                    <a:bodyPr/>
                    <a:lstStyle/>
                    <a:p>
                      <a:pPr>
                        <a:buNone/>
                      </a:pPr>
                      <a:r>
                        <a:rPr lang="en-IN" sz="1200" b="1"/>
                        <a:t>Somatostatin</a:t>
                      </a:r>
                      <a:endParaRPr lang="en-IN" sz="1200"/>
                    </a:p>
                  </a:txBody>
                  <a:tcPr marL="28914" marR="28914" marT="14457" marB="144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t>D cells of stomach &amp; pancreas</a:t>
                      </a:r>
                    </a:p>
                  </a:txBody>
                  <a:tcPr marL="28914" marR="28914" marT="14457" marB="144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Acid</a:t>
                      </a:r>
                    </a:p>
                  </a:txBody>
                  <a:tcPr marL="28914" marR="28914" marT="14457" marB="144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b="1"/>
                        <a:t>Universal inhibitor</a:t>
                      </a:r>
                      <a:r>
                        <a:rPr lang="en-IN" sz="1200"/>
                        <a:t> – inhibits gastrin, secretin, CCK, insulin, glucagon &amp; gastric acid</a:t>
                      </a:r>
                    </a:p>
                  </a:txBody>
                  <a:tcPr marL="28914" marR="28914" marT="14457" marB="144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67067101"/>
                  </a:ext>
                </a:extLst>
              </a:tr>
              <a:tr h="438800">
                <a:tc>
                  <a:txBody>
                    <a:bodyPr/>
                    <a:lstStyle/>
                    <a:p>
                      <a:pPr>
                        <a:buNone/>
                      </a:pPr>
                      <a:r>
                        <a:rPr lang="en-IN" sz="1200" b="1"/>
                        <a:t>Enteroglucagon</a:t>
                      </a:r>
                      <a:endParaRPr lang="en-IN" sz="1200"/>
                    </a:p>
                  </a:txBody>
                  <a:tcPr marL="28914" marR="28914" marT="14457" marB="144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Intestine</a:t>
                      </a:r>
                    </a:p>
                  </a:txBody>
                  <a:tcPr marL="28914" marR="28914" marT="14457" marB="144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Nutrients in gut</a:t>
                      </a:r>
                    </a:p>
                  </a:txBody>
                  <a:tcPr marL="28914" marR="28914" marT="14457" marB="144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a:t>Slows GI motility → allows more absorption</a:t>
                      </a:r>
                    </a:p>
                  </a:txBody>
                  <a:tcPr marL="28914" marR="28914" marT="14457" marB="144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60025189"/>
                  </a:ext>
                </a:extLst>
              </a:tr>
              <a:tr h="438800">
                <a:tc>
                  <a:txBody>
                    <a:bodyPr/>
                    <a:lstStyle/>
                    <a:p>
                      <a:pPr>
                        <a:buNone/>
                      </a:pPr>
                      <a:r>
                        <a:rPr lang="en-IN" sz="1200" b="1" dirty="0"/>
                        <a:t>Peptide YY (PYY)</a:t>
                      </a:r>
                      <a:endParaRPr lang="en-IN" sz="1200" dirty="0"/>
                    </a:p>
                  </a:txBody>
                  <a:tcPr marL="28914" marR="28914" marT="14457" marB="144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Ileum &amp; colon</a:t>
                      </a:r>
                    </a:p>
                  </a:txBody>
                  <a:tcPr marL="28914" marR="28914" marT="14457" marB="144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200"/>
                        <a:t>Fatty meal</a:t>
                      </a:r>
                    </a:p>
                  </a:txBody>
                  <a:tcPr marL="28914" marR="28914" marT="14457" marB="144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200" dirty="0"/>
                        <a:t>↓ Gastric emptying, ↓ intestinal motility (ileal brake)</a:t>
                      </a:r>
                    </a:p>
                  </a:txBody>
                  <a:tcPr marL="28914" marR="28914" marT="14457" marB="144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8100863"/>
                  </a:ext>
                </a:extLst>
              </a:tr>
            </a:tbl>
          </a:graphicData>
        </a:graphic>
      </p:graphicFrame>
    </p:spTree>
    <p:extLst>
      <p:ext uri="{BB962C8B-B14F-4D97-AF65-F5344CB8AC3E}">
        <p14:creationId xmlns:p14="http://schemas.microsoft.com/office/powerpoint/2010/main" val="29453962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8E5787-88FF-B41B-19F5-84CB0CF5873D}"/>
              </a:ext>
            </a:extLst>
          </p:cNvPr>
          <p:cNvSpPr>
            <a:spLocks noGrp="1"/>
          </p:cNvSpPr>
          <p:nvPr>
            <p:ph type="title"/>
          </p:nvPr>
        </p:nvSpPr>
        <p:spPr/>
        <p:txBody>
          <a:bodyPr/>
          <a:lstStyle/>
          <a:p>
            <a:r>
              <a:rPr lang="en-IN" dirty="0"/>
              <a:t>Applied aspects</a:t>
            </a:r>
          </a:p>
        </p:txBody>
      </p:sp>
      <p:sp>
        <p:nvSpPr>
          <p:cNvPr id="3" name="Content Placeholder 2">
            <a:extLst>
              <a:ext uri="{FF2B5EF4-FFF2-40B4-BE49-F238E27FC236}">
                <a16:creationId xmlns:a16="http://schemas.microsoft.com/office/drawing/2014/main" id="{776D21E8-A86C-DDC4-0F23-F24E0BBA26AD}"/>
              </a:ext>
            </a:extLst>
          </p:cNvPr>
          <p:cNvSpPr>
            <a:spLocks noGrp="1"/>
          </p:cNvSpPr>
          <p:nvPr>
            <p:ph idx="1"/>
          </p:nvPr>
        </p:nvSpPr>
        <p:spPr/>
        <p:txBody>
          <a:bodyPr/>
          <a:lstStyle/>
          <a:p>
            <a:r>
              <a:rPr lang="en-IN" dirty="0"/>
              <a:t>Prolonged excess secretion of acid occurs in Zollinger Ellison syndrome which is seen in </a:t>
            </a:r>
            <a:r>
              <a:rPr lang="en-IN" dirty="0" err="1"/>
              <a:t>gastrinomas</a:t>
            </a:r>
            <a:r>
              <a:rPr lang="en-IN" dirty="0"/>
              <a:t>. These gastrin secreting tumours occur in stomach, duodenum and pancreas. Secretin / CCK – PZ test is used to assess pancreatic exocrine function. The volume, pH, amylase and bicarbonate content of duodenal secretion are assessed before and after administration of Secretin / CCK – PZ. Abnormal results occur in chronic pancreatitis, cystic fibrosis and pancreatic cancer. </a:t>
            </a:r>
            <a:r>
              <a:rPr lang="en-IN" dirty="0" err="1"/>
              <a:t>Somatostatinoma</a:t>
            </a:r>
            <a:r>
              <a:rPr lang="en-IN" dirty="0"/>
              <a:t> is a nano neuro endocrine tumour which secretes somatostatin</a:t>
            </a:r>
          </a:p>
        </p:txBody>
      </p:sp>
    </p:spTree>
    <p:extLst>
      <p:ext uri="{BB962C8B-B14F-4D97-AF65-F5344CB8AC3E}">
        <p14:creationId xmlns:p14="http://schemas.microsoft.com/office/powerpoint/2010/main" val="150781165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avon">
  <a:themeElements>
    <a:clrScheme name="Violet">
      <a:dk1>
        <a:sysClr val="windowText" lastClr="000000"/>
      </a:dk1>
      <a:lt1>
        <a:sysClr val="window" lastClr="FFFFFF"/>
      </a:lt1>
      <a:dk2>
        <a:srgbClr val="373545"/>
      </a:dk2>
      <a:lt2>
        <a:srgbClr val="DCD8DC"/>
      </a:lt2>
      <a:accent1>
        <a:srgbClr val="AD84C6"/>
      </a:accent1>
      <a:accent2>
        <a:srgbClr val="8784C7"/>
      </a:accent2>
      <a:accent3>
        <a:srgbClr val="5D739A"/>
      </a:accent3>
      <a:accent4>
        <a:srgbClr val="6997AF"/>
      </a:accent4>
      <a:accent5>
        <a:srgbClr val="84ACB6"/>
      </a:accent5>
      <a:accent6>
        <a:srgbClr val="6F8183"/>
      </a:accent6>
      <a:hlink>
        <a:srgbClr val="69A020"/>
      </a:hlink>
      <a:folHlink>
        <a:srgbClr val="8C8C8C"/>
      </a:folHlink>
    </a:clrScheme>
    <a:fontScheme name="Savon">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Savon">
      <a:fillStyleLst>
        <a:solidFill>
          <a:schemeClr val="phClr"/>
        </a:solidFill>
        <a:gradFill rotWithShape="1">
          <a:gsLst>
            <a:gs pos="0">
              <a:schemeClr val="phClr">
                <a:tint val="60000"/>
                <a:satMod val="105000"/>
                <a:lumMod val="105000"/>
              </a:schemeClr>
            </a:gs>
            <a:gs pos="100000">
              <a:schemeClr val="phClr">
                <a:tint val="65000"/>
                <a:satMod val="100000"/>
                <a:lumMod val="100000"/>
              </a:schemeClr>
            </a:gs>
            <a:gs pos="100000">
              <a:schemeClr val="phClr">
                <a:tint val="70000"/>
                <a:satMod val="100000"/>
                <a:lumMod val="100000"/>
              </a:schemeClr>
            </a:gs>
          </a:gsLst>
          <a:lin ang="5400000" scaled="0"/>
        </a:gradFill>
        <a:gradFill rotWithShape="1">
          <a:gsLst>
            <a:gs pos="0">
              <a:schemeClr val="phClr">
                <a:satMod val="100000"/>
                <a:lumMod val="100000"/>
              </a:schemeClr>
            </a:gs>
            <a:gs pos="50000">
              <a:schemeClr val="phClr">
                <a:shade val="99000"/>
                <a:satMod val="105000"/>
                <a:lumMod val="100000"/>
              </a:schemeClr>
            </a:gs>
            <a:gs pos="100000">
              <a:schemeClr val="phClr">
                <a:shade val="98000"/>
                <a:satMod val="105000"/>
                <a:lumMod val="100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38100" dist="12700" dir="5400000" algn="ctr" rotWithShape="0">
              <a:srgbClr val="000000">
                <a:alpha val="63000"/>
              </a:srgbClr>
            </a:outerShdw>
          </a:effectLst>
        </a:effectStyle>
        <a:effectStyle>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a:effectStyle>
      </a:effectStyleLst>
      <a:bgFillStyleLst>
        <a:solidFill>
          <a:schemeClr val="phClr"/>
        </a:solidFill>
        <a:gradFill rotWithShape="1">
          <a:gsLst>
            <a:gs pos="0">
              <a:schemeClr val="phClr">
                <a:tint val="80000"/>
                <a:shade val="100000"/>
                <a:satMod val="300000"/>
              </a:schemeClr>
            </a:gs>
            <a:gs pos="100000">
              <a:schemeClr val="phClr">
                <a:tint val="100000"/>
                <a:shade val="30000"/>
                <a:satMod val="200000"/>
              </a:schemeClr>
            </a:gs>
          </a:gsLst>
          <a:path path="circle">
            <a:fillToRect l="50000" t="50000" r="50000" b="50000"/>
          </a:path>
        </a:gradFill>
        <a:blipFill rotWithShape="1">
          <a:blip xmlns:r="http://schemas.openxmlformats.org/officeDocument/2006/relationships" r:embed="rId1">
            <a:duotone>
              <a:schemeClr val="phClr">
                <a:tint val="95000"/>
              </a:schemeClr>
              <a:schemeClr val="phClr">
                <a:shade val="92000"/>
                <a:satMod val="115000"/>
              </a:schemeClr>
            </a:duotone>
          </a:blip>
          <a:tile tx="0" ty="0" sx="60000" sy="60000" flip="none" algn="tl"/>
        </a:blipFill>
      </a:bgFillStyleLst>
    </a:fmtScheme>
  </a:themeElements>
  <a:objectDefaults/>
  <a:extraClrSchemeLst/>
  <a:extLst>
    <a:ext uri="{05A4C25C-085E-4340-85A3-A5531E510DB2}">
      <thm15:themeFamily xmlns:thm15="http://schemas.microsoft.com/office/thememl/2012/main" name="Savon" id="{1306E473-ED32-493B-A2D0-240A757EDD34}" vid="{6728D11B-929E-4324-91B0-4A4DA4CAC3DD}"/>
    </a:ext>
  </a:extLst>
</a:theme>
</file>

<file path=docProps/app.xml><?xml version="1.0" encoding="utf-8"?>
<Properties xmlns="http://schemas.openxmlformats.org/officeDocument/2006/extended-properties" xmlns:vt="http://schemas.openxmlformats.org/officeDocument/2006/docPropsVTypes">
  <Template>Savon</Template>
  <TotalTime>57</TotalTime>
  <Words>2833</Words>
  <Application>Microsoft Office PowerPoint</Application>
  <PresentationFormat>Widescreen</PresentationFormat>
  <Paragraphs>422</Paragraphs>
  <Slides>48</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48</vt:i4>
      </vt:variant>
    </vt:vector>
  </HeadingPairs>
  <TitlesOfParts>
    <vt:vector size="51" baseType="lpstr">
      <vt:lpstr>Arial</vt:lpstr>
      <vt:lpstr>Century Gothic</vt:lpstr>
      <vt:lpstr>Savon</vt:lpstr>
      <vt:lpstr>Gastrointestinal physiology</vt:lpstr>
      <vt:lpstr>Unit 1</vt:lpstr>
      <vt:lpstr>Gastrointestinal system</vt:lpstr>
      <vt:lpstr>PowerPoint Presentation</vt:lpstr>
      <vt:lpstr>Functions </vt:lpstr>
      <vt:lpstr>Functions </vt:lpstr>
      <vt:lpstr>Unit 2 </vt:lpstr>
      <vt:lpstr>PowerPoint Presentation</vt:lpstr>
      <vt:lpstr>PowerPoint Presentation</vt:lpstr>
      <vt:lpstr>PowerPoint Presentation</vt:lpstr>
      <vt:lpstr>Applied aspect</vt:lpstr>
      <vt:lpstr>Degluttion </vt:lpstr>
      <vt:lpstr>Oral Stage (Voluntary Phase)</vt:lpstr>
      <vt:lpstr>Pharyngeal Stage (Involuntary Reflex Phase)</vt:lpstr>
      <vt:lpstr>Esophageal Stage (Involuntary Phase)</vt:lpstr>
      <vt:lpstr>PowerPoint Presentation</vt:lpstr>
      <vt:lpstr>Unit 3 </vt:lpstr>
      <vt:lpstr>PowerPoint Presentation</vt:lpstr>
      <vt:lpstr>PowerPoint Presentation</vt:lpstr>
      <vt:lpstr>PowerPoint Presentation</vt:lpstr>
      <vt:lpstr>Cephalic Phase (Head Phase)</vt:lpstr>
      <vt:lpstr>Gastric Phase</vt:lpstr>
      <vt:lpstr>Intestinal Phase</vt:lpstr>
      <vt:lpstr>Applied aspects</vt:lpstr>
      <vt:lpstr>Unit 4</vt:lpstr>
      <vt:lpstr>PowerPoint Presentation</vt:lpstr>
      <vt:lpstr>Functions of pancreatic juices</vt:lpstr>
      <vt:lpstr>Applied aspects</vt:lpstr>
      <vt:lpstr>Unit 5 </vt:lpstr>
      <vt:lpstr>Functions of liver</vt:lpstr>
      <vt:lpstr>Compostion of bile</vt:lpstr>
      <vt:lpstr>Functions of bile</vt:lpstr>
      <vt:lpstr>PowerPoint Presentation</vt:lpstr>
      <vt:lpstr>Applied aspect</vt:lpstr>
      <vt:lpstr>Succus entricus</vt:lpstr>
      <vt:lpstr>Applied aspects</vt:lpstr>
      <vt:lpstr>Func of large intestine</vt:lpstr>
      <vt:lpstr>Unit 6</vt:lpstr>
      <vt:lpstr>Motility of gut</vt:lpstr>
      <vt:lpstr>Gastric motility</vt:lpstr>
      <vt:lpstr>movements of small intestine</vt:lpstr>
      <vt:lpstr>movements of large intestine</vt:lpstr>
      <vt:lpstr>defecation reflex</vt:lpstr>
      <vt:lpstr>Applied aspect</vt:lpstr>
      <vt:lpstr>Unit 7</vt:lpstr>
      <vt:lpstr>Gi hormones</vt:lpstr>
      <vt:lpstr>PowerPoint Presentation</vt:lpstr>
      <vt:lpstr>Applied aspects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Madhu Chandana Senthil Rajan</dc:creator>
  <cp:lastModifiedBy>Madhu Chandana Senthil Rajan</cp:lastModifiedBy>
  <cp:revision>1</cp:revision>
  <dcterms:created xsi:type="dcterms:W3CDTF">2025-11-21T13:04:13Z</dcterms:created>
  <dcterms:modified xsi:type="dcterms:W3CDTF">2025-11-21T14:02:47Z</dcterms:modified>
</cp:coreProperties>
</file>