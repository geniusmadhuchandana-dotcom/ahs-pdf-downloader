
<file path=[Content_Types].xml><?xml version="1.0" encoding="utf-8"?>
<Types xmlns="http://schemas.openxmlformats.org/package/2006/content-types">
  <Default Extension="bmp" ContentType="image/bmp"/>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5" r:id="rId3"/>
    <p:sldId id="257" r:id="rId4"/>
    <p:sldId id="258" r:id="rId5"/>
    <p:sldId id="259" r:id="rId6"/>
    <p:sldId id="260" r:id="rId7"/>
    <p:sldId id="261" r:id="rId8"/>
    <p:sldId id="262" r:id="rId9"/>
    <p:sldId id="263" r:id="rId10"/>
    <p:sldId id="264" r:id="rId11"/>
    <p:sldId id="266" r:id="rId12"/>
    <p:sldId id="267" r:id="rId13"/>
    <p:sldId id="268" r:id="rId14"/>
    <p:sldId id="269" r:id="rId15"/>
    <p:sldId id="270" r:id="rId16"/>
    <p:sldId id="271" r:id="rId17"/>
    <p:sldId id="272" r:id="rId18"/>
    <p:sldId id="273" r:id="rId19"/>
    <p:sldId id="276" r:id="rId20"/>
    <p:sldId id="277" r:id="rId21"/>
    <p:sldId id="278" r:id="rId22"/>
    <p:sldId id="279" r:id="rId23"/>
    <p:sldId id="280" r:id="rId24"/>
    <p:sldId id="274" r:id="rId25"/>
    <p:sldId id="275" r:id="rId26"/>
    <p:sldId id="281" r:id="rId27"/>
    <p:sldId id="282" r:id="rId28"/>
    <p:sldId id="283" r:id="rId29"/>
    <p:sldId id="284" r:id="rId30"/>
    <p:sldId id="286" r:id="rId31"/>
    <p:sldId id="285"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20" r:id="rId65"/>
    <p:sldId id="319" r:id="rId66"/>
    <p:sldId id="321" r:id="rId67"/>
    <p:sldId id="322" r:id="rId68"/>
    <p:sldId id="324" r:id="rId69"/>
    <p:sldId id="323" r:id="rId70"/>
    <p:sldId id="325" r:id="rId71"/>
    <p:sldId id="326" r:id="rId7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6102" autoAdjust="0"/>
    <p:restoredTop sz="94660"/>
  </p:normalViewPr>
  <p:slideViewPr>
    <p:cSldViewPr snapToGrid="0">
      <p:cViewPr varScale="1">
        <p:scale>
          <a:sx n="74" d="100"/>
          <a:sy n="74" d="100"/>
        </p:scale>
        <p:origin x="72"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22133680-2664-430A-B0E2-9AC117FA3A9B}" type="datetimeFigureOut">
              <a:rPr lang="en-IN" smtClean="0"/>
              <a:t>21-11-2025</a:t>
            </a:fld>
            <a:endParaRPr lang="en-IN"/>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2"/>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2"/>
                </a:solidFill>
              </a:defRPr>
            </a:lvl1pPr>
          </a:lstStyle>
          <a:p>
            <a:fld id="{AB84F0A5-90B0-483A-94A1-C6A4D59E6F85}" type="slidenum">
              <a:rPr lang="en-IN" smtClean="0"/>
              <a:t>‹#›</a:t>
            </a:fld>
            <a:endParaRPr lang="en-IN"/>
          </a:p>
        </p:txBody>
      </p:sp>
    </p:spTree>
    <p:extLst>
      <p:ext uri="{BB962C8B-B14F-4D97-AF65-F5344CB8AC3E}">
        <p14:creationId xmlns:p14="http://schemas.microsoft.com/office/powerpoint/2010/main" val="491351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22133680-2664-430A-B0E2-9AC117FA3A9B}" type="datetimeFigureOut">
              <a:rPr lang="en-IN" smtClean="0"/>
              <a:t>21-11-2025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AB84F0A5-90B0-483A-94A1-C6A4D59E6F85}" type="slidenum">
              <a:rPr lang="en-IN" smtClean="0"/>
              <a:t>‹#›</a:t>
            </a:fld>
            <a:endParaRPr lang="en-IN"/>
          </a:p>
        </p:txBody>
      </p:sp>
    </p:spTree>
    <p:extLst>
      <p:ext uri="{BB962C8B-B14F-4D97-AF65-F5344CB8AC3E}">
        <p14:creationId xmlns:p14="http://schemas.microsoft.com/office/powerpoint/2010/main" val="96524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12192000" cy="68580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22133680-2664-430A-B0E2-9AC117FA3A9B}" type="datetimeFigureOut">
              <a:rPr lang="en-IN" smtClean="0"/>
              <a:t>21-11-2025</a:t>
            </a:fld>
            <a:endParaRPr lang="en-IN"/>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tx2"/>
                </a:solidFill>
              </a:defRPr>
            </a:lvl1pPr>
          </a:lstStyle>
          <a:p>
            <a:endParaRPr lang="en-IN"/>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tx2"/>
                </a:solidFill>
              </a:defRPr>
            </a:lvl1pPr>
          </a:lstStyle>
          <a:p>
            <a:fld id="{AB84F0A5-90B0-483A-94A1-C6A4D59E6F85}" type="slidenum">
              <a:rPr lang="en-IN" smtClean="0"/>
              <a:t>‹#›</a:t>
            </a:fld>
            <a:endParaRPr lang="en-IN"/>
          </a:p>
        </p:txBody>
      </p:sp>
    </p:spTree>
    <p:extLst>
      <p:ext uri="{BB962C8B-B14F-4D97-AF65-F5344CB8AC3E}">
        <p14:creationId xmlns:p14="http://schemas.microsoft.com/office/powerpoint/2010/main" val="3554728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22133680-2664-430A-B0E2-9AC117FA3A9B}" type="datetimeFigureOut">
              <a:rPr lang="en-IN" smtClean="0"/>
              <a:t>21-11-2025</a:t>
            </a:fld>
            <a:endParaRPr lang="en-IN"/>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B84F0A5-90B0-483A-94A1-C6A4D59E6F85}" type="slidenum">
              <a:rPr lang="en-IN" smtClean="0"/>
              <a:t>‹#›</a:t>
            </a:fld>
            <a:endParaRPr lang="en-IN"/>
          </a:p>
        </p:txBody>
      </p:sp>
    </p:spTree>
    <p:extLst>
      <p:ext uri="{BB962C8B-B14F-4D97-AF65-F5344CB8AC3E}">
        <p14:creationId xmlns:p14="http://schemas.microsoft.com/office/powerpoint/2010/main" val="3489645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22133680-2664-430A-B0E2-9AC117FA3A9B}" type="datetimeFigureOut">
              <a:rPr lang="en-IN" smtClean="0"/>
              <a:t>21-11-2025</a:t>
            </a:fld>
            <a:endParaRPr lang="en-IN"/>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IN"/>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AB84F0A5-90B0-483A-94A1-C6A4D59E6F85}" type="slidenum">
              <a:rPr lang="en-IN" smtClean="0"/>
              <a:t>‹#›</a:t>
            </a:fld>
            <a:endParaRPr lang="en-IN"/>
          </a:p>
        </p:txBody>
      </p:sp>
    </p:spTree>
    <p:extLst>
      <p:ext uri="{BB962C8B-B14F-4D97-AF65-F5344CB8AC3E}">
        <p14:creationId xmlns:p14="http://schemas.microsoft.com/office/powerpoint/2010/main" val="4002730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22133680-2664-430A-B0E2-9AC117FA3A9B}" type="datetimeFigureOut">
              <a:rPr lang="en-IN" smtClean="0"/>
              <a:t>21-11-2025</a:t>
            </a:fld>
            <a:endParaRPr lang="en-IN"/>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IN"/>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AB84F0A5-90B0-483A-94A1-C6A4D59E6F85}" type="slidenum">
              <a:rPr lang="en-IN" smtClean="0"/>
              <a:t>‹#›</a:t>
            </a:fld>
            <a:endParaRPr lang="en-IN"/>
          </a:p>
        </p:txBody>
      </p:sp>
    </p:spTree>
    <p:extLst>
      <p:ext uri="{BB962C8B-B14F-4D97-AF65-F5344CB8AC3E}">
        <p14:creationId xmlns:p14="http://schemas.microsoft.com/office/powerpoint/2010/main" val="234958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22133680-2664-430A-B0E2-9AC117FA3A9B}" type="datetimeFigureOut">
              <a:rPr lang="en-IN" smtClean="0"/>
              <a:t>21-11-2025</a:t>
            </a:fld>
            <a:endParaRPr lang="en-IN"/>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IN"/>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AB84F0A5-90B0-483A-94A1-C6A4D59E6F85}" type="slidenum">
              <a:rPr lang="en-IN" smtClean="0"/>
              <a:t>‹#›</a:t>
            </a:fld>
            <a:endParaRPr lang="en-IN"/>
          </a:p>
        </p:txBody>
      </p:sp>
    </p:spTree>
    <p:extLst>
      <p:ext uri="{BB962C8B-B14F-4D97-AF65-F5344CB8AC3E}">
        <p14:creationId xmlns:p14="http://schemas.microsoft.com/office/powerpoint/2010/main" val="3992524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234693" y="237744"/>
            <a:ext cx="8633081"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371856" y="374904"/>
            <a:ext cx="8353044" cy="6108192"/>
          </a:xfrm>
          <a:prstGeom prst="rect">
            <a:avLst/>
          </a:prstGeom>
          <a:solidFill>
            <a:schemeClr val="bg2"/>
          </a:solidFill>
          <a:ln w="6350" cap="sq" cmpd="sng" algn="ctr">
            <a:noFill/>
            <a:prstDash val="solid"/>
            <a:miter lim="800000"/>
          </a:ln>
          <a:effectLst/>
        </p:spPr>
      </p:sp>
      <p:sp>
        <p:nvSpPr>
          <p:cNvPr id="15" name="Rectangle 14"/>
          <p:cNvSpPr/>
          <p:nvPr/>
        </p:nvSpPr>
        <p:spPr>
          <a:xfrm>
            <a:off x="9020386" y="237744"/>
            <a:ext cx="2926080" cy="63825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790575" y="704850"/>
            <a:ext cx="7562850" cy="51435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22133680-2664-430A-B0E2-9AC117FA3A9B}" type="datetimeFigureOut">
              <a:rPr lang="en-IN" smtClean="0"/>
              <a:t>21-11-2025</a:t>
            </a:fld>
            <a:endParaRPr lang="en-IN"/>
          </a:p>
        </p:txBody>
      </p:sp>
      <p:sp>
        <p:nvSpPr>
          <p:cNvPr id="6" name="Footer Placeholder 5"/>
          <p:cNvSpPr>
            <a:spLocks noGrp="1"/>
          </p:cNvSpPr>
          <p:nvPr>
            <p:ph type="ftr" sz="quarter" idx="11"/>
          </p:nvPr>
        </p:nvSpPr>
        <p:spPr>
          <a:xfrm>
            <a:off x="3439158" y="6214535"/>
            <a:ext cx="5184648" cy="256032"/>
          </a:xfrm>
        </p:spPr>
        <p:txBody>
          <a:bodyPr/>
          <a:lstStyle>
            <a:lvl1pPr algn="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AB84F0A5-90B0-483A-94A1-C6A4D59E6F85}" type="slidenum">
              <a:rPr lang="en-IN" smtClean="0"/>
              <a:t>‹#›</a:t>
            </a:fld>
            <a:endParaRPr lang="en-IN"/>
          </a:p>
        </p:txBody>
      </p:sp>
      <p:sp>
        <p:nvSpPr>
          <p:cNvPr id="11" name="Rectangle 10"/>
          <p:cNvSpPr/>
          <p:nvPr/>
        </p:nvSpPr>
        <p:spPr>
          <a:xfrm>
            <a:off x="9157546" y="374904"/>
            <a:ext cx="2651760" cy="6108192"/>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94198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157546" y="374904"/>
            <a:ext cx="2651760" cy="6108192"/>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601076" cy="6382512"/>
          </a:xfrm>
          <a:solidFill>
            <a:srgbClr val="808080"/>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22133680-2664-430A-B0E2-9AC117FA3A9B}" type="datetimeFigureOut">
              <a:rPr lang="en-IN" smtClean="0"/>
              <a:t>21-11-2025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B84F0A5-90B0-483A-94A1-C6A4D59E6F85}" type="slidenum">
              <a:rPr lang="en-IN" smtClean="0"/>
              <a:t>‹#›</a:t>
            </a:fld>
            <a:endParaRPr lang="en-IN"/>
          </a:p>
        </p:txBody>
      </p:sp>
    </p:spTree>
    <p:extLst>
      <p:ext uri="{BB962C8B-B14F-4D97-AF65-F5344CB8AC3E}">
        <p14:creationId xmlns:p14="http://schemas.microsoft.com/office/powerpoint/2010/main" val="3082680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22133680-2664-430A-B0E2-9AC117FA3A9B}" type="datetimeFigureOut">
              <a:rPr lang="en-IN" smtClean="0"/>
              <a:t>21-11-2025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AB84F0A5-90B0-483A-94A1-C6A4D59E6F85}" type="slidenum">
              <a:rPr lang="en-IN" smtClean="0"/>
              <a:t>‹#›</a:t>
            </a:fld>
            <a:endParaRPr lang="en-IN"/>
          </a:p>
        </p:txBody>
      </p:sp>
    </p:spTree>
    <p:extLst>
      <p:ext uri="{BB962C8B-B14F-4D97-AF65-F5344CB8AC3E}">
        <p14:creationId xmlns:p14="http://schemas.microsoft.com/office/powerpoint/2010/main" val="2197447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22133680-2664-430A-B0E2-9AC117FA3A9B}" type="datetimeFigureOut">
              <a:rPr lang="en-IN" smtClean="0"/>
              <a:t>21-11-2025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AB84F0A5-90B0-483A-94A1-C6A4D59E6F85}" type="slidenum">
              <a:rPr lang="en-IN" smtClean="0"/>
              <a:t>‹#›</a:t>
            </a:fld>
            <a:endParaRPr lang="en-IN"/>
          </a:p>
        </p:txBody>
      </p:sp>
    </p:spTree>
    <p:extLst>
      <p:ext uri="{BB962C8B-B14F-4D97-AF65-F5344CB8AC3E}">
        <p14:creationId xmlns:p14="http://schemas.microsoft.com/office/powerpoint/2010/main" val="3275473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371856" y="374904"/>
            <a:ext cx="11448288" cy="6108192"/>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bg2"/>
                </a:solidFill>
              </a:defRPr>
            </a:lvl1pPr>
          </a:lstStyle>
          <a:p>
            <a:fld id="{22133680-2664-430A-B0E2-9AC117FA3A9B}" type="datetimeFigureOut">
              <a:rPr lang="en-IN" smtClean="0"/>
              <a:t>21-11-2025</a:t>
            </a:fld>
            <a:endParaRPr lang="en-IN"/>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bg2"/>
                </a:solidFill>
              </a:defRPr>
            </a:lvl1pPr>
          </a:lstStyle>
          <a:p>
            <a:endParaRPr lang="en-IN"/>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bg2"/>
                </a:solidFill>
              </a:defRPr>
            </a:lvl1pPr>
          </a:lstStyle>
          <a:p>
            <a:fld id="{AB84F0A5-90B0-483A-94A1-C6A4D59E6F85}" type="slidenum">
              <a:rPr lang="en-IN" smtClean="0"/>
              <a:t>‹#›</a:t>
            </a:fld>
            <a:endParaRPr lang="en-IN"/>
          </a:p>
        </p:txBody>
      </p:sp>
    </p:spTree>
    <p:extLst>
      <p:ext uri="{BB962C8B-B14F-4D97-AF65-F5344CB8AC3E}">
        <p14:creationId xmlns:p14="http://schemas.microsoft.com/office/powerpoint/2010/main" val="2422042021"/>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lumMod val="60000"/>
            <a:lumOff val="40000"/>
          </a:schemeClr>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6pPr>
      <a:lvl7pPr marL="19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7pPr>
      <a:lvl8pPr marL="22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8pPr>
      <a:lvl9pPr marL="25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5D59C-C78B-F04A-E90F-A6E299712BBC}"/>
              </a:ext>
            </a:extLst>
          </p:cNvPr>
          <p:cNvSpPr>
            <a:spLocks noGrp="1"/>
          </p:cNvSpPr>
          <p:nvPr>
            <p:ph type="ctrTitle"/>
          </p:nvPr>
        </p:nvSpPr>
        <p:spPr/>
        <p:txBody>
          <a:bodyPr/>
          <a:lstStyle/>
          <a:p>
            <a:r>
              <a:rPr lang="en-US" dirty="0"/>
              <a:t>Blood -</a:t>
            </a:r>
            <a:r>
              <a:rPr lang="en-US" dirty="0" err="1"/>
              <a:t>phy</a:t>
            </a:r>
            <a:endParaRPr lang="en-IN" dirty="0"/>
          </a:p>
        </p:txBody>
      </p:sp>
      <p:sp>
        <p:nvSpPr>
          <p:cNvPr id="3" name="Subtitle 2">
            <a:extLst>
              <a:ext uri="{FF2B5EF4-FFF2-40B4-BE49-F238E27FC236}">
                <a16:creationId xmlns:a16="http://schemas.microsoft.com/office/drawing/2014/main" id="{964BF17C-C90C-0186-6AC2-AD9A057072F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783165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910C2-C524-D737-3CA0-6ABA8C626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EC2E3-5190-E8A8-7C9F-ABB5D438B57C}"/>
              </a:ext>
            </a:extLst>
          </p:cNvPr>
          <p:cNvSpPr>
            <a:spLocks noGrp="1"/>
          </p:cNvSpPr>
          <p:nvPr>
            <p:ph type="ctrTitle"/>
          </p:nvPr>
        </p:nvSpPr>
        <p:spPr/>
        <p:txBody>
          <a:bodyPr/>
          <a:lstStyle/>
          <a:p>
            <a:r>
              <a:rPr lang="en-US" dirty="0"/>
              <a:t>Unit 1</a:t>
            </a:r>
            <a:endParaRPr lang="en-IN" dirty="0"/>
          </a:p>
        </p:txBody>
      </p:sp>
      <p:sp>
        <p:nvSpPr>
          <p:cNvPr id="3" name="Subtitle 2">
            <a:extLst>
              <a:ext uri="{FF2B5EF4-FFF2-40B4-BE49-F238E27FC236}">
                <a16:creationId xmlns:a16="http://schemas.microsoft.com/office/drawing/2014/main" id="{A893EA83-326C-01BD-DB1A-6D5E93B49EF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868312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59D8-EF8A-4397-2A9F-AE1579FB23E1}"/>
              </a:ext>
            </a:extLst>
          </p:cNvPr>
          <p:cNvSpPr>
            <a:spLocks noGrp="1"/>
          </p:cNvSpPr>
          <p:nvPr>
            <p:ph type="title"/>
          </p:nvPr>
        </p:nvSpPr>
        <p:spPr/>
        <p:txBody>
          <a:bodyPr/>
          <a:lstStyle/>
          <a:p>
            <a:r>
              <a:rPr lang="en-US" dirty="0"/>
              <a:t>Blood </a:t>
            </a:r>
            <a:endParaRPr lang="en-IN" dirty="0"/>
          </a:p>
        </p:txBody>
      </p:sp>
      <p:sp>
        <p:nvSpPr>
          <p:cNvPr id="3" name="Content Placeholder 2">
            <a:extLst>
              <a:ext uri="{FF2B5EF4-FFF2-40B4-BE49-F238E27FC236}">
                <a16:creationId xmlns:a16="http://schemas.microsoft.com/office/drawing/2014/main" id="{AD8EFB3D-324E-F74E-258D-7B3881AE7441}"/>
              </a:ext>
            </a:extLst>
          </p:cNvPr>
          <p:cNvSpPr>
            <a:spLocks noGrp="1"/>
          </p:cNvSpPr>
          <p:nvPr>
            <p:ph idx="1"/>
          </p:nvPr>
        </p:nvSpPr>
        <p:spPr/>
        <p:txBody>
          <a:bodyPr/>
          <a:lstStyle/>
          <a:p>
            <a:r>
              <a:rPr lang="en-US" dirty="0"/>
              <a:t>Blood is a specialized connective tissue that circulates through blood vessels and transports essential substances throughout the body.</a:t>
            </a:r>
          </a:p>
          <a:p>
            <a:r>
              <a:rPr lang="en-US" dirty="0"/>
              <a:t>Blood is a thick, opaque, red-colored fluid with a pH 7.4 and a specific gravity of 1.055 to 1.060</a:t>
            </a:r>
          </a:p>
          <a:p>
            <a:r>
              <a:rPr lang="en-US" altLang="en-US" dirty="0">
                <a:latin typeface="Arial" panose="020B0604020202020204" pitchFamily="34" charset="0"/>
              </a:rPr>
              <a:t>Blood consists of </a:t>
            </a:r>
            <a:r>
              <a:rPr lang="en-US" altLang="en-US" b="1" dirty="0">
                <a:latin typeface="Arial" panose="020B0604020202020204" pitchFamily="34" charset="0"/>
              </a:rPr>
              <a:t>two major components</a:t>
            </a:r>
            <a:r>
              <a:rPr lang="en-US" altLang="en-US" dirty="0">
                <a:latin typeface="Arial" panose="020B0604020202020204" pitchFamily="34" charset="0"/>
              </a:rPr>
              <a:t>:</a:t>
            </a:r>
          </a:p>
        </p:txBody>
      </p:sp>
      <p:graphicFrame>
        <p:nvGraphicFramePr>
          <p:cNvPr id="4" name="Table 3">
            <a:extLst>
              <a:ext uri="{FF2B5EF4-FFF2-40B4-BE49-F238E27FC236}">
                <a16:creationId xmlns:a16="http://schemas.microsoft.com/office/drawing/2014/main" id="{90A33E07-4860-DC3F-5AE4-6C5B068B7EEC}"/>
              </a:ext>
            </a:extLst>
          </p:cNvPr>
          <p:cNvGraphicFramePr>
            <a:graphicFrameLocks noGrp="1"/>
          </p:cNvGraphicFramePr>
          <p:nvPr>
            <p:extLst>
              <p:ext uri="{D42A27DB-BD31-4B8C-83A1-F6EECF244321}">
                <p14:modId xmlns:p14="http://schemas.microsoft.com/office/powerpoint/2010/main" val="1236863924"/>
              </p:ext>
            </p:extLst>
          </p:nvPr>
        </p:nvGraphicFramePr>
        <p:xfrm>
          <a:off x="1066800" y="3818357"/>
          <a:ext cx="10058400" cy="2194560"/>
        </p:xfrm>
        <a:graphic>
          <a:graphicData uri="http://schemas.openxmlformats.org/drawingml/2006/table">
            <a:tbl>
              <a:tblPr/>
              <a:tblGrid>
                <a:gridCol w="3352800">
                  <a:extLst>
                    <a:ext uri="{9D8B030D-6E8A-4147-A177-3AD203B41FA5}">
                      <a16:colId xmlns:a16="http://schemas.microsoft.com/office/drawing/2014/main" val="890688850"/>
                    </a:ext>
                  </a:extLst>
                </a:gridCol>
                <a:gridCol w="3352800">
                  <a:extLst>
                    <a:ext uri="{9D8B030D-6E8A-4147-A177-3AD203B41FA5}">
                      <a16:colId xmlns:a16="http://schemas.microsoft.com/office/drawing/2014/main" val="1380489225"/>
                    </a:ext>
                  </a:extLst>
                </a:gridCol>
                <a:gridCol w="3352800">
                  <a:extLst>
                    <a:ext uri="{9D8B030D-6E8A-4147-A177-3AD203B41FA5}">
                      <a16:colId xmlns:a16="http://schemas.microsoft.com/office/drawing/2014/main" val="2738434093"/>
                    </a:ext>
                  </a:extLst>
                </a:gridCol>
              </a:tblGrid>
              <a:tr h="0">
                <a:tc>
                  <a:txBody>
                    <a:bodyPr/>
                    <a:lstStyle/>
                    <a:p>
                      <a:pPr>
                        <a:buNone/>
                      </a:pPr>
                      <a:r>
                        <a:rPr lang="en-IN" dirty="0"/>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Percentage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3544644"/>
                  </a:ext>
                </a:extLst>
              </a:tr>
              <a:tr h="0">
                <a:tc>
                  <a:txBody>
                    <a:bodyPr/>
                    <a:lstStyle/>
                    <a:p>
                      <a:pPr>
                        <a:buNone/>
                      </a:pPr>
                      <a:r>
                        <a:rPr lang="en-IN" b="1" dirty="0"/>
                        <a:t>Plasma</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Fluid portion containing water, proteins, electrolytes, hormones, nutrients, waste products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6224942"/>
                  </a:ext>
                </a:extLst>
              </a:tr>
              <a:tr h="0">
                <a:tc>
                  <a:txBody>
                    <a:bodyPr/>
                    <a:lstStyle/>
                    <a:p>
                      <a:pPr>
                        <a:buNone/>
                      </a:pPr>
                      <a:r>
                        <a:rPr lang="en-IN" b="1" dirty="0"/>
                        <a:t>Formed Elements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Blood cells – RBCs, WBCs, Platelets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1173607"/>
                  </a:ext>
                </a:extLst>
              </a:tr>
            </a:tbl>
          </a:graphicData>
        </a:graphic>
      </p:graphicFrame>
    </p:spTree>
    <p:extLst>
      <p:ext uri="{BB962C8B-B14F-4D97-AF65-F5344CB8AC3E}">
        <p14:creationId xmlns:p14="http://schemas.microsoft.com/office/powerpoint/2010/main" val="689308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86EC-41DD-2CBC-C218-02F1A669E64B}"/>
              </a:ext>
            </a:extLst>
          </p:cNvPr>
          <p:cNvSpPr>
            <a:spLocks noGrp="1"/>
          </p:cNvSpPr>
          <p:nvPr>
            <p:ph type="title"/>
          </p:nvPr>
        </p:nvSpPr>
        <p:spPr/>
        <p:txBody>
          <a:bodyPr/>
          <a:lstStyle/>
          <a:p>
            <a:r>
              <a:rPr lang="en-US" dirty="0"/>
              <a:t>Blood </a:t>
            </a:r>
            <a:endParaRPr lang="en-IN" dirty="0"/>
          </a:p>
        </p:txBody>
      </p:sp>
      <p:sp>
        <p:nvSpPr>
          <p:cNvPr id="3" name="Content Placeholder 2">
            <a:extLst>
              <a:ext uri="{FF2B5EF4-FFF2-40B4-BE49-F238E27FC236}">
                <a16:creationId xmlns:a16="http://schemas.microsoft.com/office/drawing/2014/main" id="{671DB10C-C6C4-2640-7156-E861D84FE9DB}"/>
              </a:ext>
            </a:extLst>
          </p:cNvPr>
          <p:cNvSpPr>
            <a:spLocks noGrp="1"/>
          </p:cNvSpPr>
          <p:nvPr>
            <p:ph idx="1"/>
          </p:nvPr>
        </p:nvSpPr>
        <p:spPr/>
        <p:txBody>
          <a:bodyPr/>
          <a:lstStyle/>
          <a:p>
            <a:r>
              <a:rPr lang="en-US" dirty="0"/>
              <a:t>Blood is three to four times thicker than water.</a:t>
            </a:r>
          </a:p>
          <a:p>
            <a:r>
              <a:rPr lang="en-US" dirty="0"/>
              <a:t>The colloid osmotic pressure of blood is 25 mm Hg. </a:t>
            </a:r>
          </a:p>
          <a:p>
            <a:r>
              <a:rPr lang="en-US" dirty="0"/>
              <a:t>Blood contributes to 8 % of total body weight. </a:t>
            </a:r>
          </a:p>
          <a:p>
            <a:r>
              <a:rPr lang="en-US" dirty="0"/>
              <a:t>In a 70 kg adult, the total blood volume is around 5 </a:t>
            </a:r>
            <a:r>
              <a:rPr lang="en-US" dirty="0" err="1"/>
              <a:t>litres</a:t>
            </a:r>
            <a:r>
              <a:rPr lang="en-US" dirty="0"/>
              <a:t>.</a:t>
            </a:r>
            <a:endParaRPr lang="en-IN" dirty="0"/>
          </a:p>
        </p:txBody>
      </p:sp>
    </p:spTree>
    <p:extLst>
      <p:ext uri="{BB962C8B-B14F-4D97-AF65-F5344CB8AC3E}">
        <p14:creationId xmlns:p14="http://schemas.microsoft.com/office/powerpoint/2010/main" val="857017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75937-21AF-DD7B-6040-455EC27BA109}"/>
              </a:ext>
            </a:extLst>
          </p:cNvPr>
          <p:cNvSpPr>
            <a:spLocks noGrp="1"/>
          </p:cNvSpPr>
          <p:nvPr>
            <p:ph type="title"/>
          </p:nvPr>
        </p:nvSpPr>
        <p:spPr/>
        <p:txBody>
          <a:bodyPr/>
          <a:lstStyle/>
          <a:p>
            <a:r>
              <a:rPr lang="en-US" dirty="0"/>
              <a:t>Composition </a:t>
            </a:r>
            <a:endParaRPr lang="en-IN" dirty="0"/>
          </a:p>
        </p:txBody>
      </p:sp>
      <p:pic>
        <p:nvPicPr>
          <p:cNvPr id="5" name="Content Placeholder 4">
            <a:extLst>
              <a:ext uri="{FF2B5EF4-FFF2-40B4-BE49-F238E27FC236}">
                <a16:creationId xmlns:a16="http://schemas.microsoft.com/office/drawing/2014/main" id="{34E25153-DA04-28B1-C401-A94517A6BBDE}"/>
              </a:ext>
            </a:extLst>
          </p:cNvPr>
          <p:cNvPicPr>
            <a:picLocks noGrp="1" noChangeAspect="1"/>
          </p:cNvPicPr>
          <p:nvPr>
            <p:ph idx="1"/>
          </p:nvPr>
        </p:nvPicPr>
        <p:blipFill>
          <a:blip r:embed="rId2"/>
          <a:stretch>
            <a:fillRect/>
          </a:stretch>
        </p:blipFill>
        <p:spPr>
          <a:xfrm>
            <a:off x="2573215" y="1691149"/>
            <a:ext cx="7045570" cy="4660489"/>
          </a:xfrm>
          <a:prstGeom prst="rect">
            <a:avLst/>
          </a:prstGeom>
        </p:spPr>
      </p:pic>
    </p:spTree>
    <p:extLst>
      <p:ext uri="{BB962C8B-B14F-4D97-AF65-F5344CB8AC3E}">
        <p14:creationId xmlns:p14="http://schemas.microsoft.com/office/powerpoint/2010/main" val="997902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10C2E-A777-9C75-6CF8-660F62D425E5}"/>
              </a:ext>
            </a:extLst>
          </p:cNvPr>
          <p:cNvSpPr>
            <a:spLocks noGrp="1"/>
          </p:cNvSpPr>
          <p:nvPr>
            <p:ph type="title"/>
          </p:nvPr>
        </p:nvSpPr>
        <p:spPr/>
        <p:txBody>
          <a:bodyPr>
            <a:normAutofit/>
          </a:bodyPr>
          <a:lstStyle/>
          <a:p>
            <a:r>
              <a:rPr lang="en-IN" b="1" dirty="0"/>
              <a:t>Plasma – Details</a:t>
            </a:r>
            <a:endParaRPr lang="en-IN" dirty="0"/>
          </a:p>
        </p:txBody>
      </p:sp>
      <p:sp>
        <p:nvSpPr>
          <p:cNvPr id="3" name="Content Placeholder 2">
            <a:extLst>
              <a:ext uri="{FF2B5EF4-FFF2-40B4-BE49-F238E27FC236}">
                <a16:creationId xmlns:a16="http://schemas.microsoft.com/office/drawing/2014/main" id="{3EE00C5D-6C77-9446-B272-07324AF36B8C}"/>
              </a:ext>
            </a:extLst>
          </p:cNvPr>
          <p:cNvSpPr>
            <a:spLocks noGrp="1"/>
          </p:cNvSpPr>
          <p:nvPr>
            <p:ph idx="1"/>
          </p:nvPr>
        </p:nvSpPr>
        <p:spPr/>
        <p:txBody>
          <a:bodyPr/>
          <a:lstStyle/>
          <a:p>
            <a:r>
              <a:rPr lang="en-IN" b="1" dirty="0"/>
              <a:t>Water</a:t>
            </a:r>
            <a:r>
              <a:rPr lang="en-IN" dirty="0"/>
              <a:t> – 90–92%</a:t>
            </a:r>
          </a:p>
          <a:p>
            <a:r>
              <a:rPr lang="en-IN" b="1" dirty="0"/>
              <a:t>Plasma proteins</a:t>
            </a:r>
            <a:r>
              <a:rPr lang="en-IN" dirty="0"/>
              <a:t> – 6–8%</a:t>
            </a:r>
          </a:p>
          <a:p>
            <a:pPr lvl="1"/>
            <a:r>
              <a:rPr lang="en-IN" b="1" dirty="0"/>
              <a:t>Albumin</a:t>
            </a:r>
            <a:r>
              <a:rPr lang="en-IN" dirty="0"/>
              <a:t> – maintains osmotic pressure</a:t>
            </a:r>
          </a:p>
          <a:p>
            <a:pPr lvl="1"/>
            <a:r>
              <a:rPr lang="en-IN" b="1" dirty="0"/>
              <a:t>Globulins</a:t>
            </a:r>
            <a:r>
              <a:rPr lang="en-IN" dirty="0"/>
              <a:t> – immunity</a:t>
            </a:r>
          </a:p>
          <a:p>
            <a:pPr lvl="1"/>
            <a:r>
              <a:rPr lang="en-IN" b="1" dirty="0"/>
              <a:t>Fibrinogen</a:t>
            </a:r>
            <a:r>
              <a:rPr lang="en-IN" dirty="0"/>
              <a:t> – blood clotting</a:t>
            </a:r>
          </a:p>
          <a:p>
            <a:r>
              <a:rPr lang="en-IN" b="1" dirty="0"/>
              <a:t>Other substances</a:t>
            </a:r>
            <a:r>
              <a:rPr lang="en-IN" dirty="0"/>
              <a:t> – glucose, amino acids, lipids, hormones, vitamins, urea, electrolytes (Na+, K+, Ca²⁺, Cl⁻)</a:t>
            </a:r>
          </a:p>
          <a:p>
            <a:endParaRPr lang="en-IN" dirty="0"/>
          </a:p>
        </p:txBody>
      </p:sp>
    </p:spTree>
    <p:extLst>
      <p:ext uri="{BB962C8B-B14F-4D97-AF65-F5344CB8AC3E}">
        <p14:creationId xmlns:p14="http://schemas.microsoft.com/office/powerpoint/2010/main" val="3607395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1F2A0-ED6A-B1EA-5233-DB5C59CA144E}"/>
              </a:ext>
            </a:extLst>
          </p:cNvPr>
          <p:cNvSpPr>
            <a:spLocks noGrp="1"/>
          </p:cNvSpPr>
          <p:nvPr>
            <p:ph type="title"/>
          </p:nvPr>
        </p:nvSpPr>
        <p:spPr>
          <a:xfrm>
            <a:off x="1066800" y="1006316"/>
            <a:ext cx="10058400" cy="1371600"/>
          </a:xfrm>
        </p:spPr>
        <p:txBody>
          <a:bodyPr>
            <a:normAutofit fontScale="90000"/>
          </a:bodyPr>
          <a:lstStyle/>
          <a:p>
            <a:r>
              <a:rPr lang="en-US" dirty="0"/>
              <a:t>Plasma proteins</a:t>
            </a:r>
            <a:br>
              <a:rPr lang="en-US" dirty="0"/>
            </a:br>
            <a:br>
              <a:rPr lang="en-US" dirty="0"/>
            </a:br>
            <a:r>
              <a:rPr lang="en-US" altLang="en-US" sz="1300" dirty="0">
                <a:latin typeface="Arial" panose="020B0604020202020204" pitchFamily="34" charset="0"/>
              </a:rPr>
              <a:t>Major Plasma Proteins</a:t>
            </a:r>
            <a:br>
              <a:rPr lang="en-US" altLang="en-US" b="1" dirty="0">
                <a:latin typeface="Arial" panose="020B0604020202020204" pitchFamily="34" charset="0"/>
              </a:rPr>
            </a:br>
            <a:endParaRPr lang="en-IN" dirty="0"/>
          </a:p>
        </p:txBody>
      </p:sp>
      <p:graphicFrame>
        <p:nvGraphicFramePr>
          <p:cNvPr id="4" name="Content Placeholder 3">
            <a:extLst>
              <a:ext uri="{FF2B5EF4-FFF2-40B4-BE49-F238E27FC236}">
                <a16:creationId xmlns:a16="http://schemas.microsoft.com/office/drawing/2014/main" id="{436744A6-C2BE-EB6E-EA44-6990E78CECA0}"/>
              </a:ext>
            </a:extLst>
          </p:cNvPr>
          <p:cNvGraphicFramePr>
            <a:graphicFrameLocks noGrp="1"/>
          </p:cNvGraphicFramePr>
          <p:nvPr>
            <p:ph idx="1"/>
            <p:extLst>
              <p:ext uri="{D42A27DB-BD31-4B8C-83A1-F6EECF244321}">
                <p14:modId xmlns:p14="http://schemas.microsoft.com/office/powerpoint/2010/main" val="1309119507"/>
              </p:ext>
            </p:extLst>
          </p:nvPr>
        </p:nvGraphicFramePr>
        <p:xfrm>
          <a:off x="1066800" y="2377916"/>
          <a:ext cx="10058400" cy="3383280"/>
        </p:xfrm>
        <a:graphic>
          <a:graphicData uri="http://schemas.openxmlformats.org/drawingml/2006/table">
            <a:tbl>
              <a:tblPr/>
              <a:tblGrid>
                <a:gridCol w="2514600">
                  <a:extLst>
                    <a:ext uri="{9D8B030D-6E8A-4147-A177-3AD203B41FA5}">
                      <a16:colId xmlns:a16="http://schemas.microsoft.com/office/drawing/2014/main" val="2017507656"/>
                    </a:ext>
                  </a:extLst>
                </a:gridCol>
                <a:gridCol w="2514600">
                  <a:extLst>
                    <a:ext uri="{9D8B030D-6E8A-4147-A177-3AD203B41FA5}">
                      <a16:colId xmlns:a16="http://schemas.microsoft.com/office/drawing/2014/main" val="1726167654"/>
                    </a:ext>
                  </a:extLst>
                </a:gridCol>
                <a:gridCol w="2514600">
                  <a:extLst>
                    <a:ext uri="{9D8B030D-6E8A-4147-A177-3AD203B41FA5}">
                      <a16:colId xmlns:a16="http://schemas.microsoft.com/office/drawing/2014/main" val="3993191319"/>
                    </a:ext>
                  </a:extLst>
                </a:gridCol>
                <a:gridCol w="2514600">
                  <a:extLst>
                    <a:ext uri="{9D8B030D-6E8A-4147-A177-3AD203B41FA5}">
                      <a16:colId xmlns:a16="http://schemas.microsoft.com/office/drawing/2014/main" val="1623072459"/>
                    </a:ext>
                  </a:extLst>
                </a:gridCol>
              </a:tblGrid>
              <a:tr h="0">
                <a:tc>
                  <a:txBody>
                    <a:bodyPr/>
                    <a:lstStyle/>
                    <a:p>
                      <a:pPr>
                        <a:buNone/>
                      </a:pPr>
                      <a:r>
                        <a:rPr lang="en-IN" dirty="0"/>
                        <a:t>Plasma Protein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Percentage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Produced by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Major Functions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2805842"/>
                  </a:ext>
                </a:extLst>
              </a:tr>
              <a:tr h="0">
                <a:tc>
                  <a:txBody>
                    <a:bodyPr/>
                    <a:lstStyle/>
                    <a:p>
                      <a:pPr>
                        <a:buNone/>
                      </a:pPr>
                      <a:r>
                        <a:rPr lang="en-IN" b="1" dirty="0"/>
                        <a:t>Albumin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~60%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Liver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Maintains </a:t>
                      </a:r>
                      <a:r>
                        <a:rPr lang="en-US" b="1"/>
                        <a:t>oncotic/osmotic pressure</a:t>
                      </a:r>
                      <a:r>
                        <a:rPr lang="en-US"/>
                        <a:t>, transport of hormones, drugs, fatty acids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0397420"/>
                  </a:ext>
                </a:extLst>
              </a:tr>
              <a:tr h="0">
                <a:tc>
                  <a:txBody>
                    <a:bodyPr/>
                    <a:lstStyle/>
                    <a:p>
                      <a:pPr>
                        <a:buNone/>
                      </a:pPr>
                      <a:r>
                        <a:rPr lang="en-IN" b="1"/>
                        <a:t>Globulins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~36%</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Liver &amp; Immune cells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Immunity (antibodies)</a:t>
                      </a:r>
                      <a:r>
                        <a:rPr lang="en-IN"/>
                        <a:t>, transport proteins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7457459"/>
                  </a:ext>
                </a:extLst>
              </a:tr>
              <a:tr h="0">
                <a:tc>
                  <a:txBody>
                    <a:bodyPr/>
                    <a:lstStyle/>
                    <a:p>
                      <a:pPr>
                        <a:buNone/>
                      </a:pPr>
                      <a:r>
                        <a:rPr lang="en-IN" b="1"/>
                        <a:t>Fibrinogen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~4%</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Liver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dirty="0"/>
                        <a:t>Blood clotting</a:t>
                      </a:r>
                      <a:r>
                        <a:rPr lang="en-US" dirty="0"/>
                        <a:t>, forms fibrin threads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1598336"/>
                  </a:ext>
                </a:extLst>
              </a:tr>
            </a:tbl>
          </a:graphicData>
        </a:graphic>
      </p:graphicFrame>
      <p:sp>
        <p:nvSpPr>
          <p:cNvPr id="5" name="Rectangle 1">
            <a:extLst>
              <a:ext uri="{FF2B5EF4-FFF2-40B4-BE49-F238E27FC236}">
                <a16:creationId xmlns:a16="http://schemas.microsoft.com/office/drawing/2014/main" id="{4EB659A2-D42A-E5E5-97EE-FB37F9CEFF1B}"/>
              </a:ext>
            </a:extLst>
          </p:cNvPr>
          <p:cNvSpPr>
            <a:spLocks noChangeArrowheads="1"/>
          </p:cNvSpPr>
          <p:nvPr/>
        </p:nvSpPr>
        <p:spPr bwMode="auto">
          <a:xfrm>
            <a:off x="0" y="-94565"/>
            <a:ext cx="255871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There are </a:t>
            </a:r>
            <a:r>
              <a:rPr kumimoji="0" lang="en-US" altLang="en-US" sz="1800" b="1" i="0" u="none" strike="noStrike" cap="none" normalizeH="0" baseline="0" dirty="0">
                <a:ln>
                  <a:noFill/>
                </a:ln>
                <a:solidFill>
                  <a:schemeClr val="tx1"/>
                </a:solidFill>
                <a:effectLst/>
                <a:latin typeface="Arial" panose="020B0604020202020204" pitchFamily="34" charset="0"/>
              </a:rPr>
              <a:t>three main types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12978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DFCD1D2-631C-575F-3275-19FA6E13E55F}"/>
              </a:ext>
            </a:extLst>
          </p:cNvPr>
          <p:cNvPicPr>
            <a:picLocks noGrp="1" noChangeAspect="1"/>
          </p:cNvPicPr>
          <p:nvPr>
            <p:ph idx="1"/>
          </p:nvPr>
        </p:nvPicPr>
        <p:blipFill>
          <a:blip r:embed="rId2"/>
          <a:stretch>
            <a:fillRect/>
          </a:stretch>
        </p:blipFill>
        <p:spPr>
          <a:xfrm>
            <a:off x="655321" y="668594"/>
            <a:ext cx="10860404" cy="5367081"/>
          </a:xfrm>
          <a:prstGeom prst="rect">
            <a:avLst/>
          </a:prstGeom>
        </p:spPr>
      </p:pic>
    </p:spTree>
    <p:extLst>
      <p:ext uri="{BB962C8B-B14F-4D97-AF65-F5344CB8AC3E}">
        <p14:creationId xmlns:p14="http://schemas.microsoft.com/office/powerpoint/2010/main" val="4207900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F2B744C-7D73-05C4-086E-4DE46A2B40FB}"/>
              </a:ext>
            </a:extLst>
          </p:cNvPr>
          <p:cNvGraphicFramePr>
            <a:graphicFrameLocks noGrp="1"/>
          </p:cNvGraphicFramePr>
          <p:nvPr>
            <p:ph idx="1"/>
            <p:extLst>
              <p:ext uri="{D42A27DB-BD31-4B8C-83A1-F6EECF244321}">
                <p14:modId xmlns:p14="http://schemas.microsoft.com/office/powerpoint/2010/main" val="4257739207"/>
              </p:ext>
            </p:extLst>
          </p:nvPr>
        </p:nvGraphicFramePr>
        <p:xfrm>
          <a:off x="914400" y="657225"/>
          <a:ext cx="10744200" cy="5638964"/>
        </p:xfrm>
        <a:graphic>
          <a:graphicData uri="http://schemas.openxmlformats.org/drawingml/2006/table">
            <a:tbl>
              <a:tblPr>
                <a:tableStyleId>{2D5ABB26-0587-4C30-8999-92F81FD0307C}</a:tableStyleId>
              </a:tblPr>
              <a:tblGrid>
                <a:gridCol w="3581400">
                  <a:extLst>
                    <a:ext uri="{9D8B030D-6E8A-4147-A177-3AD203B41FA5}">
                      <a16:colId xmlns:a16="http://schemas.microsoft.com/office/drawing/2014/main" val="1877420884"/>
                    </a:ext>
                  </a:extLst>
                </a:gridCol>
                <a:gridCol w="3581400">
                  <a:extLst>
                    <a:ext uri="{9D8B030D-6E8A-4147-A177-3AD203B41FA5}">
                      <a16:colId xmlns:a16="http://schemas.microsoft.com/office/drawing/2014/main" val="2938688864"/>
                    </a:ext>
                  </a:extLst>
                </a:gridCol>
                <a:gridCol w="3581400">
                  <a:extLst>
                    <a:ext uri="{9D8B030D-6E8A-4147-A177-3AD203B41FA5}">
                      <a16:colId xmlns:a16="http://schemas.microsoft.com/office/drawing/2014/main" val="4142954791"/>
                    </a:ext>
                  </a:extLst>
                </a:gridCol>
              </a:tblGrid>
              <a:tr h="206864">
                <a:tc>
                  <a:txBody>
                    <a:bodyPr/>
                    <a:lstStyle/>
                    <a:p>
                      <a:pPr>
                        <a:buNone/>
                      </a:pPr>
                      <a:r>
                        <a:rPr lang="en-IN" sz="1400" b="1" dirty="0"/>
                        <a:t>Function</a:t>
                      </a:r>
                      <a:endParaRPr lang="en-IN" sz="1400" dirty="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b="1" dirty="0"/>
                        <a:t>Proteins Involved</a:t>
                      </a:r>
                      <a:endParaRPr lang="en-IN" sz="1400" dirty="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b="1"/>
                        <a:t>Explanation</a:t>
                      </a:r>
                      <a:endParaRPr lang="en-IN"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958570"/>
                  </a:ext>
                </a:extLst>
              </a:tr>
              <a:tr h="672307">
                <a:tc>
                  <a:txBody>
                    <a:bodyPr/>
                    <a:lstStyle/>
                    <a:p>
                      <a:pPr>
                        <a:buNone/>
                      </a:pPr>
                      <a:r>
                        <a:rPr lang="en-US" sz="1400" b="1"/>
                        <a:t>1. Maintenance of colloid osmotic pressure (COP)</a:t>
                      </a:r>
                      <a:endParaRPr lang="en-US"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b="1" dirty="0"/>
                        <a:t>Albumin (main), Globulins</a:t>
                      </a:r>
                      <a:endParaRPr lang="en-IN" sz="1400" dirty="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Prevents leakage of fluid from blood to tissues; maintains blood volume and prevents edema</a:t>
                      </a:r>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9192358"/>
                  </a:ext>
                </a:extLst>
              </a:tr>
              <a:tr h="672307">
                <a:tc>
                  <a:txBody>
                    <a:bodyPr/>
                    <a:lstStyle/>
                    <a:p>
                      <a:pPr>
                        <a:buNone/>
                      </a:pPr>
                      <a:r>
                        <a:rPr lang="en-IN" sz="1400" b="1"/>
                        <a:t>2. Transport function</a:t>
                      </a:r>
                      <a:endParaRPr lang="en-IN"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b="1" dirty="0"/>
                        <a:t>Albumin, Globulins, Lipoproteins</a:t>
                      </a:r>
                      <a:endParaRPr lang="en-IN" sz="1400" dirty="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a:t>Transport hormones, bilirubin, fatty acids, drugs, vitamins, metals (iron, copper), etc.</a:t>
                      </a:r>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2662267"/>
                  </a:ext>
                </a:extLst>
              </a:tr>
              <a:tr h="362011">
                <a:tc>
                  <a:txBody>
                    <a:bodyPr/>
                    <a:lstStyle/>
                    <a:p>
                      <a:pPr>
                        <a:buNone/>
                      </a:pPr>
                      <a:r>
                        <a:rPr lang="en-IN" sz="1400" b="1"/>
                        <a:t>3. Blood clotting / Hemostasis</a:t>
                      </a:r>
                      <a:endParaRPr lang="en-IN"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b="1" dirty="0"/>
                        <a:t>Fibrinogen, Prothrombin, Clotting factors</a:t>
                      </a:r>
                      <a:endParaRPr lang="en-IN" sz="1400" dirty="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Essential in formation of fibrin clot to stop bleeding</a:t>
                      </a:r>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7604522"/>
                  </a:ext>
                </a:extLst>
              </a:tr>
              <a:tr h="517159">
                <a:tc>
                  <a:txBody>
                    <a:bodyPr/>
                    <a:lstStyle/>
                    <a:p>
                      <a:pPr>
                        <a:buNone/>
                      </a:pPr>
                      <a:r>
                        <a:rPr lang="en-IN" sz="1400" b="1"/>
                        <a:t>4. Immunity / Defense</a:t>
                      </a:r>
                      <a:endParaRPr lang="en-IN"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l-GR" sz="1400" b="1"/>
                        <a:t>γ-</a:t>
                      </a:r>
                      <a:r>
                        <a:rPr lang="en-IN" sz="1400" b="1"/>
                        <a:t>Globulins (Immunoglobulins)</a:t>
                      </a:r>
                      <a:endParaRPr lang="en-IN"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Antibodies neutralize pathogens and provide immune protection</a:t>
                      </a:r>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709188"/>
                  </a:ext>
                </a:extLst>
              </a:tr>
              <a:tr h="517159">
                <a:tc>
                  <a:txBody>
                    <a:bodyPr/>
                    <a:lstStyle/>
                    <a:p>
                      <a:pPr>
                        <a:buNone/>
                      </a:pPr>
                      <a:r>
                        <a:rPr lang="en-IN" sz="1400" b="1"/>
                        <a:t>5. Buffering (Acid–base balance)</a:t>
                      </a:r>
                      <a:endParaRPr lang="en-IN"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b="1"/>
                        <a:t>Albumin (main), Globulins</a:t>
                      </a:r>
                      <a:endParaRPr lang="en-IN"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Proteins act as buffers and help maintain blood pH (7.35–7.45)</a:t>
                      </a:r>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4379177"/>
                  </a:ext>
                </a:extLst>
              </a:tr>
              <a:tr h="517159">
                <a:tc>
                  <a:txBody>
                    <a:bodyPr/>
                    <a:lstStyle/>
                    <a:p>
                      <a:pPr>
                        <a:buNone/>
                      </a:pPr>
                      <a:r>
                        <a:rPr lang="en-US" sz="1400" b="1"/>
                        <a:t>6. Maintenance of blood viscosity</a:t>
                      </a:r>
                      <a:endParaRPr lang="en-US"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b="1"/>
                        <a:t>All plasma proteins</a:t>
                      </a:r>
                      <a:endParaRPr lang="en-IN"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Responsible for thickness of blood → affects blood flow and blood pressure</a:t>
                      </a:r>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1564932"/>
                  </a:ext>
                </a:extLst>
              </a:tr>
              <a:tr h="517159">
                <a:tc>
                  <a:txBody>
                    <a:bodyPr/>
                    <a:lstStyle/>
                    <a:p>
                      <a:pPr>
                        <a:buNone/>
                      </a:pPr>
                      <a:r>
                        <a:rPr lang="en-US" sz="1400" b="1"/>
                        <a:t>7. Storage / Reserve of amino acids</a:t>
                      </a:r>
                      <a:endParaRPr lang="en-US"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b="1"/>
                        <a:t>Albumin and Globulins</a:t>
                      </a:r>
                      <a:endParaRPr lang="en-IN"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Acts as protein reserve; can be broken down during starvation/malnutrition</a:t>
                      </a:r>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4202706"/>
                  </a:ext>
                </a:extLst>
              </a:tr>
              <a:tr h="517159">
                <a:tc>
                  <a:txBody>
                    <a:bodyPr/>
                    <a:lstStyle/>
                    <a:p>
                      <a:pPr>
                        <a:buNone/>
                      </a:pPr>
                      <a:r>
                        <a:rPr lang="en-IN" sz="1400" b="1"/>
                        <a:t>8. Carrier of drugs</a:t>
                      </a:r>
                      <a:endParaRPr lang="en-IN"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b="1"/>
                        <a:t>Albumin</a:t>
                      </a:r>
                      <a:endParaRPr lang="en-IN"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Binds many drugs and controls their availability and action in the body</a:t>
                      </a:r>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2984191"/>
                  </a:ext>
                </a:extLst>
              </a:tr>
              <a:tr h="517159">
                <a:tc>
                  <a:txBody>
                    <a:bodyPr/>
                    <a:lstStyle/>
                    <a:p>
                      <a:pPr>
                        <a:buNone/>
                      </a:pPr>
                      <a:r>
                        <a:rPr lang="en-IN" sz="1400" b="1"/>
                        <a:t>9. Role in erythrocyte sedimentation rate (ESR)</a:t>
                      </a:r>
                      <a:endParaRPr lang="en-IN"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b="1"/>
                        <a:t>Fibrinogen &amp; Globulins ↑ ESR</a:t>
                      </a:r>
                      <a:endParaRPr lang="en-IN"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Increased levels cause RBCs to sediment faster, used diagnostically</a:t>
                      </a:r>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570059"/>
                  </a:ext>
                </a:extLst>
              </a:tr>
              <a:tr h="362011">
                <a:tc>
                  <a:txBody>
                    <a:bodyPr/>
                    <a:lstStyle/>
                    <a:p>
                      <a:pPr>
                        <a:buNone/>
                      </a:pPr>
                      <a:r>
                        <a:rPr lang="en-IN" sz="1400" b="1" dirty="0"/>
                        <a:t>10. Tissue nutrition</a:t>
                      </a:r>
                      <a:endParaRPr lang="en-IN" sz="1400" dirty="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b="1"/>
                        <a:t>All plasma proteins</a:t>
                      </a:r>
                      <a:endParaRPr lang="en-IN" sz="1400"/>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Supply amino acids for cell growth and repair</a:t>
                      </a:r>
                    </a:p>
                  </a:txBody>
                  <a:tcPr marL="37810" marR="37810" marT="18905" marB="18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1920323"/>
                  </a:ext>
                </a:extLst>
              </a:tr>
            </a:tbl>
          </a:graphicData>
        </a:graphic>
      </p:graphicFrame>
    </p:spTree>
    <p:extLst>
      <p:ext uri="{BB962C8B-B14F-4D97-AF65-F5344CB8AC3E}">
        <p14:creationId xmlns:p14="http://schemas.microsoft.com/office/powerpoint/2010/main" val="3247259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B826C-8580-6277-AA67-237B4A53B91A}"/>
              </a:ext>
            </a:extLst>
          </p:cNvPr>
          <p:cNvSpPr>
            <a:spLocks noGrp="1"/>
          </p:cNvSpPr>
          <p:nvPr>
            <p:ph type="title"/>
          </p:nvPr>
        </p:nvSpPr>
        <p:spPr/>
        <p:txBody>
          <a:bodyPr/>
          <a:lstStyle/>
          <a:p>
            <a:r>
              <a:rPr lang="en-US" dirty="0"/>
              <a:t>Applied aspects</a:t>
            </a:r>
            <a:endParaRPr lang="en-IN" dirty="0"/>
          </a:p>
        </p:txBody>
      </p:sp>
      <p:sp>
        <p:nvSpPr>
          <p:cNvPr id="3" name="Content Placeholder 2">
            <a:extLst>
              <a:ext uri="{FF2B5EF4-FFF2-40B4-BE49-F238E27FC236}">
                <a16:creationId xmlns:a16="http://schemas.microsoft.com/office/drawing/2014/main" id="{CACAFDAD-420D-A099-465A-7C4501C39F30}"/>
              </a:ext>
            </a:extLst>
          </p:cNvPr>
          <p:cNvSpPr>
            <a:spLocks noGrp="1"/>
          </p:cNvSpPr>
          <p:nvPr>
            <p:ph idx="1"/>
          </p:nvPr>
        </p:nvSpPr>
        <p:spPr/>
        <p:txBody>
          <a:bodyPr/>
          <a:lstStyle/>
          <a:p>
            <a:r>
              <a:rPr lang="en-IN" dirty="0" err="1"/>
              <a:t>Edema</a:t>
            </a:r>
            <a:r>
              <a:rPr lang="en-IN" dirty="0"/>
              <a:t> in liver failure, kidney disease and malnutrition is due to </a:t>
            </a:r>
            <a:r>
              <a:rPr lang="en-IN" dirty="0" err="1"/>
              <a:t>hypoproteinemia</a:t>
            </a:r>
            <a:r>
              <a:rPr lang="en-IN" dirty="0"/>
              <a:t> which results in decreased colloid osmotic pressure.</a:t>
            </a:r>
          </a:p>
          <a:p>
            <a:r>
              <a:rPr lang="en-IN" dirty="0"/>
              <a:t> In hepatic insufficiency, there is relative gamma </a:t>
            </a:r>
            <a:r>
              <a:rPr lang="en-IN" dirty="0" err="1"/>
              <a:t>globulinemia</a:t>
            </a:r>
            <a:r>
              <a:rPr lang="en-IN" dirty="0"/>
              <a:t>. </a:t>
            </a:r>
            <a:r>
              <a:rPr lang="el-GR" dirty="0"/>
              <a:t>α1 </a:t>
            </a:r>
            <a:r>
              <a:rPr lang="en-IN" dirty="0"/>
              <a:t>antitrypsin deficiency leads to emphysema; Transferrin deficiency occurs in iron deficiency </a:t>
            </a:r>
            <a:r>
              <a:rPr lang="en-IN" dirty="0" err="1"/>
              <a:t>anemia</a:t>
            </a:r>
            <a:r>
              <a:rPr lang="en-IN" dirty="0"/>
              <a:t>; Ceruloplasmin deficiency leads to Wilson’s disease.</a:t>
            </a:r>
          </a:p>
          <a:p>
            <a:r>
              <a:rPr lang="en-IN" dirty="0"/>
              <a:t> C reactive protein (CRP) is raised in inflammatory conditions.</a:t>
            </a:r>
          </a:p>
          <a:p>
            <a:r>
              <a:rPr lang="en-IN" dirty="0"/>
              <a:t> Certain plasma proteins can be used as </a:t>
            </a:r>
            <a:r>
              <a:rPr lang="en-IN" dirty="0" err="1"/>
              <a:t>tumor</a:t>
            </a:r>
            <a:r>
              <a:rPr lang="en-IN" dirty="0"/>
              <a:t> markers: Carcinoembryonic antigen (CEA) is the marker for cancer of bowel, stomach and lung, and alpha fetoprotein (</a:t>
            </a:r>
            <a:r>
              <a:rPr lang="el-GR" dirty="0"/>
              <a:t>α </a:t>
            </a:r>
            <a:r>
              <a:rPr lang="en-IN" dirty="0"/>
              <a:t>FP) is the marker for cancer liver and testicular </a:t>
            </a:r>
            <a:r>
              <a:rPr lang="en-IN" dirty="0" err="1"/>
              <a:t>tumor</a:t>
            </a:r>
            <a:endParaRPr lang="en-IN" dirty="0"/>
          </a:p>
        </p:txBody>
      </p:sp>
    </p:spTree>
    <p:extLst>
      <p:ext uri="{BB962C8B-B14F-4D97-AF65-F5344CB8AC3E}">
        <p14:creationId xmlns:p14="http://schemas.microsoft.com/office/powerpoint/2010/main" val="794502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6C614-0334-5C53-A659-14BDE325FC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DE9BFF-5971-537C-628E-17D4BBC9834E}"/>
              </a:ext>
            </a:extLst>
          </p:cNvPr>
          <p:cNvSpPr>
            <a:spLocks noGrp="1"/>
          </p:cNvSpPr>
          <p:nvPr>
            <p:ph type="ctrTitle"/>
          </p:nvPr>
        </p:nvSpPr>
        <p:spPr/>
        <p:txBody>
          <a:bodyPr/>
          <a:lstStyle/>
          <a:p>
            <a:r>
              <a:rPr lang="en-US" dirty="0"/>
              <a:t>Unit 2</a:t>
            </a:r>
            <a:endParaRPr lang="en-IN" dirty="0"/>
          </a:p>
        </p:txBody>
      </p:sp>
      <p:sp>
        <p:nvSpPr>
          <p:cNvPr id="3" name="Subtitle 2">
            <a:extLst>
              <a:ext uri="{FF2B5EF4-FFF2-40B4-BE49-F238E27FC236}">
                <a16:creationId xmlns:a16="http://schemas.microsoft.com/office/drawing/2014/main" id="{C129B09D-24F8-5053-CF8E-5F389193657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317505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14CF2-3A29-7637-6AAB-69F36BA158F4}"/>
              </a:ext>
            </a:extLst>
          </p:cNvPr>
          <p:cNvSpPr>
            <a:spLocks noGrp="1"/>
          </p:cNvSpPr>
          <p:nvPr>
            <p:ph type="title"/>
          </p:nvPr>
        </p:nvSpPr>
        <p:spPr/>
        <p:txBody>
          <a:bodyPr/>
          <a:lstStyle/>
          <a:p>
            <a:r>
              <a:rPr lang="en-US" dirty="0"/>
              <a:t>Red blood corpuscles</a:t>
            </a:r>
            <a:endParaRPr lang="en-IN" dirty="0"/>
          </a:p>
        </p:txBody>
      </p:sp>
      <p:sp>
        <p:nvSpPr>
          <p:cNvPr id="3" name="Content Placeholder 2">
            <a:extLst>
              <a:ext uri="{FF2B5EF4-FFF2-40B4-BE49-F238E27FC236}">
                <a16:creationId xmlns:a16="http://schemas.microsoft.com/office/drawing/2014/main" id="{AE4581AE-557C-9A10-3BD6-04A6CCB1107E}"/>
              </a:ext>
            </a:extLst>
          </p:cNvPr>
          <p:cNvSpPr>
            <a:spLocks noGrp="1"/>
          </p:cNvSpPr>
          <p:nvPr>
            <p:ph idx="1"/>
          </p:nvPr>
        </p:nvSpPr>
        <p:spPr/>
        <p:txBody>
          <a:bodyPr/>
          <a:lstStyle/>
          <a:p>
            <a:r>
              <a:rPr lang="en-US" b="1" dirty="0"/>
              <a:t>RBC (Red Blood Cell)</a:t>
            </a:r>
            <a:r>
              <a:rPr lang="en-US" dirty="0"/>
              <a:t>, also called </a:t>
            </a:r>
            <a:r>
              <a:rPr lang="en-US" b="1" dirty="0"/>
              <a:t>Erythrocyte</a:t>
            </a:r>
            <a:r>
              <a:rPr lang="en-US" dirty="0"/>
              <a:t>, is the most abundant type of blood cell that is mainly responsible for the </a:t>
            </a:r>
            <a:r>
              <a:rPr lang="en-US" b="1" dirty="0"/>
              <a:t>transport of oxygen and carbon dioxide</a:t>
            </a:r>
            <a:r>
              <a:rPr lang="en-US" dirty="0"/>
              <a:t> in the body.</a:t>
            </a:r>
          </a:p>
          <a:p>
            <a:r>
              <a:rPr lang="en-US" dirty="0"/>
              <a:t>RBCs contain </a:t>
            </a:r>
            <a:r>
              <a:rPr lang="en-US" b="1" dirty="0"/>
              <a:t>hemoglobin</a:t>
            </a:r>
            <a:r>
              <a:rPr lang="en-US" dirty="0"/>
              <a:t>, an iron-containing pigment that binds with oxygen and gives blood its </a:t>
            </a:r>
            <a:r>
              <a:rPr lang="en-US" b="1" dirty="0"/>
              <a:t>red color</a:t>
            </a:r>
            <a:r>
              <a:rPr lang="en-US" dirty="0"/>
              <a:t>.</a:t>
            </a:r>
          </a:p>
          <a:p>
            <a:pPr marL="0" indent="0">
              <a:buNone/>
            </a:pPr>
            <a:r>
              <a:rPr lang="en-IN" b="1" dirty="0"/>
              <a:t>Morphology</a:t>
            </a:r>
          </a:p>
          <a:p>
            <a:r>
              <a:rPr lang="en-IN" b="1" dirty="0"/>
              <a:t>Shape:</a:t>
            </a:r>
            <a:r>
              <a:rPr lang="en-IN" dirty="0"/>
              <a:t> Biconcave disc</a:t>
            </a:r>
          </a:p>
          <a:p>
            <a:r>
              <a:rPr lang="en-IN" b="1" dirty="0"/>
              <a:t>Diameter:</a:t>
            </a:r>
            <a:r>
              <a:rPr lang="en-IN" dirty="0"/>
              <a:t> ~7.2 – 7.8 µm</a:t>
            </a:r>
          </a:p>
          <a:p>
            <a:r>
              <a:rPr lang="en-IN" b="1" dirty="0"/>
              <a:t>Thickness:</a:t>
            </a:r>
            <a:r>
              <a:rPr lang="en-IN" dirty="0"/>
              <a:t> ~2.2 µm at periphery, 1 µm at </a:t>
            </a:r>
            <a:r>
              <a:rPr lang="en-IN" dirty="0" err="1"/>
              <a:t>center</a:t>
            </a:r>
            <a:endParaRPr lang="en-IN" dirty="0"/>
          </a:p>
          <a:p>
            <a:r>
              <a:rPr lang="en-IN" b="1" dirty="0"/>
              <a:t>Nucleus:</a:t>
            </a:r>
            <a:r>
              <a:rPr lang="en-IN" dirty="0"/>
              <a:t> </a:t>
            </a:r>
            <a:r>
              <a:rPr lang="en-IN" b="1" dirty="0"/>
              <a:t>Absent</a:t>
            </a:r>
            <a:r>
              <a:rPr lang="en-IN" dirty="0"/>
              <a:t> in mature RBCs (non-nucleated)</a:t>
            </a:r>
          </a:p>
          <a:p>
            <a:r>
              <a:rPr lang="en-IN" b="1" dirty="0"/>
              <a:t>Organelles:</a:t>
            </a:r>
            <a:r>
              <a:rPr lang="en-IN" dirty="0"/>
              <a:t> No mitochondria, no Golgi body (allows more space for </a:t>
            </a:r>
            <a:r>
              <a:rPr lang="en-IN" dirty="0" err="1"/>
              <a:t>hemoglobin</a:t>
            </a:r>
            <a:r>
              <a:rPr lang="en-IN" dirty="0"/>
              <a:t>)</a:t>
            </a:r>
          </a:p>
          <a:p>
            <a:endParaRPr lang="en-IN" dirty="0"/>
          </a:p>
        </p:txBody>
      </p:sp>
    </p:spTree>
    <p:extLst>
      <p:ext uri="{BB962C8B-B14F-4D97-AF65-F5344CB8AC3E}">
        <p14:creationId xmlns:p14="http://schemas.microsoft.com/office/powerpoint/2010/main" val="723308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26850-2E5F-A5CE-D811-B41C5D8F10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59040-494A-9121-2B87-861C2D5C0EA4}"/>
              </a:ext>
            </a:extLst>
          </p:cNvPr>
          <p:cNvSpPr>
            <a:spLocks noGrp="1"/>
          </p:cNvSpPr>
          <p:nvPr>
            <p:ph type="title"/>
          </p:nvPr>
        </p:nvSpPr>
        <p:spPr/>
        <p:txBody>
          <a:bodyPr/>
          <a:lstStyle/>
          <a:p>
            <a:r>
              <a:rPr lang="en-US" dirty="0"/>
              <a:t>Red blood corpuscles</a:t>
            </a:r>
            <a:endParaRPr lang="en-IN" dirty="0"/>
          </a:p>
        </p:txBody>
      </p:sp>
      <p:sp>
        <p:nvSpPr>
          <p:cNvPr id="3" name="Content Placeholder 2">
            <a:extLst>
              <a:ext uri="{FF2B5EF4-FFF2-40B4-BE49-F238E27FC236}">
                <a16:creationId xmlns:a16="http://schemas.microsoft.com/office/drawing/2014/main" id="{7A528848-869E-D05E-343A-1731F8339DFB}"/>
              </a:ext>
            </a:extLst>
          </p:cNvPr>
          <p:cNvSpPr>
            <a:spLocks noGrp="1"/>
          </p:cNvSpPr>
          <p:nvPr>
            <p:ph idx="1"/>
          </p:nvPr>
        </p:nvSpPr>
        <p:spPr/>
        <p:txBody>
          <a:bodyPr/>
          <a:lstStyle/>
          <a:p>
            <a:r>
              <a:rPr lang="en-US" altLang="en-US" b="1" dirty="0">
                <a:latin typeface="Arial" panose="020B0604020202020204" pitchFamily="34" charset="0"/>
              </a:rPr>
              <a:t>Normal Values</a:t>
            </a:r>
          </a:p>
        </p:txBody>
      </p:sp>
      <p:graphicFrame>
        <p:nvGraphicFramePr>
          <p:cNvPr id="4" name="Table 3">
            <a:extLst>
              <a:ext uri="{FF2B5EF4-FFF2-40B4-BE49-F238E27FC236}">
                <a16:creationId xmlns:a16="http://schemas.microsoft.com/office/drawing/2014/main" id="{0764BFB1-38C5-61B4-7653-C4ED41C8B9BD}"/>
              </a:ext>
            </a:extLst>
          </p:cNvPr>
          <p:cNvGraphicFramePr>
            <a:graphicFrameLocks noGrp="1"/>
          </p:cNvGraphicFramePr>
          <p:nvPr>
            <p:extLst>
              <p:ext uri="{D42A27DB-BD31-4B8C-83A1-F6EECF244321}">
                <p14:modId xmlns:p14="http://schemas.microsoft.com/office/powerpoint/2010/main" val="339667019"/>
              </p:ext>
            </p:extLst>
          </p:nvPr>
        </p:nvGraphicFramePr>
        <p:xfrm>
          <a:off x="1066800" y="2697956"/>
          <a:ext cx="10058400" cy="2743200"/>
        </p:xfrm>
        <a:graphic>
          <a:graphicData uri="http://schemas.openxmlformats.org/drawingml/2006/table">
            <a:tbl>
              <a:tblPr/>
              <a:tblGrid>
                <a:gridCol w="5029200">
                  <a:extLst>
                    <a:ext uri="{9D8B030D-6E8A-4147-A177-3AD203B41FA5}">
                      <a16:colId xmlns:a16="http://schemas.microsoft.com/office/drawing/2014/main" val="1156957433"/>
                    </a:ext>
                  </a:extLst>
                </a:gridCol>
                <a:gridCol w="5029200">
                  <a:extLst>
                    <a:ext uri="{9D8B030D-6E8A-4147-A177-3AD203B41FA5}">
                      <a16:colId xmlns:a16="http://schemas.microsoft.com/office/drawing/2014/main" val="64212287"/>
                    </a:ext>
                  </a:extLst>
                </a:gridCol>
              </a:tblGrid>
              <a:tr h="0">
                <a:tc>
                  <a:txBody>
                    <a:bodyPr/>
                    <a:lstStyle/>
                    <a:p>
                      <a:pPr>
                        <a:buNone/>
                      </a:pPr>
                      <a:r>
                        <a:rPr lang="en-IN"/>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Normal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1883431"/>
                  </a:ext>
                </a:extLst>
              </a:tr>
              <a:tr h="0">
                <a:tc>
                  <a:txBody>
                    <a:bodyPr/>
                    <a:lstStyle/>
                    <a:p>
                      <a:pPr>
                        <a:buNone/>
                      </a:pPr>
                      <a:r>
                        <a:rPr lang="en-IN" dirty="0"/>
                        <a:t>RBC 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5–6 million/µL in males</a:t>
                      </a:r>
                      <a:r>
                        <a:rPr lang="en-IN"/>
                        <a:t>; </a:t>
                      </a:r>
                      <a:r>
                        <a:rPr lang="en-IN" b="1"/>
                        <a:t>4–5 million/µL in females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5813482"/>
                  </a:ext>
                </a:extLst>
              </a:tr>
              <a:tr h="0">
                <a:tc>
                  <a:txBody>
                    <a:bodyPr/>
                    <a:lstStyle/>
                    <a:p>
                      <a:pPr>
                        <a:buNone/>
                      </a:pPr>
                      <a:r>
                        <a:rPr lang="en-IN"/>
                        <a:t>Hemoglobin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13–18 g/dL (males), 11–16 g/dL (females)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0245958"/>
                  </a:ext>
                </a:extLst>
              </a:tr>
              <a:tr h="0">
                <a:tc>
                  <a:txBody>
                    <a:bodyPr/>
                    <a:lstStyle/>
                    <a:p>
                      <a:pPr>
                        <a:buNone/>
                      </a:pPr>
                      <a:r>
                        <a:rPr lang="en-IN"/>
                        <a:t>Life Span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120 days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3905190"/>
                  </a:ext>
                </a:extLst>
              </a:tr>
              <a:tr h="0">
                <a:tc>
                  <a:txBody>
                    <a:bodyPr/>
                    <a:lstStyle/>
                    <a:p>
                      <a:pPr>
                        <a:buNone/>
                      </a:pPr>
                      <a:r>
                        <a:rPr lang="en-IN"/>
                        <a:t>Production site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Red bone marrow</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330306"/>
                  </a:ext>
                </a:extLst>
              </a:tr>
              <a:tr h="0">
                <a:tc>
                  <a:txBody>
                    <a:bodyPr/>
                    <a:lstStyle/>
                    <a:p>
                      <a:pPr>
                        <a:buNone/>
                      </a:pPr>
                      <a:r>
                        <a:rPr lang="en-IN"/>
                        <a:t>Destruction site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dirty="0"/>
                        <a:t>Spleen, liver, bone marrow</a:t>
                      </a:r>
                      <a:r>
                        <a:rPr lang="en-US" dirty="0"/>
                        <a:t> (spleen = graveyard of RBCs)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0147373"/>
                  </a:ext>
                </a:extLst>
              </a:tr>
            </a:tbl>
          </a:graphicData>
        </a:graphic>
      </p:graphicFrame>
    </p:spTree>
    <p:extLst>
      <p:ext uri="{BB962C8B-B14F-4D97-AF65-F5344CB8AC3E}">
        <p14:creationId xmlns:p14="http://schemas.microsoft.com/office/powerpoint/2010/main" val="3126659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F9117-C004-E4AC-8461-5268FF601775}"/>
              </a:ext>
            </a:extLst>
          </p:cNvPr>
          <p:cNvSpPr>
            <a:spLocks noGrp="1"/>
          </p:cNvSpPr>
          <p:nvPr>
            <p:ph type="title"/>
          </p:nvPr>
        </p:nvSpPr>
        <p:spPr/>
        <p:txBody>
          <a:bodyPr/>
          <a:lstStyle/>
          <a:p>
            <a:r>
              <a:rPr lang="en-US" dirty="0"/>
              <a:t>Erythropoiesis</a:t>
            </a:r>
            <a:endParaRPr lang="en-IN" dirty="0"/>
          </a:p>
        </p:txBody>
      </p:sp>
      <p:sp>
        <p:nvSpPr>
          <p:cNvPr id="3" name="Content Placeholder 2">
            <a:extLst>
              <a:ext uri="{FF2B5EF4-FFF2-40B4-BE49-F238E27FC236}">
                <a16:creationId xmlns:a16="http://schemas.microsoft.com/office/drawing/2014/main" id="{1D5C3509-F0D6-6DDF-0DFE-3CB8351CA01A}"/>
              </a:ext>
            </a:extLst>
          </p:cNvPr>
          <p:cNvSpPr>
            <a:spLocks noGrp="1"/>
          </p:cNvSpPr>
          <p:nvPr>
            <p:ph idx="1"/>
          </p:nvPr>
        </p:nvSpPr>
        <p:spPr>
          <a:xfrm>
            <a:off x="1066800" y="1648569"/>
            <a:ext cx="10058400" cy="3931920"/>
          </a:xfrm>
        </p:spPr>
        <p:txBody>
          <a:bodyPr/>
          <a:lstStyle/>
          <a:p>
            <a:r>
              <a:rPr lang="en-US" dirty="0"/>
              <a:t>Erythropoiesis is defined as the production and maturation of erythrocytes.</a:t>
            </a:r>
          </a:p>
          <a:p>
            <a:r>
              <a:rPr lang="en-US" dirty="0"/>
              <a:t> Erythropoiesis begins with a pluripotent stem cell whose progeny is influenced by hormones to develop into several cell lines.</a:t>
            </a:r>
          </a:p>
          <a:p>
            <a:r>
              <a:rPr lang="en-US" dirty="0"/>
              <a:t>One of these cell lines becomes committed to the erythroid line of development</a:t>
            </a:r>
            <a:endParaRPr lang="en-IN" dirty="0"/>
          </a:p>
        </p:txBody>
      </p:sp>
      <p:pic>
        <p:nvPicPr>
          <p:cNvPr id="5" name="Picture 4">
            <a:extLst>
              <a:ext uri="{FF2B5EF4-FFF2-40B4-BE49-F238E27FC236}">
                <a16:creationId xmlns:a16="http://schemas.microsoft.com/office/drawing/2014/main" id="{5B00EAEB-DEF3-6C97-64AC-976093F6AB60}"/>
              </a:ext>
            </a:extLst>
          </p:cNvPr>
          <p:cNvPicPr>
            <a:picLocks noChangeAspect="1"/>
          </p:cNvPicPr>
          <p:nvPr/>
        </p:nvPicPr>
        <p:blipFill>
          <a:blip r:embed="rId2"/>
          <a:stretch>
            <a:fillRect/>
          </a:stretch>
        </p:blipFill>
        <p:spPr>
          <a:xfrm>
            <a:off x="3585882" y="3233665"/>
            <a:ext cx="4010585" cy="2981741"/>
          </a:xfrm>
          <a:prstGeom prst="rect">
            <a:avLst/>
          </a:prstGeom>
        </p:spPr>
      </p:pic>
    </p:spTree>
    <p:extLst>
      <p:ext uri="{BB962C8B-B14F-4D97-AF65-F5344CB8AC3E}">
        <p14:creationId xmlns:p14="http://schemas.microsoft.com/office/powerpoint/2010/main" val="3884334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72709-F959-821D-80B4-6A93075B873E}"/>
              </a:ext>
            </a:extLst>
          </p:cNvPr>
          <p:cNvSpPr>
            <a:spLocks noGrp="1"/>
          </p:cNvSpPr>
          <p:nvPr>
            <p:ph type="title"/>
          </p:nvPr>
        </p:nvSpPr>
        <p:spPr/>
        <p:txBody>
          <a:bodyPr>
            <a:normAutofit fontScale="90000"/>
          </a:bodyPr>
          <a:lstStyle/>
          <a:p>
            <a:r>
              <a:rPr lang="en-US" dirty="0"/>
              <a:t>Total period of erythropoiesis- 7-9 days</a:t>
            </a:r>
            <a:endParaRPr lang="en-IN" dirty="0"/>
          </a:p>
        </p:txBody>
      </p:sp>
      <p:pic>
        <p:nvPicPr>
          <p:cNvPr id="5" name="Content Placeholder 4">
            <a:extLst>
              <a:ext uri="{FF2B5EF4-FFF2-40B4-BE49-F238E27FC236}">
                <a16:creationId xmlns:a16="http://schemas.microsoft.com/office/drawing/2014/main" id="{A257D07D-ED44-2696-06EC-6D0277441610}"/>
              </a:ext>
            </a:extLst>
          </p:cNvPr>
          <p:cNvPicPr>
            <a:picLocks noGrp="1" noChangeAspect="1"/>
          </p:cNvPicPr>
          <p:nvPr>
            <p:ph idx="1"/>
          </p:nvPr>
        </p:nvPicPr>
        <p:blipFill>
          <a:blip r:embed="rId2"/>
          <a:stretch>
            <a:fillRect/>
          </a:stretch>
        </p:blipFill>
        <p:spPr>
          <a:xfrm>
            <a:off x="3006213" y="2192594"/>
            <a:ext cx="6179574" cy="4022812"/>
          </a:xfrm>
          <a:prstGeom prst="rect">
            <a:avLst/>
          </a:prstGeom>
        </p:spPr>
      </p:pic>
    </p:spTree>
    <p:extLst>
      <p:ext uri="{BB962C8B-B14F-4D97-AF65-F5344CB8AC3E}">
        <p14:creationId xmlns:p14="http://schemas.microsoft.com/office/powerpoint/2010/main" val="1920728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a:extLst>
              <a:ext uri="{FF2B5EF4-FFF2-40B4-BE49-F238E27FC236}">
                <a16:creationId xmlns:a16="http://schemas.microsoft.com/office/drawing/2014/main" id="{02CCC81D-C2C8-70C5-BFF9-AA6BF6D7C80B}"/>
              </a:ext>
            </a:extLst>
          </p:cNvPr>
          <p:cNvPicPr>
            <a:picLocks noGrp="1" noChangeAspect="1"/>
          </p:cNvPicPr>
          <p:nvPr>
            <p:ph idx="1"/>
          </p:nvPr>
        </p:nvPicPr>
        <p:blipFill>
          <a:blip r:embed="rId2"/>
          <a:stretch>
            <a:fillRect/>
          </a:stretch>
        </p:blipFill>
        <p:spPr>
          <a:xfrm>
            <a:off x="363794" y="-29095"/>
            <a:ext cx="6263148" cy="6887095"/>
          </a:xfrm>
          <a:prstGeom prst="rect">
            <a:avLst/>
          </a:prstGeom>
        </p:spPr>
      </p:pic>
      <p:pic>
        <p:nvPicPr>
          <p:cNvPr id="16" name="Picture 15">
            <a:extLst>
              <a:ext uri="{FF2B5EF4-FFF2-40B4-BE49-F238E27FC236}">
                <a16:creationId xmlns:a16="http://schemas.microsoft.com/office/drawing/2014/main" id="{E6D69141-BAF2-2C01-BF5E-0519EBB8D684}"/>
              </a:ext>
            </a:extLst>
          </p:cNvPr>
          <p:cNvPicPr>
            <a:picLocks noChangeAspect="1"/>
          </p:cNvPicPr>
          <p:nvPr/>
        </p:nvPicPr>
        <p:blipFill>
          <a:blip r:embed="rId3"/>
          <a:stretch>
            <a:fillRect/>
          </a:stretch>
        </p:blipFill>
        <p:spPr>
          <a:xfrm>
            <a:off x="6626942" y="0"/>
            <a:ext cx="5201264" cy="6858000"/>
          </a:xfrm>
          <a:prstGeom prst="rect">
            <a:avLst/>
          </a:prstGeom>
        </p:spPr>
      </p:pic>
    </p:spTree>
    <p:extLst>
      <p:ext uri="{BB962C8B-B14F-4D97-AF65-F5344CB8AC3E}">
        <p14:creationId xmlns:p14="http://schemas.microsoft.com/office/powerpoint/2010/main" val="81555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635C6-6C4B-902F-F6FE-62EDA59048DC}"/>
              </a:ext>
            </a:extLst>
          </p:cNvPr>
          <p:cNvSpPr>
            <a:spLocks noGrp="1"/>
          </p:cNvSpPr>
          <p:nvPr>
            <p:ph type="title"/>
          </p:nvPr>
        </p:nvSpPr>
        <p:spPr/>
        <p:txBody>
          <a:bodyPr/>
          <a:lstStyle/>
          <a:p>
            <a:r>
              <a:rPr lang="en-US" dirty="0"/>
              <a:t>Normal values of RBC Count</a:t>
            </a:r>
            <a:endParaRPr lang="en-IN" dirty="0"/>
          </a:p>
        </p:txBody>
      </p:sp>
      <p:sp>
        <p:nvSpPr>
          <p:cNvPr id="3" name="Content Placeholder 2">
            <a:extLst>
              <a:ext uri="{FF2B5EF4-FFF2-40B4-BE49-F238E27FC236}">
                <a16:creationId xmlns:a16="http://schemas.microsoft.com/office/drawing/2014/main" id="{C0973B97-863C-E379-B3B5-A8AC868C1399}"/>
              </a:ext>
            </a:extLst>
          </p:cNvPr>
          <p:cNvSpPr>
            <a:spLocks noGrp="1"/>
          </p:cNvSpPr>
          <p:nvPr>
            <p:ph idx="1"/>
          </p:nvPr>
        </p:nvSpPr>
        <p:spPr/>
        <p:txBody>
          <a:bodyPr/>
          <a:lstStyle/>
          <a:p>
            <a:r>
              <a:rPr lang="en-US" dirty="0"/>
              <a:t>In males, average RBC count is 5.4 million cells/ cu.mm; in females, it is 4.8 million cells/cu.mm and in newborns, it is greater.</a:t>
            </a:r>
            <a:endParaRPr lang="en-IN" dirty="0"/>
          </a:p>
        </p:txBody>
      </p:sp>
      <p:pic>
        <p:nvPicPr>
          <p:cNvPr id="5" name="Picture 4">
            <a:extLst>
              <a:ext uri="{FF2B5EF4-FFF2-40B4-BE49-F238E27FC236}">
                <a16:creationId xmlns:a16="http://schemas.microsoft.com/office/drawing/2014/main" id="{669F1487-6BC4-B11F-0D11-6130C3FF132D}"/>
              </a:ext>
            </a:extLst>
          </p:cNvPr>
          <p:cNvPicPr>
            <a:picLocks noChangeAspect="1"/>
          </p:cNvPicPr>
          <p:nvPr/>
        </p:nvPicPr>
        <p:blipFill>
          <a:blip r:embed="rId2"/>
          <a:stretch>
            <a:fillRect/>
          </a:stretch>
        </p:blipFill>
        <p:spPr>
          <a:xfrm>
            <a:off x="1056028" y="3080460"/>
            <a:ext cx="10069172" cy="2169966"/>
          </a:xfrm>
          <a:prstGeom prst="rect">
            <a:avLst/>
          </a:prstGeom>
        </p:spPr>
      </p:pic>
    </p:spTree>
    <p:extLst>
      <p:ext uri="{BB962C8B-B14F-4D97-AF65-F5344CB8AC3E}">
        <p14:creationId xmlns:p14="http://schemas.microsoft.com/office/powerpoint/2010/main" val="3313890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5044A-5AA9-F3B3-710C-9C12F33126C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D42DF6D-045C-0D87-261E-10FB2DDBC303}"/>
              </a:ext>
            </a:extLst>
          </p:cNvPr>
          <p:cNvPicPr>
            <a:picLocks noGrp="1" noChangeAspect="1"/>
          </p:cNvPicPr>
          <p:nvPr>
            <p:ph idx="1"/>
          </p:nvPr>
        </p:nvPicPr>
        <p:blipFill>
          <a:blip r:embed="rId2"/>
          <a:stretch>
            <a:fillRect/>
          </a:stretch>
        </p:blipFill>
        <p:spPr>
          <a:xfrm>
            <a:off x="1066800" y="1328394"/>
            <a:ext cx="10205630" cy="4073428"/>
          </a:xfrm>
          <a:prstGeom prst="rect">
            <a:avLst/>
          </a:prstGeom>
        </p:spPr>
      </p:pic>
    </p:spTree>
    <p:extLst>
      <p:ext uri="{BB962C8B-B14F-4D97-AF65-F5344CB8AC3E}">
        <p14:creationId xmlns:p14="http://schemas.microsoft.com/office/powerpoint/2010/main" val="555614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E7E41-D941-493F-C615-97A902234250}"/>
              </a:ext>
            </a:extLst>
          </p:cNvPr>
          <p:cNvSpPr>
            <a:spLocks noGrp="1"/>
          </p:cNvSpPr>
          <p:nvPr>
            <p:ph type="title"/>
          </p:nvPr>
        </p:nvSpPr>
        <p:spPr>
          <a:xfrm>
            <a:off x="1061884" y="849071"/>
            <a:ext cx="10058400" cy="1371600"/>
          </a:xfrm>
        </p:spPr>
        <p:txBody>
          <a:bodyPr>
            <a:normAutofit fontScale="90000"/>
          </a:bodyPr>
          <a:lstStyle/>
          <a:p>
            <a:r>
              <a:rPr lang="en-US" dirty="0"/>
              <a:t>Factors influencing erythropoiesis</a:t>
            </a:r>
            <a:br>
              <a:rPr lang="en-US" dirty="0"/>
            </a:br>
            <a:br>
              <a:rPr lang="en-US" dirty="0"/>
            </a:br>
            <a:r>
              <a:rPr lang="en-US" altLang="en-US" sz="2000" b="1" dirty="0">
                <a:latin typeface="Arial" panose="020B0604020202020204" pitchFamily="34" charset="0"/>
              </a:rPr>
              <a:t>1. Hormonal Factors</a:t>
            </a:r>
            <a:br>
              <a:rPr lang="en-US" altLang="en-US" b="1" dirty="0">
                <a:latin typeface="Arial" panose="020B0604020202020204" pitchFamily="34" charset="0"/>
              </a:rPr>
            </a:br>
            <a:r>
              <a:rPr lang="en-US" dirty="0"/>
              <a:t> </a:t>
            </a:r>
            <a:endParaRPr lang="en-IN" dirty="0"/>
          </a:p>
        </p:txBody>
      </p:sp>
      <p:graphicFrame>
        <p:nvGraphicFramePr>
          <p:cNvPr id="4" name="Content Placeholder 3">
            <a:extLst>
              <a:ext uri="{FF2B5EF4-FFF2-40B4-BE49-F238E27FC236}">
                <a16:creationId xmlns:a16="http://schemas.microsoft.com/office/drawing/2014/main" id="{9850EA07-997D-EB59-5924-FCBFDF4F841F}"/>
              </a:ext>
            </a:extLst>
          </p:cNvPr>
          <p:cNvGraphicFramePr>
            <a:graphicFrameLocks noGrp="1"/>
          </p:cNvGraphicFramePr>
          <p:nvPr>
            <p:ph idx="1"/>
            <p:extLst>
              <p:ext uri="{D42A27DB-BD31-4B8C-83A1-F6EECF244321}">
                <p14:modId xmlns:p14="http://schemas.microsoft.com/office/powerpoint/2010/main" val="911024759"/>
              </p:ext>
            </p:extLst>
          </p:nvPr>
        </p:nvGraphicFramePr>
        <p:xfrm>
          <a:off x="1066800" y="2697956"/>
          <a:ext cx="10058400" cy="2743200"/>
        </p:xfrm>
        <a:graphic>
          <a:graphicData uri="http://schemas.openxmlformats.org/drawingml/2006/table">
            <a:tbl>
              <a:tblPr/>
              <a:tblGrid>
                <a:gridCol w="5029200">
                  <a:extLst>
                    <a:ext uri="{9D8B030D-6E8A-4147-A177-3AD203B41FA5}">
                      <a16:colId xmlns:a16="http://schemas.microsoft.com/office/drawing/2014/main" val="387580019"/>
                    </a:ext>
                  </a:extLst>
                </a:gridCol>
                <a:gridCol w="5029200">
                  <a:extLst>
                    <a:ext uri="{9D8B030D-6E8A-4147-A177-3AD203B41FA5}">
                      <a16:colId xmlns:a16="http://schemas.microsoft.com/office/drawing/2014/main" val="4016770380"/>
                    </a:ext>
                  </a:extLst>
                </a:gridCol>
              </a:tblGrid>
              <a:tr h="0">
                <a:tc>
                  <a:txBody>
                    <a:bodyPr/>
                    <a:lstStyle/>
                    <a:p>
                      <a:pPr>
                        <a:buNone/>
                      </a:pPr>
                      <a:r>
                        <a:rPr lang="en-IN" dirty="0"/>
                        <a:t>Hormone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9388502"/>
                  </a:ext>
                </a:extLst>
              </a:tr>
              <a:tr h="0">
                <a:tc>
                  <a:txBody>
                    <a:bodyPr/>
                    <a:lstStyle/>
                    <a:p>
                      <a:pPr>
                        <a:buNone/>
                      </a:pPr>
                      <a:r>
                        <a:rPr lang="en-IN" b="1" dirty="0"/>
                        <a:t>Erythropoietin (EPO • main regulator)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Stimulates RBC production in bone marrow during hypoxia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2532806"/>
                  </a:ext>
                </a:extLst>
              </a:tr>
              <a:tr h="0">
                <a:tc>
                  <a:txBody>
                    <a:bodyPr/>
                    <a:lstStyle/>
                    <a:p>
                      <a:pPr>
                        <a:buNone/>
                      </a:pPr>
                      <a:r>
                        <a:rPr lang="en-IN" b="1" dirty="0"/>
                        <a:t>Thyroxine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Increases tissue metabolism → increases RBC demand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9165805"/>
                  </a:ext>
                </a:extLst>
              </a:tr>
              <a:tr h="0">
                <a:tc>
                  <a:txBody>
                    <a:bodyPr/>
                    <a:lstStyle/>
                    <a:p>
                      <a:pPr>
                        <a:buNone/>
                      </a:pPr>
                      <a:r>
                        <a:rPr lang="en-IN" b="1" dirty="0"/>
                        <a:t>Growth hormone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Promotes RBC 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652494"/>
                  </a:ext>
                </a:extLst>
              </a:tr>
              <a:tr h="0">
                <a:tc>
                  <a:txBody>
                    <a:bodyPr/>
                    <a:lstStyle/>
                    <a:p>
                      <a:pPr>
                        <a:buNone/>
                      </a:pPr>
                      <a:r>
                        <a:rPr lang="en-IN" b="1"/>
                        <a:t>Androgens (Testosterone)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Strong stimulators of RBC production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5501340"/>
                  </a:ext>
                </a:extLst>
              </a:tr>
              <a:tr h="0">
                <a:tc>
                  <a:txBody>
                    <a:bodyPr/>
                    <a:lstStyle/>
                    <a:p>
                      <a:pPr>
                        <a:buNone/>
                      </a:pPr>
                      <a:r>
                        <a:rPr lang="en-IN" b="1"/>
                        <a:t>Cortisol</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Enhances RBC maturation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5439728"/>
                  </a:ext>
                </a:extLst>
              </a:tr>
            </a:tbl>
          </a:graphicData>
        </a:graphic>
      </p:graphicFrame>
    </p:spTree>
    <p:extLst>
      <p:ext uri="{BB962C8B-B14F-4D97-AF65-F5344CB8AC3E}">
        <p14:creationId xmlns:p14="http://schemas.microsoft.com/office/powerpoint/2010/main" val="35647695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40769-AD72-73CA-F5EC-F76D9F0DD4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69146-9A30-D038-D494-E1C6322C5603}"/>
              </a:ext>
            </a:extLst>
          </p:cNvPr>
          <p:cNvSpPr>
            <a:spLocks noGrp="1"/>
          </p:cNvSpPr>
          <p:nvPr>
            <p:ph type="title"/>
          </p:nvPr>
        </p:nvSpPr>
        <p:spPr>
          <a:xfrm>
            <a:off x="1061884" y="849071"/>
            <a:ext cx="10058400" cy="1371600"/>
          </a:xfrm>
        </p:spPr>
        <p:txBody>
          <a:bodyPr>
            <a:normAutofit fontScale="90000"/>
          </a:bodyPr>
          <a:lstStyle/>
          <a:p>
            <a:r>
              <a:rPr lang="en-US" dirty="0"/>
              <a:t>Factors influencing erythropoiesis</a:t>
            </a:r>
            <a:br>
              <a:rPr lang="en-US" dirty="0"/>
            </a:br>
            <a:br>
              <a:rPr lang="en-US" sz="1600" dirty="0"/>
            </a:br>
            <a:r>
              <a:rPr lang="en-US" altLang="en-US" sz="1600" b="1" dirty="0">
                <a:latin typeface="Arial" panose="020B0604020202020204" pitchFamily="34" charset="0"/>
              </a:rPr>
              <a:t>2. Nutritional Factors</a:t>
            </a:r>
            <a:br>
              <a:rPr lang="en-US" altLang="en-US" sz="1600" b="1" dirty="0">
                <a:latin typeface="Arial" panose="020B0604020202020204" pitchFamily="34" charset="0"/>
              </a:rPr>
            </a:br>
            <a:br>
              <a:rPr lang="en-US" altLang="en-US" b="1" dirty="0">
                <a:latin typeface="Arial" panose="020B0604020202020204" pitchFamily="34" charset="0"/>
              </a:rPr>
            </a:br>
            <a:r>
              <a:rPr lang="en-US" dirty="0"/>
              <a:t> </a:t>
            </a:r>
            <a:endParaRPr lang="en-IN" dirty="0"/>
          </a:p>
        </p:txBody>
      </p:sp>
      <p:graphicFrame>
        <p:nvGraphicFramePr>
          <p:cNvPr id="6" name="Content Placeholder 5">
            <a:extLst>
              <a:ext uri="{FF2B5EF4-FFF2-40B4-BE49-F238E27FC236}">
                <a16:creationId xmlns:a16="http://schemas.microsoft.com/office/drawing/2014/main" id="{685FE373-A4DC-0732-F3B7-4E8CB9535A67}"/>
              </a:ext>
            </a:extLst>
          </p:cNvPr>
          <p:cNvGraphicFramePr>
            <a:graphicFrameLocks noGrp="1"/>
          </p:cNvGraphicFramePr>
          <p:nvPr>
            <p:ph idx="1"/>
            <p:extLst>
              <p:ext uri="{D42A27DB-BD31-4B8C-83A1-F6EECF244321}">
                <p14:modId xmlns:p14="http://schemas.microsoft.com/office/powerpoint/2010/main" val="1221652784"/>
              </p:ext>
            </p:extLst>
          </p:nvPr>
        </p:nvGraphicFramePr>
        <p:xfrm>
          <a:off x="884093" y="2220671"/>
          <a:ext cx="10058400" cy="3200400"/>
        </p:xfrm>
        <a:graphic>
          <a:graphicData uri="http://schemas.openxmlformats.org/drawingml/2006/table">
            <a:tbl>
              <a:tblPr/>
              <a:tblGrid>
                <a:gridCol w="5029200">
                  <a:extLst>
                    <a:ext uri="{9D8B030D-6E8A-4147-A177-3AD203B41FA5}">
                      <a16:colId xmlns:a16="http://schemas.microsoft.com/office/drawing/2014/main" val="842747950"/>
                    </a:ext>
                  </a:extLst>
                </a:gridCol>
                <a:gridCol w="5029200">
                  <a:extLst>
                    <a:ext uri="{9D8B030D-6E8A-4147-A177-3AD203B41FA5}">
                      <a16:colId xmlns:a16="http://schemas.microsoft.com/office/drawing/2014/main" val="2103624747"/>
                    </a:ext>
                  </a:extLst>
                </a:gridCol>
              </a:tblGrid>
              <a:tr h="0">
                <a:tc>
                  <a:txBody>
                    <a:bodyPr/>
                    <a:lstStyle/>
                    <a:p>
                      <a:pPr>
                        <a:buNone/>
                      </a:pPr>
                      <a:r>
                        <a:rPr lang="en-IN" dirty="0"/>
                        <a:t>Nutrient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Role in RBC 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26445"/>
                  </a:ext>
                </a:extLst>
              </a:tr>
              <a:tr h="0">
                <a:tc>
                  <a:txBody>
                    <a:bodyPr/>
                    <a:lstStyle/>
                    <a:p>
                      <a:pPr>
                        <a:buNone/>
                      </a:pPr>
                      <a:r>
                        <a:rPr lang="en-IN" b="1" dirty="0"/>
                        <a:t>Iron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Synthesis of hemoglobin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4220157"/>
                  </a:ext>
                </a:extLst>
              </a:tr>
              <a:tr h="0">
                <a:tc>
                  <a:txBody>
                    <a:bodyPr/>
                    <a:lstStyle/>
                    <a:p>
                      <a:pPr>
                        <a:buNone/>
                      </a:pPr>
                      <a:r>
                        <a:rPr lang="en-IN" b="1" dirty="0"/>
                        <a:t>Vitamin B12</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DNA synthesis of RBCs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2304588"/>
                  </a:ext>
                </a:extLst>
              </a:tr>
              <a:tr h="0">
                <a:tc>
                  <a:txBody>
                    <a:bodyPr/>
                    <a:lstStyle/>
                    <a:p>
                      <a:pPr>
                        <a:buNone/>
                      </a:pPr>
                      <a:r>
                        <a:rPr lang="en-IN" b="1" dirty="0"/>
                        <a:t>Folic acid</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DNA synthesis and cell division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3113975"/>
                  </a:ext>
                </a:extLst>
              </a:tr>
              <a:tr h="0">
                <a:tc>
                  <a:txBody>
                    <a:bodyPr/>
                    <a:lstStyle/>
                    <a:p>
                      <a:pPr>
                        <a:buNone/>
                      </a:pPr>
                      <a:r>
                        <a:rPr lang="en-IN" b="1" dirty="0"/>
                        <a:t>Protein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Building material for hemoglobin and RBC stroma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0847609"/>
                  </a:ext>
                </a:extLst>
              </a:tr>
              <a:tr h="0">
                <a:tc>
                  <a:txBody>
                    <a:bodyPr/>
                    <a:lstStyle/>
                    <a:p>
                      <a:pPr>
                        <a:buNone/>
                      </a:pPr>
                      <a:r>
                        <a:rPr lang="en-IN" b="1"/>
                        <a:t>Vitamin B6 (Pyridoxine)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err="1"/>
                        <a:t>Heme</a:t>
                      </a:r>
                      <a:r>
                        <a:rPr lang="en-IN" dirty="0"/>
                        <a:t> synthesis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1834853"/>
                  </a:ext>
                </a:extLst>
              </a:tr>
              <a:tr h="0">
                <a:tc>
                  <a:txBody>
                    <a:bodyPr/>
                    <a:lstStyle/>
                    <a:p>
                      <a:pPr>
                        <a:buNone/>
                      </a:pPr>
                      <a:r>
                        <a:rPr lang="en-IN" b="1"/>
                        <a:t>Copper &amp; Cobalt</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Assist iron utilization and RBC production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4958806"/>
                  </a:ext>
                </a:extLst>
              </a:tr>
              <a:tr h="0">
                <a:tc>
                  <a:txBody>
                    <a:bodyPr/>
                    <a:lstStyle/>
                    <a:p>
                      <a:pPr>
                        <a:buNone/>
                      </a:pPr>
                      <a:r>
                        <a:rPr lang="en-IN" b="1"/>
                        <a:t>Vitamin C</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Enhances iron absorption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7314902"/>
                  </a:ext>
                </a:extLst>
              </a:tr>
            </a:tbl>
          </a:graphicData>
        </a:graphic>
      </p:graphicFrame>
    </p:spTree>
    <p:extLst>
      <p:ext uri="{BB962C8B-B14F-4D97-AF65-F5344CB8AC3E}">
        <p14:creationId xmlns:p14="http://schemas.microsoft.com/office/powerpoint/2010/main" val="315339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EC389-BFBD-557A-B60F-02372D720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7FC46-A2C3-8FF9-EA5D-A427D9259F6D}"/>
              </a:ext>
            </a:extLst>
          </p:cNvPr>
          <p:cNvSpPr>
            <a:spLocks noGrp="1"/>
          </p:cNvSpPr>
          <p:nvPr>
            <p:ph type="title"/>
          </p:nvPr>
        </p:nvSpPr>
        <p:spPr>
          <a:xfrm>
            <a:off x="1066800" y="961550"/>
            <a:ext cx="10058400" cy="1371600"/>
          </a:xfrm>
        </p:spPr>
        <p:txBody>
          <a:bodyPr>
            <a:normAutofit fontScale="90000"/>
          </a:bodyPr>
          <a:lstStyle/>
          <a:p>
            <a:r>
              <a:rPr lang="en-US" dirty="0"/>
              <a:t>Factors influencing erythropoiesis</a:t>
            </a:r>
            <a:br>
              <a:rPr lang="en-US" dirty="0"/>
            </a:br>
            <a:br>
              <a:rPr lang="en-US" sz="1600" dirty="0"/>
            </a:br>
            <a:r>
              <a:rPr lang="en-US" altLang="en-US" sz="1600" b="1" dirty="0">
                <a:latin typeface="Arial" panose="020B0604020202020204" pitchFamily="34" charset="0"/>
              </a:rPr>
              <a:t>3. Physiological Factors</a:t>
            </a:r>
            <a:br>
              <a:rPr lang="en-US" altLang="en-US" sz="1600" b="1" dirty="0">
                <a:latin typeface="Arial" panose="020B0604020202020204" pitchFamily="34" charset="0"/>
              </a:rPr>
            </a:br>
            <a:br>
              <a:rPr lang="en-US" altLang="en-US" sz="1600" b="1" dirty="0">
                <a:latin typeface="Arial" panose="020B0604020202020204" pitchFamily="34" charset="0"/>
              </a:rPr>
            </a:br>
            <a:br>
              <a:rPr lang="en-US" altLang="en-US" b="1" dirty="0">
                <a:latin typeface="Arial" panose="020B0604020202020204" pitchFamily="34" charset="0"/>
              </a:rPr>
            </a:br>
            <a:r>
              <a:rPr lang="en-US" dirty="0"/>
              <a:t> </a:t>
            </a:r>
            <a:endParaRPr lang="en-IN" dirty="0"/>
          </a:p>
        </p:txBody>
      </p:sp>
      <p:graphicFrame>
        <p:nvGraphicFramePr>
          <p:cNvPr id="5" name="Content Placeholder 4">
            <a:extLst>
              <a:ext uri="{FF2B5EF4-FFF2-40B4-BE49-F238E27FC236}">
                <a16:creationId xmlns:a16="http://schemas.microsoft.com/office/drawing/2014/main" id="{B4FF185D-AAB3-0AC2-83C3-9CFC3556D0FF}"/>
              </a:ext>
            </a:extLst>
          </p:cNvPr>
          <p:cNvGraphicFramePr>
            <a:graphicFrameLocks noGrp="1"/>
          </p:cNvGraphicFramePr>
          <p:nvPr>
            <p:ph idx="1"/>
            <p:extLst>
              <p:ext uri="{D42A27DB-BD31-4B8C-83A1-F6EECF244321}">
                <p14:modId xmlns:p14="http://schemas.microsoft.com/office/powerpoint/2010/main" val="3498144785"/>
              </p:ext>
            </p:extLst>
          </p:nvPr>
        </p:nvGraphicFramePr>
        <p:xfrm>
          <a:off x="958645" y="1828785"/>
          <a:ext cx="10058400" cy="2377440"/>
        </p:xfrm>
        <a:graphic>
          <a:graphicData uri="http://schemas.openxmlformats.org/drawingml/2006/table">
            <a:tbl>
              <a:tblPr/>
              <a:tblGrid>
                <a:gridCol w="5029200">
                  <a:extLst>
                    <a:ext uri="{9D8B030D-6E8A-4147-A177-3AD203B41FA5}">
                      <a16:colId xmlns:a16="http://schemas.microsoft.com/office/drawing/2014/main" val="97144847"/>
                    </a:ext>
                  </a:extLst>
                </a:gridCol>
                <a:gridCol w="5029200">
                  <a:extLst>
                    <a:ext uri="{9D8B030D-6E8A-4147-A177-3AD203B41FA5}">
                      <a16:colId xmlns:a16="http://schemas.microsoft.com/office/drawing/2014/main" val="1112828381"/>
                    </a:ext>
                  </a:extLst>
                </a:gridCol>
              </a:tblGrid>
              <a:tr h="0">
                <a:tc>
                  <a:txBody>
                    <a:bodyPr/>
                    <a:lstStyle/>
                    <a:p>
                      <a:pPr>
                        <a:buNone/>
                      </a:pPr>
                      <a:r>
                        <a:rPr lang="en-IN" dirty="0"/>
                        <a:t>Factor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Effect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059580"/>
                  </a:ext>
                </a:extLst>
              </a:tr>
              <a:tr h="0">
                <a:tc>
                  <a:txBody>
                    <a:bodyPr/>
                    <a:lstStyle/>
                    <a:p>
                      <a:pPr>
                        <a:buNone/>
                      </a:pPr>
                      <a:r>
                        <a:rPr lang="en-IN" b="1" dirty="0"/>
                        <a:t>Hypoxia</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t>Primary stimulus</a:t>
                      </a:r>
                      <a:r>
                        <a:rPr lang="en-US"/>
                        <a:t> → increases EPO secretion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0516188"/>
                  </a:ext>
                </a:extLst>
              </a:tr>
              <a:tr h="0">
                <a:tc>
                  <a:txBody>
                    <a:bodyPr/>
                    <a:lstStyle/>
                    <a:p>
                      <a:pPr>
                        <a:buNone/>
                      </a:pPr>
                      <a:r>
                        <a:rPr lang="en-IN" b="1" dirty="0"/>
                        <a:t>Exercise &amp; high altitude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Increase oxygen demand → ↑ RBC production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8863202"/>
                  </a:ext>
                </a:extLst>
              </a:tr>
              <a:tr h="0">
                <a:tc>
                  <a:txBody>
                    <a:bodyPr/>
                    <a:lstStyle/>
                    <a:p>
                      <a:pPr>
                        <a:buNone/>
                      </a:pPr>
                      <a:r>
                        <a:rPr lang="en-IN" b="1" dirty="0"/>
                        <a:t>Age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Erythropoiesis highest in infancy &amp; childhood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8757268"/>
                  </a:ext>
                </a:extLst>
              </a:tr>
              <a:tr h="0">
                <a:tc>
                  <a:txBody>
                    <a:bodyPr/>
                    <a:lstStyle/>
                    <a:p>
                      <a:pPr>
                        <a:buNone/>
                      </a:pPr>
                      <a:r>
                        <a:rPr lang="en-IN" b="1"/>
                        <a:t>Gender</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Higher in males (due to testosterone)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7079039"/>
                  </a:ext>
                </a:extLst>
              </a:tr>
            </a:tbl>
          </a:graphicData>
        </a:graphic>
      </p:graphicFrame>
    </p:spTree>
    <p:extLst>
      <p:ext uri="{BB962C8B-B14F-4D97-AF65-F5344CB8AC3E}">
        <p14:creationId xmlns:p14="http://schemas.microsoft.com/office/powerpoint/2010/main" val="223062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1890-BC09-C62B-C21C-876D7B204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DDAAC-EFBC-E9A1-5383-CA128530DC51}"/>
              </a:ext>
            </a:extLst>
          </p:cNvPr>
          <p:cNvSpPr>
            <a:spLocks noGrp="1"/>
          </p:cNvSpPr>
          <p:nvPr>
            <p:ph type="title"/>
          </p:nvPr>
        </p:nvSpPr>
        <p:spPr>
          <a:xfrm>
            <a:off x="1066800" y="1394169"/>
            <a:ext cx="10058400" cy="1371600"/>
          </a:xfrm>
        </p:spPr>
        <p:txBody>
          <a:bodyPr>
            <a:normAutofit fontScale="90000"/>
          </a:bodyPr>
          <a:lstStyle/>
          <a:p>
            <a:r>
              <a:rPr lang="en-US" dirty="0"/>
              <a:t>Factors influencing erythropoiesis</a:t>
            </a:r>
            <a:br>
              <a:rPr lang="en-US" dirty="0"/>
            </a:br>
            <a:br>
              <a:rPr lang="en-US" dirty="0"/>
            </a:br>
            <a:r>
              <a:rPr lang="en-IN" sz="1600" dirty="0"/>
              <a:t>5. Nervous System &amp; Temperature</a:t>
            </a:r>
            <a:br>
              <a:rPr lang="en-US" altLang="en-US" sz="1600" b="1" dirty="0">
                <a:latin typeface="Arial" panose="020B0604020202020204" pitchFamily="34" charset="0"/>
              </a:rPr>
            </a:br>
            <a:br>
              <a:rPr lang="en-US" altLang="en-US" sz="1600" b="1" dirty="0">
                <a:latin typeface="Arial" panose="020B0604020202020204" pitchFamily="34" charset="0"/>
              </a:rPr>
            </a:br>
            <a:br>
              <a:rPr lang="en-US" altLang="en-US" sz="1600" b="1" dirty="0">
                <a:latin typeface="Arial" panose="020B0604020202020204" pitchFamily="34" charset="0"/>
              </a:rPr>
            </a:br>
            <a:br>
              <a:rPr lang="en-US" altLang="en-US" b="1" dirty="0">
                <a:latin typeface="Arial" panose="020B0604020202020204" pitchFamily="34" charset="0"/>
              </a:rPr>
            </a:br>
            <a:r>
              <a:rPr lang="en-US" dirty="0"/>
              <a:t> </a:t>
            </a:r>
            <a:endParaRPr lang="en-IN" dirty="0"/>
          </a:p>
        </p:txBody>
      </p:sp>
      <p:graphicFrame>
        <p:nvGraphicFramePr>
          <p:cNvPr id="10" name="Content Placeholder 9">
            <a:extLst>
              <a:ext uri="{FF2B5EF4-FFF2-40B4-BE49-F238E27FC236}">
                <a16:creationId xmlns:a16="http://schemas.microsoft.com/office/drawing/2014/main" id="{CB604DCF-9CDA-B982-0E21-69D2FFE0FACE}"/>
              </a:ext>
            </a:extLst>
          </p:cNvPr>
          <p:cNvGraphicFramePr>
            <a:graphicFrameLocks noGrp="1"/>
          </p:cNvGraphicFramePr>
          <p:nvPr>
            <p:ph idx="1"/>
            <p:extLst>
              <p:ext uri="{D42A27DB-BD31-4B8C-83A1-F6EECF244321}">
                <p14:modId xmlns:p14="http://schemas.microsoft.com/office/powerpoint/2010/main" val="3801625828"/>
              </p:ext>
            </p:extLst>
          </p:nvPr>
        </p:nvGraphicFramePr>
        <p:xfrm>
          <a:off x="883920" y="2377916"/>
          <a:ext cx="10058400" cy="1371600"/>
        </p:xfrm>
        <a:graphic>
          <a:graphicData uri="http://schemas.openxmlformats.org/drawingml/2006/table">
            <a:tbl>
              <a:tblPr/>
              <a:tblGrid>
                <a:gridCol w="5029200">
                  <a:extLst>
                    <a:ext uri="{9D8B030D-6E8A-4147-A177-3AD203B41FA5}">
                      <a16:colId xmlns:a16="http://schemas.microsoft.com/office/drawing/2014/main" val="4038804713"/>
                    </a:ext>
                  </a:extLst>
                </a:gridCol>
                <a:gridCol w="5029200">
                  <a:extLst>
                    <a:ext uri="{9D8B030D-6E8A-4147-A177-3AD203B41FA5}">
                      <a16:colId xmlns:a16="http://schemas.microsoft.com/office/drawing/2014/main" val="609416643"/>
                    </a:ext>
                  </a:extLst>
                </a:gridCol>
              </a:tblGrid>
              <a:tr h="0">
                <a:tc>
                  <a:txBody>
                    <a:bodyPr/>
                    <a:lstStyle/>
                    <a:p>
                      <a:pPr>
                        <a:buNone/>
                      </a:pPr>
                      <a:r>
                        <a:rPr lang="en-IN"/>
                        <a:t>Factor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Effect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3505261"/>
                  </a:ext>
                </a:extLst>
              </a:tr>
              <a:tr h="0">
                <a:tc>
                  <a:txBody>
                    <a:bodyPr/>
                    <a:lstStyle/>
                    <a:p>
                      <a:pPr>
                        <a:buNone/>
                      </a:pPr>
                      <a:r>
                        <a:rPr lang="en-IN" b="1"/>
                        <a:t>Sympathetic stimulation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Enhances erythropoiesis during stress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8535440"/>
                  </a:ext>
                </a:extLst>
              </a:tr>
              <a:tr h="0">
                <a:tc>
                  <a:txBody>
                    <a:bodyPr/>
                    <a:lstStyle/>
                    <a:p>
                      <a:pPr>
                        <a:buNone/>
                      </a:pPr>
                      <a:r>
                        <a:rPr lang="en-IN" b="1"/>
                        <a:t>Body temperature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High temperature increases RBC production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1327307"/>
                  </a:ext>
                </a:extLst>
              </a:tr>
            </a:tbl>
          </a:graphicData>
        </a:graphic>
      </p:graphicFrame>
    </p:spTree>
    <p:extLst>
      <p:ext uri="{BB962C8B-B14F-4D97-AF65-F5344CB8AC3E}">
        <p14:creationId xmlns:p14="http://schemas.microsoft.com/office/powerpoint/2010/main" val="890518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17E00-C2E4-3642-7329-BCB71ABDD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1DB41-78F3-9DDE-C663-5769A5C0BBCE}"/>
              </a:ext>
            </a:extLst>
          </p:cNvPr>
          <p:cNvSpPr>
            <a:spLocks noGrp="1"/>
          </p:cNvSpPr>
          <p:nvPr>
            <p:ph type="title"/>
          </p:nvPr>
        </p:nvSpPr>
        <p:spPr>
          <a:xfrm>
            <a:off x="1066800" y="1394169"/>
            <a:ext cx="10058400" cy="1371600"/>
          </a:xfrm>
        </p:spPr>
        <p:txBody>
          <a:bodyPr>
            <a:normAutofit fontScale="90000"/>
          </a:bodyPr>
          <a:lstStyle/>
          <a:p>
            <a:r>
              <a:rPr lang="en-US" dirty="0"/>
              <a:t>Factors influencing erythropoiesis</a:t>
            </a:r>
            <a:br>
              <a:rPr lang="en-US" dirty="0"/>
            </a:br>
            <a:br>
              <a:rPr lang="en-US" dirty="0"/>
            </a:br>
            <a:r>
              <a:rPr lang="en-US" altLang="en-US" sz="1600" b="1" dirty="0">
                <a:latin typeface="Arial" panose="020B0604020202020204" pitchFamily="34" charset="0"/>
              </a:rPr>
              <a:t>4. Bone Marrow Health</a:t>
            </a:r>
            <a:br>
              <a:rPr lang="en-US" altLang="en-US" sz="1600" b="1" dirty="0">
                <a:latin typeface="Arial" panose="020B0604020202020204" pitchFamily="34" charset="0"/>
              </a:rPr>
            </a:br>
            <a:br>
              <a:rPr lang="en-US" altLang="en-US" sz="1600" b="1" dirty="0">
                <a:latin typeface="Arial" panose="020B0604020202020204" pitchFamily="34" charset="0"/>
              </a:rPr>
            </a:br>
            <a:br>
              <a:rPr lang="en-US" altLang="en-US" sz="1600" b="1" dirty="0">
                <a:latin typeface="Arial" panose="020B0604020202020204" pitchFamily="34" charset="0"/>
              </a:rPr>
            </a:br>
            <a:br>
              <a:rPr lang="en-US" altLang="en-US" b="1" dirty="0">
                <a:latin typeface="Arial" panose="020B0604020202020204" pitchFamily="34" charset="0"/>
              </a:rPr>
            </a:br>
            <a:r>
              <a:rPr lang="en-US" dirty="0"/>
              <a:t> </a:t>
            </a:r>
            <a:endParaRPr lang="en-IN" dirty="0"/>
          </a:p>
        </p:txBody>
      </p:sp>
      <p:graphicFrame>
        <p:nvGraphicFramePr>
          <p:cNvPr id="6" name="Content Placeholder 5">
            <a:extLst>
              <a:ext uri="{FF2B5EF4-FFF2-40B4-BE49-F238E27FC236}">
                <a16:creationId xmlns:a16="http://schemas.microsoft.com/office/drawing/2014/main" id="{C40D3C67-9A85-13B5-2587-926C59B31687}"/>
              </a:ext>
            </a:extLst>
          </p:cNvPr>
          <p:cNvGraphicFramePr>
            <a:graphicFrameLocks noGrp="1"/>
          </p:cNvGraphicFramePr>
          <p:nvPr>
            <p:ph idx="1"/>
          </p:nvPr>
        </p:nvGraphicFramePr>
        <p:xfrm>
          <a:off x="1066800" y="2439368"/>
          <a:ext cx="10058400" cy="1097280"/>
        </p:xfrm>
        <a:graphic>
          <a:graphicData uri="http://schemas.openxmlformats.org/drawingml/2006/table">
            <a:tbl>
              <a:tblPr/>
              <a:tblGrid>
                <a:gridCol w="5029200">
                  <a:extLst>
                    <a:ext uri="{9D8B030D-6E8A-4147-A177-3AD203B41FA5}">
                      <a16:colId xmlns:a16="http://schemas.microsoft.com/office/drawing/2014/main" val="2599683981"/>
                    </a:ext>
                  </a:extLst>
                </a:gridCol>
                <a:gridCol w="5029200">
                  <a:extLst>
                    <a:ext uri="{9D8B030D-6E8A-4147-A177-3AD203B41FA5}">
                      <a16:colId xmlns:a16="http://schemas.microsoft.com/office/drawing/2014/main" val="1794446577"/>
                    </a:ext>
                  </a:extLst>
                </a:gridCol>
              </a:tblGrid>
              <a:tr h="0">
                <a:tc>
                  <a:txBody>
                    <a:bodyPr/>
                    <a:lstStyle/>
                    <a:p>
                      <a:pPr>
                        <a:buNone/>
                      </a:pPr>
                      <a:r>
                        <a:rPr lang="en-IN" dirty="0"/>
                        <a:t>Condition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Effect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5604929"/>
                  </a:ext>
                </a:extLst>
              </a:tr>
              <a:tr h="0">
                <a:tc>
                  <a:txBody>
                    <a:bodyPr/>
                    <a:lstStyle/>
                    <a:p>
                      <a:pPr>
                        <a:buNone/>
                      </a:pPr>
                      <a:r>
                        <a:rPr lang="en-IN" b="1" dirty="0"/>
                        <a:t>Healthy red bone marrow</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Normal erythropoiesis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2414590"/>
                  </a:ext>
                </a:extLst>
              </a:tr>
              <a:tr h="0">
                <a:tc>
                  <a:txBody>
                    <a:bodyPr/>
                    <a:lstStyle/>
                    <a:p>
                      <a:pPr>
                        <a:buNone/>
                      </a:pPr>
                      <a:r>
                        <a:rPr lang="en-US" b="1" dirty="0"/>
                        <a:t>Bone marrow disease / fibrosis / radiation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 RBC production → </a:t>
                      </a:r>
                      <a:r>
                        <a:rPr lang="en-IN" dirty="0" err="1"/>
                        <a:t>anemia</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259293"/>
                  </a:ext>
                </a:extLst>
              </a:tr>
            </a:tbl>
          </a:graphicData>
        </a:graphic>
      </p:graphicFrame>
    </p:spTree>
    <p:extLst>
      <p:ext uri="{BB962C8B-B14F-4D97-AF65-F5344CB8AC3E}">
        <p14:creationId xmlns:p14="http://schemas.microsoft.com/office/powerpoint/2010/main" val="769066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50DDC-95B2-E091-2D90-F955A7D6D5C1}"/>
              </a:ext>
            </a:extLst>
          </p:cNvPr>
          <p:cNvSpPr>
            <a:spLocks noGrp="1"/>
          </p:cNvSpPr>
          <p:nvPr>
            <p:ph type="title"/>
          </p:nvPr>
        </p:nvSpPr>
        <p:spPr/>
        <p:txBody>
          <a:bodyPr/>
          <a:lstStyle/>
          <a:p>
            <a:r>
              <a:rPr lang="en-US" dirty="0"/>
              <a:t>Applied aspects</a:t>
            </a:r>
            <a:endParaRPr lang="en-IN" dirty="0"/>
          </a:p>
        </p:txBody>
      </p:sp>
      <p:sp>
        <p:nvSpPr>
          <p:cNvPr id="3" name="Content Placeholder 2">
            <a:extLst>
              <a:ext uri="{FF2B5EF4-FFF2-40B4-BE49-F238E27FC236}">
                <a16:creationId xmlns:a16="http://schemas.microsoft.com/office/drawing/2014/main" id="{F09EDFAB-44DD-E551-15C6-6C4A8DD1CD03}"/>
              </a:ext>
            </a:extLst>
          </p:cNvPr>
          <p:cNvSpPr>
            <a:spLocks noGrp="1"/>
          </p:cNvSpPr>
          <p:nvPr>
            <p:ph idx="1"/>
          </p:nvPr>
        </p:nvSpPr>
        <p:spPr>
          <a:xfrm>
            <a:off x="1066800" y="1747520"/>
            <a:ext cx="10058400" cy="4612640"/>
          </a:xfrm>
        </p:spPr>
        <p:txBody>
          <a:bodyPr>
            <a:normAutofit/>
          </a:bodyPr>
          <a:lstStyle/>
          <a:p>
            <a:r>
              <a:rPr lang="en-US" dirty="0"/>
              <a:t>Reduction in RBC count and hemoglobin content or presence of abnormal hemoglobin may decrease the oxygen carrying capacity of blood, leading to hypoxia and various clinical consequences. Anemia is due to quantitative/qualitative decrease in RBC count, Hb content and hematocrit. Anemia is classified into various types based on the etiology and the morphology. The clinical features of anemia include: Pallor of the nail beds, skin, conjunctiva and mucous membrane, tiredness, easy fatigability, general muscular weakness, dyspnea on exertion, palpitation, cardiac murmurs and amenorrhea.</a:t>
            </a:r>
          </a:p>
          <a:p>
            <a:r>
              <a:rPr lang="en-US" dirty="0"/>
              <a:t> Polycythemia is a condition in which there is either an absolute or relative increase in RBC count. Absolute polycythemia is either primary and is called polycythemia vera or could be (</a:t>
            </a:r>
            <a:r>
              <a:rPr lang="en-US" dirty="0" err="1"/>
              <a:t>i</a:t>
            </a:r>
            <a:r>
              <a:rPr lang="en-US" dirty="0"/>
              <a:t>) Secondary to inappropriate increase in erythropoietin secretion (kidney tumor, liver tumor, pheochromocytoma) (ii) Secondary to tissue hypoxia (high altitude, coronary heart disease, chronic pulmonary disease) and (iii) Secondary to hormonal stimulus (Cushing’s syndrome). Relative polycythemia occurs when there is decrease in plasma volume with normal RBC count as in dehydration. Increase in RBC count results in increased blood viscosity.</a:t>
            </a:r>
            <a:endParaRPr lang="en-IN" dirty="0"/>
          </a:p>
        </p:txBody>
      </p:sp>
    </p:spTree>
    <p:extLst>
      <p:ext uri="{BB962C8B-B14F-4D97-AF65-F5344CB8AC3E}">
        <p14:creationId xmlns:p14="http://schemas.microsoft.com/office/powerpoint/2010/main" val="7620081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AFB17-C4B3-E37A-3E27-A7BF4CEFF8D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8302E8D-E02B-EFE4-17AC-6244CBB2DACD}"/>
              </a:ext>
            </a:extLst>
          </p:cNvPr>
          <p:cNvPicPr>
            <a:picLocks noGrp="1" noChangeAspect="1"/>
          </p:cNvPicPr>
          <p:nvPr>
            <p:ph idx="1"/>
          </p:nvPr>
        </p:nvPicPr>
        <p:blipFill>
          <a:blip r:embed="rId2"/>
          <a:stretch>
            <a:fillRect/>
          </a:stretch>
        </p:blipFill>
        <p:spPr>
          <a:xfrm>
            <a:off x="0" y="59349"/>
            <a:ext cx="4435724" cy="2538089"/>
          </a:xfrm>
          <a:prstGeom prst="rect">
            <a:avLst/>
          </a:prstGeom>
        </p:spPr>
      </p:pic>
      <p:pic>
        <p:nvPicPr>
          <p:cNvPr id="7" name="Picture 6">
            <a:extLst>
              <a:ext uri="{FF2B5EF4-FFF2-40B4-BE49-F238E27FC236}">
                <a16:creationId xmlns:a16="http://schemas.microsoft.com/office/drawing/2014/main" id="{08076C81-3E47-66E5-5823-DA79C3848C44}"/>
              </a:ext>
            </a:extLst>
          </p:cNvPr>
          <p:cNvPicPr>
            <a:picLocks noChangeAspect="1"/>
          </p:cNvPicPr>
          <p:nvPr/>
        </p:nvPicPr>
        <p:blipFill>
          <a:blip r:embed="rId3"/>
          <a:stretch>
            <a:fillRect/>
          </a:stretch>
        </p:blipFill>
        <p:spPr>
          <a:xfrm>
            <a:off x="4435724" y="1556657"/>
            <a:ext cx="7756276" cy="5241994"/>
          </a:xfrm>
          <a:prstGeom prst="rect">
            <a:avLst/>
          </a:prstGeom>
        </p:spPr>
      </p:pic>
    </p:spTree>
    <p:extLst>
      <p:ext uri="{BB962C8B-B14F-4D97-AF65-F5344CB8AC3E}">
        <p14:creationId xmlns:p14="http://schemas.microsoft.com/office/powerpoint/2010/main" val="20942962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7EDEF-621C-5FA4-469B-6B181473C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FE94C6-1883-1DA9-39DE-CAC32A48FC8F}"/>
              </a:ext>
            </a:extLst>
          </p:cNvPr>
          <p:cNvSpPr>
            <a:spLocks noGrp="1"/>
          </p:cNvSpPr>
          <p:nvPr>
            <p:ph type="ctrTitle"/>
          </p:nvPr>
        </p:nvSpPr>
        <p:spPr/>
        <p:txBody>
          <a:bodyPr/>
          <a:lstStyle/>
          <a:p>
            <a:r>
              <a:rPr lang="en-US" dirty="0"/>
              <a:t>Unit 3</a:t>
            </a:r>
            <a:endParaRPr lang="en-IN" dirty="0"/>
          </a:p>
        </p:txBody>
      </p:sp>
      <p:sp>
        <p:nvSpPr>
          <p:cNvPr id="3" name="Subtitle 2">
            <a:extLst>
              <a:ext uri="{FF2B5EF4-FFF2-40B4-BE49-F238E27FC236}">
                <a16:creationId xmlns:a16="http://schemas.microsoft.com/office/drawing/2014/main" id="{63623613-152A-6A61-F47C-20EE41A2936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51773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479A1-2E46-AD02-9DDC-0A7C248D9635}"/>
              </a:ext>
            </a:extLst>
          </p:cNvPr>
          <p:cNvSpPr>
            <a:spLocks noGrp="1"/>
          </p:cNvSpPr>
          <p:nvPr>
            <p:ph type="title"/>
          </p:nvPr>
        </p:nvSpPr>
        <p:spPr/>
        <p:txBody>
          <a:bodyPr/>
          <a:lstStyle/>
          <a:p>
            <a:r>
              <a:rPr lang="en-US" dirty="0"/>
              <a:t>White blood corpuscles</a:t>
            </a:r>
            <a:endParaRPr lang="en-IN" dirty="0"/>
          </a:p>
        </p:txBody>
      </p:sp>
      <p:sp>
        <p:nvSpPr>
          <p:cNvPr id="3" name="Content Placeholder 2">
            <a:extLst>
              <a:ext uri="{FF2B5EF4-FFF2-40B4-BE49-F238E27FC236}">
                <a16:creationId xmlns:a16="http://schemas.microsoft.com/office/drawing/2014/main" id="{DCC497AC-CC2E-49C2-963C-534C186DFC00}"/>
              </a:ext>
            </a:extLst>
          </p:cNvPr>
          <p:cNvSpPr>
            <a:spLocks noGrp="1"/>
          </p:cNvSpPr>
          <p:nvPr>
            <p:ph idx="1"/>
          </p:nvPr>
        </p:nvSpPr>
        <p:spPr/>
        <p:txBody>
          <a:bodyPr/>
          <a:lstStyle/>
          <a:p>
            <a:r>
              <a:rPr lang="en-US" b="1" dirty="0"/>
              <a:t>WBC (White Blood Cells)</a:t>
            </a:r>
            <a:r>
              <a:rPr lang="en-US" dirty="0"/>
              <a:t>, also called </a:t>
            </a:r>
            <a:r>
              <a:rPr lang="en-US" b="1" dirty="0"/>
              <a:t>Leukocytes</a:t>
            </a:r>
            <a:r>
              <a:rPr lang="en-US" dirty="0"/>
              <a:t>, are the cells of blood that are primarily responsible for the </a:t>
            </a:r>
            <a:r>
              <a:rPr lang="en-US" b="1" dirty="0"/>
              <a:t>defense and protection of the body</a:t>
            </a:r>
            <a:r>
              <a:rPr lang="en-US" dirty="0"/>
              <a:t> against infections, foreign particles, and diseases. They are an important part of the </a:t>
            </a:r>
            <a:r>
              <a:rPr lang="en-US" b="1" dirty="0"/>
              <a:t>immune system</a:t>
            </a:r>
            <a:r>
              <a:rPr lang="en-US" dirty="0"/>
              <a:t>.</a:t>
            </a:r>
          </a:p>
          <a:p>
            <a:r>
              <a:rPr lang="en-US" dirty="0"/>
              <a:t>Unlike RBCs, WBCs are </a:t>
            </a:r>
            <a:r>
              <a:rPr lang="en-US" b="1" dirty="0"/>
              <a:t>nucleated</a:t>
            </a:r>
            <a:r>
              <a:rPr lang="en-US" dirty="0"/>
              <a:t> and do </a:t>
            </a:r>
            <a:r>
              <a:rPr lang="en-US" b="1" dirty="0"/>
              <a:t>not contain hemoglobin</a:t>
            </a:r>
            <a:r>
              <a:rPr lang="en-US" dirty="0"/>
              <a:t>.</a:t>
            </a:r>
          </a:p>
          <a:p>
            <a:pPr marL="0" indent="0">
              <a:buNone/>
            </a:pPr>
            <a:r>
              <a:rPr lang="en-US" b="1" dirty="0"/>
              <a:t>Morphology</a:t>
            </a:r>
          </a:p>
          <a:p>
            <a:r>
              <a:rPr lang="en-US" b="1" dirty="0"/>
              <a:t>Shape:</a:t>
            </a:r>
            <a:r>
              <a:rPr lang="en-US" dirty="0"/>
              <a:t> Irregular / Amoeboid</a:t>
            </a:r>
          </a:p>
          <a:p>
            <a:r>
              <a:rPr lang="en-US" b="1" dirty="0"/>
              <a:t>Size:</a:t>
            </a:r>
            <a:r>
              <a:rPr lang="en-US" dirty="0"/>
              <a:t> Larger than RBCs (10–20 µm on average)</a:t>
            </a:r>
          </a:p>
          <a:p>
            <a:r>
              <a:rPr lang="en-US" b="1" dirty="0"/>
              <a:t>Nucleus:</a:t>
            </a:r>
            <a:r>
              <a:rPr lang="en-US" dirty="0"/>
              <a:t> Present (single or multilobed depending on type)</a:t>
            </a:r>
          </a:p>
          <a:p>
            <a:r>
              <a:rPr lang="en-US" b="1" dirty="0"/>
              <a:t>Organelles:</a:t>
            </a:r>
            <a:r>
              <a:rPr lang="en-US" dirty="0"/>
              <a:t> Present</a:t>
            </a:r>
          </a:p>
          <a:p>
            <a:r>
              <a:rPr lang="en-US" b="1" dirty="0"/>
              <a:t>Movement:</a:t>
            </a:r>
            <a:r>
              <a:rPr lang="en-US" dirty="0"/>
              <a:t> Show </a:t>
            </a:r>
            <a:r>
              <a:rPr lang="en-US" b="1" dirty="0"/>
              <a:t>Amoeboid movement</a:t>
            </a:r>
            <a:r>
              <a:rPr lang="en-US" dirty="0"/>
              <a:t> and </a:t>
            </a:r>
            <a:r>
              <a:rPr lang="en-US" b="1" dirty="0"/>
              <a:t>can migrate out of blood vessels</a:t>
            </a:r>
            <a:r>
              <a:rPr lang="en-US" dirty="0"/>
              <a:t> (diapedesis)</a:t>
            </a:r>
          </a:p>
          <a:p>
            <a:endParaRPr lang="en-IN" dirty="0"/>
          </a:p>
        </p:txBody>
      </p:sp>
    </p:spTree>
    <p:extLst>
      <p:ext uri="{BB962C8B-B14F-4D97-AF65-F5344CB8AC3E}">
        <p14:creationId xmlns:p14="http://schemas.microsoft.com/office/powerpoint/2010/main" val="10785985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3BBE4-0BE0-8939-0C7A-FA0852D245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57A7E-7B38-3724-905F-DDCCBC14EF8A}"/>
              </a:ext>
            </a:extLst>
          </p:cNvPr>
          <p:cNvSpPr>
            <a:spLocks noGrp="1"/>
          </p:cNvSpPr>
          <p:nvPr>
            <p:ph type="title"/>
          </p:nvPr>
        </p:nvSpPr>
        <p:spPr/>
        <p:txBody>
          <a:bodyPr/>
          <a:lstStyle/>
          <a:p>
            <a:r>
              <a:rPr lang="en-US" dirty="0"/>
              <a:t>White blood corpuscles</a:t>
            </a:r>
            <a:endParaRPr lang="en-IN" dirty="0"/>
          </a:p>
        </p:txBody>
      </p:sp>
      <p:sp>
        <p:nvSpPr>
          <p:cNvPr id="3" name="Content Placeholder 2">
            <a:extLst>
              <a:ext uri="{FF2B5EF4-FFF2-40B4-BE49-F238E27FC236}">
                <a16:creationId xmlns:a16="http://schemas.microsoft.com/office/drawing/2014/main" id="{0C665067-117C-67DA-F49F-6C207E121B3F}"/>
              </a:ext>
            </a:extLst>
          </p:cNvPr>
          <p:cNvSpPr>
            <a:spLocks noGrp="1"/>
          </p:cNvSpPr>
          <p:nvPr>
            <p:ph idx="1"/>
          </p:nvPr>
        </p:nvSpPr>
        <p:spPr/>
        <p:txBody>
          <a:bodyPr/>
          <a:lstStyle/>
          <a:p>
            <a:r>
              <a:rPr lang="en-US" altLang="en-US" b="1" dirty="0">
                <a:latin typeface="Arial" panose="020B0604020202020204" pitchFamily="34" charset="0"/>
              </a:rPr>
              <a:t>Normal Values</a:t>
            </a:r>
          </a:p>
          <a:p>
            <a:pPr marL="0" indent="0">
              <a:buNone/>
            </a:pPr>
            <a:endParaRPr lang="en-IN" dirty="0"/>
          </a:p>
        </p:txBody>
      </p:sp>
      <p:graphicFrame>
        <p:nvGraphicFramePr>
          <p:cNvPr id="4" name="Table 3">
            <a:extLst>
              <a:ext uri="{FF2B5EF4-FFF2-40B4-BE49-F238E27FC236}">
                <a16:creationId xmlns:a16="http://schemas.microsoft.com/office/drawing/2014/main" id="{CDC4FF82-F810-50D5-13B9-DC746CB04921}"/>
              </a:ext>
            </a:extLst>
          </p:cNvPr>
          <p:cNvGraphicFramePr>
            <a:graphicFrameLocks noGrp="1"/>
          </p:cNvGraphicFramePr>
          <p:nvPr>
            <p:extLst>
              <p:ext uri="{D42A27DB-BD31-4B8C-83A1-F6EECF244321}">
                <p14:modId xmlns:p14="http://schemas.microsoft.com/office/powerpoint/2010/main" val="1660341086"/>
              </p:ext>
            </p:extLst>
          </p:nvPr>
        </p:nvGraphicFramePr>
        <p:xfrm>
          <a:off x="1159165" y="2744986"/>
          <a:ext cx="10058400" cy="1737360"/>
        </p:xfrm>
        <a:graphic>
          <a:graphicData uri="http://schemas.openxmlformats.org/drawingml/2006/table">
            <a:tbl>
              <a:tblPr/>
              <a:tblGrid>
                <a:gridCol w="5029200">
                  <a:extLst>
                    <a:ext uri="{9D8B030D-6E8A-4147-A177-3AD203B41FA5}">
                      <a16:colId xmlns:a16="http://schemas.microsoft.com/office/drawing/2014/main" val="3032712138"/>
                    </a:ext>
                  </a:extLst>
                </a:gridCol>
                <a:gridCol w="5029200">
                  <a:extLst>
                    <a:ext uri="{9D8B030D-6E8A-4147-A177-3AD203B41FA5}">
                      <a16:colId xmlns:a16="http://schemas.microsoft.com/office/drawing/2014/main" val="2919780567"/>
                    </a:ext>
                  </a:extLst>
                </a:gridCol>
              </a:tblGrid>
              <a:tr h="0">
                <a:tc>
                  <a:txBody>
                    <a:bodyPr/>
                    <a:lstStyle/>
                    <a:p>
                      <a:pPr>
                        <a:buNone/>
                      </a:pPr>
                      <a:r>
                        <a:rPr lang="en-IN" dirty="0"/>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Normal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2417719"/>
                  </a:ext>
                </a:extLst>
              </a:tr>
              <a:tr h="0">
                <a:tc>
                  <a:txBody>
                    <a:bodyPr/>
                    <a:lstStyle/>
                    <a:p>
                      <a:pPr>
                        <a:buNone/>
                      </a:pPr>
                      <a:r>
                        <a:rPr lang="en-IN" b="1"/>
                        <a:t>Total WBC Count</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t>4,000 – 11,000 / µL of blood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1358772"/>
                  </a:ext>
                </a:extLst>
              </a:tr>
              <a:tr h="0">
                <a:tc>
                  <a:txBody>
                    <a:bodyPr/>
                    <a:lstStyle/>
                    <a:p>
                      <a:pPr>
                        <a:buNone/>
                      </a:pPr>
                      <a:r>
                        <a:rPr lang="en-IN" b="1"/>
                        <a:t>Life Span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Few hours to many years (depending on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3616553"/>
                  </a:ext>
                </a:extLst>
              </a:tr>
              <a:tr h="0">
                <a:tc>
                  <a:txBody>
                    <a:bodyPr/>
                    <a:lstStyle/>
                    <a:p>
                      <a:pPr>
                        <a:buNone/>
                      </a:pPr>
                      <a:r>
                        <a:rPr lang="en-IN" b="1"/>
                        <a:t>Production Site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dirty="0"/>
                        <a:t>Red bone marrow and lymphoid tissues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6563050"/>
                  </a:ext>
                </a:extLst>
              </a:tr>
            </a:tbl>
          </a:graphicData>
        </a:graphic>
      </p:graphicFrame>
    </p:spTree>
    <p:extLst>
      <p:ext uri="{BB962C8B-B14F-4D97-AF65-F5344CB8AC3E}">
        <p14:creationId xmlns:p14="http://schemas.microsoft.com/office/powerpoint/2010/main" val="511417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A82EB-2F29-09C5-81F4-B1D0EA52DEEF}"/>
              </a:ext>
            </a:extLst>
          </p:cNvPr>
          <p:cNvSpPr>
            <a:spLocks noGrp="1"/>
          </p:cNvSpPr>
          <p:nvPr>
            <p:ph type="title"/>
          </p:nvPr>
        </p:nvSpPr>
        <p:spPr>
          <a:xfrm>
            <a:off x="1066800" y="1006078"/>
            <a:ext cx="10058400" cy="1371600"/>
          </a:xfrm>
        </p:spPr>
        <p:txBody>
          <a:bodyPr>
            <a:normAutofit fontScale="90000"/>
          </a:bodyPr>
          <a:lstStyle/>
          <a:p>
            <a:r>
              <a:rPr lang="en-IN" dirty="0"/>
              <a:t>Classification of WBCs</a:t>
            </a:r>
            <a:br>
              <a:rPr lang="en-IN" dirty="0"/>
            </a:br>
            <a:br>
              <a:rPr lang="en-IN" dirty="0"/>
            </a:br>
            <a:r>
              <a:rPr lang="en-US" sz="2000" b="1" dirty="0"/>
              <a:t>1. Granulocytes</a:t>
            </a:r>
            <a:br>
              <a:rPr lang="en-US" sz="2000" b="1" dirty="0"/>
            </a:br>
            <a:r>
              <a:rPr lang="en-US" sz="2000" dirty="0"/>
              <a:t>(Have granules in cytoplasm; lobed nucleus)</a:t>
            </a:r>
            <a:endParaRPr lang="en-IN" sz="2000" dirty="0"/>
          </a:p>
        </p:txBody>
      </p:sp>
      <p:graphicFrame>
        <p:nvGraphicFramePr>
          <p:cNvPr id="4" name="Content Placeholder 3">
            <a:extLst>
              <a:ext uri="{FF2B5EF4-FFF2-40B4-BE49-F238E27FC236}">
                <a16:creationId xmlns:a16="http://schemas.microsoft.com/office/drawing/2014/main" id="{CD5CA6FA-9864-473F-053B-27CA11292A29}"/>
              </a:ext>
            </a:extLst>
          </p:cNvPr>
          <p:cNvGraphicFramePr>
            <a:graphicFrameLocks noGrp="1"/>
          </p:cNvGraphicFramePr>
          <p:nvPr>
            <p:ph idx="1"/>
            <p:extLst>
              <p:ext uri="{D42A27DB-BD31-4B8C-83A1-F6EECF244321}">
                <p14:modId xmlns:p14="http://schemas.microsoft.com/office/powerpoint/2010/main" val="1839713783"/>
              </p:ext>
            </p:extLst>
          </p:nvPr>
        </p:nvGraphicFramePr>
        <p:xfrm>
          <a:off x="1066800" y="2926556"/>
          <a:ext cx="10058400" cy="2286000"/>
        </p:xfrm>
        <a:graphic>
          <a:graphicData uri="http://schemas.openxmlformats.org/drawingml/2006/table">
            <a:tbl>
              <a:tblPr/>
              <a:tblGrid>
                <a:gridCol w="3352800">
                  <a:extLst>
                    <a:ext uri="{9D8B030D-6E8A-4147-A177-3AD203B41FA5}">
                      <a16:colId xmlns:a16="http://schemas.microsoft.com/office/drawing/2014/main" val="3678882367"/>
                    </a:ext>
                  </a:extLst>
                </a:gridCol>
                <a:gridCol w="3352800">
                  <a:extLst>
                    <a:ext uri="{9D8B030D-6E8A-4147-A177-3AD203B41FA5}">
                      <a16:colId xmlns:a16="http://schemas.microsoft.com/office/drawing/2014/main" val="3580941741"/>
                    </a:ext>
                  </a:extLst>
                </a:gridCol>
                <a:gridCol w="3352800">
                  <a:extLst>
                    <a:ext uri="{9D8B030D-6E8A-4147-A177-3AD203B41FA5}">
                      <a16:colId xmlns:a16="http://schemas.microsoft.com/office/drawing/2014/main" val="814341087"/>
                    </a:ext>
                  </a:extLst>
                </a:gridCol>
              </a:tblGrid>
              <a:tr h="0">
                <a:tc>
                  <a:txBody>
                    <a:bodyPr/>
                    <a:lstStyle/>
                    <a:p>
                      <a:pPr>
                        <a:buNone/>
                      </a:pPr>
                      <a:r>
                        <a:rPr lang="en-IN"/>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Percentage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9584798"/>
                  </a:ext>
                </a:extLst>
              </a:tr>
              <a:tr h="0">
                <a:tc>
                  <a:txBody>
                    <a:bodyPr/>
                    <a:lstStyle/>
                    <a:p>
                      <a:pPr>
                        <a:buNone/>
                      </a:pPr>
                      <a:r>
                        <a:rPr lang="en-IN" b="1"/>
                        <a:t>Neutrophils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50–70%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First line of defense → phagocytosis of bacteria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6429327"/>
                  </a:ext>
                </a:extLst>
              </a:tr>
              <a:tr h="0">
                <a:tc>
                  <a:txBody>
                    <a:bodyPr/>
                    <a:lstStyle/>
                    <a:p>
                      <a:pPr>
                        <a:buNone/>
                      </a:pPr>
                      <a:r>
                        <a:rPr lang="en-IN" b="1"/>
                        <a:t>Eosinophils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Allergic reactions, parasitic infections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6718710"/>
                  </a:ext>
                </a:extLst>
              </a:tr>
              <a:tr h="0">
                <a:tc>
                  <a:txBody>
                    <a:bodyPr/>
                    <a:lstStyle/>
                    <a:p>
                      <a:pPr>
                        <a:buNone/>
                      </a:pPr>
                      <a:r>
                        <a:rPr lang="en-IN" b="1"/>
                        <a:t>Basophils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Release histamine &amp; heparin → inflammatory response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231035"/>
                  </a:ext>
                </a:extLst>
              </a:tr>
            </a:tbl>
          </a:graphicData>
        </a:graphic>
      </p:graphicFrame>
      <p:sp>
        <p:nvSpPr>
          <p:cNvPr id="5" name="Rectangle 1">
            <a:extLst>
              <a:ext uri="{FF2B5EF4-FFF2-40B4-BE49-F238E27FC236}">
                <a16:creationId xmlns:a16="http://schemas.microsoft.com/office/drawing/2014/main" id="{7A8F6A54-76F9-0BF7-6949-B0B3198D092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chemeClr val="tx1"/>
                </a:solidFill>
                <a:effectLst/>
                <a:latin typeface="Arial" panose="020B0604020202020204" pitchFamily="34" charset="0"/>
              </a:rPr>
              <a:t>1. Granulocytes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(Have granules in cytoplasm; lobed nucleus)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108693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22507-9C10-C4DA-A7B2-010CFDB0E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C3628-0923-60C4-D445-ED16265C8225}"/>
              </a:ext>
            </a:extLst>
          </p:cNvPr>
          <p:cNvSpPr>
            <a:spLocks noGrp="1"/>
          </p:cNvSpPr>
          <p:nvPr>
            <p:ph type="title"/>
          </p:nvPr>
        </p:nvSpPr>
        <p:spPr>
          <a:xfrm>
            <a:off x="1066800" y="1006078"/>
            <a:ext cx="10058400" cy="1371600"/>
          </a:xfrm>
        </p:spPr>
        <p:txBody>
          <a:bodyPr>
            <a:normAutofit fontScale="90000"/>
          </a:bodyPr>
          <a:lstStyle/>
          <a:p>
            <a:r>
              <a:rPr lang="en-IN" dirty="0"/>
              <a:t>Classification of WBCs</a:t>
            </a:r>
            <a:br>
              <a:rPr lang="en-IN" dirty="0"/>
            </a:br>
            <a:br>
              <a:rPr lang="en-IN" dirty="0"/>
            </a:br>
            <a:r>
              <a:rPr lang="en-US" sz="2000" b="1" dirty="0"/>
              <a:t>1. Agranulocytes</a:t>
            </a:r>
            <a:br>
              <a:rPr lang="en-US" sz="2000" b="1" dirty="0"/>
            </a:br>
            <a:r>
              <a:rPr lang="en-IN" sz="2000" dirty="0"/>
              <a:t>(No granules; large nucleus)</a:t>
            </a:r>
            <a:r>
              <a:rPr lang="en-US" sz="2000" dirty="0"/>
              <a:t>)</a:t>
            </a:r>
            <a:endParaRPr lang="en-IN" sz="2000" dirty="0"/>
          </a:p>
        </p:txBody>
      </p:sp>
      <p:sp>
        <p:nvSpPr>
          <p:cNvPr id="5" name="Rectangle 1">
            <a:extLst>
              <a:ext uri="{FF2B5EF4-FFF2-40B4-BE49-F238E27FC236}">
                <a16:creationId xmlns:a16="http://schemas.microsoft.com/office/drawing/2014/main" id="{B3084BC2-8DE9-3946-A28E-8F90C80DC9D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chemeClr val="tx1"/>
                </a:solidFill>
                <a:effectLst/>
                <a:latin typeface="Arial" panose="020B0604020202020204" pitchFamily="34" charset="0"/>
              </a:rPr>
              <a:t>1. Granulocytes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(Have granules in cytoplasm; lobed nucleus)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7" name="Content Placeholder 6">
            <a:extLst>
              <a:ext uri="{FF2B5EF4-FFF2-40B4-BE49-F238E27FC236}">
                <a16:creationId xmlns:a16="http://schemas.microsoft.com/office/drawing/2014/main" id="{74FDFD2A-9D6A-7AF6-F7D3-9AD4B830B597}"/>
              </a:ext>
            </a:extLst>
          </p:cNvPr>
          <p:cNvGraphicFramePr>
            <a:graphicFrameLocks noGrp="1"/>
          </p:cNvGraphicFramePr>
          <p:nvPr>
            <p:ph idx="1"/>
            <p:extLst>
              <p:ext uri="{D42A27DB-BD31-4B8C-83A1-F6EECF244321}">
                <p14:modId xmlns:p14="http://schemas.microsoft.com/office/powerpoint/2010/main" val="1425871688"/>
              </p:ext>
            </p:extLst>
          </p:nvPr>
        </p:nvGraphicFramePr>
        <p:xfrm>
          <a:off x="1066800" y="3109436"/>
          <a:ext cx="10058400" cy="1920240"/>
        </p:xfrm>
        <a:graphic>
          <a:graphicData uri="http://schemas.openxmlformats.org/drawingml/2006/table">
            <a:tbl>
              <a:tblPr/>
              <a:tblGrid>
                <a:gridCol w="3352800">
                  <a:extLst>
                    <a:ext uri="{9D8B030D-6E8A-4147-A177-3AD203B41FA5}">
                      <a16:colId xmlns:a16="http://schemas.microsoft.com/office/drawing/2014/main" val="2576215543"/>
                    </a:ext>
                  </a:extLst>
                </a:gridCol>
                <a:gridCol w="3352800">
                  <a:extLst>
                    <a:ext uri="{9D8B030D-6E8A-4147-A177-3AD203B41FA5}">
                      <a16:colId xmlns:a16="http://schemas.microsoft.com/office/drawing/2014/main" val="2431232356"/>
                    </a:ext>
                  </a:extLst>
                </a:gridCol>
                <a:gridCol w="3352800">
                  <a:extLst>
                    <a:ext uri="{9D8B030D-6E8A-4147-A177-3AD203B41FA5}">
                      <a16:colId xmlns:a16="http://schemas.microsoft.com/office/drawing/2014/main" val="3892083159"/>
                    </a:ext>
                  </a:extLst>
                </a:gridCol>
              </a:tblGrid>
              <a:tr h="0">
                <a:tc>
                  <a:txBody>
                    <a:bodyPr/>
                    <a:lstStyle/>
                    <a:p>
                      <a:pPr>
                        <a:buNone/>
                      </a:pPr>
                      <a:r>
                        <a:rPr lang="en-IN" dirty="0"/>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Percentage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8804218"/>
                  </a:ext>
                </a:extLst>
              </a:tr>
              <a:tr h="0">
                <a:tc>
                  <a:txBody>
                    <a:bodyPr/>
                    <a:lstStyle/>
                    <a:p>
                      <a:pPr>
                        <a:buNone/>
                      </a:pPr>
                      <a:r>
                        <a:rPr lang="en-IN" b="1" dirty="0"/>
                        <a:t>Lymphocytes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20–40%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Immunity (T cells, B cells, NK cells)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8148686"/>
                  </a:ext>
                </a:extLst>
              </a:tr>
              <a:tr h="0">
                <a:tc>
                  <a:txBody>
                    <a:bodyPr/>
                    <a:lstStyle/>
                    <a:p>
                      <a:pPr>
                        <a:buNone/>
                      </a:pPr>
                      <a:r>
                        <a:rPr lang="en-IN" b="1"/>
                        <a:t>Monocytes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Become macrophages → phagocytosis of microbes &amp; dead cells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888465"/>
                  </a:ext>
                </a:extLst>
              </a:tr>
            </a:tbl>
          </a:graphicData>
        </a:graphic>
      </p:graphicFrame>
      <p:sp>
        <p:nvSpPr>
          <p:cNvPr id="8" name="Rectangle 1">
            <a:extLst>
              <a:ext uri="{FF2B5EF4-FFF2-40B4-BE49-F238E27FC236}">
                <a16:creationId xmlns:a16="http://schemas.microsoft.com/office/drawing/2014/main" id="{3E464BE2-4EFF-8560-9E91-8D6DA438A7C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chemeClr val="tx1"/>
                </a:solidFill>
                <a:effectLst/>
                <a:latin typeface="Arial" panose="020B0604020202020204" pitchFamily="34" charset="0"/>
              </a:rPr>
              <a:t>2. Agranulocytes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(No granules; large nucleus)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4383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DE87-3722-F5FE-3756-67F48A0A9F8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EE02C10-7C58-ABE8-9FB1-54E9E5074517}"/>
              </a:ext>
            </a:extLst>
          </p:cNvPr>
          <p:cNvPicPr>
            <a:picLocks noGrp="1" noChangeAspect="1"/>
          </p:cNvPicPr>
          <p:nvPr>
            <p:ph idx="1"/>
          </p:nvPr>
        </p:nvPicPr>
        <p:blipFill>
          <a:blip r:embed="rId2"/>
          <a:stretch>
            <a:fillRect/>
          </a:stretch>
        </p:blipFill>
        <p:spPr>
          <a:xfrm>
            <a:off x="2968521" y="569857"/>
            <a:ext cx="6805861" cy="5572811"/>
          </a:xfrm>
          <a:prstGeom prst="rect">
            <a:avLst/>
          </a:prstGeom>
        </p:spPr>
      </p:pic>
    </p:spTree>
    <p:extLst>
      <p:ext uri="{BB962C8B-B14F-4D97-AF65-F5344CB8AC3E}">
        <p14:creationId xmlns:p14="http://schemas.microsoft.com/office/powerpoint/2010/main" val="42721396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D0A3-F923-C251-4981-243668749CAA}"/>
              </a:ext>
            </a:extLst>
          </p:cNvPr>
          <p:cNvSpPr>
            <a:spLocks noGrp="1"/>
          </p:cNvSpPr>
          <p:nvPr>
            <p:ph type="title"/>
          </p:nvPr>
        </p:nvSpPr>
        <p:spPr>
          <a:xfrm>
            <a:off x="1066800" y="822327"/>
            <a:ext cx="10058400" cy="1371600"/>
          </a:xfrm>
        </p:spPr>
        <p:txBody>
          <a:bodyPr>
            <a:normAutofit fontScale="90000"/>
          </a:bodyPr>
          <a:lstStyle/>
          <a:p>
            <a:pPr lvl="0" eaLnBrk="0" fontAlgn="base" hangingPunct="0">
              <a:lnSpc>
                <a:spcPct val="100000"/>
              </a:lnSpc>
              <a:spcAft>
                <a:spcPct val="0"/>
              </a:spcAft>
            </a:pPr>
            <a:r>
              <a:rPr lang="en-US" dirty="0"/>
              <a:t>Neutrophils </a:t>
            </a:r>
            <a:br>
              <a:rPr lang="en-US" dirty="0"/>
            </a:br>
            <a:br>
              <a:rPr lang="en-US" dirty="0"/>
            </a:br>
            <a:r>
              <a:rPr lang="en-US" altLang="en-US" sz="1600" b="1" dirty="0">
                <a:latin typeface="Arial" panose="020B0604020202020204" pitchFamily="34" charset="0"/>
              </a:rPr>
              <a:t>Structure of Neutrophils</a:t>
            </a:r>
            <a:br>
              <a:rPr lang="en-US" altLang="en-US" b="1" dirty="0">
                <a:latin typeface="Arial" panose="020B0604020202020204" pitchFamily="34" charset="0"/>
              </a:rPr>
            </a:br>
            <a:endParaRPr lang="en-IN" dirty="0"/>
          </a:p>
        </p:txBody>
      </p:sp>
      <p:graphicFrame>
        <p:nvGraphicFramePr>
          <p:cNvPr id="4" name="Content Placeholder 3">
            <a:extLst>
              <a:ext uri="{FF2B5EF4-FFF2-40B4-BE49-F238E27FC236}">
                <a16:creationId xmlns:a16="http://schemas.microsoft.com/office/drawing/2014/main" id="{B776F8D1-FC4A-E173-3CC2-1A99738ADCD9}"/>
              </a:ext>
            </a:extLst>
          </p:cNvPr>
          <p:cNvGraphicFramePr>
            <a:graphicFrameLocks noGrp="1"/>
          </p:cNvGraphicFramePr>
          <p:nvPr>
            <p:ph idx="1"/>
            <p:extLst>
              <p:ext uri="{D42A27DB-BD31-4B8C-83A1-F6EECF244321}">
                <p14:modId xmlns:p14="http://schemas.microsoft.com/office/powerpoint/2010/main" val="1264498265"/>
              </p:ext>
            </p:extLst>
          </p:nvPr>
        </p:nvGraphicFramePr>
        <p:xfrm>
          <a:off x="1590312" y="2103439"/>
          <a:ext cx="9011376" cy="3932234"/>
        </p:xfrm>
        <a:graphic>
          <a:graphicData uri="http://schemas.openxmlformats.org/drawingml/2006/table">
            <a:tbl>
              <a:tblPr/>
              <a:tblGrid>
                <a:gridCol w="4505688">
                  <a:extLst>
                    <a:ext uri="{9D8B030D-6E8A-4147-A177-3AD203B41FA5}">
                      <a16:colId xmlns:a16="http://schemas.microsoft.com/office/drawing/2014/main" val="841236416"/>
                    </a:ext>
                  </a:extLst>
                </a:gridCol>
                <a:gridCol w="4505688">
                  <a:extLst>
                    <a:ext uri="{9D8B030D-6E8A-4147-A177-3AD203B41FA5}">
                      <a16:colId xmlns:a16="http://schemas.microsoft.com/office/drawing/2014/main" val="2375392786"/>
                    </a:ext>
                  </a:extLst>
                </a:gridCol>
              </a:tblGrid>
              <a:tr h="327686">
                <a:tc>
                  <a:txBody>
                    <a:bodyPr/>
                    <a:lstStyle/>
                    <a:p>
                      <a:pPr>
                        <a:buNone/>
                      </a:pPr>
                      <a:r>
                        <a:rPr lang="en-IN" sz="1600" dirty="0"/>
                        <a:t>Feature</a:t>
                      </a:r>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Description</a:t>
                      </a:r>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4392955"/>
                  </a:ext>
                </a:extLst>
              </a:tr>
              <a:tr h="327686">
                <a:tc>
                  <a:txBody>
                    <a:bodyPr/>
                    <a:lstStyle/>
                    <a:p>
                      <a:pPr>
                        <a:buNone/>
                      </a:pPr>
                      <a:r>
                        <a:rPr lang="en-IN" sz="1600"/>
                        <a:t>Shape</a:t>
                      </a:r>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Spherical in blood; irregular after activation</a:t>
                      </a:r>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5676086"/>
                  </a:ext>
                </a:extLst>
              </a:tr>
              <a:tr h="327686">
                <a:tc>
                  <a:txBody>
                    <a:bodyPr/>
                    <a:lstStyle/>
                    <a:p>
                      <a:pPr>
                        <a:buNone/>
                      </a:pPr>
                      <a:r>
                        <a:rPr lang="en-IN" sz="1600"/>
                        <a:t>Size</a:t>
                      </a:r>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10 – 14 µm</a:t>
                      </a:r>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4229042"/>
                  </a:ext>
                </a:extLst>
              </a:tr>
              <a:tr h="573451">
                <a:tc>
                  <a:txBody>
                    <a:bodyPr/>
                    <a:lstStyle/>
                    <a:p>
                      <a:pPr>
                        <a:buNone/>
                      </a:pPr>
                      <a:r>
                        <a:rPr lang="en-IN" sz="1600"/>
                        <a:t>Nucleus</a:t>
                      </a:r>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Multilobed nucleus (3–5 lobes)</a:t>
                      </a:r>
                      <a:r>
                        <a:rPr lang="en-IN" sz="1600"/>
                        <a:t> → “Polymorphonuclear leukocyte (PMN)”</a:t>
                      </a:r>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2213589"/>
                  </a:ext>
                </a:extLst>
              </a:tr>
              <a:tr h="327686">
                <a:tc>
                  <a:txBody>
                    <a:bodyPr/>
                    <a:lstStyle/>
                    <a:p>
                      <a:pPr>
                        <a:buNone/>
                      </a:pPr>
                      <a:r>
                        <a:rPr lang="en-IN" sz="1600"/>
                        <a:t>Cytoplasm</a:t>
                      </a:r>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Pale cytoplasm containing </a:t>
                      </a:r>
                      <a:r>
                        <a:rPr lang="en-US" sz="1600" b="1"/>
                        <a:t>fine granules</a:t>
                      </a:r>
                      <a:endParaRPr lang="en-US" sz="1600"/>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8416083"/>
                  </a:ext>
                </a:extLst>
              </a:tr>
              <a:tr h="573451">
                <a:tc>
                  <a:txBody>
                    <a:bodyPr/>
                    <a:lstStyle/>
                    <a:p>
                      <a:pPr>
                        <a:buNone/>
                      </a:pPr>
                      <a:r>
                        <a:rPr lang="en-IN" sz="1600"/>
                        <a:t>Granules</a:t>
                      </a:r>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Primary (azurophilic) and secondary granules</a:t>
                      </a:r>
                      <a:endParaRPr lang="en-US" sz="1600"/>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8797199"/>
                  </a:ext>
                </a:extLst>
              </a:tr>
              <a:tr h="573451">
                <a:tc>
                  <a:txBody>
                    <a:bodyPr/>
                    <a:lstStyle/>
                    <a:p>
                      <a:pPr>
                        <a:buNone/>
                      </a:pPr>
                      <a:r>
                        <a:rPr lang="en-IN" sz="1600"/>
                        <a:t>Organelles</a:t>
                      </a:r>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600"/>
                        <a:t>Lysosomes, mitochondria, Golgi, ribosomes present</a:t>
                      </a:r>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5580156"/>
                  </a:ext>
                </a:extLst>
              </a:tr>
              <a:tr h="327686">
                <a:tc>
                  <a:txBody>
                    <a:bodyPr/>
                    <a:lstStyle/>
                    <a:p>
                      <a:pPr>
                        <a:buNone/>
                      </a:pPr>
                      <a:r>
                        <a:rPr lang="en-IN" sz="1600"/>
                        <a:t>Movement</a:t>
                      </a:r>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Shows </a:t>
                      </a:r>
                      <a:r>
                        <a:rPr lang="en-IN" sz="1600" b="1"/>
                        <a:t>amoeboid movement</a:t>
                      </a:r>
                      <a:endParaRPr lang="en-IN" sz="1600"/>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5423510"/>
                  </a:ext>
                </a:extLst>
              </a:tr>
              <a:tr h="573451">
                <a:tc>
                  <a:txBody>
                    <a:bodyPr/>
                    <a:lstStyle/>
                    <a:p>
                      <a:pPr>
                        <a:buNone/>
                      </a:pPr>
                      <a:r>
                        <a:rPr lang="en-IN" sz="1600"/>
                        <a:t>Migration</a:t>
                      </a:r>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Can exit blood vessels to tissues via </a:t>
                      </a:r>
                      <a:r>
                        <a:rPr lang="en-US" sz="1600" b="1" dirty="0"/>
                        <a:t>diapedesis</a:t>
                      </a:r>
                      <a:endParaRPr lang="en-US" sz="1600" dirty="0"/>
                    </a:p>
                  </a:txBody>
                  <a:tcPr marL="81922" marR="81922" marT="40961" marB="409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0035124"/>
                  </a:ext>
                </a:extLst>
              </a:tr>
            </a:tbl>
          </a:graphicData>
        </a:graphic>
      </p:graphicFrame>
      <p:sp>
        <p:nvSpPr>
          <p:cNvPr id="5" name="Rectangle 1">
            <a:extLst>
              <a:ext uri="{FF2B5EF4-FFF2-40B4-BE49-F238E27FC236}">
                <a16:creationId xmlns:a16="http://schemas.microsoft.com/office/drawing/2014/main" id="{30D1DDB5-C64A-2074-9558-EA267DA0EFB3}"/>
              </a:ext>
            </a:extLst>
          </p:cNvPr>
          <p:cNvSpPr>
            <a:spLocks noChangeArrowheads="1"/>
          </p:cNvSpPr>
          <p:nvPr/>
        </p:nvSpPr>
        <p:spPr bwMode="auto">
          <a:xfrm>
            <a:off x="0" y="-94565"/>
            <a:ext cx="76803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abundant WBCs</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first line of defense</a:t>
            </a:r>
            <a:r>
              <a:rPr kumimoji="0" lang="en-US" altLang="en-US" sz="1800" b="0" i="0" u="none" strike="noStrike" cap="none" normalizeH="0" baseline="0" dirty="0">
                <a:ln>
                  <a:noFill/>
                </a:ln>
                <a:solidFill>
                  <a:schemeClr val="tx1"/>
                </a:solidFill>
                <a:effectLst/>
                <a:latin typeface="Arial" panose="020B0604020202020204" pitchFamily="34" charset="0"/>
              </a:rPr>
              <a:t> against infections.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351854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72D7F-A32F-0848-09FC-B29358285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136283-66C9-53B2-347E-9D5084423FA2}"/>
              </a:ext>
            </a:extLst>
          </p:cNvPr>
          <p:cNvSpPr>
            <a:spLocks noGrp="1"/>
          </p:cNvSpPr>
          <p:nvPr>
            <p:ph type="title"/>
          </p:nvPr>
        </p:nvSpPr>
        <p:spPr>
          <a:xfrm>
            <a:off x="1066800" y="822327"/>
            <a:ext cx="10058400" cy="1371600"/>
          </a:xfrm>
        </p:spPr>
        <p:txBody>
          <a:bodyPr>
            <a:normAutofit fontScale="90000"/>
          </a:bodyPr>
          <a:lstStyle/>
          <a:p>
            <a:pPr lvl="0" eaLnBrk="0" fontAlgn="base" hangingPunct="0">
              <a:lnSpc>
                <a:spcPct val="100000"/>
              </a:lnSpc>
              <a:spcAft>
                <a:spcPct val="0"/>
              </a:spcAft>
            </a:pPr>
            <a:r>
              <a:rPr lang="en-US" dirty="0"/>
              <a:t>Neutrophils </a:t>
            </a:r>
            <a:br>
              <a:rPr lang="en-US" dirty="0"/>
            </a:br>
            <a:br>
              <a:rPr lang="en-US" dirty="0"/>
            </a:br>
            <a:r>
              <a:rPr lang="en-IN" sz="1600" dirty="0"/>
              <a:t>Functions of Neutrophils</a:t>
            </a:r>
            <a:br>
              <a:rPr lang="en-US" altLang="en-US" b="1" dirty="0">
                <a:latin typeface="Arial" panose="020B0604020202020204" pitchFamily="34" charset="0"/>
              </a:rPr>
            </a:br>
            <a:endParaRPr lang="en-IN" dirty="0"/>
          </a:p>
        </p:txBody>
      </p:sp>
      <p:sp>
        <p:nvSpPr>
          <p:cNvPr id="5" name="Rectangle 1">
            <a:extLst>
              <a:ext uri="{FF2B5EF4-FFF2-40B4-BE49-F238E27FC236}">
                <a16:creationId xmlns:a16="http://schemas.microsoft.com/office/drawing/2014/main" id="{AE3B847C-653C-ED25-49BB-9A4E63B195CB}"/>
              </a:ext>
            </a:extLst>
          </p:cNvPr>
          <p:cNvSpPr>
            <a:spLocks noChangeArrowheads="1"/>
          </p:cNvSpPr>
          <p:nvPr/>
        </p:nvSpPr>
        <p:spPr bwMode="auto">
          <a:xfrm>
            <a:off x="0" y="-94565"/>
            <a:ext cx="76803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abundant WBCs</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first line of defense</a:t>
            </a:r>
            <a:r>
              <a:rPr kumimoji="0" lang="en-US" altLang="en-US" sz="1800" b="0" i="0" u="none" strike="noStrike" cap="none" normalizeH="0" baseline="0" dirty="0">
                <a:ln>
                  <a:noFill/>
                </a:ln>
                <a:solidFill>
                  <a:schemeClr val="tx1"/>
                </a:solidFill>
                <a:effectLst/>
                <a:latin typeface="Arial" panose="020B0604020202020204" pitchFamily="34" charset="0"/>
              </a:rPr>
              <a:t> against infections.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Content Placeholder 6">
            <a:extLst>
              <a:ext uri="{FF2B5EF4-FFF2-40B4-BE49-F238E27FC236}">
                <a16:creationId xmlns:a16="http://schemas.microsoft.com/office/drawing/2014/main" id="{41A0BA27-74EC-E4EB-3886-E4B9ADAE0281}"/>
              </a:ext>
            </a:extLst>
          </p:cNvPr>
          <p:cNvGraphicFramePr>
            <a:graphicFrameLocks noGrp="1"/>
          </p:cNvGraphicFramePr>
          <p:nvPr>
            <p:ph idx="1"/>
            <p:extLst>
              <p:ext uri="{D42A27DB-BD31-4B8C-83A1-F6EECF244321}">
                <p14:modId xmlns:p14="http://schemas.microsoft.com/office/powerpoint/2010/main" val="3818741355"/>
              </p:ext>
            </p:extLst>
          </p:nvPr>
        </p:nvGraphicFramePr>
        <p:xfrm>
          <a:off x="2163763" y="2103438"/>
          <a:ext cx="7864473" cy="3932238"/>
        </p:xfrm>
        <a:graphic>
          <a:graphicData uri="http://schemas.openxmlformats.org/drawingml/2006/table">
            <a:tbl>
              <a:tblPr/>
              <a:tblGrid>
                <a:gridCol w="2621491">
                  <a:extLst>
                    <a:ext uri="{9D8B030D-6E8A-4147-A177-3AD203B41FA5}">
                      <a16:colId xmlns:a16="http://schemas.microsoft.com/office/drawing/2014/main" val="911491626"/>
                    </a:ext>
                  </a:extLst>
                </a:gridCol>
                <a:gridCol w="2621491">
                  <a:extLst>
                    <a:ext uri="{9D8B030D-6E8A-4147-A177-3AD203B41FA5}">
                      <a16:colId xmlns:a16="http://schemas.microsoft.com/office/drawing/2014/main" val="1157381108"/>
                    </a:ext>
                  </a:extLst>
                </a:gridCol>
                <a:gridCol w="2621491">
                  <a:extLst>
                    <a:ext uri="{9D8B030D-6E8A-4147-A177-3AD203B41FA5}">
                      <a16:colId xmlns:a16="http://schemas.microsoft.com/office/drawing/2014/main" val="2772900614"/>
                    </a:ext>
                  </a:extLst>
                </a:gridCol>
              </a:tblGrid>
              <a:tr h="285981">
                <a:tc>
                  <a:txBody>
                    <a:bodyPr/>
                    <a:lstStyle/>
                    <a:p>
                      <a:pPr>
                        <a:buNone/>
                      </a:pPr>
                      <a:r>
                        <a:rPr lang="en-IN" sz="1400"/>
                        <a:t>No.</a:t>
                      </a:r>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Function</a:t>
                      </a:r>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Description</a:t>
                      </a:r>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0730471"/>
                  </a:ext>
                </a:extLst>
              </a:tr>
              <a:tr h="500467">
                <a:tc>
                  <a:txBody>
                    <a:bodyPr/>
                    <a:lstStyle/>
                    <a:p>
                      <a:pPr>
                        <a:buNone/>
                      </a:pPr>
                      <a:r>
                        <a:rPr lang="en-IN" sz="1400" b="1"/>
                        <a:t>1</a:t>
                      </a:r>
                      <a:endParaRPr lang="en-IN" sz="1400"/>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Phagocytosis</a:t>
                      </a:r>
                      <a:endParaRPr lang="en-IN" sz="1400"/>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Engulf and destroy bacteria and foreign particles</a:t>
                      </a:r>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015507"/>
                  </a:ext>
                </a:extLst>
              </a:tr>
              <a:tr h="714952">
                <a:tc>
                  <a:txBody>
                    <a:bodyPr/>
                    <a:lstStyle/>
                    <a:p>
                      <a:pPr>
                        <a:buNone/>
                      </a:pPr>
                      <a:r>
                        <a:rPr lang="en-IN" sz="1400" b="1"/>
                        <a:t>2</a:t>
                      </a:r>
                      <a:endParaRPr lang="en-IN" sz="1400"/>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Release of enzymes</a:t>
                      </a:r>
                      <a:endParaRPr lang="en-IN" sz="1400"/>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fr-FR" sz="1400"/>
                        <a:t>Granules contain lysosomal enzymes that digest microbes</a:t>
                      </a:r>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4984254"/>
                  </a:ext>
                </a:extLst>
              </a:tr>
              <a:tr h="500467">
                <a:tc>
                  <a:txBody>
                    <a:bodyPr/>
                    <a:lstStyle/>
                    <a:p>
                      <a:pPr>
                        <a:buNone/>
                      </a:pPr>
                      <a:r>
                        <a:rPr lang="en-IN" sz="1400" b="1"/>
                        <a:t>3</a:t>
                      </a:r>
                      <a:endParaRPr lang="en-IN" sz="1400"/>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t>Production of reactive oxygen species (ROS)</a:t>
                      </a:r>
                      <a:endParaRPr lang="en-US" sz="1400"/>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“Respiratory burst” kills pathogens</a:t>
                      </a:r>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8216971"/>
                  </a:ext>
                </a:extLst>
              </a:tr>
              <a:tr h="714952">
                <a:tc>
                  <a:txBody>
                    <a:bodyPr/>
                    <a:lstStyle/>
                    <a:p>
                      <a:pPr>
                        <a:buNone/>
                      </a:pPr>
                      <a:r>
                        <a:rPr lang="en-IN" sz="1400" b="1"/>
                        <a:t>4</a:t>
                      </a:r>
                      <a:endParaRPr lang="en-IN" sz="1400"/>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t>Formation of NETs (Neutrophil Extracellular Traps)</a:t>
                      </a:r>
                      <a:endParaRPr lang="en-US" sz="1400"/>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DNA + proteins trap and kill microbes outside the cell</a:t>
                      </a:r>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6633977"/>
                  </a:ext>
                </a:extLst>
              </a:tr>
              <a:tr h="714952">
                <a:tc>
                  <a:txBody>
                    <a:bodyPr/>
                    <a:lstStyle/>
                    <a:p>
                      <a:pPr>
                        <a:buNone/>
                      </a:pPr>
                      <a:r>
                        <a:rPr lang="en-IN" sz="1400" b="1"/>
                        <a:t>5</a:t>
                      </a:r>
                      <a:endParaRPr lang="en-IN" sz="1400"/>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Inflammatory response</a:t>
                      </a:r>
                      <a:endParaRPr lang="en-IN" sz="1400"/>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Secrete cytokines to recruit and activate other immune cells</a:t>
                      </a:r>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9653215"/>
                  </a:ext>
                </a:extLst>
              </a:tr>
              <a:tr h="500467">
                <a:tc>
                  <a:txBody>
                    <a:bodyPr/>
                    <a:lstStyle/>
                    <a:p>
                      <a:pPr>
                        <a:buNone/>
                      </a:pPr>
                      <a:r>
                        <a:rPr lang="en-IN" sz="1400" b="1"/>
                        <a:t>6</a:t>
                      </a:r>
                      <a:endParaRPr lang="en-IN" sz="1400"/>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First responder to infection</a:t>
                      </a:r>
                      <a:endParaRPr lang="en-IN" sz="1400"/>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Arrive rapidly at sites of injury/infection</a:t>
                      </a:r>
                    </a:p>
                  </a:txBody>
                  <a:tcPr marL="71495" marR="71495" marT="35748" marB="357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5328329"/>
                  </a:ext>
                </a:extLst>
              </a:tr>
            </a:tbl>
          </a:graphicData>
        </a:graphic>
      </p:graphicFrame>
    </p:spTree>
    <p:extLst>
      <p:ext uri="{BB962C8B-B14F-4D97-AF65-F5344CB8AC3E}">
        <p14:creationId xmlns:p14="http://schemas.microsoft.com/office/powerpoint/2010/main" val="41428836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3F756-E7F4-2E4C-E90A-A07B5069E6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3B04C-CE14-4473-DF03-AA92040F466B}"/>
              </a:ext>
            </a:extLst>
          </p:cNvPr>
          <p:cNvSpPr>
            <a:spLocks noGrp="1"/>
          </p:cNvSpPr>
          <p:nvPr>
            <p:ph type="title"/>
          </p:nvPr>
        </p:nvSpPr>
        <p:spPr>
          <a:xfrm>
            <a:off x="1066800" y="822327"/>
            <a:ext cx="10058400" cy="1371600"/>
          </a:xfrm>
        </p:spPr>
        <p:txBody>
          <a:bodyPr>
            <a:normAutofit fontScale="90000"/>
          </a:bodyPr>
          <a:lstStyle/>
          <a:p>
            <a:pPr lvl="0" eaLnBrk="0" fontAlgn="base" hangingPunct="0">
              <a:lnSpc>
                <a:spcPct val="100000"/>
              </a:lnSpc>
              <a:spcAft>
                <a:spcPct val="0"/>
              </a:spcAft>
            </a:pPr>
            <a:r>
              <a:rPr lang="en-US" dirty="0"/>
              <a:t>Neutrophils </a:t>
            </a:r>
            <a:br>
              <a:rPr lang="en-US" dirty="0"/>
            </a:br>
            <a:br>
              <a:rPr lang="en-US" dirty="0"/>
            </a:br>
            <a:r>
              <a:rPr lang="en-IN" sz="1600" dirty="0"/>
              <a:t>pathology of Neutrophils</a:t>
            </a:r>
            <a:br>
              <a:rPr lang="en-US" altLang="en-US" b="1" dirty="0">
                <a:latin typeface="Arial" panose="020B0604020202020204" pitchFamily="34" charset="0"/>
              </a:rPr>
            </a:br>
            <a:endParaRPr lang="en-IN" dirty="0"/>
          </a:p>
        </p:txBody>
      </p:sp>
      <p:sp>
        <p:nvSpPr>
          <p:cNvPr id="5" name="Rectangle 1">
            <a:extLst>
              <a:ext uri="{FF2B5EF4-FFF2-40B4-BE49-F238E27FC236}">
                <a16:creationId xmlns:a16="http://schemas.microsoft.com/office/drawing/2014/main" id="{B27521FB-486C-1461-C72B-CF7852583FEE}"/>
              </a:ext>
            </a:extLst>
          </p:cNvPr>
          <p:cNvSpPr>
            <a:spLocks noChangeArrowheads="1"/>
          </p:cNvSpPr>
          <p:nvPr/>
        </p:nvSpPr>
        <p:spPr bwMode="auto">
          <a:xfrm>
            <a:off x="0" y="-94565"/>
            <a:ext cx="76803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abundant WBCs</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first line of defense</a:t>
            </a:r>
            <a:r>
              <a:rPr kumimoji="0" lang="en-US" altLang="en-US" sz="1800" b="0" i="0" u="none" strike="noStrike" cap="none" normalizeH="0" baseline="0" dirty="0">
                <a:ln>
                  <a:noFill/>
                </a:ln>
                <a:solidFill>
                  <a:schemeClr val="tx1"/>
                </a:solidFill>
                <a:effectLst/>
                <a:latin typeface="Arial" panose="020B0604020202020204" pitchFamily="34" charset="0"/>
              </a:rPr>
              <a:t> against infections.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Content Placeholder 9">
            <a:extLst>
              <a:ext uri="{FF2B5EF4-FFF2-40B4-BE49-F238E27FC236}">
                <a16:creationId xmlns:a16="http://schemas.microsoft.com/office/drawing/2014/main" id="{CFCDABEB-9B83-E6B5-4C8F-CB3C4B7E399F}"/>
              </a:ext>
            </a:extLst>
          </p:cNvPr>
          <p:cNvPicPr>
            <a:picLocks noGrp="1" noChangeAspect="1"/>
          </p:cNvPicPr>
          <p:nvPr>
            <p:ph idx="1"/>
          </p:nvPr>
        </p:nvPicPr>
        <p:blipFill>
          <a:blip r:embed="rId2"/>
          <a:stretch>
            <a:fillRect/>
          </a:stretch>
        </p:blipFill>
        <p:spPr>
          <a:xfrm>
            <a:off x="5782311" y="1881396"/>
            <a:ext cx="6091035" cy="2874125"/>
          </a:xfrm>
          <a:prstGeom prst="rect">
            <a:avLst/>
          </a:prstGeom>
        </p:spPr>
      </p:pic>
      <p:pic>
        <p:nvPicPr>
          <p:cNvPr id="8" name="Picture 7">
            <a:extLst>
              <a:ext uri="{FF2B5EF4-FFF2-40B4-BE49-F238E27FC236}">
                <a16:creationId xmlns:a16="http://schemas.microsoft.com/office/drawing/2014/main" id="{223155FF-1B2D-B35A-56CD-FA1A3C6A3D9E}"/>
              </a:ext>
            </a:extLst>
          </p:cNvPr>
          <p:cNvPicPr>
            <a:picLocks noChangeAspect="1"/>
          </p:cNvPicPr>
          <p:nvPr/>
        </p:nvPicPr>
        <p:blipFill>
          <a:blip r:embed="rId3"/>
          <a:stretch>
            <a:fillRect/>
          </a:stretch>
        </p:blipFill>
        <p:spPr>
          <a:xfrm>
            <a:off x="318654" y="3523557"/>
            <a:ext cx="5631534" cy="2874125"/>
          </a:xfrm>
          <a:prstGeom prst="rect">
            <a:avLst/>
          </a:prstGeom>
        </p:spPr>
      </p:pic>
    </p:spTree>
    <p:extLst>
      <p:ext uri="{BB962C8B-B14F-4D97-AF65-F5344CB8AC3E}">
        <p14:creationId xmlns:p14="http://schemas.microsoft.com/office/powerpoint/2010/main" val="21336628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C0059-05F3-7351-BB63-073CF31AB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935D2-80A8-37AF-E420-E9685673BCF9}"/>
              </a:ext>
            </a:extLst>
          </p:cNvPr>
          <p:cNvSpPr>
            <a:spLocks noGrp="1"/>
          </p:cNvSpPr>
          <p:nvPr>
            <p:ph type="title"/>
          </p:nvPr>
        </p:nvSpPr>
        <p:spPr>
          <a:xfrm>
            <a:off x="1066800" y="822327"/>
            <a:ext cx="10058400" cy="1371600"/>
          </a:xfrm>
        </p:spPr>
        <p:txBody>
          <a:bodyPr>
            <a:normAutofit fontScale="90000"/>
          </a:bodyPr>
          <a:lstStyle/>
          <a:p>
            <a:pPr lvl="0" eaLnBrk="0" fontAlgn="base" hangingPunct="0">
              <a:lnSpc>
                <a:spcPct val="100000"/>
              </a:lnSpc>
              <a:spcAft>
                <a:spcPct val="0"/>
              </a:spcAft>
            </a:pPr>
            <a:r>
              <a:rPr lang="en-US" dirty="0"/>
              <a:t>Eosinophils  </a:t>
            </a:r>
            <a:br>
              <a:rPr lang="en-US" dirty="0"/>
            </a:br>
            <a:br>
              <a:rPr lang="en-US" dirty="0"/>
            </a:br>
            <a:r>
              <a:rPr lang="en-IN" sz="1600" dirty="0"/>
              <a:t>Structure of Eosinophils</a:t>
            </a:r>
            <a:br>
              <a:rPr lang="en-US" altLang="en-US" b="1" dirty="0">
                <a:latin typeface="Arial" panose="020B0604020202020204" pitchFamily="34" charset="0"/>
              </a:rPr>
            </a:br>
            <a:endParaRPr lang="en-IN" dirty="0"/>
          </a:p>
        </p:txBody>
      </p:sp>
      <p:sp>
        <p:nvSpPr>
          <p:cNvPr id="5" name="Rectangle 1">
            <a:extLst>
              <a:ext uri="{FF2B5EF4-FFF2-40B4-BE49-F238E27FC236}">
                <a16:creationId xmlns:a16="http://schemas.microsoft.com/office/drawing/2014/main" id="{D22757CD-A140-113B-F61B-0837753D6C1E}"/>
              </a:ext>
            </a:extLst>
          </p:cNvPr>
          <p:cNvSpPr>
            <a:spLocks noChangeArrowheads="1"/>
          </p:cNvSpPr>
          <p:nvPr/>
        </p:nvSpPr>
        <p:spPr bwMode="auto">
          <a:xfrm>
            <a:off x="0" y="-94565"/>
            <a:ext cx="76803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abundant WBCs</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first line of defense</a:t>
            </a:r>
            <a:r>
              <a:rPr kumimoji="0" lang="en-US" altLang="en-US" sz="1800" b="0" i="0" u="none" strike="noStrike" cap="none" normalizeH="0" baseline="0" dirty="0">
                <a:ln>
                  <a:noFill/>
                </a:ln>
                <a:solidFill>
                  <a:schemeClr val="tx1"/>
                </a:solidFill>
                <a:effectLst/>
                <a:latin typeface="Arial" panose="020B0604020202020204" pitchFamily="34" charset="0"/>
              </a:rPr>
              <a:t> against infections.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6" name="Content Placeholder 5">
            <a:extLst>
              <a:ext uri="{FF2B5EF4-FFF2-40B4-BE49-F238E27FC236}">
                <a16:creationId xmlns:a16="http://schemas.microsoft.com/office/drawing/2014/main" id="{52FBF717-524B-88E8-006E-5AC60714D1B5}"/>
              </a:ext>
            </a:extLst>
          </p:cNvPr>
          <p:cNvGraphicFramePr>
            <a:graphicFrameLocks noGrp="1"/>
          </p:cNvGraphicFramePr>
          <p:nvPr>
            <p:ph idx="1"/>
            <p:extLst>
              <p:ext uri="{D42A27DB-BD31-4B8C-83A1-F6EECF244321}">
                <p14:modId xmlns:p14="http://schemas.microsoft.com/office/powerpoint/2010/main" val="2771798444"/>
              </p:ext>
            </p:extLst>
          </p:nvPr>
        </p:nvGraphicFramePr>
        <p:xfrm>
          <a:off x="1066800" y="2332196"/>
          <a:ext cx="10058400" cy="3474720"/>
        </p:xfrm>
        <a:graphic>
          <a:graphicData uri="http://schemas.openxmlformats.org/drawingml/2006/table">
            <a:tbl>
              <a:tblPr/>
              <a:tblGrid>
                <a:gridCol w="5029200">
                  <a:extLst>
                    <a:ext uri="{9D8B030D-6E8A-4147-A177-3AD203B41FA5}">
                      <a16:colId xmlns:a16="http://schemas.microsoft.com/office/drawing/2014/main" val="2636875394"/>
                    </a:ext>
                  </a:extLst>
                </a:gridCol>
                <a:gridCol w="5029200">
                  <a:extLst>
                    <a:ext uri="{9D8B030D-6E8A-4147-A177-3AD203B41FA5}">
                      <a16:colId xmlns:a16="http://schemas.microsoft.com/office/drawing/2014/main" val="2685382107"/>
                    </a:ext>
                  </a:extLst>
                </a:gridCol>
              </a:tblGrid>
              <a:tr h="0">
                <a:tc>
                  <a:txBody>
                    <a:bodyPr/>
                    <a:lstStyle/>
                    <a:p>
                      <a:pPr>
                        <a:buNone/>
                      </a:pPr>
                      <a:r>
                        <a:rPr lang="en-IN" dirty="0"/>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9549102"/>
                  </a:ext>
                </a:extLst>
              </a:tr>
              <a:tr h="0">
                <a:tc>
                  <a:txBody>
                    <a:bodyPr/>
                    <a:lstStyle/>
                    <a:p>
                      <a:pPr>
                        <a:buNone/>
                      </a:pPr>
                      <a:r>
                        <a:rPr lang="en-IN" dirty="0"/>
                        <a:t>Shape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Spherical in blood; irregular in tissues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5855035"/>
                  </a:ext>
                </a:extLst>
              </a:tr>
              <a:tr h="0">
                <a:tc>
                  <a:txBody>
                    <a:bodyPr/>
                    <a:lstStyle/>
                    <a:p>
                      <a:pPr>
                        <a:buNone/>
                      </a:pPr>
                      <a:r>
                        <a:rPr lang="en-IN" dirty="0"/>
                        <a:t>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10 – 15 µm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846859"/>
                  </a:ext>
                </a:extLst>
              </a:tr>
              <a:tr h="0">
                <a:tc>
                  <a:txBody>
                    <a:bodyPr/>
                    <a:lstStyle/>
                    <a:p>
                      <a:pPr>
                        <a:buNone/>
                      </a:pPr>
                      <a:r>
                        <a:rPr lang="en-IN" dirty="0"/>
                        <a:t>Nucleus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Bilobed nucleus (2 lobes)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0002530"/>
                  </a:ext>
                </a:extLst>
              </a:tr>
              <a:tr h="0">
                <a:tc>
                  <a:txBody>
                    <a:bodyPr/>
                    <a:lstStyle/>
                    <a:p>
                      <a:pPr>
                        <a:buNone/>
                      </a:pPr>
                      <a:r>
                        <a:rPr lang="en-IN"/>
                        <a:t>Cytoplasm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Filled with large </a:t>
                      </a:r>
                      <a:r>
                        <a:rPr lang="en-US" b="1" dirty="0"/>
                        <a:t>coarse eosinophilic granules</a:t>
                      </a:r>
                      <a:r>
                        <a:rPr lang="en-US" dirty="0"/>
                        <a:t> (orange-red with eosin stain)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2257822"/>
                  </a:ext>
                </a:extLst>
              </a:tr>
              <a:tr h="0">
                <a:tc>
                  <a:txBody>
                    <a:bodyPr/>
                    <a:lstStyle/>
                    <a:p>
                      <a:pPr>
                        <a:buNone/>
                      </a:pPr>
                      <a:r>
                        <a:rPr lang="en-IN"/>
                        <a:t>Granules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Contain </a:t>
                      </a:r>
                      <a:r>
                        <a:rPr lang="en-IN" b="1" dirty="0"/>
                        <a:t>major basic protein (MBP)</a:t>
                      </a:r>
                      <a:r>
                        <a:rPr lang="en-IN" dirty="0"/>
                        <a:t>, eosinophil cationic protein, peroxidase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0797401"/>
                  </a:ext>
                </a:extLst>
              </a:tr>
              <a:tr h="0">
                <a:tc>
                  <a:txBody>
                    <a:bodyPr/>
                    <a:lstStyle/>
                    <a:p>
                      <a:pPr>
                        <a:buNone/>
                      </a:pPr>
                      <a:r>
                        <a:rPr lang="en-IN"/>
                        <a:t>Movement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Show </a:t>
                      </a:r>
                      <a:r>
                        <a:rPr lang="en-IN" b="1" dirty="0"/>
                        <a:t>amoeboid movement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9193301"/>
                  </a:ext>
                </a:extLst>
              </a:tr>
              <a:tr h="0">
                <a:tc>
                  <a:txBody>
                    <a:bodyPr/>
                    <a:lstStyle/>
                    <a:p>
                      <a:pPr>
                        <a:buNone/>
                      </a:pPr>
                      <a:r>
                        <a:rPr lang="en-IN"/>
                        <a:t>Life span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8–12 days in tissues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4642813"/>
                  </a:ext>
                </a:extLst>
              </a:tr>
            </a:tbl>
          </a:graphicData>
        </a:graphic>
      </p:graphicFrame>
    </p:spTree>
    <p:extLst>
      <p:ext uri="{BB962C8B-B14F-4D97-AF65-F5344CB8AC3E}">
        <p14:creationId xmlns:p14="http://schemas.microsoft.com/office/powerpoint/2010/main" val="39690301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A688B-048F-0AAD-BF42-325223FD9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FE076-9844-24DF-53DC-1D4A39C03B44}"/>
              </a:ext>
            </a:extLst>
          </p:cNvPr>
          <p:cNvSpPr>
            <a:spLocks noGrp="1"/>
          </p:cNvSpPr>
          <p:nvPr>
            <p:ph type="title"/>
          </p:nvPr>
        </p:nvSpPr>
        <p:spPr>
          <a:xfrm>
            <a:off x="1066800" y="822327"/>
            <a:ext cx="10058400" cy="1371600"/>
          </a:xfrm>
        </p:spPr>
        <p:txBody>
          <a:bodyPr>
            <a:normAutofit fontScale="90000"/>
          </a:bodyPr>
          <a:lstStyle/>
          <a:p>
            <a:pPr lvl="0" eaLnBrk="0" fontAlgn="base" hangingPunct="0">
              <a:lnSpc>
                <a:spcPct val="100000"/>
              </a:lnSpc>
              <a:spcAft>
                <a:spcPct val="0"/>
              </a:spcAft>
            </a:pPr>
            <a:r>
              <a:rPr lang="en-US" dirty="0"/>
              <a:t>Eosinophils  </a:t>
            </a:r>
            <a:br>
              <a:rPr lang="en-US" dirty="0"/>
            </a:br>
            <a:br>
              <a:rPr lang="en-US" dirty="0"/>
            </a:br>
            <a:r>
              <a:rPr lang="en-IN" sz="1600" dirty="0"/>
              <a:t>functions of Eosinophils</a:t>
            </a:r>
            <a:br>
              <a:rPr lang="en-US" altLang="en-US" b="1" dirty="0">
                <a:latin typeface="Arial" panose="020B0604020202020204" pitchFamily="34" charset="0"/>
              </a:rPr>
            </a:br>
            <a:endParaRPr lang="en-IN" dirty="0"/>
          </a:p>
        </p:txBody>
      </p:sp>
      <p:sp>
        <p:nvSpPr>
          <p:cNvPr id="5" name="Rectangle 1">
            <a:extLst>
              <a:ext uri="{FF2B5EF4-FFF2-40B4-BE49-F238E27FC236}">
                <a16:creationId xmlns:a16="http://schemas.microsoft.com/office/drawing/2014/main" id="{51B72E07-FB11-A6F5-F03C-72ED2F0F7B69}"/>
              </a:ext>
            </a:extLst>
          </p:cNvPr>
          <p:cNvSpPr>
            <a:spLocks noChangeArrowheads="1"/>
          </p:cNvSpPr>
          <p:nvPr/>
        </p:nvSpPr>
        <p:spPr bwMode="auto">
          <a:xfrm>
            <a:off x="0" y="-94565"/>
            <a:ext cx="76803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abundant WBCs</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first line of defense</a:t>
            </a:r>
            <a:r>
              <a:rPr kumimoji="0" lang="en-US" altLang="en-US" sz="1800" b="0" i="0" u="none" strike="noStrike" cap="none" normalizeH="0" baseline="0" dirty="0">
                <a:ln>
                  <a:noFill/>
                </a:ln>
                <a:solidFill>
                  <a:schemeClr val="tx1"/>
                </a:solidFill>
                <a:effectLst/>
                <a:latin typeface="Arial" panose="020B0604020202020204" pitchFamily="34" charset="0"/>
              </a:rPr>
              <a:t> against infections.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Content Placeholder 6">
            <a:extLst>
              <a:ext uri="{FF2B5EF4-FFF2-40B4-BE49-F238E27FC236}">
                <a16:creationId xmlns:a16="http://schemas.microsoft.com/office/drawing/2014/main" id="{31C85997-DD3E-996B-344E-7AEA857488F9}"/>
              </a:ext>
            </a:extLst>
          </p:cNvPr>
          <p:cNvGraphicFramePr>
            <a:graphicFrameLocks noGrp="1"/>
          </p:cNvGraphicFramePr>
          <p:nvPr>
            <p:ph idx="1"/>
            <p:extLst>
              <p:ext uri="{D42A27DB-BD31-4B8C-83A1-F6EECF244321}">
                <p14:modId xmlns:p14="http://schemas.microsoft.com/office/powerpoint/2010/main" val="4156146970"/>
              </p:ext>
            </p:extLst>
          </p:nvPr>
        </p:nvGraphicFramePr>
        <p:xfrm>
          <a:off x="2090944" y="2103438"/>
          <a:ext cx="8010111" cy="3932237"/>
        </p:xfrm>
        <a:graphic>
          <a:graphicData uri="http://schemas.openxmlformats.org/drawingml/2006/table">
            <a:tbl>
              <a:tblPr/>
              <a:tblGrid>
                <a:gridCol w="2670037">
                  <a:extLst>
                    <a:ext uri="{9D8B030D-6E8A-4147-A177-3AD203B41FA5}">
                      <a16:colId xmlns:a16="http://schemas.microsoft.com/office/drawing/2014/main" val="1868900239"/>
                    </a:ext>
                  </a:extLst>
                </a:gridCol>
                <a:gridCol w="2670037">
                  <a:extLst>
                    <a:ext uri="{9D8B030D-6E8A-4147-A177-3AD203B41FA5}">
                      <a16:colId xmlns:a16="http://schemas.microsoft.com/office/drawing/2014/main" val="364154073"/>
                    </a:ext>
                  </a:extLst>
                </a:gridCol>
                <a:gridCol w="2670037">
                  <a:extLst>
                    <a:ext uri="{9D8B030D-6E8A-4147-A177-3AD203B41FA5}">
                      <a16:colId xmlns:a16="http://schemas.microsoft.com/office/drawing/2014/main" val="2598988002"/>
                    </a:ext>
                  </a:extLst>
                </a:gridCol>
              </a:tblGrid>
              <a:tr h="291277">
                <a:tc>
                  <a:txBody>
                    <a:bodyPr/>
                    <a:lstStyle/>
                    <a:p>
                      <a:pPr>
                        <a:buNone/>
                      </a:pPr>
                      <a:r>
                        <a:rPr lang="en-IN" sz="1400"/>
                        <a:t>No.</a:t>
                      </a:r>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Function</a:t>
                      </a:r>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Description</a:t>
                      </a:r>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9157249"/>
                  </a:ext>
                </a:extLst>
              </a:tr>
              <a:tr h="946650">
                <a:tc>
                  <a:txBody>
                    <a:bodyPr/>
                    <a:lstStyle/>
                    <a:p>
                      <a:pPr>
                        <a:buNone/>
                      </a:pPr>
                      <a:r>
                        <a:rPr lang="en-IN" sz="1400" b="1"/>
                        <a:t>1</a:t>
                      </a:r>
                      <a:endParaRPr lang="en-IN" sz="1400"/>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Defense against parasites (helminths)</a:t>
                      </a:r>
                      <a:endParaRPr lang="en-IN" sz="1400"/>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Release toxic proteins—especially </a:t>
                      </a:r>
                      <a:r>
                        <a:rPr lang="en-US" sz="1400" b="1"/>
                        <a:t>major basic protein (MBP)</a:t>
                      </a:r>
                      <a:r>
                        <a:rPr lang="en-US" sz="1400"/>
                        <a:t>—to kill parasites</a:t>
                      </a:r>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1520525"/>
                  </a:ext>
                </a:extLst>
              </a:tr>
              <a:tr h="728192">
                <a:tc>
                  <a:txBody>
                    <a:bodyPr/>
                    <a:lstStyle/>
                    <a:p>
                      <a:pPr>
                        <a:buNone/>
                      </a:pPr>
                      <a:r>
                        <a:rPr lang="en-IN" sz="1400" b="1"/>
                        <a:t>2</a:t>
                      </a:r>
                      <a:endParaRPr lang="en-IN" sz="1400"/>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Role in allergic reactions</a:t>
                      </a:r>
                      <a:endParaRPr lang="en-IN" sz="1400"/>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Control allergic responses by neutralizing histamine and inflammatory mediators</a:t>
                      </a:r>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8855774"/>
                  </a:ext>
                </a:extLst>
              </a:tr>
              <a:tr h="509734">
                <a:tc>
                  <a:txBody>
                    <a:bodyPr/>
                    <a:lstStyle/>
                    <a:p>
                      <a:pPr>
                        <a:buNone/>
                      </a:pPr>
                      <a:r>
                        <a:rPr lang="en-IN" sz="1400" b="1"/>
                        <a:t>3</a:t>
                      </a:r>
                      <a:endParaRPr lang="en-IN" sz="1400"/>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Phagocytosis (limited)</a:t>
                      </a:r>
                      <a:endParaRPr lang="en-IN" sz="1400"/>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Engulf antigen-antibody complexes</a:t>
                      </a:r>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4675693"/>
                  </a:ext>
                </a:extLst>
              </a:tr>
              <a:tr h="728192">
                <a:tc>
                  <a:txBody>
                    <a:bodyPr/>
                    <a:lstStyle/>
                    <a:p>
                      <a:pPr>
                        <a:buNone/>
                      </a:pPr>
                      <a:r>
                        <a:rPr lang="en-IN" sz="1400" b="1"/>
                        <a:t>4</a:t>
                      </a:r>
                      <a:endParaRPr lang="en-IN" sz="1400"/>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Modulation of inflammation</a:t>
                      </a:r>
                      <a:endParaRPr lang="en-IN" sz="1400"/>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Secrete enzymes that reduce excessive inflammation</a:t>
                      </a:r>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0272741"/>
                  </a:ext>
                </a:extLst>
              </a:tr>
              <a:tr h="728192">
                <a:tc>
                  <a:txBody>
                    <a:bodyPr/>
                    <a:lstStyle/>
                    <a:p>
                      <a:pPr>
                        <a:buNone/>
                      </a:pPr>
                      <a:r>
                        <a:rPr lang="en-IN" sz="1400" b="1"/>
                        <a:t>5</a:t>
                      </a:r>
                      <a:endParaRPr lang="en-IN" sz="1400"/>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Detoxification</a:t>
                      </a:r>
                      <a:endParaRPr lang="en-IN" sz="1400"/>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Detoxify substances released during allergic reactions and infection</a:t>
                      </a:r>
                    </a:p>
                  </a:txBody>
                  <a:tcPr marL="72819" marR="72819" marT="36410" marB="36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2178970"/>
                  </a:ext>
                </a:extLst>
              </a:tr>
            </a:tbl>
          </a:graphicData>
        </a:graphic>
      </p:graphicFrame>
    </p:spTree>
    <p:extLst>
      <p:ext uri="{BB962C8B-B14F-4D97-AF65-F5344CB8AC3E}">
        <p14:creationId xmlns:p14="http://schemas.microsoft.com/office/powerpoint/2010/main" val="28089661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7A2FD-A327-B3CB-EA03-9EC7D09E39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E1A43-52AC-F89A-5727-7C2C882AE774}"/>
              </a:ext>
            </a:extLst>
          </p:cNvPr>
          <p:cNvSpPr>
            <a:spLocks noGrp="1"/>
          </p:cNvSpPr>
          <p:nvPr>
            <p:ph type="title"/>
          </p:nvPr>
        </p:nvSpPr>
        <p:spPr>
          <a:xfrm>
            <a:off x="1066800" y="822327"/>
            <a:ext cx="10058400" cy="1371600"/>
          </a:xfrm>
        </p:spPr>
        <p:txBody>
          <a:bodyPr>
            <a:normAutofit fontScale="90000"/>
          </a:bodyPr>
          <a:lstStyle/>
          <a:p>
            <a:pPr lvl="0" eaLnBrk="0" fontAlgn="base" hangingPunct="0">
              <a:lnSpc>
                <a:spcPct val="100000"/>
              </a:lnSpc>
              <a:spcAft>
                <a:spcPct val="0"/>
              </a:spcAft>
            </a:pPr>
            <a:r>
              <a:rPr lang="en-US" dirty="0"/>
              <a:t>Eosinophils  </a:t>
            </a:r>
            <a:br>
              <a:rPr lang="en-US" dirty="0"/>
            </a:br>
            <a:br>
              <a:rPr lang="en-US" dirty="0"/>
            </a:br>
            <a:r>
              <a:rPr lang="en-IN" sz="1600" dirty="0"/>
              <a:t>pathology of Eosinophils</a:t>
            </a:r>
            <a:br>
              <a:rPr lang="en-US" altLang="en-US" b="1" dirty="0">
                <a:latin typeface="Arial" panose="020B0604020202020204" pitchFamily="34" charset="0"/>
              </a:rPr>
            </a:br>
            <a:endParaRPr lang="en-IN" dirty="0"/>
          </a:p>
        </p:txBody>
      </p:sp>
      <p:sp>
        <p:nvSpPr>
          <p:cNvPr id="5" name="Rectangle 1">
            <a:extLst>
              <a:ext uri="{FF2B5EF4-FFF2-40B4-BE49-F238E27FC236}">
                <a16:creationId xmlns:a16="http://schemas.microsoft.com/office/drawing/2014/main" id="{E06A64AA-52B4-AD30-6BF1-D38F21AC8995}"/>
              </a:ext>
            </a:extLst>
          </p:cNvPr>
          <p:cNvSpPr>
            <a:spLocks noChangeArrowheads="1"/>
          </p:cNvSpPr>
          <p:nvPr/>
        </p:nvSpPr>
        <p:spPr bwMode="auto">
          <a:xfrm>
            <a:off x="0" y="-94565"/>
            <a:ext cx="76803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abundant WBCs</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first line of defense</a:t>
            </a:r>
            <a:r>
              <a:rPr kumimoji="0" lang="en-US" altLang="en-US" sz="1800" b="0" i="0" u="none" strike="noStrike" cap="none" normalizeH="0" baseline="0" dirty="0">
                <a:ln>
                  <a:noFill/>
                </a:ln>
                <a:solidFill>
                  <a:schemeClr val="tx1"/>
                </a:solidFill>
                <a:effectLst/>
                <a:latin typeface="Arial" panose="020B0604020202020204" pitchFamily="34" charset="0"/>
              </a:rPr>
              <a:t> against infections.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Content Placeholder 7">
            <a:extLst>
              <a:ext uri="{FF2B5EF4-FFF2-40B4-BE49-F238E27FC236}">
                <a16:creationId xmlns:a16="http://schemas.microsoft.com/office/drawing/2014/main" id="{502E4DDA-1FBF-6182-3C4B-535F2D2EA4B8}"/>
              </a:ext>
            </a:extLst>
          </p:cNvPr>
          <p:cNvPicPr>
            <a:picLocks noGrp="1" noChangeAspect="1"/>
          </p:cNvPicPr>
          <p:nvPr>
            <p:ph idx="1"/>
          </p:nvPr>
        </p:nvPicPr>
        <p:blipFill>
          <a:blip r:embed="rId2"/>
          <a:stretch>
            <a:fillRect/>
          </a:stretch>
        </p:blipFill>
        <p:spPr>
          <a:xfrm>
            <a:off x="1285129" y="2257261"/>
            <a:ext cx="7421991" cy="3892984"/>
          </a:xfrm>
          <a:prstGeom prst="rect">
            <a:avLst/>
          </a:prstGeom>
        </p:spPr>
      </p:pic>
    </p:spTree>
    <p:extLst>
      <p:ext uri="{BB962C8B-B14F-4D97-AF65-F5344CB8AC3E}">
        <p14:creationId xmlns:p14="http://schemas.microsoft.com/office/powerpoint/2010/main" val="2118405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93FF0-C7AD-9659-0B68-B9CB57B9F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2BAC15-91C6-C6F4-E748-EDCD9A7CC2EA}"/>
              </a:ext>
            </a:extLst>
          </p:cNvPr>
          <p:cNvSpPr>
            <a:spLocks noGrp="1"/>
          </p:cNvSpPr>
          <p:nvPr>
            <p:ph type="title"/>
          </p:nvPr>
        </p:nvSpPr>
        <p:spPr>
          <a:xfrm>
            <a:off x="1066800" y="822327"/>
            <a:ext cx="10058400" cy="1371600"/>
          </a:xfrm>
        </p:spPr>
        <p:txBody>
          <a:bodyPr>
            <a:normAutofit fontScale="90000"/>
          </a:bodyPr>
          <a:lstStyle/>
          <a:p>
            <a:pPr lvl="0" eaLnBrk="0" fontAlgn="base" hangingPunct="0">
              <a:lnSpc>
                <a:spcPct val="100000"/>
              </a:lnSpc>
              <a:spcAft>
                <a:spcPct val="0"/>
              </a:spcAft>
            </a:pPr>
            <a:r>
              <a:rPr lang="en-US" dirty="0"/>
              <a:t>Basophils   </a:t>
            </a:r>
            <a:br>
              <a:rPr lang="en-US" dirty="0"/>
            </a:br>
            <a:br>
              <a:rPr lang="en-US" dirty="0"/>
            </a:br>
            <a:r>
              <a:rPr lang="en-US" sz="1600" dirty="0"/>
              <a:t>structure</a:t>
            </a:r>
            <a:r>
              <a:rPr lang="en-IN" sz="1600" dirty="0"/>
              <a:t> of basophils</a:t>
            </a:r>
            <a:br>
              <a:rPr lang="en-US" altLang="en-US" b="1" dirty="0">
                <a:latin typeface="Arial" panose="020B0604020202020204" pitchFamily="34" charset="0"/>
              </a:rPr>
            </a:br>
            <a:endParaRPr lang="en-IN" dirty="0"/>
          </a:p>
        </p:txBody>
      </p:sp>
      <p:sp>
        <p:nvSpPr>
          <p:cNvPr id="5" name="Rectangle 1">
            <a:extLst>
              <a:ext uri="{FF2B5EF4-FFF2-40B4-BE49-F238E27FC236}">
                <a16:creationId xmlns:a16="http://schemas.microsoft.com/office/drawing/2014/main" id="{5587CFD4-96F6-D073-63F6-5624708A8C4F}"/>
              </a:ext>
            </a:extLst>
          </p:cNvPr>
          <p:cNvSpPr>
            <a:spLocks noChangeArrowheads="1"/>
          </p:cNvSpPr>
          <p:nvPr/>
        </p:nvSpPr>
        <p:spPr bwMode="auto">
          <a:xfrm>
            <a:off x="0" y="-94565"/>
            <a:ext cx="76803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abundant WBCs</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first line of defense</a:t>
            </a:r>
            <a:r>
              <a:rPr kumimoji="0" lang="en-US" altLang="en-US" sz="1800" b="0" i="0" u="none" strike="noStrike" cap="none" normalizeH="0" baseline="0" dirty="0">
                <a:ln>
                  <a:noFill/>
                </a:ln>
                <a:solidFill>
                  <a:schemeClr val="tx1"/>
                </a:solidFill>
                <a:effectLst/>
                <a:latin typeface="Arial" panose="020B0604020202020204" pitchFamily="34" charset="0"/>
              </a:rPr>
              <a:t> against infections.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6" name="Content Placeholder 5">
            <a:extLst>
              <a:ext uri="{FF2B5EF4-FFF2-40B4-BE49-F238E27FC236}">
                <a16:creationId xmlns:a16="http://schemas.microsoft.com/office/drawing/2014/main" id="{BDC778F6-1449-86E1-41CB-0ECDB62821FA}"/>
              </a:ext>
            </a:extLst>
          </p:cNvPr>
          <p:cNvGraphicFramePr>
            <a:graphicFrameLocks noGrp="1"/>
          </p:cNvGraphicFramePr>
          <p:nvPr>
            <p:ph idx="1"/>
            <p:extLst>
              <p:ext uri="{D42A27DB-BD31-4B8C-83A1-F6EECF244321}">
                <p14:modId xmlns:p14="http://schemas.microsoft.com/office/powerpoint/2010/main" val="30823103"/>
              </p:ext>
            </p:extLst>
          </p:nvPr>
        </p:nvGraphicFramePr>
        <p:xfrm>
          <a:off x="1180704" y="2066157"/>
          <a:ext cx="9830592" cy="4006800"/>
        </p:xfrm>
        <a:graphic>
          <a:graphicData uri="http://schemas.openxmlformats.org/drawingml/2006/table">
            <a:tbl>
              <a:tblPr/>
              <a:tblGrid>
                <a:gridCol w="4915296">
                  <a:extLst>
                    <a:ext uri="{9D8B030D-6E8A-4147-A177-3AD203B41FA5}">
                      <a16:colId xmlns:a16="http://schemas.microsoft.com/office/drawing/2014/main" val="44516133"/>
                    </a:ext>
                  </a:extLst>
                </a:gridCol>
                <a:gridCol w="4915296">
                  <a:extLst>
                    <a:ext uri="{9D8B030D-6E8A-4147-A177-3AD203B41FA5}">
                      <a16:colId xmlns:a16="http://schemas.microsoft.com/office/drawing/2014/main" val="2644243828"/>
                    </a:ext>
                  </a:extLst>
                </a:gridCol>
              </a:tblGrid>
              <a:tr h="357476">
                <a:tc>
                  <a:txBody>
                    <a:bodyPr/>
                    <a:lstStyle/>
                    <a:p>
                      <a:pPr>
                        <a:buNone/>
                      </a:pPr>
                      <a:r>
                        <a:rPr lang="en-IN" sz="1800"/>
                        <a:t>Feature</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Description</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3216430"/>
                  </a:ext>
                </a:extLst>
              </a:tr>
              <a:tr h="357476">
                <a:tc>
                  <a:txBody>
                    <a:bodyPr/>
                    <a:lstStyle/>
                    <a:p>
                      <a:pPr>
                        <a:buNone/>
                      </a:pPr>
                      <a:r>
                        <a:rPr lang="en-IN" sz="1800"/>
                        <a:t>Shape</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Round cell</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2313849"/>
                  </a:ext>
                </a:extLst>
              </a:tr>
              <a:tr h="357476">
                <a:tc>
                  <a:txBody>
                    <a:bodyPr/>
                    <a:lstStyle/>
                    <a:p>
                      <a:pPr>
                        <a:buNone/>
                      </a:pPr>
                      <a:r>
                        <a:rPr lang="en-IN" sz="1800"/>
                        <a:t>Size</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~12–15 µm</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9329785"/>
                  </a:ext>
                </a:extLst>
              </a:tr>
              <a:tr h="625583">
                <a:tc>
                  <a:txBody>
                    <a:bodyPr/>
                    <a:lstStyle/>
                    <a:p>
                      <a:pPr>
                        <a:buNone/>
                      </a:pPr>
                      <a:r>
                        <a:rPr lang="en-IN" sz="1800"/>
                        <a:t>Nucleus</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a:t>Bilobed or S-shaped nucleus</a:t>
                      </a:r>
                      <a:r>
                        <a:rPr lang="en-US" sz="1800"/>
                        <a:t> (usually obscured by granules)</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6352298"/>
                  </a:ext>
                </a:extLst>
              </a:tr>
              <a:tr h="625583">
                <a:tc>
                  <a:txBody>
                    <a:bodyPr/>
                    <a:lstStyle/>
                    <a:p>
                      <a:pPr>
                        <a:buNone/>
                      </a:pPr>
                      <a:r>
                        <a:rPr lang="en-IN" sz="1800"/>
                        <a:t>Cytoplasm</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Contains large, coarse </a:t>
                      </a:r>
                      <a:r>
                        <a:rPr lang="en-US" sz="1800" b="1"/>
                        <a:t>basophilic granules</a:t>
                      </a:r>
                      <a:r>
                        <a:rPr lang="en-US" sz="1800"/>
                        <a:t> (blue-purple with basic dyes)</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7895894"/>
                  </a:ext>
                </a:extLst>
              </a:tr>
              <a:tr h="625583">
                <a:tc>
                  <a:txBody>
                    <a:bodyPr/>
                    <a:lstStyle/>
                    <a:p>
                      <a:pPr>
                        <a:buNone/>
                      </a:pPr>
                      <a:r>
                        <a:rPr lang="en-IN" sz="1800"/>
                        <a:t>Granules contain</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fi-FI" sz="1800" b="1"/>
                        <a:t>Histamine, Heparin, Serotonin, Leukotrienes, and Proteases</a:t>
                      </a:r>
                      <a:endParaRPr lang="fi-FI" sz="1800"/>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857946"/>
                  </a:ext>
                </a:extLst>
              </a:tr>
              <a:tr h="357476">
                <a:tc>
                  <a:txBody>
                    <a:bodyPr/>
                    <a:lstStyle/>
                    <a:p>
                      <a:pPr>
                        <a:buNone/>
                      </a:pPr>
                      <a:r>
                        <a:rPr lang="en-IN" sz="1800"/>
                        <a:t>Surface receptors</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Have </a:t>
                      </a:r>
                      <a:r>
                        <a:rPr lang="en-US" sz="1800" b="1"/>
                        <a:t>IgE receptors</a:t>
                      </a:r>
                      <a:r>
                        <a:rPr lang="en-US" sz="1800"/>
                        <a:t> on the cell membrane</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541491"/>
                  </a:ext>
                </a:extLst>
              </a:tr>
              <a:tr h="625583">
                <a:tc>
                  <a:txBody>
                    <a:bodyPr/>
                    <a:lstStyle/>
                    <a:p>
                      <a:pPr>
                        <a:buNone/>
                      </a:pPr>
                      <a:r>
                        <a:rPr lang="en-IN" sz="1800"/>
                        <a:t>Life span</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Few hours in blood → survives for days in tissues</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5535044"/>
                  </a:ext>
                </a:extLst>
              </a:tr>
            </a:tbl>
          </a:graphicData>
        </a:graphic>
      </p:graphicFrame>
    </p:spTree>
    <p:extLst>
      <p:ext uri="{BB962C8B-B14F-4D97-AF65-F5344CB8AC3E}">
        <p14:creationId xmlns:p14="http://schemas.microsoft.com/office/powerpoint/2010/main" val="42843836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4BB65-4F85-2E66-16BF-DC857FB47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8ABCBA-B3A8-817C-5EB8-B7346047B09F}"/>
              </a:ext>
            </a:extLst>
          </p:cNvPr>
          <p:cNvSpPr>
            <a:spLocks noGrp="1"/>
          </p:cNvSpPr>
          <p:nvPr>
            <p:ph type="title"/>
          </p:nvPr>
        </p:nvSpPr>
        <p:spPr>
          <a:xfrm>
            <a:off x="1066800" y="822327"/>
            <a:ext cx="10058400" cy="1371600"/>
          </a:xfrm>
        </p:spPr>
        <p:txBody>
          <a:bodyPr>
            <a:normAutofit fontScale="90000"/>
          </a:bodyPr>
          <a:lstStyle/>
          <a:p>
            <a:pPr lvl="0" eaLnBrk="0" fontAlgn="base" hangingPunct="0">
              <a:lnSpc>
                <a:spcPct val="100000"/>
              </a:lnSpc>
              <a:spcAft>
                <a:spcPct val="0"/>
              </a:spcAft>
            </a:pPr>
            <a:r>
              <a:rPr lang="en-US" dirty="0"/>
              <a:t>Basophils   </a:t>
            </a:r>
            <a:br>
              <a:rPr lang="en-US" dirty="0"/>
            </a:br>
            <a:br>
              <a:rPr lang="en-US" dirty="0"/>
            </a:br>
            <a:r>
              <a:rPr lang="en-US" sz="1600" dirty="0"/>
              <a:t>functions</a:t>
            </a:r>
            <a:r>
              <a:rPr lang="en-IN" sz="1600" dirty="0"/>
              <a:t> of basophils</a:t>
            </a:r>
            <a:br>
              <a:rPr lang="en-US" altLang="en-US" b="1" dirty="0">
                <a:latin typeface="Arial" panose="020B0604020202020204" pitchFamily="34" charset="0"/>
              </a:rPr>
            </a:br>
            <a:endParaRPr lang="en-IN" dirty="0"/>
          </a:p>
        </p:txBody>
      </p:sp>
      <p:sp>
        <p:nvSpPr>
          <p:cNvPr id="5" name="Rectangle 1">
            <a:extLst>
              <a:ext uri="{FF2B5EF4-FFF2-40B4-BE49-F238E27FC236}">
                <a16:creationId xmlns:a16="http://schemas.microsoft.com/office/drawing/2014/main" id="{2A5C3C20-2544-7E71-F455-9F46D455807B}"/>
              </a:ext>
            </a:extLst>
          </p:cNvPr>
          <p:cNvSpPr>
            <a:spLocks noChangeArrowheads="1"/>
          </p:cNvSpPr>
          <p:nvPr/>
        </p:nvSpPr>
        <p:spPr bwMode="auto">
          <a:xfrm>
            <a:off x="0" y="-94565"/>
            <a:ext cx="76803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abundant WBCs</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first line of defense</a:t>
            </a:r>
            <a:r>
              <a:rPr kumimoji="0" lang="en-US" altLang="en-US" sz="1800" b="0" i="0" u="none" strike="noStrike" cap="none" normalizeH="0" baseline="0" dirty="0">
                <a:ln>
                  <a:noFill/>
                </a:ln>
                <a:solidFill>
                  <a:schemeClr val="tx1"/>
                </a:solidFill>
                <a:effectLst/>
                <a:latin typeface="Arial" panose="020B0604020202020204" pitchFamily="34" charset="0"/>
              </a:rPr>
              <a:t> against infections.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3" name="Content Placeholder 2">
            <a:extLst>
              <a:ext uri="{FF2B5EF4-FFF2-40B4-BE49-F238E27FC236}">
                <a16:creationId xmlns:a16="http://schemas.microsoft.com/office/drawing/2014/main" id="{830155A9-9D55-5AC1-916D-F166B3554605}"/>
              </a:ext>
            </a:extLst>
          </p:cNvPr>
          <p:cNvGraphicFramePr>
            <a:graphicFrameLocks noGrp="1"/>
          </p:cNvGraphicFramePr>
          <p:nvPr>
            <p:ph idx="1"/>
            <p:extLst>
              <p:ext uri="{D42A27DB-BD31-4B8C-83A1-F6EECF244321}">
                <p14:modId xmlns:p14="http://schemas.microsoft.com/office/powerpoint/2010/main" val="2854391483"/>
              </p:ext>
            </p:extLst>
          </p:nvPr>
        </p:nvGraphicFramePr>
        <p:xfrm>
          <a:off x="2301736" y="2049039"/>
          <a:ext cx="7588527" cy="4041036"/>
        </p:xfrm>
        <a:graphic>
          <a:graphicData uri="http://schemas.openxmlformats.org/drawingml/2006/table">
            <a:tbl>
              <a:tblPr/>
              <a:tblGrid>
                <a:gridCol w="2529509">
                  <a:extLst>
                    <a:ext uri="{9D8B030D-6E8A-4147-A177-3AD203B41FA5}">
                      <a16:colId xmlns:a16="http://schemas.microsoft.com/office/drawing/2014/main" val="3584244453"/>
                    </a:ext>
                  </a:extLst>
                </a:gridCol>
                <a:gridCol w="2529509">
                  <a:extLst>
                    <a:ext uri="{9D8B030D-6E8A-4147-A177-3AD203B41FA5}">
                      <a16:colId xmlns:a16="http://schemas.microsoft.com/office/drawing/2014/main" val="3312141680"/>
                    </a:ext>
                  </a:extLst>
                </a:gridCol>
                <a:gridCol w="2529509">
                  <a:extLst>
                    <a:ext uri="{9D8B030D-6E8A-4147-A177-3AD203B41FA5}">
                      <a16:colId xmlns:a16="http://schemas.microsoft.com/office/drawing/2014/main" val="1950094919"/>
                    </a:ext>
                  </a:extLst>
                </a:gridCol>
              </a:tblGrid>
              <a:tr h="275946">
                <a:tc>
                  <a:txBody>
                    <a:bodyPr/>
                    <a:lstStyle/>
                    <a:p>
                      <a:pPr>
                        <a:buNone/>
                      </a:pPr>
                      <a:r>
                        <a:rPr lang="en-IN" sz="1400"/>
                        <a:t>No.</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Function</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Description</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9089902"/>
                  </a:ext>
                </a:extLst>
              </a:tr>
              <a:tr h="1103786">
                <a:tc>
                  <a:txBody>
                    <a:bodyPr/>
                    <a:lstStyle/>
                    <a:p>
                      <a:pPr>
                        <a:buNone/>
                      </a:pPr>
                      <a:r>
                        <a:rPr lang="en-IN" sz="1400" b="1"/>
                        <a:t>1</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Allergic reactions</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Release </a:t>
                      </a:r>
                      <a:r>
                        <a:rPr lang="en-US" sz="1400" b="1"/>
                        <a:t>histamine</a:t>
                      </a:r>
                      <a:r>
                        <a:rPr lang="en-US" sz="1400"/>
                        <a:t> leading to vasodilation and increased vascular permeability → swelling, redness</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5969488"/>
                  </a:ext>
                </a:extLst>
              </a:tr>
              <a:tr h="482906">
                <a:tc>
                  <a:txBody>
                    <a:bodyPr/>
                    <a:lstStyle/>
                    <a:p>
                      <a:pPr>
                        <a:buNone/>
                      </a:pPr>
                      <a:r>
                        <a:rPr lang="en-IN" sz="1400" b="1"/>
                        <a:t>2</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Anticoagulant action</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t>Heparin</a:t>
                      </a:r>
                      <a:r>
                        <a:rPr lang="en-US" sz="1400"/>
                        <a:t> prevents blood clotting locally</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6092516"/>
                  </a:ext>
                </a:extLst>
              </a:tr>
              <a:tr h="689866">
                <a:tc>
                  <a:txBody>
                    <a:bodyPr/>
                    <a:lstStyle/>
                    <a:p>
                      <a:pPr>
                        <a:buNone/>
                      </a:pPr>
                      <a:r>
                        <a:rPr lang="en-IN" sz="1400" b="1"/>
                        <a:t>3</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Hypersensitivity (Type I reactions)</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IgE-antigen binding</a:t>
                      </a:r>
                      <a:r>
                        <a:rPr lang="en-IN" sz="1400"/>
                        <a:t> triggers granule release → anaphylaxis, asthma</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3456688"/>
                  </a:ext>
                </a:extLst>
              </a:tr>
              <a:tr h="689866">
                <a:tc>
                  <a:txBody>
                    <a:bodyPr/>
                    <a:lstStyle/>
                    <a:p>
                      <a:pPr>
                        <a:buNone/>
                      </a:pPr>
                      <a:r>
                        <a:rPr lang="en-IN" sz="1400" b="1"/>
                        <a:t>4</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Inflammation mediation</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Release leukotrienes and prostaglandins to enhance inflammation</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5172096"/>
                  </a:ext>
                </a:extLst>
              </a:tr>
              <a:tr h="689866">
                <a:tc>
                  <a:txBody>
                    <a:bodyPr/>
                    <a:lstStyle/>
                    <a:p>
                      <a:pPr>
                        <a:buNone/>
                      </a:pPr>
                      <a:r>
                        <a:rPr lang="en-IN" sz="1400" b="1"/>
                        <a:t>5</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Defense against bacteria</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Support other WBCs in immune responses (limited phagocytosis)</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3830682"/>
                  </a:ext>
                </a:extLst>
              </a:tr>
            </a:tbl>
          </a:graphicData>
        </a:graphic>
      </p:graphicFrame>
    </p:spTree>
    <p:extLst>
      <p:ext uri="{BB962C8B-B14F-4D97-AF65-F5344CB8AC3E}">
        <p14:creationId xmlns:p14="http://schemas.microsoft.com/office/powerpoint/2010/main" val="1040000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DABFB-7067-C2B2-AD75-EA47767BC9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9BE4B-6BDE-4832-CEEE-8B6531C35028}"/>
              </a:ext>
            </a:extLst>
          </p:cNvPr>
          <p:cNvSpPr>
            <a:spLocks noGrp="1"/>
          </p:cNvSpPr>
          <p:nvPr>
            <p:ph type="title"/>
          </p:nvPr>
        </p:nvSpPr>
        <p:spPr>
          <a:xfrm>
            <a:off x="1066800" y="822327"/>
            <a:ext cx="10058400" cy="1371600"/>
          </a:xfrm>
        </p:spPr>
        <p:txBody>
          <a:bodyPr>
            <a:normAutofit fontScale="90000"/>
          </a:bodyPr>
          <a:lstStyle/>
          <a:p>
            <a:pPr lvl="0" eaLnBrk="0" fontAlgn="base" hangingPunct="0">
              <a:lnSpc>
                <a:spcPct val="100000"/>
              </a:lnSpc>
              <a:spcAft>
                <a:spcPct val="0"/>
              </a:spcAft>
            </a:pPr>
            <a:r>
              <a:rPr lang="en-US" dirty="0"/>
              <a:t>Basophils   </a:t>
            </a:r>
            <a:br>
              <a:rPr lang="en-US" dirty="0"/>
            </a:br>
            <a:br>
              <a:rPr lang="en-US" dirty="0"/>
            </a:br>
            <a:r>
              <a:rPr lang="en-US" sz="1600" dirty="0"/>
              <a:t>pathology</a:t>
            </a:r>
            <a:r>
              <a:rPr lang="en-IN" sz="1600" dirty="0"/>
              <a:t> of basophils</a:t>
            </a:r>
            <a:br>
              <a:rPr lang="en-US" altLang="en-US" b="1" dirty="0">
                <a:latin typeface="Arial" panose="020B0604020202020204" pitchFamily="34" charset="0"/>
              </a:rPr>
            </a:br>
            <a:endParaRPr lang="en-IN" dirty="0"/>
          </a:p>
        </p:txBody>
      </p:sp>
      <p:sp>
        <p:nvSpPr>
          <p:cNvPr id="5" name="Rectangle 1">
            <a:extLst>
              <a:ext uri="{FF2B5EF4-FFF2-40B4-BE49-F238E27FC236}">
                <a16:creationId xmlns:a16="http://schemas.microsoft.com/office/drawing/2014/main" id="{C7C79D56-0735-D186-819B-E94A27AF338B}"/>
              </a:ext>
            </a:extLst>
          </p:cNvPr>
          <p:cNvSpPr>
            <a:spLocks noChangeArrowheads="1"/>
          </p:cNvSpPr>
          <p:nvPr/>
        </p:nvSpPr>
        <p:spPr bwMode="auto">
          <a:xfrm>
            <a:off x="0" y="-94565"/>
            <a:ext cx="76803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abundant WBCs</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first line of defense</a:t>
            </a:r>
            <a:r>
              <a:rPr kumimoji="0" lang="en-US" altLang="en-US" sz="1800" b="0" i="0" u="none" strike="noStrike" cap="none" normalizeH="0" baseline="0" dirty="0">
                <a:ln>
                  <a:noFill/>
                </a:ln>
                <a:solidFill>
                  <a:schemeClr val="tx1"/>
                </a:solidFill>
                <a:effectLst/>
                <a:latin typeface="Arial" panose="020B0604020202020204" pitchFamily="34" charset="0"/>
              </a:rPr>
              <a:t> against infections.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Content Placeholder 5">
            <a:extLst>
              <a:ext uri="{FF2B5EF4-FFF2-40B4-BE49-F238E27FC236}">
                <a16:creationId xmlns:a16="http://schemas.microsoft.com/office/drawing/2014/main" id="{CB03C51C-8753-E405-EBBD-04508CB7F491}"/>
              </a:ext>
            </a:extLst>
          </p:cNvPr>
          <p:cNvPicPr>
            <a:picLocks noGrp="1" noChangeAspect="1"/>
          </p:cNvPicPr>
          <p:nvPr>
            <p:ph idx="1"/>
          </p:nvPr>
        </p:nvPicPr>
        <p:blipFill>
          <a:blip r:embed="rId2"/>
          <a:stretch>
            <a:fillRect/>
          </a:stretch>
        </p:blipFill>
        <p:spPr>
          <a:xfrm>
            <a:off x="1299548" y="2233445"/>
            <a:ext cx="6594772" cy="3711408"/>
          </a:xfrm>
          <a:prstGeom prst="rect">
            <a:avLst/>
          </a:prstGeom>
        </p:spPr>
      </p:pic>
    </p:spTree>
    <p:extLst>
      <p:ext uri="{BB962C8B-B14F-4D97-AF65-F5344CB8AC3E}">
        <p14:creationId xmlns:p14="http://schemas.microsoft.com/office/powerpoint/2010/main" val="6692964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3ACD6-50C5-4538-CC7C-89FE5F609B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F7CBB-E8B3-C4C0-B887-54C162BE65CC}"/>
              </a:ext>
            </a:extLst>
          </p:cNvPr>
          <p:cNvSpPr>
            <a:spLocks noGrp="1"/>
          </p:cNvSpPr>
          <p:nvPr>
            <p:ph type="title"/>
          </p:nvPr>
        </p:nvSpPr>
        <p:spPr>
          <a:xfrm>
            <a:off x="1066800" y="822327"/>
            <a:ext cx="10058400" cy="1371600"/>
          </a:xfrm>
        </p:spPr>
        <p:txBody>
          <a:bodyPr>
            <a:normAutofit fontScale="90000"/>
          </a:bodyPr>
          <a:lstStyle/>
          <a:p>
            <a:pPr lvl="0" eaLnBrk="0" fontAlgn="base" hangingPunct="0">
              <a:lnSpc>
                <a:spcPct val="100000"/>
              </a:lnSpc>
              <a:spcAft>
                <a:spcPct val="0"/>
              </a:spcAft>
            </a:pPr>
            <a:r>
              <a:rPr lang="en-US" dirty="0"/>
              <a:t>Lymphocyte    </a:t>
            </a:r>
            <a:br>
              <a:rPr lang="en-US" dirty="0"/>
            </a:br>
            <a:br>
              <a:rPr lang="en-US" dirty="0"/>
            </a:br>
            <a:r>
              <a:rPr lang="en-US" sz="1600" dirty="0"/>
              <a:t>structure</a:t>
            </a:r>
            <a:r>
              <a:rPr lang="en-IN" sz="1600" dirty="0"/>
              <a:t> of lymphocyte</a:t>
            </a:r>
            <a:br>
              <a:rPr lang="en-US" altLang="en-US" b="1" dirty="0">
                <a:latin typeface="Arial" panose="020B0604020202020204" pitchFamily="34" charset="0"/>
              </a:rPr>
            </a:br>
            <a:endParaRPr lang="en-IN" dirty="0"/>
          </a:p>
        </p:txBody>
      </p:sp>
      <p:sp>
        <p:nvSpPr>
          <p:cNvPr id="5" name="Rectangle 1">
            <a:extLst>
              <a:ext uri="{FF2B5EF4-FFF2-40B4-BE49-F238E27FC236}">
                <a16:creationId xmlns:a16="http://schemas.microsoft.com/office/drawing/2014/main" id="{BEA56C35-50F6-DB55-4F16-6202754D04AA}"/>
              </a:ext>
            </a:extLst>
          </p:cNvPr>
          <p:cNvSpPr>
            <a:spLocks noChangeArrowheads="1"/>
          </p:cNvSpPr>
          <p:nvPr/>
        </p:nvSpPr>
        <p:spPr bwMode="auto">
          <a:xfrm>
            <a:off x="0" y="-94565"/>
            <a:ext cx="76803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abundant WBCs</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first line of defense</a:t>
            </a:r>
            <a:r>
              <a:rPr kumimoji="0" lang="en-US" altLang="en-US" sz="1800" b="0" i="0" u="none" strike="noStrike" cap="none" normalizeH="0" baseline="0" dirty="0">
                <a:ln>
                  <a:noFill/>
                </a:ln>
                <a:solidFill>
                  <a:schemeClr val="tx1"/>
                </a:solidFill>
                <a:effectLst/>
                <a:latin typeface="Arial" panose="020B0604020202020204" pitchFamily="34" charset="0"/>
              </a:rPr>
              <a:t> against infections.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Content Placeholder 6">
            <a:extLst>
              <a:ext uri="{FF2B5EF4-FFF2-40B4-BE49-F238E27FC236}">
                <a16:creationId xmlns:a16="http://schemas.microsoft.com/office/drawing/2014/main" id="{459EE0E5-58AC-E24F-4093-EC431CC26487}"/>
              </a:ext>
            </a:extLst>
          </p:cNvPr>
          <p:cNvGraphicFramePr>
            <a:graphicFrameLocks noGrp="1"/>
          </p:cNvGraphicFramePr>
          <p:nvPr>
            <p:ph idx="1"/>
            <p:extLst>
              <p:ext uri="{D42A27DB-BD31-4B8C-83A1-F6EECF244321}">
                <p14:modId xmlns:p14="http://schemas.microsoft.com/office/powerpoint/2010/main" val="2862895295"/>
              </p:ext>
            </p:extLst>
          </p:nvPr>
        </p:nvGraphicFramePr>
        <p:xfrm>
          <a:off x="1180704" y="1928997"/>
          <a:ext cx="9830592" cy="4281120"/>
        </p:xfrm>
        <a:graphic>
          <a:graphicData uri="http://schemas.openxmlformats.org/drawingml/2006/table">
            <a:tbl>
              <a:tblPr/>
              <a:tblGrid>
                <a:gridCol w="4915296">
                  <a:extLst>
                    <a:ext uri="{9D8B030D-6E8A-4147-A177-3AD203B41FA5}">
                      <a16:colId xmlns:a16="http://schemas.microsoft.com/office/drawing/2014/main" val="746444592"/>
                    </a:ext>
                  </a:extLst>
                </a:gridCol>
                <a:gridCol w="4915296">
                  <a:extLst>
                    <a:ext uri="{9D8B030D-6E8A-4147-A177-3AD203B41FA5}">
                      <a16:colId xmlns:a16="http://schemas.microsoft.com/office/drawing/2014/main" val="3126200923"/>
                    </a:ext>
                  </a:extLst>
                </a:gridCol>
              </a:tblGrid>
              <a:tr h="357476">
                <a:tc>
                  <a:txBody>
                    <a:bodyPr/>
                    <a:lstStyle/>
                    <a:p>
                      <a:pPr>
                        <a:buNone/>
                      </a:pPr>
                      <a:r>
                        <a:rPr lang="en-IN" sz="1800"/>
                        <a:t>Feature</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Description</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6136067"/>
                  </a:ext>
                </a:extLst>
              </a:tr>
              <a:tr h="357476">
                <a:tc>
                  <a:txBody>
                    <a:bodyPr/>
                    <a:lstStyle/>
                    <a:p>
                      <a:pPr>
                        <a:buNone/>
                      </a:pPr>
                      <a:r>
                        <a:rPr lang="en-IN" sz="1800"/>
                        <a:t>Shape</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Spherical cell</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9553799"/>
                  </a:ext>
                </a:extLst>
              </a:tr>
              <a:tr h="357476">
                <a:tc>
                  <a:txBody>
                    <a:bodyPr/>
                    <a:lstStyle/>
                    <a:p>
                      <a:pPr>
                        <a:buNone/>
                      </a:pPr>
                      <a:r>
                        <a:rPr lang="en-IN" sz="1800"/>
                        <a:t>Size</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7–15 µm (small and large types)</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3186854"/>
                  </a:ext>
                </a:extLst>
              </a:tr>
              <a:tr h="625583">
                <a:tc>
                  <a:txBody>
                    <a:bodyPr/>
                    <a:lstStyle/>
                    <a:p>
                      <a:pPr>
                        <a:buNone/>
                      </a:pPr>
                      <a:r>
                        <a:rPr lang="en-IN" sz="1800"/>
                        <a:t>Nucleus</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a:t>Large round nucleus</a:t>
                      </a:r>
                      <a:r>
                        <a:rPr lang="en-US" sz="1800"/>
                        <a:t> occupying most of the cell</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2898266"/>
                  </a:ext>
                </a:extLst>
              </a:tr>
              <a:tr h="625583">
                <a:tc>
                  <a:txBody>
                    <a:bodyPr/>
                    <a:lstStyle/>
                    <a:p>
                      <a:pPr>
                        <a:buNone/>
                      </a:pPr>
                      <a:r>
                        <a:rPr lang="en-IN" sz="1800"/>
                        <a:t>Cytoplasm</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Thin rim of pale blue cytoplasm (non-granular)</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920270"/>
                  </a:ext>
                </a:extLst>
              </a:tr>
              <a:tr h="625583">
                <a:tc>
                  <a:txBody>
                    <a:bodyPr/>
                    <a:lstStyle/>
                    <a:p>
                      <a:pPr>
                        <a:buNone/>
                      </a:pPr>
                      <a:r>
                        <a:rPr lang="en-IN" sz="1800"/>
                        <a:t>Organelles</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Ribosomes, mitochondria and lysosomes present</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1108096"/>
                  </a:ext>
                </a:extLst>
              </a:tr>
              <a:tr h="625583">
                <a:tc>
                  <a:txBody>
                    <a:bodyPr/>
                    <a:lstStyle/>
                    <a:p>
                      <a:pPr>
                        <a:buNone/>
                      </a:pPr>
                      <a:r>
                        <a:rPr lang="en-IN" sz="1800"/>
                        <a:t>Types</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a:t>T-lymphocytes, B-lymphocytes, Natural Killer (NK) cells</a:t>
                      </a:r>
                      <a:endParaRPr lang="en-IN" sz="1800"/>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4714861"/>
                  </a:ext>
                </a:extLst>
              </a:tr>
              <a:tr h="357476">
                <a:tc>
                  <a:txBody>
                    <a:bodyPr/>
                    <a:lstStyle/>
                    <a:p>
                      <a:pPr>
                        <a:buNone/>
                      </a:pPr>
                      <a:r>
                        <a:rPr lang="en-IN" sz="1800"/>
                        <a:t>Life span</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dirty="0"/>
                        <a:t>Months to many years</a:t>
                      </a:r>
                      <a:r>
                        <a:rPr lang="en-US" sz="1800" dirty="0"/>
                        <a:t> (longest living WBCs)</a:t>
                      </a:r>
                    </a:p>
                  </a:txBody>
                  <a:tcPr marL="89369" marR="89369" marT="44685" marB="446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6716187"/>
                  </a:ext>
                </a:extLst>
              </a:tr>
            </a:tbl>
          </a:graphicData>
        </a:graphic>
      </p:graphicFrame>
    </p:spTree>
    <p:extLst>
      <p:ext uri="{BB962C8B-B14F-4D97-AF65-F5344CB8AC3E}">
        <p14:creationId xmlns:p14="http://schemas.microsoft.com/office/powerpoint/2010/main" val="1051257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556D6-B824-34EA-E98F-4EA5DB5232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B4F456-DB7B-5E22-4EE4-D02B0E206D5B}"/>
              </a:ext>
            </a:extLst>
          </p:cNvPr>
          <p:cNvSpPr>
            <a:spLocks noGrp="1"/>
          </p:cNvSpPr>
          <p:nvPr>
            <p:ph type="title"/>
          </p:nvPr>
        </p:nvSpPr>
        <p:spPr>
          <a:xfrm>
            <a:off x="1066800" y="822327"/>
            <a:ext cx="10058400" cy="1371600"/>
          </a:xfrm>
        </p:spPr>
        <p:txBody>
          <a:bodyPr>
            <a:normAutofit fontScale="90000"/>
          </a:bodyPr>
          <a:lstStyle/>
          <a:p>
            <a:pPr lvl="0" eaLnBrk="0" fontAlgn="base" hangingPunct="0">
              <a:lnSpc>
                <a:spcPct val="100000"/>
              </a:lnSpc>
              <a:spcAft>
                <a:spcPct val="0"/>
              </a:spcAft>
            </a:pPr>
            <a:r>
              <a:rPr lang="en-US" dirty="0"/>
              <a:t>Lymphocyte    </a:t>
            </a:r>
            <a:br>
              <a:rPr lang="en-US" dirty="0"/>
            </a:br>
            <a:br>
              <a:rPr lang="en-US" dirty="0"/>
            </a:br>
            <a:r>
              <a:rPr lang="en-US" sz="1600" dirty="0"/>
              <a:t>functions</a:t>
            </a:r>
            <a:r>
              <a:rPr lang="en-IN" sz="1600" dirty="0"/>
              <a:t> of lymphocyte</a:t>
            </a:r>
            <a:br>
              <a:rPr lang="en-US" altLang="en-US" b="1" dirty="0">
                <a:latin typeface="Arial" panose="020B0604020202020204" pitchFamily="34" charset="0"/>
              </a:rPr>
            </a:br>
            <a:endParaRPr lang="en-IN" dirty="0"/>
          </a:p>
        </p:txBody>
      </p:sp>
      <p:sp>
        <p:nvSpPr>
          <p:cNvPr id="5" name="Rectangle 1">
            <a:extLst>
              <a:ext uri="{FF2B5EF4-FFF2-40B4-BE49-F238E27FC236}">
                <a16:creationId xmlns:a16="http://schemas.microsoft.com/office/drawing/2014/main" id="{3C10C846-CF73-D0FA-38E0-178294F5D5F1}"/>
              </a:ext>
            </a:extLst>
          </p:cNvPr>
          <p:cNvSpPr>
            <a:spLocks noChangeArrowheads="1"/>
          </p:cNvSpPr>
          <p:nvPr/>
        </p:nvSpPr>
        <p:spPr bwMode="auto">
          <a:xfrm>
            <a:off x="0" y="-94565"/>
            <a:ext cx="76803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abundant WBCs</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first line of defense</a:t>
            </a:r>
            <a:r>
              <a:rPr kumimoji="0" lang="en-US" altLang="en-US" sz="1800" b="0" i="0" u="none" strike="noStrike" cap="none" normalizeH="0" baseline="0" dirty="0">
                <a:ln>
                  <a:noFill/>
                </a:ln>
                <a:solidFill>
                  <a:schemeClr val="tx1"/>
                </a:solidFill>
                <a:effectLst/>
                <a:latin typeface="Arial" panose="020B0604020202020204" pitchFamily="34" charset="0"/>
              </a:rPr>
              <a:t> against infections.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3" name="Content Placeholder 2">
            <a:extLst>
              <a:ext uri="{FF2B5EF4-FFF2-40B4-BE49-F238E27FC236}">
                <a16:creationId xmlns:a16="http://schemas.microsoft.com/office/drawing/2014/main" id="{8348AF01-7CEF-B80D-334D-1EF84E46E509}"/>
              </a:ext>
            </a:extLst>
          </p:cNvPr>
          <p:cNvGraphicFramePr>
            <a:graphicFrameLocks noGrp="1"/>
          </p:cNvGraphicFramePr>
          <p:nvPr>
            <p:ph idx="1"/>
            <p:extLst>
              <p:ext uri="{D42A27DB-BD31-4B8C-83A1-F6EECF244321}">
                <p14:modId xmlns:p14="http://schemas.microsoft.com/office/powerpoint/2010/main" val="163127638"/>
              </p:ext>
            </p:extLst>
          </p:nvPr>
        </p:nvGraphicFramePr>
        <p:xfrm>
          <a:off x="1066800" y="2652236"/>
          <a:ext cx="10058400" cy="2834640"/>
        </p:xfrm>
        <a:graphic>
          <a:graphicData uri="http://schemas.openxmlformats.org/drawingml/2006/table">
            <a:tbl>
              <a:tblPr/>
              <a:tblGrid>
                <a:gridCol w="3352800">
                  <a:extLst>
                    <a:ext uri="{9D8B030D-6E8A-4147-A177-3AD203B41FA5}">
                      <a16:colId xmlns:a16="http://schemas.microsoft.com/office/drawing/2014/main" val="1072448837"/>
                    </a:ext>
                  </a:extLst>
                </a:gridCol>
                <a:gridCol w="3352800">
                  <a:extLst>
                    <a:ext uri="{9D8B030D-6E8A-4147-A177-3AD203B41FA5}">
                      <a16:colId xmlns:a16="http://schemas.microsoft.com/office/drawing/2014/main" val="1609886048"/>
                    </a:ext>
                  </a:extLst>
                </a:gridCol>
                <a:gridCol w="3352800">
                  <a:extLst>
                    <a:ext uri="{9D8B030D-6E8A-4147-A177-3AD203B41FA5}">
                      <a16:colId xmlns:a16="http://schemas.microsoft.com/office/drawing/2014/main" val="1101978503"/>
                    </a:ext>
                  </a:extLst>
                </a:gridCol>
              </a:tblGrid>
              <a:tr h="0">
                <a:tc>
                  <a:txBody>
                    <a:bodyPr/>
                    <a:lstStyle/>
                    <a:p>
                      <a:pPr>
                        <a:buNone/>
                      </a:pPr>
                      <a:r>
                        <a:rPr lang="en-IN"/>
                        <a:t>Type of Lymphocyte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Major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6184625"/>
                  </a:ext>
                </a:extLst>
              </a:tr>
              <a:tr h="0">
                <a:tc>
                  <a:txBody>
                    <a:bodyPr/>
                    <a:lstStyle/>
                    <a:p>
                      <a:pPr>
                        <a:buNone/>
                      </a:pPr>
                      <a:r>
                        <a:rPr lang="en-IN" b="1"/>
                        <a:t>T-Lymphocytes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Cell-mediated immunity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Attack virus-infected cells, cancer cells; regulate immune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7631233"/>
                  </a:ext>
                </a:extLst>
              </a:tr>
              <a:tr h="0">
                <a:tc>
                  <a:txBody>
                    <a:bodyPr/>
                    <a:lstStyle/>
                    <a:p>
                      <a:pPr>
                        <a:buNone/>
                      </a:pPr>
                      <a:r>
                        <a:rPr lang="en-IN" b="1"/>
                        <a:t>B-Lymphocytes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Humoral immunity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Produce </a:t>
                      </a:r>
                      <a:r>
                        <a:rPr lang="en-US" b="1"/>
                        <a:t>antibodies</a:t>
                      </a:r>
                      <a:r>
                        <a:rPr lang="en-US"/>
                        <a:t> (become plasma cells)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7359506"/>
                  </a:ext>
                </a:extLst>
              </a:tr>
              <a:tr h="0">
                <a:tc>
                  <a:txBody>
                    <a:bodyPr/>
                    <a:lstStyle/>
                    <a:p>
                      <a:pPr>
                        <a:buNone/>
                      </a:pPr>
                      <a:r>
                        <a:rPr lang="en-IN" b="1"/>
                        <a:t>Natural Killer (NK) Cells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Nonspecific defense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Destroy tumor cells and virus-infected cells without prior sensitization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1572680"/>
                  </a:ext>
                </a:extLst>
              </a:tr>
            </a:tbl>
          </a:graphicData>
        </a:graphic>
      </p:graphicFrame>
    </p:spTree>
    <p:extLst>
      <p:ext uri="{BB962C8B-B14F-4D97-AF65-F5344CB8AC3E}">
        <p14:creationId xmlns:p14="http://schemas.microsoft.com/office/powerpoint/2010/main" val="21651213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4B255-86D1-96F3-7648-BBB59EF62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AE7810-E706-0C54-DF19-C3EDEAC35E3C}"/>
              </a:ext>
            </a:extLst>
          </p:cNvPr>
          <p:cNvSpPr>
            <a:spLocks noGrp="1"/>
          </p:cNvSpPr>
          <p:nvPr>
            <p:ph type="title"/>
          </p:nvPr>
        </p:nvSpPr>
        <p:spPr>
          <a:xfrm>
            <a:off x="1066800" y="822327"/>
            <a:ext cx="10058400" cy="1371600"/>
          </a:xfrm>
        </p:spPr>
        <p:txBody>
          <a:bodyPr>
            <a:normAutofit fontScale="90000"/>
          </a:bodyPr>
          <a:lstStyle/>
          <a:p>
            <a:pPr lvl="0" eaLnBrk="0" fontAlgn="base" hangingPunct="0">
              <a:lnSpc>
                <a:spcPct val="100000"/>
              </a:lnSpc>
              <a:spcAft>
                <a:spcPct val="0"/>
              </a:spcAft>
            </a:pPr>
            <a:r>
              <a:rPr lang="en-US" dirty="0"/>
              <a:t>Lymphocyte    </a:t>
            </a:r>
            <a:br>
              <a:rPr lang="en-US" dirty="0"/>
            </a:br>
            <a:br>
              <a:rPr lang="en-US" dirty="0"/>
            </a:br>
            <a:r>
              <a:rPr lang="en-US" sz="1600" dirty="0"/>
              <a:t>pathology</a:t>
            </a:r>
            <a:r>
              <a:rPr lang="en-IN" sz="1600" dirty="0"/>
              <a:t> of lymphocyte</a:t>
            </a:r>
            <a:br>
              <a:rPr lang="en-US" altLang="en-US" b="1" dirty="0">
                <a:latin typeface="Arial" panose="020B0604020202020204" pitchFamily="34" charset="0"/>
              </a:rPr>
            </a:br>
            <a:endParaRPr lang="en-IN" dirty="0"/>
          </a:p>
        </p:txBody>
      </p:sp>
      <p:sp>
        <p:nvSpPr>
          <p:cNvPr id="5" name="Rectangle 1">
            <a:extLst>
              <a:ext uri="{FF2B5EF4-FFF2-40B4-BE49-F238E27FC236}">
                <a16:creationId xmlns:a16="http://schemas.microsoft.com/office/drawing/2014/main" id="{E5DFF6DB-6446-FB16-637C-C1BD6AB8BCB1}"/>
              </a:ext>
            </a:extLst>
          </p:cNvPr>
          <p:cNvSpPr>
            <a:spLocks noChangeArrowheads="1"/>
          </p:cNvSpPr>
          <p:nvPr/>
        </p:nvSpPr>
        <p:spPr bwMode="auto">
          <a:xfrm>
            <a:off x="0" y="-94565"/>
            <a:ext cx="76803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abundant WBCs</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first line of defense</a:t>
            </a:r>
            <a:r>
              <a:rPr kumimoji="0" lang="en-US" altLang="en-US" sz="1800" b="0" i="0" u="none" strike="noStrike" cap="none" normalizeH="0" baseline="0" dirty="0">
                <a:ln>
                  <a:noFill/>
                </a:ln>
                <a:solidFill>
                  <a:schemeClr val="tx1"/>
                </a:solidFill>
                <a:effectLst/>
                <a:latin typeface="Arial" panose="020B0604020202020204" pitchFamily="34" charset="0"/>
              </a:rPr>
              <a:t> against infections.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Content Placeholder 5">
            <a:extLst>
              <a:ext uri="{FF2B5EF4-FFF2-40B4-BE49-F238E27FC236}">
                <a16:creationId xmlns:a16="http://schemas.microsoft.com/office/drawing/2014/main" id="{68927C0D-EAA4-6CE3-EBCF-6A8DF585A639}"/>
              </a:ext>
            </a:extLst>
          </p:cNvPr>
          <p:cNvPicPr>
            <a:picLocks noGrp="1" noChangeAspect="1"/>
          </p:cNvPicPr>
          <p:nvPr>
            <p:ph idx="1"/>
          </p:nvPr>
        </p:nvPicPr>
        <p:blipFill>
          <a:blip r:embed="rId2"/>
          <a:stretch>
            <a:fillRect/>
          </a:stretch>
        </p:blipFill>
        <p:spPr>
          <a:xfrm>
            <a:off x="1448452" y="2193927"/>
            <a:ext cx="6781148" cy="4044632"/>
          </a:xfrm>
          <a:prstGeom prst="rect">
            <a:avLst/>
          </a:prstGeom>
        </p:spPr>
      </p:pic>
    </p:spTree>
    <p:extLst>
      <p:ext uri="{BB962C8B-B14F-4D97-AF65-F5344CB8AC3E}">
        <p14:creationId xmlns:p14="http://schemas.microsoft.com/office/powerpoint/2010/main" val="34585561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62FB6-A500-E844-8743-8728C0A3D0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3D99A-E57F-CEF5-710D-3CB8E76AA98F}"/>
              </a:ext>
            </a:extLst>
          </p:cNvPr>
          <p:cNvSpPr>
            <a:spLocks noGrp="1"/>
          </p:cNvSpPr>
          <p:nvPr>
            <p:ph type="title"/>
          </p:nvPr>
        </p:nvSpPr>
        <p:spPr>
          <a:xfrm>
            <a:off x="1066800" y="822327"/>
            <a:ext cx="10058400" cy="1371600"/>
          </a:xfrm>
        </p:spPr>
        <p:txBody>
          <a:bodyPr>
            <a:normAutofit fontScale="90000"/>
          </a:bodyPr>
          <a:lstStyle/>
          <a:p>
            <a:pPr lvl="0" eaLnBrk="0" fontAlgn="base" hangingPunct="0">
              <a:lnSpc>
                <a:spcPct val="100000"/>
              </a:lnSpc>
              <a:spcAft>
                <a:spcPct val="0"/>
              </a:spcAft>
            </a:pPr>
            <a:r>
              <a:rPr lang="en-US" dirty="0"/>
              <a:t>Monocyte     </a:t>
            </a:r>
            <a:br>
              <a:rPr lang="en-US" dirty="0"/>
            </a:br>
            <a:br>
              <a:rPr lang="en-US" dirty="0"/>
            </a:br>
            <a:r>
              <a:rPr lang="en-US" sz="1600" dirty="0"/>
              <a:t>structure</a:t>
            </a:r>
            <a:r>
              <a:rPr lang="en-IN" sz="1600" dirty="0"/>
              <a:t> of monocyte</a:t>
            </a:r>
            <a:br>
              <a:rPr lang="en-US" altLang="en-US" b="1" dirty="0">
                <a:latin typeface="Arial" panose="020B0604020202020204" pitchFamily="34" charset="0"/>
              </a:rPr>
            </a:br>
            <a:endParaRPr lang="en-IN" dirty="0"/>
          </a:p>
        </p:txBody>
      </p:sp>
      <p:sp>
        <p:nvSpPr>
          <p:cNvPr id="5" name="Rectangle 1">
            <a:extLst>
              <a:ext uri="{FF2B5EF4-FFF2-40B4-BE49-F238E27FC236}">
                <a16:creationId xmlns:a16="http://schemas.microsoft.com/office/drawing/2014/main" id="{D0CF773D-9351-BA8F-59DC-1F0AD7DDAFE6}"/>
              </a:ext>
            </a:extLst>
          </p:cNvPr>
          <p:cNvSpPr>
            <a:spLocks noChangeArrowheads="1"/>
          </p:cNvSpPr>
          <p:nvPr/>
        </p:nvSpPr>
        <p:spPr bwMode="auto">
          <a:xfrm>
            <a:off x="0" y="-94565"/>
            <a:ext cx="76803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abundant WBCs</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first line of defense</a:t>
            </a:r>
            <a:r>
              <a:rPr kumimoji="0" lang="en-US" altLang="en-US" sz="1800" b="0" i="0" u="none" strike="noStrike" cap="none" normalizeH="0" baseline="0" dirty="0">
                <a:ln>
                  <a:noFill/>
                </a:ln>
                <a:solidFill>
                  <a:schemeClr val="tx1"/>
                </a:solidFill>
                <a:effectLst/>
                <a:latin typeface="Arial" panose="020B0604020202020204" pitchFamily="34" charset="0"/>
              </a:rPr>
              <a:t> against infections.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Content Placeholder 6">
            <a:extLst>
              <a:ext uri="{FF2B5EF4-FFF2-40B4-BE49-F238E27FC236}">
                <a16:creationId xmlns:a16="http://schemas.microsoft.com/office/drawing/2014/main" id="{EF82A111-97CD-A4C9-901F-F9221025E7AE}"/>
              </a:ext>
            </a:extLst>
          </p:cNvPr>
          <p:cNvGraphicFramePr>
            <a:graphicFrameLocks noGrp="1"/>
          </p:cNvGraphicFramePr>
          <p:nvPr>
            <p:ph idx="1"/>
            <p:extLst>
              <p:ext uri="{D42A27DB-BD31-4B8C-83A1-F6EECF244321}">
                <p14:modId xmlns:p14="http://schemas.microsoft.com/office/powerpoint/2010/main" val="115523362"/>
              </p:ext>
            </p:extLst>
          </p:nvPr>
        </p:nvGraphicFramePr>
        <p:xfrm>
          <a:off x="1494446" y="2103439"/>
          <a:ext cx="9203108" cy="3932234"/>
        </p:xfrm>
        <a:graphic>
          <a:graphicData uri="http://schemas.openxmlformats.org/drawingml/2006/table">
            <a:tbl>
              <a:tblPr/>
              <a:tblGrid>
                <a:gridCol w="4601554">
                  <a:extLst>
                    <a:ext uri="{9D8B030D-6E8A-4147-A177-3AD203B41FA5}">
                      <a16:colId xmlns:a16="http://schemas.microsoft.com/office/drawing/2014/main" val="375567411"/>
                    </a:ext>
                  </a:extLst>
                </a:gridCol>
                <a:gridCol w="4601554">
                  <a:extLst>
                    <a:ext uri="{9D8B030D-6E8A-4147-A177-3AD203B41FA5}">
                      <a16:colId xmlns:a16="http://schemas.microsoft.com/office/drawing/2014/main" val="705305031"/>
                    </a:ext>
                  </a:extLst>
                </a:gridCol>
              </a:tblGrid>
              <a:tr h="334658">
                <a:tc>
                  <a:txBody>
                    <a:bodyPr/>
                    <a:lstStyle/>
                    <a:p>
                      <a:pPr>
                        <a:buNone/>
                      </a:pPr>
                      <a:r>
                        <a:rPr lang="en-IN" sz="1600"/>
                        <a:t>Feature</a:t>
                      </a:r>
                    </a:p>
                  </a:txBody>
                  <a:tcPr marL="83665" marR="83665" marT="41832" marB="418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Description</a:t>
                      </a:r>
                    </a:p>
                  </a:txBody>
                  <a:tcPr marL="83665" marR="83665" marT="41832" marB="418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4444867"/>
                  </a:ext>
                </a:extLst>
              </a:tr>
              <a:tr h="334658">
                <a:tc>
                  <a:txBody>
                    <a:bodyPr/>
                    <a:lstStyle/>
                    <a:p>
                      <a:pPr>
                        <a:buNone/>
                      </a:pPr>
                      <a:r>
                        <a:rPr lang="en-IN" sz="1600"/>
                        <a:t>Size</a:t>
                      </a:r>
                    </a:p>
                  </a:txBody>
                  <a:tcPr marL="83665" marR="83665" marT="41832" marB="418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12–20 µm (largest WBC)</a:t>
                      </a:r>
                      <a:endParaRPr lang="en-IN" sz="1600"/>
                    </a:p>
                  </a:txBody>
                  <a:tcPr marL="83665" marR="83665" marT="41832" marB="418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7027321"/>
                  </a:ext>
                </a:extLst>
              </a:tr>
              <a:tr h="585652">
                <a:tc>
                  <a:txBody>
                    <a:bodyPr/>
                    <a:lstStyle/>
                    <a:p>
                      <a:pPr>
                        <a:buNone/>
                      </a:pPr>
                      <a:r>
                        <a:rPr lang="en-IN" sz="1600"/>
                        <a:t>Nucleus</a:t>
                      </a:r>
                    </a:p>
                  </a:txBody>
                  <a:tcPr marL="83665" marR="83665" marT="41832" marB="418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Large kidney-shaped / bean-shaped nucleus</a:t>
                      </a:r>
                      <a:endParaRPr lang="en-IN" sz="1600"/>
                    </a:p>
                  </a:txBody>
                  <a:tcPr marL="83665" marR="83665" marT="41832" marB="418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8754105"/>
                  </a:ext>
                </a:extLst>
              </a:tr>
              <a:tr h="585652">
                <a:tc>
                  <a:txBody>
                    <a:bodyPr/>
                    <a:lstStyle/>
                    <a:p>
                      <a:pPr>
                        <a:buNone/>
                      </a:pPr>
                      <a:r>
                        <a:rPr lang="en-IN" sz="1600"/>
                        <a:t>Cytoplasm</a:t>
                      </a:r>
                    </a:p>
                  </a:txBody>
                  <a:tcPr marL="83665" marR="83665" marT="41832" marB="418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Abundant gray-blue cytoplasm, may contain vacuoles</a:t>
                      </a:r>
                    </a:p>
                  </a:txBody>
                  <a:tcPr marL="83665" marR="83665" marT="41832" marB="418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2631371"/>
                  </a:ext>
                </a:extLst>
              </a:tr>
              <a:tr h="585652">
                <a:tc>
                  <a:txBody>
                    <a:bodyPr/>
                    <a:lstStyle/>
                    <a:p>
                      <a:pPr>
                        <a:buNone/>
                      </a:pPr>
                      <a:r>
                        <a:rPr lang="en-IN" sz="1600"/>
                        <a:t>Granules</a:t>
                      </a:r>
                    </a:p>
                  </a:txBody>
                  <a:tcPr marL="83665" marR="83665" marT="41832" marB="418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No specific granules</a:t>
                      </a:r>
                      <a:r>
                        <a:rPr lang="en-US" sz="1600"/>
                        <a:t> (agranulocyte), but have </a:t>
                      </a:r>
                      <a:r>
                        <a:rPr lang="en-US" sz="1600" b="1"/>
                        <a:t>lysosomal enzymes</a:t>
                      </a:r>
                      <a:endParaRPr lang="en-US" sz="1600"/>
                    </a:p>
                  </a:txBody>
                  <a:tcPr marL="83665" marR="83665" marT="41832" marB="418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2230764"/>
                  </a:ext>
                </a:extLst>
              </a:tr>
              <a:tr h="585652">
                <a:tc>
                  <a:txBody>
                    <a:bodyPr/>
                    <a:lstStyle/>
                    <a:p>
                      <a:pPr>
                        <a:buNone/>
                      </a:pPr>
                      <a:r>
                        <a:rPr lang="en-IN" sz="1600"/>
                        <a:t>Organelles</a:t>
                      </a:r>
                    </a:p>
                  </a:txBody>
                  <a:tcPr marL="83665" marR="83665" marT="41832" marB="418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Rich in lysosomes, mitochondria, and Golgi apparatus</a:t>
                      </a:r>
                    </a:p>
                  </a:txBody>
                  <a:tcPr marL="83665" marR="83665" marT="41832" marB="418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9360466"/>
                  </a:ext>
                </a:extLst>
              </a:tr>
              <a:tr h="334658">
                <a:tc>
                  <a:txBody>
                    <a:bodyPr/>
                    <a:lstStyle/>
                    <a:p>
                      <a:pPr>
                        <a:buNone/>
                      </a:pPr>
                      <a:r>
                        <a:rPr lang="en-IN" sz="1600"/>
                        <a:t>Life span</a:t>
                      </a:r>
                    </a:p>
                  </a:txBody>
                  <a:tcPr marL="83665" marR="83665" marT="41832" marB="418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1–3 days in blood → months in tissues</a:t>
                      </a:r>
                      <a:endParaRPr lang="en-US" sz="1600"/>
                    </a:p>
                  </a:txBody>
                  <a:tcPr marL="83665" marR="83665" marT="41832" marB="418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0424512"/>
                  </a:ext>
                </a:extLst>
              </a:tr>
              <a:tr h="585652">
                <a:tc>
                  <a:txBody>
                    <a:bodyPr/>
                    <a:lstStyle/>
                    <a:p>
                      <a:pPr>
                        <a:buNone/>
                      </a:pPr>
                      <a:r>
                        <a:rPr lang="en-IN" sz="1600"/>
                        <a:t>Tissue form</a:t>
                      </a:r>
                    </a:p>
                  </a:txBody>
                  <a:tcPr marL="83665" marR="83665" marT="41832" marB="418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dirty="0"/>
                        <a:t>Macrophages</a:t>
                      </a:r>
                      <a:r>
                        <a:rPr lang="en-US" sz="1600" dirty="0"/>
                        <a:t> (monocytes migrate into tissues and transform)</a:t>
                      </a:r>
                    </a:p>
                  </a:txBody>
                  <a:tcPr marL="83665" marR="83665" marT="41832" marB="418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9434673"/>
                  </a:ext>
                </a:extLst>
              </a:tr>
            </a:tbl>
          </a:graphicData>
        </a:graphic>
      </p:graphicFrame>
    </p:spTree>
    <p:extLst>
      <p:ext uri="{BB962C8B-B14F-4D97-AF65-F5344CB8AC3E}">
        <p14:creationId xmlns:p14="http://schemas.microsoft.com/office/powerpoint/2010/main" val="25352975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B2301-4F4F-B00C-0D9F-BB34D8412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0DB0BD-4DB0-6D37-2EFB-466B3916B77B}"/>
              </a:ext>
            </a:extLst>
          </p:cNvPr>
          <p:cNvSpPr>
            <a:spLocks noGrp="1"/>
          </p:cNvSpPr>
          <p:nvPr>
            <p:ph type="title"/>
          </p:nvPr>
        </p:nvSpPr>
        <p:spPr>
          <a:xfrm>
            <a:off x="1066800" y="822327"/>
            <a:ext cx="10058400" cy="1371600"/>
          </a:xfrm>
        </p:spPr>
        <p:txBody>
          <a:bodyPr>
            <a:normAutofit fontScale="90000"/>
          </a:bodyPr>
          <a:lstStyle/>
          <a:p>
            <a:pPr lvl="0" eaLnBrk="0" fontAlgn="base" hangingPunct="0">
              <a:lnSpc>
                <a:spcPct val="100000"/>
              </a:lnSpc>
              <a:spcAft>
                <a:spcPct val="0"/>
              </a:spcAft>
            </a:pPr>
            <a:r>
              <a:rPr lang="en-US" dirty="0"/>
              <a:t>Monocyte     </a:t>
            </a:r>
            <a:br>
              <a:rPr lang="en-US" dirty="0"/>
            </a:br>
            <a:br>
              <a:rPr lang="en-US" dirty="0"/>
            </a:br>
            <a:r>
              <a:rPr lang="en-US" sz="1600" dirty="0"/>
              <a:t>functions</a:t>
            </a:r>
            <a:r>
              <a:rPr lang="en-IN" sz="1600" dirty="0"/>
              <a:t> of monocyte</a:t>
            </a:r>
            <a:br>
              <a:rPr lang="en-US" altLang="en-US" b="1" dirty="0">
                <a:latin typeface="Arial" panose="020B0604020202020204" pitchFamily="34" charset="0"/>
              </a:rPr>
            </a:br>
            <a:endParaRPr lang="en-IN" dirty="0"/>
          </a:p>
        </p:txBody>
      </p:sp>
      <p:sp>
        <p:nvSpPr>
          <p:cNvPr id="5" name="Rectangle 1">
            <a:extLst>
              <a:ext uri="{FF2B5EF4-FFF2-40B4-BE49-F238E27FC236}">
                <a16:creationId xmlns:a16="http://schemas.microsoft.com/office/drawing/2014/main" id="{9E91F1C6-4454-A690-3C49-AF91A9A47107}"/>
              </a:ext>
            </a:extLst>
          </p:cNvPr>
          <p:cNvSpPr>
            <a:spLocks noChangeArrowheads="1"/>
          </p:cNvSpPr>
          <p:nvPr/>
        </p:nvSpPr>
        <p:spPr bwMode="auto">
          <a:xfrm>
            <a:off x="0" y="-94565"/>
            <a:ext cx="76803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abundant WBCs</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first line of defense</a:t>
            </a:r>
            <a:r>
              <a:rPr kumimoji="0" lang="en-US" altLang="en-US" sz="1800" b="0" i="0" u="none" strike="noStrike" cap="none" normalizeH="0" baseline="0" dirty="0">
                <a:ln>
                  <a:noFill/>
                </a:ln>
                <a:solidFill>
                  <a:schemeClr val="tx1"/>
                </a:solidFill>
                <a:effectLst/>
                <a:latin typeface="Arial" panose="020B0604020202020204" pitchFamily="34" charset="0"/>
              </a:rPr>
              <a:t> against infections.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3" name="Content Placeholder 2">
            <a:extLst>
              <a:ext uri="{FF2B5EF4-FFF2-40B4-BE49-F238E27FC236}">
                <a16:creationId xmlns:a16="http://schemas.microsoft.com/office/drawing/2014/main" id="{07350A90-02D9-AF17-A30D-3605FBF7852C}"/>
              </a:ext>
            </a:extLst>
          </p:cNvPr>
          <p:cNvGraphicFramePr>
            <a:graphicFrameLocks noGrp="1"/>
          </p:cNvGraphicFramePr>
          <p:nvPr>
            <p:ph idx="1"/>
            <p:extLst>
              <p:ext uri="{D42A27DB-BD31-4B8C-83A1-F6EECF244321}">
                <p14:modId xmlns:p14="http://schemas.microsoft.com/office/powerpoint/2010/main" val="115249383"/>
              </p:ext>
            </p:extLst>
          </p:nvPr>
        </p:nvGraphicFramePr>
        <p:xfrm>
          <a:off x="1066800" y="2286476"/>
          <a:ext cx="10058400" cy="3566160"/>
        </p:xfrm>
        <a:graphic>
          <a:graphicData uri="http://schemas.openxmlformats.org/drawingml/2006/table">
            <a:tbl>
              <a:tblPr/>
              <a:tblGrid>
                <a:gridCol w="5029200">
                  <a:extLst>
                    <a:ext uri="{9D8B030D-6E8A-4147-A177-3AD203B41FA5}">
                      <a16:colId xmlns:a16="http://schemas.microsoft.com/office/drawing/2014/main" val="1341082204"/>
                    </a:ext>
                  </a:extLst>
                </a:gridCol>
                <a:gridCol w="5029200">
                  <a:extLst>
                    <a:ext uri="{9D8B030D-6E8A-4147-A177-3AD203B41FA5}">
                      <a16:colId xmlns:a16="http://schemas.microsoft.com/office/drawing/2014/main" val="3507444201"/>
                    </a:ext>
                  </a:extLst>
                </a:gridCol>
              </a:tblGrid>
              <a:tr h="0">
                <a:tc>
                  <a:txBody>
                    <a:bodyPr/>
                    <a:lstStyle/>
                    <a:p>
                      <a:pPr>
                        <a:buNone/>
                      </a:pPr>
                      <a:r>
                        <a:rPr lang="en-IN"/>
                        <a:t>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94359"/>
                  </a:ext>
                </a:extLst>
              </a:tr>
              <a:tr h="0">
                <a:tc>
                  <a:txBody>
                    <a:bodyPr/>
                    <a:lstStyle/>
                    <a:p>
                      <a:pPr>
                        <a:buNone/>
                      </a:pPr>
                      <a:r>
                        <a:rPr lang="en-IN" b="1"/>
                        <a:t>Phagocytosis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Engulf and destroy microbes, dead cells, and debris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5099730"/>
                  </a:ext>
                </a:extLst>
              </a:tr>
              <a:tr h="0">
                <a:tc>
                  <a:txBody>
                    <a:bodyPr/>
                    <a:lstStyle/>
                    <a:p>
                      <a:pPr>
                        <a:buNone/>
                      </a:pPr>
                      <a:r>
                        <a:rPr lang="en-IN" b="1"/>
                        <a:t>Antigen presentation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Process antigens and present them to T-lymphocytes to initiate immune response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0316023"/>
                  </a:ext>
                </a:extLst>
              </a:tr>
              <a:tr h="0">
                <a:tc>
                  <a:txBody>
                    <a:bodyPr/>
                    <a:lstStyle/>
                    <a:p>
                      <a:pPr>
                        <a:buNone/>
                      </a:pPr>
                      <a:r>
                        <a:rPr lang="en-IN" b="1"/>
                        <a:t>Cytokine secretion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Release IL-1, TNF-α and other cytokines to regulate inflammation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738969"/>
                  </a:ext>
                </a:extLst>
              </a:tr>
              <a:tr h="0">
                <a:tc>
                  <a:txBody>
                    <a:bodyPr/>
                    <a:lstStyle/>
                    <a:p>
                      <a:pPr>
                        <a:buNone/>
                      </a:pPr>
                      <a:r>
                        <a:rPr lang="en-IN" b="1"/>
                        <a:t>Differentiate into macrophages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Become tissue macrophages (Kupffer cells, microglia, alveolar macrophages etc.)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8061743"/>
                  </a:ext>
                </a:extLst>
              </a:tr>
              <a:tr h="0">
                <a:tc>
                  <a:txBody>
                    <a:bodyPr/>
                    <a:lstStyle/>
                    <a:p>
                      <a:pPr>
                        <a:buNone/>
                      </a:pPr>
                      <a:r>
                        <a:rPr lang="en-IN" b="1"/>
                        <a:t>Tumor and virus defense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Kill cancer cells and virus-infected cells through cytotoxic molecules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2519660"/>
                  </a:ext>
                </a:extLst>
              </a:tr>
            </a:tbl>
          </a:graphicData>
        </a:graphic>
      </p:graphicFrame>
    </p:spTree>
    <p:extLst>
      <p:ext uri="{BB962C8B-B14F-4D97-AF65-F5344CB8AC3E}">
        <p14:creationId xmlns:p14="http://schemas.microsoft.com/office/powerpoint/2010/main" val="34746435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A1D1F-D058-9FED-BE6B-7268E53E8D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E19B0-4F00-70C0-0359-F185AAC251B1}"/>
              </a:ext>
            </a:extLst>
          </p:cNvPr>
          <p:cNvSpPr>
            <a:spLocks noGrp="1"/>
          </p:cNvSpPr>
          <p:nvPr>
            <p:ph type="title"/>
          </p:nvPr>
        </p:nvSpPr>
        <p:spPr>
          <a:xfrm>
            <a:off x="1066800" y="822327"/>
            <a:ext cx="10058400" cy="1371600"/>
          </a:xfrm>
        </p:spPr>
        <p:txBody>
          <a:bodyPr>
            <a:normAutofit fontScale="90000"/>
          </a:bodyPr>
          <a:lstStyle/>
          <a:p>
            <a:pPr lvl="0" eaLnBrk="0" fontAlgn="base" hangingPunct="0">
              <a:lnSpc>
                <a:spcPct val="100000"/>
              </a:lnSpc>
              <a:spcAft>
                <a:spcPct val="0"/>
              </a:spcAft>
            </a:pPr>
            <a:r>
              <a:rPr lang="en-US" dirty="0"/>
              <a:t>Monocyte     </a:t>
            </a:r>
            <a:br>
              <a:rPr lang="en-US" dirty="0"/>
            </a:br>
            <a:br>
              <a:rPr lang="en-US" dirty="0"/>
            </a:br>
            <a:r>
              <a:rPr lang="en-US" sz="1600" dirty="0"/>
              <a:t>pathology</a:t>
            </a:r>
            <a:r>
              <a:rPr lang="en-IN" sz="1600" dirty="0"/>
              <a:t> of monocyte</a:t>
            </a:r>
            <a:br>
              <a:rPr lang="en-US" altLang="en-US" b="1" dirty="0">
                <a:latin typeface="Arial" panose="020B0604020202020204" pitchFamily="34" charset="0"/>
              </a:rPr>
            </a:br>
            <a:endParaRPr lang="en-IN" dirty="0"/>
          </a:p>
        </p:txBody>
      </p:sp>
      <p:sp>
        <p:nvSpPr>
          <p:cNvPr id="5" name="Rectangle 1">
            <a:extLst>
              <a:ext uri="{FF2B5EF4-FFF2-40B4-BE49-F238E27FC236}">
                <a16:creationId xmlns:a16="http://schemas.microsoft.com/office/drawing/2014/main" id="{FC8B4248-B692-F9F0-A438-D7A8769419F8}"/>
              </a:ext>
            </a:extLst>
          </p:cNvPr>
          <p:cNvSpPr>
            <a:spLocks noChangeArrowheads="1"/>
          </p:cNvSpPr>
          <p:nvPr/>
        </p:nvSpPr>
        <p:spPr bwMode="auto">
          <a:xfrm>
            <a:off x="0" y="-94565"/>
            <a:ext cx="76803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abundant WBCs</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first line of defense</a:t>
            </a:r>
            <a:r>
              <a:rPr kumimoji="0" lang="en-US" altLang="en-US" sz="1800" b="0" i="0" u="none" strike="noStrike" cap="none" normalizeH="0" baseline="0" dirty="0">
                <a:ln>
                  <a:noFill/>
                </a:ln>
                <a:solidFill>
                  <a:schemeClr val="tx1"/>
                </a:solidFill>
                <a:effectLst/>
                <a:latin typeface="Arial" panose="020B0604020202020204" pitchFamily="34" charset="0"/>
              </a:rPr>
              <a:t> against infections.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Content Placeholder 5">
            <a:extLst>
              <a:ext uri="{FF2B5EF4-FFF2-40B4-BE49-F238E27FC236}">
                <a16:creationId xmlns:a16="http://schemas.microsoft.com/office/drawing/2014/main" id="{58B81C18-1F58-89A7-F903-E5AF00174892}"/>
              </a:ext>
            </a:extLst>
          </p:cNvPr>
          <p:cNvPicPr>
            <a:picLocks noGrp="1" noChangeAspect="1"/>
          </p:cNvPicPr>
          <p:nvPr>
            <p:ph idx="1"/>
          </p:nvPr>
        </p:nvPicPr>
        <p:blipFill>
          <a:blip r:embed="rId2"/>
          <a:stretch>
            <a:fillRect/>
          </a:stretch>
        </p:blipFill>
        <p:spPr>
          <a:xfrm>
            <a:off x="1228428" y="2271198"/>
            <a:ext cx="6055599" cy="3543747"/>
          </a:xfrm>
          <a:prstGeom prst="rect">
            <a:avLst/>
          </a:prstGeom>
        </p:spPr>
      </p:pic>
    </p:spTree>
    <p:extLst>
      <p:ext uri="{BB962C8B-B14F-4D97-AF65-F5344CB8AC3E}">
        <p14:creationId xmlns:p14="http://schemas.microsoft.com/office/powerpoint/2010/main" val="37006297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49137-A050-9B08-992B-1664DC99156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05F4318-065F-A3AB-DDA2-177DDB3A061C}"/>
              </a:ext>
            </a:extLst>
          </p:cNvPr>
          <p:cNvPicPr>
            <a:picLocks noGrp="1" noChangeAspect="1"/>
          </p:cNvPicPr>
          <p:nvPr>
            <p:ph idx="1"/>
          </p:nvPr>
        </p:nvPicPr>
        <p:blipFill>
          <a:blip r:embed="rId2"/>
          <a:stretch>
            <a:fillRect/>
          </a:stretch>
        </p:blipFill>
        <p:spPr>
          <a:xfrm>
            <a:off x="2299854" y="506142"/>
            <a:ext cx="6958445" cy="5845716"/>
          </a:xfrm>
          <a:prstGeom prst="rect">
            <a:avLst/>
          </a:prstGeom>
        </p:spPr>
      </p:pic>
    </p:spTree>
    <p:extLst>
      <p:ext uri="{BB962C8B-B14F-4D97-AF65-F5344CB8AC3E}">
        <p14:creationId xmlns:p14="http://schemas.microsoft.com/office/powerpoint/2010/main" val="392073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82356-CD68-E46F-523B-C007FDCCB047}"/>
              </a:ext>
            </a:extLst>
          </p:cNvPr>
          <p:cNvSpPr>
            <a:spLocks noGrp="1"/>
          </p:cNvSpPr>
          <p:nvPr>
            <p:ph type="title"/>
          </p:nvPr>
        </p:nvSpPr>
        <p:spPr>
          <a:xfrm>
            <a:off x="1066800" y="1536212"/>
            <a:ext cx="10058400" cy="1371600"/>
          </a:xfrm>
        </p:spPr>
        <p:txBody>
          <a:bodyPr>
            <a:normAutofit fontScale="90000"/>
          </a:bodyPr>
          <a:lstStyle/>
          <a:p>
            <a:pPr lvl="0" eaLnBrk="0" fontAlgn="base" hangingPunct="0">
              <a:lnSpc>
                <a:spcPct val="100000"/>
              </a:lnSpc>
              <a:spcAft>
                <a:spcPct val="0"/>
              </a:spcAft>
            </a:pPr>
            <a:r>
              <a:rPr lang="en-US" altLang="en-US" sz="3600" b="1" dirty="0">
                <a:latin typeface="Arial" panose="020B0604020202020204" pitchFamily="34" charset="0"/>
              </a:rPr>
              <a:t>Lymphatic System</a:t>
            </a:r>
            <a:br>
              <a:rPr lang="en-US" altLang="en-US" sz="3600" b="1" dirty="0">
                <a:latin typeface="Arial" panose="020B0604020202020204" pitchFamily="34" charset="0"/>
              </a:rPr>
            </a:br>
            <a:r>
              <a:rPr lang="en-US" altLang="en-US" sz="1800" dirty="0">
                <a:latin typeface="Arial" panose="020B0604020202020204" pitchFamily="34" charset="0"/>
              </a:rPr>
              <a:t>The </a:t>
            </a:r>
            <a:r>
              <a:rPr lang="en-US" altLang="en-US" sz="1800" b="1" dirty="0">
                <a:latin typeface="Arial" panose="020B0604020202020204" pitchFamily="34" charset="0"/>
              </a:rPr>
              <a:t>lymphatic system</a:t>
            </a:r>
            <a:r>
              <a:rPr lang="en-US" altLang="en-US" sz="1800" dirty="0">
                <a:latin typeface="Arial" panose="020B0604020202020204" pitchFamily="34" charset="0"/>
              </a:rPr>
              <a:t> is a network of </a:t>
            </a:r>
            <a:r>
              <a:rPr lang="en-US" altLang="en-US" sz="1800" b="1" dirty="0">
                <a:latin typeface="Arial" panose="020B0604020202020204" pitchFamily="34" charset="0"/>
              </a:rPr>
              <a:t>lymphatic vessels, lymph nodes and lymphoid organs</a:t>
            </a:r>
            <a:r>
              <a:rPr lang="en-US" altLang="en-US" sz="1800" dirty="0">
                <a:latin typeface="Arial" panose="020B0604020202020204" pitchFamily="34" charset="0"/>
              </a:rPr>
              <a:t> that helps in maintaining body fluid balance and immunity.</a:t>
            </a:r>
            <a:br>
              <a:rPr lang="en-US" altLang="en-US" sz="2000" b="1" dirty="0">
                <a:latin typeface="Arial" panose="020B0604020202020204" pitchFamily="34" charset="0"/>
              </a:rPr>
            </a:br>
            <a:r>
              <a:rPr lang="en-US" altLang="en-US" sz="2000" b="1" dirty="0">
                <a:latin typeface="Arial" panose="020B0604020202020204" pitchFamily="34" charset="0"/>
              </a:rPr>
              <a:t>Main Components</a:t>
            </a:r>
            <a:br>
              <a:rPr lang="en-US" altLang="en-US" sz="2000" b="1" dirty="0">
                <a:latin typeface="Arial" panose="020B0604020202020204" pitchFamily="34" charset="0"/>
              </a:rPr>
            </a:br>
            <a:endParaRPr lang="en-IN" dirty="0"/>
          </a:p>
        </p:txBody>
      </p:sp>
      <p:graphicFrame>
        <p:nvGraphicFramePr>
          <p:cNvPr id="4" name="Content Placeholder 3">
            <a:extLst>
              <a:ext uri="{FF2B5EF4-FFF2-40B4-BE49-F238E27FC236}">
                <a16:creationId xmlns:a16="http://schemas.microsoft.com/office/drawing/2014/main" id="{BA74E05C-464C-4BF9-9F55-09AA274A6CEE}"/>
              </a:ext>
            </a:extLst>
          </p:cNvPr>
          <p:cNvGraphicFramePr>
            <a:graphicFrameLocks noGrp="1"/>
          </p:cNvGraphicFramePr>
          <p:nvPr>
            <p:ph idx="1"/>
            <p:extLst>
              <p:ext uri="{D42A27DB-BD31-4B8C-83A1-F6EECF244321}">
                <p14:modId xmlns:p14="http://schemas.microsoft.com/office/powerpoint/2010/main" val="1672465540"/>
              </p:ext>
            </p:extLst>
          </p:nvPr>
        </p:nvGraphicFramePr>
        <p:xfrm>
          <a:off x="1066800" y="2606516"/>
          <a:ext cx="10058400" cy="2926080"/>
        </p:xfrm>
        <a:graphic>
          <a:graphicData uri="http://schemas.openxmlformats.org/drawingml/2006/table">
            <a:tbl>
              <a:tblPr/>
              <a:tblGrid>
                <a:gridCol w="5029200">
                  <a:extLst>
                    <a:ext uri="{9D8B030D-6E8A-4147-A177-3AD203B41FA5}">
                      <a16:colId xmlns:a16="http://schemas.microsoft.com/office/drawing/2014/main" val="1419542677"/>
                    </a:ext>
                  </a:extLst>
                </a:gridCol>
                <a:gridCol w="5029200">
                  <a:extLst>
                    <a:ext uri="{9D8B030D-6E8A-4147-A177-3AD203B41FA5}">
                      <a16:colId xmlns:a16="http://schemas.microsoft.com/office/drawing/2014/main" val="1547811133"/>
                    </a:ext>
                  </a:extLst>
                </a:gridCol>
              </a:tblGrid>
              <a:tr h="0">
                <a:tc>
                  <a:txBody>
                    <a:bodyPr/>
                    <a:lstStyle/>
                    <a:p>
                      <a:pPr>
                        <a:buNone/>
                      </a:pPr>
                      <a:r>
                        <a:rPr lang="en-IN"/>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6556617"/>
                  </a:ext>
                </a:extLst>
              </a:tr>
              <a:tr h="0">
                <a:tc>
                  <a:txBody>
                    <a:bodyPr/>
                    <a:lstStyle/>
                    <a:p>
                      <a:pPr>
                        <a:buNone/>
                      </a:pPr>
                      <a:r>
                        <a:rPr lang="en-IN" b="1"/>
                        <a:t>Lymph</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Tissue fluid that flows inside lymphatic vessels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2495285"/>
                  </a:ext>
                </a:extLst>
              </a:tr>
              <a:tr h="0">
                <a:tc>
                  <a:txBody>
                    <a:bodyPr/>
                    <a:lstStyle/>
                    <a:p>
                      <a:pPr>
                        <a:buNone/>
                      </a:pPr>
                      <a:r>
                        <a:rPr lang="en-IN" b="1"/>
                        <a:t>Lymphatic vessels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Thin tubes that collect excess tissue fluid and return it to blood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3921076"/>
                  </a:ext>
                </a:extLst>
              </a:tr>
              <a:tr h="0">
                <a:tc>
                  <a:txBody>
                    <a:bodyPr/>
                    <a:lstStyle/>
                    <a:p>
                      <a:pPr>
                        <a:buNone/>
                      </a:pPr>
                      <a:r>
                        <a:rPr lang="en-IN" b="1"/>
                        <a:t>Lymph nodes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Small bean-shaped structures that filter lymph and destroy microbes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8637268"/>
                  </a:ext>
                </a:extLst>
              </a:tr>
              <a:tr h="0">
                <a:tc>
                  <a:txBody>
                    <a:bodyPr/>
                    <a:lstStyle/>
                    <a:p>
                      <a:pPr>
                        <a:buNone/>
                      </a:pPr>
                      <a:r>
                        <a:rPr lang="en-IN" b="1" dirty="0"/>
                        <a:t>Lymphoid organs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Thymus, spleen, tonsils, bone marrow, Peyer’s patches etc.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3397573"/>
                  </a:ext>
                </a:extLst>
              </a:tr>
            </a:tbl>
          </a:graphicData>
        </a:graphic>
      </p:graphicFrame>
    </p:spTree>
    <p:extLst>
      <p:ext uri="{BB962C8B-B14F-4D97-AF65-F5344CB8AC3E}">
        <p14:creationId xmlns:p14="http://schemas.microsoft.com/office/powerpoint/2010/main" val="15706855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519D8-208E-DAA5-A748-4B146DB02F6D}"/>
              </a:ext>
            </a:extLst>
          </p:cNvPr>
          <p:cNvSpPr>
            <a:spLocks noGrp="1"/>
          </p:cNvSpPr>
          <p:nvPr>
            <p:ph type="title"/>
          </p:nvPr>
        </p:nvSpPr>
        <p:spPr/>
        <p:txBody>
          <a:bodyPr/>
          <a:lstStyle/>
          <a:p>
            <a:r>
              <a:rPr lang="en-US" dirty="0"/>
              <a:t>Lymphatic system</a:t>
            </a:r>
            <a:endParaRPr lang="en-IN" dirty="0"/>
          </a:p>
        </p:txBody>
      </p:sp>
      <p:sp>
        <p:nvSpPr>
          <p:cNvPr id="3" name="Content Placeholder 2">
            <a:extLst>
              <a:ext uri="{FF2B5EF4-FFF2-40B4-BE49-F238E27FC236}">
                <a16:creationId xmlns:a16="http://schemas.microsoft.com/office/drawing/2014/main" id="{432575FD-4F5E-5F00-5AAC-6C3EBB876777}"/>
              </a:ext>
            </a:extLst>
          </p:cNvPr>
          <p:cNvSpPr>
            <a:spLocks noGrp="1"/>
          </p:cNvSpPr>
          <p:nvPr>
            <p:ph idx="1"/>
          </p:nvPr>
        </p:nvSpPr>
        <p:spPr/>
        <p:txBody>
          <a:bodyPr/>
          <a:lstStyle/>
          <a:p>
            <a:pPr marL="0" indent="0">
              <a:buNone/>
            </a:pPr>
            <a:r>
              <a:rPr lang="en-US" b="1" dirty="0"/>
              <a:t>Functions of Lymphatic System</a:t>
            </a:r>
          </a:p>
          <a:p>
            <a:r>
              <a:rPr lang="en-US" b="1" dirty="0"/>
              <a:t>Maintain fluid balance</a:t>
            </a:r>
            <a:r>
              <a:rPr lang="en-US" dirty="0"/>
              <a:t> by returning excess tissue fluid to bloodstream</a:t>
            </a:r>
          </a:p>
          <a:p>
            <a:r>
              <a:rPr lang="en-US" b="1" dirty="0"/>
              <a:t>Defense against infection</a:t>
            </a:r>
            <a:r>
              <a:rPr lang="en-US" dirty="0"/>
              <a:t> through lymph nodes and lymphocytes</a:t>
            </a:r>
          </a:p>
          <a:p>
            <a:r>
              <a:rPr lang="en-US" b="1" dirty="0"/>
              <a:t>Absorption of fats</a:t>
            </a:r>
            <a:r>
              <a:rPr lang="en-US" dirty="0"/>
              <a:t> from intestine via </a:t>
            </a:r>
            <a:r>
              <a:rPr lang="en-US" b="1" dirty="0"/>
              <a:t>lacteals (lymph capillaries)</a:t>
            </a:r>
            <a:r>
              <a:rPr lang="en-US" dirty="0"/>
              <a:t> in villi</a:t>
            </a:r>
          </a:p>
          <a:p>
            <a:r>
              <a:rPr lang="en-US" b="1" dirty="0"/>
              <a:t>Transport of immune cells</a:t>
            </a:r>
            <a:r>
              <a:rPr lang="en-US" dirty="0"/>
              <a:t> throughout the body</a:t>
            </a:r>
          </a:p>
          <a:p>
            <a:r>
              <a:rPr lang="en-US" b="1" dirty="0"/>
              <a:t>Removal of waste substances and dead cells</a:t>
            </a:r>
            <a:endParaRPr lang="en-US" dirty="0"/>
          </a:p>
          <a:p>
            <a:endParaRPr lang="en-IN" dirty="0"/>
          </a:p>
        </p:txBody>
      </p:sp>
    </p:spTree>
    <p:extLst>
      <p:ext uri="{BB962C8B-B14F-4D97-AF65-F5344CB8AC3E}">
        <p14:creationId xmlns:p14="http://schemas.microsoft.com/office/powerpoint/2010/main" val="13877863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AA8DF-A322-8A96-9DFC-1692B4852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8F474F-3DEF-4B6F-F8F6-A414C4644523}"/>
              </a:ext>
            </a:extLst>
          </p:cNvPr>
          <p:cNvSpPr>
            <a:spLocks noGrp="1"/>
          </p:cNvSpPr>
          <p:nvPr>
            <p:ph type="title"/>
          </p:nvPr>
        </p:nvSpPr>
        <p:spPr/>
        <p:txBody>
          <a:bodyPr/>
          <a:lstStyle/>
          <a:p>
            <a:r>
              <a:rPr lang="en-US" dirty="0"/>
              <a:t>Lymph </a:t>
            </a:r>
            <a:endParaRPr lang="en-IN" dirty="0"/>
          </a:p>
        </p:txBody>
      </p:sp>
      <p:sp>
        <p:nvSpPr>
          <p:cNvPr id="3" name="Content Placeholder 2">
            <a:extLst>
              <a:ext uri="{FF2B5EF4-FFF2-40B4-BE49-F238E27FC236}">
                <a16:creationId xmlns:a16="http://schemas.microsoft.com/office/drawing/2014/main" id="{B8873B9C-ECFF-6BA5-BAEC-54BBB4F71F98}"/>
              </a:ext>
            </a:extLst>
          </p:cNvPr>
          <p:cNvSpPr>
            <a:spLocks noGrp="1"/>
          </p:cNvSpPr>
          <p:nvPr>
            <p:ph idx="1"/>
          </p:nvPr>
        </p:nvSpPr>
        <p:spPr/>
        <p:txBody>
          <a:bodyPr>
            <a:normAutofit lnSpcReduction="10000"/>
          </a:bodyPr>
          <a:lstStyle/>
          <a:p>
            <a:r>
              <a:rPr lang="en-IN" dirty="0"/>
              <a:t>Lymph is a </a:t>
            </a:r>
            <a:r>
              <a:rPr lang="en-IN" b="1" dirty="0"/>
              <a:t>clear, pale-yellow fluid</a:t>
            </a:r>
            <a:r>
              <a:rPr lang="en-IN" dirty="0"/>
              <a:t> circulated in the lymphatic system.</a:t>
            </a:r>
            <a:br>
              <a:rPr lang="en-IN" dirty="0"/>
            </a:br>
            <a:r>
              <a:rPr lang="en-IN" dirty="0"/>
              <a:t>It is similar to plasma but </a:t>
            </a:r>
            <a:r>
              <a:rPr lang="en-IN" b="1" dirty="0"/>
              <a:t>contains more lymphocytes and less proteins</a:t>
            </a:r>
            <a:r>
              <a:rPr lang="en-IN" dirty="0"/>
              <a:t>.</a:t>
            </a:r>
          </a:p>
          <a:p>
            <a:r>
              <a:rPr lang="en-IN" b="1" dirty="0"/>
              <a:t>Composition of Lymph</a:t>
            </a:r>
          </a:p>
          <a:p>
            <a:r>
              <a:rPr lang="en-IN" dirty="0"/>
              <a:t>Water</a:t>
            </a:r>
          </a:p>
          <a:p>
            <a:r>
              <a:rPr lang="en-IN" dirty="0"/>
              <a:t>Plasma proteins (low amount)</a:t>
            </a:r>
          </a:p>
          <a:p>
            <a:r>
              <a:rPr lang="en-IN" dirty="0"/>
              <a:t>Lymphocytes (very high)</a:t>
            </a:r>
          </a:p>
          <a:p>
            <a:r>
              <a:rPr lang="en-IN" dirty="0"/>
              <a:t>Fats (chylomicrons)</a:t>
            </a:r>
          </a:p>
          <a:p>
            <a:r>
              <a:rPr lang="en-IN" dirty="0"/>
              <a:t>Electrolytes and waste products</a:t>
            </a:r>
          </a:p>
          <a:p>
            <a:r>
              <a:rPr lang="en-IN" b="1" dirty="0"/>
              <a:t>Formation of Lymph</a:t>
            </a:r>
          </a:p>
          <a:p>
            <a:r>
              <a:rPr lang="en-IN" dirty="0"/>
              <a:t>Blood plasma filters out through capillaries → becomes </a:t>
            </a:r>
            <a:r>
              <a:rPr lang="en-IN" b="1" dirty="0"/>
              <a:t>tissue fluid</a:t>
            </a:r>
            <a:r>
              <a:rPr lang="en-IN" dirty="0"/>
              <a:t> → excess tissue fluid enters </a:t>
            </a:r>
            <a:r>
              <a:rPr lang="en-IN" b="1" dirty="0"/>
              <a:t>lymphatic capillaries</a:t>
            </a:r>
            <a:r>
              <a:rPr lang="en-IN" dirty="0"/>
              <a:t> → becomes </a:t>
            </a:r>
            <a:r>
              <a:rPr lang="en-IN" b="1" dirty="0"/>
              <a:t>lymph</a:t>
            </a:r>
            <a:r>
              <a:rPr lang="en-IN" dirty="0"/>
              <a:t>.</a:t>
            </a:r>
          </a:p>
        </p:txBody>
      </p:sp>
    </p:spTree>
    <p:extLst>
      <p:ext uri="{BB962C8B-B14F-4D97-AF65-F5344CB8AC3E}">
        <p14:creationId xmlns:p14="http://schemas.microsoft.com/office/powerpoint/2010/main" val="289947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004ED-CFDF-D819-AE6A-A595206837FD}"/>
              </a:ext>
            </a:extLst>
          </p:cNvPr>
          <p:cNvSpPr>
            <a:spLocks noGrp="1"/>
          </p:cNvSpPr>
          <p:nvPr>
            <p:ph type="title"/>
          </p:nvPr>
        </p:nvSpPr>
        <p:spPr/>
        <p:txBody>
          <a:bodyPr/>
          <a:lstStyle/>
          <a:p>
            <a:r>
              <a:rPr lang="en-US" dirty="0"/>
              <a:t>Functions of lymph</a:t>
            </a:r>
            <a:endParaRPr lang="en-IN" dirty="0"/>
          </a:p>
        </p:txBody>
      </p:sp>
      <p:graphicFrame>
        <p:nvGraphicFramePr>
          <p:cNvPr id="4" name="Content Placeholder 3">
            <a:extLst>
              <a:ext uri="{FF2B5EF4-FFF2-40B4-BE49-F238E27FC236}">
                <a16:creationId xmlns:a16="http://schemas.microsoft.com/office/drawing/2014/main" id="{04AFC57F-6C15-F145-566C-93B6C25DE926}"/>
              </a:ext>
            </a:extLst>
          </p:cNvPr>
          <p:cNvGraphicFramePr>
            <a:graphicFrameLocks noGrp="1"/>
          </p:cNvGraphicFramePr>
          <p:nvPr>
            <p:ph idx="1"/>
            <p:extLst>
              <p:ext uri="{D42A27DB-BD31-4B8C-83A1-F6EECF244321}">
                <p14:modId xmlns:p14="http://schemas.microsoft.com/office/powerpoint/2010/main" val="663068350"/>
              </p:ext>
            </p:extLst>
          </p:nvPr>
        </p:nvGraphicFramePr>
        <p:xfrm>
          <a:off x="858982" y="2014194"/>
          <a:ext cx="10058400" cy="2103120"/>
        </p:xfrm>
        <a:graphic>
          <a:graphicData uri="http://schemas.openxmlformats.org/drawingml/2006/table">
            <a:tbl>
              <a:tblPr/>
              <a:tblGrid>
                <a:gridCol w="5029200">
                  <a:extLst>
                    <a:ext uri="{9D8B030D-6E8A-4147-A177-3AD203B41FA5}">
                      <a16:colId xmlns:a16="http://schemas.microsoft.com/office/drawing/2014/main" val="551351587"/>
                    </a:ext>
                  </a:extLst>
                </a:gridCol>
                <a:gridCol w="5029200">
                  <a:extLst>
                    <a:ext uri="{9D8B030D-6E8A-4147-A177-3AD203B41FA5}">
                      <a16:colId xmlns:a16="http://schemas.microsoft.com/office/drawing/2014/main" val="1751987697"/>
                    </a:ext>
                  </a:extLst>
                </a:gridCol>
              </a:tblGrid>
              <a:tr h="0">
                <a:tc>
                  <a:txBody>
                    <a:bodyPr/>
                    <a:lstStyle/>
                    <a:p>
                      <a:pPr>
                        <a:buNone/>
                      </a:pPr>
                      <a:r>
                        <a:rPr lang="en-IN"/>
                        <a:t>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Explanation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134280"/>
                  </a:ext>
                </a:extLst>
              </a:tr>
              <a:tr h="0">
                <a:tc>
                  <a:txBody>
                    <a:bodyPr/>
                    <a:lstStyle/>
                    <a:p>
                      <a:pPr>
                        <a:buNone/>
                      </a:pPr>
                      <a:r>
                        <a:rPr lang="en-US" b="1"/>
                        <a:t>Returns excess tissue fluid to blood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Prevents edema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0101940"/>
                  </a:ext>
                </a:extLst>
              </a:tr>
              <a:tr h="0">
                <a:tc>
                  <a:txBody>
                    <a:bodyPr/>
                    <a:lstStyle/>
                    <a:p>
                      <a:pPr>
                        <a:buNone/>
                      </a:pPr>
                      <a:r>
                        <a:rPr lang="en-IN" b="1"/>
                        <a:t>Immunity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Carries lymphocytes and antibodies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2997798"/>
                  </a:ext>
                </a:extLst>
              </a:tr>
              <a:tr h="0">
                <a:tc>
                  <a:txBody>
                    <a:bodyPr/>
                    <a:lstStyle/>
                    <a:p>
                      <a:pPr>
                        <a:buNone/>
                      </a:pPr>
                      <a:r>
                        <a:rPr lang="en-IN" b="1"/>
                        <a:t>Fat absorption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Transports fat from intestine to blood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6455120"/>
                  </a:ext>
                </a:extLst>
              </a:tr>
              <a:tr h="0">
                <a:tc>
                  <a:txBody>
                    <a:bodyPr/>
                    <a:lstStyle/>
                    <a:p>
                      <a:pPr>
                        <a:buNone/>
                      </a:pPr>
                      <a:r>
                        <a:rPr lang="en-IN" b="1"/>
                        <a:t>Transport</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Moves hormones, nutrients and waste materials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6878587"/>
                  </a:ext>
                </a:extLst>
              </a:tr>
            </a:tbl>
          </a:graphicData>
        </a:graphic>
      </p:graphicFrame>
    </p:spTree>
    <p:extLst>
      <p:ext uri="{BB962C8B-B14F-4D97-AF65-F5344CB8AC3E}">
        <p14:creationId xmlns:p14="http://schemas.microsoft.com/office/powerpoint/2010/main" val="11099650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D9C02-74D5-2714-2907-E60252E0A22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92EAAE1-E372-A2F4-4286-1C6AB7A17A70}"/>
              </a:ext>
            </a:extLst>
          </p:cNvPr>
          <p:cNvPicPr>
            <a:picLocks noGrp="1" noChangeAspect="1"/>
          </p:cNvPicPr>
          <p:nvPr>
            <p:ph idx="1"/>
          </p:nvPr>
        </p:nvPicPr>
        <p:blipFill>
          <a:blip r:embed="rId2"/>
          <a:stretch>
            <a:fillRect/>
          </a:stretch>
        </p:blipFill>
        <p:spPr>
          <a:xfrm>
            <a:off x="2859801" y="642594"/>
            <a:ext cx="6253026" cy="5552013"/>
          </a:xfrm>
          <a:prstGeom prst="rect">
            <a:avLst/>
          </a:prstGeom>
        </p:spPr>
      </p:pic>
    </p:spTree>
    <p:extLst>
      <p:ext uri="{BB962C8B-B14F-4D97-AF65-F5344CB8AC3E}">
        <p14:creationId xmlns:p14="http://schemas.microsoft.com/office/powerpoint/2010/main" val="23144978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A6E7A-2F15-E7BC-9FBB-7056C62530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3ED7E3-B286-ACAD-ED8C-E7CCA0B49F51}"/>
              </a:ext>
            </a:extLst>
          </p:cNvPr>
          <p:cNvSpPr>
            <a:spLocks noGrp="1"/>
          </p:cNvSpPr>
          <p:nvPr>
            <p:ph type="ctrTitle"/>
          </p:nvPr>
        </p:nvSpPr>
        <p:spPr/>
        <p:txBody>
          <a:bodyPr/>
          <a:lstStyle/>
          <a:p>
            <a:r>
              <a:rPr lang="en-US" dirty="0"/>
              <a:t>Unit 4</a:t>
            </a:r>
            <a:endParaRPr lang="en-IN" dirty="0"/>
          </a:p>
        </p:txBody>
      </p:sp>
      <p:sp>
        <p:nvSpPr>
          <p:cNvPr id="3" name="Subtitle 2">
            <a:extLst>
              <a:ext uri="{FF2B5EF4-FFF2-40B4-BE49-F238E27FC236}">
                <a16:creationId xmlns:a16="http://schemas.microsoft.com/office/drawing/2014/main" id="{3DCCC177-7FB0-D572-4022-1E9A25A7E85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9041721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5AE83-51D5-3FB4-5871-F6E33E991289}"/>
              </a:ext>
            </a:extLst>
          </p:cNvPr>
          <p:cNvSpPr>
            <a:spLocks noGrp="1"/>
          </p:cNvSpPr>
          <p:nvPr>
            <p:ph type="title"/>
          </p:nvPr>
        </p:nvSpPr>
        <p:spPr/>
        <p:txBody>
          <a:bodyPr>
            <a:normAutofit fontScale="90000"/>
          </a:bodyPr>
          <a:lstStyle/>
          <a:p>
            <a:r>
              <a:rPr lang="en-IN" b="1" dirty="0"/>
              <a:t>Platelets (Thrombocytes) – Introduction</a:t>
            </a:r>
            <a:endParaRPr lang="en-IN" dirty="0"/>
          </a:p>
        </p:txBody>
      </p:sp>
      <p:sp>
        <p:nvSpPr>
          <p:cNvPr id="3" name="Content Placeholder 2">
            <a:extLst>
              <a:ext uri="{FF2B5EF4-FFF2-40B4-BE49-F238E27FC236}">
                <a16:creationId xmlns:a16="http://schemas.microsoft.com/office/drawing/2014/main" id="{B74CC965-D9E7-3350-036F-64FA27998D2F}"/>
              </a:ext>
            </a:extLst>
          </p:cNvPr>
          <p:cNvSpPr>
            <a:spLocks noGrp="1"/>
          </p:cNvSpPr>
          <p:nvPr>
            <p:ph idx="1"/>
          </p:nvPr>
        </p:nvSpPr>
        <p:spPr/>
        <p:txBody>
          <a:bodyPr/>
          <a:lstStyle/>
          <a:p>
            <a:r>
              <a:rPr lang="en-IN" dirty="0"/>
              <a:t>Platelets are </a:t>
            </a:r>
            <a:r>
              <a:rPr lang="en-IN" b="1" dirty="0"/>
              <a:t>small, non-nucleated, disc-shaped cell fragments</a:t>
            </a:r>
            <a:r>
              <a:rPr lang="en-IN" dirty="0"/>
              <a:t> present in blood that play a major role in </a:t>
            </a:r>
            <a:r>
              <a:rPr lang="en-IN" b="1" dirty="0"/>
              <a:t>blood clotting (</a:t>
            </a:r>
            <a:r>
              <a:rPr lang="en-IN" b="1" dirty="0" err="1"/>
              <a:t>hemostasis</a:t>
            </a:r>
            <a:r>
              <a:rPr lang="en-IN" b="1" dirty="0"/>
              <a:t>)</a:t>
            </a:r>
            <a:r>
              <a:rPr lang="en-IN" dirty="0"/>
              <a:t>.</a:t>
            </a:r>
          </a:p>
          <a:p>
            <a:r>
              <a:rPr lang="en-IN" dirty="0"/>
              <a:t>Origin: </a:t>
            </a:r>
            <a:r>
              <a:rPr lang="en-IN" b="1" dirty="0"/>
              <a:t>Bone marrow</a:t>
            </a:r>
            <a:endParaRPr lang="en-IN" dirty="0"/>
          </a:p>
          <a:p>
            <a:r>
              <a:rPr lang="en-IN" dirty="0"/>
              <a:t>Produced from: </a:t>
            </a:r>
            <a:r>
              <a:rPr lang="en-IN" b="1" dirty="0"/>
              <a:t>Megakaryocytes</a:t>
            </a:r>
            <a:r>
              <a:rPr lang="en-IN" dirty="0"/>
              <a:t> (fragments of cytoplasm)</a:t>
            </a:r>
          </a:p>
          <a:p>
            <a:r>
              <a:rPr lang="en-IN" dirty="0"/>
              <a:t>Count: </a:t>
            </a:r>
            <a:r>
              <a:rPr lang="en-IN" b="1" dirty="0"/>
              <a:t>1.5 – 4 lakhs/mm³ of blood</a:t>
            </a:r>
            <a:endParaRPr lang="en-IN" dirty="0"/>
          </a:p>
          <a:p>
            <a:r>
              <a:rPr lang="en-IN" dirty="0"/>
              <a:t>Lifespan: </a:t>
            </a:r>
            <a:r>
              <a:rPr lang="en-IN" b="1" dirty="0"/>
              <a:t>8 – 12 days</a:t>
            </a:r>
            <a:endParaRPr lang="en-IN" dirty="0"/>
          </a:p>
          <a:p>
            <a:r>
              <a:rPr lang="en-IN" dirty="0"/>
              <a:t>Removed by: </a:t>
            </a:r>
            <a:r>
              <a:rPr lang="en-IN" b="1" dirty="0"/>
              <a:t>Spleen and liver</a:t>
            </a:r>
            <a:endParaRPr lang="en-IN" dirty="0"/>
          </a:p>
          <a:p>
            <a:endParaRPr lang="en-IN" dirty="0"/>
          </a:p>
        </p:txBody>
      </p:sp>
    </p:spTree>
    <p:extLst>
      <p:ext uri="{BB962C8B-B14F-4D97-AF65-F5344CB8AC3E}">
        <p14:creationId xmlns:p14="http://schemas.microsoft.com/office/powerpoint/2010/main" val="19562294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BDC11-8500-8FEF-5728-DA2FE7FD4422}"/>
              </a:ext>
            </a:extLst>
          </p:cNvPr>
          <p:cNvSpPr>
            <a:spLocks noGrp="1"/>
          </p:cNvSpPr>
          <p:nvPr>
            <p:ph type="title"/>
          </p:nvPr>
        </p:nvSpPr>
        <p:spPr/>
        <p:txBody>
          <a:bodyPr/>
          <a:lstStyle/>
          <a:p>
            <a:r>
              <a:rPr lang="en-US" dirty="0"/>
              <a:t>Structure of platelet</a:t>
            </a:r>
            <a:endParaRPr lang="en-IN" dirty="0"/>
          </a:p>
        </p:txBody>
      </p:sp>
      <p:graphicFrame>
        <p:nvGraphicFramePr>
          <p:cNvPr id="4" name="Content Placeholder 3">
            <a:extLst>
              <a:ext uri="{FF2B5EF4-FFF2-40B4-BE49-F238E27FC236}">
                <a16:creationId xmlns:a16="http://schemas.microsoft.com/office/drawing/2014/main" id="{5B06F507-5505-5D98-8F59-17AD037A705F}"/>
              </a:ext>
            </a:extLst>
          </p:cNvPr>
          <p:cNvGraphicFramePr>
            <a:graphicFrameLocks noGrp="1"/>
          </p:cNvGraphicFramePr>
          <p:nvPr>
            <p:ph idx="1"/>
            <p:extLst>
              <p:ext uri="{D42A27DB-BD31-4B8C-83A1-F6EECF244321}">
                <p14:modId xmlns:p14="http://schemas.microsoft.com/office/powerpoint/2010/main" val="3633854874"/>
              </p:ext>
            </p:extLst>
          </p:nvPr>
        </p:nvGraphicFramePr>
        <p:xfrm>
          <a:off x="1066800" y="2697956"/>
          <a:ext cx="10058400" cy="2743200"/>
        </p:xfrm>
        <a:graphic>
          <a:graphicData uri="http://schemas.openxmlformats.org/drawingml/2006/table">
            <a:tbl>
              <a:tblPr/>
              <a:tblGrid>
                <a:gridCol w="5029200">
                  <a:extLst>
                    <a:ext uri="{9D8B030D-6E8A-4147-A177-3AD203B41FA5}">
                      <a16:colId xmlns:a16="http://schemas.microsoft.com/office/drawing/2014/main" val="1303198888"/>
                    </a:ext>
                  </a:extLst>
                </a:gridCol>
                <a:gridCol w="5029200">
                  <a:extLst>
                    <a:ext uri="{9D8B030D-6E8A-4147-A177-3AD203B41FA5}">
                      <a16:colId xmlns:a16="http://schemas.microsoft.com/office/drawing/2014/main" val="2048574515"/>
                    </a:ext>
                  </a:extLst>
                </a:gridCol>
              </a:tblGrid>
              <a:tr h="0">
                <a:tc>
                  <a:txBody>
                    <a:bodyPr/>
                    <a:lstStyle/>
                    <a:p>
                      <a:pPr>
                        <a:buNone/>
                      </a:pPr>
                      <a:r>
                        <a:rPr lang="en-IN"/>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7657096"/>
                  </a:ext>
                </a:extLst>
              </a:tr>
              <a:tr h="0">
                <a:tc>
                  <a:txBody>
                    <a:bodyPr/>
                    <a:lstStyle/>
                    <a:p>
                      <a:pPr>
                        <a:buNone/>
                      </a:pPr>
                      <a:r>
                        <a:rPr lang="en-IN"/>
                        <a:t>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2–4 µm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797934"/>
                  </a:ext>
                </a:extLst>
              </a:tr>
              <a:tr h="0">
                <a:tc>
                  <a:txBody>
                    <a:bodyPr/>
                    <a:lstStyle/>
                    <a:p>
                      <a:pPr>
                        <a:buNone/>
                      </a:pPr>
                      <a:r>
                        <a:rPr lang="en-IN"/>
                        <a:t>Shape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Disc-shaped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9458880"/>
                  </a:ext>
                </a:extLst>
              </a:tr>
              <a:tr h="0">
                <a:tc>
                  <a:txBody>
                    <a:bodyPr/>
                    <a:lstStyle/>
                    <a:p>
                      <a:pPr>
                        <a:buNone/>
                      </a:pPr>
                      <a:r>
                        <a:rPr lang="en-IN"/>
                        <a:t>Nucleus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Absent (non-nucleated)</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7641914"/>
                  </a:ext>
                </a:extLst>
              </a:tr>
              <a:tr h="0">
                <a:tc>
                  <a:txBody>
                    <a:bodyPr/>
                    <a:lstStyle/>
                    <a:p>
                      <a:pPr>
                        <a:buNone/>
                      </a:pPr>
                      <a:r>
                        <a:rPr lang="en-IN"/>
                        <a:t>Cytoplasm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Granular cytoplasm with </a:t>
                      </a:r>
                      <a:r>
                        <a:rPr lang="en-US" b="1"/>
                        <a:t>alpha granules and dense granules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2128096"/>
                  </a:ext>
                </a:extLst>
              </a:tr>
              <a:tr h="0">
                <a:tc>
                  <a:txBody>
                    <a:bodyPr/>
                    <a:lstStyle/>
                    <a:p>
                      <a:pPr>
                        <a:buNone/>
                      </a:pPr>
                      <a:r>
                        <a:rPr lang="en-IN"/>
                        <a:t>Membrane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Contains </a:t>
                      </a:r>
                      <a:r>
                        <a:rPr lang="en-US" b="1" dirty="0"/>
                        <a:t>receptors and phospholipids</a:t>
                      </a:r>
                      <a:r>
                        <a:rPr lang="en-US" dirty="0"/>
                        <a:t> needed for clotting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79"/>
                  </a:ext>
                </a:extLst>
              </a:tr>
            </a:tbl>
          </a:graphicData>
        </a:graphic>
      </p:graphicFrame>
    </p:spTree>
    <p:extLst>
      <p:ext uri="{BB962C8B-B14F-4D97-AF65-F5344CB8AC3E}">
        <p14:creationId xmlns:p14="http://schemas.microsoft.com/office/powerpoint/2010/main" val="15311558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F8CB1-D658-1C35-C217-48D327A937AC}"/>
              </a:ext>
            </a:extLst>
          </p:cNvPr>
          <p:cNvSpPr>
            <a:spLocks noGrp="1"/>
          </p:cNvSpPr>
          <p:nvPr>
            <p:ph type="title"/>
          </p:nvPr>
        </p:nvSpPr>
        <p:spPr/>
        <p:txBody>
          <a:bodyPr/>
          <a:lstStyle/>
          <a:p>
            <a:r>
              <a:rPr lang="en-US" dirty="0"/>
              <a:t>Functions of platelets</a:t>
            </a:r>
            <a:endParaRPr lang="en-IN" dirty="0"/>
          </a:p>
        </p:txBody>
      </p:sp>
      <p:graphicFrame>
        <p:nvGraphicFramePr>
          <p:cNvPr id="7" name="Content Placeholder 6">
            <a:extLst>
              <a:ext uri="{FF2B5EF4-FFF2-40B4-BE49-F238E27FC236}">
                <a16:creationId xmlns:a16="http://schemas.microsoft.com/office/drawing/2014/main" id="{1676DDDC-18F9-C5ED-C2A1-1D2D6B13BA9D}"/>
              </a:ext>
            </a:extLst>
          </p:cNvPr>
          <p:cNvGraphicFramePr>
            <a:graphicFrameLocks noGrp="1"/>
          </p:cNvGraphicFramePr>
          <p:nvPr>
            <p:ph idx="1"/>
            <p:extLst>
              <p:ext uri="{D42A27DB-BD31-4B8C-83A1-F6EECF244321}">
                <p14:modId xmlns:p14="http://schemas.microsoft.com/office/powerpoint/2010/main" val="3171505043"/>
              </p:ext>
            </p:extLst>
          </p:nvPr>
        </p:nvGraphicFramePr>
        <p:xfrm>
          <a:off x="1142999" y="1693718"/>
          <a:ext cx="10203874" cy="4484584"/>
        </p:xfrm>
        <a:graphic>
          <a:graphicData uri="http://schemas.openxmlformats.org/drawingml/2006/table">
            <a:tbl>
              <a:tblPr/>
              <a:tblGrid>
                <a:gridCol w="5101937">
                  <a:extLst>
                    <a:ext uri="{9D8B030D-6E8A-4147-A177-3AD203B41FA5}">
                      <a16:colId xmlns:a16="http://schemas.microsoft.com/office/drawing/2014/main" val="651933681"/>
                    </a:ext>
                  </a:extLst>
                </a:gridCol>
                <a:gridCol w="5101937">
                  <a:extLst>
                    <a:ext uri="{9D8B030D-6E8A-4147-A177-3AD203B41FA5}">
                      <a16:colId xmlns:a16="http://schemas.microsoft.com/office/drawing/2014/main" val="684340359"/>
                    </a:ext>
                  </a:extLst>
                </a:gridCol>
              </a:tblGrid>
              <a:tr h="219491">
                <a:tc>
                  <a:txBody>
                    <a:bodyPr/>
                    <a:lstStyle/>
                    <a:p>
                      <a:pPr>
                        <a:buNone/>
                      </a:pPr>
                      <a:r>
                        <a:rPr lang="en-IN" sz="1400"/>
                        <a:t>Function</a:t>
                      </a:r>
                    </a:p>
                  </a:txBody>
                  <a:tcPr marL="49153" marR="49153" marT="24576" marB="24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Explanation</a:t>
                      </a:r>
                    </a:p>
                  </a:txBody>
                  <a:tcPr marL="49153" marR="49153" marT="24576" marB="24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0338316"/>
                  </a:ext>
                </a:extLst>
              </a:tr>
              <a:tr h="535279">
                <a:tc>
                  <a:txBody>
                    <a:bodyPr/>
                    <a:lstStyle/>
                    <a:p>
                      <a:pPr>
                        <a:buNone/>
                      </a:pPr>
                      <a:r>
                        <a:rPr lang="en-US" sz="1400" b="1"/>
                        <a:t>1. Hemostasis (Prevention of blood loss)</a:t>
                      </a:r>
                      <a:endParaRPr lang="en-US" sz="1400"/>
                    </a:p>
                  </a:txBody>
                  <a:tcPr marL="49153" marR="49153" marT="24576" marB="24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Platelets are the primary cells responsible for stopping bleeding when a blood vessel is injured.</a:t>
                      </a:r>
                    </a:p>
                  </a:txBody>
                  <a:tcPr marL="49153" marR="49153" marT="24576" marB="24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5934663"/>
                  </a:ext>
                </a:extLst>
              </a:tr>
              <a:tr h="535279">
                <a:tc>
                  <a:txBody>
                    <a:bodyPr/>
                    <a:lstStyle/>
                    <a:p>
                      <a:pPr>
                        <a:buNone/>
                      </a:pPr>
                      <a:r>
                        <a:rPr lang="en-IN" sz="1400" b="1"/>
                        <a:t>2. Platelet Plug Formation</a:t>
                      </a:r>
                      <a:endParaRPr lang="en-IN" sz="1400"/>
                    </a:p>
                  </a:txBody>
                  <a:tcPr marL="49153" marR="49153" marT="24576" marB="24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Platelets adhere to damaged vessel walls and aggregate to form a </a:t>
                      </a:r>
                      <a:r>
                        <a:rPr lang="en-US" sz="1400" b="1"/>
                        <a:t>temporary platelet plug</a:t>
                      </a:r>
                      <a:r>
                        <a:rPr lang="en-US" sz="1400"/>
                        <a:t> that seals the wound.</a:t>
                      </a:r>
                    </a:p>
                  </a:txBody>
                  <a:tcPr marL="49153" marR="49153" marT="24576" marB="24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3439157"/>
                  </a:ext>
                </a:extLst>
              </a:tr>
              <a:tr h="695862">
                <a:tc>
                  <a:txBody>
                    <a:bodyPr/>
                    <a:lstStyle/>
                    <a:p>
                      <a:pPr>
                        <a:buNone/>
                      </a:pPr>
                      <a:r>
                        <a:rPr lang="en-IN" sz="1400" b="1"/>
                        <a:t>3. Blood Clotting (Coagulation)</a:t>
                      </a:r>
                      <a:endParaRPr lang="en-IN" sz="1400"/>
                    </a:p>
                  </a:txBody>
                  <a:tcPr marL="49153" marR="49153" marT="24576" marB="24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Platelets release clotting factors and provide a surface for reactions that convert </a:t>
                      </a:r>
                      <a:r>
                        <a:rPr lang="en-US" sz="1400" b="1"/>
                        <a:t>fibrinogen → fibrin</a:t>
                      </a:r>
                      <a:r>
                        <a:rPr lang="en-US" sz="1400"/>
                        <a:t>, leading to a </a:t>
                      </a:r>
                      <a:r>
                        <a:rPr lang="en-US" sz="1400" b="1"/>
                        <a:t>stable blood clot</a:t>
                      </a:r>
                      <a:r>
                        <a:rPr lang="en-US" sz="1400"/>
                        <a:t>.</a:t>
                      </a:r>
                    </a:p>
                  </a:txBody>
                  <a:tcPr marL="49153" marR="49153" marT="24576" marB="24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2262368"/>
                  </a:ext>
                </a:extLst>
              </a:tr>
              <a:tr h="535279">
                <a:tc>
                  <a:txBody>
                    <a:bodyPr/>
                    <a:lstStyle/>
                    <a:p>
                      <a:pPr>
                        <a:buNone/>
                      </a:pPr>
                      <a:r>
                        <a:rPr lang="en-US" sz="1400" b="1"/>
                        <a:t>4. Release of Chemical Mediators</a:t>
                      </a:r>
                      <a:endParaRPr lang="en-US" sz="1400"/>
                    </a:p>
                  </a:txBody>
                  <a:tcPr marL="49153" marR="49153" marT="24576" marB="24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Dense granules release ADP, Ca²⁺ and serotonin which help in </a:t>
                      </a:r>
                      <a:r>
                        <a:rPr lang="en-US" sz="1400" b="1"/>
                        <a:t>platelet activation, aggregation and vasoconstriction</a:t>
                      </a:r>
                      <a:r>
                        <a:rPr lang="en-US" sz="1400"/>
                        <a:t>.</a:t>
                      </a:r>
                    </a:p>
                  </a:txBody>
                  <a:tcPr marL="49153" marR="49153" marT="24576" marB="24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4673060"/>
                  </a:ext>
                </a:extLst>
              </a:tr>
              <a:tr h="535279">
                <a:tc>
                  <a:txBody>
                    <a:bodyPr/>
                    <a:lstStyle/>
                    <a:p>
                      <a:pPr>
                        <a:buNone/>
                      </a:pPr>
                      <a:r>
                        <a:rPr lang="en-IN" sz="1400" b="1"/>
                        <a:t>5. Vasoconstriction</a:t>
                      </a:r>
                      <a:endParaRPr lang="en-IN" sz="1400"/>
                    </a:p>
                  </a:txBody>
                  <a:tcPr marL="49153" marR="49153" marT="24576" marB="24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Platelets release </a:t>
                      </a:r>
                      <a:r>
                        <a:rPr lang="en-US" sz="1400" b="1"/>
                        <a:t>serotonin</a:t>
                      </a:r>
                      <a:r>
                        <a:rPr lang="en-US" sz="1400"/>
                        <a:t>, causing constriction of blood vessels, reducing blood flow and minimizing blood loss.</a:t>
                      </a:r>
                    </a:p>
                  </a:txBody>
                  <a:tcPr marL="49153" marR="49153" marT="24576" marB="24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1479359"/>
                  </a:ext>
                </a:extLst>
              </a:tr>
              <a:tr h="695862">
                <a:tc>
                  <a:txBody>
                    <a:bodyPr/>
                    <a:lstStyle/>
                    <a:p>
                      <a:pPr>
                        <a:buNone/>
                      </a:pPr>
                      <a:r>
                        <a:rPr lang="en-US" sz="1400" b="1"/>
                        <a:t>6. Wound Healing and Tissue Repair</a:t>
                      </a:r>
                      <a:endParaRPr lang="en-US" sz="1400"/>
                    </a:p>
                  </a:txBody>
                  <a:tcPr marL="49153" marR="49153" marT="24576" marB="24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Platelets release </a:t>
                      </a:r>
                      <a:r>
                        <a:rPr lang="en-US" sz="1400" b="1"/>
                        <a:t>platelet-derived growth factor (PDGF)</a:t>
                      </a:r>
                      <a:r>
                        <a:rPr lang="en-US" sz="1400"/>
                        <a:t> which promotes growth of fibroblasts and smooth muscle cells to repair damaged tissue.</a:t>
                      </a:r>
                    </a:p>
                  </a:txBody>
                  <a:tcPr marL="49153" marR="49153" marT="24576" marB="24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6716520"/>
                  </a:ext>
                </a:extLst>
              </a:tr>
              <a:tr h="535279">
                <a:tc>
                  <a:txBody>
                    <a:bodyPr/>
                    <a:lstStyle/>
                    <a:p>
                      <a:pPr>
                        <a:buNone/>
                      </a:pPr>
                      <a:r>
                        <a:rPr lang="en-IN" sz="1400" b="1"/>
                        <a:t>7. Immune Role (Secondary)</a:t>
                      </a:r>
                      <a:endParaRPr lang="en-IN" sz="1400"/>
                    </a:p>
                  </a:txBody>
                  <a:tcPr marL="49153" marR="49153" marT="24576" marB="24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Platelets can trap and destroy microbes and support inflammatory responses through cytokine release.</a:t>
                      </a:r>
                    </a:p>
                  </a:txBody>
                  <a:tcPr marL="49153" marR="49153" marT="24576" marB="24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3442539"/>
                  </a:ext>
                </a:extLst>
              </a:tr>
            </a:tbl>
          </a:graphicData>
        </a:graphic>
      </p:graphicFrame>
    </p:spTree>
    <p:extLst>
      <p:ext uri="{BB962C8B-B14F-4D97-AF65-F5344CB8AC3E}">
        <p14:creationId xmlns:p14="http://schemas.microsoft.com/office/powerpoint/2010/main" val="20212446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0BEC3-79E0-35E4-299E-AC4ECEC9159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DA00ADE-971C-E6AD-5F63-3BDD85C6EC50}"/>
              </a:ext>
            </a:extLst>
          </p:cNvPr>
          <p:cNvPicPr>
            <a:picLocks noGrp="1" noChangeAspect="1"/>
          </p:cNvPicPr>
          <p:nvPr>
            <p:ph idx="1"/>
          </p:nvPr>
        </p:nvPicPr>
        <p:blipFill>
          <a:blip r:embed="rId2"/>
          <a:stretch>
            <a:fillRect/>
          </a:stretch>
        </p:blipFill>
        <p:spPr>
          <a:xfrm>
            <a:off x="2947555" y="642594"/>
            <a:ext cx="5874327" cy="5377337"/>
          </a:xfrm>
          <a:prstGeom prst="rect">
            <a:avLst/>
          </a:prstGeom>
        </p:spPr>
      </p:pic>
    </p:spTree>
    <p:extLst>
      <p:ext uri="{BB962C8B-B14F-4D97-AF65-F5344CB8AC3E}">
        <p14:creationId xmlns:p14="http://schemas.microsoft.com/office/powerpoint/2010/main" val="40584775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45B0-2825-7319-5F8F-866B9A2E3A51}"/>
              </a:ext>
            </a:extLst>
          </p:cNvPr>
          <p:cNvSpPr>
            <a:spLocks noGrp="1"/>
          </p:cNvSpPr>
          <p:nvPr>
            <p:ph type="title"/>
          </p:nvPr>
        </p:nvSpPr>
        <p:spPr>
          <a:xfrm>
            <a:off x="1066800" y="642593"/>
            <a:ext cx="3286991" cy="5010061"/>
          </a:xfrm>
        </p:spPr>
        <p:txBody>
          <a:bodyPr>
            <a:normAutofit/>
          </a:bodyPr>
          <a:lstStyle/>
          <a:p>
            <a:r>
              <a:rPr lang="en-US" sz="4000" dirty="0"/>
              <a:t>Clotting mechanism</a:t>
            </a:r>
            <a:endParaRPr lang="en-IN" sz="4000" dirty="0"/>
          </a:p>
        </p:txBody>
      </p:sp>
      <p:pic>
        <p:nvPicPr>
          <p:cNvPr id="5" name="Content Placeholder 4">
            <a:extLst>
              <a:ext uri="{FF2B5EF4-FFF2-40B4-BE49-F238E27FC236}">
                <a16:creationId xmlns:a16="http://schemas.microsoft.com/office/drawing/2014/main" id="{BEC0C398-A1A1-60CB-A98F-B0B9ACDD320B}"/>
              </a:ext>
            </a:extLst>
          </p:cNvPr>
          <p:cNvPicPr>
            <a:picLocks noGrp="1" noChangeAspect="1"/>
          </p:cNvPicPr>
          <p:nvPr>
            <p:ph idx="1"/>
          </p:nvPr>
        </p:nvPicPr>
        <p:blipFill>
          <a:blip r:embed="rId2"/>
          <a:stretch>
            <a:fillRect/>
          </a:stretch>
        </p:blipFill>
        <p:spPr>
          <a:xfrm>
            <a:off x="4683630" y="642594"/>
            <a:ext cx="6441570" cy="5393081"/>
          </a:xfrm>
          <a:prstGeom prst="rect">
            <a:avLst/>
          </a:prstGeom>
        </p:spPr>
      </p:pic>
    </p:spTree>
    <p:extLst>
      <p:ext uri="{BB962C8B-B14F-4D97-AF65-F5344CB8AC3E}">
        <p14:creationId xmlns:p14="http://schemas.microsoft.com/office/powerpoint/2010/main" val="26576058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86523-9642-1BDD-BA19-8BCBA167F90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C6151FB-88A3-3A18-EBFE-FBD2D81C7413}"/>
              </a:ext>
            </a:extLst>
          </p:cNvPr>
          <p:cNvPicPr>
            <a:picLocks noGrp="1" noChangeAspect="1"/>
          </p:cNvPicPr>
          <p:nvPr>
            <p:ph idx="1"/>
          </p:nvPr>
        </p:nvPicPr>
        <p:blipFill>
          <a:blip r:embed="rId2"/>
          <a:stretch>
            <a:fillRect/>
          </a:stretch>
        </p:blipFill>
        <p:spPr>
          <a:xfrm>
            <a:off x="2681972" y="642594"/>
            <a:ext cx="6828056" cy="5393081"/>
          </a:xfrm>
          <a:prstGeom prst="rect">
            <a:avLst/>
          </a:prstGeom>
        </p:spPr>
      </p:pic>
    </p:spTree>
    <p:extLst>
      <p:ext uri="{BB962C8B-B14F-4D97-AF65-F5344CB8AC3E}">
        <p14:creationId xmlns:p14="http://schemas.microsoft.com/office/powerpoint/2010/main" val="14502387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24C06-D7F1-9F3B-2EC7-747DC958AB4E}"/>
              </a:ext>
            </a:extLst>
          </p:cNvPr>
          <p:cNvSpPr>
            <a:spLocks noGrp="1"/>
          </p:cNvSpPr>
          <p:nvPr>
            <p:ph type="title"/>
          </p:nvPr>
        </p:nvSpPr>
        <p:spPr/>
        <p:txBody>
          <a:bodyPr/>
          <a:lstStyle/>
          <a:p>
            <a:r>
              <a:rPr lang="en-US" dirty="0"/>
              <a:t>Anticoagulant </a:t>
            </a:r>
            <a:endParaRPr lang="en-IN" dirty="0"/>
          </a:p>
        </p:txBody>
      </p:sp>
      <p:sp>
        <p:nvSpPr>
          <p:cNvPr id="3" name="Content Placeholder 2">
            <a:extLst>
              <a:ext uri="{FF2B5EF4-FFF2-40B4-BE49-F238E27FC236}">
                <a16:creationId xmlns:a16="http://schemas.microsoft.com/office/drawing/2014/main" id="{F89FD31F-7039-7ADC-EC54-5FD77702C733}"/>
              </a:ext>
            </a:extLst>
          </p:cNvPr>
          <p:cNvSpPr>
            <a:spLocks noGrp="1"/>
          </p:cNvSpPr>
          <p:nvPr>
            <p:ph idx="1"/>
          </p:nvPr>
        </p:nvSpPr>
        <p:spPr/>
        <p:txBody>
          <a:bodyPr/>
          <a:lstStyle/>
          <a:p>
            <a:r>
              <a:rPr lang="en-US" dirty="0"/>
              <a:t>Anticoagulants are </a:t>
            </a:r>
            <a:r>
              <a:rPr lang="en-US" b="1" dirty="0"/>
              <a:t>substances that prevent blood coagulation (clotting)</a:t>
            </a:r>
            <a:r>
              <a:rPr lang="en-US" dirty="0"/>
              <a:t> by </a:t>
            </a:r>
            <a:r>
              <a:rPr lang="en-US" b="1" dirty="0"/>
              <a:t>inhibiting the clotting factors</a:t>
            </a:r>
            <a:r>
              <a:rPr lang="en-US" dirty="0"/>
              <a:t> or </a:t>
            </a:r>
            <a:r>
              <a:rPr lang="en-US" b="1" dirty="0"/>
              <a:t>blocking platelet activities</a:t>
            </a:r>
            <a:r>
              <a:rPr lang="en-US" dirty="0"/>
              <a:t>.</a:t>
            </a:r>
          </a:p>
          <a:p>
            <a:r>
              <a:rPr lang="en-US" dirty="0"/>
              <a:t>They are also called </a:t>
            </a:r>
            <a:r>
              <a:rPr lang="en-US" b="1" dirty="0"/>
              <a:t>blood thinners</a:t>
            </a:r>
            <a:r>
              <a:rPr lang="en-US" dirty="0"/>
              <a:t>, although they do not really make blood thinner — they only </a:t>
            </a:r>
            <a:r>
              <a:rPr lang="en-US" b="1" dirty="0"/>
              <a:t>delay clot formation</a:t>
            </a:r>
            <a:r>
              <a:rPr lang="en-US" dirty="0"/>
              <a:t>.</a:t>
            </a:r>
          </a:p>
          <a:p>
            <a:pPr marL="0" indent="0">
              <a:buNone/>
            </a:pPr>
            <a:r>
              <a:rPr lang="en-US" b="1" dirty="0"/>
              <a:t>Mechanism of Action</a:t>
            </a:r>
          </a:p>
          <a:p>
            <a:r>
              <a:rPr lang="en-US" dirty="0"/>
              <a:t>Anticoagulants prevent clotting by:</a:t>
            </a:r>
          </a:p>
          <a:p>
            <a:r>
              <a:rPr lang="en-US" b="1" dirty="0"/>
              <a:t>Inhibiting clotting factors</a:t>
            </a:r>
            <a:endParaRPr lang="en-US" dirty="0"/>
          </a:p>
          <a:p>
            <a:r>
              <a:rPr lang="en-US" b="1" dirty="0"/>
              <a:t>Blocking calcium (Ca²⁺) required for clotting</a:t>
            </a:r>
            <a:endParaRPr lang="en-US" dirty="0"/>
          </a:p>
          <a:p>
            <a:r>
              <a:rPr lang="en-US" b="1" dirty="0"/>
              <a:t>Enhancing natural anticoagulants</a:t>
            </a:r>
            <a:endParaRPr lang="en-US" dirty="0"/>
          </a:p>
          <a:p>
            <a:r>
              <a:rPr lang="en-US" b="1" dirty="0"/>
              <a:t>Inhibiting platelet aggregation</a:t>
            </a:r>
            <a:endParaRPr lang="en-US" dirty="0"/>
          </a:p>
          <a:p>
            <a:endParaRPr lang="en-IN" dirty="0"/>
          </a:p>
        </p:txBody>
      </p:sp>
    </p:spTree>
    <p:extLst>
      <p:ext uri="{BB962C8B-B14F-4D97-AF65-F5344CB8AC3E}">
        <p14:creationId xmlns:p14="http://schemas.microsoft.com/office/powerpoint/2010/main" val="8135867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4E201-F714-71BE-CFC0-B2EF3BC0D980}"/>
              </a:ext>
            </a:extLst>
          </p:cNvPr>
          <p:cNvSpPr>
            <a:spLocks noGrp="1"/>
          </p:cNvSpPr>
          <p:nvPr>
            <p:ph type="title"/>
          </p:nvPr>
        </p:nvSpPr>
        <p:spPr/>
        <p:txBody>
          <a:bodyPr/>
          <a:lstStyle/>
          <a:p>
            <a:r>
              <a:rPr lang="en-US" dirty="0"/>
              <a:t>Applied aspects</a:t>
            </a:r>
            <a:endParaRPr lang="en-IN" dirty="0"/>
          </a:p>
        </p:txBody>
      </p:sp>
      <p:sp>
        <p:nvSpPr>
          <p:cNvPr id="3" name="Content Placeholder 2">
            <a:extLst>
              <a:ext uri="{FF2B5EF4-FFF2-40B4-BE49-F238E27FC236}">
                <a16:creationId xmlns:a16="http://schemas.microsoft.com/office/drawing/2014/main" id="{9EF8D3D0-9DC7-B85D-F3FD-3371064EF885}"/>
              </a:ext>
            </a:extLst>
          </p:cNvPr>
          <p:cNvSpPr>
            <a:spLocks noGrp="1"/>
          </p:cNvSpPr>
          <p:nvPr>
            <p:ph idx="1"/>
          </p:nvPr>
        </p:nvSpPr>
        <p:spPr>
          <a:xfrm>
            <a:off x="1066800" y="1787236"/>
            <a:ext cx="10058400" cy="4634346"/>
          </a:xfrm>
        </p:spPr>
        <p:txBody>
          <a:bodyPr>
            <a:normAutofit lnSpcReduction="10000"/>
          </a:bodyPr>
          <a:lstStyle/>
          <a:p>
            <a:pPr marL="0" indent="0">
              <a:buNone/>
            </a:pPr>
            <a:r>
              <a:rPr lang="en-IN" b="1" dirty="0"/>
              <a:t>1. Thrombocytopenia (Low Platelet Count)</a:t>
            </a:r>
          </a:p>
          <a:p>
            <a:r>
              <a:rPr lang="en-IN" dirty="0"/>
              <a:t>Platelet count </a:t>
            </a:r>
            <a:r>
              <a:rPr lang="en-IN" b="1" dirty="0"/>
              <a:t>&lt; 1.5 lakh/mm³</a:t>
            </a:r>
            <a:endParaRPr lang="en-IN" dirty="0"/>
          </a:p>
          <a:p>
            <a:r>
              <a:rPr lang="en-IN" dirty="0"/>
              <a:t>Causes → Bone marrow failure, viral infections (Dengue), chemotherapy, autoimmune disorders</a:t>
            </a:r>
          </a:p>
          <a:p>
            <a:r>
              <a:rPr lang="en-IN" dirty="0"/>
              <a:t>Features → </a:t>
            </a:r>
            <a:r>
              <a:rPr lang="en-IN" b="1" dirty="0"/>
              <a:t>Excessive bleeding, petechiae, bruises, nosebleeds, bleeding gums</a:t>
            </a:r>
            <a:endParaRPr lang="en-IN" dirty="0"/>
          </a:p>
          <a:p>
            <a:r>
              <a:rPr lang="en-IN" dirty="0"/>
              <a:t>Severe thrombocytopenia (&lt; 20,000/mm³) → </a:t>
            </a:r>
            <a:r>
              <a:rPr lang="en-IN" b="1" dirty="0"/>
              <a:t>high risk of internal bleeding</a:t>
            </a:r>
            <a:endParaRPr lang="en-IN" dirty="0"/>
          </a:p>
          <a:p>
            <a:pPr marL="0" indent="0">
              <a:buNone/>
            </a:pPr>
            <a:r>
              <a:rPr lang="en-IN" b="1" dirty="0"/>
              <a:t>2. Thrombocytosis (High Platelet Count)</a:t>
            </a:r>
          </a:p>
          <a:p>
            <a:r>
              <a:rPr lang="en-IN" dirty="0"/>
              <a:t>Platelet count </a:t>
            </a:r>
            <a:r>
              <a:rPr lang="en-IN" b="1" dirty="0"/>
              <a:t>&gt; 4.5 lakh/mm³</a:t>
            </a:r>
            <a:endParaRPr lang="en-IN" dirty="0"/>
          </a:p>
          <a:p>
            <a:r>
              <a:rPr lang="en-IN" dirty="0"/>
              <a:t>Causes → Chronic inflammation, infections, cancer, splenectomy</a:t>
            </a:r>
          </a:p>
          <a:p>
            <a:r>
              <a:rPr lang="en-IN" dirty="0"/>
              <a:t>Risk → </a:t>
            </a:r>
            <a:r>
              <a:rPr lang="en-IN" b="1" dirty="0"/>
              <a:t>Unwanted clot (thrombosis)</a:t>
            </a:r>
            <a:r>
              <a:rPr lang="en-IN" dirty="0"/>
              <a:t> which can lead to:</a:t>
            </a:r>
          </a:p>
          <a:p>
            <a:pPr lvl="1"/>
            <a:r>
              <a:rPr lang="en-IN" b="1" dirty="0"/>
              <a:t>Stroke</a:t>
            </a:r>
            <a:endParaRPr lang="en-IN" dirty="0"/>
          </a:p>
          <a:p>
            <a:pPr lvl="1"/>
            <a:r>
              <a:rPr lang="en-IN" b="1" dirty="0"/>
              <a:t>Heart attack</a:t>
            </a:r>
            <a:endParaRPr lang="en-IN" dirty="0"/>
          </a:p>
          <a:p>
            <a:pPr lvl="1"/>
            <a:r>
              <a:rPr lang="en-IN" b="1" dirty="0"/>
              <a:t>Deep vein thrombosis (DVT)</a:t>
            </a:r>
            <a:endParaRPr lang="en-IN" dirty="0"/>
          </a:p>
          <a:p>
            <a:endParaRPr lang="en-IN" dirty="0"/>
          </a:p>
        </p:txBody>
      </p:sp>
    </p:spTree>
    <p:extLst>
      <p:ext uri="{BB962C8B-B14F-4D97-AF65-F5344CB8AC3E}">
        <p14:creationId xmlns:p14="http://schemas.microsoft.com/office/powerpoint/2010/main" val="20847879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7D535-BF7D-774C-93A4-3E0FF5163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763D0D-E146-0C6D-A478-9DD14A453B13}"/>
              </a:ext>
            </a:extLst>
          </p:cNvPr>
          <p:cNvSpPr>
            <a:spLocks noGrp="1"/>
          </p:cNvSpPr>
          <p:nvPr>
            <p:ph type="title"/>
          </p:nvPr>
        </p:nvSpPr>
        <p:spPr/>
        <p:txBody>
          <a:bodyPr/>
          <a:lstStyle/>
          <a:p>
            <a:r>
              <a:rPr lang="en-US" dirty="0"/>
              <a:t>Applied aspects</a:t>
            </a:r>
            <a:endParaRPr lang="en-IN" dirty="0"/>
          </a:p>
        </p:txBody>
      </p:sp>
      <p:sp>
        <p:nvSpPr>
          <p:cNvPr id="3" name="Content Placeholder 2">
            <a:extLst>
              <a:ext uri="{FF2B5EF4-FFF2-40B4-BE49-F238E27FC236}">
                <a16:creationId xmlns:a16="http://schemas.microsoft.com/office/drawing/2014/main" id="{DDF4C59F-F949-5E7E-9303-1F7D465EB46F}"/>
              </a:ext>
            </a:extLst>
          </p:cNvPr>
          <p:cNvSpPr>
            <a:spLocks noGrp="1"/>
          </p:cNvSpPr>
          <p:nvPr>
            <p:ph idx="1"/>
          </p:nvPr>
        </p:nvSpPr>
        <p:spPr>
          <a:xfrm>
            <a:off x="1066800" y="1787236"/>
            <a:ext cx="10058400" cy="4634346"/>
          </a:xfrm>
        </p:spPr>
        <p:txBody>
          <a:bodyPr>
            <a:normAutofit/>
          </a:bodyPr>
          <a:lstStyle/>
          <a:p>
            <a:pPr marL="0" indent="0">
              <a:buNone/>
            </a:pPr>
            <a:r>
              <a:rPr lang="en-IN" b="1" dirty="0"/>
              <a:t>3. Platelet Dysfunction (Normal count but abnormal function)</a:t>
            </a:r>
          </a:p>
          <a:p>
            <a:r>
              <a:rPr lang="en-IN" dirty="0"/>
              <a:t>Seen in </a:t>
            </a:r>
            <a:r>
              <a:rPr lang="en-IN" b="1" dirty="0"/>
              <a:t>Aspirin therapy</a:t>
            </a:r>
            <a:r>
              <a:rPr lang="en-IN" dirty="0"/>
              <a:t>, kidney failure, hereditary disorders</a:t>
            </a:r>
          </a:p>
          <a:p>
            <a:r>
              <a:rPr lang="en-IN" dirty="0"/>
              <a:t>Platelets fail to aggregate → </a:t>
            </a:r>
            <a:r>
              <a:rPr lang="en-IN" b="1" dirty="0"/>
              <a:t>Bleeding tendency</a:t>
            </a:r>
            <a:endParaRPr lang="en-IN" dirty="0"/>
          </a:p>
          <a:p>
            <a:r>
              <a:rPr lang="en-IN" dirty="0"/>
              <a:t>Aspirin inhibits </a:t>
            </a:r>
            <a:r>
              <a:rPr lang="en-IN" b="1" dirty="0"/>
              <a:t>platelet aggregation</a:t>
            </a:r>
            <a:r>
              <a:rPr lang="en-IN" dirty="0"/>
              <a:t> by blocking </a:t>
            </a:r>
            <a:r>
              <a:rPr lang="en-IN" b="1" dirty="0"/>
              <a:t>Thromboxane A₂</a:t>
            </a:r>
            <a:r>
              <a:rPr lang="en-IN" dirty="0"/>
              <a:t> → used in preventing heart attacks and strokes</a:t>
            </a:r>
          </a:p>
          <a:p>
            <a:pPr marL="0" indent="0">
              <a:buNone/>
            </a:pPr>
            <a:r>
              <a:rPr lang="en-IN" b="1" dirty="0"/>
              <a:t>4. Platelet Transfusion</a:t>
            </a:r>
          </a:p>
          <a:p>
            <a:r>
              <a:rPr lang="en-IN" dirty="0"/>
              <a:t>Used in patients with:</a:t>
            </a:r>
          </a:p>
          <a:p>
            <a:pPr lvl="1"/>
            <a:r>
              <a:rPr lang="en-IN" dirty="0"/>
              <a:t>Severe thrombocytopenia</a:t>
            </a:r>
          </a:p>
          <a:p>
            <a:pPr lvl="1"/>
            <a:r>
              <a:rPr lang="en-IN" dirty="0"/>
              <a:t>Bone marrow suppression</a:t>
            </a:r>
          </a:p>
          <a:p>
            <a:pPr lvl="1"/>
            <a:r>
              <a:rPr lang="en-IN" dirty="0"/>
              <a:t>Dengue </a:t>
            </a:r>
            <a:r>
              <a:rPr lang="en-IN" dirty="0" err="1"/>
              <a:t>hemorrhagic</a:t>
            </a:r>
            <a:r>
              <a:rPr lang="en-IN" dirty="0"/>
              <a:t> fever</a:t>
            </a:r>
          </a:p>
          <a:p>
            <a:pPr lvl="1"/>
            <a:r>
              <a:rPr lang="en-IN" dirty="0"/>
              <a:t>Major surgery or trauma with active bleeding</a:t>
            </a:r>
          </a:p>
          <a:p>
            <a:r>
              <a:rPr lang="en-IN" dirty="0"/>
              <a:t>Helps </a:t>
            </a:r>
            <a:r>
              <a:rPr lang="en-IN" b="1" dirty="0"/>
              <a:t>prevent bleeding</a:t>
            </a:r>
            <a:r>
              <a:rPr lang="en-IN" dirty="0"/>
              <a:t> by raising platelet numbers quickly</a:t>
            </a:r>
          </a:p>
        </p:txBody>
      </p:sp>
    </p:spTree>
    <p:extLst>
      <p:ext uri="{BB962C8B-B14F-4D97-AF65-F5344CB8AC3E}">
        <p14:creationId xmlns:p14="http://schemas.microsoft.com/office/powerpoint/2010/main" val="33300172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00325-FAF8-6434-0180-0C8656F0F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E69A57-52CC-8A44-A9B0-1A612916150C}"/>
              </a:ext>
            </a:extLst>
          </p:cNvPr>
          <p:cNvSpPr>
            <a:spLocks noGrp="1"/>
          </p:cNvSpPr>
          <p:nvPr>
            <p:ph type="title"/>
          </p:nvPr>
        </p:nvSpPr>
        <p:spPr/>
        <p:txBody>
          <a:bodyPr/>
          <a:lstStyle/>
          <a:p>
            <a:r>
              <a:rPr lang="en-US" dirty="0"/>
              <a:t>Applied aspects</a:t>
            </a:r>
            <a:endParaRPr lang="en-IN" dirty="0"/>
          </a:p>
        </p:txBody>
      </p:sp>
      <p:sp>
        <p:nvSpPr>
          <p:cNvPr id="3" name="Content Placeholder 2">
            <a:extLst>
              <a:ext uri="{FF2B5EF4-FFF2-40B4-BE49-F238E27FC236}">
                <a16:creationId xmlns:a16="http://schemas.microsoft.com/office/drawing/2014/main" id="{484EFE94-1534-AB31-D7B0-122DAFF05138}"/>
              </a:ext>
            </a:extLst>
          </p:cNvPr>
          <p:cNvSpPr>
            <a:spLocks noGrp="1"/>
          </p:cNvSpPr>
          <p:nvPr>
            <p:ph idx="1"/>
          </p:nvPr>
        </p:nvSpPr>
        <p:spPr>
          <a:xfrm>
            <a:off x="1066800" y="1787236"/>
            <a:ext cx="10058400" cy="4634346"/>
          </a:xfrm>
        </p:spPr>
        <p:txBody>
          <a:bodyPr>
            <a:normAutofit/>
          </a:bodyPr>
          <a:lstStyle/>
          <a:p>
            <a:pPr marL="0" indent="0">
              <a:buNone/>
            </a:pPr>
            <a:r>
              <a:rPr lang="en-IN" b="1" dirty="0"/>
              <a:t>5. Role in Cardiovascular Diseases</a:t>
            </a:r>
          </a:p>
          <a:p>
            <a:r>
              <a:rPr lang="en-IN" dirty="0"/>
              <a:t>Excess platelet activation → blood clot formation → </a:t>
            </a:r>
            <a:r>
              <a:rPr lang="en-IN" b="1" dirty="0"/>
              <a:t>coronary artery blockage</a:t>
            </a:r>
            <a:endParaRPr lang="en-IN" dirty="0"/>
          </a:p>
          <a:p>
            <a:r>
              <a:rPr lang="en-IN" dirty="0"/>
              <a:t>Drugs used to prevent platelet clots:</a:t>
            </a:r>
          </a:p>
          <a:p>
            <a:pPr lvl="1"/>
            <a:r>
              <a:rPr lang="en-IN" b="1" dirty="0"/>
              <a:t>Aspirin</a:t>
            </a:r>
            <a:endParaRPr lang="en-IN" dirty="0"/>
          </a:p>
          <a:p>
            <a:pPr lvl="1"/>
            <a:r>
              <a:rPr lang="en-IN" b="1" dirty="0"/>
              <a:t>Clopidogrel</a:t>
            </a:r>
            <a:endParaRPr lang="en-IN" dirty="0"/>
          </a:p>
          <a:p>
            <a:pPr lvl="1"/>
            <a:r>
              <a:rPr lang="en-IN" b="1" dirty="0"/>
              <a:t>Ticagrelor</a:t>
            </a:r>
            <a:endParaRPr lang="en-IN" dirty="0"/>
          </a:p>
          <a:p>
            <a:r>
              <a:rPr lang="en-IN" dirty="0"/>
              <a:t>These are called </a:t>
            </a:r>
            <a:r>
              <a:rPr lang="en-IN" b="1" dirty="0"/>
              <a:t>antiplatelet drugs</a:t>
            </a:r>
          </a:p>
          <a:p>
            <a:pPr marL="0" indent="0">
              <a:buNone/>
            </a:pPr>
            <a:r>
              <a:rPr lang="en-US" b="1" dirty="0"/>
              <a:t>6. Platelet Storage</a:t>
            </a:r>
          </a:p>
          <a:p>
            <a:r>
              <a:rPr lang="en-US" dirty="0"/>
              <a:t>Stored at </a:t>
            </a:r>
            <a:r>
              <a:rPr lang="en-US" b="1" dirty="0"/>
              <a:t>22°C (room temperature) with continuous shaking</a:t>
            </a:r>
            <a:endParaRPr lang="en-US" dirty="0"/>
          </a:p>
          <a:p>
            <a:r>
              <a:rPr lang="en-US" dirty="0"/>
              <a:t>Shelf-life: </a:t>
            </a:r>
            <a:r>
              <a:rPr lang="en-US" b="1" dirty="0"/>
              <a:t>5–7 days</a:t>
            </a:r>
            <a:endParaRPr lang="en-US" dirty="0"/>
          </a:p>
          <a:p>
            <a:r>
              <a:rPr lang="en-US" dirty="0"/>
              <a:t>Widely used in </a:t>
            </a:r>
            <a:r>
              <a:rPr lang="en-US" b="1" dirty="0"/>
              <a:t>blood banks</a:t>
            </a:r>
            <a:r>
              <a:rPr lang="en-US" dirty="0"/>
              <a:t> and </a:t>
            </a:r>
            <a:r>
              <a:rPr lang="en-US" b="1" dirty="0"/>
              <a:t>oncology patients</a:t>
            </a:r>
            <a:endParaRPr lang="en-US" dirty="0"/>
          </a:p>
          <a:p>
            <a:endParaRPr lang="en-IN" dirty="0"/>
          </a:p>
        </p:txBody>
      </p:sp>
    </p:spTree>
    <p:extLst>
      <p:ext uri="{BB962C8B-B14F-4D97-AF65-F5344CB8AC3E}">
        <p14:creationId xmlns:p14="http://schemas.microsoft.com/office/powerpoint/2010/main" val="8833825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DB39F-9E01-9526-8BA8-74B4C77D8D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19451-87A3-EF07-C40E-A6ABB9DB7DF1}"/>
              </a:ext>
            </a:extLst>
          </p:cNvPr>
          <p:cNvSpPr>
            <a:spLocks noGrp="1"/>
          </p:cNvSpPr>
          <p:nvPr>
            <p:ph type="ctrTitle"/>
          </p:nvPr>
        </p:nvSpPr>
        <p:spPr/>
        <p:txBody>
          <a:bodyPr/>
          <a:lstStyle/>
          <a:p>
            <a:r>
              <a:rPr lang="en-US" dirty="0"/>
              <a:t>Unit 5</a:t>
            </a:r>
            <a:endParaRPr lang="en-IN" dirty="0"/>
          </a:p>
        </p:txBody>
      </p:sp>
      <p:sp>
        <p:nvSpPr>
          <p:cNvPr id="3" name="Subtitle 2">
            <a:extLst>
              <a:ext uri="{FF2B5EF4-FFF2-40B4-BE49-F238E27FC236}">
                <a16:creationId xmlns:a16="http://schemas.microsoft.com/office/drawing/2014/main" id="{AB931377-DB78-A620-0610-BD33997E8BC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184895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E1BE3-6319-E961-3D18-03911A312374}"/>
              </a:ext>
            </a:extLst>
          </p:cNvPr>
          <p:cNvSpPr>
            <a:spLocks noGrp="1"/>
          </p:cNvSpPr>
          <p:nvPr>
            <p:ph type="title"/>
          </p:nvPr>
        </p:nvSpPr>
        <p:spPr/>
        <p:txBody>
          <a:bodyPr>
            <a:normAutofit fontScale="90000"/>
          </a:bodyPr>
          <a:lstStyle/>
          <a:p>
            <a:r>
              <a:rPr lang="en-US" dirty="0"/>
              <a:t>Blood banking and transfusion reactions</a:t>
            </a:r>
            <a:endParaRPr lang="en-IN" dirty="0"/>
          </a:p>
        </p:txBody>
      </p:sp>
      <p:sp>
        <p:nvSpPr>
          <p:cNvPr id="3" name="Content Placeholder 2">
            <a:extLst>
              <a:ext uri="{FF2B5EF4-FFF2-40B4-BE49-F238E27FC236}">
                <a16:creationId xmlns:a16="http://schemas.microsoft.com/office/drawing/2014/main" id="{E6F41CE0-E996-6762-C5A3-832AEED0482F}"/>
              </a:ext>
            </a:extLst>
          </p:cNvPr>
          <p:cNvSpPr>
            <a:spLocks noGrp="1"/>
          </p:cNvSpPr>
          <p:nvPr>
            <p:ph idx="1"/>
          </p:nvPr>
        </p:nvSpPr>
        <p:spPr/>
        <p:txBody>
          <a:bodyPr/>
          <a:lstStyle/>
          <a:p>
            <a:pPr marL="0" indent="0">
              <a:buNone/>
            </a:pPr>
            <a:r>
              <a:rPr lang="en-US" dirty="0"/>
              <a:t>A knowledge about blood group systems is essential for the following:</a:t>
            </a:r>
          </a:p>
          <a:p>
            <a:r>
              <a:rPr lang="en-US" dirty="0"/>
              <a:t> in blood transfusions; </a:t>
            </a:r>
          </a:p>
          <a:p>
            <a:r>
              <a:rPr lang="en-US" dirty="0"/>
              <a:t>tissue matching in organ transplantation;</a:t>
            </a:r>
          </a:p>
          <a:p>
            <a:r>
              <a:rPr lang="en-US" dirty="0"/>
              <a:t>resolving paternity disputes; prevention of Rh incompatibility;</a:t>
            </a:r>
          </a:p>
          <a:p>
            <a:r>
              <a:rPr lang="en-US" dirty="0"/>
              <a:t>identification of criminals in forensic medicine and research</a:t>
            </a:r>
            <a:endParaRPr lang="en-IN" dirty="0"/>
          </a:p>
        </p:txBody>
      </p:sp>
    </p:spTree>
    <p:extLst>
      <p:ext uri="{BB962C8B-B14F-4D97-AF65-F5344CB8AC3E}">
        <p14:creationId xmlns:p14="http://schemas.microsoft.com/office/powerpoint/2010/main" val="27910049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41BA3-151E-6443-5EA1-0071B9AD0209}"/>
              </a:ext>
            </a:extLst>
          </p:cNvPr>
          <p:cNvSpPr>
            <a:spLocks noGrp="1"/>
          </p:cNvSpPr>
          <p:nvPr>
            <p:ph type="title"/>
          </p:nvPr>
        </p:nvSpPr>
        <p:spPr/>
        <p:txBody>
          <a:bodyPr/>
          <a:lstStyle/>
          <a:p>
            <a:r>
              <a:rPr lang="en-US" dirty="0"/>
              <a:t>Blood group system</a:t>
            </a:r>
            <a:endParaRPr lang="en-IN" dirty="0"/>
          </a:p>
        </p:txBody>
      </p:sp>
      <p:sp>
        <p:nvSpPr>
          <p:cNvPr id="3" name="Content Placeholder 2">
            <a:extLst>
              <a:ext uri="{FF2B5EF4-FFF2-40B4-BE49-F238E27FC236}">
                <a16:creationId xmlns:a16="http://schemas.microsoft.com/office/drawing/2014/main" id="{8728BE99-59D2-3926-AAE5-154C459B7A9F}"/>
              </a:ext>
            </a:extLst>
          </p:cNvPr>
          <p:cNvSpPr>
            <a:spLocks noGrp="1"/>
          </p:cNvSpPr>
          <p:nvPr>
            <p:ph idx="1"/>
          </p:nvPr>
        </p:nvSpPr>
        <p:spPr/>
        <p:txBody>
          <a:bodyPr/>
          <a:lstStyle/>
          <a:p>
            <a:r>
              <a:rPr lang="en-US" dirty="0"/>
              <a:t>Blood group systems are </a:t>
            </a:r>
            <a:r>
              <a:rPr lang="en-US" b="1" dirty="0"/>
              <a:t>classifications of blood based on specific antigens present on the surface of red blood cells (RBCs)</a:t>
            </a:r>
            <a:r>
              <a:rPr lang="en-US" dirty="0"/>
              <a:t>.</a:t>
            </a:r>
            <a:br>
              <a:rPr lang="en-US" dirty="0"/>
            </a:br>
            <a:r>
              <a:rPr lang="en-US" dirty="0"/>
              <a:t>These antigens determine </a:t>
            </a:r>
            <a:r>
              <a:rPr lang="en-US" b="1" dirty="0"/>
              <a:t>compatibility for blood transfusion</a:t>
            </a:r>
            <a:r>
              <a:rPr lang="en-US" dirty="0"/>
              <a:t> and </a:t>
            </a:r>
            <a:r>
              <a:rPr lang="en-US" b="1" dirty="0"/>
              <a:t>immune reactions</a:t>
            </a:r>
            <a:r>
              <a:rPr lang="en-US" dirty="0"/>
              <a:t>.</a:t>
            </a:r>
          </a:p>
          <a:p>
            <a:r>
              <a:rPr lang="en-US" dirty="0"/>
              <a:t>There are more than </a:t>
            </a:r>
            <a:r>
              <a:rPr lang="en-US" b="1" dirty="0"/>
              <a:t>30 blood group systems</a:t>
            </a:r>
            <a:endParaRPr lang="en-US" dirty="0"/>
          </a:p>
          <a:p>
            <a:endParaRPr lang="en-IN" dirty="0"/>
          </a:p>
        </p:txBody>
      </p:sp>
    </p:spTree>
    <p:extLst>
      <p:ext uri="{BB962C8B-B14F-4D97-AF65-F5344CB8AC3E}">
        <p14:creationId xmlns:p14="http://schemas.microsoft.com/office/powerpoint/2010/main" val="14643386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4EDBE-0BE7-A495-7986-6C228C76FEBB}"/>
              </a:ext>
            </a:extLst>
          </p:cNvPr>
          <p:cNvSpPr>
            <a:spLocks noGrp="1"/>
          </p:cNvSpPr>
          <p:nvPr>
            <p:ph type="title"/>
          </p:nvPr>
        </p:nvSpPr>
        <p:spPr>
          <a:xfrm>
            <a:off x="973283" y="1660904"/>
            <a:ext cx="10058400" cy="1371600"/>
          </a:xfrm>
        </p:spPr>
        <p:txBody>
          <a:bodyPr>
            <a:normAutofit fontScale="90000"/>
          </a:bodyPr>
          <a:lstStyle/>
          <a:p>
            <a:r>
              <a:rPr lang="en-US" sz="3600" b="1" dirty="0"/>
              <a:t>1. ABO Blood Group System</a:t>
            </a:r>
            <a:br>
              <a:rPr lang="en-US" sz="3600" b="1" dirty="0"/>
            </a:br>
            <a:r>
              <a:rPr lang="en-US" sz="3600" dirty="0"/>
              <a:t>This system was discovered by </a:t>
            </a:r>
            <a:r>
              <a:rPr lang="en-US" sz="3600" b="1" dirty="0"/>
              <a:t>Karl Landsteiner</a:t>
            </a:r>
            <a:r>
              <a:rPr lang="en-US" sz="3600" dirty="0"/>
              <a:t>.</a:t>
            </a:r>
            <a:br>
              <a:rPr lang="en-US" sz="3600" dirty="0"/>
            </a:br>
            <a:r>
              <a:rPr lang="en-IN" sz="2700" b="1" dirty="0"/>
              <a:t>Transfusion Importance (Universal)</a:t>
            </a:r>
            <a:br>
              <a:rPr lang="en-IN" sz="2700" b="1" dirty="0"/>
            </a:br>
            <a:r>
              <a:rPr lang="en-IN" sz="2700" b="1" dirty="0"/>
              <a:t>O negative → Universal donor</a:t>
            </a:r>
            <a:br>
              <a:rPr lang="en-IN" sz="2700" dirty="0"/>
            </a:br>
            <a:r>
              <a:rPr lang="en-IN" sz="2700" b="1" dirty="0"/>
              <a:t>AB positive → Universal recipient</a:t>
            </a:r>
            <a:br>
              <a:rPr lang="en-IN" dirty="0"/>
            </a:br>
            <a:endParaRPr lang="en-IN" dirty="0"/>
          </a:p>
        </p:txBody>
      </p:sp>
      <p:graphicFrame>
        <p:nvGraphicFramePr>
          <p:cNvPr id="4" name="Content Placeholder 3">
            <a:extLst>
              <a:ext uri="{FF2B5EF4-FFF2-40B4-BE49-F238E27FC236}">
                <a16:creationId xmlns:a16="http://schemas.microsoft.com/office/drawing/2014/main" id="{DE2D5990-DE86-7AFC-D527-9244BB691093}"/>
              </a:ext>
            </a:extLst>
          </p:cNvPr>
          <p:cNvGraphicFramePr>
            <a:graphicFrameLocks noGrp="1"/>
          </p:cNvGraphicFramePr>
          <p:nvPr>
            <p:ph idx="1"/>
            <p:extLst>
              <p:ext uri="{D42A27DB-BD31-4B8C-83A1-F6EECF244321}">
                <p14:modId xmlns:p14="http://schemas.microsoft.com/office/powerpoint/2010/main" val="2654199375"/>
              </p:ext>
            </p:extLst>
          </p:nvPr>
        </p:nvGraphicFramePr>
        <p:xfrm>
          <a:off x="973283" y="4048774"/>
          <a:ext cx="10058400" cy="1828800"/>
        </p:xfrm>
        <a:graphic>
          <a:graphicData uri="http://schemas.openxmlformats.org/drawingml/2006/table">
            <a:tbl>
              <a:tblPr/>
              <a:tblGrid>
                <a:gridCol w="3352800">
                  <a:extLst>
                    <a:ext uri="{9D8B030D-6E8A-4147-A177-3AD203B41FA5}">
                      <a16:colId xmlns:a16="http://schemas.microsoft.com/office/drawing/2014/main" val="1198163867"/>
                    </a:ext>
                  </a:extLst>
                </a:gridCol>
                <a:gridCol w="3352800">
                  <a:extLst>
                    <a:ext uri="{9D8B030D-6E8A-4147-A177-3AD203B41FA5}">
                      <a16:colId xmlns:a16="http://schemas.microsoft.com/office/drawing/2014/main" val="108386745"/>
                    </a:ext>
                  </a:extLst>
                </a:gridCol>
                <a:gridCol w="3352800">
                  <a:extLst>
                    <a:ext uri="{9D8B030D-6E8A-4147-A177-3AD203B41FA5}">
                      <a16:colId xmlns:a16="http://schemas.microsoft.com/office/drawing/2014/main" val="251304893"/>
                    </a:ext>
                  </a:extLst>
                </a:gridCol>
              </a:tblGrid>
              <a:tr h="0">
                <a:tc>
                  <a:txBody>
                    <a:bodyPr/>
                    <a:lstStyle/>
                    <a:p>
                      <a:pPr>
                        <a:buNone/>
                      </a:pPr>
                      <a:r>
                        <a:rPr lang="en-IN"/>
                        <a:t>Blood Group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RBC Surface Antigen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Plasma Antibody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7847997"/>
                  </a:ext>
                </a:extLst>
              </a:tr>
              <a:tr h="0">
                <a:tc>
                  <a:txBody>
                    <a:bodyPr/>
                    <a:lstStyle/>
                    <a:p>
                      <a:pPr>
                        <a:buNone/>
                      </a:pPr>
                      <a:r>
                        <a:rPr lang="en-IN" b="1"/>
                        <a:t>A</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Antigen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Anti-B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0665224"/>
                  </a:ext>
                </a:extLst>
              </a:tr>
              <a:tr h="0">
                <a:tc>
                  <a:txBody>
                    <a:bodyPr/>
                    <a:lstStyle/>
                    <a:p>
                      <a:pPr>
                        <a:buNone/>
                      </a:pPr>
                      <a:r>
                        <a:rPr lang="en-IN" b="1"/>
                        <a:t>B</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Antigen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Anti-A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6919361"/>
                  </a:ext>
                </a:extLst>
              </a:tr>
              <a:tr h="0">
                <a:tc>
                  <a:txBody>
                    <a:bodyPr/>
                    <a:lstStyle/>
                    <a:p>
                      <a:pPr>
                        <a:buNone/>
                      </a:pPr>
                      <a:r>
                        <a:rPr lang="en-IN" b="1"/>
                        <a:t>AB</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Antigen A +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None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452866"/>
                  </a:ext>
                </a:extLst>
              </a:tr>
              <a:tr h="0">
                <a:tc>
                  <a:txBody>
                    <a:bodyPr/>
                    <a:lstStyle/>
                    <a:p>
                      <a:pPr>
                        <a:buNone/>
                      </a:pPr>
                      <a:r>
                        <a:rPr lang="en-IN" b="1"/>
                        <a:t>O</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Anti-A + Anti-B</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7304089"/>
                  </a:ext>
                </a:extLst>
              </a:tr>
            </a:tbl>
          </a:graphicData>
        </a:graphic>
      </p:graphicFrame>
    </p:spTree>
    <p:extLst>
      <p:ext uri="{BB962C8B-B14F-4D97-AF65-F5344CB8AC3E}">
        <p14:creationId xmlns:p14="http://schemas.microsoft.com/office/powerpoint/2010/main" val="27647024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ED4E5-4DC1-C55C-B66F-561FAE6319D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0B49606-CCD3-15EF-3F17-03DC035B25B8}"/>
              </a:ext>
            </a:extLst>
          </p:cNvPr>
          <p:cNvPicPr>
            <a:picLocks noGrp="1" noChangeAspect="1"/>
          </p:cNvPicPr>
          <p:nvPr>
            <p:ph idx="1"/>
          </p:nvPr>
        </p:nvPicPr>
        <p:blipFill>
          <a:blip r:embed="rId2"/>
          <a:stretch>
            <a:fillRect/>
          </a:stretch>
        </p:blipFill>
        <p:spPr>
          <a:xfrm>
            <a:off x="529265" y="642594"/>
            <a:ext cx="11144575" cy="5473726"/>
          </a:xfrm>
          <a:prstGeom prst="rect">
            <a:avLst/>
          </a:prstGeom>
        </p:spPr>
      </p:pic>
    </p:spTree>
    <p:extLst>
      <p:ext uri="{BB962C8B-B14F-4D97-AF65-F5344CB8AC3E}">
        <p14:creationId xmlns:p14="http://schemas.microsoft.com/office/powerpoint/2010/main" val="18581956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704AD-5BC0-0A50-C18C-F653A5A6F157}"/>
              </a:ext>
            </a:extLst>
          </p:cNvPr>
          <p:cNvSpPr>
            <a:spLocks noGrp="1"/>
          </p:cNvSpPr>
          <p:nvPr>
            <p:ph type="title"/>
          </p:nvPr>
        </p:nvSpPr>
        <p:spPr>
          <a:xfrm>
            <a:off x="1066800" y="1191234"/>
            <a:ext cx="10058400" cy="1371600"/>
          </a:xfrm>
        </p:spPr>
        <p:txBody>
          <a:bodyPr>
            <a:normAutofit fontScale="90000"/>
          </a:bodyPr>
          <a:lstStyle/>
          <a:p>
            <a:br>
              <a:rPr lang="en-IN" dirty="0"/>
            </a:br>
            <a:br>
              <a:rPr lang="en-US" dirty="0"/>
            </a:br>
            <a:r>
              <a:rPr lang="en-US" sz="3100" b="1" dirty="0"/>
              <a:t>2. Rh Blood Group System</a:t>
            </a:r>
            <a:br>
              <a:rPr lang="en-US" sz="3100" b="1" dirty="0"/>
            </a:br>
            <a:r>
              <a:rPr lang="en-US" sz="3100" dirty="0"/>
              <a:t>Based on the presence of </a:t>
            </a:r>
            <a:r>
              <a:rPr lang="en-US" sz="3100" b="1" dirty="0"/>
              <a:t>Rh antigen (D antigen) on RBCs</a:t>
            </a:r>
            <a:r>
              <a:rPr lang="en-US" sz="3100" dirty="0"/>
              <a:t>:</a:t>
            </a:r>
            <a:br>
              <a:rPr lang="en-US" sz="3100" dirty="0"/>
            </a:br>
            <a:r>
              <a:rPr lang="en-IN" sz="3100" b="1" dirty="0"/>
              <a:t>Clinical Importance</a:t>
            </a:r>
            <a:br>
              <a:rPr lang="en-IN" sz="3100" b="1" dirty="0"/>
            </a:br>
            <a:r>
              <a:rPr lang="en-IN" sz="3100" dirty="0"/>
              <a:t>Rh⁻ person receiving Rh⁺ blood → forms </a:t>
            </a:r>
            <a:r>
              <a:rPr lang="en-IN" sz="3100" b="1" dirty="0"/>
              <a:t>anti-D antibodies</a:t>
            </a:r>
            <a:br>
              <a:rPr lang="en-IN" sz="3100" dirty="0"/>
            </a:br>
            <a:r>
              <a:rPr lang="en-IN" sz="3100" dirty="0"/>
              <a:t>In pregnancy, </a:t>
            </a:r>
            <a:r>
              <a:rPr lang="en-IN" sz="3100" b="1" dirty="0"/>
              <a:t>Rh incompatibility</a:t>
            </a:r>
            <a:r>
              <a:rPr lang="en-IN" sz="3100" dirty="0"/>
              <a:t> can cause </a:t>
            </a:r>
            <a:r>
              <a:rPr lang="en-IN" sz="3100" b="1" dirty="0"/>
              <a:t>Erythroblastosis fetalis</a:t>
            </a:r>
            <a:r>
              <a:rPr lang="en-IN" sz="3100" dirty="0"/>
              <a:t> (</a:t>
            </a:r>
            <a:r>
              <a:rPr lang="en-IN" sz="3100" dirty="0" err="1"/>
              <a:t>hemolytic</a:t>
            </a:r>
            <a:r>
              <a:rPr lang="en-IN" sz="3100" dirty="0"/>
              <a:t> disease of newborn)</a:t>
            </a:r>
          </a:p>
        </p:txBody>
      </p:sp>
      <p:graphicFrame>
        <p:nvGraphicFramePr>
          <p:cNvPr id="4" name="Content Placeholder 3">
            <a:extLst>
              <a:ext uri="{FF2B5EF4-FFF2-40B4-BE49-F238E27FC236}">
                <a16:creationId xmlns:a16="http://schemas.microsoft.com/office/drawing/2014/main" id="{3EADDFEF-3E64-3219-CEF4-E43397B80FA2}"/>
              </a:ext>
            </a:extLst>
          </p:cNvPr>
          <p:cNvGraphicFramePr>
            <a:graphicFrameLocks noGrp="1"/>
          </p:cNvGraphicFramePr>
          <p:nvPr>
            <p:ph idx="1"/>
            <p:extLst>
              <p:ext uri="{D42A27DB-BD31-4B8C-83A1-F6EECF244321}">
                <p14:modId xmlns:p14="http://schemas.microsoft.com/office/powerpoint/2010/main" val="1503151543"/>
              </p:ext>
            </p:extLst>
          </p:nvPr>
        </p:nvGraphicFramePr>
        <p:xfrm>
          <a:off x="1066800" y="4843807"/>
          <a:ext cx="10058400" cy="1097280"/>
        </p:xfrm>
        <a:graphic>
          <a:graphicData uri="http://schemas.openxmlformats.org/drawingml/2006/table">
            <a:tbl>
              <a:tblPr/>
              <a:tblGrid>
                <a:gridCol w="5029200">
                  <a:extLst>
                    <a:ext uri="{9D8B030D-6E8A-4147-A177-3AD203B41FA5}">
                      <a16:colId xmlns:a16="http://schemas.microsoft.com/office/drawing/2014/main" val="4065538161"/>
                    </a:ext>
                  </a:extLst>
                </a:gridCol>
                <a:gridCol w="5029200">
                  <a:extLst>
                    <a:ext uri="{9D8B030D-6E8A-4147-A177-3AD203B41FA5}">
                      <a16:colId xmlns:a16="http://schemas.microsoft.com/office/drawing/2014/main" val="4135221630"/>
                    </a:ext>
                  </a:extLst>
                </a:gridCol>
              </a:tblGrid>
              <a:tr h="0">
                <a:tc>
                  <a:txBody>
                    <a:bodyPr/>
                    <a:lstStyle/>
                    <a:p>
                      <a:pPr>
                        <a:buNone/>
                      </a:pPr>
                      <a:r>
                        <a:rPr lang="en-IN"/>
                        <a:t>Rh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911937"/>
                  </a:ext>
                </a:extLst>
              </a:tr>
              <a:tr h="0">
                <a:tc>
                  <a:txBody>
                    <a:bodyPr/>
                    <a:lstStyle/>
                    <a:p>
                      <a:pPr>
                        <a:buNone/>
                      </a:pPr>
                      <a:r>
                        <a:rPr lang="en-IN" b="1"/>
                        <a:t>Rh positive (Rh⁺)</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 antigen present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9570745"/>
                  </a:ext>
                </a:extLst>
              </a:tr>
              <a:tr h="0">
                <a:tc>
                  <a:txBody>
                    <a:bodyPr/>
                    <a:lstStyle/>
                    <a:p>
                      <a:pPr>
                        <a:buNone/>
                      </a:pPr>
                      <a:r>
                        <a:rPr lang="en-IN" b="1"/>
                        <a:t>Rh negative (Rh⁻)</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D antigen absent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8460316"/>
                  </a:ext>
                </a:extLst>
              </a:tr>
            </a:tbl>
          </a:graphicData>
        </a:graphic>
      </p:graphicFrame>
    </p:spTree>
    <p:extLst>
      <p:ext uri="{BB962C8B-B14F-4D97-AF65-F5344CB8AC3E}">
        <p14:creationId xmlns:p14="http://schemas.microsoft.com/office/powerpoint/2010/main" val="7013554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7FF9E-3144-3705-FB0D-3194C51B2DA0}"/>
              </a:ext>
            </a:extLst>
          </p:cNvPr>
          <p:cNvSpPr>
            <a:spLocks noGrp="1"/>
          </p:cNvSpPr>
          <p:nvPr>
            <p:ph type="title"/>
          </p:nvPr>
        </p:nvSpPr>
        <p:spPr/>
        <p:txBody>
          <a:bodyPr/>
          <a:lstStyle/>
          <a:p>
            <a:r>
              <a:rPr lang="en-US" dirty="0"/>
              <a:t>Landsteiner’s law</a:t>
            </a:r>
            <a:endParaRPr lang="en-IN" dirty="0"/>
          </a:p>
        </p:txBody>
      </p:sp>
      <p:sp>
        <p:nvSpPr>
          <p:cNvPr id="3" name="Content Placeholder 2">
            <a:extLst>
              <a:ext uri="{FF2B5EF4-FFF2-40B4-BE49-F238E27FC236}">
                <a16:creationId xmlns:a16="http://schemas.microsoft.com/office/drawing/2014/main" id="{146F22CE-4BA9-6145-62C5-FAF3F59D141B}"/>
              </a:ext>
            </a:extLst>
          </p:cNvPr>
          <p:cNvSpPr>
            <a:spLocks noGrp="1"/>
          </p:cNvSpPr>
          <p:nvPr>
            <p:ph idx="1"/>
          </p:nvPr>
        </p:nvSpPr>
        <p:spPr/>
        <p:txBody>
          <a:bodyPr/>
          <a:lstStyle/>
          <a:p>
            <a:r>
              <a:rPr lang="en-US" dirty="0"/>
              <a:t>Landsteiner’s Law describes the relationship between </a:t>
            </a:r>
            <a:r>
              <a:rPr lang="en-US" b="1" dirty="0"/>
              <a:t>antigens on RBCs</a:t>
            </a:r>
            <a:r>
              <a:rPr lang="en-US" dirty="0"/>
              <a:t> and </a:t>
            </a:r>
            <a:r>
              <a:rPr lang="en-US" b="1" dirty="0"/>
              <a:t>antibodies in plasma</a:t>
            </a:r>
            <a:r>
              <a:rPr lang="en-US" dirty="0"/>
              <a:t> in the </a:t>
            </a:r>
            <a:r>
              <a:rPr lang="en-US" b="1" dirty="0"/>
              <a:t>ABO blood group system</a:t>
            </a:r>
            <a:r>
              <a:rPr lang="en-US" dirty="0"/>
              <a:t>.</a:t>
            </a:r>
          </a:p>
          <a:p>
            <a:r>
              <a:rPr lang="en-US" b="1" dirty="0"/>
              <a:t>Landsteiner’s Law States:</a:t>
            </a:r>
          </a:p>
          <a:p>
            <a:r>
              <a:rPr lang="en-US" dirty="0"/>
              <a:t>1️⃣ </a:t>
            </a:r>
            <a:r>
              <a:rPr lang="en-US" b="1" dirty="0"/>
              <a:t>If an antigen is present on the RBC membrane, the corresponding antibody will be absent in the plasma.</a:t>
            </a:r>
            <a:br>
              <a:rPr lang="en-US" dirty="0"/>
            </a:br>
            <a:r>
              <a:rPr lang="en-US" dirty="0"/>
              <a:t>2️⃣ </a:t>
            </a:r>
            <a:r>
              <a:rPr lang="en-US" b="1" dirty="0"/>
              <a:t>If an antigen is absent on the RBC membrane, the corresponding antibody will be present in the plasma.</a:t>
            </a:r>
            <a:endParaRPr lang="en-US" dirty="0"/>
          </a:p>
          <a:p>
            <a:endParaRPr lang="en-IN" dirty="0"/>
          </a:p>
        </p:txBody>
      </p:sp>
    </p:spTree>
    <p:extLst>
      <p:ext uri="{BB962C8B-B14F-4D97-AF65-F5344CB8AC3E}">
        <p14:creationId xmlns:p14="http://schemas.microsoft.com/office/powerpoint/2010/main" val="33523775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5128B-7B7A-4E71-A38F-78C54B14717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CAD5B2D-4288-EC47-13E0-72C8ABE16216}"/>
              </a:ext>
            </a:extLst>
          </p:cNvPr>
          <p:cNvPicPr>
            <a:picLocks noGrp="1" noChangeAspect="1"/>
          </p:cNvPicPr>
          <p:nvPr>
            <p:ph idx="1"/>
          </p:nvPr>
        </p:nvPicPr>
        <p:blipFill>
          <a:blip r:embed="rId2"/>
          <a:stretch>
            <a:fillRect/>
          </a:stretch>
        </p:blipFill>
        <p:spPr>
          <a:xfrm>
            <a:off x="1066800" y="642594"/>
            <a:ext cx="10058400" cy="5079780"/>
          </a:xfrm>
          <a:prstGeom prst="rect">
            <a:avLst/>
          </a:prstGeom>
        </p:spPr>
      </p:pic>
    </p:spTree>
    <p:extLst>
      <p:ext uri="{BB962C8B-B14F-4D97-AF65-F5344CB8AC3E}">
        <p14:creationId xmlns:p14="http://schemas.microsoft.com/office/powerpoint/2010/main" val="13934872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26B02"/>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docProps/app.xml><?xml version="1.0" encoding="utf-8"?>
<Properties xmlns="http://schemas.openxmlformats.org/officeDocument/2006/extended-properties" xmlns:vt="http://schemas.openxmlformats.org/officeDocument/2006/docPropsVTypes">
  <Template>Savon</Template>
  <TotalTime>196</TotalTime>
  <Words>3655</Words>
  <Application>Microsoft Office PowerPoint</Application>
  <PresentationFormat>Widescreen</PresentationFormat>
  <Paragraphs>576</Paragraphs>
  <Slides>71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Century Gothic</vt:lpstr>
      <vt:lpstr>Savon</vt:lpstr>
      <vt:lpstr>Blood -phy</vt:lpstr>
      <vt:lpstr>Unit 1</vt:lpstr>
      <vt:lpstr>Blood </vt:lpstr>
      <vt:lpstr>Blood </vt:lpstr>
      <vt:lpstr>Composition </vt:lpstr>
      <vt:lpstr>Plasma – Details</vt:lpstr>
      <vt:lpstr>Plasma proteins  Major Plasma Proteins </vt:lpstr>
      <vt:lpstr>PowerPoint Presentation</vt:lpstr>
      <vt:lpstr>PowerPoint Presentation</vt:lpstr>
      <vt:lpstr>Applied aspects</vt:lpstr>
      <vt:lpstr>Unit 2</vt:lpstr>
      <vt:lpstr>Red blood corpuscles</vt:lpstr>
      <vt:lpstr>Red blood corpuscles</vt:lpstr>
      <vt:lpstr>Erythropoiesis</vt:lpstr>
      <vt:lpstr>Total period of erythropoiesis- 7-9 days</vt:lpstr>
      <vt:lpstr>PowerPoint Presentation</vt:lpstr>
      <vt:lpstr>Normal values of RBC Count</vt:lpstr>
      <vt:lpstr>PowerPoint Presentation</vt:lpstr>
      <vt:lpstr>Factors influencing erythropoiesis  1. Hormonal Factors  </vt:lpstr>
      <vt:lpstr>Factors influencing erythropoiesis  2. Nutritional Factors   </vt:lpstr>
      <vt:lpstr>Factors influencing erythropoiesis  3. Physiological Factors    </vt:lpstr>
      <vt:lpstr>Factors influencing erythropoiesis  5. Nervous System &amp; Temperature     </vt:lpstr>
      <vt:lpstr>Factors influencing erythropoiesis  4. Bone Marrow Health     </vt:lpstr>
      <vt:lpstr>Applied aspects</vt:lpstr>
      <vt:lpstr>PowerPoint Presentation</vt:lpstr>
      <vt:lpstr>Unit 3</vt:lpstr>
      <vt:lpstr>White blood corpuscles</vt:lpstr>
      <vt:lpstr>White blood corpuscles</vt:lpstr>
      <vt:lpstr>Classification of WBCs  1. Granulocytes (Have granules in cytoplasm; lobed nucleus)</vt:lpstr>
      <vt:lpstr>Classification of WBCs  1. Agranulocytes (No granules; large nucleus))</vt:lpstr>
      <vt:lpstr>PowerPoint Presentation</vt:lpstr>
      <vt:lpstr>Neutrophils   Structure of Neutrophils </vt:lpstr>
      <vt:lpstr>Neutrophils   Functions of Neutrophils </vt:lpstr>
      <vt:lpstr>Neutrophils   pathology of Neutrophils </vt:lpstr>
      <vt:lpstr>Eosinophils    Structure of Eosinophils </vt:lpstr>
      <vt:lpstr>Eosinophils    functions of Eosinophils </vt:lpstr>
      <vt:lpstr>Eosinophils    pathology of Eosinophils </vt:lpstr>
      <vt:lpstr>Basophils     structure of basophils </vt:lpstr>
      <vt:lpstr>Basophils     functions of basophils </vt:lpstr>
      <vt:lpstr>Basophils     pathology of basophils </vt:lpstr>
      <vt:lpstr>Lymphocyte      structure of lymphocyte </vt:lpstr>
      <vt:lpstr>Lymphocyte      functions of lymphocyte </vt:lpstr>
      <vt:lpstr>Lymphocyte      pathology of lymphocyte </vt:lpstr>
      <vt:lpstr>Monocyte       structure of monocyte </vt:lpstr>
      <vt:lpstr>Monocyte       functions of monocyte </vt:lpstr>
      <vt:lpstr>Monocyte       pathology of monocyte </vt:lpstr>
      <vt:lpstr>PowerPoint Presentation</vt:lpstr>
      <vt:lpstr>Lymphatic System The lymphatic system is a network of lymphatic vessels, lymph nodes and lymphoid organs that helps in maintaining body fluid balance and immunity. Main Components </vt:lpstr>
      <vt:lpstr>Lymphatic system</vt:lpstr>
      <vt:lpstr>Lymph </vt:lpstr>
      <vt:lpstr>Functions of lymph</vt:lpstr>
      <vt:lpstr>PowerPoint Presentation</vt:lpstr>
      <vt:lpstr>Unit 4</vt:lpstr>
      <vt:lpstr>Platelets (Thrombocytes) – Introduction</vt:lpstr>
      <vt:lpstr>Structure of platelet</vt:lpstr>
      <vt:lpstr>Functions of platelets</vt:lpstr>
      <vt:lpstr>PowerPoint Presentation</vt:lpstr>
      <vt:lpstr>Clotting mechanism</vt:lpstr>
      <vt:lpstr>PowerPoint Presentation</vt:lpstr>
      <vt:lpstr>Anticoagulant </vt:lpstr>
      <vt:lpstr>Applied aspects</vt:lpstr>
      <vt:lpstr>Applied aspects</vt:lpstr>
      <vt:lpstr>Applied aspects</vt:lpstr>
      <vt:lpstr>Unit 5</vt:lpstr>
      <vt:lpstr>Blood banking and transfusion reactions</vt:lpstr>
      <vt:lpstr>Blood group system</vt:lpstr>
      <vt:lpstr>1. ABO Blood Group System This system was discovered by Karl Landsteiner. Transfusion Importance (Universal) O negative → Universal donor AB positive → Universal recipient </vt:lpstr>
      <vt:lpstr>PowerPoint Presentation</vt:lpstr>
      <vt:lpstr>  2. Rh Blood Group System Based on the presence of Rh antigen (D antigen) on RBCs: Clinical Importance Rh⁻ person receiving Rh⁺ blood → forms anti-D antibodies In pregnancy, Rh incompatibility can cause Erythroblastosis fetalis (hemolytic disease of newborn)</vt:lpstr>
      <vt:lpstr>Landsteiner’s law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2025-11-21T06:50:43Z</dcterms:created>
  <dcterms:modified xsi:type="dcterms:W3CDTF">2025-11-21T14:03:53Z</dcterms:modified>
</cp:coreProperties>
</file>