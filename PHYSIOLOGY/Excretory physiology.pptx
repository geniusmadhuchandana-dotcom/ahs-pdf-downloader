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4" r:id="rId26"/>
    <p:sldId id="285" r:id="rId27"/>
    <p:sldId id="280" r:id="rId28"/>
    <p:sldId id="286" r:id="rId29"/>
    <p:sldId id="287" r:id="rId30"/>
    <p:sldId id="288" r:id="rId31"/>
    <p:sldId id="289" r:id="rId32"/>
    <p:sldId id="281" r:id="rId33"/>
    <p:sldId id="290" r:id="rId34"/>
    <p:sldId id="291" r:id="rId35"/>
    <p:sldId id="292" r:id="rId36"/>
    <p:sldId id="293" r:id="rId37"/>
    <p:sldId id="294" r:id="rId38"/>
    <p:sldId id="295" r:id="rId39"/>
    <p:sldId id="282" r:id="rId40"/>
    <p:sldId id="296" r:id="rId41"/>
    <p:sldId id="297" r:id="rId42"/>
    <p:sldId id="298" r:id="rId43"/>
    <p:sldId id="299" r:id="rId44"/>
    <p:sldId id="30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3F236CF5-E536-4C61-968E-E9F9AF3A3F10}" type="datetimeFigureOut">
              <a:rPr lang="en-IN" smtClean="0"/>
              <a:t>21-11-2025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905955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3759551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3F236CF5-E536-4C61-968E-E9F9AF3A3F10}" type="datetimeFigureOut">
              <a:rPr lang="en-IN" smtClean="0"/>
              <a:t>21-11-2025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72516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304138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641060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3001458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2533417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752291D1-BB2C-43BA-A154-A1F9B6D1EED5}"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1128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3F236CF5-E536-4C61-968E-E9F9AF3A3F10}" type="datetimeFigureOut">
              <a:rPr lang="en-IN" smtClean="0"/>
              <a:t>21-11-2025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3078912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695031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3F236CF5-E536-4C61-968E-E9F9AF3A3F10}"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1131092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3F236CF5-E536-4C61-968E-E9F9AF3A3F10}" type="datetimeFigureOut">
              <a:rPr lang="en-IN" smtClean="0"/>
              <a:t>21-11-2025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752291D1-BB2C-43BA-A154-A1F9B6D1EED5}" type="slidenum">
              <a:rPr lang="en-IN" smtClean="0"/>
              <a:t>‹#›</a:t>
            </a:fld>
            <a:endParaRPr lang="en-IN"/>
          </a:p>
        </p:txBody>
      </p:sp>
    </p:spTree>
    <p:extLst>
      <p:ext uri="{BB962C8B-B14F-4D97-AF65-F5344CB8AC3E}">
        <p14:creationId xmlns:p14="http://schemas.microsoft.com/office/powerpoint/2010/main" val="343248827"/>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55426-67A0-F310-8C53-51AEC6272A95}"/>
              </a:ext>
            </a:extLst>
          </p:cNvPr>
          <p:cNvSpPr>
            <a:spLocks noGrp="1"/>
          </p:cNvSpPr>
          <p:nvPr>
            <p:ph type="ctrTitle"/>
          </p:nvPr>
        </p:nvSpPr>
        <p:spPr/>
        <p:txBody>
          <a:bodyPr/>
          <a:lstStyle/>
          <a:p>
            <a:r>
              <a:rPr lang="en-IN" dirty="0"/>
              <a:t>Excretory physiology</a:t>
            </a:r>
          </a:p>
        </p:txBody>
      </p:sp>
      <p:sp>
        <p:nvSpPr>
          <p:cNvPr id="3" name="Subtitle 2">
            <a:extLst>
              <a:ext uri="{FF2B5EF4-FFF2-40B4-BE49-F238E27FC236}">
                <a16:creationId xmlns:a16="http://schemas.microsoft.com/office/drawing/2014/main" id="{0B6668E9-7CF6-AEA5-7F27-FE99E47617E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17904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6422A-5093-D51D-D18E-4614F77B0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C5012-B634-A4C1-A851-FC4EF2C2ADB2}"/>
              </a:ext>
            </a:extLst>
          </p:cNvPr>
          <p:cNvSpPr>
            <a:spLocks noGrp="1"/>
          </p:cNvSpPr>
          <p:nvPr>
            <p:ph type="ctrTitle"/>
          </p:nvPr>
        </p:nvSpPr>
        <p:spPr/>
        <p:txBody>
          <a:bodyPr/>
          <a:lstStyle/>
          <a:p>
            <a:r>
              <a:rPr lang="en-IN" dirty="0"/>
              <a:t>Unit 1</a:t>
            </a:r>
          </a:p>
        </p:txBody>
      </p:sp>
      <p:sp>
        <p:nvSpPr>
          <p:cNvPr id="3" name="Subtitle 2">
            <a:extLst>
              <a:ext uri="{FF2B5EF4-FFF2-40B4-BE49-F238E27FC236}">
                <a16:creationId xmlns:a16="http://schemas.microsoft.com/office/drawing/2014/main" id="{870339C3-6F50-B161-3783-018EA99DBFA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95100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24BE-A07D-FDBD-6646-79A7E94A250E}"/>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FD71DBA-1EFB-0868-AA01-1F6CBC854F4B}"/>
              </a:ext>
            </a:extLst>
          </p:cNvPr>
          <p:cNvPicPr>
            <a:picLocks noGrp="1" noChangeAspect="1"/>
          </p:cNvPicPr>
          <p:nvPr>
            <p:ph idx="1"/>
          </p:nvPr>
        </p:nvPicPr>
        <p:blipFill>
          <a:blip r:embed="rId2"/>
          <a:stretch>
            <a:fillRect/>
          </a:stretch>
        </p:blipFill>
        <p:spPr>
          <a:xfrm>
            <a:off x="1066800" y="642594"/>
            <a:ext cx="10058400" cy="5572812"/>
          </a:xfrm>
          <a:prstGeom prst="rect">
            <a:avLst/>
          </a:prstGeom>
        </p:spPr>
      </p:pic>
    </p:spTree>
    <p:extLst>
      <p:ext uri="{BB962C8B-B14F-4D97-AF65-F5344CB8AC3E}">
        <p14:creationId xmlns:p14="http://schemas.microsoft.com/office/powerpoint/2010/main" val="3848060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A4B4B-2A21-BE79-D18E-086ED4F2E158}"/>
              </a:ext>
            </a:extLst>
          </p:cNvPr>
          <p:cNvSpPr>
            <a:spLocks noGrp="1"/>
          </p:cNvSpPr>
          <p:nvPr>
            <p:ph type="title"/>
          </p:nvPr>
        </p:nvSpPr>
        <p:spPr/>
        <p:txBody>
          <a:bodyPr>
            <a:normAutofit/>
          </a:bodyPr>
          <a:lstStyle/>
          <a:p>
            <a:r>
              <a:rPr lang="en-IN" dirty="0"/>
              <a:t>Structure of kidney</a:t>
            </a:r>
          </a:p>
        </p:txBody>
      </p:sp>
      <p:sp>
        <p:nvSpPr>
          <p:cNvPr id="3" name="Content Placeholder 2">
            <a:extLst>
              <a:ext uri="{FF2B5EF4-FFF2-40B4-BE49-F238E27FC236}">
                <a16:creationId xmlns:a16="http://schemas.microsoft.com/office/drawing/2014/main" id="{CFE7DF52-9122-D1AA-98AD-413F4E61E0C5}"/>
              </a:ext>
            </a:extLst>
          </p:cNvPr>
          <p:cNvSpPr>
            <a:spLocks noGrp="1"/>
          </p:cNvSpPr>
          <p:nvPr>
            <p:ph idx="1"/>
          </p:nvPr>
        </p:nvSpPr>
        <p:spPr/>
        <p:txBody>
          <a:bodyPr>
            <a:normAutofit fontScale="92500" lnSpcReduction="10000"/>
          </a:bodyPr>
          <a:lstStyle/>
          <a:p>
            <a:r>
              <a:rPr lang="en-IN" b="1" dirty="0"/>
              <a:t>1. External Structure</a:t>
            </a:r>
          </a:p>
          <a:p>
            <a:r>
              <a:rPr lang="en-IN" b="1" dirty="0"/>
              <a:t>Shape &amp; Size:</a:t>
            </a:r>
            <a:endParaRPr lang="en-IN" dirty="0"/>
          </a:p>
          <a:p>
            <a:pPr lvl="1"/>
            <a:r>
              <a:rPr lang="en-IN" dirty="0"/>
              <a:t>Bean-shaped, ~10–12 cm long, 5–7 cm wide, 3 cm thick.</a:t>
            </a:r>
          </a:p>
          <a:p>
            <a:r>
              <a:rPr lang="en-IN" b="1" dirty="0"/>
              <a:t>Surfaces:</a:t>
            </a:r>
            <a:endParaRPr lang="en-IN" dirty="0"/>
          </a:p>
          <a:p>
            <a:pPr lvl="1"/>
            <a:r>
              <a:rPr lang="en-IN" dirty="0"/>
              <a:t>Convex </a:t>
            </a:r>
            <a:r>
              <a:rPr lang="en-IN" b="1" dirty="0"/>
              <a:t>lateral surface</a:t>
            </a:r>
            <a:endParaRPr lang="en-IN" dirty="0"/>
          </a:p>
          <a:p>
            <a:pPr lvl="1"/>
            <a:r>
              <a:rPr lang="en-IN" dirty="0"/>
              <a:t>Concave </a:t>
            </a:r>
            <a:r>
              <a:rPr lang="en-IN" b="1" dirty="0"/>
              <a:t>medial surface</a:t>
            </a:r>
            <a:r>
              <a:rPr lang="en-IN" dirty="0"/>
              <a:t> → contains </a:t>
            </a:r>
            <a:r>
              <a:rPr lang="en-IN" b="1" dirty="0"/>
              <a:t>hilum</a:t>
            </a:r>
            <a:endParaRPr lang="en-IN" dirty="0"/>
          </a:p>
          <a:p>
            <a:r>
              <a:rPr lang="en-IN" b="1" dirty="0"/>
              <a:t>Hilum Contents:</a:t>
            </a:r>
            <a:endParaRPr lang="en-IN" dirty="0"/>
          </a:p>
          <a:p>
            <a:pPr lvl="1"/>
            <a:r>
              <a:rPr lang="en-IN" b="1" dirty="0"/>
              <a:t>Renal artery</a:t>
            </a:r>
            <a:r>
              <a:rPr lang="en-IN" dirty="0"/>
              <a:t> (enters)</a:t>
            </a:r>
          </a:p>
          <a:p>
            <a:pPr lvl="1"/>
            <a:r>
              <a:rPr lang="en-IN" b="1" dirty="0"/>
              <a:t>Renal vein</a:t>
            </a:r>
            <a:r>
              <a:rPr lang="en-IN" dirty="0"/>
              <a:t> (exits)</a:t>
            </a:r>
          </a:p>
          <a:p>
            <a:pPr lvl="1"/>
            <a:r>
              <a:rPr lang="en-IN" b="1" dirty="0"/>
              <a:t>Ureter</a:t>
            </a:r>
            <a:r>
              <a:rPr lang="en-IN" dirty="0"/>
              <a:t> (exits)</a:t>
            </a:r>
          </a:p>
          <a:p>
            <a:pPr lvl="1"/>
            <a:r>
              <a:rPr lang="en-IN" dirty="0"/>
              <a:t>Lymphatics and nerves</a:t>
            </a:r>
          </a:p>
          <a:p>
            <a:r>
              <a:rPr lang="en-IN" b="1" dirty="0"/>
              <a:t>Capsule:</a:t>
            </a:r>
            <a:endParaRPr lang="en-IN" dirty="0"/>
          </a:p>
          <a:p>
            <a:pPr lvl="1"/>
            <a:r>
              <a:rPr lang="en-IN" dirty="0"/>
              <a:t>Fibrous capsule surrounding the kidney provides </a:t>
            </a:r>
            <a:r>
              <a:rPr lang="en-IN" b="1" dirty="0"/>
              <a:t>protection</a:t>
            </a:r>
            <a:r>
              <a:rPr lang="en-IN" dirty="0"/>
              <a:t>.</a:t>
            </a:r>
          </a:p>
        </p:txBody>
      </p:sp>
    </p:spTree>
    <p:extLst>
      <p:ext uri="{BB962C8B-B14F-4D97-AF65-F5344CB8AC3E}">
        <p14:creationId xmlns:p14="http://schemas.microsoft.com/office/powerpoint/2010/main" val="4213172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E63BF-234C-DE46-1468-5CB75E2FC7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86DD1-D0A9-5955-9BD3-AFD2331C82DC}"/>
              </a:ext>
            </a:extLst>
          </p:cNvPr>
          <p:cNvSpPr>
            <a:spLocks noGrp="1"/>
          </p:cNvSpPr>
          <p:nvPr>
            <p:ph type="title"/>
          </p:nvPr>
        </p:nvSpPr>
        <p:spPr/>
        <p:txBody>
          <a:bodyPr>
            <a:normAutofit/>
          </a:bodyPr>
          <a:lstStyle/>
          <a:p>
            <a:r>
              <a:rPr lang="en-IN" dirty="0"/>
              <a:t>Structure of kidney</a:t>
            </a:r>
          </a:p>
        </p:txBody>
      </p:sp>
      <p:sp>
        <p:nvSpPr>
          <p:cNvPr id="3" name="Content Placeholder 2">
            <a:extLst>
              <a:ext uri="{FF2B5EF4-FFF2-40B4-BE49-F238E27FC236}">
                <a16:creationId xmlns:a16="http://schemas.microsoft.com/office/drawing/2014/main" id="{DA3F29E9-8F11-0AC3-3251-0460A0C88531}"/>
              </a:ext>
            </a:extLst>
          </p:cNvPr>
          <p:cNvSpPr>
            <a:spLocks noGrp="1"/>
          </p:cNvSpPr>
          <p:nvPr>
            <p:ph idx="1"/>
          </p:nvPr>
        </p:nvSpPr>
        <p:spPr>
          <a:xfrm>
            <a:off x="1066800" y="1661651"/>
            <a:ext cx="10058400" cy="4866967"/>
          </a:xfrm>
        </p:spPr>
        <p:txBody>
          <a:bodyPr>
            <a:normAutofit fontScale="70000" lnSpcReduction="20000"/>
          </a:bodyPr>
          <a:lstStyle/>
          <a:p>
            <a:r>
              <a:rPr lang="en-IN" b="1" dirty="0"/>
              <a:t>2. Internal Structure</a:t>
            </a:r>
          </a:p>
          <a:p>
            <a:r>
              <a:rPr lang="en-IN" dirty="0"/>
              <a:t>The kidney has </a:t>
            </a:r>
            <a:r>
              <a:rPr lang="en-IN" b="1" dirty="0"/>
              <a:t>two main regions</a:t>
            </a:r>
            <a:r>
              <a:rPr lang="en-IN" dirty="0"/>
              <a:t>:</a:t>
            </a:r>
          </a:p>
          <a:p>
            <a:r>
              <a:rPr lang="en-IN" b="1" dirty="0"/>
              <a:t>a. Cortex</a:t>
            </a:r>
          </a:p>
          <a:p>
            <a:r>
              <a:rPr lang="en-IN" dirty="0"/>
              <a:t>Outer region, </a:t>
            </a:r>
            <a:r>
              <a:rPr lang="en-IN" b="1" dirty="0"/>
              <a:t>light red</a:t>
            </a:r>
            <a:r>
              <a:rPr lang="en-IN" dirty="0"/>
              <a:t>.</a:t>
            </a:r>
          </a:p>
          <a:p>
            <a:r>
              <a:rPr lang="en-IN" dirty="0"/>
              <a:t>Contains:</a:t>
            </a:r>
          </a:p>
          <a:p>
            <a:pPr lvl="1"/>
            <a:r>
              <a:rPr lang="en-IN" b="1" dirty="0"/>
              <a:t>Renal corpuscles (glomeruli + Bowman's capsule)</a:t>
            </a:r>
            <a:endParaRPr lang="en-IN" dirty="0"/>
          </a:p>
          <a:p>
            <a:pPr lvl="1"/>
            <a:r>
              <a:rPr lang="en-IN" b="1" dirty="0"/>
              <a:t>Proximal and distal convoluted tubules</a:t>
            </a:r>
            <a:endParaRPr lang="en-IN" dirty="0"/>
          </a:p>
          <a:p>
            <a:r>
              <a:rPr lang="en-IN" b="1" dirty="0"/>
              <a:t>Cortical columns (columns of Bertini)</a:t>
            </a:r>
            <a:r>
              <a:rPr lang="en-IN" dirty="0"/>
              <a:t>: Extensions of cortex between pyramids.</a:t>
            </a:r>
          </a:p>
          <a:p>
            <a:r>
              <a:rPr lang="en-IN" b="1" dirty="0"/>
              <a:t>b. Medulla</a:t>
            </a:r>
          </a:p>
          <a:p>
            <a:r>
              <a:rPr lang="en-IN" dirty="0"/>
              <a:t>Inner region, </a:t>
            </a:r>
            <a:r>
              <a:rPr lang="en-IN" b="1" dirty="0"/>
              <a:t>darker, triangular structures called renal pyramids</a:t>
            </a:r>
            <a:r>
              <a:rPr lang="en-IN" dirty="0"/>
              <a:t>.</a:t>
            </a:r>
          </a:p>
          <a:p>
            <a:r>
              <a:rPr lang="en-IN" b="1" dirty="0"/>
              <a:t>Pyramids</a:t>
            </a:r>
            <a:r>
              <a:rPr lang="en-IN" dirty="0"/>
              <a:t> have:</a:t>
            </a:r>
          </a:p>
          <a:p>
            <a:pPr lvl="1"/>
            <a:r>
              <a:rPr lang="en-IN" b="1" dirty="0"/>
              <a:t>Base</a:t>
            </a:r>
            <a:r>
              <a:rPr lang="en-IN" dirty="0"/>
              <a:t>: Faces cortex</a:t>
            </a:r>
          </a:p>
          <a:p>
            <a:pPr lvl="1"/>
            <a:r>
              <a:rPr lang="en-IN" b="1" dirty="0"/>
              <a:t>Apex (papilla)</a:t>
            </a:r>
            <a:r>
              <a:rPr lang="en-IN" dirty="0"/>
              <a:t>: Projects into </a:t>
            </a:r>
            <a:r>
              <a:rPr lang="en-IN" b="1" dirty="0"/>
              <a:t>minor calyx</a:t>
            </a:r>
            <a:endParaRPr lang="en-IN" dirty="0"/>
          </a:p>
          <a:p>
            <a:r>
              <a:rPr lang="en-IN" dirty="0"/>
              <a:t>Contains:</a:t>
            </a:r>
          </a:p>
          <a:p>
            <a:pPr lvl="1"/>
            <a:r>
              <a:rPr lang="en-IN" b="1" dirty="0"/>
              <a:t>Loops of Henle</a:t>
            </a:r>
            <a:endParaRPr lang="en-IN" dirty="0"/>
          </a:p>
          <a:p>
            <a:pPr lvl="1"/>
            <a:r>
              <a:rPr lang="en-IN" b="1" dirty="0"/>
              <a:t>Collecting ducts</a:t>
            </a:r>
            <a:endParaRPr lang="en-IN" dirty="0"/>
          </a:p>
          <a:p>
            <a:r>
              <a:rPr lang="en-IN" b="1" dirty="0"/>
              <a:t>c. Pelvis</a:t>
            </a:r>
          </a:p>
          <a:p>
            <a:r>
              <a:rPr lang="en-IN" b="1" dirty="0"/>
              <a:t>Funnel-shaped cavity</a:t>
            </a:r>
            <a:r>
              <a:rPr lang="en-IN" dirty="0"/>
              <a:t> in hilum.</a:t>
            </a:r>
          </a:p>
          <a:p>
            <a:r>
              <a:rPr lang="en-IN" dirty="0"/>
              <a:t>Receives urine from </a:t>
            </a:r>
            <a:r>
              <a:rPr lang="en-IN" b="1" dirty="0"/>
              <a:t>major calyces</a:t>
            </a:r>
            <a:r>
              <a:rPr lang="en-IN" dirty="0"/>
              <a:t> (formed by minor calyces) → drains into </a:t>
            </a:r>
            <a:r>
              <a:rPr lang="en-IN" b="1" dirty="0"/>
              <a:t>ureter</a:t>
            </a:r>
            <a:r>
              <a:rPr lang="en-IN" dirty="0"/>
              <a:t>.</a:t>
            </a:r>
          </a:p>
          <a:p>
            <a:endParaRPr lang="en-IN" dirty="0"/>
          </a:p>
        </p:txBody>
      </p:sp>
    </p:spTree>
    <p:extLst>
      <p:ext uri="{BB962C8B-B14F-4D97-AF65-F5344CB8AC3E}">
        <p14:creationId xmlns:p14="http://schemas.microsoft.com/office/powerpoint/2010/main" val="1088241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C3B0-1FC5-3933-82BB-3ECEFFE23673}"/>
              </a:ext>
            </a:extLst>
          </p:cNvPr>
          <p:cNvSpPr>
            <a:spLocks noGrp="1"/>
          </p:cNvSpPr>
          <p:nvPr>
            <p:ph type="title"/>
          </p:nvPr>
        </p:nvSpPr>
        <p:spPr/>
        <p:txBody>
          <a:bodyPr/>
          <a:lstStyle/>
          <a:p>
            <a:r>
              <a:rPr lang="en-IN" dirty="0"/>
              <a:t>Structure of nephron</a:t>
            </a:r>
          </a:p>
        </p:txBody>
      </p:sp>
      <p:sp>
        <p:nvSpPr>
          <p:cNvPr id="3" name="Content Placeholder 2">
            <a:extLst>
              <a:ext uri="{FF2B5EF4-FFF2-40B4-BE49-F238E27FC236}">
                <a16:creationId xmlns:a16="http://schemas.microsoft.com/office/drawing/2014/main" id="{D92424D8-EBBB-3FBD-4977-4EE6B2A99F86}"/>
              </a:ext>
            </a:extLst>
          </p:cNvPr>
          <p:cNvSpPr>
            <a:spLocks noGrp="1"/>
          </p:cNvSpPr>
          <p:nvPr>
            <p:ph idx="1"/>
          </p:nvPr>
        </p:nvSpPr>
        <p:spPr/>
        <p:txBody>
          <a:bodyPr/>
          <a:lstStyle/>
          <a:p>
            <a:r>
              <a:rPr lang="en-IN" dirty="0"/>
              <a:t>A nephron consists of </a:t>
            </a:r>
            <a:r>
              <a:rPr lang="en-IN" b="1" dirty="0"/>
              <a:t>two main parts</a:t>
            </a:r>
            <a:r>
              <a:rPr lang="en-IN" dirty="0"/>
              <a:t>:</a:t>
            </a:r>
          </a:p>
          <a:p>
            <a:r>
              <a:rPr lang="en-IN" b="1" dirty="0"/>
              <a:t>A. Renal Corpuscle (for filtration)</a:t>
            </a:r>
          </a:p>
          <a:p>
            <a:r>
              <a:rPr lang="en-IN" b="1" dirty="0"/>
              <a:t>Glomerulus</a:t>
            </a:r>
            <a:endParaRPr lang="en-IN" dirty="0"/>
          </a:p>
          <a:p>
            <a:pPr lvl="1"/>
            <a:r>
              <a:rPr lang="en-IN" dirty="0"/>
              <a:t>Network of </a:t>
            </a:r>
            <a:r>
              <a:rPr lang="en-IN" b="1" dirty="0"/>
              <a:t>fenestrated capillaries</a:t>
            </a:r>
            <a:r>
              <a:rPr lang="en-IN" dirty="0"/>
              <a:t>.</a:t>
            </a:r>
          </a:p>
          <a:p>
            <a:pPr lvl="1"/>
            <a:r>
              <a:rPr lang="en-IN" dirty="0"/>
              <a:t>Receives blood via </a:t>
            </a:r>
            <a:r>
              <a:rPr lang="en-IN" b="1" dirty="0"/>
              <a:t>afferent arteriole</a:t>
            </a:r>
            <a:r>
              <a:rPr lang="en-IN" dirty="0"/>
              <a:t>, exits via </a:t>
            </a:r>
            <a:r>
              <a:rPr lang="en-IN" b="1" dirty="0"/>
              <a:t>efferent arteriole</a:t>
            </a:r>
            <a:r>
              <a:rPr lang="en-IN" dirty="0"/>
              <a:t>.</a:t>
            </a:r>
          </a:p>
          <a:p>
            <a:pPr lvl="1"/>
            <a:r>
              <a:rPr lang="en-IN" dirty="0"/>
              <a:t>High pressure → drives </a:t>
            </a:r>
            <a:r>
              <a:rPr lang="en-IN" b="1" dirty="0"/>
              <a:t>filtration</a:t>
            </a:r>
            <a:r>
              <a:rPr lang="en-IN" dirty="0"/>
              <a:t> of plasma.</a:t>
            </a:r>
          </a:p>
          <a:p>
            <a:r>
              <a:rPr lang="en-IN" b="1" dirty="0"/>
              <a:t>Bowman’s Capsule</a:t>
            </a:r>
            <a:endParaRPr lang="en-IN" dirty="0"/>
          </a:p>
          <a:p>
            <a:pPr lvl="1"/>
            <a:r>
              <a:rPr lang="en-IN" dirty="0"/>
              <a:t>Double-walled epithelial cup surrounding glomerulus.</a:t>
            </a:r>
          </a:p>
          <a:p>
            <a:pPr lvl="1"/>
            <a:r>
              <a:rPr lang="en-IN" b="1" dirty="0"/>
              <a:t>Parietal layer</a:t>
            </a:r>
            <a:r>
              <a:rPr lang="en-IN" dirty="0"/>
              <a:t>: outer layer</a:t>
            </a:r>
          </a:p>
          <a:p>
            <a:pPr lvl="1"/>
            <a:r>
              <a:rPr lang="en-IN" b="1" dirty="0"/>
              <a:t>Visceral layer</a:t>
            </a:r>
            <a:r>
              <a:rPr lang="en-IN" dirty="0"/>
              <a:t>: podocytes that wrap around glomerular capillaries</a:t>
            </a:r>
          </a:p>
          <a:p>
            <a:pPr lvl="1"/>
            <a:r>
              <a:rPr lang="en-IN" b="1" dirty="0"/>
              <a:t>Capsular space</a:t>
            </a:r>
            <a:r>
              <a:rPr lang="en-IN" dirty="0"/>
              <a:t> collects </a:t>
            </a:r>
            <a:r>
              <a:rPr lang="en-IN" b="1" dirty="0"/>
              <a:t>filtrate</a:t>
            </a:r>
            <a:r>
              <a:rPr lang="en-IN" dirty="0"/>
              <a:t> from blood.</a:t>
            </a:r>
          </a:p>
        </p:txBody>
      </p:sp>
    </p:spTree>
    <p:extLst>
      <p:ext uri="{BB962C8B-B14F-4D97-AF65-F5344CB8AC3E}">
        <p14:creationId xmlns:p14="http://schemas.microsoft.com/office/powerpoint/2010/main" val="2016654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45CAF-A5E4-4EBA-B4FB-A9C58DE7B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26DC9-035F-DB15-4584-9D9ADAF3F5D6}"/>
              </a:ext>
            </a:extLst>
          </p:cNvPr>
          <p:cNvSpPr>
            <a:spLocks noGrp="1"/>
          </p:cNvSpPr>
          <p:nvPr>
            <p:ph type="title"/>
          </p:nvPr>
        </p:nvSpPr>
        <p:spPr/>
        <p:txBody>
          <a:bodyPr/>
          <a:lstStyle/>
          <a:p>
            <a:r>
              <a:rPr lang="en-IN" dirty="0"/>
              <a:t>Structure of nephron</a:t>
            </a:r>
          </a:p>
        </p:txBody>
      </p:sp>
      <p:sp>
        <p:nvSpPr>
          <p:cNvPr id="3" name="Content Placeholder 2">
            <a:extLst>
              <a:ext uri="{FF2B5EF4-FFF2-40B4-BE49-F238E27FC236}">
                <a16:creationId xmlns:a16="http://schemas.microsoft.com/office/drawing/2014/main" id="{F75CB7F9-CF2E-DC5D-D0B8-B01B0C31FE3A}"/>
              </a:ext>
            </a:extLst>
          </p:cNvPr>
          <p:cNvSpPr>
            <a:spLocks noGrp="1"/>
          </p:cNvSpPr>
          <p:nvPr>
            <p:ph idx="1"/>
          </p:nvPr>
        </p:nvSpPr>
        <p:spPr>
          <a:xfrm>
            <a:off x="1066800" y="2103119"/>
            <a:ext cx="10058400" cy="4317345"/>
          </a:xfrm>
        </p:spPr>
        <p:txBody>
          <a:bodyPr>
            <a:normAutofit fontScale="85000" lnSpcReduction="20000"/>
          </a:bodyPr>
          <a:lstStyle/>
          <a:p>
            <a:r>
              <a:rPr lang="en-IN" b="1" dirty="0"/>
              <a:t>B. Renal Tubule (for reabsorption &amp; secretion)</a:t>
            </a:r>
          </a:p>
          <a:p>
            <a:r>
              <a:rPr lang="en-IN" b="1" dirty="0"/>
              <a:t>Proximal Convoluted Tubule (PCT)</a:t>
            </a:r>
            <a:endParaRPr lang="en-IN" dirty="0"/>
          </a:p>
          <a:p>
            <a:pPr lvl="1"/>
            <a:r>
              <a:rPr lang="en-IN" dirty="0"/>
              <a:t>Located in cortex.</a:t>
            </a:r>
          </a:p>
          <a:p>
            <a:pPr lvl="1"/>
            <a:r>
              <a:rPr lang="en-IN" b="1" dirty="0"/>
              <a:t>Microvilli</a:t>
            </a:r>
            <a:r>
              <a:rPr lang="en-IN" dirty="0"/>
              <a:t> → large surface area.</a:t>
            </a:r>
          </a:p>
          <a:p>
            <a:pPr lvl="1"/>
            <a:r>
              <a:rPr lang="en-IN" dirty="0"/>
              <a:t>Functions: reabsorption of glucose, amino acids, sodium, water, bicarbonate; secretion of drugs &amp; hydrogen ions.</a:t>
            </a:r>
          </a:p>
          <a:p>
            <a:r>
              <a:rPr lang="en-IN" b="1" dirty="0"/>
              <a:t>Loop of Henle</a:t>
            </a:r>
            <a:endParaRPr lang="en-IN" dirty="0"/>
          </a:p>
          <a:p>
            <a:pPr lvl="1"/>
            <a:r>
              <a:rPr lang="en-IN" dirty="0"/>
              <a:t>Descending limb: permeable to water → water reabsorption</a:t>
            </a:r>
          </a:p>
          <a:p>
            <a:pPr lvl="1"/>
            <a:r>
              <a:rPr lang="en-IN" dirty="0"/>
              <a:t>Ascending limb: impermeable to water → Na⁺, K⁺, Cl⁻ reabsorption</a:t>
            </a:r>
          </a:p>
          <a:p>
            <a:pPr lvl="1"/>
            <a:r>
              <a:rPr lang="en-IN" dirty="0"/>
              <a:t>Creates </a:t>
            </a:r>
            <a:r>
              <a:rPr lang="en-IN" b="1" dirty="0"/>
              <a:t>medullary osmotic gradient</a:t>
            </a:r>
            <a:r>
              <a:rPr lang="en-IN" dirty="0"/>
              <a:t> for urine concentration.</a:t>
            </a:r>
          </a:p>
          <a:p>
            <a:r>
              <a:rPr lang="en-IN" b="1" dirty="0"/>
              <a:t>Distal Convoluted Tubule (DCT)</a:t>
            </a:r>
            <a:endParaRPr lang="en-IN" dirty="0"/>
          </a:p>
          <a:p>
            <a:pPr lvl="1"/>
            <a:r>
              <a:rPr lang="en-IN" dirty="0"/>
              <a:t>Located in cortex.</a:t>
            </a:r>
          </a:p>
          <a:p>
            <a:pPr lvl="1"/>
            <a:r>
              <a:rPr lang="en-IN" dirty="0"/>
              <a:t>Functions: regulated reabsorption of Na⁺, Ca²⁺ (under aldosterone &amp; PTH), secretion of K⁺, H⁺.</a:t>
            </a:r>
          </a:p>
          <a:p>
            <a:r>
              <a:rPr lang="en-IN" b="1" dirty="0"/>
              <a:t>Collecting Duct</a:t>
            </a:r>
            <a:endParaRPr lang="en-IN" dirty="0"/>
          </a:p>
          <a:p>
            <a:pPr lvl="1"/>
            <a:r>
              <a:rPr lang="en-IN" dirty="0"/>
              <a:t>Receives urine from multiple nephrons.</a:t>
            </a:r>
          </a:p>
          <a:p>
            <a:pPr lvl="1"/>
            <a:r>
              <a:rPr lang="en-IN" dirty="0"/>
              <a:t>Functions: water reabsorption (regulated by ADH), final urine concentration, secretion of H⁺ and K⁺.</a:t>
            </a:r>
          </a:p>
        </p:txBody>
      </p:sp>
    </p:spTree>
    <p:extLst>
      <p:ext uri="{BB962C8B-B14F-4D97-AF65-F5344CB8AC3E}">
        <p14:creationId xmlns:p14="http://schemas.microsoft.com/office/powerpoint/2010/main" val="1698995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0899-5812-89B1-A44C-7C5D1F8B67A6}"/>
              </a:ext>
            </a:extLst>
          </p:cNvPr>
          <p:cNvSpPr>
            <a:spLocks noGrp="1"/>
          </p:cNvSpPr>
          <p:nvPr>
            <p:ph type="title"/>
          </p:nvPr>
        </p:nvSpPr>
        <p:spPr/>
        <p:txBody>
          <a:bodyPr/>
          <a:lstStyle/>
          <a:p>
            <a:r>
              <a:rPr lang="en-IN" dirty="0"/>
              <a:t>Functions of nephron</a:t>
            </a:r>
          </a:p>
        </p:txBody>
      </p:sp>
      <p:graphicFrame>
        <p:nvGraphicFramePr>
          <p:cNvPr id="4" name="Content Placeholder 3">
            <a:extLst>
              <a:ext uri="{FF2B5EF4-FFF2-40B4-BE49-F238E27FC236}">
                <a16:creationId xmlns:a16="http://schemas.microsoft.com/office/drawing/2014/main" id="{EC17FEB8-3BF2-1AEC-085F-1A324625ACFA}"/>
              </a:ext>
            </a:extLst>
          </p:cNvPr>
          <p:cNvGraphicFramePr>
            <a:graphicFrameLocks noGrp="1"/>
          </p:cNvGraphicFramePr>
          <p:nvPr>
            <p:ph idx="1"/>
            <p:extLst>
              <p:ext uri="{D42A27DB-BD31-4B8C-83A1-F6EECF244321}">
                <p14:modId xmlns:p14="http://schemas.microsoft.com/office/powerpoint/2010/main" val="245539167"/>
              </p:ext>
            </p:extLst>
          </p:nvPr>
        </p:nvGraphicFramePr>
        <p:xfrm>
          <a:off x="1066800" y="2240756"/>
          <a:ext cx="10058400" cy="3657600"/>
        </p:xfrm>
        <a:graphic>
          <a:graphicData uri="http://schemas.openxmlformats.org/drawingml/2006/table">
            <a:tbl>
              <a:tblPr/>
              <a:tblGrid>
                <a:gridCol w="5029200">
                  <a:extLst>
                    <a:ext uri="{9D8B030D-6E8A-4147-A177-3AD203B41FA5}">
                      <a16:colId xmlns:a16="http://schemas.microsoft.com/office/drawing/2014/main" val="211500672"/>
                    </a:ext>
                  </a:extLst>
                </a:gridCol>
                <a:gridCol w="5029200">
                  <a:extLst>
                    <a:ext uri="{9D8B030D-6E8A-4147-A177-3AD203B41FA5}">
                      <a16:colId xmlns:a16="http://schemas.microsoft.com/office/drawing/2014/main" val="3736603990"/>
                    </a:ext>
                  </a:extLst>
                </a:gridCol>
              </a:tblGrid>
              <a:tr h="0">
                <a:tc>
                  <a:txBody>
                    <a:bodyPr/>
                    <a:lstStyle/>
                    <a:p>
                      <a:pPr>
                        <a:buNone/>
                      </a:pPr>
                      <a:r>
                        <a:rPr lang="en-IN"/>
                        <a:t>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Major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024127"/>
                  </a:ext>
                </a:extLst>
              </a:tr>
              <a:tr h="0">
                <a:tc>
                  <a:txBody>
                    <a:bodyPr/>
                    <a:lstStyle/>
                    <a:p>
                      <a:pPr>
                        <a:buNone/>
                      </a:pPr>
                      <a:r>
                        <a:rPr lang="en-IN"/>
                        <a:t>Glomerulus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t>Filtration of plasma (water, solutes)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117150"/>
                  </a:ext>
                </a:extLst>
              </a:tr>
              <a:tr h="0">
                <a:tc>
                  <a:txBody>
                    <a:bodyPr/>
                    <a:lstStyle/>
                    <a:p>
                      <a:pPr>
                        <a:buNone/>
                      </a:pPr>
                      <a:r>
                        <a:rPr lang="en-IN"/>
                        <a:t>Bowman’s capsule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Collects filtrate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53399"/>
                  </a:ext>
                </a:extLst>
              </a:tr>
              <a:tr h="0">
                <a:tc>
                  <a:txBody>
                    <a:bodyPr/>
                    <a:lstStyle/>
                    <a:p>
                      <a:pPr>
                        <a:buNone/>
                      </a:pPr>
                      <a:r>
                        <a:rPr lang="en-IN"/>
                        <a:t>PCT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Reabsorbs ~65% of water, Na⁺, glucose, amino acids; secretes H⁺ &amp; drugs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5251645"/>
                  </a:ext>
                </a:extLst>
              </a:tr>
              <a:tr h="0">
                <a:tc>
                  <a:txBody>
                    <a:bodyPr/>
                    <a:lstStyle/>
                    <a:p>
                      <a:pPr>
                        <a:buNone/>
                      </a:pPr>
                      <a:r>
                        <a:rPr lang="en-IN"/>
                        <a:t>Loop of Henle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t>Concentrates urine; Na⁺ &amp; water reabsorption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223328"/>
                  </a:ext>
                </a:extLst>
              </a:tr>
              <a:tr h="0">
                <a:tc>
                  <a:txBody>
                    <a:bodyPr/>
                    <a:lstStyle/>
                    <a:p>
                      <a:pPr>
                        <a:buNone/>
                      </a:pPr>
                      <a:r>
                        <a:rPr lang="en-IN"/>
                        <a:t>DCT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t>Fine-tuning of electrolytes &amp; pH; hormone-regulated reabsorption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6729902"/>
                  </a:ext>
                </a:extLst>
              </a:tr>
              <a:tr h="0">
                <a:tc>
                  <a:txBody>
                    <a:bodyPr/>
                    <a:lstStyle/>
                    <a:p>
                      <a:pPr>
                        <a:buNone/>
                      </a:pPr>
                      <a:r>
                        <a:rPr lang="en-IN"/>
                        <a:t>Collecting 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dirty="0"/>
                        <a:t>Water reabsorption (ADH); final urine composition; acid-base balance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0838736"/>
                  </a:ext>
                </a:extLst>
              </a:tr>
            </a:tbl>
          </a:graphicData>
        </a:graphic>
      </p:graphicFrame>
    </p:spTree>
    <p:extLst>
      <p:ext uri="{BB962C8B-B14F-4D97-AF65-F5344CB8AC3E}">
        <p14:creationId xmlns:p14="http://schemas.microsoft.com/office/powerpoint/2010/main" val="253149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E57D1-E3CB-1772-ABCC-A87F5C245E9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82B6617-59F8-64C6-9F8C-14445CC40ED8}"/>
              </a:ext>
            </a:extLst>
          </p:cNvPr>
          <p:cNvPicPr>
            <a:picLocks noGrp="1" noChangeAspect="1"/>
          </p:cNvPicPr>
          <p:nvPr>
            <p:ph idx="1"/>
          </p:nvPr>
        </p:nvPicPr>
        <p:blipFill>
          <a:blip r:embed="rId2"/>
          <a:stretch>
            <a:fillRect/>
          </a:stretch>
        </p:blipFill>
        <p:spPr>
          <a:xfrm>
            <a:off x="2920241" y="154858"/>
            <a:ext cx="6351517" cy="6548284"/>
          </a:xfrm>
          <a:prstGeom prst="rect">
            <a:avLst/>
          </a:prstGeom>
        </p:spPr>
      </p:pic>
    </p:spTree>
    <p:extLst>
      <p:ext uri="{BB962C8B-B14F-4D97-AF65-F5344CB8AC3E}">
        <p14:creationId xmlns:p14="http://schemas.microsoft.com/office/powerpoint/2010/main" val="174991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762F3-7FAF-EB04-D0AC-695911474E2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CBA9E81-E831-E6E0-D613-5B2787689705}"/>
              </a:ext>
            </a:extLst>
          </p:cNvPr>
          <p:cNvPicPr>
            <a:picLocks noGrp="1" noChangeAspect="1"/>
          </p:cNvPicPr>
          <p:nvPr>
            <p:ph idx="1"/>
          </p:nvPr>
        </p:nvPicPr>
        <p:blipFill>
          <a:blip r:embed="rId2"/>
          <a:stretch>
            <a:fillRect/>
          </a:stretch>
        </p:blipFill>
        <p:spPr>
          <a:xfrm>
            <a:off x="2902099" y="642594"/>
            <a:ext cx="6387802" cy="5572812"/>
          </a:xfrm>
          <a:prstGeom prst="rect">
            <a:avLst/>
          </a:prstGeom>
        </p:spPr>
      </p:pic>
    </p:spTree>
    <p:extLst>
      <p:ext uri="{BB962C8B-B14F-4D97-AF65-F5344CB8AC3E}">
        <p14:creationId xmlns:p14="http://schemas.microsoft.com/office/powerpoint/2010/main" val="3234394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A8E65-A1E5-BD18-FFAE-9EC5B806E3D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8BCCC4-D9D8-00F5-A3AA-4C9B1CB13DBE}"/>
              </a:ext>
            </a:extLst>
          </p:cNvPr>
          <p:cNvPicPr>
            <a:picLocks noGrp="1" noChangeAspect="1"/>
          </p:cNvPicPr>
          <p:nvPr>
            <p:ph idx="1"/>
          </p:nvPr>
        </p:nvPicPr>
        <p:blipFill>
          <a:blip r:embed="rId2"/>
          <a:stretch>
            <a:fillRect/>
          </a:stretch>
        </p:blipFill>
        <p:spPr>
          <a:xfrm>
            <a:off x="726532" y="1579234"/>
            <a:ext cx="10738935" cy="3264573"/>
          </a:xfrm>
          <a:prstGeom prst="rect">
            <a:avLst/>
          </a:prstGeom>
        </p:spPr>
      </p:pic>
    </p:spTree>
    <p:extLst>
      <p:ext uri="{BB962C8B-B14F-4D97-AF65-F5344CB8AC3E}">
        <p14:creationId xmlns:p14="http://schemas.microsoft.com/office/powerpoint/2010/main" val="4177286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A1C91F-6ECF-971E-CBB1-E0EC7B99301D}"/>
              </a:ext>
            </a:extLst>
          </p:cNvPr>
          <p:cNvPicPr>
            <a:picLocks noChangeAspect="1"/>
          </p:cNvPicPr>
          <p:nvPr/>
        </p:nvPicPr>
        <p:blipFill>
          <a:blip r:embed="rId2"/>
          <a:stretch>
            <a:fillRect/>
          </a:stretch>
        </p:blipFill>
        <p:spPr>
          <a:xfrm>
            <a:off x="3145587" y="56201"/>
            <a:ext cx="5762439" cy="6801799"/>
          </a:xfrm>
          <a:prstGeom prst="rect">
            <a:avLst/>
          </a:prstGeom>
        </p:spPr>
      </p:pic>
    </p:spTree>
    <p:extLst>
      <p:ext uri="{BB962C8B-B14F-4D97-AF65-F5344CB8AC3E}">
        <p14:creationId xmlns:p14="http://schemas.microsoft.com/office/powerpoint/2010/main" val="93671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993E3-25B8-6CE3-C370-CBA98079AA7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59E7E15-4F64-83F6-E6A9-A6211889DB06}"/>
              </a:ext>
            </a:extLst>
          </p:cNvPr>
          <p:cNvPicPr>
            <a:picLocks noGrp="1" noChangeAspect="1"/>
          </p:cNvPicPr>
          <p:nvPr>
            <p:ph idx="1"/>
          </p:nvPr>
        </p:nvPicPr>
        <p:blipFill>
          <a:blip r:embed="rId2"/>
          <a:stretch>
            <a:fillRect/>
          </a:stretch>
        </p:blipFill>
        <p:spPr>
          <a:xfrm>
            <a:off x="3768827" y="168813"/>
            <a:ext cx="4654346" cy="6520374"/>
          </a:xfrm>
          <a:prstGeom prst="rect">
            <a:avLst/>
          </a:prstGeom>
        </p:spPr>
      </p:pic>
    </p:spTree>
    <p:extLst>
      <p:ext uri="{BB962C8B-B14F-4D97-AF65-F5344CB8AC3E}">
        <p14:creationId xmlns:p14="http://schemas.microsoft.com/office/powerpoint/2010/main" val="3755775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F5364-1B5B-347A-2EF8-27893C0B1988}"/>
              </a:ext>
            </a:extLst>
          </p:cNvPr>
          <p:cNvSpPr>
            <a:spLocks noGrp="1"/>
          </p:cNvSpPr>
          <p:nvPr>
            <p:ph type="title"/>
          </p:nvPr>
        </p:nvSpPr>
        <p:spPr/>
        <p:txBody>
          <a:bodyPr>
            <a:normAutofit fontScale="90000"/>
          </a:bodyPr>
          <a:lstStyle/>
          <a:p>
            <a:r>
              <a:rPr lang="en-IN" dirty="0"/>
              <a:t>Juxtaglomerular Apparatus (JGA)</a:t>
            </a:r>
          </a:p>
        </p:txBody>
      </p:sp>
      <p:sp>
        <p:nvSpPr>
          <p:cNvPr id="3" name="Content Placeholder 2">
            <a:extLst>
              <a:ext uri="{FF2B5EF4-FFF2-40B4-BE49-F238E27FC236}">
                <a16:creationId xmlns:a16="http://schemas.microsoft.com/office/drawing/2014/main" id="{A4FD9B3D-B8BE-50D0-42F4-CDFFCEA71DCE}"/>
              </a:ext>
            </a:extLst>
          </p:cNvPr>
          <p:cNvSpPr>
            <a:spLocks noGrp="1"/>
          </p:cNvSpPr>
          <p:nvPr>
            <p:ph idx="1"/>
          </p:nvPr>
        </p:nvSpPr>
        <p:spPr>
          <a:xfrm>
            <a:off x="1066800" y="1740310"/>
            <a:ext cx="10058400" cy="4294730"/>
          </a:xfrm>
        </p:spPr>
        <p:txBody>
          <a:bodyPr>
            <a:normAutofit fontScale="92500" lnSpcReduction="10000"/>
          </a:bodyPr>
          <a:lstStyle/>
          <a:p>
            <a:r>
              <a:rPr lang="en-IN" b="1" dirty="0"/>
              <a:t>Components of JGA</a:t>
            </a:r>
          </a:p>
          <a:p>
            <a:r>
              <a:rPr lang="en-IN" b="1" dirty="0"/>
              <a:t>Juxtaglomerular (JG) Cells</a:t>
            </a:r>
            <a:endParaRPr lang="en-IN" dirty="0"/>
          </a:p>
          <a:p>
            <a:pPr lvl="1"/>
            <a:r>
              <a:rPr lang="en-IN" dirty="0"/>
              <a:t>Modified </a:t>
            </a:r>
            <a:r>
              <a:rPr lang="en-IN" b="1" dirty="0"/>
              <a:t>smooth muscle cells</a:t>
            </a:r>
            <a:r>
              <a:rPr lang="en-IN" dirty="0"/>
              <a:t> of the </a:t>
            </a:r>
            <a:r>
              <a:rPr lang="en-IN" b="1" dirty="0"/>
              <a:t>afferent arteriole</a:t>
            </a:r>
            <a:r>
              <a:rPr lang="en-IN" dirty="0"/>
              <a:t> (sometimes efferent).</a:t>
            </a:r>
          </a:p>
          <a:p>
            <a:pPr lvl="1"/>
            <a:r>
              <a:rPr lang="en-IN" dirty="0"/>
              <a:t>Function:</a:t>
            </a:r>
          </a:p>
          <a:p>
            <a:pPr lvl="2"/>
            <a:r>
              <a:rPr lang="en-IN" b="1" dirty="0"/>
              <a:t>Secrete renin</a:t>
            </a:r>
            <a:r>
              <a:rPr lang="en-IN" dirty="0"/>
              <a:t> in response to low blood pressure, sympathetic stimulation, or low sodium delivery to DCT.</a:t>
            </a:r>
          </a:p>
          <a:p>
            <a:r>
              <a:rPr lang="en-IN" b="1" dirty="0"/>
              <a:t>Macula </a:t>
            </a:r>
            <a:r>
              <a:rPr lang="en-IN" b="1" dirty="0" err="1"/>
              <a:t>Densa</a:t>
            </a:r>
            <a:endParaRPr lang="en-IN" dirty="0"/>
          </a:p>
          <a:p>
            <a:pPr lvl="1"/>
            <a:r>
              <a:rPr lang="en-IN" dirty="0"/>
              <a:t>Specialized </a:t>
            </a:r>
            <a:r>
              <a:rPr lang="en-IN" b="1" dirty="0"/>
              <a:t>epithelial cells</a:t>
            </a:r>
            <a:r>
              <a:rPr lang="en-IN" dirty="0"/>
              <a:t> of the </a:t>
            </a:r>
            <a:r>
              <a:rPr lang="en-IN" b="1" dirty="0"/>
              <a:t>distal convoluted tubule</a:t>
            </a:r>
            <a:r>
              <a:rPr lang="en-IN" dirty="0"/>
              <a:t> that contact the afferent arteriole.</a:t>
            </a:r>
          </a:p>
          <a:p>
            <a:pPr lvl="1"/>
            <a:r>
              <a:rPr lang="en-IN" dirty="0"/>
              <a:t>Function:</a:t>
            </a:r>
          </a:p>
          <a:p>
            <a:pPr lvl="2"/>
            <a:r>
              <a:rPr lang="en-IN" b="1" dirty="0"/>
              <a:t>Sense Na⁺ and Cl⁻ concentration</a:t>
            </a:r>
            <a:r>
              <a:rPr lang="en-IN" dirty="0"/>
              <a:t> in tubular fluid.</a:t>
            </a:r>
          </a:p>
          <a:p>
            <a:pPr lvl="2"/>
            <a:r>
              <a:rPr lang="en-IN" dirty="0"/>
              <a:t>Signal JG cells to release renin if Na⁺ is low.</a:t>
            </a:r>
          </a:p>
          <a:p>
            <a:r>
              <a:rPr lang="en-IN" b="1" dirty="0"/>
              <a:t>Extraglomerular Mesangial Cells (Lacis Cells)</a:t>
            </a:r>
            <a:endParaRPr lang="en-IN" dirty="0"/>
          </a:p>
          <a:p>
            <a:pPr lvl="1"/>
            <a:r>
              <a:rPr lang="en-IN" dirty="0"/>
              <a:t>Located between afferent and efferent arterioles and macula </a:t>
            </a:r>
            <a:r>
              <a:rPr lang="en-IN" dirty="0" err="1"/>
              <a:t>densa</a:t>
            </a:r>
            <a:r>
              <a:rPr lang="en-IN" dirty="0"/>
              <a:t>.</a:t>
            </a:r>
          </a:p>
          <a:p>
            <a:pPr lvl="1"/>
            <a:r>
              <a:rPr lang="en-IN" dirty="0"/>
              <a:t>Function:</a:t>
            </a:r>
          </a:p>
          <a:p>
            <a:pPr lvl="2"/>
            <a:r>
              <a:rPr lang="en-IN" dirty="0"/>
              <a:t>Support structure</a:t>
            </a:r>
          </a:p>
          <a:p>
            <a:pPr lvl="2"/>
            <a:r>
              <a:rPr lang="en-IN" dirty="0"/>
              <a:t>Facilitate </a:t>
            </a:r>
            <a:r>
              <a:rPr lang="en-IN" b="1" dirty="0"/>
              <a:t>signal transmission</a:t>
            </a:r>
            <a:r>
              <a:rPr lang="en-IN" dirty="0"/>
              <a:t> between macula </a:t>
            </a:r>
            <a:r>
              <a:rPr lang="en-IN" dirty="0" err="1"/>
              <a:t>densa</a:t>
            </a:r>
            <a:r>
              <a:rPr lang="en-IN" dirty="0"/>
              <a:t> and JG cells</a:t>
            </a:r>
          </a:p>
        </p:txBody>
      </p:sp>
    </p:spTree>
    <p:extLst>
      <p:ext uri="{BB962C8B-B14F-4D97-AF65-F5344CB8AC3E}">
        <p14:creationId xmlns:p14="http://schemas.microsoft.com/office/powerpoint/2010/main" val="1959378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0B278-B51A-3319-675E-87FB8BB316BF}"/>
              </a:ext>
            </a:extLst>
          </p:cNvPr>
          <p:cNvSpPr>
            <a:spLocks noGrp="1"/>
          </p:cNvSpPr>
          <p:nvPr>
            <p:ph type="title"/>
          </p:nvPr>
        </p:nvSpPr>
        <p:spPr>
          <a:xfrm>
            <a:off x="4984955" y="642593"/>
            <a:ext cx="1636714" cy="4863471"/>
          </a:xfrm>
        </p:spPr>
        <p:txBody>
          <a:bodyPr/>
          <a:lstStyle/>
          <a:p>
            <a:r>
              <a:rPr lang="en-IN" dirty="0"/>
              <a:t>Func of skin</a:t>
            </a:r>
          </a:p>
        </p:txBody>
      </p:sp>
      <p:pic>
        <p:nvPicPr>
          <p:cNvPr id="5" name="Content Placeholder 4">
            <a:extLst>
              <a:ext uri="{FF2B5EF4-FFF2-40B4-BE49-F238E27FC236}">
                <a16:creationId xmlns:a16="http://schemas.microsoft.com/office/drawing/2014/main" id="{2F50DE3A-FED6-7DB2-3DCD-15C2B3F9C7F7}"/>
              </a:ext>
            </a:extLst>
          </p:cNvPr>
          <p:cNvPicPr>
            <a:picLocks noGrp="1" noChangeAspect="1"/>
          </p:cNvPicPr>
          <p:nvPr>
            <p:ph idx="1"/>
          </p:nvPr>
        </p:nvPicPr>
        <p:blipFill>
          <a:blip r:embed="rId2"/>
          <a:stretch>
            <a:fillRect/>
          </a:stretch>
        </p:blipFill>
        <p:spPr>
          <a:xfrm>
            <a:off x="273388" y="304134"/>
            <a:ext cx="4711567" cy="6272881"/>
          </a:xfrm>
          <a:prstGeom prst="rect">
            <a:avLst/>
          </a:prstGeom>
        </p:spPr>
      </p:pic>
      <p:pic>
        <p:nvPicPr>
          <p:cNvPr id="7" name="Picture 6">
            <a:extLst>
              <a:ext uri="{FF2B5EF4-FFF2-40B4-BE49-F238E27FC236}">
                <a16:creationId xmlns:a16="http://schemas.microsoft.com/office/drawing/2014/main" id="{43A892E5-04DC-F375-46F9-CDE63C115BD3}"/>
              </a:ext>
            </a:extLst>
          </p:cNvPr>
          <p:cNvPicPr>
            <a:picLocks noChangeAspect="1"/>
          </p:cNvPicPr>
          <p:nvPr/>
        </p:nvPicPr>
        <p:blipFill>
          <a:blip r:embed="rId3"/>
          <a:stretch>
            <a:fillRect/>
          </a:stretch>
        </p:blipFill>
        <p:spPr>
          <a:xfrm>
            <a:off x="6621669" y="304134"/>
            <a:ext cx="5296943" cy="6300401"/>
          </a:xfrm>
          <a:prstGeom prst="rect">
            <a:avLst/>
          </a:prstGeom>
        </p:spPr>
      </p:pic>
    </p:spTree>
    <p:extLst>
      <p:ext uri="{BB962C8B-B14F-4D97-AF65-F5344CB8AC3E}">
        <p14:creationId xmlns:p14="http://schemas.microsoft.com/office/powerpoint/2010/main" val="3624753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68AAF-3C33-8FF7-215B-A57951A96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E5640-C67D-B4A2-F9AE-BE68AEB2DA66}"/>
              </a:ext>
            </a:extLst>
          </p:cNvPr>
          <p:cNvSpPr>
            <a:spLocks noGrp="1"/>
          </p:cNvSpPr>
          <p:nvPr>
            <p:ph type="ctrTitle"/>
          </p:nvPr>
        </p:nvSpPr>
        <p:spPr/>
        <p:txBody>
          <a:bodyPr/>
          <a:lstStyle/>
          <a:p>
            <a:r>
              <a:rPr lang="en-IN" dirty="0"/>
              <a:t>Unit 2</a:t>
            </a:r>
          </a:p>
        </p:txBody>
      </p:sp>
      <p:sp>
        <p:nvSpPr>
          <p:cNvPr id="3" name="Subtitle 2">
            <a:extLst>
              <a:ext uri="{FF2B5EF4-FFF2-40B4-BE49-F238E27FC236}">
                <a16:creationId xmlns:a16="http://schemas.microsoft.com/office/drawing/2014/main" id="{1759A81E-F9B2-64B7-8F8D-2B9F242295A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88739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619A-476A-5FF2-AC32-1EC4806D5F0F}"/>
              </a:ext>
            </a:extLst>
          </p:cNvPr>
          <p:cNvSpPr>
            <a:spLocks noGrp="1"/>
          </p:cNvSpPr>
          <p:nvPr>
            <p:ph type="title"/>
          </p:nvPr>
        </p:nvSpPr>
        <p:spPr/>
        <p:txBody>
          <a:bodyPr/>
          <a:lstStyle/>
          <a:p>
            <a:r>
              <a:rPr lang="en-IN" dirty="0"/>
              <a:t>Glomerular filtration rate</a:t>
            </a:r>
          </a:p>
        </p:txBody>
      </p:sp>
      <p:sp>
        <p:nvSpPr>
          <p:cNvPr id="3" name="Content Placeholder 2">
            <a:extLst>
              <a:ext uri="{FF2B5EF4-FFF2-40B4-BE49-F238E27FC236}">
                <a16:creationId xmlns:a16="http://schemas.microsoft.com/office/drawing/2014/main" id="{81C2AC98-02A5-88D2-31D5-DE569F4EF13D}"/>
              </a:ext>
            </a:extLst>
          </p:cNvPr>
          <p:cNvSpPr>
            <a:spLocks noGrp="1"/>
          </p:cNvSpPr>
          <p:nvPr>
            <p:ph idx="1"/>
          </p:nvPr>
        </p:nvSpPr>
        <p:spPr/>
        <p:txBody>
          <a:bodyPr/>
          <a:lstStyle/>
          <a:p>
            <a:r>
              <a:rPr lang="en-US" dirty="0"/>
              <a:t>GFR is the </a:t>
            </a:r>
            <a:r>
              <a:rPr lang="en-US" b="1" dirty="0"/>
              <a:t>volume of fluid filtered by both kidneys per unit time</a:t>
            </a:r>
            <a:r>
              <a:rPr lang="en-US" dirty="0"/>
              <a:t> through the glomeruli. It is a key indicator of </a:t>
            </a:r>
            <a:r>
              <a:rPr lang="en-US" b="1" dirty="0"/>
              <a:t>kidney function</a:t>
            </a:r>
            <a:r>
              <a:rPr lang="en-US" dirty="0"/>
              <a:t>.</a:t>
            </a:r>
          </a:p>
          <a:p>
            <a:endParaRPr lang="en-IN" dirty="0"/>
          </a:p>
        </p:txBody>
      </p:sp>
      <p:graphicFrame>
        <p:nvGraphicFramePr>
          <p:cNvPr id="4" name="Table 3">
            <a:extLst>
              <a:ext uri="{FF2B5EF4-FFF2-40B4-BE49-F238E27FC236}">
                <a16:creationId xmlns:a16="http://schemas.microsoft.com/office/drawing/2014/main" id="{D97025EF-F7ED-8974-8FB3-0C2B74357B55}"/>
              </a:ext>
            </a:extLst>
          </p:cNvPr>
          <p:cNvGraphicFramePr>
            <a:graphicFrameLocks noGrp="1"/>
          </p:cNvGraphicFramePr>
          <p:nvPr>
            <p:extLst>
              <p:ext uri="{D42A27DB-BD31-4B8C-83A1-F6EECF244321}">
                <p14:modId xmlns:p14="http://schemas.microsoft.com/office/powerpoint/2010/main" val="3739274708"/>
              </p:ext>
            </p:extLst>
          </p:nvPr>
        </p:nvGraphicFramePr>
        <p:xfrm>
          <a:off x="1066800" y="2905417"/>
          <a:ext cx="10058400" cy="1463040"/>
        </p:xfrm>
        <a:graphic>
          <a:graphicData uri="http://schemas.openxmlformats.org/drawingml/2006/table">
            <a:tbl>
              <a:tblPr/>
              <a:tblGrid>
                <a:gridCol w="5029200">
                  <a:extLst>
                    <a:ext uri="{9D8B030D-6E8A-4147-A177-3AD203B41FA5}">
                      <a16:colId xmlns:a16="http://schemas.microsoft.com/office/drawing/2014/main" val="1001526590"/>
                    </a:ext>
                  </a:extLst>
                </a:gridCol>
                <a:gridCol w="5029200">
                  <a:extLst>
                    <a:ext uri="{9D8B030D-6E8A-4147-A177-3AD203B41FA5}">
                      <a16:colId xmlns:a16="http://schemas.microsoft.com/office/drawing/2014/main" val="1330058674"/>
                    </a:ext>
                  </a:extLst>
                </a:gridCol>
              </a:tblGrid>
              <a:tr h="0">
                <a:tc>
                  <a:txBody>
                    <a:bodyPr/>
                    <a:lstStyle/>
                    <a:p>
                      <a:pPr>
                        <a:buNone/>
                      </a:pPr>
                      <a:r>
                        <a:rPr lang="en-IN"/>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Normal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2005891"/>
                  </a:ext>
                </a:extLst>
              </a:tr>
              <a:tr h="0">
                <a:tc>
                  <a:txBody>
                    <a:bodyPr/>
                    <a:lstStyle/>
                    <a:p>
                      <a:pPr>
                        <a:buNone/>
                      </a:pPr>
                      <a:r>
                        <a:rPr lang="en-IN"/>
                        <a:t>GFR (both kidneys)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90–120 mL/min/1.73 m²</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553468"/>
                  </a:ext>
                </a:extLst>
              </a:tr>
              <a:tr h="0">
                <a:tc>
                  <a:txBody>
                    <a:bodyPr/>
                    <a:lstStyle/>
                    <a:p>
                      <a:pPr>
                        <a:buNone/>
                      </a:pPr>
                      <a:r>
                        <a:rPr lang="en-IN"/>
                        <a:t>GFR (per kidney)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~45–60 mL/min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2876687"/>
                  </a:ext>
                </a:extLst>
              </a:tr>
              <a:tr h="0">
                <a:tc>
                  <a:txBody>
                    <a:bodyPr/>
                    <a:lstStyle/>
                    <a:p>
                      <a:pPr>
                        <a:buNone/>
                      </a:pPr>
                      <a:r>
                        <a:rPr lang="it-IT"/>
                        <a:t>GFR (per nephron, single nephron GFR)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~30–80 </a:t>
                      </a:r>
                      <a:r>
                        <a:rPr lang="en-IN" dirty="0" err="1"/>
                        <a:t>nL</a:t>
                      </a:r>
                      <a:r>
                        <a:rPr lang="en-IN" dirty="0"/>
                        <a:t>/min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8595515"/>
                  </a:ext>
                </a:extLst>
              </a:tr>
            </a:tbl>
          </a:graphicData>
        </a:graphic>
      </p:graphicFrame>
    </p:spTree>
    <p:extLst>
      <p:ext uri="{BB962C8B-B14F-4D97-AF65-F5344CB8AC3E}">
        <p14:creationId xmlns:p14="http://schemas.microsoft.com/office/powerpoint/2010/main" val="1412963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4BBC-1B93-B66D-0229-725DBDCD9417}"/>
              </a:ext>
            </a:extLst>
          </p:cNvPr>
          <p:cNvSpPr>
            <a:spLocks noGrp="1"/>
          </p:cNvSpPr>
          <p:nvPr>
            <p:ph type="title"/>
          </p:nvPr>
        </p:nvSpPr>
        <p:spPr/>
        <p:txBody>
          <a:bodyPr/>
          <a:lstStyle/>
          <a:p>
            <a:r>
              <a:rPr lang="en-IN" dirty="0"/>
              <a:t>Factors influencing GFR</a:t>
            </a:r>
          </a:p>
        </p:txBody>
      </p:sp>
      <p:sp>
        <p:nvSpPr>
          <p:cNvPr id="3" name="Content Placeholder 2">
            <a:extLst>
              <a:ext uri="{FF2B5EF4-FFF2-40B4-BE49-F238E27FC236}">
                <a16:creationId xmlns:a16="http://schemas.microsoft.com/office/drawing/2014/main" id="{045C1A8F-C96B-2039-8984-2FD77B3E7DEE}"/>
              </a:ext>
            </a:extLst>
          </p:cNvPr>
          <p:cNvSpPr>
            <a:spLocks noGrp="1"/>
          </p:cNvSpPr>
          <p:nvPr>
            <p:ph idx="1"/>
          </p:nvPr>
        </p:nvSpPr>
        <p:spPr/>
        <p:txBody>
          <a:bodyPr/>
          <a:lstStyle/>
          <a:p>
            <a:r>
              <a:rPr lang="en-IN" dirty="0"/>
              <a:t>GFR depends on </a:t>
            </a:r>
            <a:r>
              <a:rPr lang="en-IN" b="1" dirty="0"/>
              <a:t>glomerular hydrostatic and osmotic forces</a:t>
            </a:r>
            <a:r>
              <a:rPr lang="en-IN" dirty="0"/>
              <a:t> as described by </a:t>
            </a:r>
            <a:r>
              <a:rPr lang="en-IN" b="1" dirty="0"/>
              <a:t>Starling’s equation</a:t>
            </a:r>
            <a:r>
              <a:rPr lang="en-IN" dirty="0"/>
              <a:t>:</a:t>
            </a:r>
          </a:p>
          <a:p>
            <a:r>
              <a:rPr lang="en-IN" b="1" dirty="0"/>
              <a:t>GFR = </a:t>
            </a:r>
            <a:r>
              <a:rPr lang="en-IN" b="1" dirty="0" err="1"/>
              <a:t>Kf</a:t>
            </a:r>
            <a:r>
              <a:rPr lang="en-IN" b="1" dirty="0"/>
              <a:t> × [(P_GC – P_BS) – (</a:t>
            </a:r>
            <a:r>
              <a:rPr lang="el-GR" b="1" dirty="0"/>
              <a:t>π_</a:t>
            </a:r>
            <a:r>
              <a:rPr lang="en-IN" b="1" dirty="0"/>
              <a:t>GC – </a:t>
            </a:r>
            <a:r>
              <a:rPr lang="el-GR" b="1" dirty="0"/>
              <a:t>π_</a:t>
            </a:r>
            <a:r>
              <a:rPr lang="en-IN" b="1" dirty="0"/>
              <a:t>BS)]</a:t>
            </a:r>
            <a:endParaRPr lang="en-IN" dirty="0"/>
          </a:p>
          <a:p>
            <a:r>
              <a:rPr lang="en-IN" b="1" dirty="0" err="1"/>
              <a:t>Kf</a:t>
            </a:r>
            <a:r>
              <a:rPr lang="en-IN" dirty="0"/>
              <a:t>: Filtration coefficient (surface area × permeability)</a:t>
            </a:r>
          </a:p>
          <a:p>
            <a:r>
              <a:rPr lang="en-IN" b="1" dirty="0"/>
              <a:t>P_GC</a:t>
            </a:r>
            <a:r>
              <a:rPr lang="en-IN" dirty="0"/>
              <a:t>: Glomerular capillary hydrostatic pressure</a:t>
            </a:r>
          </a:p>
          <a:p>
            <a:r>
              <a:rPr lang="en-IN" b="1" dirty="0"/>
              <a:t>P_BS</a:t>
            </a:r>
            <a:r>
              <a:rPr lang="en-IN" dirty="0"/>
              <a:t>: Bowman's space hydrostatic pressure</a:t>
            </a:r>
          </a:p>
          <a:p>
            <a:r>
              <a:rPr lang="el-GR" b="1" dirty="0"/>
              <a:t>π_</a:t>
            </a:r>
            <a:r>
              <a:rPr lang="en-IN" b="1" dirty="0"/>
              <a:t>GC</a:t>
            </a:r>
            <a:r>
              <a:rPr lang="en-IN" dirty="0"/>
              <a:t>: Glomerular capillary oncotic pressure</a:t>
            </a:r>
          </a:p>
          <a:p>
            <a:r>
              <a:rPr lang="el-GR" b="1" dirty="0"/>
              <a:t>π_</a:t>
            </a:r>
            <a:r>
              <a:rPr lang="en-IN" b="1" dirty="0"/>
              <a:t>BS</a:t>
            </a:r>
            <a:r>
              <a:rPr lang="en-IN" dirty="0"/>
              <a:t>: Bowman's space oncotic pressure (usually ~0)</a:t>
            </a:r>
          </a:p>
          <a:p>
            <a:endParaRPr lang="en-IN" dirty="0"/>
          </a:p>
        </p:txBody>
      </p:sp>
    </p:spTree>
    <p:extLst>
      <p:ext uri="{BB962C8B-B14F-4D97-AF65-F5344CB8AC3E}">
        <p14:creationId xmlns:p14="http://schemas.microsoft.com/office/powerpoint/2010/main" val="769064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FFC45-709D-0838-D559-1908A9084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E3E72-20B4-51F3-9F9F-574148393745}"/>
              </a:ext>
            </a:extLst>
          </p:cNvPr>
          <p:cNvSpPr>
            <a:spLocks noGrp="1"/>
          </p:cNvSpPr>
          <p:nvPr>
            <p:ph type="title"/>
          </p:nvPr>
        </p:nvSpPr>
        <p:spPr/>
        <p:txBody>
          <a:bodyPr/>
          <a:lstStyle/>
          <a:p>
            <a:r>
              <a:rPr lang="en-IN" dirty="0"/>
              <a:t>Factors influencing GFR</a:t>
            </a:r>
          </a:p>
        </p:txBody>
      </p:sp>
      <p:sp>
        <p:nvSpPr>
          <p:cNvPr id="3" name="Content Placeholder 2">
            <a:extLst>
              <a:ext uri="{FF2B5EF4-FFF2-40B4-BE49-F238E27FC236}">
                <a16:creationId xmlns:a16="http://schemas.microsoft.com/office/drawing/2014/main" id="{4A7D3384-58DB-C018-8B93-D6E4D03A63AD}"/>
              </a:ext>
            </a:extLst>
          </p:cNvPr>
          <p:cNvSpPr>
            <a:spLocks noGrp="1"/>
          </p:cNvSpPr>
          <p:nvPr>
            <p:ph idx="1"/>
          </p:nvPr>
        </p:nvSpPr>
        <p:spPr/>
        <p:txBody>
          <a:bodyPr/>
          <a:lstStyle/>
          <a:p>
            <a:pPr marL="0" indent="0">
              <a:buNone/>
            </a:pPr>
            <a:r>
              <a:rPr lang="en-IN" b="1" dirty="0"/>
              <a:t>A. Hemodynamic Factors</a:t>
            </a:r>
          </a:p>
          <a:p>
            <a:r>
              <a:rPr lang="en-IN" b="1" dirty="0"/>
              <a:t>Glomerular capillary hydrostatic pressure (P_GC)</a:t>
            </a:r>
            <a:endParaRPr lang="en-IN" dirty="0"/>
          </a:p>
          <a:p>
            <a:pPr lvl="1"/>
            <a:r>
              <a:rPr lang="en-IN" dirty="0"/>
              <a:t>High pressure → ↑ GFR</a:t>
            </a:r>
          </a:p>
          <a:p>
            <a:pPr lvl="1"/>
            <a:r>
              <a:rPr lang="en-IN" dirty="0"/>
              <a:t>Controlled by </a:t>
            </a:r>
            <a:r>
              <a:rPr lang="en-IN" b="1" dirty="0"/>
              <a:t>afferent/efferent arteriole tone</a:t>
            </a:r>
            <a:endParaRPr lang="en-IN" dirty="0"/>
          </a:p>
          <a:p>
            <a:r>
              <a:rPr lang="en-IN" b="1" dirty="0"/>
              <a:t>Bowman’s space hydrostatic pressure (P_BS)</a:t>
            </a:r>
            <a:endParaRPr lang="en-IN" dirty="0"/>
          </a:p>
          <a:p>
            <a:pPr lvl="1"/>
            <a:r>
              <a:rPr lang="en-IN" dirty="0"/>
              <a:t>High tubular pressure → ↓ GFR</a:t>
            </a:r>
          </a:p>
          <a:p>
            <a:pPr lvl="1"/>
            <a:r>
              <a:rPr lang="en-IN" dirty="0"/>
              <a:t>Example: obstruction in ureter</a:t>
            </a:r>
          </a:p>
          <a:p>
            <a:r>
              <a:rPr lang="en-IN" b="1" dirty="0"/>
              <a:t>Plasma oncotic pressure (</a:t>
            </a:r>
            <a:r>
              <a:rPr lang="el-GR" b="1" dirty="0"/>
              <a:t>π_</a:t>
            </a:r>
            <a:r>
              <a:rPr lang="en-IN" b="1" dirty="0"/>
              <a:t>GC)</a:t>
            </a:r>
            <a:endParaRPr lang="en-IN" dirty="0"/>
          </a:p>
          <a:p>
            <a:pPr lvl="1"/>
            <a:r>
              <a:rPr lang="en-IN" dirty="0"/>
              <a:t>High plasma proteins → ↓ GFR (opposes filtration)</a:t>
            </a:r>
          </a:p>
          <a:p>
            <a:r>
              <a:rPr lang="en-IN" b="1" dirty="0"/>
              <a:t>Filtration surface area &amp; permeability (</a:t>
            </a:r>
            <a:r>
              <a:rPr lang="en-IN" b="1" dirty="0" err="1"/>
              <a:t>Kf</a:t>
            </a:r>
            <a:r>
              <a:rPr lang="en-IN" b="1" dirty="0"/>
              <a:t>)</a:t>
            </a:r>
            <a:endParaRPr lang="en-IN" dirty="0"/>
          </a:p>
          <a:p>
            <a:pPr lvl="1"/>
            <a:r>
              <a:rPr lang="en-IN" dirty="0"/>
              <a:t>Glomerular damage → ↓ </a:t>
            </a:r>
            <a:r>
              <a:rPr lang="en-IN" dirty="0" err="1"/>
              <a:t>Kf</a:t>
            </a:r>
            <a:r>
              <a:rPr lang="en-IN" dirty="0"/>
              <a:t> → ↓ GFR</a:t>
            </a:r>
          </a:p>
          <a:p>
            <a:endParaRPr lang="en-IN" dirty="0"/>
          </a:p>
        </p:txBody>
      </p:sp>
    </p:spTree>
    <p:extLst>
      <p:ext uri="{BB962C8B-B14F-4D97-AF65-F5344CB8AC3E}">
        <p14:creationId xmlns:p14="http://schemas.microsoft.com/office/powerpoint/2010/main" val="839255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F6B87-9150-462D-3F8D-312F91045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9DB69-AB8E-B3EB-F45E-29D3FCA23AAC}"/>
              </a:ext>
            </a:extLst>
          </p:cNvPr>
          <p:cNvSpPr>
            <a:spLocks noGrp="1"/>
          </p:cNvSpPr>
          <p:nvPr>
            <p:ph type="title"/>
          </p:nvPr>
        </p:nvSpPr>
        <p:spPr/>
        <p:txBody>
          <a:bodyPr/>
          <a:lstStyle/>
          <a:p>
            <a:r>
              <a:rPr lang="en-IN" dirty="0"/>
              <a:t>Factors influencing GFR</a:t>
            </a:r>
          </a:p>
        </p:txBody>
      </p:sp>
      <p:sp>
        <p:nvSpPr>
          <p:cNvPr id="3" name="Content Placeholder 2">
            <a:extLst>
              <a:ext uri="{FF2B5EF4-FFF2-40B4-BE49-F238E27FC236}">
                <a16:creationId xmlns:a16="http://schemas.microsoft.com/office/drawing/2014/main" id="{7727FB08-9830-8A4F-7415-C8F8FE4EB948}"/>
              </a:ext>
            </a:extLst>
          </p:cNvPr>
          <p:cNvSpPr>
            <a:spLocks noGrp="1"/>
          </p:cNvSpPr>
          <p:nvPr>
            <p:ph idx="1"/>
          </p:nvPr>
        </p:nvSpPr>
        <p:spPr/>
        <p:txBody>
          <a:bodyPr/>
          <a:lstStyle/>
          <a:p>
            <a:r>
              <a:rPr lang="en-IN" b="1" dirty="0"/>
              <a:t>B. Neural &amp; Hormonal Factors</a:t>
            </a:r>
          </a:p>
          <a:p>
            <a:r>
              <a:rPr lang="en-IN" b="1" dirty="0"/>
              <a:t>Sympathetic stimulation</a:t>
            </a:r>
            <a:endParaRPr lang="en-IN" dirty="0"/>
          </a:p>
          <a:p>
            <a:pPr lvl="1"/>
            <a:r>
              <a:rPr lang="en-IN" dirty="0"/>
              <a:t>Constricts afferent arterioles → ↓ GFR</a:t>
            </a:r>
          </a:p>
          <a:p>
            <a:r>
              <a:rPr lang="en-IN" b="1" dirty="0"/>
              <a:t>Renin–angiotensin–aldosterone system</a:t>
            </a:r>
            <a:endParaRPr lang="en-IN" dirty="0"/>
          </a:p>
          <a:p>
            <a:pPr lvl="1"/>
            <a:r>
              <a:rPr lang="en-IN" dirty="0"/>
              <a:t>Angiotensin II constricts efferent arteriole → maintains GFR in low BP</a:t>
            </a:r>
          </a:p>
          <a:p>
            <a:r>
              <a:rPr lang="en-IN" b="1" dirty="0"/>
              <a:t>Prostaglandins</a:t>
            </a:r>
            <a:endParaRPr lang="en-IN" dirty="0"/>
          </a:p>
          <a:p>
            <a:pPr lvl="1"/>
            <a:r>
              <a:rPr lang="en-IN" dirty="0"/>
              <a:t>Vasodilate afferent arteriole → ↑ GFR</a:t>
            </a:r>
          </a:p>
          <a:p>
            <a:endParaRPr lang="en-IN" dirty="0"/>
          </a:p>
        </p:txBody>
      </p:sp>
    </p:spTree>
    <p:extLst>
      <p:ext uri="{BB962C8B-B14F-4D97-AF65-F5344CB8AC3E}">
        <p14:creationId xmlns:p14="http://schemas.microsoft.com/office/powerpoint/2010/main" val="1496761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446C-ACB7-8605-2A93-914480B3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5474C-57F0-80DD-41F1-F4C9B505783D}"/>
              </a:ext>
            </a:extLst>
          </p:cNvPr>
          <p:cNvSpPr>
            <a:spLocks noGrp="1"/>
          </p:cNvSpPr>
          <p:nvPr>
            <p:ph type="title"/>
          </p:nvPr>
        </p:nvSpPr>
        <p:spPr/>
        <p:txBody>
          <a:bodyPr/>
          <a:lstStyle/>
          <a:p>
            <a:r>
              <a:rPr lang="en-IN" dirty="0"/>
              <a:t>Factors influencing GFR</a:t>
            </a:r>
          </a:p>
        </p:txBody>
      </p:sp>
      <p:sp>
        <p:nvSpPr>
          <p:cNvPr id="3" name="Content Placeholder 2">
            <a:extLst>
              <a:ext uri="{FF2B5EF4-FFF2-40B4-BE49-F238E27FC236}">
                <a16:creationId xmlns:a16="http://schemas.microsoft.com/office/drawing/2014/main" id="{51267C81-A41C-1714-A4F1-E82AE7E30974}"/>
              </a:ext>
            </a:extLst>
          </p:cNvPr>
          <p:cNvSpPr>
            <a:spLocks noGrp="1"/>
          </p:cNvSpPr>
          <p:nvPr>
            <p:ph idx="1"/>
          </p:nvPr>
        </p:nvSpPr>
        <p:spPr/>
        <p:txBody>
          <a:bodyPr>
            <a:normAutofit/>
          </a:bodyPr>
          <a:lstStyle/>
          <a:p>
            <a:r>
              <a:rPr lang="en-IN" b="1" dirty="0"/>
              <a:t>C. Other Factors</a:t>
            </a:r>
          </a:p>
          <a:p>
            <a:r>
              <a:rPr lang="en-IN" b="1" dirty="0"/>
              <a:t>Plasma volume:</a:t>
            </a:r>
            <a:r>
              <a:rPr lang="en-IN" dirty="0"/>
              <a:t> ↑ volume → ↑ GFR</a:t>
            </a:r>
          </a:p>
          <a:p>
            <a:r>
              <a:rPr lang="en-IN" b="1" dirty="0"/>
              <a:t>Age:</a:t>
            </a:r>
            <a:r>
              <a:rPr lang="en-IN" dirty="0"/>
              <a:t> GFR declines with age</a:t>
            </a:r>
          </a:p>
          <a:p>
            <a:r>
              <a:rPr lang="en-IN" b="1" dirty="0"/>
              <a:t>Diseases:</a:t>
            </a:r>
            <a:r>
              <a:rPr lang="en-IN" dirty="0"/>
              <a:t> Diabetes, hypertension, glomerulonephritis can alter GFR</a:t>
            </a:r>
          </a:p>
          <a:p>
            <a:endParaRPr lang="en-IN" dirty="0"/>
          </a:p>
        </p:txBody>
      </p:sp>
    </p:spTree>
    <p:extLst>
      <p:ext uri="{BB962C8B-B14F-4D97-AF65-F5344CB8AC3E}">
        <p14:creationId xmlns:p14="http://schemas.microsoft.com/office/powerpoint/2010/main" val="3646673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DA3F0-91AB-2EBF-5122-FE616A27C2CA}"/>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925E5618-605B-EB90-98C1-82A5B2AB3B6F}"/>
              </a:ext>
            </a:extLst>
          </p:cNvPr>
          <p:cNvSpPr>
            <a:spLocks noGrp="1"/>
          </p:cNvSpPr>
          <p:nvPr>
            <p:ph idx="1"/>
          </p:nvPr>
        </p:nvSpPr>
        <p:spPr/>
        <p:txBody>
          <a:bodyPr/>
          <a:lstStyle/>
          <a:p>
            <a:r>
              <a:rPr lang="en-US" dirty="0"/>
              <a:t>Capillary hydrostatic pressure variations occur when there are changes in systemic blood pressure and when there is constriction of afferent or efferent arteriole. These conditions affect the GFR. Colloidal osmotic pressure changes may occur in dehydration and malnutrition (hypoproteinemia) which in turn may affect the GFR. Hydrostatic pressure changes in Bowman’s space when there is either ureteral obstruction or edema of the kidney which in turn may reduce the GFR. Any condition that alters the filtration surface will also affect the GFR</a:t>
            </a:r>
            <a:endParaRPr lang="en-IN" dirty="0"/>
          </a:p>
        </p:txBody>
      </p:sp>
    </p:spTree>
    <p:extLst>
      <p:ext uri="{BB962C8B-B14F-4D97-AF65-F5344CB8AC3E}">
        <p14:creationId xmlns:p14="http://schemas.microsoft.com/office/powerpoint/2010/main" val="3679867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D047F-B8E6-C9E9-756C-2B8643538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3B4EB-092F-BB3C-6BC7-4A0684CC537F}"/>
              </a:ext>
            </a:extLst>
          </p:cNvPr>
          <p:cNvSpPr>
            <a:spLocks noGrp="1"/>
          </p:cNvSpPr>
          <p:nvPr>
            <p:ph type="ctrTitle"/>
          </p:nvPr>
        </p:nvSpPr>
        <p:spPr/>
        <p:txBody>
          <a:bodyPr/>
          <a:lstStyle/>
          <a:p>
            <a:r>
              <a:rPr lang="en-IN" dirty="0"/>
              <a:t>Unit 3</a:t>
            </a:r>
          </a:p>
        </p:txBody>
      </p:sp>
      <p:sp>
        <p:nvSpPr>
          <p:cNvPr id="3" name="Subtitle 2">
            <a:extLst>
              <a:ext uri="{FF2B5EF4-FFF2-40B4-BE49-F238E27FC236}">
                <a16:creationId xmlns:a16="http://schemas.microsoft.com/office/drawing/2014/main" id="{5E524691-6859-0869-1DE0-F79BA8296CD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06875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EDCF2-5105-5D91-384C-AEFE059587D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FFD4356-B154-A6DE-8AC7-9311AFE46C38}"/>
              </a:ext>
            </a:extLst>
          </p:cNvPr>
          <p:cNvPicPr>
            <a:picLocks noGrp="1" noChangeAspect="1"/>
          </p:cNvPicPr>
          <p:nvPr>
            <p:ph idx="1"/>
          </p:nvPr>
        </p:nvPicPr>
        <p:blipFill>
          <a:blip r:embed="rId2"/>
          <a:stretch>
            <a:fillRect/>
          </a:stretch>
        </p:blipFill>
        <p:spPr>
          <a:xfrm>
            <a:off x="2428875" y="66676"/>
            <a:ext cx="7219949" cy="6791324"/>
          </a:xfrm>
          <a:prstGeom prst="rect">
            <a:avLst/>
          </a:prstGeom>
        </p:spPr>
      </p:pic>
    </p:spTree>
    <p:extLst>
      <p:ext uri="{BB962C8B-B14F-4D97-AF65-F5344CB8AC3E}">
        <p14:creationId xmlns:p14="http://schemas.microsoft.com/office/powerpoint/2010/main" val="929816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7EE35-2158-D784-6B3D-6B4FC1656976}"/>
              </a:ext>
            </a:extLst>
          </p:cNvPr>
          <p:cNvSpPr>
            <a:spLocks noGrp="1"/>
          </p:cNvSpPr>
          <p:nvPr>
            <p:ph type="title"/>
          </p:nvPr>
        </p:nvSpPr>
        <p:spPr/>
        <p:txBody>
          <a:bodyPr>
            <a:normAutofit/>
          </a:bodyPr>
          <a:lstStyle/>
          <a:p>
            <a:r>
              <a:rPr lang="en-US" b="1" dirty="0"/>
              <a:t>Tubular Reabsorption</a:t>
            </a:r>
            <a:endParaRPr lang="en-IN" dirty="0"/>
          </a:p>
        </p:txBody>
      </p:sp>
      <p:sp>
        <p:nvSpPr>
          <p:cNvPr id="3" name="Content Placeholder 2">
            <a:extLst>
              <a:ext uri="{FF2B5EF4-FFF2-40B4-BE49-F238E27FC236}">
                <a16:creationId xmlns:a16="http://schemas.microsoft.com/office/drawing/2014/main" id="{E4C7DCBC-3A4E-70CA-EA91-BCF56CB5186A}"/>
              </a:ext>
            </a:extLst>
          </p:cNvPr>
          <p:cNvSpPr>
            <a:spLocks noGrp="1"/>
          </p:cNvSpPr>
          <p:nvPr>
            <p:ph idx="1"/>
          </p:nvPr>
        </p:nvSpPr>
        <p:spPr/>
        <p:txBody>
          <a:bodyPr/>
          <a:lstStyle/>
          <a:p>
            <a:pPr marL="0" indent="0">
              <a:buNone/>
            </a:pPr>
            <a:r>
              <a:rPr lang="en-US" dirty="0"/>
              <a:t>Tubular reabsorption is the </a:t>
            </a:r>
            <a:r>
              <a:rPr lang="en-US" b="1" dirty="0"/>
              <a:t>process by which substances are moved from the tubular fluid (filtrate) back into the blood</a:t>
            </a:r>
            <a:r>
              <a:rPr lang="en-US" dirty="0"/>
              <a:t> (peritubular capillaries).</a:t>
            </a:r>
          </a:p>
          <a:p>
            <a:endParaRPr lang="en-IN" dirty="0"/>
          </a:p>
        </p:txBody>
      </p:sp>
      <p:graphicFrame>
        <p:nvGraphicFramePr>
          <p:cNvPr id="4" name="Table 3">
            <a:extLst>
              <a:ext uri="{FF2B5EF4-FFF2-40B4-BE49-F238E27FC236}">
                <a16:creationId xmlns:a16="http://schemas.microsoft.com/office/drawing/2014/main" id="{7E32B386-6838-8464-BD4C-AEB7E840422B}"/>
              </a:ext>
            </a:extLst>
          </p:cNvPr>
          <p:cNvGraphicFramePr>
            <a:graphicFrameLocks noGrp="1"/>
          </p:cNvGraphicFramePr>
          <p:nvPr>
            <p:extLst>
              <p:ext uri="{D42A27DB-BD31-4B8C-83A1-F6EECF244321}">
                <p14:modId xmlns:p14="http://schemas.microsoft.com/office/powerpoint/2010/main" val="3748116945"/>
              </p:ext>
            </p:extLst>
          </p:nvPr>
        </p:nvGraphicFramePr>
        <p:xfrm>
          <a:off x="1238250" y="2870910"/>
          <a:ext cx="9886950" cy="3548940"/>
        </p:xfrm>
        <a:graphic>
          <a:graphicData uri="http://schemas.openxmlformats.org/drawingml/2006/table">
            <a:tbl>
              <a:tblPr/>
              <a:tblGrid>
                <a:gridCol w="2800350">
                  <a:extLst>
                    <a:ext uri="{9D8B030D-6E8A-4147-A177-3AD203B41FA5}">
                      <a16:colId xmlns:a16="http://schemas.microsoft.com/office/drawing/2014/main" val="336700099"/>
                    </a:ext>
                  </a:extLst>
                </a:gridCol>
                <a:gridCol w="2714625">
                  <a:extLst>
                    <a:ext uri="{9D8B030D-6E8A-4147-A177-3AD203B41FA5}">
                      <a16:colId xmlns:a16="http://schemas.microsoft.com/office/drawing/2014/main" val="1557079664"/>
                    </a:ext>
                  </a:extLst>
                </a:gridCol>
                <a:gridCol w="4371975">
                  <a:extLst>
                    <a:ext uri="{9D8B030D-6E8A-4147-A177-3AD203B41FA5}">
                      <a16:colId xmlns:a16="http://schemas.microsoft.com/office/drawing/2014/main" val="1545358842"/>
                    </a:ext>
                  </a:extLst>
                </a:gridCol>
              </a:tblGrid>
              <a:tr h="399052">
                <a:tc>
                  <a:txBody>
                    <a:bodyPr/>
                    <a:lstStyle/>
                    <a:p>
                      <a:pPr>
                        <a:buNone/>
                      </a:pPr>
                      <a:r>
                        <a:rPr lang="en-IN" sz="1200" dirty="0"/>
                        <a:t>Nephron Segment</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Reabsorbed Substances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Mechanism / Notes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246437"/>
                  </a:ext>
                </a:extLst>
              </a:tr>
              <a:tr h="835313">
                <a:tc>
                  <a:txBody>
                    <a:bodyPr/>
                    <a:lstStyle/>
                    <a:p>
                      <a:pPr>
                        <a:buNone/>
                      </a:pPr>
                      <a:r>
                        <a:rPr lang="en-IN" sz="1200" b="1" dirty="0"/>
                        <a:t>Proximal Convoluted Tubule (PCT)</a:t>
                      </a:r>
                      <a:endParaRPr lang="en-IN" sz="1200" dirty="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~65% Na⁺, water, Cl⁻, K⁺, HCO₃⁻, glucose, amino acids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Active Na⁺ transport drives water reabsorption (osmosis); Na⁺-glucose cotransport; isosmotic reabsorption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4349862"/>
                  </a:ext>
                </a:extLst>
              </a:tr>
              <a:tr h="457200">
                <a:tc>
                  <a:txBody>
                    <a:bodyPr/>
                    <a:lstStyle/>
                    <a:p>
                      <a:pPr>
                        <a:buNone/>
                      </a:pPr>
                      <a:r>
                        <a:rPr lang="en-IN" sz="1200" b="1"/>
                        <a:t>Loop of Henle</a:t>
                      </a:r>
                      <a:endParaRPr lang="en-IN" sz="12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Descending: water</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Water reabsorption (impermeable to solutes)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3196557"/>
                  </a:ext>
                </a:extLst>
              </a:tr>
              <a:tr h="457200">
                <a:tc>
                  <a:txBody>
                    <a:bodyPr/>
                    <a:lstStyle/>
                    <a:p>
                      <a:pPr>
                        <a:buNone/>
                      </a:pPr>
                      <a:endParaRPr lang="en-IN" sz="12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Ascending: Na⁺, K⁺, Cl⁻</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Active transport; impermeable to water → dilutes tubular fluid</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782285"/>
                  </a:ext>
                </a:extLst>
              </a:tr>
              <a:tr h="570260">
                <a:tc>
                  <a:txBody>
                    <a:bodyPr/>
                    <a:lstStyle/>
                    <a:p>
                      <a:pPr>
                        <a:buNone/>
                      </a:pPr>
                      <a:r>
                        <a:rPr lang="en-IN" sz="1200" b="1"/>
                        <a:t>Distal Convoluted Tubule (DCT)</a:t>
                      </a:r>
                      <a:endParaRPr lang="en-IN" sz="12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Na⁺, Cl⁻, Ca²⁺</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Na⁺ reabsorption via Na⁺-Cl⁻ symporter; Ca²⁺ under PTH control</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1060084"/>
                  </a:ext>
                </a:extLst>
              </a:tr>
              <a:tr h="829915">
                <a:tc>
                  <a:txBody>
                    <a:bodyPr/>
                    <a:lstStyle/>
                    <a:p>
                      <a:pPr>
                        <a:buNone/>
                      </a:pPr>
                      <a:r>
                        <a:rPr lang="en-IN" sz="1200" b="1"/>
                        <a:t>Collecting Duct</a:t>
                      </a:r>
                      <a:endParaRPr lang="en-IN" sz="12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Water, Na⁺, urea</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Water reabsorption via </a:t>
                      </a:r>
                      <a:r>
                        <a:rPr lang="en-IN" sz="1200" b="1" dirty="0"/>
                        <a:t>ADH</a:t>
                      </a:r>
                      <a:r>
                        <a:rPr lang="en-IN" sz="1200" dirty="0"/>
                        <a:t>; Na⁺ via </a:t>
                      </a:r>
                      <a:r>
                        <a:rPr lang="en-IN" sz="1200" b="1" dirty="0"/>
                        <a:t>aldosterone</a:t>
                      </a:r>
                      <a:r>
                        <a:rPr lang="en-IN" sz="1200" dirty="0"/>
                        <a:t>; urea recycling aids medullary concentration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0906193"/>
                  </a:ext>
                </a:extLst>
              </a:tr>
            </a:tbl>
          </a:graphicData>
        </a:graphic>
      </p:graphicFrame>
    </p:spTree>
    <p:extLst>
      <p:ext uri="{BB962C8B-B14F-4D97-AF65-F5344CB8AC3E}">
        <p14:creationId xmlns:p14="http://schemas.microsoft.com/office/powerpoint/2010/main" val="4046607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06A6A-9AB0-8E45-1820-EFD2A707ACAB}"/>
              </a:ext>
            </a:extLst>
          </p:cNvPr>
          <p:cNvSpPr>
            <a:spLocks noGrp="1"/>
          </p:cNvSpPr>
          <p:nvPr>
            <p:ph type="title"/>
          </p:nvPr>
        </p:nvSpPr>
        <p:spPr/>
        <p:txBody>
          <a:bodyPr/>
          <a:lstStyle/>
          <a:p>
            <a:r>
              <a:rPr lang="en-IN" dirty="0"/>
              <a:t>Tubular secretion</a:t>
            </a:r>
          </a:p>
        </p:txBody>
      </p:sp>
      <p:sp>
        <p:nvSpPr>
          <p:cNvPr id="3" name="Content Placeholder 2">
            <a:extLst>
              <a:ext uri="{FF2B5EF4-FFF2-40B4-BE49-F238E27FC236}">
                <a16:creationId xmlns:a16="http://schemas.microsoft.com/office/drawing/2014/main" id="{DA3F359D-DA15-04D8-5D03-6480ED21B296}"/>
              </a:ext>
            </a:extLst>
          </p:cNvPr>
          <p:cNvSpPr>
            <a:spLocks noGrp="1"/>
          </p:cNvSpPr>
          <p:nvPr>
            <p:ph idx="1"/>
          </p:nvPr>
        </p:nvSpPr>
        <p:spPr/>
        <p:txBody>
          <a:bodyPr/>
          <a:lstStyle/>
          <a:p>
            <a:r>
              <a:rPr lang="en-US" dirty="0"/>
              <a:t>Tubular secretion is the </a:t>
            </a:r>
            <a:r>
              <a:rPr lang="en-US" b="1" dirty="0"/>
              <a:t>transfer of substances from peritubular capillaries into the tubular fluid</a:t>
            </a:r>
            <a:r>
              <a:rPr lang="en-US" dirty="0"/>
              <a:t>.</a:t>
            </a:r>
            <a:endParaRPr lang="en-IN" dirty="0"/>
          </a:p>
        </p:txBody>
      </p:sp>
      <p:graphicFrame>
        <p:nvGraphicFramePr>
          <p:cNvPr id="4" name="Table 3">
            <a:extLst>
              <a:ext uri="{FF2B5EF4-FFF2-40B4-BE49-F238E27FC236}">
                <a16:creationId xmlns:a16="http://schemas.microsoft.com/office/drawing/2014/main" id="{8067FBB5-B3C5-174D-F7B9-1F6A3A38CBA4}"/>
              </a:ext>
            </a:extLst>
          </p:cNvPr>
          <p:cNvGraphicFramePr>
            <a:graphicFrameLocks noGrp="1"/>
          </p:cNvGraphicFramePr>
          <p:nvPr>
            <p:extLst>
              <p:ext uri="{D42A27DB-BD31-4B8C-83A1-F6EECF244321}">
                <p14:modId xmlns:p14="http://schemas.microsoft.com/office/powerpoint/2010/main" val="2137109062"/>
              </p:ext>
            </p:extLst>
          </p:nvPr>
        </p:nvGraphicFramePr>
        <p:xfrm>
          <a:off x="1066800" y="2789396"/>
          <a:ext cx="10058400" cy="2560320"/>
        </p:xfrm>
        <a:graphic>
          <a:graphicData uri="http://schemas.openxmlformats.org/drawingml/2006/table">
            <a:tbl>
              <a:tblPr/>
              <a:tblGrid>
                <a:gridCol w="3352800">
                  <a:extLst>
                    <a:ext uri="{9D8B030D-6E8A-4147-A177-3AD203B41FA5}">
                      <a16:colId xmlns:a16="http://schemas.microsoft.com/office/drawing/2014/main" val="2238324787"/>
                    </a:ext>
                  </a:extLst>
                </a:gridCol>
                <a:gridCol w="3352800">
                  <a:extLst>
                    <a:ext uri="{9D8B030D-6E8A-4147-A177-3AD203B41FA5}">
                      <a16:colId xmlns:a16="http://schemas.microsoft.com/office/drawing/2014/main" val="3224401773"/>
                    </a:ext>
                  </a:extLst>
                </a:gridCol>
                <a:gridCol w="3352800">
                  <a:extLst>
                    <a:ext uri="{9D8B030D-6E8A-4147-A177-3AD203B41FA5}">
                      <a16:colId xmlns:a16="http://schemas.microsoft.com/office/drawing/2014/main" val="3118356622"/>
                    </a:ext>
                  </a:extLst>
                </a:gridCol>
              </a:tblGrid>
              <a:tr h="0">
                <a:tc>
                  <a:txBody>
                    <a:bodyPr/>
                    <a:lstStyle/>
                    <a:p>
                      <a:pPr>
                        <a:buNone/>
                      </a:pPr>
                      <a:r>
                        <a:rPr lang="en-IN"/>
                        <a:t>Nephron 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Secreted Substances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Function / 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4821971"/>
                  </a:ext>
                </a:extLst>
              </a:tr>
              <a:tr h="0">
                <a:tc>
                  <a:txBody>
                    <a:bodyPr/>
                    <a:lstStyle/>
                    <a:p>
                      <a:pPr>
                        <a:buNone/>
                      </a:pPr>
                      <a:r>
                        <a:rPr lang="en-IN" b="1"/>
                        <a:t>PCT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 NH₄⁺, creatinine, drugs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Acid-base balance; drug elimination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4774790"/>
                  </a:ext>
                </a:extLst>
              </a:tr>
              <a:tr h="0">
                <a:tc>
                  <a:txBody>
                    <a:bodyPr/>
                    <a:lstStyle/>
                    <a:p>
                      <a:pPr>
                        <a:buNone/>
                      </a:pPr>
                      <a:r>
                        <a:rPr lang="en-IN" b="1"/>
                        <a:t>DCT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K⁺ secretion under aldosterone; H⁺ secretion for pH regulation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574877"/>
                  </a:ext>
                </a:extLst>
              </a:tr>
              <a:tr h="0">
                <a:tc>
                  <a:txBody>
                    <a:bodyPr/>
                    <a:lstStyle/>
                    <a:p>
                      <a:pPr>
                        <a:buNone/>
                      </a:pPr>
                      <a:r>
                        <a:rPr lang="en-IN" b="1"/>
                        <a:t>Collecting Duct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 K⁺, NH₄⁺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Acid-base balance; final urine composition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3265013"/>
                  </a:ext>
                </a:extLst>
              </a:tr>
            </a:tbl>
          </a:graphicData>
        </a:graphic>
      </p:graphicFrame>
    </p:spTree>
    <p:extLst>
      <p:ext uri="{BB962C8B-B14F-4D97-AF65-F5344CB8AC3E}">
        <p14:creationId xmlns:p14="http://schemas.microsoft.com/office/powerpoint/2010/main" val="1701444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F75B-CFD8-E665-A681-D2AC8BEDD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1C3A9-B3B1-F1C9-78D7-05D2FCC84D84}"/>
              </a:ext>
            </a:extLst>
          </p:cNvPr>
          <p:cNvSpPr>
            <a:spLocks noGrp="1"/>
          </p:cNvSpPr>
          <p:nvPr>
            <p:ph type="ctrTitle"/>
          </p:nvPr>
        </p:nvSpPr>
        <p:spPr/>
        <p:txBody>
          <a:bodyPr/>
          <a:lstStyle/>
          <a:p>
            <a:r>
              <a:rPr lang="en-IN" dirty="0"/>
              <a:t>Unit 4</a:t>
            </a:r>
          </a:p>
        </p:txBody>
      </p:sp>
      <p:sp>
        <p:nvSpPr>
          <p:cNvPr id="3" name="Subtitle 2">
            <a:extLst>
              <a:ext uri="{FF2B5EF4-FFF2-40B4-BE49-F238E27FC236}">
                <a16:creationId xmlns:a16="http://schemas.microsoft.com/office/drawing/2014/main" id="{6B861057-9DCF-431D-775F-F814B4AD6A5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78766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8F2D-D396-371C-CF66-8B2BEF6AFE53}"/>
              </a:ext>
            </a:extLst>
          </p:cNvPr>
          <p:cNvSpPr>
            <a:spLocks noGrp="1"/>
          </p:cNvSpPr>
          <p:nvPr>
            <p:ph type="title"/>
          </p:nvPr>
        </p:nvSpPr>
        <p:spPr/>
        <p:txBody>
          <a:bodyPr/>
          <a:lstStyle/>
          <a:p>
            <a:r>
              <a:rPr lang="en-IN" dirty="0"/>
              <a:t>Counter current system</a:t>
            </a:r>
          </a:p>
        </p:txBody>
      </p:sp>
      <p:sp>
        <p:nvSpPr>
          <p:cNvPr id="3" name="Content Placeholder 2">
            <a:extLst>
              <a:ext uri="{FF2B5EF4-FFF2-40B4-BE49-F238E27FC236}">
                <a16:creationId xmlns:a16="http://schemas.microsoft.com/office/drawing/2014/main" id="{BA4DBA77-656D-BF43-EF96-F6194C256E81}"/>
              </a:ext>
            </a:extLst>
          </p:cNvPr>
          <p:cNvSpPr>
            <a:spLocks noGrp="1"/>
          </p:cNvSpPr>
          <p:nvPr>
            <p:ph idx="1"/>
          </p:nvPr>
        </p:nvSpPr>
        <p:spPr/>
        <p:txBody>
          <a:bodyPr>
            <a:normAutofit fontScale="92500"/>
          </a:bodyPr>
          <a:lstStyle/>
          <a:p>
            <a:r>
              <a:rPr lang="en-US" dirty="0"/>
              <a:t>The </a:t>
            </a:r>
            <a:r>
              <a:rPr lang="en-US" b="1" dirty="0"/>
              <a:t>counter-current system</a:t>
            </a:r>
            <a:r>
              <a:rPr lang="en-US" dirty="0"/>
              <a:t> in the kidney refers to the arrangement of the </a:t>
            </a:r>
            <a:r>
              <a:rPr lang="en-US" b="1" dirty="0"/>
              <a:t>loop of Henle and vasa recta</a:t>
            </a:r>
            <a:r>
              <a:rPr lang="en-US" dirty="0"/>
              <a:t>, which allows the </a:t>
            </a:r>
            <a:r>
              <a:rPr lang="en-US" b="1" dirty="0"/>
              <a:t>concentration of urine</a:t>
            </a:r>
            <a:r>
              <a:rPr lang="en-US" dirty="0"/>
              <a:t> by creating and maintaining a </a:t>
            </a:r>
            <a:r>
              <a:rPr lang="en-US" b="1" dirty="0"/>
              <a:t>medullary osmotic gradient</a:t>
            </a:r>
            <a:r>
              <a:rPr lang="en-US" dirty="0"/>
              <a:t>.</a:t>
            </a:r>
          </a:p>
          <a:p>
            <a:r>
              <a:rPr lang="en-US" dirty="0"/>
              <a:t>Found mainly in </a:t>
            </a:r>
            <a:r>
              <a:rPr lang="en-US" b="1" dirty="0"/>
              <a:t>juxtamedullary nephrons</a:t>
            </a:r>
            <a:r>
              <a:rPr lang="en-US" dirty="0"/>
              <a:t> (long loops of Henle).</a:t>
            </a:r>
          </a:p>
          <a:p>
            <a:r>
              <a:rPr lang="en-US" dirty="0"/>
              <a:t>Essential for </a:t>
            </a:r>
            <a:r>
              <a:rPr lang="en-US" b="1" dirty="0"/>
              <a:t>water conservation</a:t>
            </a:r>
            <a:r>
              <a:rPr lang="en-US" dirty="0"/>
              <a:t> and producing </a:t>
            </a:r>
            <a:r>
              <a:rPr lang="en-US" b="1" dirty="0"/>
              <a:t>hyperosmotic urine</a:t>
            </a:r>
            <a:r>
              <a:rPr lang="en-US" dirty="0"/>
              <a:t>.</a:t>
            </a:r>
          </a:p>
          <a:p>
            <a:r>
              <a:rPr lang="en-IN" b="1" dirty="0"/>
              <a:t>Components</a:t>
            </a:r>
          </a:p>
          <a:p>
            <a:r>
              <a:rPr lang="en-IN" b="1" dirty="0"/>
              <a:t>Loop of Henle (Tubular Counter-Current)</a:t>
            </a:r>
            <a:endParaRPr lang="en-IN" dirty="0"/>
          </a:p>
          <a:p>
            <a:pPr lvl="1"/>
            <a:r>
              <a:rPr lang="en-IN" b="1" dirty="0"/>
              <a:t>Descending limb:</a:t>
            </a:r>
            <a:r>
              <a:rPr lang="en-IN" dirty="0"/>
              <a:t> Permeable to water, impermeable to solutes.</a:t>
            </a:r>
          </a:p>
          <a:p>
            <a:pPr lvl="1"/>
            <a:r>
              <a:rPr lang="en-IN" b="1" dirty="0"/>
              <a:t>Ascending limb:</a:t>
            </a:r>
            <a:r>
              <a:rPr lang="en-IN" dirty="0"/>
              <a:t> Impermeable to water, actively transports Na⁺, K⁺, Cl⁻ out → dilutes tubular fluid.</a:t>
            </a:r>
          </a:p>
          <a:p>
            <a:r>
              <a:rPr lang="en-IN" b="1" dirty="0"/>
              <a:t>Vasa Recta (Blood Counter-Current)</a:t>
            </a:r>
            <a:endParaRPr lang="en-IN" dirty="0"/>
          </a:p>
          <a:p>
            <a:pPr lvl="1"/>
            <a:r>
              <a:rPr lang="en-IN" dirty="0"/>
              <a:t>Straight capillaries surrounding loop of Henle.</a:t>
            </a:r>
          </a:p>
          <a:p>
            <a:pPr lvl="1"/>
            <a:r>
              <a:rPr lang="en-IN" dirty="0"/>
              <a:t>Blood flows </a:t>
            </a:r>
            <a:r>
              <a:rPr lang="en-IN" b="1" dirty="0"/>
              <a:t>opposite</a:t>
            </a:r>
            <a:r>
              <a:rPr lang="en-IN" dirty="0"/>
              <a:t> to tubular fluid → prevents washout of medullary osmotic gradient.</a:t>
            </a:r>
          </a:p>
        </p:txBody>
      </p:sp>
    </p:spTree>
    <p:extLst>
      <p:ext uri="{BB962C8B-B14F-4D97-AF65-F5344CB8AC3E}">
        <p14:creationId xmlns:p14="http://schemas.microsoft.com/office/powerpoint/2010/main" val="1869907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D7ACA-7A47-1EAC-5058-8E455153F5BF}"/>
              </a:ext>
            </a:extLst>
          </p:cNvPr>
          <p:cNvSpPr>
            <a:spLocks noGrp="1"/>
          </p:cNvSpPr>
          <p:nvPr>
            <p:ph type="title"/>
          </p:nvPr>
        </p:nvSpPr>
        <p:spPr/>
        <p:txBody>
          <a:bodyPr/>
          <a:lstStyle/>
          <a:p>
            <a:r>
              <a:rPr lang="en-IN" dirty="0"/>
              <a:t>Counter current mechanism</a:t>
            </a:r>
          </a:p>
        </p:txBody>
      </p:sp>
      <p:sp>
        <p:nvSpPr>
          <p:cNvPr id="3" name="Content Placeholder 2">
            <a:extLst>
              <a:ext uri="{FF2B5EF4-FFF2-40B4-BE49-F238E27FC236}">
                <a16:creationId xmlns:a16="http://schemas.microsoft.com/office/drawing/2014/main" id="{A7459676-458F-CA78-F8D7-7A3264E261F1}"/>
              </a:ext>
            </a:extLst>
          </p:cNvPr>
          <p:cNvSpPr>
            <a:spLocks noGrp="1"/>
          </p:cNvSpPr>
          <p:nvPr>
            <p:ph idx="1"/>
          </p:nvPr>
        </p:nvSpPr>
        <p:spPr/>
        <p:txBody>
          <a:bodyPr/>
          <a:lstStyle/>
          <a:p>
            <a:r>
              <a:rPr lang="en-IN" b="1" dirty="0"/>
              <a:t>Stepwise Mechanism:</a:t>
            </a:r>
          </a:p>
          <a:p>
            <a:r>
              <a:rPr lang="en-IN" b="1" dirty="0"/>
              <a:t>Active solute transport in ascending limb</a:t>
            </a:r>
            <a:endParaRPr lang="en-IN" dirty="0"/>
          </a:p>
          <a:p>
            <a:pPr lvl="1"/>
            <a:r>
              <a:rPr lang="en-IN" dirty="0"/>
              <a:t>Na⁺, K⁺, Cl⁻ actively pumped into medulla</a:t>
            </a:r>
          </a:p>
          <a:p>
            <a:pPr lvl="1"/>
            <a:r>
              <a:rPr lang="en-IN" dirty="0"/>
              <a:t>Ascending limb is impermeable to water → tubular fluid becomes dilute</a:t>
            </a:r>
          </a:p>
          <a:p>
            <a:r>
              <a:rPr lang="en-IN" b="1" dirty="0"/>
              <a:t>Water movement in descending limb</a:t>
            </a:r>
            <a:endParaRPr lang="en-IN" dirty="0"/>
          </a:p>
          <a:p>
            <a:pPr lvl="1"/>
            <a:r>
              <a:rPr lang="en-IN" dirty="0"/>
              <a:t>Descending limb is permeable to water</a:t>
            </a:r>
          </a:p>
          <a:p>
            <a:pPr lvl="1"/>
            <a:r>
              <a:rPr lang="en-IN" dirty="0"/>
              <a:t>Water moves out into hyperosmotic medullary </a:t>
            </a:r>
            <a:r>
              <a:rPr lang="en-IN" dirty="0" err="1"/>
              <a:t>interstitium</a:t>
            </a:r>
            <a:r>
              <a:rPr lang="en-IN" dirty="0"/>
              <a:t> → tubular fluid becomes concentrated</a:t>
            </a:r>
          </a:p>
          <a:p>
            <a:r>
              <a:rPr lang="en-IN" b="1" dirty="0"/>
              <a:t>Flow maintains gradient</a:t>
            </a:r>
            <a:endParaRPr lang="en-IN" dirty="0"/>
          </a:p>
          <a:p>
            <a:pPr lvl="1"/>
            <a:r>
              <a:rPr lang="en-IN" dirty="0"/>
              <a:t>Tubular fluid moves down descending limb → concentrates</a:t>
            </a:r>
          </a:p>
          <a:p>
            <a:pPr lvl="1"/>
            <a:r>
              <a:rPr lang="en-IN" dirty="0"/>
              <a:t>Fluid moves up ascending limb → dilutes</a:t>
            </a:r>
          </a:p>
          <a:p>
            <a:pPr lvl="1"/>
            <a:r>
              <a:rPr lang="en-IN" dirty="0"/>
              <a:t>Gradient multiplies along the length of the loop → “</a:t>
            </a:r>
            <a:r>
              <a:rPr lang="en-IN" b="1" dirty="0"/>
              <a:t>multiplication</a:t>
            </a:r>
            <a:r>
              <a:rPr lang="en-IN" dirty="0"/>
              <a:t>” effect.</a:t>
            </a:r>
          </a:p>
        </p:txBody>
      </p:sp>
    </p:spTree>
    <p:extLst>
      <p:ext uri="{BB962C8B-B14F-4D97-AF65-F5344CB8AC3E}">
        <p14:creationId xmlns:p14="http://schemas.microsoft.com/office/powerpoint/2010/main" val="4071862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C1D8D-9A9A-2E9B-DEB0-12A07EF39DB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1AAC55F-AAD6-37BD-53DB-24CD9861338F}"/>
              </a:ext>
            </a:extLst>
          </p:cNvPr>
          <p:cNvPicPr>
            <a:picLocks noGrp="1" noChangeAspect="1"/>
          </p:cNvPicPr>
          <p:nvPr>
            <p:ph idx="1"/>
          </p:nvPr>
        </p:nvPicPr>
        <p:blipFill>
          <a:blip r:embed="rId2"/>
          <a:stretch>
            <a:fillRect/>
          </a:stretch>
        </p:blipFill>
        <p:spPr>
          <a:xfrm>
            <a:off x="3411712" y="417692"/>
            <a:ext cx="5368575" cy="6022616"/>
          </a:xfrm>
          <a:prstGeom prst="rect">
            <a:avLst/>
          </a:prstGeom>
        </p:spPr>
      </p:pic>
    </p:spTree>
    <p:extLst>
      <p:ext uri="{BB962C8B-B14F-4D97-AF65-F5344CB8AC3E}">
        <p14:creationId xmlns:p14="http://schemas.microsoft.com/office/powerpoint/2010/main" val="222732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256D2-1A00-4178-F0F8-C57EA77945AF}"/>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FE0059CE-CFF2-B191-9254-9D1A39AA1B5E}"/>
              </a:ext>
            </a:extLst>
          </p:cNvPr>
          <p:cNvSpPr>
            <a:spLocks noGrp="1"/>
          </p:cNvSpPr>
          <p:nvPr>
            <p:ph idx="1"/>
          </p:nvPr>
        </p:nvSpPr>
        <p:spPr/>
        <p:txBody>
          <a:bodyPr/>
          <a:lstStyle/>
          <a:p>
            <a:r>
              <a:rPr lang="en-US" dirty="0"/>
              <a:t>The key step is the active transport of NaCl out of the ascending limb. If this is abolished, </a:t>
            </a:r>
            <a:r>
              <a:rPr lang="en-US" dirty="0" err="1"/>
              <a:t>eg.</a:t>
            </a:r>
            <a:r>
              <a:rPr lang="en-US" dirty="0"/>
              <a:t>, by use of the diuretic frusemide, all concentration differences are lost and the kidney can only produce isotonic urine. Nephrogenic diabetes insipidus is the inability of the kidney to respond to ADH. It could be due to mutation of the gene for V2 receptor or the gene for aquaporin-2. Mannitol and related polysaccharides which are filtered but not reabsorbed cause osmotic diuresis</a:t>
            </a:r>
            <a:endParaRPr lang="en-IN" dirty="0"/>
          </a:p>
        </p:txBody>
      </p:sp>
    </p:spTree>
    <p:extLst>
      <p:ext uri="{BB962C8B-B14F-4D97-AF65-F5344CB8AC3E}">
        <p14:creationId xmlns:p14="http://schemas.microsoft.com/office/powerpoint/2010/main" val="2388686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B95AE-DABB-D762-1577-2820B423C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8EB2B-6877-E071-1439-762BB61604F7}"/>
              </a:ext>
            </a:extLst>
          </p:cNvPr>
          <p:cNvSpPr>
            <a:spLocks noGrp="1"/>
          </p:cNvSpPr>
          <p:nvPr>
            <p:ph type="ctrTitle"/>
          </p:nvPr>
        </p:nvSpPr>
        <p:spPr/>
        <p:txBody>
          <a:bodyPr/>
          <a:lstStyle/>
          <a:p>
            <a:r>
              <a:rPr lang="en-IN" dirty="0"/>
              <a:t>Unit 5</a:t>
            </a:r>
          </a:p>
        </p:txBody>
      </p:sp>
      <p:sp>
        <p:nvSpPr>
          <p:cNvPr id="3" name="Subtitle 2">
            <a:extLst>
              <a:ext uri="{FF2B5EF4-FFF2-40B4-BE49-F238E27FC236}">
                <a16:creationId xmlns:a16="http://schemas.microsoft.com/office/drawing/2014/main" id="{55E7A345-01AA-900D-54DC-650962C5135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499723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BCCD-57CA-D47A-E8CB-1BF7455EB6AA}"/>
              </a:ext>
            </a:extLst>
          </p:cNvPr>
          <p:cNvSpPr>
            <a:spLocks noGrp="1"/>
          </p:cNvSpPr>
          <p:nvPr>
            <p:ph type="title"/>
          </p:nvPr>
        </p:nvSpPr>
        <p:spPr/>
        <p:txBody>
          <a:bodyPr/>
          <a:lstStyle/>
          <a:p>
            <a:r>
              <a:rPr lang="en-IN" dirty="0"/>
              <a:t>Acid base balance</a:t>
            </a:r>
          </a:p>
        </p:txBody>
      </p:sp>
      <p:sp>
        <p:nvSpPr>
          <p:cNvPr id="3" name="Content Placeholder 2">
            <a:extLst>
              <a:ext uri="{FF2B5EF4-FFF2-40B4-BE49-F238E27FC236}">
                <a16:creationId xmlns:a16="http://schemas.microsoft.com/office/drawing/2014/main" id="{4058434C-A837-E567-E06A-274081E83BA7}"/>
              </a:ext>
            </a:extLst>
          </p:cNvPr>
          <p:cNvSpPr>
            <a:spLocks noGrp="1"/>
          </p:cNvSpPr>
          <p:nvPr>
            <p:ph idx="1"/>
          </p:nvPr>
        </p:nvSpPr>
        <p:spPr/>
        <p:txBody>
          <a:bodyPr/>
          <a:lstStyle/>
          <a:p>
            <a:r>
              <a:rPr lang="en-US" dirty="0"/>
              <a:t>Acid-base balance is the </a:t>
            </a:r>
            <a:r>
              <a:rPr lang="en-US" b="1" dirty="0"/>
              <a:t>regulation of hydrogen ion (H⁺) concentration in body fluids</a:t>
            </a:r>
            <a:r>
              <a:rPr lang="en-US" dirty="0"/>
              <a:t> to maintain a </a:t>
            </a:r>
            <a:r>
              <a:rPr lang="en-US" b="1" dirty="0"/>
              <a:t>normal blood pH of 7.35–7.45</a:t>
            </a:r>
            <a:r>
              <a:rPr lang="en-US" dirty="0"/>
              <a:t>, essential for enzyme function and cellular activity.</a:t>
            </a:r>
            <a:endParaRPr lang="en-IN" dirty="0"/>
          </a:p>
        </p:txBody>
      </p:sp>
      <p:graphicFrame>
        <p:nvGraphicFramePr>
          <p:cNvPr id="4" name="Table 3">
            <a:extLst>
              <a:ext uri="{FF2B5EF4-FFF2-40B4-BE49-F238E27FC236}">
                <a16:creationId xmlns:a16="http://schemas.microsoft.com/office/drawing/2014/main" id="{377FEF3F-7171-D8CD-A76E-53F48735B18B}"/>
              </a:ext>
            </a:extLst>
          </p:cNvPr>
          <p:cNvGraphicFramePr>
            <a:graphicFrameLocks noGrp="1"/>
          </p:cNvGraphicFramePr>
          <p:nvPr>
            <p:extLst>
              <p:ext uri="{D42A27DB-BD31-4B8C-83A1-F6EECF244321}">
                <p14:modId xmlns:p14="http://schemas.microsoft.com/office/powerpoint/2010/main" val="705971767"/>
              </p:ext>
            </p:extLst>
          </p:nvPr>
        </p:nvGraphicFramePr>
        <p:xfrm>
          <a:off x="1066800" y="3246596"/>
          <a:ext cx="10058400" cy="1645920"/>
        </p:xfrm>
        <a:graphic>
          <a:graphicData uri="http://schemas.openxmlformats.org/drawingml/2006/table">
            <a:tbl>
              <a:tblPr/>
              <a:tblGrid>
                <a:gridCol w="5029200">
                  <a:extLst>
                    <a:ext uri="{9D8B030D-6E8A-4147-A177-3AD203B41FA5}">
                      <a16:colId xmlns:a16="http://schemas.microsoft.com/office/drawing/2014/main" val="2957276602"/>
                    </a:ext>
                  </a:extLst>
                </a:gridCol>
                <a:gridCol w="5029200">
                  <a:extLst>
                    <a:ext uri="{9D8B030D-6E8A-4147-A177-3AD203B41FA5}">
                      <a16:colId xmlns:a16="http://schemas.microsoft.com/office/drawing/2014/main" val="1239458494"/>
                    </a:ext>
                  </a:extLst>
                </a:gridCol>
              </a:tblGrid>
              <a:tr h="0">
                <a:tc>
                  <a:txBody>
                    <a:bodyPr/>
                    <a:lstStyle/>
                    <a:p>
                      <a:pPr>
                        <a:buNone/>
                      </a:pPr>
                      <a:r>
                        <a:rPr lang="en-IN"/>
                        <a:t>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1637767"/>
                  </a:ext>
                </a:extLst>
              </a:tr>
              <a:tr h="0">
                <a:tc>
                  <a:txBody>
                    <a:bodyPr/>
                    <a:lstStyle/>
                    <a:p>
                      <a:pPr>
                        <a:buNone/>
                      </a:pPr>
                      <a:r>
                        <a:rPr lang="en-IN" b="1"/>
                        <a:t>Metabolic acids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CO₂ (from respiration → H₂CO₃), lactic acid, ketoacids, phosphoric &amp; sulfuric acids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45498"/>
                  </a:ext>
                </a:extLst>
              </a:tr>
              <a:tr h="0">
                <a:tc>
                  <a:txBody>
                    <a:bodyPr/>
                    <a:lstStyle/>
                    <a:p>
                      <a:pPr>
                        <a:buNone/>
                      </a:pPr>
                      <a:r>
                        <a:rPr lang="en-IN" b="1"/>
                        <a:t>Bases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HCO₃⁻ (bicarbonate), proteins, phosphate buffers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142069"/>
                  </a:ext>
                </a:extLst>
              </a:tr>
            </a:tbl>
          </a:graphicData>
        </a:graphic>
      </p:graphicFrame>
    </p:spTree>
    <p:extLst>
      <p:ext uri="{BB962C8B-B14F-4D97-AF65-F5344CB8AC3E}">
        <p14:creationId xmlns:p14="http://schemas.microsoft.com/office/powerpoint/2010/main" val="9561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A30D-CE92-3A34-1880-529851CB4727}"/>
              </a:ext>
            </a:extLst>
          </p:cNvPr>
          <p:cNvSpPr>
            <a:spLocks noGrp="1"/>
          </p:cNvSpPr>
          <p:nvPr>
            <p:ph type="title"/>
          </p:nvPr>
        </p:nvSpPr>
        <p:spPr/>
        <p:txBody>
          <a:bodyPr>
            <a:normAutofit fontScale="90000"/>
          </a:bodyPr>
          <a:lstStyle/>
          <a:p>
            <a:r>
              <a:rPr lang="en-IN" b="1" dirty="0"/>
              <a:t>Buffer Systems (Immediate </a:t>
            </a:r>
            <a:r>
              <a:rPr lang="en-IN" b="1" dirty="0" err="1"/>
              <a:t>Defense</a:t>
            </a:r>
            <a:r>
              <a:rPr lang="en-IN" b="1" dirty="0"/>
              <a:t>)</a:t>
            </a:r>
            <a:endParaRPr lang="en-IN" dirty="0"/>
          </a:p>
        </p:txBody>
      </p:sp>
      <p:sp>
        <p:nvSpPr>
          <p:cNvPr id="3" name="Content Placeholder 2">
            <a:extLst>
              <a:ext uri="{FF2B5EF4-FFF2-40B4-BE49-F238E27FC236}">
                <a16:creationId xmlns:a16="http://schemas.microsoft.com/office/drawing/2014/main" id="{691F0EBC-1D6E-68A4-FA2D-0D19236260FF}"/>
              </a:ext>
            </a:extLst>
          </p:cNvPr>
          <p:cNvSpPr>
            <a:spLocks noGrp="1"/>
          </p:cNvSpPr>
          <p:nvPr>
            <p:ph idx="1"/>
          </p:nvPr>
        </p:nvSpPr>
        <p:spPr/>
        <p:txBody>
          <a:bodyPr>
            <a:normAutofit/>
          </a:bodyPr>
          <a:lstStyle/>
          <a:p>
            <a:r>
              <a:rPr lang="en-IN" b="1" dirty="0"/>
              <a:t>Buffers</a:t>
            </a:r>
            <a:r>
              <a:rPr lang="en-IN" dirty="0"/>
              <a:t>: Substances that </a:t>
            </a:r>
            <a:r>
              <a:rPr lang="en-IN" b="1" dirty="0"/>
              <a:t>resist pH changes</a:t>
            </a:r>
            <a:r>
              <a:rPr lang="en-IN" dirty="0"/>
              <a:t> by binding or releasing H⁺.</a:t>
            </a:r>
          </a:p>
          <a:p>
            <a:r>
              <a:rPr lang="en-IN" b="1" dirty="0"/>
              <a:t>Bicarbonate Buffer (Extracellular)</a:t>
            </a:r>
            <a:endParaRPr lang="en-IN" dirty="0"/>
          </a:p>
          <a:p>
            <a:pPr lvl="1"/>
            <a:r>
              <a:rPr lang="en-IN" b="1" dirty="0"/>
              <a:t>HCO₃⁻ + H⁺ ↔ H₂CO₃ ↔ CO₂ + H₂O</a:t>
            </a:r>
            <a:endParaRPr lang="en-IN" dirty="0"/>
          </a:p>
          <a:p>
            <a:pPr lvl="1"/>
            <a:r>
              <a:rPr lang="en-IN" dirty="0"/>
              <a:t>Main extracellular buffer</a:t>
            </a:r>
          </a:p>
          <a:p>
            <a:pPr lvl="1"/>
            <a:r>
              <a:rPr lang="en-IN" dirty="0"/>
              <a:t>Works rapidly (seconds to minutes)</a:t>
            </a:r>
          </a:p>
          <a:p>
            <a:r>
              <a:rPr lang="en-IN" b="1" dirty="0"/>
              <a:t>Phosphate Buffer (Intracellular &amp; Urine)</a:t>
            </a:r>
            <a:endParaRPr lang="en-IN" dirty="0"/>
          </a:p>
          <a:p>
            <a:pPr lvl="1"/>
            <a:r>
              <a:rPr lang="en-IN" b="1" dirty="0"/>
              <a:t>HPO₄²⁻ + H⁺ ↔ H₂PO₄⁻</a:t>
            </a:r>
            <a:endParaRPr lang="en-IN" dirty="0"/>
          </a:p>
          <a:p>
            <a:pPr lvl="1"/>
            <a:r>
              <a:rPr lang="en-IN" dirty="0"/>
              <a:t>Important in </a:t>
            </a:r>
            <a:r>
              <a:rPr lang="en-IN" b="1" dirty="0"/>
              <a:t>renal tubular fluid</a:t>
            </a:r>
            <a:endParaRPr lang="en-IN" dirty="0"/>
          </a:p>
          <a:p>
            <a:r>
              <a:rPr lang="en-IN" b="1" dirty="0"/>
              <a:t>Protein Buffer (Intracellular)</a:t>
            </a:r>
            <a:endParaRPr lang="en-IN" dirty="0"/>
          </a:p>
          <a:p>
            <a:pPr lvl="1"/>
            <a:r>
              <a:rPr lang="en-IN" dirty="0"/>
              <a:t>Proteins like </a:t>
            </a:r>
            <a:r>
              <a:rPr lang="en-IN" b="1" dirty="0" err="1"/>
              <a:t>hemoglobin</a:t>
            </a:r>
            <a:r>
              <a:rPr lang="en-IN" dirty="0"/>
              <a:t> bind H⁺ via amino acid side chains</a:t>
            </a:r>
          </a:p>
          <a:p>
            <a:pPr lvl="1"/>
            <a:r>
              <a:rPr lang="en-IN" dirty="0"/>
              <a:t>Important in </a:t>
            </a:r>
            <a:r>
              <a:rPr lang="en-IN" b="1" dirty="0"/>
              <a:t>red blood cells</a:t>
            </a:r>
            <a:endParaRPr lang="en-IN" dirty="0"/>
          </a:p>
          <a:p>
            <a:endParaRPr lang="en-IN" dirty="0"/>
          </a:p>
        </p:txBody>
      </p:sp>
    </p:spTree>
    <p:extLst>
      <p:ext uri="{BB962C8B-B14F-4D97-AF65-F5344CB8AC3E}">
        <p14:creationId xmlns:p14="http://schemas.microsoft.com/office/powerpoint/2010/main" val="4217261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F66E-70CA-AD91-7132-BB7D87846484}"/>
              </a:ext>
            </a:extLst>
          </p:cNvPr>
          <p:cNvSpPr>
            <a:spLocks noGrp="1"/>
          </p:cNvSpPr>
          <p:nvPr>
            <p:ph type="title"/>
          </p:nvPr>
        </p:nvSpPr>
        <p:spPr/>
        <p:txBody>
          <a:bodyPr>
            <a:normAutofit/>
          </a:bodyPr>
          <a:lstStyle/>
          <a:p>
            <a:r>
              <a:rPr lang="en-IN" b="1" dirty="0"/>
              <a:t>Respiratory Regulation (Minutes)</a:t>
            </a:r>
            <a:endParaRPr lang="en-IN" dirty="0"/>
          </a:p>
        </p:txBody>
      </p:sp>
      <p:sp>
        <p:nvSpPr>
          <p:cNvPr id="3" name="Content Placeholder 2">
            <a:extLst>
              <a:ext uri="{FF2B5EF4-FFF2-40B4-BE49-F238E27FC236}">
                <a16:creationId xmlns:a16="http://schemas.microsoft.com/office/drawing/2014/main" id="{A3536B89-E83F-CF65-B678-53D8381C58CF}"/>
              </a:ext>
            </a:extLst>
          </p:cNvPr>
          <p:cNvSpPr>
            <a:spLocks noGrp="1"/>
          </p:cNvSpPr>
          <p:nvPr>
            <p:ph idx="1"/>
          </p:nvPr>
        </p:nvSpPr>
        <p:spPr/>
        <p:txBody>
          <a:bodyPr/>
          <a:lstStyle/>
          <a:p>
            <a:r>
              <a:rPr lang="en-IN" b="1" dirty="0"/>
              <a:t>CO₂ + H₂O ↔ H₂CO₃ ↔ H⁺ + HCO₃⁻</a:t>
            </a:r>
            <a:r>
              <a:rPr lang="en-IN" dirty="0"/>
              <a:t> (</a:t>
            </a:r>
            <a:r>
              <a:rPr lang="en-IN" dirty="0" err="1"/>
              <a:t>catalyzed</a:t>
            </a:r>
            <a:r>
              <a:rPr lang="en-IN" dirty="0"/>
              <a:t> by carbonic anhydrase)</a:t>
            </a:r>
          </a:p>
          <a:p>
            <a:r>
              <a:rPr lang="en-IN" b="1" dirty="0"/>
              <a:t>Mechanism:</a:t>
            </a:r>
            <a:r>
              <a:rPr lang="en-IN" dirty="0"/>
              <a:t> Lungs control </a:t>
            </a:r>
            <a:r>
              <a:rPr lang="en-IN" b="1" dirty="0"/>
              <a:t>CO₂ elimination</a:t>
            </a:r>
            <a:r>
              <a:rPr lang="en-IN" dirty="0"/>
              <a:t> → affects blood </a:t>
            </a:r>
            <a:r>
              <a:rPr lang="en-IN" dirty="0" err="1"/>
              <a:t>pH.</a:t>
            </a:r>
            <a:endParaRPr lang="en-IN" dirty="0"/>
          </a:p>
          <a:p>
            <a:pPr lvl="1"/>
            <a:r>
              <a:rPr lang="en-IN" b="1" dirty="0"/>
              <a:t>Hyperventilation</a:t>
            </a:r>
            <a:r>
              <a:rPr lang="en-IN" dirty="0"/>
              <a:t> → ↓ CO₂ → ↑ pH (respiratory alkalosis)</a:t>
            </a:r>
          </a:p>
          <a:p>
            <a:pPr lvl="1"/>
            <a:r>
              <a:rPr lang="en-IN" b="1" dirty="0"/>
              <a:t>Hypoventilation</a:t>
            </a:r>
            <a:r>
              <a:rPr lang="en-IN" dirty="0"/>
              <a:t> → ↑ CO₂ → ↓ pH (respiratory acidosis)</a:t>
            </a:r>
          </a:p>
          <a:p>
            <a:endParaRPr lang="en-IN" dirty="0"/>
          </a:p>
        </p:txBody>
      </p:sp>
    </p:spTree>
    <p:extLst>
      <p:ext uri="{BB962C8B-B14F-4D97-AF65-F5344CB8AC3E}">
        <p14:creationId xmlns:p14="http://schemas.microsoft.com/office/powerpoint/2010/main" val="586788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775C-A5D3-6DFE-7C1A-6702596445AA}"/>
              </a:ext>
            </a:extLst>
          </p:cNvPr>
          <p:cNvSpPr>
            <a:spLocks noGrp="1"/>
          </p:cNvSpPr>
          <p:nvPr>
            <p:ph type="title"/>
          </p:nvPr>
        </p:nvSpPr>
        <p:spPr/>
        <p:txBody>
          <a:bodyPr>
            <a:normAutofit/>
          </a:bodyPr>
          <a:lstStyle/>
          <a:p>
            <a:r>
              <a:rPr lang="en-IN" b="1" dirty="0"/>
              <a:t>Renal Regulation (Hours to Days)</a:t>
            </a:r>
            <a:endParaRPr lang="en-IN" dirty="0"/>
          </a:p>
        </p:txBody>
      </p:sp>
      <p:sp>
        <p:nvSpPr>
          <p:cNvPr id="3" name="Content Placeholder 2">
            <a:extLst>
              <a:ext uri="{FF2B5EF4-FFF2-40B4-BE49-F238E27FC236}">
                <a16:creationId xmlns:a16="http://schemas.microsoft.com/office/drawing/2014/main" id="{3D0B68CB-9499-8417-D3A8-619515B0A4C7}"/>
              </a:ext>
            </a:extLst>
          </p:cNvPr>
          <p:cNvSpPr>
            <a:spLocks noGrp="1"/>
          </p:cNvSpPr>
          <p:nvPr>
            <p:ph idx="1"/>
          </p:nvPr>
        </p:nvSpPr>
        <p:spPr/>
        <p:txBody>
          <a:bodyPr/>
          <a:lstStyle/>
          <a:p>
            <a:r>
              <a:rPr lang="en-IN" b="1" dirty="0"/>
              <a:t>Kidneys regulate H⁺ and HCO₃⁻</a:t>
            </a:r>
            <a:r>
              <a:rPr lang="en-IN" dirty="0"/>
              <a:t> excretion/absorption.</a:t>
            </a:r>
          </a:p>
          <a:p>
            <a:r>
              <a:rPr lang="en-IN" b="1" dirty="0"/>
              <a:t>Mechanisms:</a:t>
            </a:r>
            <a:endParaRPr lang="en-IN" dirty="0"/>
          </a:p>
          <a:p>
            <a:r>
              <a:rPr lang="en-IN" b="1" dirty="0"/>
              <a:t>Bicarbonate Reabsorption</a:t>
            </a:r>
            <a:r>
              <a:rPr lang="en-IN" dirty="0"/>
              <a:t> (mainly PCT &amp; collecting duct)</a:t>
            </a:r>
          </a:p>
          <a:p>
            <a:pPr lvl="1"/>
            <a:r>
              <a:rPr lang="en-IN" dirty="0"/>
              <a:t>HCO₃⁻ reabsorbed → maintains extracellular buffer</a:t>
            </a:r>
          </a:p>
          <a:p>
            <a:r>
              <a:rPr lang="en-IN" b="1" dirty="0"/>
              <a:t>Hydrogen Ion Secretion</a:t>
            </a:r>
            <a:endParaRPr lang="en-IN" dirty="0"/>
          </a:p>
          <a:p>
            <a:pPr lvl="1"/>
            <a:r>
              <a:rPr lang="en-IN" dirty="0"/>
              <a:t>H⁺ secreted into tubular fluid (PCT, DCT, collecting duct)</a:t>
            </a:r>
          </a:p>
          <a:p>
            <a:pPr lvl="1"/>
            <a:r>
              <a:rPr lang="en-IN" dirty="0"/>
              <a:t>Buffers: phosphate, ammonia</a:t>
            </a:r>
          </a:p>
          <a:p>
            <a:r>
              <a:rPr lang="en-IN" b="1" dirty="0"/>
              <a:t>Generation of New Bicarbonate</a:t>
            </a:r>
            <a:endParaRPr lang="en-IN" dirty="0"/>
          </a:p>
          <a:p>
            <a:pPr lvl="1"/>
            <a:r>
              <a:rPr lang="en-IN" dirty="0"/>
              <a:t>From metabolism of glutamine → NH₄⁺ + HCO₃⁻</a:t>
            </a:r>
          </a:p>
          <a:p>
            <a:r>
              <a:rPr lang="en-IN" b="1" dirty="0"/>
              <a:t>Result:</a:t>
            </a:r>
            <a:r>
              <a:rPr lang="en-IN" dirty="0"/>
              <a:t> Slow but powerful correction of metabolic acid-base disorders.</a:t>
            </a:r>
          </a:p>
          <a:p>
            <a:endParaRPr lang="en-IN" dirty="0"/>
          </a:p>
        </p:txBody>
      </p:sp>
    </p:spTree>
    <p:extLst>
      <p:ext uri="{BB962C8B-B14F-4D97-AF65-F5344CB8AC3E}">
        <p14:creationId xmlns:p14="http://schemas.microsoft.com/office/powerpoint/2010/main" val="3711295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3747-4BB4-4CF7-9A4E-75497D418F7B}"/>
              </a:ext>
            </a:extLst>
          </p:cNvPr>
          <p:cNvSpPr>
            <a:spLocks noGrp="1"/>
          </p:cNvSpPr>
          <p:nvPr>
            <p:ph type="title"/>
          </p:nvPr>
        </p:nvSpPr>
        <p:spPr/>
        <p:txBody>
          <a:bodyPr/>
          <a:lstStyle/>
          <a:p>
            <a:r>
              <a:rPr lang="en-IN" dirty="0"/>
              <a:t>Normal parameters</a:t>
            </a:r>
          </a:p>
        </p:txBody>
      </p:sp>
      <p:graphicFrame>
        <p:nvGraphicFramePr>
          <p:cNvPr id="4" name="Content Placeholder 3">
            <a:extLst>
              <a:ext uri="{FF2B5EF4-FFF2-40B4-BE49-F238E27FC236}">
                <a16:creationId xmlns:a16="http://schemas.microsoft.com/office/drawing/2014/main" id="{CAA9C5AF-64A7-7BFF-5BCC-3E3DFDAC6B71}"/>
              </a:ext>
            </a:extLst>
          </p:cNvPr>
          <p:cNvGraphicFramePr>
            <a:graphicFrameLocks noGrp="1"/>
          </p:cNvGraphicFramePr>
          <p:nvPr>
            <p:ph idx="1"/>
            <p:extLst>
              <p:ext uri="{D42A27DB-BD31-4B8C-83A1-F6EECF244321}">
                <p14:modId xmlns:p14="http://schemas.microsoft.com/office/powerpoint/2010/main" val="2880048666"/>
              </p:ext>
            </p:extLst>
          </p:nvPr>
        </p:nvGraphicFramePr>
        <p:xfrm>
          <a:off x="1066800" y="2156936"/>
          <a:ext cx="10058400" cy="1463040"/>
        </p:xfrm>
        <a:graphic>
          <a:graphicData uri="http://schemas.openxmlformats.org/drawingml/2006/table">
            <a:tbl>
              <a:tblPr/>
              <a:tblGrid>
                <a:gridCol w="5029200">
                  <a:extLst>
                    <a:ext uri="{9D8B030D-6E8A-4147-A177-3AD203B41FA5}">
                      <a16:colId xmlns:a16="http://schemas.microsoft.com/office/drawing/2014/main" val="3673332376"/>
                    </a:ext>
                  </a:extLst>
                </a:gridCol>
                <a:gridCol w="5029200">
                  <a:extLst>
                    <a:ext uri="{9D8B030D-6E8A-4147-A177-3AD203B41FA5}">
                      <a16:colId xmlns:a16="http://schemas.microsoft.com/office/drawing/2014/main" val="2192808707"/>
                    </a:ext>
                  </a:extLst>
                </a:gridCol>
              </a:tblGrid>
              <a:tr h="0">
                <a:tc>
                  <a:txBody>
                    <a:bodyPr/>
                    <a:lstStyle/>
                    <a:p>
                      <a:pPr>
                        <a:buNone/>
                      </a:pPr>
                      <a:r>
                        <a:rPr lang="en-IN"/>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Normal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0786233"/>
                  </a:ext>
                </a:extLst>
              </a:tr>
              <a:tr h="0">
                <a:tc>
                  <a:txBody>
                    <a:bodyPr/>
                    <a:lstStyle/>
                    <a:p>
                      <a:pPr>
                        <a:buNone/>
                      </a:pPr>
                      <a:r>
                        <a:rPr lang="en-IN"/>
                        <a:t>Arterial pH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7.35–7.45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3115981"/>
                  </a:ext>
                </a:extLst>
              </a:tr>
              <a:tr h="0">
                <a:tc>
                  <a:txBody>
                    <a:bodyPr/>
                    <a:lstStyle/>
                    <a:p>
                      <a:pPr>
                        <a:buNone/>
                      </a:pPr>
                      <a:r>
                        <a:rPr lang="en-IN"/>
                        <a:t>HCO₃⁻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22–26 mEq/L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5515072"/>
                  </a:ext>
                </a:extLst>
              </a:tr>
              <a:tr h="0">
                <a:tc>
                  <a:txBody>
                    <a:bodyPr/>
                    <a:lstStyle/>
                    <a:p>
                      <a:pPr>
                        <a:buNone/>
                      </a:pPr>
                      <a:r>
                        <a:rPr lang="en-IN" dirty="0" err="1"/>
                        <a:t>PaCO</a:t>
                      </a:r>
                      <a:r>
                        <a:rPr lang="en-IN" dirty="0"/>
                        <a:t>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35–45 mmHg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1723106"/>
                  </a:ext>
                </a:extLst>
              </a:tr>
            </a:tbl>
          </a:graphicData>
        </a:graphic>
      </p:graphicFrame>
    </p:spTree>
    <p:extLst>
      <p:ext uri="{BB962C8B-B14F-4D97-AF65-F5344CB8AC3E}">
        <p14:creationId xmlns:p14="http://schemas.microsoft.com/office/powerpoint/2010/main" val="1821264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DCDB-FEAB-312B-829E-C0C27797CB49}"/>
              </a:ext>
            </a:extLst>
          </p:cNvPr>
          <p:cNvSpPr>
            <a:spLocks noGrp="1"/>
          </p:cNvSpPr>
          <p:nvPr>
            <p:ph type="title"/>
          </p:nvPr>
        </p:nvSpPr>
        <p:spPr/>
        <p:txBody>
          <a:bodyPr/>
          <a:lstStyle/>
          <a:p>
            <a:r>
              <a:rPr lang="en-IN" dirty="0"/>
              <a:t>Applied aspects</a:t>
            </a:r>
          </a:p>
        </p:txBody>
      </p:sp>
      <p:graphicFrame>
        <p:nvGraphicFramePr>
          <p:cNvPr id="4" name="Content Placeholder 3">
            <a:extLst>
              <a:ext uri="{FF2B5EF4-FFF2-40B4-BE49-F238E27FC236}">
                <a16:creationId xmlns:a16="http://schemas.microsoft.com/office/drawing/2014/main" id="{A6B3D436-1BD8-FE5F-01F6-86C6356FE18D}"/>
              </a:ext>
            </a:extLst>
          </p:cNvPr>
          <p:cNvGraphicFramePr>
            <a:graphicFrameLocks noGrp="1"/>
          </p:cNvGraphicFramePr>
          <p:nvPr>
            <p:ph idx="1"/>
          </p:nvPr>
        </p:nvGraphicFramePr>
        <p:xfrm>
          <a:off x="1066800" y="2880836"/>
          <a:ext cx="10058400" cy="2377440"/>
        </p:xfrm>
        <a:graphic>
          <a:graphicData uri="http://schemas.openxmlformats.org/drawingml/2006/table">
            <a:tbl>
              <a:tblPr/>
              <a:tblGrid>
                <a:gridCol w="3352800">
                  <a:extLst>
                    <a:ext uri="{9D8B030D-6E8A-4147-A177-3AD203B41FA5}">
                      <a16:colId xmlns:a16="http://schemas.microsoft.com/office/drawing/2014/main" val="4022655971"/>
                    </a:ext>
                  </a:extLst>
                </a:gridCol>
                <a:gridCol w="3352800">
                  <a:extLst>
                    <a:ext uri="{9D8B030D-6E8A-4147-A177-3AD203B41FA5}">
                      <a16:colId xmlns:a16="http://schemas.microsoft.com/office/drawing/2014/main" val="2657754386"/>
                    </a:ext>
                  </a:extLst>
                </a:gridCol>
                <a:gridCol w="3352800">
                  <a:extLst>
                    <a:ext uri="{9D8B030D-6E8A-4147-A177-3AD203B41FA5}">
                      <a16:colId xmlns:a16="http://schemas.microsoft.com/office/drawing/2014/main" val="1520991960"/>
                    </a:ext>
                  </a:extLst>
                </a:gridCol>
              </a:tblGrid>
              <a:tr h="0">
                <a:tc>
                  <a:txBody>
                    <a:bodyPr/>
                    <a:lstStyle/>
                    <a:p>
                      <a:pPr>
                        <a:buNone/>
                      </a:pPr>
                      <a:r>
                        <a:rPr lang="en-IN"/>
                        <a:t>Type</a:t>
                      </a:r>
                    </a:p>
                  </a:txBody>
                  <a:tcPr anchor="ctr">
                    <a:lnL>
                      <a:noFill/>
                    </a:lnL>
                    <a:lnR>
                      <a:noFill/>
                    </a:lnR>
                    <a:lnT>
                      <a:noFill/>
                    </a:lnT>
                    <a:lnB>
                      <a:noFill/>
                    </a:lnB>
                    <a:noFill/>
                  </a:tcPr>
                </a:tc>
                <a:tc>
                  <a:txBody>
                    <a:bodyPr/>
                    <a:lstStyle/>
                    <a:p>
                      <a:pPr>
                        <a:buNone/>
                      </a:pPr>
                      <a:r>
                        <a:rPr lang="en-IN"/>
                        <a:t>Primary Disturbance</a:t>
                      </a:r>
                    </a:p>
                  </a:txBody>
                  <a:tcPr anchor="ctr">
                    <a:lnL>
                      <a:noFill/>
                    </a:lnL>
                    <a:lnR>
                      <a:noFill/>
                    </a:lnR>
                    <a:lnT>
                      <a:noFill/>
                    </a:lnT>
                    <a:lnB>
                      <a:noFill/>
                    </a:lnB>
                    <a:noFill/>
                  </a:tcPr>
                </a:tc>
                <a:tc>
                  <a:txBody>
                    <a:bodyPr/>
                    <a:lstStyle/>
                    <a:p>
                      <a:pPr>
                        <a:buNone/>
                      </a:pPr>
                      <a:r>
                        <a:rPr lang="en-IN"/>
                        <a:t>Examples</a:t>
                      </a:r>
                    </a:p>
                  </a:txBody>
                  <a:tcPr anchor="ctr">
                    <a:lnL>
                      <a:noFill/>
                    </a:lnL>
                    <a:lnR>
                      <a:noFill/>
                    </a:lnR>
                    <a:lnT>
                      <a:noFill/>
                    </a:lnT>
                    <a:lnB>
                      <a:noFill/>
                    </a:lnB>
                    <a:noFill/>
                  </a:tcPr>
                </a:tc>
                <a:extLst>
                  <a:ext uri="{0D108BD9-81ED-4DB2-BD59-A6C34878D82A}">
                    <a16:rowId xmlns:a16="http://schemas.microsoft.com/office/drawing/2014/main" val="422167704"/>
                  </a:ext>
                </a:extLst>
              </a:tr>
              <a:tr h="0">
                <a:tc>
                  <a:txBody>
                    <a:bodyPr/>
                    <a:lstStyle/>
                    <a:p>
                      <a:pPr>
                        <a:buNone/>
                      </a:pPr>
                      <a:r>
                        <a:rPr lang="en-IN" b="1"/>
                        <a:t>Respiratory acidosis</a:t>
                      </a:r>
                      <a:endParaRPr lang="en-IN"/>
                    </a:p>
                  </a:txBody>
                  <a:tcPr anchor="ctr">
                    <a:lnL>
                      <a:noFill/>
                    </a:lnL>
                    <a:lnR>
                      <a:noFill/>
                    </a:lnR>
                    <a:lnT>
                      <a:noFill/>
                    </a:lnT>
                    <a:lnB>
                      <a:noFill/>
                    </a:lnB>
                    <a:noFill/>
                  </a:tcPr>
                </a:tc>
                <a:tc>
                  <a:txBody>
                    <a:bodyPr/>
                    <a:lstStyle/>
                    <a:p>
                      <a:pPr>
                        <a:buNone/>
                      </a:pPr>
                      <a:r>
                        <a:rPr lang="en-IN"/>
                        <a:t>↑ PaCO₂</a:t>
                      </a:r>
                    </a:p>
                  </a:txBody>
                  <a:tcPr anchor="ctr">
                    <a:lnL>
                      <a:noFill/>
                    </a:lnL>
                    <a:lnR>
                      <a:noFill/>
                    </a:lnR>
                    <a:lnT>
                      <a:noFill/>
                    </a:lnT>
                    <a:lnB>
                      <a:noFill/>
                    </a:lnB>
                    <a:noFill/>
                  </a:tcPr>
                </a:tc>
                <a:tc>
                  <a:txBody>
                    <a:bodyPr/>
                    <a:lstStyle/>
                    <a:p>
                      <a:pPr>
                        <a:buNone/>
                      </a:pPr>
                      <a:r>
                        <a:rPr lang="en-IN"/>
                        <a:t>Hypoventilation, COPD</a:t>
                      </a:r>
                    </a:p>
                  </a:txBody>
                  <a:tcPr anchor="ctr">
                    <a:lnL>
                      <a:noFill/>
                    </a:lnL>
                    <a:lnR>
                      <a:noFill/>
                    </a:lnR>
                    <a:lnT>
                      <a:noFill/>
                    </a:lnT>
                    <a:lnB>
                      <a:noFill/>
                    </a:lnB>
                    <a:noFill/>
                  </a:tcPr>
                </a:tc>
                <a:extLst>
                  <a:ext uri="{0D108BD9-81ED-4DB2-BD59-A6C34878D82A}">
                    <a16:rowId xmlns:a16="http://schemas.microsoft.com/office/drawing/2014/main" val="4231288060"/>
                  </a:ext>
                </a:extLst>
              </a:tr>
              <a:tr h="0">
                <a:tc>
                  <a:txBody>
                    <a:bodyPr/>
                    <a:lstStyle/>
                    <a:p>
                      <a:pPr>
                        <a:buNone/>
                      </a:pPr>
                      <a:r>
                        <a:rPr lang="en-IN" b="1"/>
                        <a:t>Respiratory alkalosis</a:t>
                      </a:r>
                      <a:endParaRPr lang="en-IN"/>
                    </a:p>
                  </a:txBody>
                  <a:tcPr anchor="ctr">
                    <a:lnL>
                      <a:noFill/>
                    </a:lnL>
                    <a:lnR>
                      <a:noFill/>
                    </a:lnR>
                    <a:lnT>
                      <a:noFill/>
                    </a:lnT>
                    <a:lnB>
                      <a:noFill/>
                    </a:lnB>
                    <a:noFill/>
                  </a:tcPr>
                </a:tc>
                <a:tc>
                  <a:txBody>
                    <a:bodyPr/>
                    <a:lstStyle/>
                    <a:p>
                      <a:pPr>
                        <a:buNone/>
                      </a:pPr>
                      <a:r>
                        <a:rPr lang="en-IN"/>
                        <a:t>↓ PaCO₂</a:t>
                      </a:r>
                    </a:p>
                  </a:txBody>
                  <a:tcPr anchor="ctr">
                    <a:lnL>
                      <a:noFill/>
                    </a:lnL>
                    <a:lnR>
                      <a:noFill/>
                    </a:lnR>
                    <a:lnT>
                      <a:noFill/>
                    </a:lnT>
                    <a:lnB>
                      <a:noFill/>
                    </a:lnB>
                    <a:noFill/>
                  </a:tcPr>
                </a:tc>
                <a:tc>
                  <a:txBody>
                    <a:bodyPr/>
                    <a:lstStyle/>
                    <a:p>
                      <a:pPr>
                        <a:buNone/>
                      </a:pPr>
                      <a:r>
                        <a:rPr lang="en-IN"/>
                        <a:t>Hyperventilation, anxiety</a:t>
                      </a:r>
                    </a:p>
                  </a:txBody>
                  <a:tcPr anchor="ctr">
                    <a:lnL>
                      <a:noFill/>
                    </a:lnL>
                    <a:lnR>
                      <a:noFill/>
                    </a:lnR>
                    <a:lnT>
                      <a:noFill/>
                    </a:lnT>
                    <a:lnB>
                      <a:noFill/>
                    </a:lnB>
                    <a:noFill/>
                  </a:tcPr>
                </a:tc>
                <a:extLst>
                  <a:ext uri="{0D108BD9-81ED-4DB2-BD59-A6C34878D82A}">
                    <a16:rowId xmlns:a16="http://schemas.microsoft.com/office/drawing/2014/main" val="3745819682"/>
                  </a:ext>
                </a:extLst>
              </a:tr>
              <a:tr h="0">
                <a:tc>
                  <a:txBody>
                    <a:bodyPr/>
                    <a:lstStyle/>
                    <a:p>
                      <a:pPr>
                        <a:buNone/>
                      </a:pPr>
                      <a:r>
                        <a:rPr lang="en-IN" b="1"/>
                        <a:t>Metabolic acidosis</a:t>
                      </a:r>
                      <a:endParaRPr lang="en-IN"/>
                    </a:p>
                  </a:txBody>
                  <a:tcPr anchor="ctr">
                    <a:lnL>
                      <a:noFill/>
                    </a:lnL>
                    <a:lnR>
                      <a:noFill/>
                    </a:lnR>
                    <a:lnT>
                      <a:noFill/>
                    </a:lnT>
                    <a:lnB>
                      <a:noFill/>
                    </a:lnB>
                    <a:noFill/>
                  </a:tcPr>
                </a:tc>
                <a:tc>
                  <a:txBody>
                    <a:bodyPr/>
                    <a:lstStyle/>
                    <a:p>
                      <a:pPr>
                        <a:buNone/>
                      </a:pPr>
                      <a:r>
                        <a:rPr lang="en-IN"/>
                        <a:t>↓ HCO₃⁻</a:t>
                      </a:r>
                    </a:p>
                  </a:txBody>
                  <a:tcPr anchor="ctr">
                    <a:lnL>
                      <a:noFill/>
                    </a:lnL>
                    <a:lnR>
                      <a:noFill/>
                    </a:lnR>
                    <a:lnT>
                      <a:noFill/>
                    </a:lnT>
                    <a:lnB>
                      <a:noFill/>
                    </a:lnB>
                    <a:noFill/>
                  </a:tcPr>
                </a:tc>
                <a:tc>
                  <a:txBody>
                    <a:bodyPr/>
                    <a:lstStyle/>
                    <a:p>
                      <a:pPr>
                        <a:buNone/>
                      </a:pPr>
                      <a:r>
                        <a:rPr lang="pt-BR"/>
                        <a:t>Diabetic ketoacidosis, renal failure, diarrhea</a:t>
                      </a:r>
                    </a:p>
                  </a:txBody>
                  <a:tcPr anchor="ctr">
                    <a:lnL>
                      <a:noFill/>
                    </a:lnL>
                    <a:lnR>
                      <a:noFill/>
                    </a:lnR>
                    <a:lnT>
                      <a:noFill/>
                    </a:lnT>
                    <a:lnB>
                      <a:noFill/>
                    </a:lnB>
                    <a:noFill/>
                  </a:tcPr>
                </a:tc>
                <a:extLst>
                  <a:ext uri="{0D108BD9-81ED-4DB2-BD59-A6C34878D82A}">
                    <a16:rowId xmlns:a16="http://schemas.microsoft.com/office/drawing/2014/main" val="617357532"/>
                  </a:ext>
                </a:extLst>
              </a:tr>
              <a:tr h="0">
                <a:tc>
                  <a:txBody>
                    <a:bodyPr/>
                    <a:lstStyle/>
                    <a:p>
                      <a:pPr>
                        <a:buNone/>
                      </a:pPr>
                      <a:r>
                        <a:rPr lang="en-IN" b="1"/>
                        <a:t>Metabolic alkalosis</a:t>
                      </a:r>
                      <a:endParaRPr lang="en-IN"/>
                    </a:p>
                  </a:txBody>
                  <a:tcPr anchor="ctr">
                    <a:lnL>
                      <a:noFill/>
                    </a:lnL>
                    <a:lnR>
                      <a:noFill/>
                    </a:lnR>
                    <a:lnT>
                      <a:noFill/>
                    </a:lnT>
                    <a:lnB>
                      <a:noFill/>
                    </a:lnB>
                    <a:noFill/>
                  </a:tcPr>
                </a:tc>
                <a:tc>
                  <a:txBody>
                    <a:bodyPr/>
                    <a:lstStyle/>
                    <a:p>
                      <a:pPr>
                        <a:buNone/>
                      </a:pPr>
                      <a:r>
                        <a:rPr lang="en-IN"/>
                        <a:t>↑ HCO₃⁻</a:t>
                      </a:r>
                    </a:p>
                  </a:txBody>
                  <a:tcPr anchor="ctr">
                    <a:lnL>
                      <a:noFill/>
                    </a:lnL>
                    <a:lnR>
                      <a:noFill/>
                    </a:lnR>
                    <a:lnT>
                      <a:noFill/>
                    </a:lnT>
                    <a:lnB>
                      <a:noFill/>
                    </a:lnB>
                    <a:noFill/>
                  </a:tcPr>
                </a:tc>
                <a:tc>
                  <a:txBody>
                    <a:bodyPr/>
                    <a:lstStyle/>
                    <a:p>
                      <a:pPr>
                        <a:buNone/>
                      </a:pPr>
                      <a:r>
                        <a:rPr lang="en-IN" dirty="0"/>
                        <a:t>Vomiting, diuretics, excessive antacids</a:t>
                      </a:r>
                    </a:p>
                  </a:txBody>
                  <a:tcPr anchor="ctr">
                    <a:lnL>
                      <a:noFill/>
                    </a:lnL>
                    <a:lnR>
                      <a:noFill/>
                    </a:lnR>
                    <a:lnT>
                      <a:noFill/>
                    </a:lnT>
                    <a:lnB>
                      <a:noFill/>
                    </a:lnB>
                    <a:noFill/>
                  </a:tcPr>
                </a:tc>
                <a:extLst>
                  <a:ext uri="{0D108BD9-81ED-4DB2-BD59-A6C34878D82A}">
                    <a16:rowId xmlns:a16="http://schemas.microsoft.com/office/drawing/2014/main" val="2834607680"/>
                  </a:ext>
                </a:extLst>
              </a:tr>
            </a:tbl>
          </a:graphicData>
        </a:graphic>
      </p:graphicFrame>
      <p:sp>
        <p:nvSpPr>
          <p:cNvPr id="5" name="Rectangle 1">
            <a:extLst>
              <a:ext uri="{FF2B5EF4-FFF2-40B4-BE49-F238E27FC236}">
                <a16:creationId xmlns:a16="http://schemas.microsoft.com/office/drawing/2014/main" id="{001697C7-E0B2-D792-D40D-195E2312A26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Disorders of Acid-Base Balance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50836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05BCE-9B40-91C2-60E2-FB42BF104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FDE2D-AFD5-CDC1-74BF-5DD5FD891466}"/>
              </a:ext>
            </a:extLst>
          </p:cNvPr>
          <p:cNvSpPr>
            <a:spLocks noGrp="1"/>
          </p:cNvSpPr>
          <p:nvPr>
            <p:ph type="ctrTitle"/>
          </p:nvPr>
        </p:nvSpPr>
        <p:spPr/>
        <p:txBody>
          <a:bodyPr/>
          <a:lstStyle/>
          <a:p>
            <a:r>
              <a:rPr lang="en-IN" dirty="0"/>
              <a:t>Unit 6</a:t>
            </a:r>
          </a:p>
        </p:txBody>
      </p:sp>
      <p:sp>
        <p:nvSpPr>
          <p:cNvPr id="3" name="Subtitle 2">
            <a:extLst>
              <a:ext uri="{FF2B5EF4-FFF2-40B4-BE49-F238E27FC236}">
                <a16:creationId xmlns:a16="http://schemas.microsoft.com/office/drawing/2014/main" id="{8A3449DD-D8EF-A1ED-9AB7-1FB428F2E36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98181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B5220-5A74-B9A7-FA41-C64C809DB784}"/>
              </a:ext>
            </a:extLst>
          </p:cNvPr>
          <p:cNvSpPr>
            <a:spLocks noGrp="1"/>
          </p:cNvSpPr>
          <p:nvPr>
            <p:ph type="title"/>
          </p:nvPr>
        </p:nvSpPr>
        <p:spPr/>
        <p:txBody>
          <a:bodyPr/>
          <a:lstStyle/>
          <a:p>
            <a:r>
              <a:rPr lang="en-IN" dirty="0"/>
              <a:t>Micturition </a:t>
            </a:r>
          </a:p>
        </p:txBody>
      </p:sp>
      <p:sp>
        <p:nvSpPr>
          <p:cNvPr id="3" name="Content Placeholder 2">
            <a:extLst>
              <a:ext uri="{FF2B5EF4-FFF2-40B4-BE49-F238E27FC236}">
                <a16:creationId xmlns:a16="http://schemas.microsoft.com/office/drawing/2014/main" id="{291FCAC7-73A5-5C97-89FC-3065F6879D83}"/>
              </a:ext>
            </a:extLst>
          </p:cNvPr>
          <p:cNvSpPr>
            <a:spLocks noGrp="1"/>
          </p:cNvSpPr>
          <p:nvPr>
            <p:ph idx="1"/>
          </p:nvPr>
        </p:nvSpPr>
        <p:spPr/>
        <p:txBody>
          <a:bodyPr/>
          <a:lstStyle/>
          <a:p>
            <a:r>
              <a:rPr lang="en-US" dirty="0"/>
              <a:t>Micturition is the </a:t>
            </a:r>
            <a:r>
              <a:rPr lang="en-US" b="1" dirty="0"/>
              <a:t>process of urine expulsion from the urinary bladder</a:t>
            </a:r>
            <a:r>
              <a:rPr lang="en-US" dirty="0"/>
              <a:t> through the urethra. It involves </a:t>
            </a:r>
            <a:r>
              <a:rPr lang="en-US" b="1" dirty="0"/>
              <a:t>coordinated activity of the bladder muscles, sphincters, and nervous system</a:t>
            </a:r>
            <a:r>
              <a:rPr lang="en-US" dirty="0"/>
              <a:t>.</a:t>
            </a:r>
          </a:p>
          <a:p>
            <a:r>
              <a:rPr lang="en-IN" dirty="0"/>
              <a:t> Micturition involves </a:t>
            </a:r>
            <a:r>
              <a:rPr lang="en-IN" b="1" dirty="0"/>
              <a:t>two phases: storage (continence) and voiding (urination)</a:t>
            </a:r>
            <a:r>
              <a:rPr lang="en-IN" dirty="0"/>
              <a:t>.</a:t>
            </a:r>
          </a:p>
          <a:p>
            <a:pPr marL="0" indent="0">
              <a:buNone/>
            </a:pPr>
            <a:r>
              <a:rPr lang="en-IN" b="1" dirty="0"/>
              <a:t>A. Storage Phase</a:t>
            </a:r>
          </a:p>
          <a:p>
            <a:r>
              <a:rPr lang="en-IN" b="1" dirty="0"/>
              <a:t>Detrusor muscle:</a:t>
            </a:r>
            <a:r>
              <a:rPr lang="en-IN" dirty="0"/>
              <a:t> Relaxed</a:t>
            </a:r>
          </a:p>
          <a:p>
            <a:r>
              <a:rPr lang="en-IN" b="1" dirty="0"/>
              <a:t>Internal sphincter:</a:t>
            </a:r>
            <a:r>
              <a:rPr lang="en-IN" dirty="0"/>
              <a:t> Contracted</a:t>
            </a:r>
          </a:p>
          <a:p>
            <a:r>
              <a:rPr lang="en-IN" b="1" dirty="0"/>
              <a:t>External sphincter:</a:t>
            </a:r>
            <a:r>
              <a:rPr lang="en-IN" dirty="0"/>
              <a:t> Contracted voluntarily</a:t>
            </a:r>
          </a:p>
          <a:p>
            <a:r>
              <a:rPr lang="en-IN" b="1" dirty="0"/>
              <a:t>Nervous control:</a:t>
            </a:r>
            <a:r>
              <a:rPr lang="en-IN" dirty="0"/>
              <a:t> Sympathetic dominance → promotes storage</a:t>
            </a:r>
          </a:p>
          <a:p>
            <a:endParaRPr lang="en-IN" dirty="0"/>
          </a:p>
        </p:txBody>
      </p:sp>
    </p:spTree>
    <p:extLst>
      <p:ext uri="{BB962C8B-B14F-4D97-AF65-F5344CB8AC3E}">
        <p14:creationId xmlns:p14="http://schemas.microsoft.com/office/powerpoint/2010/main" val="94453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B9C0-8DB5-CB61-2D07-A6D9E43A5F3C}"/>
              </a:ext>
            </a:extLst>
          </p:cNvPr>
          <p:cNvSpPr>
            <a:spLocks noGrp="1"/>
          </p:cNvSpPr>
          <p:nvPr>
            <p:ph type="title"/>
          </p:nvPr>
        </p:nvSpPr>
        <p:spPr/>
        <p:txBody>
          <a:bodyPr/>
          <a:lstStyle/>
          <a:p>
            <a:r>
              <a:rPr lang="en-IN" dirty="0"/>
              <a:t>Neural control</a:t>
            </a:r>
          </a:p>
        </p:txBody>
      </p:sp>
      <p:graphicFrame>
        <p:nvGraphicFramePr>
          <p:cNvPr id="4" name="Content Placeholder 3">
            <a:extLst>
              <a:ext uri="{FF2B5EF4-FFF2-40B4-BE49-F238E27FC236}">
                <a16:creationId xmlns:a16="http://schemas.microsoft.com/office/drawing/2014/main" id="{D4166D04-63C1-17BF-EB81-D430186EDDBF}"/>
              </a:ext>
            </a:extLst>
          </p:cNvPr>
          <p:cNvGraphicFramePr>
            <a:graphicFrameLocks noGrp="1"/>
          </p:cNvGraphicFramePr>
          <p:nvPr>
            <p:ph idx="1"/>
            <p:extLst>
              <p:ext uri="{D42A27DB-BD31-4B8C-83A1-F6EECF244321}">
                <p14:modId xmlns:p14="http://schemas.microsoft.com/office/powerpoint/2010/main" val="860507299"/>
              </p:ext>
            </p:extLst>
          </p:nvPr>
        </p:nvGraphicFramePr>
        <p:xfrm>
          <a:off x="1066800" y="2014194"/>
          <a:ext cx="10058400" cy="1645920"/>
        </p:xfrm>
        <a:graphic>
          <a:graphicData uri="http://schemas.openxmlformats.org/drawingml/2006/table">
            <a:tbl>
              <a:tblPr/>
              <a:tblGrid>
                <a:gridCol w="3352800">
                  <a:extLst>
                    <a:ext uri="{9D8B030D-6E8A-4147-A177-3AD203B41FA5}">
                      <a16:colId xmlns:a16="http://schemas.microsoft.com/office/drawing/2014/main" val="659010763"/>
                    </a:ext>
                  </a:extLst>
                </a:gridCol>
                <a:gridCol w="3352800">
                  <a:extLst>
                    <a:ext uri="{9D8B030D-6E8A-4147-A177-3AD203B41FA5}">
                      <a16:colId xmlns:a16="http://schemas.microsoft.com/office/drawing/2014/main" val="4195704717"/>
                    </a:ext>
                  </a:extLst>
                </a:gridCol>
                <a:gridCol w="3352800">
                  <a:extLst>
                    <a:ext uri="{9D8B030D-6E8A-4147-A177-3AD203B41FA5}">
                      <a16:colId xmlns:a16="http://schemas.microsoft.com/office/drawing/2014/main" val="1597987693"/>
                    </a:ext>
                  </a:extLst>
                </a:gridCol>
              </a:tblGrid>
              <a:tr h="0">
                <a:tc>
                  <a:txBody>
                    <a:bodyPr/>
                    <a:lstStyle/>
                    <a:p>
                      <a:pPr>
                        <a:buNone/>
                      </a:pPr>
                      <a:r>
                        <a:rPr lang="en-IN"/>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Nerve Activity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Muscle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622065"/>
                  </a:ext>
                </a:extLst>
              </a:tr>
              <a:tr h="0">
                <a:tc>
                  <a:txBody>
                    <a:bodyPr/>
                    <a:lstStyle/>
                    <a:p>
                      <a:pPr>
                        <a:buNone/>
                      </a:pPr>
                      <a:r>
                        <a:rPr lang="en-IN"/>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Sympathetic (hypogastric), Somatic (pudendal)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Detrusor relaxed, sphincters contracted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1056830"/>
                  </a:ext>
                </a:extLst>
              </a:tr>
              <a:tr h="0">
                <a:tc>
                  <a:txBody>
                    <a:bodyPr/>
                    <a:lstStyle/>
                    <a:p>
                      <a:pPr>
                        <a:buNone/>
                      </a:pPr>
                      <a:r>
                        <a:rPr lang="en-IN"/>
                        <a:t>Micturition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Parasympathetic (pelvic), voluntary inhibition lifted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Detrusor contracts, sphincters relax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9699593"/>
                  </a:ext>
                </a:extLst>
              </a:tr>
            </a:tbl>
          </a:graphicData>
        </a:graphic>
      </p:graphicFrame>
    </p:spTree>
    <p:extLst>
      <p:ext uri="{BB962C8B-B14F-4D97-AF65-F5344CB8AC3E}">
        <p14:creationId xmlns:p14="http://schemas.microsoft.com/office/powerpoint/2010/main" val="291387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EBE9-7DF7-E42D-5500-B8AAD30F9B90}"/>
              </a:ext>
            </a:extLst>
          </p:cNvPr>
          <p:cNvSpPr>
            <a:spLocks noGrp="1"/>
          </p:cNvSpPr>
          <p:nvPr>
            <p:ph type="title"/>
          </p:nvPr>
        </p:nvSpPr>
        <p:spPr/>
        <p:txBody>
          <a:bodyPr/>
          <a:lstStyle/>
          <a:p>
            <a:r>
              <a:rPr lang="en-IN" dirty="0"/>
              <a:t>Micturition reflex</a:t>
            </a:r>
          </a:p>
        </p:txBody>
      </p:sp>
      <p:sp>
        <p:nvSpPr>
          <p:cNvPr id="3" name="Content Placeholder 2">
            <a:extLst>
              <a:ext uri="{FF2B5EF4-FFF2-40B4-BE49-F238E27FC236}">
                <a16:creationId xmlns:a16="http://schemas.microsoft.com/office/drawing/2014/main" id="{EBD5E9DD-C4F8-4506-4BE5-14164C6378BD}"/>
              </a:ext>
            </a:extLst>
          </p:cNvPr>
          <p:cNvSpPr>
            <a:spLocks noGrp="1"/>
          </p:cNvSpPr>
          <p:nvPr>
            <p:ph idx="1"/>
          </p:nvPr>
        </p:nvSpPr>
        <p:spPr/>
        <p:txBody>
          <a:bodyPr/>
          <a:lstStyle/>
          <a:p>
            <a:r>
              <a:rPr lang="en-US" dirty="0"/>
              <a:t>The micturition reflex is an </a:t>
            </a:r>
            <a:r>
              <a:rPr lang="en-US" b="1" dirty="0"/>
              <a:t>autonomic spinal reflex</a:t>
            </a:r>
            <a:r>
              <a:rPr lang="en-US" dirty="0"/>
              <a:t> that causes </a:t>
            </a:r>
            <a:r>
              <a:rPr lang="en-US" b="1" dirty="0"/>
              <a:t>contraction of the urinary bladder (detrusor muscle)</a:t>
            </a:r>
            <a:r>
              <a:rPr lang="en-US" dirty="0"/>
              <a:t> and </a:t>
            </a:r>
            <a:r>
              <a:rPr lang="en-US" b="1" dirty="0"/>
              <a:t>relaxation of the internal urethral sphincter</a:t>
            </a:r>
            <a:r>
              <a:rPr lang="en-US" dirty="0"/>
              <a:t>, resulting in </a:t>
            </a:r>
            <a:r>
              <a:rPr lang="en-US" b="1" dirty="0"/>
              <a:t>urine expulsion</a:t>
            </a:r>
            <a:r>
              <a:rPr lang="en-US" dirty="0"/>
              <a:t>.</a:t>
            </a:r>
          </a:p>
          <a:p>
            <a:endParaRPr lang="en-IN" dirty="0"/>
          </a:p>
        </p:txBody>
      </p:sp>
    </p:spTree>
    <p:extLst>
      <p:ext uri="{BB962C8B-B14F-4D97-AF65-F5344CB8AC3E}">
        <p14:creationId xmlns:p14="http://schemas.microsoft.com/office/powerpoint/2010/main" val="31514135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A29F-BD02-A11D-E5B1-D2DECE1C152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1AD14FD-A87D-2547-6035-5107E9A26EAA}"/>
              </a:ext>
            </a:extLst>
          </p:cNvPr>
          <p:cNvPicPr>
            <a:picLocks noGrp="1" noChangeAspect="1"/>
          </p:cNvPicPr>
          <p:nvPr>
            <p:ph idx="1"/>
          </p:nvPr>
        </p:nvPicPr>
        <p:blipFill>
          <a:blip r:embed="rId2"/>
          <a:stretch>
            <a:fillRect/>
          </a:stretch>
        </p:blipFill>
        <p:spPr>
          <a:xfrm>
            <a:off x="3755923" y="521110"/>
            <a:ext cx="4639470" cy="5809258"/>
          </a:xfrm>
          <a:prstGeom prst="rect">
            <a:avLst/>
          </a:prstGeom>
        </p:spPr>
      </p:pic>
    </p:spTree>
    <p:extLst>
      <p:ext uri="{BB962C8B-B14F-4D97-AF65-F5344CB8AC3E}">
        <p14:creationId xmlns:p14="http://schemas.microsoft.com/office/powerpoint/2010/main" val="2484567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F6BC3-9ACE-3521-288D-F25378CC5AEE}"/>
              </a:ext>
            </a:extLst>
          </p:cNvPr>
          <p:cNvSpPr>
            <a:spLocks noGrp="1"/>
          </p:cNvSpPr>
          <p:nvPr>
            <p:ph type="title"/>
          </p:nvPr>
        </p:nvSpPr>
        <p:spPr/>
        <p:txBody>
          <a:bodyPr/>
          <a:lstStyle/>
          <a:p>
            <a:r>
              <a:rPr lang="en-IN" dirty="0"/>
              <a:t>Applied aspects</a:t>
            </a:r>
          </a:p>
        </p:txBody>
      </p:sp>
      <p:graphicFrame>
        <p:nvGraphicFramePr>
          <p:cNvPr id="4" name="Content Placeholder 3">
            <a:extLst>
              <a:ext uri="{FF2B5EF4-FFF2-40B4-BE49-F238E27FC236}">
                <a16:creationId xmlns:a16="http://schemas.microsoft.com/office/drawing/2014/main" id="{40CB94D3-E888-B767-1D76-5D6E62ACA292}"/>
              </a:ext>
            </a:extLst>
          </p:cNvPr>
          <p:cNvGraphicFramePr>
            <a:graphicFrameLocks noGrp="1"/>
          </p:cNvGraphicFramePr>
          <p:nvPr>
            <p:ph idx="1"/>
            <p:extLst>
              <p:ext uri="{D42A27DB-BD31-4B8C-83A1-F6EECF244321}">
                <p14:modId xmlns:p14="http://schemas.microsoft.com/office/powerpoint/2010/main" val="3010846506"/>
              </p:ext>
            </p:extLst>
          </p:nvPr>
        </p:nvGraphicFramePr>
        <p:xfrm>
          <a:off x="1066800" y="2606516"/>
          <a:ext cx="10058400" cy="2926080"/>
        </p:xfrm>
        <a:graphic>
          <a:graphicData uri="http://schemas.openxmlformats.org/drawingml/2006/table">
            <a:tbl>
              <a:tblPr/>
              <a:tblGrid>
                <a:gridCol w="3352800">
                  <a:extLst>
                    <a:ext uri="{9D8B030D-6E8A-4147-A177-3AD203B41FA5}">
                      <a16:colId xmlns:a16="http://schemas.microsoft.com/office/drawing/2014/main" val="3283873120"/>
                    </a:ext>
                  </a:extLst>
                </a:gridCol>
                <a:gridCol w="3352800">
                  <a:extLst>
                    <a:ext uri="{9D8B030D-6E8A-4147-A177-3AD203B41FA5}">
                      <a16:colId xmlns:a16="http://schemas.microsoft.com/office/drawing/2014/main" val="743644434"/>
                    </a:ext>
                  </a:extLst>
                </a:gridCol>
                <a:gridCol w="3352800">
                  <a:extLst>
                    <a:ext uri="{9D8B030D-6E8A-4147-A177-3AD203B41FA5}">
                      <a16:colId xmlns:a16="http://schemas.microsoft.com/office/drawing/2014/main" val="2200849589"/>
                    </a:ext>
                  </a:extLst>
                </a:gridCol>
              </a:tblGrid>
              <a:tr h="0">
                <a:tc>
                  <a:txBody>
                    <a:bodyPr/>
                    <a:lstStyle/>
                    <a:p>
                      <a:pPr>
                        <a:buNone/>
                      </a:pPr>
                      <a:r>
                        <a:rPr lang="en-IN"/>
                        <a:t>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110721"/>
                  </a:ext>
                </a:extLst>
              </a:tr>
              <a:tr h="0">
                <a:tc>
                  <a:txBody>
                    <a:bodyPr/>
                    <a:lstStyle/>
                    <a:p>
                      <a:pPr>
                        <a:buNone/>
                      </a:pPr>
                      <a:r>
                        <a:rPr lang="en-IN" b="1"/>
                        <a:t>Atonic bladder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Spinal cord injury destroying sacral segments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Loss of reflex → urinary retention + overflow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518374"/>
                  </a:ext>
                </a:extLst>
              </a:tr>
              <a:tr h="0">
                <a:tc>
                  <a:txBody>
                    <a:bodyPr/>
                    <a:lstStyle/>
                    <a:p>
                      <a:pPr>
                        <a:buNone/>
                      </a:pPr>
                      <a:r>
                        <a:rPr lang="en-IN" b="1"/>
                        <a:t>Automatic bladder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Spinal cord transection above sacral region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Reflex returns but without voluntary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0649333"/>
                  </a:ext>
                </a:extLst>
              </a:tr>
              <a:tr h="0">
                <a:tc>
                  <a:txBody>
                    <a:bodyPr/>
                    <a:lstStyle/>
                    <a:p>
                      <a:pPr>
                        <a:buNone/>
                      </a:pPr>
                      <a:r>
                        <a:rPr lang="en-IN" b="1"/>
                        <a:t>Neurogenic overactive bladder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Detrusor overactivity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Frequent urge, incontinence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6224537"/>
                  </a:ext>
                </a:extLst>
              </a:tr>
              <a:tr h="0">
                <a:tc>
                  <a:txBody>
                    <a:bodyPr/>
                    <a:lstStyle/>
                    <a:p>
                      <a:pPr>
                        <a:buNone/>
                      </a:pPr>
                      <a:r>
                        <a:rPr lang="en-IN" b="1"/>
                        <a:t>Stress incontinence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Weak sphincter muscles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Leakage during cough/laugh/sneezing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9202792"/>
                  </a:ext>
                </a:extLst>
              </a:tr>
            </a:tbl>
          </a:graphicData>
        </a:graphic>
      </p:graphicFrame>
    </p:spTree>
    <p:extLst>
      <p:ext uri="{BB962C8B-B14F-4D97-AF65-F5344CB8AC3E}">
        <p14:creationId xmlns:p14="http://schemas.microsoft.com/office/powerpoint/2010/main" val="37832213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52</TotalTime>
  <Words>2127</Words>
  <Application>Microsoft Office PowerPoint</Application>
  <PresentationFormat>Widescreen</PresentationFormat>
  <Paragraphs>302</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Century Gothic</vt:lpstr>
      <vt:lpstr>Savon</vt:lpstr>
      <vt:lpstr>Excretory physiology</vt:lpstr>
      <vt:lpstr>Unit 1</vt:lpstr>
      <vt:lpstr>PowerPoint Presentation</vt:lpstr>
      <vt:lpstr>Structure of kidney</vt:lpstr>
      <vt:lpstr>Structure of kidney</vt:lpstr>
      <vt:lpstr>Structure of nephron</vt:lpstr>
      <vt:lpstr>Structure of nephron</vt:lpstr>
      <vt:lpstr>Functions of nephron</vt:lpstr>
      <vt:lpstr>PowerPoint Presentation</vt:lpstr>
      <vt:lpstr>PowerPoint Presentation</vt:lpstr>
      <vt:lpstr>PowerPoint Presentation</vt:lpstr>
      <vt:lpstr>PowerPoint Presentation</vt:lpstr>
      <vt:lpstr>PowerPoint Presentation</vt:lpstr>
      <vt:lpstr>Juxtaglomerular Apparatus (JGA)</vt:lpstr>
      <vt:lpstr>Func of skin</vt:lpstr>
      <vt:lpstr>Unit 2</vt:lpstr>
      <vt:lpstr>Glomerular filtration rate</vt:lpstr>
      <vt:lpstr>Factors influencing GFR</vt:lpstr>
      <vt:lpstr>Factors influencing GFR</vt:lpstr>
      <vt:lpstr>Factors influencing GFR</vt:lpstr>
      <vt:lpstr>Factors influencing GFR</vt:lpstr>
      <vt:lpstr>Applied aspects</vt:lpstr>
      <vt:lpstr>Unit 3</vt:lpstr>
      <vt:lpstr>PowerPoint Presentation</vt:lpstr>
      <vt:lpstr>Tubular Reabsorption</vt:lpstr>
      <vt:lpstr>Tubular secretion</vt:lpstr>
      <vt:lpstr>Unit 4</vt:lpstr>
      <vt:lpstr>Counter current system</vt:lpstr>
      <vt:lpstr>Counter current mechanism</vt:lpstr>
      <vt:lpstr>PowerPoint Presentation</vt:lpstr>
      <vt:lpstr>Applied aspects</vt:lpstr>
      <vt:lpstr>Unit 5</vt:lpstr>
      <vt:lpstr>Acid base balance</vt:lpstr>
      <vt:lpstr>Buffer Systems (Immediate Defense)</vt:lpstr>
      <vt:lpstr>Respiratory Regulation (Minutes)</vt:lpstr>
      <vt:lpstr>Renal Regulation (Hours to Days)</vt:lpstr>
      <vt:lpstr>Normal parameters</vt:lpstr>
      <vt:lpstr>Applied aspects</vt:lpstr>
      <vt:lpstr>Unit 6</vt:lpstr>
      <vt:lpstr>Micturition </vt:lpstr>
      <vt:lpstr>Neural control</vt:lpstr>
      <vt:lpstr>Micturition reflex</vt:lpstr>
      <vt:lpstr>PowerPoint Presentation</vt:lpstr>
      <vt:lpstr>Applied aspects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2025-11-21T11:17:45Z</dcterms:created>
  <dcterms:modified xsi:type="dcterms:W3CDTF">2025-11-21T14:03:13Z</dcterms:modified>
</cp:coreProperties>
</file>