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58" r:id="rId8"/>
    <p:sldId id="271" r:id="rId9"/>
    <p:sldId id="272" r:id="rId10"/>
    <p:sldId id="259" r:id="rId11"/>
    <p:sldId id="273" r:id="rId12"/>
    <p:sldId id="274" r:id="rId13"/>
    <p:sldId id="275" r:id="rId14"/>
    <p:sldId id="276" r:id="rId15"/>
    <p:sldId id="260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66" r:id="rId24"/>
    <p:sldId id="284" r:id="rId25"/>
    <p:sldId id="285" r:id="rId26"/>
    <p:sldId id="286" r:id="rId27"/>
    <p:sldId id="287" r:id="rId28"/>
    <p:sldId id="288" r:id="rId29"/>
    <p:sldId id="265" r:id="rId30"/>
    <p:sldId id="289" r:id="rId31"/>
    <p:sldId id="290" r:id="rId32"/>
    <p:sldId id="291" r:id="rId33"/>
    <p:sldId id="264" r:id="rId34"/>
    <p:sldId id="292" r:id="rId35"/>
    <p:sldId id="263" r:id="rId36"/>
    <p:sldId id="293" r:id="rId37"/>
    <p:sldId id="294" r:id="rId38"/>
    <p:sldId id="295" r:id="rId39"/>
    <p:sldId id="262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302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32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48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14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967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77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384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062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450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69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56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9B118C77-B207-4DB9-A4BB-2ED7DC33CE8D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4EEB61C9-0031-4B37-945B-D5D13AF930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2204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2A55-3D72-C3B4-25A6-F438D75CD9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Respiratory physiology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05AEA-B113-BA74-7168-D024643C1D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76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78F5-C619-C58F-69B7-039CB3DE6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2791-3F36-EF43-0FAF-AD48A833C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496CC-96CC-8E50-4818-64A28AE90A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189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E217-DB8B-F3AB-BC99-B88AA16C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E28370-9996-5394-6C5D-31CD9CA7A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913" y="868398"/>
            <a:ext cx="6390174" cy="512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10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BBB3-FF55-0A9E-A75D-8BEB4919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4F13A-05C2-CA37-F3D5-0F3EAF792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621" y="151250"/>
            <a:ext cx="8432757" cy="655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7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7F26-089D-0513-E4C3-05972E71C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A7267C-19E3-BA6E-1B19-BC65D821E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329" y="1055340"/>
            <a:ext cx="10249341" cy="474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41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7870-1B7F-258C-8635-FDB6943E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D1EC4B-1AA5-BA42-3E47-A7FA244819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430624"/>
              </p:ext>
            </p:extLst>
          </p:nvPr>
        </p:nvGraphicFramePr>
        <p:xfrm>
          <a:off x="1066800" y="2240756"/>
          <a:ext cx="10058400" cy="36576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94803661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008833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36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Gas exchange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O₂ uptake &amp; CO₂ elimination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5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Acid–base regulation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Controls CO₂ to regulate 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268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Maintains PO₂/PCO₂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Maintains required gas levels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235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&amp; water 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Humidifies and warms inspired 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501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Filtration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Removes microemboli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955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Metabolic 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ACE activation, surfactant production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69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Blood reservoir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blood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08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Phonation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Helps speech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72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Immune defense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Mucociliary action and macrophages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415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96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94876-D6CF-D6D2-A448-99E607335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B753D-1EB6-282C-8A91-9310FCBDA2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311EC-D0B6-2AF8-7DF2-44B5C574B1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13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09447-A2B6-6AC4-6E5E-C34E7B66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F66C86-9EE8-42D6-5BC4-91E73CFB8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001" y="552378"/>
            <a:ext cx="5695998" cy="575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88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D826-0064-5E90-89FC-BF49AE9A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7223CA-419C-3268-8369-AA14479EB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5679" y="732459"/>
            <a:ext cx="8780641" cy="53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3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9381-9F0E-A857-8149-721724CE1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5860-1C63-F876-BBA1-2C0A25B6A3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B94B2-6B2F-CB33-CBAA-4198A1B6F9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18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38DDD-F56C-28EB-8545-4ED1EE960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COMPLIANCE 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AA545-2FEB-3340-AFC2-7E35231AAA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Lung compliance is the ease with which the lungs expand during inspiration.</a:t>
                </a:r>
                <a:br>
                  <a:rPr lang="en-IN" dirty="0"/>
                </a:br>
                <a:r>
                  <a:rPr lang="en-IN" dirty="0"/>
                  <a:t>It represents the </a:t>
                </a:r>
                <a:r>
                  <a:rPr lang="en-IN" b="1" dirty="0"/>
                  <a:t>change in lung volume per unit change in transpulmonary pressure</a:t>
                </a:r>
                <a:r>
                  <a:rPr lang="en-IN" dirty="0"/>
                  <a:t>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Compliance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IN" i="1"/>
                          <m:t>Volume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IN" i="1"/>
                          <m:t>Pressure</m:t>
                        </m:r>
                      </m:den>
                    </m:f>
                  </m:oMath>
                </a14:m>
                <a:endParaRPr lang="ar-AE" b="0" dirty="0"/>
              </a:p>
              <a:p>
                <a:r>
                  <a:rPr lang="en-IN" b="1" dirty="0"/>
                  <a:t>🔹 Normal Value</a:t>
                </a:r>
              </a:p>
              <a:p>
                <a:r>
                  <a:rPr lang="en-IN" b="1" dirty="0"/>
                  <a:t>0.2 L / cm H₂O</a:t>
                </a:r>
                <a:r>
                  <a:rPr lang="en-IN" dirty="0"/>
                  <a:t> (or </a:t>
                </a:r>
                <a:r>
                  <a:rPr lang="en-IN" b="1" dirty="0"/>
                  <a:t>200 mL/cm H₂O</a:t>
                </a:r>
                <a:r>
                  <a:rPr lang="en-IN" dirty="0"/>
                  <a:t>) for lungs &amp; thoracic wall together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AA545-2FEB-3340-AFC2-7E35231AAA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4" t="-7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98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2C00-872B-39DD-64EA-794BEB486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36" y="0"/>
            <a:ext cx="10058400" cy="1371600"/>
          </a:xfrm>
        </p:spPr>
        <p:txBody>
          <a:bodyPr/>
          <a:lstStyle/>
          <a:p>
            <a:r>
              <a:rPr lang="en-US" dirty="0"/>
              <a:t>SURFACTANT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86F0-4ED1-2509-3222-44447E727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040253"/>
            <a:ext cx="10058400" cy="3931920"/>
          </a:xfrm>
        </p:spPr>
        <p:txBody>
          <a:bodyPr/>
          <a:lstStyle/>
          <a:p>
            <a:r>
              <a:rPr lang="en-IN" b="1" dirty="0"/>
              <a:t>Pulmonary surfactant is a phospholipid-protein substance secreted by Type II pneumocytes that reduces surface tension in alveoli.</a:t>
            </a:r>
            <a:endParaRPr lang="en-IN" dirty="0"/>
          </a:p>
          <a:p>
            <a:r>
              <a:rPr lang="en-IN" b="1" dirty="0"/>
              <a:t>🔹 Major Component</a:t>
            </a:r>
          </a:p>
          <a:p>
            <a:r>
              <a:rPr lang="en-IN" b="1" dirty="0"/>
              <a:t>Dipalmitoyl phosphatidylcholine (DPPC)</a:t>
            </a:r>
          </a:p>
          <a:p>
            <a:r>
              <a:rPr lang="en-US" b="1" dirty="0"/>
              <a:t>Clinical Points</a:t>
            </a:r>
          </a:p>
          <a:p>
            <a:r>
              <a:rPr lang="en-US" b="1" dirty="0"/>
              <a:t>Surfactant appears from 24 weeks gestation</a:t>
            </a:r>
            <a:r>
              <a:rPr lang="en-US" dirty="0"/>
              <a:t>, adequate by </a:t>
            </a:r>
            <a:r>
              <a:rPr lang="en-US" b="1" dirty="0"/>
              <a:t>34–36 weeks</a:t>
            </a:r>
            <a:endParaRPr lang="en-US" dirty="0"/>
          </a:p>
          <a:p>
            <a:r>
              <a:rPr lang="en-US" b="1" dirty="0"/>
              <a:t>Deficiency → Neonatal Respiratory Distress Syndrome (RDS)</a:t>
            </a:r>
            <a:r>
              <a:rPr lang="en-US" dirty="0"/>
              <a:t> in premature babies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8ABAB5-FFB9-818F-C445-8804EF528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520838"/>
              </p:ext>
            </p:extLst>
          </p:nvPr>
        </p:nvGraphicFramePr>
        <p:xfrm>
          <a:off x="1066800" y="3729360"/>
          <a:ext cx="10058400" cy="21945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50586256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6613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777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Lung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736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Prevents alveolar collapse (atelectasis)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Stabilizes alveoli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691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Keeps alveoli dry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Opposes fluid entry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922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Reduces work of breathing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Easier ventilation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2558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Prevents collapse of small alveoli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Equalizes pressures (Laplace’s law)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37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91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52065-09AA-2455-DDFB-1713E722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Ventilation–Perfusion Ratio (V/Q Ratio)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7E6669-1F7E-97B5-9D2A-8C63B6C866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🔹 Definition</a:t>
                </a:r>
              </a:p>
              <a:p>
                <a:r>
                  <a:rPr lang="en-IN" b="1" dirty="0"/>
                  <a:t>The V/Q ratio expresses the relationship between alveolar ventilation (V) and pulmonary blood flow/perfusion (Q).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/>
                      <m:t>V</m:t>
                    </m:r>
                    <m:r>
                      <m:rPr>
                        <m:nor/>
                      </m:rPr>
                      <a:rPr lang="en-IN" b="0"/>
                      <m:t>/</m:t>
                    </m:r>
                    <m:r>
                      <m:rPr>
                        <m:nor/>
                      </m:rPr>
                      <a:rPr lang="en-IN" b="0"/>
                      <m:t>Q</m:t>
                    </m:r>
                    <m:r>
                      <m:rPr>
                        <m:nor/>
                      </m:rPr>
                      <a:rPr lang="en-IN" b="0" i="1"/>
                      <m:t> </m:t>
                    </m:r>
                    <m:r>
                      <m:rPr>
                        <m:nor/>
                      </m:rPr>
                      <a:rPr lang="en-IN" b="0" i="1"/>
                      <m:t>Ratio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i="1"/>
                          <m:t>Alveolar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Ventilation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i="1"/>
                          <m:t>Pulmonary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Blood</m:t>
                        </m:r>
                        <m:r>
                          <m:rPr>
                            <m:nor/>
                          </m:rPr>
                          <a:rPr lang="en-IN" i="1"/>
                          <m:t> </m:t>
                        </m:r>
                        <m:r>
                          <m:rPr>
                            <m:nor/>
                          </m:rPr>
                          <a:rPr lang="en-IN" i="1"/>
                          <m:t>Flow</m:t>
                        </m:r>
                      </m:den>
                    </m:f>
                  </m:oMath>
                </a14:m>
                <a:endParaRPr lang="ar-AE" b="0" dirty="0"/>
              </a:p>
              <a:p>
                <a:r>
                  <a:rPr lang="en-IN" b="1" dirty="0"/>
                  <a:t>🔹 Normal Values</a:t>
                </a:r>
              </a:p>
              <a:p>
                <a:r>
                  <a:rPr lang="en-IN" b="1" dirty="0"/>
                  <a:t>Normal V/Q = 0.8</a:t>
                </a:r>
                <a:endParaRPr lang="en-IN" dirty="0"/>
              </a:p>
              <a:p>
                <a:pPr lvl="1"/>
                <a:r>
                  <a:rPr lang="en-IN" dirty="0"/>
                  <a:t>Ventilation ≈ </a:t>
                </a:r>
                <a:r>
                  <a:rPr lang="en-IN" b="1" dirty="0"/>
                  <a:t>4 L/min</a:t>
                </a:r>
                <a:endParaRPr lang="en-IN" dirty="0"/>
              </a:p>
              <a:p>
                <a:pPr lvl="1"/>
                <a:r>
                  <a:rPr lang="en-IN" dirty="0"/>
                  <a:t>Perfusion ≈ </a:t>
                </a:r>
                <a:r>
                  <a:rPr lang="en-IN" b="1" dirty="0"/>
                  <a:t>5 L/min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7E6669-1F7E-97B5-9D2A-8C63B6C86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64" t="-7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7428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D2048-1FCA-26A6-49FC-C5E70C03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665E6D-A3AA-602B-6313-8F49554330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333729"/>
              </p:ext>
            </p:extLst>
          </p:nvPr>
        </p:nvGraphicFramePr>
        <p:xfrm>
          <a:off x="1066800" y="2454608"/>
          <a:ext cx="10058400" cy="228600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40068232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6601542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150843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Point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Clinical Importance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781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Ease of lung expansion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in fibrosis &amp; edema, ↑ in emphysema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73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Surfactant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surface tension, ↑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Deficiency causes Neonatal 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01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V/Q Ratio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Ventilation vs. perfusion 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Imbalance leads to hypoxemia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6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74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69D4B-2945-C440-96E2-1423AEB5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1742-EF1B-5100-D263-D9638ECAD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16CE4-E96D-B2B9-4181-DE0074CE8D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215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0783-400C-8723-AA0B-8E58524C6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PRESSURE DIFFERENCE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23368A-E4E9-E3A0-7A64-42D99CA25F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1507234"/>
              </p:ext>
            </p:extLst>
          </p:nvPr>
        </p:nvGraphicFramePr>
        <p:xfrm>
          <a:off x="1066800" y="3338036"/>
          <a:ext cx="10058400" cy="146304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53055020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96802977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9433835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PO₂ (mmHg)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PCO₂ (mmHg)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532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Alveoli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348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Venous blood entering lungs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362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Arterial blood leaving lungs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95–100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957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630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C884-05C3-4854-40FB-3F818F45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Gas exchange sequence: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9F0E-5FB0-E2FB-89DD-966951575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O₂ diffuses</a:t>
            </a:r>
            <a:r>
              <a:rPr lang="en-IN" dirty="0"/>
              <a:t> from </a:t>
            </a:r>
            <a:r>
              <a:rPr lang="en-IN" b="1" dirty="0"/>
              <a:t>alveoli → blood</a:t>
            </a:r>
            <a:endParaRPr lang="en-IN" dirty="0"/>
          </a:p>
          <a:p>
            <a:r>
              <a:rPr lang="en-IN" b="1" dirty="0"/>
              <a:t>CO₂ diffuses</a:t>
            </a:r>
            <a:r>
              <a:rPr lang="en-IN" dirty="0"/>
              <a:t> from </a:t>
            </a:r>
            <a:r>
              <a:rPr lang="en-IN" b="1" dirty="0"/>
              <a:t>blood → alveoli</a:t>
            </a:r>
            <a:endParaRPr lang="en-IN" dirty="0"/>
          </a:p>
          <a:p>
            <a:r>
              <a:rPr lang="en-IN" dirty="0"/>
              <a:t>CO₂ diffuses </a:t>
            </a:r>
            <a:r>
              <a:rPr lang="en-IN" b="1" dirty="0"/>
              <a:t>20 times faster</a:t>
            </a:r>
            <a:r>
              <a:rPr lang="en-IN" dirty="0"/>
              <a:t> than O₂ because of higher solubility.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9235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82A9-309D-38AB-734A-68C05386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FACTORS INFLUENCING DIFFUSION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ED7FC-02DC-75C3-6E4C-1A7299165B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890657"/>
              </p:ext>
            </p:extLst>
          </p:nvPr>
        </p:nvGraphicFramePr>
        <p:xfrm>
          <a:off x="1152525" y="2402681"/>
          <a:ext cx="10058400" cy="18288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79345028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4959174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Diffusion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Diffusion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469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surface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Thickened respiratory membrane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070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Pulmonary fibrosis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60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Thin respiratory membrane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Pulmonary edema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283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diffusion coefficient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Pneumonia, ARDS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867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585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C2D8D34-535F-AD74-8AC2-544B3DD8671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:r>
                  <a:rPr lang="en-US" dirty="0"/>
                  <a:t>TRANSPORT OF OXYGEN</a:t>
                </a:r>
                <a:br>
                  <a:rPr lang="en-US" dirty="0"/>
                </a:br>
                <a:br>
                  <a:rPr lang="en-US" sz="2200" dirty="0"/>
                </a:br>
                <a:r>
                  <a:rPr lang="en-IN" sz="2200" b="1" dirty="0" err="1"/>
                  <a:t>Oxyhemoglobin</a:t>
                </a:r>
                <a:r>
                  <a:rPr lang="en-IN" sz="2200" b="1" dirty="0"/>
                  <a:t> Formation</a:t>
                </a:r>
                <a:br>
                  <a:rPr lang="en-IN" sz="2200" b="1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200" b="0"/>
                        <m:t>Hb</m:t>
                      </m:r>
                      <m:r>
                        <a:rPr lang="en-IN" sz="22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IN" sz="2200" i="1" dirty="0"/>
                        <m:t>O</m:t>
                      </m:r>
                      <m:r>
                        <m:rPr>
                          <m:nor/>
                        </m:rPr>
                        <a:rPr lang="en-IN" sz="2200" i="1" dirty="0"/>
                        <m:t>₂</m:t>
                      </m:r>
                      <m:r>
                        <a:rPr lang="en-IN" sz="2200" dirty="0">
                          <a:latin typeface="Cambria Math" panose="02040503050406030204" pitchFamily="18" charset="0"/>
                        </a:rPr>
                        <m:t>⇌</m:t>
                      </m:r>
                      <m:r>
                        <m:rPr>
                          <m:nor/>
                        </m:rPr>
                        <a:rPr lang="en-IN" sz="2200" i="1" dirty="0"/>
                        <m:t>HbO</m:t>
                      </m:r>
                      <m:r>
                        <m:rPr>
                          <m:nor/>
                        </m:rPr>
                        <a:rPr lang="en-IN" sz="2200" i="1" dirty="0"/>
                        <m:t>₂</m:t>
                      </m:r>
                    </m:oMath>
                  </m:oMathPara>
                </a14:m>
                <a:br>
                  <a:rPr lang="en-IN" dirty="0"/>
                </a:br>
                <a:endParaRPr lang="en-IN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C2D8D34-535F-AD74-8AC2-544B3DD867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64" t="-18222" b="-5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8C8849-6DAD-D7B2-4D8B-75E0C935E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8434898"/>
              </p:ext>
            </p:extLst>
          </p:nvPr>
        </p:nvGraphicFramePr>
        <p:xfrm>
          <a:off x="1066800" y="3520916"/>
          <a:ext cx="10058400" cy="10972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404428185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4058062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Percentage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718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Bound to Hemoglobin (HbO₂)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97%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652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Dissolved in plasma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3%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55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015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B007-6D66-C5D0-B85B-9AD0B314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Factors shifting Oxygen–Hemoglobin Dissociation Curve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EDD054-3800-3484-B986-D6F3F3DD48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1383698"/>
              </p:ext>
            </p:extLst>
          </p:nvPr>
        </p:nvGraphicFramePr>
        <p:xfrm>
          <a:off x="790576" y="2355877"/>
          <a:ext cx="4972049" cy="3017520"/>
        </p:xfrm>
        <a:graphic>
          <a:graphicData uri="http://schemas.openxmlformats.org/drawingml/2006/table">
            <a:tbl>
              <a:tblPr/>
              <a:tblGrid>
                <a:gridCol w="1993903">
                  <a:extLst>
                    <a:ext uri="{9D8B030D-6E8A-4147-A177-3AD203B41FA5}">
                      <a16:colId xmlns:a16="http://schemas.microsoft.com/office/drawing/2014/main" val="3322387695"/>
                    </a:ext>
                  </a:extLst>
                </a:gridCol>
                <a:gridCol w="2978146">
                  <a:extLst>
                    <a:ext uri="{9D8B030D-6E8A-4147-A177-3AD203B41FA5}">
                      <a16:colId xmlns:a16="http://schemas.microsoft.com/office/drawing/2014/main" val="3417799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Right Shift (↓ affinity, ↑ unloading)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Left Shift (↑ affinity, ↓ unloading)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053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4528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PCO₂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↓ PCO₂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73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H⁺ (↓ pH) — </a:t>
                      </a:r>
                      <a:r>
                        <a:rPr lang="en-IN" b="1"/>
                        <a:t>Bohr effect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96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2,3-BPG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2,3-BPG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713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Exercise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Fetal</a:t>
                      </a:r>
                      <a:r>
                        <a:rPr lang="en-IN" dirty="0"/>
                        <a:t> Hb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6197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B6CF9AB-1934-08D7-343A-2B36FAD6F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7" y="2002239"/>
            <a:ext cx="3934374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96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F5A5-D100-8E1B-76A9-BCB4C21A3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OF CARBON DIOXIDE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8DA545-0268-6714-8E6B-A1667D9112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3338036"/>
          <a:ext cx="10058400" cy="14630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947859868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239641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Percentage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93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As Bicarbonate (HCO₃⁻)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70%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05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As Carbamino compounds (HbCO₂)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23%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41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Dissolved in plasma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7%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743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570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351C6-DFD6-9714-4874-58723179A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BOHR AND HALDANE EFFECT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9B9FF9-68D8-2F73-AA55-6504B21E1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593507"/>
              </p:ext>
            </p:extLst>
          </p:nvPr>
        </p:nvGraphicFramePr>
        <p:xfrm>
          <a:off x="1066800" y="2884646"/>
          <a:ext cx="10058400" cy="164592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40349837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71705558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7561756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Where useful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347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Bohr Effect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CO₂ / ↓ pH → ↑ O₂ unloading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732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Haldane Effect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Oxygenation of blood → ↑ CO₂ release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Lungs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558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222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D8210-A789-CBBA-9CF0-F1403B4A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77D9-3718-975F-064B-C31292D7E7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5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28E04-997A-D3A1-9BA9-22D30CDABA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159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B712-1025-7B6F-2303-43D31891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Neural Regulation of Respiration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23E85-DE0F-111E-9DAE-4FA28703B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Breathing is mainly </a:t>
            </a:r>
            <a:r>
              <a:rPr lang="en-US" b="1" dirty="0"/>
              <a:t>involuntary</a:t>
            </a:r>
            <a:r>
              <a:rPr lang="en-US" dirty="0"/>
              <a:t> and is controlled by neural mechanisms to maintain optimal </a:t>
            </a:r>
            <a:r>
              <a:rPr lang="en-US" b="1" dirty="0"/>
              <a:t>oxygen, carbon dioxide, and pH levels</a:t>
            </a:r>
            <a:r>
              <a:rPr lang="en-US" dirty="0"/>
              <a:t> in the body.</a:t>
            </a:r>
          </a:p>
          <a:p>
            <a:r>
              <a:rPr lang="en-US" dirty="0"/>
              <a:t>Regulation is achieved by:</a:t>
            </a:r>
            <a:br>
              <a:rPr lang="en-US" dirty="0"/>
            </a:br>
            <a:r>
              <a:rPr lang="en-US" dirty="0"/>
              <a:t>1️⃣ </a:t>
            </a:r>
            <a:r>
              <a:rPr lang="en-US" b="1" dirty="0"/>
              <a:t>Respiratory centers in the brainstem</a:t>
            </a:r>
            <a:br>
              <a:rPr lang="en-US" dirty="0"/>
            </a:br>
            <a:r>
              <a:rPr lang="en-US" dirty="0"/>
              <a:t>2️⃣ </a:t>
            </a:r>
            <a:r>
              <a:rPr lang="en-US" b="1" dirty="0"/>
              <a:t>Nerves supplying respiratory muscles</a:t>
            </a:r>
            <a:br>
              <a:rPr lang="en-US" dirty="0"/>
            </a:br>
            <a:r>
              <a:rPr lang="en-US" dirty="0"/>
              <a:t>3️⃣ </a:t>
            </a:r>
            <a:r>
              <a:rPr lang="en-US" b="1" dirty="0"/>
              <a:t>Reflexes from chemoreceptors and mechanoreceptors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816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8E6D-924F-7FCB-5C13-61FED0C9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RESPIRATORY CENTER IN BRAINSTEM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6158BE-4B6B-D8FB-8E76-6E9EF4A19A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4270824"/>
              </p:ext>
            </p:extLst>
          </p:nvPr>
        </p:nvGraphicFramePr>
        <p:xfrm>
          <a:off x="1066800" y="2606516"/>
          <a:ext cx="10058400" cy="29260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87673836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64143848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93690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439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Medulla oblongata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Dorsal Respiratory Group (DRG)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Inspiration (rhythmic drive, “pacemaker”)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40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Ventral Respiratory Group (VRG)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Forced breathing (active inspiration &amp; expiration)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296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Pneumotaxic 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Inhibits inspiration → ↓ depth &amp; ↑ rate of breathing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814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Apneustic Center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Prolongs inspiration → ↑ depth of breathing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959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984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918B0-C8C9-0DD1-1885-F7D08CC58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NERVE SUPPLY OF RESPIRATORY MUSCLE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9477D2-A111-DB91-5112-F55AA85A0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88209"/>
              </p:ext>
            </p:extLst>
          </p:nvPr>
        </p:nvGraphicFramePr>
        <p:xfrm>
          <a:off x="1066800" y="3338036"/>
          <a:ext cx="10058400" cy="14630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16373206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7697494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Nerve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33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Diaphragm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Phrenic nerve (C3–C5)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361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&amp; internal intercostals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Intercostal nerves (T1–T11)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078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Accessory muscles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Cranial nerves &amp; spinal nerves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023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787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9455-F390-39BA-4DEC-13DE39A6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Chemical Regulation of Respiration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3A268-C761-B90A-0166-A1C08DE80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Chemical regulation refers to control of respiration by monitoring the </a:t>
            </a:r>
            <a:r>
              <a:rPr lang="en-US" b="1" dirty="0"/>
              <a:t>chemical composition of blood</a:t>
            </a:r>
            <a:r>
              <a:rPr lang="en-US" dirty="0"/>
              <a:t>, mainly </a:t>
            </a:r>
            <a:r>
              <a:rPr lang="en-US" b="1" dirty="0" err="1"/>
              <a:t>pCO</a:t>
            </a:r>
            <a:r>
              <a:rPr lang="en-US" b="1" dirty="0"/>
              <a:t>₂, </a:t>
            </a:r>
            <a:r>
              <a:rPr lang="en-US" b="1" dirty="0" err="1"/>
              <a:t>pO</a:t>
            </a:r>
            <a:r>
              <a:rPr lang="en-US" b="1" dirty="0"/>
              <a:t>₂ and H⁺ (pH)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is done by </a:t>
            </a:r>
            <a:r>
              <a:rPr lang="en-US" b="1" dirty="0"/>
              <a:t>chemoreceptors</a:t>
            </a:r>
            <a:r>
              <a:rPr lang="en-US" dirty="0"/>
              <a:t>, which adjust ventilation to maintain normal gas levels.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8750C-540C-41B5-167C-D44D54F7E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360019"/>
              </p:ext>
            </p:extLst>
          </p:nvPr>
        </p:nvGraphicFramePr>
        <p:xfrm>
          <a:off x="1066800" y="3345902"/>
          <a:ext cx="10058400" cy="21945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4074882427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94577354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51063413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97833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Sensitive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Effect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709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Central chemoreceptors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Medulla (ventrolateral medullary surface)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↑ pCO₂ (through ↑ H⁺ in CSF)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↑ ventilation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294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Peripheral chemoreceptors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Carotid bodies (major) &amp; Aortic bodies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pO₂, ↑ pCO₂, ↑ H⁺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↑ ventilation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22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496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EB76-0236-618A-FAE8-295764911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10F104-C7BD-BEEB-3E5D-4AAC37F90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3822" y="732459"/>
            <a:ext cx="8984355" cy="539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18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7805-8681-E802-8F47-F0AA5F3B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C51B-5014-ACC4-551A-E2585D632A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58CA4-1735-FB9D-6585-7643D83A55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859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1DD14-5E5C-FA17-DA0A-2D12A96F5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6B036D-31BF-849D-4F47-1E83C77C6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935" y="2014194"/>
            <a:ext cx="10376130" cy="30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86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60BA-7F9E-A516-6DEC-A272AD2E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B0A7FD-FEF2-706F-7A42-DCEF1B383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3491" y="302841"/>
            <a:ext cx="6325017" cy="625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35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24AF-FA7F-E315-1C82-26BEB872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C823AB-4C66-58B1-DF96-CDA63082C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8682" y="224157"/>
            <a:ext cx="5314636" cy="64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82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B08F-4FE4-0029-784F-42DB339C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501E-4859-AE14-D244-6F4B350D77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7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57391-E16F-FA91-FA0E-B9650F7473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2171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EFFB4-507D-11F9-3E62-4BAF6E43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F34226-7847-CE7D-9DC8-DC810B898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0634" y="308732"/>
            <a:ext cx="8530731" cy="62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87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C26A6-7995-0784-D53B-407A2365A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6A787-E7E7-4E2E-EBFE-4D4FE0FD7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8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D10E8-6BCF-ECE0-7B93-F3D6DA949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107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012B-FF15-D412-2F69-D69D475E5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0C1153-43C1-97E9-41A5-3B923A1140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177" y="1103452"/>
            <a:ext cx="7347645" cy="465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2124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2251-F8B8-5790-2276-3EEAE6996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314" y="2743200"/>
            <a:ext cx="10058400" cy="1371600"/>
          </a:xfrm>
        </p:spPr>
        <p:txBody>
          <a:bodyPr>
            <a:noAutofit/>
          </a:bodyPr>
          <a:lstStyle/>
          <a:p>
            <a:r>
              <a:rPr lang="en-US" sz="3600" dirty="0"/>
              <a:t>Artificial respiration is indicated in rapid respiratory failure which is caused by the following: Anesthetic accidents, Barbiturate poisoning, Carbon monoxide poisoning, Drowning, Electrocution and Fatal head injury. </a:t>
            </a:r>
            <a:br>
              <a:rPr lang="en-IN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147529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8AD8D-17CA-4BC1-CE24-6E1E4F650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925159-A79C-B57C-8A61-BA29F41EA6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243" y="1741462"/>
            <a:ext cx="11213513" cy="337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19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B15A-CBA2-9601-1424-1301B2F6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A710-7130-B3EF-90F0-E08AEE748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9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0B7AF-494C-3D49-77BD-A4D2928A1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293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23FA-AF22-709F-E92F-C5BEEC17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67AAB2-C96C-6BC5-0B6D-B2E95507A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436" y="797605"/>
            <a:ext cx="9635127" cy="526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46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D50A-CCB2-A3A8-C2CE-0CBD9DC3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STATIC PFT(PULMONARY FUNCTION TEST)</a:t>
            </a: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8A6B96-51CA-1614-C2A7-A1EA67D218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606516"/>
          <a:ext cx="10058400" cy="292608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343383730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8139678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956781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073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Tidal Volume (TV)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Air inspired/expired during normal breathing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264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Inspiratory Reserve Volume (IRV)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 air inhaled after normal inspiration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47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Expiratory Reserve Volume (ERV)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 air exhaled after normal expiration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282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Residual Volume (RV)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Air remaining after forceful expiration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107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6761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E7C45-FE20-9E5C-AD01-B6376E96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CAPACITIES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99FDBF-3C6E-2240-C65D-804BAF1634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3017996"/>
          <a:ext cx="10058400" cy="210312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75910291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3543945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086409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854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Inspiratory Capacity (IC)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TV + IRV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059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Functional Residual Capacity (FRC)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ERV + RV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2300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497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Vital Capacity (VC)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IRV + TV + ERV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4600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641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Total Lung Capacity (TLC)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VC + RV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5800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246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2064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2FA6-7A25-5E08-6DE9-554C59C5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PFT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0C1B65-7361-144A-B150-5CC5C0CF23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286476"/>
          <a:ext cx="10058400" cy="3566160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7847855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72911497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4169302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088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FVC</a:t>
                      </a:r>
                      <a:r>
                        <a:rPr lang="en-IN"/>
                        <a:t> (Forced Vital Capacity)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Maximum air exhaled forcefully after deep inspiration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in </a:t>
                      </a:r>
                      <a:r>
                        <a:rPr lang="en-IN" b="1"/>
                        <a:t>restrictive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410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FEV1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Air expired forcefully in 1st second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in </a:t>
                      </a:r>
                      <a:r>
                        <a:rPr lang="en-IN" b="1"/>
                        <a:t>obstructive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539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FEV1/FVC ratio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Proportion of FVC blown out in 1 sec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80% normal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7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PEFR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Peak expiratory flow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in asthma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251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MVV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Maximum voluntary ventilation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↓ in muscle or airflow 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291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6957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A1D3D-0818-6BB3-ABE4-43E42284C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ANATOMY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75F5CC-DA01-62C7-4A36-3287941C9C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3246596"/>
          <a:ext cx="10058400" cy="164592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414413652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83036286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30182041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9647835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 of lung disease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FEV1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FEV1/FVC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000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Obstructive (COPD, asthma)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 or 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↓↓↓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↓ (&lt; 70%)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741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Restrictive (fibrosis, scoliosis, ARDS)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↓↓↓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↓↓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Normal or ↑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96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565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Custom 7">
      <a:dk1>
        <a:sysClr val="windowText" lastClr="000000"/>
      </a:dk1>
      <a:lt1>
        <a:sysClr val="window" lastClr="FFFFFF"/>
      </a:lt1>
      <a:dk2>
        <a:srgbClr val="FF0000"/>
      </a:dk2>
      <a:lt2>
        <a:srgbClr val="C00000"/>
      </a:lt2>
      <a:accent1>
        <a:srgbClr val="FFC000"/>
      </a:accent1>
      <a:accent2>
        <a:srgbClr val="FFFF00"/>
      </a:accent2>
      <a:accent3>
        <a:srgbClr val="660033"/>
      </a:accent3>
      <a:accent4>
        <a:srgbClr val="990000"/>
      </a:accent4>
      <a:accent5>
        <a:srgbClr val="FF0000"/>
      </a:accent5>
      <a:accent6>
        <a:srgbClr val="593500"/>
      </a:accent6>
      <a:hlink>
        <a:srgbClr val="855001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346</TotalTime>
  <Words>1067</Words>
  <Application>Microsoft Office PowerPoint</Application>
  <PresentationFormat>Widescreen</PresentationFormat>
  <Paragraphs>246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Cambria Math</vt:lpstr>
      <vt:lpstr>Century Gothic</vt:lpstr>
      <vt:lpstr>Savon</vt:lpstr>
      <vt:lpstr>Respiratory physiology</vt:lpstr>
      <vt:lpstr>Unit 1</vt:lpstr>
      <vt:lpstr>PowerPoint Presentation</vt:lpstr>
      <vt:lpstr>PowerPoint Presentation</vt:lpstr>
      <vt:lpstr>PowerPoint Presentation</vt:lpstr>
      <vt:lpstr>PowerPoint Presentation</vt:lpstr>
      <vt:lpstr>Unit 2</vt:lpstr>
      <vt:lpstr>PowerPoint Presentation</vt:lpstr>
      <vt:lpstr>PowerPoint Presentation</vt:lpstr>
      <vt:lpstr>Unit 3</vt:lpstr>
      <vt:lpstr>COMPLIANCE </vt:lpstr>
      <vt:lpstr>SURFACTANT</vt:lpstr>
      <vt:lpstr>Ventilation–Perfusion Ratio (V/Q Ratio)</vt:lpstr>
      <vt:lpstr>PowerPoint Presentation</vt:lpstr>
      <vt:lpstr>Unit 4</vt:lpstr>
      <vt:lpstr>PARTIAL PRESSURE DIFFERENCE</vt:lpstr>
      <vt:lpstr>Gas exchange sequence:</vt:lpstr>
      <vt:lpstr>FACTORS INFLUENCING DIFFUSION</vt:lpstr>
      <vt:lpstr>TRANSPORT OF OXYGEN  Oxyhemoglobin Formation "Hb"+"O₂"⇌"HbO₂" </vt:lpstr>
      <vt:lpstr>Factors shifting Oxygen–Hemoglobin Dissociation Curve</vt:lpstr>
      <vt:lpstr>TRANSPORT OF CARBON DIOXIDE</vt:lpstr>
      <vt:lpstr>BOHR AND HALDANE EFFECT</vt:lpstr>
      <vt:lpstr>Unit 5</vt:lpstr>
      <vt:lpstr>Neural Regulation of Respiration</vt:lpstr>
      <vt:lpstr>RESPIRATORY CENTER IN BRAINSTEM</vt:lpstr>
      <vt:lpstr>NERVE SUPPLY OF RESPIRATORY MUSCLE</vt:lpstr>
      <vt:lpstr>Chemical Regulation of Respiration</vt:lpstr>
      <vt:lpstr>PowerPoint Presentation</vt:lpstr>
      <vt:lpstr>Unit 6</vt:lpstr>
      <vt:lpstr>PowerPoint Presentation</vt:lpstr>
      <vt:lpstr>PowerPoint Presentation</vt:lpstr>
      <vt:lpstr>PowerPoint Presentation</vt:lpstr>
      <vt:lpstr>Unit 7</vt:lpstr>
      <vt:lpstr>PowerPoint Presentation</vt:lpstr>
      <vt:lpstr>Unit 8</vt:lpstr>
      <vt:lpstr>PowerPoint Presentation</vt:lpstr>
      <vt:lpstr>Artificial respiration is indicated in rapid respiratory failure which is caused by the following: Anesthetic accidents, Barbiturate poisoning, Carbon monoxide poisoning, Drowning, Electrocution and Fatal head injury.  </vt:lpstr>
      <vt:lpstr>PowerPoint Presentation</vt:lpstr>
      <vt:lpstr>Unit 9</vt:lpstr>
      <vt:lpstr>PowerPoint Presentation</vt:lpstr>
      <vt:lpstr>STATIC PFT(PULMONARY FUNCTION TEST)</vt:lpstr>
      <vt:lpstr>CAPACITIES</vt:lpstr>
      <vt:lpstr>DYNAMIC PFT</vt:lpstr>
      <vt:lpstr>APPLIED ANATOMY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2025-11-23T05:34:05Z</dcterms:created>
  <dcterms:modified xsi:type="dcterms:W3CDTF">2025-11-23T12:49:57Z</dcterms:modified>
</cp:coreProperties>
</file>