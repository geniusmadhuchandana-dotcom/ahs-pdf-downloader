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7" r:id="rId4"/>
    <p:sldId id="265" r:id="rId5"/>
    <p:sldId id="266" r:id="rId6"/>
    <p:sldId id="267" r:id="rId7"/>
    <p:sldId id="259" r:id="rId8"/>
    <p:sldId id="268" r:id="rId9"/>
    <p:sldId id="269" r:id="rId10"/>
    <p:sldId id="270" r:id="rId11"/>
    <p:sldId id="271" r:id="rId12"/>
    <p:sldId id="272" r:id="rId13"/>
    <p:sldId id="273" r:id="rId14"/>
    <p:sldId id="260" r:id="rId15"/>
    <p:sldId id="274" r:id="rId16"/>
    <p:sldId id="275" r:id="rId17"/>
    <p:sldId id="276" r:id="rId18"/>
    <p:sldId id="277" r:id="rId19"/>
    <p:sldId id="278" r:id="rId20"/>
    <p:sldId id="279" r:id="rId21"/>
    <p:sldId id="280" r:id="rId22"/>
    <p:sldId id="281" r:id="rId23"/>
    <p:sldId id="282" r:id="rId24"/>
    <p:sldId id="283" r:id="rId25"/>
    <p:sldId id="261" r:id="rId26"/>
    <p:sldId id="284" r:id="rId27"/>
    <p:sldId id="285" r:id="rId28"/>
    <p:sldId id="286" r:id="rId29"/>
    <p:sldId id="287" r:id="rId30"/>
    <p:sldId id="288" r:id="rId31"/>
    <p:sldId id="289" r:id="rId32"/>
    <p:sldId id="290" r:id="rId33"/>
    <p:sldId id="291" r:id="rId34"/>
    <p:sldId id="262" r:id="rId35"/>
    <p:sldId id="292" r:id="rId36"/>
    <p:sldId id="293" r:id="rId37"/>
    <p:sldId id="295" r:id="rId38"/>
    <p:sldId id="296" r:id="rId39"/>
    <p:sldId id="263" r:id="rId40"/>
    <p:sldId id="297" r:id="rId41"/>
    <p:sldId id="298" r:id="rId42"/>
    <p:sldId id="299" r:id="rId43"/>
    <p:sldId id="300" r:id="rId44"/>
    <p:sldId id="264" r:id="rId45"/>
    <p:sldId id="301" r:id="rId46"/>
    <p:sldId id="303" r:id="rId47"/>
    <p:sldId id="304" r:id="rId48"/>
    <p:sldId id="305" r:id="rId49"/>
    <p:sldId id="306" r:id="rId50"/>
    <p:sldId id="307" r:id="rId51"/>
    <p:sldId id="308" r:id="rId52"/>
    <p:sldId id="309" r:id="rId53"/>
    <p:sldId id="310" r:id="rId54"/>
    <p:sldId id="302" r:id="rId55"/>
    <p:sldId id="311" r:id="rId56"/>
    <p:sldId id="312" r:id="rId57"/>
    <p:sldId id="313"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F3AB7A57-B979-4602-9487-3A4F828DA1BC}" type="datetimeFigureOut">
              <a:rPr lang="en-IN" smtClean="0"/>
              <a:t>21-11-2025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2318780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914569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F3AB7A57-B979-4602-9487-3A4F828DA1BC}" type="datetimeFigureOut">
              <a:rPr lang="en-IN" smtClean="0"/>
              <a:t>21-11-2025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35336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294652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067309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173296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331811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6115C772-13EE-4A7B-9930-32158D344F9E}"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3113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F3AB7A57-B979-4602-9487-3A4F828DA1BC}" type="datetimeFigureOut">
              <a:rPr lang="en-IN" smtClean="0"/>
              <a:t>21-11-2025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265218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276100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F3AB7A57-B979-4602-9487-3A4F828DA1BC}"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387461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F3AB7A57-B979-4602-9487-3A4F828DA1BC}" type="datetimeFigureOut">
              <a:rPr lang="en-IN" smtClean="0"/>
              <a:t>21-11-2025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6115C772-13EE-4A7B-9930-32158D344F9E}" type="slidenum">
              <a:rPr lang="en-IN" smtClean="0"/>
              <a:t>‹#›</a:t>
            </a:fld>
            <a:endParaRPr lang="en-IN"/>
          </a:p>
        </p:txBody>
      </p:sp>
    </p:spTree>
    <p:extLst>
      <p:ext uri="{BB962C8B-B14F-4D97-AF65-F5344CB8AC3E}">
        <p14:creationId xmlns:p14="http://schemas.microsoft.com/office/powerpoint/2010/main" val="413473258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35A85-4FBC-D2CB-225D-46BFBB6F418E}"/>
              </a:ext>
            </a:extLst>
          </p:cNvPr>
          <p:cNvSpPr>
            <a:spLocks noGrp="1"/>
          </p:cNvSpPr>
          <p:nvPr>
            <p:ph type="ctrTitle"/>
          </p:nvPr>
        </p:nvSpPr>
        <p:spPr/>
        <p:txBody>
          <a:bodyPr/>
          <a:lstStyle/>
          <a:p>
            <a:r>
              <a:rPr lang="en-IN" dirty="0"/>
              <a:t>Endocrine physiology</a:t>
            </a:r>
          </a:p>
        </p:txBody>
      </p:sp>
      <p:sp>
        <p:nvSpPr>
          <p:cNvPr id="3" name="Subtitle 2">
            <a:extLst>
              <a:ext uri="{FF2B5EF4-FFF2-40B4-BE49-F238E27FC236}">
                <a16:creationId xmlns:a16="http://schemas.microsoft.com/office/drawing/2014/main" id="{5F02E0F2-647B-79CE-78BA-CF6379DD9BD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44299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DB60-BB80-15BC-6AA7-14B5EED8B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E32B8-04B4-7366-56A2-22F1FB73EF9A}"/>
              </a:ext>
            </a:extLst>
          </p:cNvPr>
          <p:cNvSpPr>
            <a:spLocks noGrp="1"/>
          </p:cNvSpPr>
          <p:nvPr>
            <p:ph type="ctrTitle"/>
          </p:nvPr>
        </p:nvSpPr>
        <p:spPr/>
        <p:txBody>
          <a:bodyPr/>
          <a:lstStyle/>
          <a:p>
            <a:r>
              <a:rPr lang="en-IN" dirty="0"/>
              <a:t>Unit 1</a:t>
            </a:r>
          </a:p>
        </p:txBody>
      </p:sp>
      <p:sp>
        <p:nvSpPr>
          <p:cNvPr id="3" name="Subtitle 2">
            <a:extLst>
              <a:ext uri="{FF2B5EF4-FFF2-40B4-BE49-F238E27FC236}">
                <a16:creationId xmlns:a16="http://schemas.microsoft.com/office/drawing/2014/main" id="{CC0C2536-FA2F-9050-F5C5-37EE3065A65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09716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62F1C-CDCE-3E4F-3B45-6DCFA9D5E8AA}"/>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A3ADEF1C-13A4-99FE-1C42-0EF8097C81F6}"/>
              </a:ext>
            </a:extLst>
          </p:cNvPr>
          <p:cNvPicPr>
            <a:picLocks noGrp="1" noChangeAspect="1"/>
          </p:cNvPicPr>
          <p:nvPr>
            <p:ph idx="1"/>
          </p:nvPr>
        </p:nvPicPr>
        <p:blipFill>
          <a:blip r:embed="rId2"/>
          <a:stretch>
            <a:fillRect/>
          </a:stretch>
        </p:blipFill>
        <p:spPr>
          <a:xfrm>
            <a:off x="2224814" y="385583"/>
            <a:ext cx="7742372" cy="6086833"/>
          </a:xfrm>
          <a:prstGeom prst="rect">
            <a:avLst/>
          </a:prstGeom>
        </p:spPr>
      </p:pic>
    </p:spTree>
    <p:extLst>
      <p:ext uri="{BB962C8B-B14F-4D97-AF65-F5344CB8AC3E}">
        <p14:creationId xmlns:p14="http://schemas.microsoft.com/office/powerpoint/2010/main" val="28993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A70B9-FE46-F364-22CB-32C4170C7BE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E505AB3-94AA-A1C0-C699-880DABFAFCB8}"/>
              </a:ext>
            </a:extLst>
          </p:cNvPr>
          <p:cNvPicPr>
            <a:picLocks noGrp="1" noChangeAspect="1"/>
          </p:cNvPicPr>
          <p:nvPr>
            <p:ph idx="1"/>
          </p:nvPr>
        </p:nvPicPr>
        <p:blipFill>
          <a:blip r:embed="rId2"/>
          <a:stretch>
            <a:fillRect/>
          </a:stretch>
        </p:blipFill>
        <p:spPr>
          <a:xfrm>
            <a:off x="837066" y="1328394"/>
            <a:ext cx="10699500" cy="3209850"/>
          </a:xfrm>
          <a:prstGeom prst="rect">
            <a:avLst/>
          </a:prstGeom>
        </p:spPr>
      </p:pic>
    </p:spTree>
    <p:extLst>
      <p:ext uri="{BB962C8B-B14F-4D97-AF65-F5344CB8AC3E}">
        <p14:creationId xmlns:p14="http://schemas.microsoft.com/office/powerpoint/2010/main" val="4146149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80B9-DB1A-F96A-3AEE-DEE298566FF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6AAAC19-415E-C3C9-409D-5398304FCAE6}"/>
              </a:ext>
            </a:extLst>
          </p:cNvPr>
          <p:cNvPicPr>
            <a:picLocks noGrp="1" noChangeAspect="1"/>
          </p:cNvPicPr>
          <p:nvPr>
            <p:ph idx="1"/>
          </p:nvPr>
        </p:nvPicPr>
        <p:blipFill>
          <a:blip r:embed="rId2"/>
          <a:stretch>
            <a:fillRect/>
          </a:stretch>
        </p:blipFill>
        <p:spPr>
          <a:xfrm>
            <a:off x="1353183" y="2014194"/>
            <a:ext cx="9485634" cy="3455733"/>
          </a:xfrm>
          <a:prstGeom prst="rect">
            <a:avLst/>
          </a:prstGeom>
        </p:spPr>
      </p:pic>
    </p:spTree>
    <p:extLst>
      <p:ext uri="{BB962C8B-B14F-4D97-AF65-F5344CB8AC3E}">
        <p14:creationId xmlns:p14="http://schemas.microsoft.com/office/powerpoint/2010/main" val="3117112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829D-9D94-2E08-E257-FF4AD90A11AA}"/>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6BBC69A5-28F8-BBC6-6D37-5F50E00C5775}"/>
              </a:ext>
            </a:extLst>
          </p:cNvPr>
          <p:cNvSpPr>
            <a:spLocks noGrp="1"/>
          </p:cNvSpPr>
          <p:nvPr>
            <p:ph idx="1"/>
          </p:nvPr>
        </p:nvSpPr>
        <p:spPr/>
        <p:txBody>
          <a:bodyPr/>
          <a:lstStyle/>
          <a:p>
            <a:r>
              <a:rPr lang="en-US" dirty="0"/>
              <a:t>Most endocrine disorders (endocrinopathies) can be attributed to one of the following problems:</a:t>
            </a:r>
          </a:p>
          <a:p>
            <a:r>
              <a:rPr lang="en-US" dirty="0"/>
              <a:t>1) Too little hormone, hyposecretion. </a:t>
            </a:r>
          </a:p>
          <a:p>
            <a:r>
              <a:rPr lang="en-US" dirty="0"/>
              <a:t>2) Too much hormone, hypersecretion; or </a:t>
            </a:r>
          </a:p>
          <a:p>
            <a:r>
              <a:rPr lang="en-US" dirty="0"/>
              <a:t>3) Abnormal tissue response to a hormone, end organ insensitivity or resistance. </a:t>
            </a:r>
          </a:p>
          <a:p>
            <a:pPr marL="0" indent="0">
              <a:buNone/>
            </a:pPr>
            <a:r>
              <a:rPr lang="en-US" dirty="0"/>
              <a:t>Each endocrinopathy will be explained in the subsequent chapters</a:t>
            </a:r>
            <a:endParaRPr lang="en-IN" dirty="0"/>
          </a:p>
        </p:txBody>
      </p:sp>
    </p:spTree>
    <p:extLst>
      <p:ext uri="{BB962C8B-B14F-4D97-AF65-F5344CB8AC3E}">
        <p14:creationId xmlns:p14="http://schemas.microsoft.com/office/powerpoint/2010/main" val="553016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CC268-6CF9-17B9-3A4B-4999FEC6B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CFEAD-82C4-D21D-15D3-C34184B3F130}"/>
              </a:ext>
            </a:extLst>
          </p:cNvPr>
          <p:cNvSpPr>
            <a:spLocks noGrp="1"/>
          </p:cNvSpPr>
          <p:nvPr>
            <p:ph type="ctrTitle"/>
          </p:nvPr>
        </p:nvSpPr>
        <p:spPr/>
        <p:txBody>
          <a:bodyPr/>
          <a:lstStyle/>
          <a:p>
            <a:r>
              <a:rPr lang="en-IN" dirty="0"/>
              <a:t>Unit 2</a:t>
            </a:r>
          </a:p>
        </p:txBody>
      </p:sp>
      <p:sp>
        <p:nvSpPr>
          <p:cNvPr id="3" name="Subtitle 2">
            <a:extLst>
              <a:ext uri="{FF2B5EF4-FFF2-40B4-BE49-F238E27FC236}">
                <a16:creationId xmlns:a16="http://schemas.microsoft.com/office/drawing/2014/main" id="{4D988FD4-310C-8DD4-3CBE-B5C1B237B7D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5355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453A-910A-E566-8DCB-9A54F5A826BC}"/>
              </a:ext>
            </a:extLst>
          </p:cNvPr>
          <p:cNvSpPr>
            <a:spLocks noGrp="1"/>
          </p:cNvSpPr>
          <p:nvPr>
            <p:ph type="title"/>
          </p:nvPr>
        </p:nvSpPr>
        <p:spPr/>
        <p:txBody>
          <a:bodyPr/>
          <a:lstStyle/>
          <a:p>
            <a:r>
              <a:rPr lang="en-IN" dirty="0"/>
              <a:t>Posterior pituitary gland</a:t>
            </a:r>
          </a:p>
        </p:txBody>
      </p:sp>
      <p:sp>
        <p:nvSpPr>
          <p:cNvPr id="3" name="Content Placeholder 2">
            <a:extLst>
              <a:ext uri="{FF2B5EF4-FFF2-40B4-BE49-F238E27FC236}">
                <a16:creationId xmlns:a16="http://schemas.microsoft.com/office/drawing/2014/main" id="{A42F3950-6F37-A117-1AC0-F5AB4AB267C9}"/>
              </a:ext>
            </a:extLst>
          </p:cNvPr>
          <p:cNvSpPr>
            <a:spLocks noGrp="1"/>
          </p:cNvSpPr>
          <p:nvPr>
            <p:ph idx="1"/>
          </p:nvPr>
        </p:nvSpPr>
        <p:spPr/>
        <p:txBody>
          <a:bodyPr/>
          <a:lstStyle/>
          <a:p>
            <a:r>
              <a:rPr lang="en-US" dirty="0"/>
              <a:t>Pituitary gland is the master endocrine gland.</a:t>
            </a:r>
          </a:p>
          <a:p>
            <a:r>
              <a:rPr lang="en-US" dirty="0"/>
              <a:t> It is located at the base of the brain.</a:t>
            </a:r>
          </a:p>
          <a:p>
            <a:r>
              <a:rPr lang="en-US" dirty="0"/>
              <a:t> It is attached to the hypothalamus and lies in the </a:t>
            </a:r>
            <a:r>
              <a:rPr lang="en-US" dirty="0" err="1"/>
              <a:t>sella</a:t>
            </a:r>
            <a:r>
              <a:rPr lang="en-US" dirty="0"/>
              <a:t> </a:t>
            </a:r>
            <a:r>
              <a:rPr lang="en-US" dirty="0" err="1"/>
              <a:t>tursica</a:t>
            </a:r>
            <a:r>
              <a:rPr lang="en-US" dirty="0"/>
              <a:t> of the sphenoid bone. </a:t>
            </a:r>
          </a:p>
          <a:p>
            <a:r>
              <a:rPr lang="en-US" dirty="0"/>
              <a:t>It is developed from Rathke’s pouch and weighs 600 mg. </a:t>
            </a:r>
          </a:p>
          <a:p>
            <a:r>
              <a:rPr lang="en-US" dirty="0"/>
              <a:t>It is divided into anterior pituitary (adenohypophysis) and posterior pituitary (neurohypophysis).</a:t>
            </a:r>
            <a:endParaRPr lang="en-IN" dirty="0"/>
          </a:p>
        </p:txBody>
      </p:sp>
    </p:spTree>
    <p:extLst>
      <p:ext uri="{BB962C8B-B14F-4D97-AF65-F5344CB8AC3E}">
        <p14:creationId xmlns:p14="http://schemas.microsoft.com/office/powerpoint/2010/main" val="3735300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76BE-71D3-D428-3460-A4A88C816CE5}"/>
              </a:ext>
            </a:extLst>
          </p:cNvPr>
          <p:cNvSpPr>
            <a:spLocks noGrp="1"/>
          </p:cNvSpPr>
          <p:nvPr>
            <p:ph type="title"/>
          </p:nvPr>
        </p:nvSpPr>
        <p:spPr/>
        <p:txBody>
          <a:bodyPr>
            <a:normAutofit fontScale="90000"/>
          </a:bodyPr>
          <a:lstStyle/>
          <a:p>
            <a:r>
              <a:rPr lang="en-IN" dirty="0" err="1"/>
              <a:t>Hypothalamo</a:t>
            </a:r>
            <a:r>
              <a:rPr lang="en-IN" dirty="0"/>
              <a:t>–Hypophyseal Relationship</a:t>
            </a:r>
          </a:p>
        </p:txBody>
      </p:sp>
      <p:sp>
        <p:nvSpPr>
          <p:cNvPr id="3" name="Content Placeholder 2">
            <a:extLst>
              <a:ext uri="{FF2B5EF4-FFF2-40B4-BE49-F238E27FC236}">
                <a16:creationId xmlns:a16="http://schemas.microsoft.com/office/drawing/2014/main" id="{7B1B5078-B390-218F-F648-FF14D87A7686}"/>
              </a:ext>
            </a:extLst>
          </p:cNvPr>
          <p:cNvSpPr>
            <a:spLocks noGrp="1"/>
          </p:cNvSpPr>
          <p:nvPr>
            <p:ph idx="1"/>
          </p:nvPr>
        </p:nvSpPr>
        <p:spPr/>
        <p:txBody>
          <a:bodyPr/>
          <a:lstStyle/>
          <a:p>
            <a:r>
              <a:rPr lang="en-US" dirty="0"/>
              <a:t>It refers to the </a:t>
            </a:r>
            <a:r>
              <a:rPr lang="en-US" b="1" dirty="0"/>
              <a:t>structural and functional connection between the hypothalamus and the pituitary gland (hypophysis)</a:t>
            </a:r>
            <a:r>
              <a:rPr lang="en-US" dirty="0"/>
              <a:t>, which allows the hypothalamus to </a:t>
            </a:r>
            <a:r>
              <a:rPr lang="en-US" b="1" dirty="0"/>
              <a:t>regulate pituitary hormone secretion</a:t>
            </a:r>
            <a:r>
              <a:rPr lang="en-US" dirty="0"/>
              <a:t>.</a:t>
            </a:r>
          </a:p>
          <a:p>
            <a:r>
              <a:rPr lang="en-US" dirty="0"/>
              <a:t>The pituitary gland has two parts:</a:t>
            </a:r>
          </a:p>
          <a:p>
            <a:r>
              <a:rPr lang="en-US" b="1" dirty="0"/>
              <a:t>Anterior pituitary (Adenohypophysis)</a:t>
            </a:r>
            <a:endParaRPr lang="en-US" dirty="0"/>
          </a:p>
          <a:p>
            <a:r>
              <a:rPr lang="en-US" b="1" dirty="0"/>
              <a:t>Posterior pituitary (Neurohypophysis)</a:t>
            </a:r>
            <a:endParaRPr lang="en-US" dirty="0"/>
          </a:p>
          <a:p>
            <a:r>
              <a:rPr lang="en-US" dirty="0"/>
              <a:t>Each part connects to the hypothalamus in a </a:t>
            </a:r>
            <a:r>
              <a:rPr lang="en-US" b="1" dirty="0"/>
              <a:t>different way</a:t>
            </a:r>
            <a:r>
              <a:rPr lang="en-US" dirty="0"/>
              <a:t>.</a:t>
            </a:r>
          </a:p>
          <a:p>
            <a:endParaRPr lang="en-IN" dirty="0"/>
          </a:p>
        </p:txBody>
      </p:sp>
    </p:spTree>
    <p:extLst>
      <p:ext uri="{BB962C8B-B14F-4D97-AF65-F5344CB8AC3E}">
        <p14:creationId xmlns:p14="http://schemas.microsoft.com/office/powerpoint/2010/main" val="761454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F7DE-B90B-7DF1-FBF4-55892AC3418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E7B242-10AC-6152-A624-4EA6CB0B61D2}"/>
              </a:ext>
            </a:extLst>
          </p:cNvPr>
          <p:cNvPicPr>
            <a:picLocks noGrp="1" noChangeAspect="1"/>
          </p:cNvPicPr>
          <p:nvPr>
            <p:ph idx="1"/>
          </p:nvPr>
        </p:nvPicPr>
        <p:blipFill>
          <a:blip r:embed="rId2"/>
          <a:stretch>
            <a:fillRect/>
          </a:stretch>
        </p:blipFill>
        <p:spPr>
          <a:xfrm>
            <a:off x="2899403" y="410441"/>
            <a:ext cx="6393194" cy="6037118"/>
          </a:xfrm>
          <a:prstGeom prst="rect">
            <a:avLst/>
          </a:prstGeom>
        </p:spPr>
      </p:pic>
    </p:spTree>
    <p:extLst>
      <p:ext uri="{BB962C8B-B14F-4D97-AF65-F5344CB8AC3E}">
        <p14:creationId xmlns:p14="http://schemas.microsoft.com/office/powerpoint/2010/main" val="2318654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52F23-A7BA-F228-0964-C5E8979A2FF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D923BB4-1669-3ECC-711C-5F140EE30386}"/>
              </a:ext>
            </a:extLst>
          </p:cNvPr>
          <p:cNvPicPr>
            <a:picLocks noGrp="1" noChangeAspect="1"/>
          </p:cNvPicPr>
          <p:nvPr>
            <p:ph idx="1"/>
          </p:nvPr>
        </p:nvPicPr>
        <p:blipFill>
          <a:blip r:embed="rId2"/>
          <a:stretch>
            <a:fillRect/>
          </a:stretch>
        </p:blipFill>
        <p:spPr>
          <a:xfrm>
            <a:off x="3007411" y="86378"/>
            <a:ext cx="6177177" cy="6685244"/>
          </a:xfrm>
          <a:prstGeom prst="rect">
            <a:avLst/>
          </a:prstGeom>
        </p:spPr>
      </p:pic>
    </p:spTree>
    <p:extLst>
      <p:ext uri="{BB962C8B-B14F-4D97-AF65-F5344CB8AC3E}">
        <p14:creationId xmlns:p14="http://schemas.microsoft.com/office/powerpoint/2010/main" val="517513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6917-D7EE-D3AD-EFE6-ABFF9B1EBF7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A97A36A-6EEA-7019-3EB7-CFEE40FEA56C}"/>
              </a:ext>
            </a:extLst>
          </p:cNvPr>
          <p:cNvPicPr>
            <a:picLocks noGrp="1" noChangeAspect="1"/>
          </p:cNvPicPr>
          <p:nvPr>
            <p:ph idx="1"/>
          </p:nvPr>
        </p:nvPicPr>
        <p:blipFill>
          <a:blip r:embed="rId2"/>
          <a:stretch>
            <a:fillRect/>
          </a:stretch>
        </p:blipFill>
        <p:spPr>
          <a:xfrm>
            <a:off x="3345874" y="416657"/>
            <a:ext cx="5694218" cy="6024685"/>
          </a:xfrm>
          <a:prstGeom prst="rect">
            <a:avLst/>
          </a:prstGeom>
        </p:spPr>
      </p:pic>
    </p:spTree>
    <p:extLst>
      <p:ext uri="{BB962C8B-B14F-4D97-AF65-F5344CB8AC3E}">
        <p14:creationId xmlns:p14="http://schemas.microsoft.com/office/powerpoint/2010/main" val="1804875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60859-6F50-4E5B-5252-BBF4629086E6}"/>
              </a:ext>
            </a:extLst>
          </p:cNvPr>
          <p:cNvSpPr>
            <a:spLocks noGrp="1"/>
          </p:cNvSpPr>
          <p:nvPr>
            <p:ph type="title"/>
          </p:nvPr>
        </p:nvSpPr>
        <p:spPr/>
        <p:txBody>
          <a:bodyPr/>
          <a:lstStyle/>
          <a:p>
            <a:r>
              <a:rPr lang="en-IN" dirty="0"/>
              <a:t>Applied anatomy</a:t>
            </a:r>
          </a:p>
        </p:txBody>
      </p:sp>
      <p:sp>
        <p:nvSpPr>
          <p:cNvPr id="3" name="Content Placeholder 2">
            <a:extLst>
              <a:ext uri="{FF2B5EF4-FFF2-40B4-BE49-F238E27FC236}">
                <a16:creationId xmlns:a16="http://schemas.microsoft.com/office/drawing/2014/main" id="{B49F72C8-84BE-0F9C-6916-9E885A9316BC}"/>
              </a:ext>
            </a:extLst>
          </p:cNvPr>
          <p:cNvSpPr>
            <a:spLocks noGrp="1"/>
          </p:cNvSpPr>
          <p:nvPr>
            <p:ph idx="1"/>
          </p:nvPr>
        </p:nvSpPr>
        <p:spPr/>
        <p:txBody>
          <a:bodyPr/>
          <a:lstStyle/>
          <a:p>
            <a:r>
              <a:rPr lang="en-US" dirty="0"/>
              <a:t>Diabetes insipidus occurs due to vasopressin deficiency. Inability to reabsorb water by the kidneys could be either due to a central cause (neurogenic vasopressin is not produced) or could be due to a renal cause (Nephrogenic - defects of the V2 receptors). Mutation of vasopressin gene, mutation of V2 receptor gene or mutation of AQP2 gene also results in diabetes insipidus. Clinical features include polyuria (increased excretion of water) and polydipsia (excess thirst). Synthetic oxytocin is given to induce labor and is given therapeutically in order to decrease immediate postpartum hemorrhage</a:t>
            </a:r>
            <a:endParaRPr lang="en-IN" dirty="0"/>
          </a:p>
        </p:txBody>
      </p:sp>
    </p:spTree>
    <p:extLst>
      <p:ext uri="{BB962C8B-B14F-4D97-AF65-F5344CB8AC3E}">
        <p14:creationId xmlns:p14="http://schemas.microsoft.com/office/powerpoint/2010/main" val="237375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97463-2AE5-0E7D-5F67-313A82D3C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B5206-D3C6-BD7C-31CF-385430A8232C}"/>
              </a:ext>
            </a:extLst>
          </p:cNvPr>
          <p:cNvSpPr>
            <a:spLocks noGrp="1"/>
          </p:cNvSpPr>
          <p:nvPr>
            <p:ph type="ctrTitle"/>
          </p:nvPr>
        </p:nvSpPr>
        <p:spPr/>
        <p:txBody>
          <a:bodyPr/>
          <a:lstStyle/>
          <a:p>
            <a:r>
              <a:rPr lang="en-IN" dirty="0"/>
              <a:t>Unit 3</a:t>
            </a:r>
          </a:p>
        </p:txBody>
      </p:sp>
      <p:sp>
        <p:nvSpPr>
          <p:cNvPr id="3" name="Subtitle 2">
            <a:extLst>
              <a:ext uri="{FF2B5EF4-FFF2-40B4-BE49-F238E27FC236}">
                <a16:creationId xmlns:a16="http://schemas.microsoft.com/office/drawing/2014/main" id="{29E49D7C-3A62-F1A5-6B4D-C1F9C75D32E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4293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60EE6-E455-06BF-FEE3-D8F9E95A00E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E17E4A0-5B6A-1A57-B5EE-F18AD6CDA090}"/>
              </a:ext>
            </a:extLst>
          </p:cNvPr>
          <p:cNvPicPr>
            <a:picLocks noGrp="1" noChangeAspect="1"/>
          </p:cNvPicPr>
          <p:nvPr>
            <p:ph idx="1"/>
          </p:nvPr>
        </p:nvPicPr>
        <p:blipFill>
          <a:blip r:embed="rId2"/>
          <a:stretch>
            <a:fillRect/>
          </a:stretch>
        </p:blipFill>
        <p:spPr>
          <a:xfrm>
            <a:off x="1066800" y="840021"/>
            <a:ext cx="10130788" cy="5177958"/>
          </a:xfrm>
          <a:prstGeom prst="rect">
            <a:avLst/>
          </a:prstGeom>
        </p:spPr>
      </p:pic>
    </p:spTree>
    <p:extLst>
      <p:ext uri="{BB962C8B-B14F-4D97-AF65-F5344CB8AC3E}">
        <p14:creationId xmlns:p14="http://schemas.microsoft.com/office/powerpoint/2010/main" val="387344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5BA07-DB1C-B338-B043-2C08F1FCB729}"/>
              </a:ext>
            </a:extLst>
          </p:cNvPr>
          <p:cNvSpPr>
            <a:spLocks noGrp="1"/>
          </p:cNvSpPr>
          <p:nvPr>
            <p:ph type="title"/>
          </p:nvPr>
        </p:nvSpPr>
        <p:spPr/>
        <p:txBody>
          <a:bodyPr/>
          <a:lstStyle/>
          <a:p>
            <a:r>
              <a:rPr lang="en-IN" dirty="0"/>
              <a:t>Growth hormones</a:t>
            </a:r>
          </a:p>
        </p:txBody>
      </p:sp>
      <p:sp>
        <p:nvSpPr>
          <p:cNvPr id="3" name="Content Placeholder 2">
            <a:extLst>
              <a:ext uri="{FF2B5EF4-FFF2-40B4-BE49-F238E27FC236}">
                <a16:creationId xmlns:a16="http://schemas.microsoft.com/office/drawing/2014/main" id="{D3E0D39E-74B0-2577-EA58-A70F7FA929EA}"/>
              </a:ext>
            </a:extLst>
          </p:cNvPr>
          <p:cNvSpPr>
            <a:spLocks noGrp="1"/>
          </p:cNvSpPr>
          <p:nvPr>
            <p:ph idx="1"/>
          </p:nvPr>
        </p:nvSpPr>
        <p:spPr/>
        <p:txBody>
          <a:bodyPr/>
          <a:lstStyle/>
          <a:p>
            <a:r>
              <a:rPr lang="en-IN" b="1" dirty="0"/>
              <a:t>Other names:</a:t>
            </a:r>
            <a:r>
              <a:rPr lang="en-IN" dirty="0"/>
              <a:t> Somatotropin / Somatotropic hormone</a:t>
            </a:r>
            <a:br>
              <a:rPr lang="en-IN" dirty="0"/>
            </a:br>
            <a:r>
              <a:rPr lang="en-IN" b="1" dirty="0"/>
              <a:t>Source:</a:t>
            </a:r>
            <a:r>
              <a:rPr lang="en-IN" dirty="0"/>
              <a:t> </a:t>
            </a:r>
            <a:r>
              <a:rPr lang="en-IN" b="1" dirty="0"/>
              <a:t>Anterior pituitary (Adenohypophysis)</a:t>
            </a:r>
            <a:br>
              <a:rPr lang="en-IN" dirty="0"/>
            </a:br>
            <a:r>
              <a:rPr lang="en-IN" b="1" dirty="0"/>
              <a:t>Cells:</a:t>
            </a:r>
            <a:r>
              <a:rPr lang="en-IN" dirty="0"/>
              <a:t> </a:t>
            </a:r>
            <a:r>
              <a:rPr lang="en-IN" b="1" dirty="0"/>
              <a:t>Somatotrophs</a:t>
            </a:r>
            <a:endParaRPr lang="en-IN" dirty="0"/>
          </a:p>
          <a:p>
            <a:r>
              <a:rPr lang="en-IN" b="1" dirty="0"/>
              <a:t>Regulation</a:t>
            </a:r>
          </a:p>
          <a:p>
            <a:r>
              <a:rPr lang="en-IN" b="1" dirty="0"/>
              <a:t>Stimulated by:</a:t>
            </a:r>
            <a:r>
              <a:rPr lang="en-IN" dirty="0"/>
              <a:t> GHRH (Growth Hormone–Releasing Hormone, from hypothalamus)</a:t>
            </a:r>
          </a:p>
          <a:p>
            <a:r>
              <a:rPr lang="en-IN" b="1" dirty="0"/>
              <a:t>Inhibited by:</a:t>
            </a:r>
            <a:r>
              <a:rPr lang="en-IN" dirty="0"/>
              <a:t> Somatostatin (from hypothalamus)</a:t>
            </a:r>
          </a:p>
          <a:p>
            <a:r>
              <a:rPr lang="en-IN" b="1" dirty="0"/>
              <a:t>Negative feedback:</a:t>
            </a:r>
            <a:r>
              <a:rPr lang="en-IN" dirty="0"/>
              <a:t> IGF-1 (Insulin-like Growth Factor-1)</a:t>
            </a:r>
          </a:p>
          <a:p>
            <a:endParaRPr lang="en-IN" dirty="0"/>
          </a:p>
        </p:txBody>
      </p:sp>
    </p:spTree>
    <p:extLst>
      <p:ext uri="{BB962C8B-B14F-4D97-AF65-F5344CB8AC3E}">
        <p14:creationId xmlns:p14="http://schemas.microsoft.com/office/powerpoint/2010/main" val="3015820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61CFB-BD4A-47A2-39B5-EE00C6530066}"/>
              </a:ext>
            </a:extLst>
          </p:cNvPr>
          <p:cNvSpPr>
            <a:spLocks noGrp="1"/>
          </p:cNvSpPr>
          <p:nvPr>
            <p:ph type="title"/>
          </p:nvPr>
        </p:nvSpPr>
        <p:spPr/>
        <p:txBody>
          <a:bodyPr>
            <a:normAutofit/>
          </a:bodyPr>
          <a:lstStyle/>
          <a:p>
            <a:r>
              <a:rPr lang="en-US" b="1" dirty="0"/>
              <a:t>Actions of Growth Hormone</a:t>
            </a:r>
            <a:endParaRPr lang="en-IN" dirty="0"/>
          </a:p>
        </p:txBody>
      </p:sp>
      <p:sp>
        <p:nvSpPr>
          <p:cNvPr id="3" name="Content Placeholder 2">
            <a:extLst>
              <a:ext uri="{FF2B5EF4-FFF2-40B4-BE49-F238E27FC236}">
                <a16:creationId xmlns:a16="http://schemas.microsoft.com/office/drawing/2014/main" id="{9EB7D4A1-0527-2337-CA69-9A6C27D198C3}"/>
              </a:ext>
            </a:extLst>
          </p:cNvPr>
          <p:cNvSpPr>
            <a:spLocks noGrp="1"/>
          </p:cNvSpPr>
          <p:nvPr>
            <p:ph idx="1"/>
          </p:nvPr>
        </p:nvSpPr>
        <p:spPr/>
        <p:txBody>
          <a:bodyPr/>
          <a:lstStyle/>
          <a:p>
            <a:r>
              <a:rPr lang="en-US" dirty="0"/>
              <a:t>GH has </a:t>
            </a:r>
            <a:r>
              <a:rPr lang="en-US" b="1" dirty="0"/>
              <a:t>direct</a:t>
            </a:r>
            <a:r>
              <a:rPr lang="en-US" dirty="0"/>
              <a:t> effects and </a:t>
            </a:r>
            <a:r>
              <a:rPr lang="en-US" b="1" dirty="0"/>
              <a:t>indirect</a:t>
            </a:r>
            <a:r>
              <a:rPr lang="en-US" dirty="0"/>
              <a:t> effects (via IGF-1).</a:t>
            </a:r>
          </a:p>
          <a:p>
            <a:endParaRPr lang="en-IN" dirty="0"/>
          </a:p>
        </p:txBody>
      </p:sp>
    </p:spTree>
    <p:extLst>
      <p:ext uri="{BB962C8B-B14F-4D97-AF65-F5344CB8AC3E}">
        <p14:creationId xmlns:p14="http://schemas.microsoft.com/office/powerpoint/2010/main" val="2753715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DBC42-B785-951E-64D5-8A1595FC6901}"/>
              </a:ext>
            </a:extLst>
          </p:cNvPr>
          <p:cNvSpPr>
            <a:spLocks noGrp="1"/>
          </p:cNvSpPr>
          <p:nvPr>
            <p:ph type="title"/>
          </p:nvPr>
        </p:nvSpPr>
        <p:spPr/>
        <p:txBody>
          <a:bodyPr>
            <a:normAutofit fontScale="90000"/>
          </a:bodyPr>
          <a:lstStyle/>
          <a:p>
            <a:r>
              <a:rPr lang="en-US" sz="3100" b="1" dirty="0"/>
              <a:t>Direct Actions (GH-dependent)</a:t>
            </a:r>
            <a:br>
              <a:rPr lang="en-US" sz="3100" b="1" dirty="0"/>
            </a:br>
            <a:r>
              <a:rPr lang="en-US" sz="3100" dirty="0"/>
              <a:t>Occurs mainly on </a:t>
            </a:r>
            <a:r>
              <a:rPr lang="en-US" sz="3100" b="1" dirty="0"/>
              <a:t>carbohydrate and lipid metabolism</a:t>
            </a:r>
            <a:r>
              <a:rPr lang="en-US" sz="3100" dirty="0"/>
              <a:t>.</a:t>
            </a:r>
            <a:br>
              <a:rPr lang="en-US" dirty="0"/>
            </a:br>
            <a:endParaRPr lang="en-IN" dirty="0"/>
          </a:p>
        </p:txBody>
      </p:sp>
      <p:graphicFrame>
        <p:nvGraphicFramePr>
          <p:cNvPr id="4" name="Content Placeholder 3">
            <a:extLst>
              <a:ext uri="{FF2B5EF4-FFF2-40B4-BE49-F238E27FC236}">
                <a16:creationId xmlns:a16="http://schemas.microsoft.com/office/drawing/2014/main" id="{3555E2D4-3353-CDA4-91BE-C20E240F40C6}"/>
              </a:ext>
            </a:extLst>
          </p:cNvPr>
          <p:cNvGraphicFramePr>
            <a:graphicFrameLocks noGrp="1"/>
          </p:cNvGraphicFramePr>
          <p:nvPr>
            <p:ph idx="1"/>
            <p:extLst>
              <p:ext uri="{D42A27DB-BD31-4B8C-83A1-F6EECF244321}">
                <p14:modId xmlns:p14="http://schemas.microsoft.com/office/powerpoint/2010/main" val="254107312"/>
              </p:ext>
            </p:extLst>
          </p:nvPr>
        </p:nvGraphicFramePr>
        <p:xfrm>
          <a:off x="994064" y="1856293"/>
          <a:ext cx="10058400" cy="2286000"/>
        </p:xfrm>
        <a:graphic>
          <a:graphicData uri="http://schemas.openxmlformats.org/drawingml/2006/table">
            <a:tbl>
              <a:tblPr/>
              <a:tblGrid>
                <a:gridCol w="3352800">
                  <a:extLst>
                    <a:ext uri="{9D8B030D-6E8A-4147-A177-3AD203B41FA5}">
                      <a16:colId xmlns:a16="http://schemas.microsoft.com/office/drawing/2014/main" val="1689793682"/>
                    </a:ext>
                  </a:extLst>
                </a:gridCol>
                <a:gridCol w="3352800">
                  <a:extLst>
                    <a:ext uri="{9D8B030D-6E8A-4147-A177-3AD203B41FA5}">
                      <a16:colId xmlns:a16="http://schemas.microsoft.com/office/drawing/2014/main" val="2966670312"/>
                    </a:ext>
                  </a:extLst>
                </a:gridCol>
                <a:gridCol w="3352800">
                  <a:extLst>
                    <a:ext uri="{9D8B030D-6E8A-4147-A177-3AD203B41FA5}">
                      <a16:colId xmlns:a16="http://schemas.microsoft.com/office/drawing/2014/main" val="1591443101"/>
                    </a:ext>
                  </a:extLst>
                </a:gridCol>
              </a:tblGrid>
              <a:tr h="0">
                <a:tc>
                  <a:txBody>
                    <a:bodyPr/>
                    <a:lstStyle/>
                    <a:p>
                      <a:pPr>
                        <a:buNone/>
                      </a:pPr>
                      <a:r>
                        <a:rPr lang="en-IN"/>
                        <a:t>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8226056"/>
                  </a:ext>
                </a:extLst>
              </a:tr>
              <a:tr h="0">
                <a:tc>
                  <a:txBody>
                    <a:bodyPr/>
                    <a:lstStyle/>
                    <a:p>
                      <a:pPr>
                        <a:buNone/>
                      </a:pPr>
                      <a:r>
                        <a:rPr lang="en-IN" b="1"/>
                        <a:t>Protein metabolism</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 Amino acid uptake, ↑ protein synthesis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 Tissue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9499956"/>
                  </a:ext>
                </a:extLst>
              </a:tr>
              <a:tr h="0">
                <a:tc>
                  <a:txBody>
                    <a:bodyPr/>
                    <a:lstStyle/>
                    <a:p>
                      <a:pPr>
                        <a:buNone/>
                      </a:pPr>
                      <a:r>
                        <a:rPr lang="en-IN" b="1"/>
                        <a:t>Fat metabolism</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 Lipolysis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Free fatty acids (energy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4244595"/>
                  </a:ext>
                </a:extLst>
              </a:tr>
              <a:tr h="0">
                <a:tc>
                  <a:txBody>
                    <a:bodyPr/>
                    <a:lstStyle/>
                    <a:p>
                      <a:pPr>
                        <a:buNone/>
                      </a:pPr>
                      <a:r>
                        <a:rPr lang="en-IN" b="1"/>
                        <a:t>Carbohydrate metabolism</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Glucose uptake by cells (anti-insulin 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 Blood glucose (diabetogenic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5109976"/>
                  </a:ext>
                </a:extLst>
              </a:tr>
            </a:tbl>
          </a:graphicData>
        </a:graphic>
      </p:graphicFrame>
    </p:spTree>
    <p:extLst>
      <p:ext uri="{BB962C8B-B14F-4D97-AF65-F5344CB8AC3E}">
        <p14:creationId xmlns:p14="http://schemas.microsoft.com/office/powerpoint/2010/main" val="3151158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EA7D-C071-4DFF-3438-ECFDF0CD0BAD}"/>
              </a:ext>
            </a:extLst>
          </p:cNvPr>
          <p:cNvSpPr>
            <a:spLocks noGrp="1"/>
          </p:cNvSpPr>
          <p:nvPr>
            <p:ph type="title"/>
          </p:nvPr>
        </p:nvSpPr>
        <p:spPr/>
        <p:txBody>
          <a:bodyPr>
            <a:normAutofit fontScale="90000"/>
          </a:bodyPr>
          <a:lstStyle/>
          <a:p>
            <a:r>
              <a:rPr lang="en-US" sz="2200" b="1" dirty="0"/>
              <a:t>Indirect Actions (via IGF-1 / Somatomedins)</a:t>
            </a:r>
            <a:br>
              <a:rPr lang="en-US" b="1" dirty="0"/>
            </a:br>
            <a:r>
              <a:rPr lang="en-US" sz="2200" dirty="0"/>
              <a:t>GH stimulates </a:t>
            </a:r>
            <a:r>
              <a:rPr lang="en-US" sz="2200" b="1" dirty="0"/>
              <a:t>liver and other tissues</a:t>
            </a:r>
            <a:r>
              <a:rPr lang="en-US" sz="2200" dirty="0"/>
              <a:t> to produce </a:t>
            </a:r>
            <a:r>
              <a:rPr lang="en-US" sz="2200" b="1" dirty="0"/>
              <a:t>IGF-1</a:t>
            </a:r>
            <a:r>
              <a:rPr lang="en-US" sz="2200" dirty="0"/>
              <a:t>.</a:t>
            </a:r>
            <a:br>
              <a:rPr lang="en-US" sz="2200" dirty="0"/>
            </a:br>
            <a:r>
              <a:rPr lang="en-US" sz="2200" dirty="0"/>
              <a:t>IGF-1 mediates </a:t>
            </a:r>
            <a:r>
              <a:rPr lang="en-US" sz="2200" b="1" dirty="0"/>
              <a:t>growth-promoting effects</a:t>
            </a:r>
            <a:r>
              <a:rPr lang="en-US" sz="2200" dirty="0"/>
              <a:t>, especially </a:t>
            </a:r>
            <a:r>
              <a:rPr lang="en-US" sz="2200" b="1" dirty="0"/>
              <a:t>bone and soft tissue growth</a:t>
            </a:r>
            <a:r>
              <a:rPr lang="en-US" sz="2200" dirty="0"/>
              <a:t>.</a:t>
            </a:r>
            <a:br>
              <a:rPr lang="en-US" sz="2200" dirty="0"/>
            </a:br>
            <a:endParaRPr lang="en-IN" sz="2200" dirty="0"/>
          </a:p>
        </p:txBody>
      </p:sp>
      <p:graphicFrame>
        <p:nvGraphicFramePr>
          <p:cNvPr id="4" name="Content Placeholder 3">
            <a:extLst>
              <a:ext uri="{FF2B5EF4-FFF2-40B4-BE49-F238E27FC236}">
                <a16:creationId xmlns:a16="http://schemas.microsoft.com/office/drawing/2014/main" id="{C38A3CEA-F153-E3AD-6692-AF03CF49A4EC}"/>
              </a:ext>
            </a:extLst>
          </p:cNvPr>
          <p:cNvGraphicFramePr>
            <a:graphicFrameLocks noGrp="1"/>
          </p:cNvGraphicFramePr>
          <p:nvPr>
            <p:ph idx="1"/>
            <p:extLst>
              <p:ext uri="{D42A27DB-BD31-4B8C-83A1-F6EECF244321}">
                <p14:modId xmlns:p14="http://schemas.microsoft.com/office/powerpoint/2010/main" val="3589069082"/>
              </p:ext>
            </p:extLst>
          </p:nvPr>
        </p:nvGraphicFramePr>
        <p:xfrm>
          <a:off x="1066800" y="2082641"/>
          <a:ext cx="10058400" cy="2011680"/>
        </p:xfrm>
        <a:graphic>
          <a:graphicData uri="http://schemas.openxmlformats.org/drawingml/2006/table">
            <a:tbl>
              <a:tblPr/>
              <a:tblGrid>
                <a:gridCol w="5029200">
                  <a:extLst>
                    <a:ext uri="{9D8B030D-6E8A-4147-A177-3AD203B41FA5}">
                      <a16:colId xmlns:a16="http://schemas.microsoft.com/office/drawing/2014/main" val="1436153246"/>
                    </a:ext>
                  </a:extLst>
                </a:gridCol>
                <a:gridCol w="5029200">
                  <a:extLst>
                    <a:ext uri="{9D8B030D-6E8A-4147-A177-3AD203B41FA5}">
                      <a16:colId xmlns:a16="http://schemas.microsoft.com/office/drawing/2014/main" val="2035824376"/>
                    </a:ext>
                  </a:extLst>
                </a:gridCol>
              </a:tblGrid>
              <a:tr h="0">
                <a:tc>
                  <a:txBody>
                    <a:bodyPr/>
                    <a:lstStyle/>
                    <a:p>
                      <a:pPr>
                        <a:buNone/>
                      </a:pPr>
                      <a:r>
                        <a:rPr lang="en-IN"/>
                        <a:t>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IGF-1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4865728"/>
                  </a:ext>
                </a:extLst>
              </a:tr>
              <a:tr h="0">
                <a:tc>
                  <a:txBody>
                    <a:bodyPr/>
                    <a:lstStyle/>
                    <a:p>
                      <a:pPr>
                        <a:buNone/>
                      </a:pPr>
                      <a:r>
                        <a:rPr lang="en-IN" b="1"/>
                        <a:t>Bones (epiphyseal plates)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Chondrocyte proliferation → ↑ Linear growth (height)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8139100"/>
                  </a:ext>
                </a:extLst>
              </a:tr>
              <a:tr h="0">
                <a:tc>
                  <a:txBody>
                    <a:bodyPr/>
                    <a:lstStyle/>
                    <a:p>
                      <a:pPr>
                        <a:buNone/>
                      </a:pPr>
                      <a:r>
                        <a:rPr lang="en-IN" b="1"/>
                        <a:t>Muscles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 Protein synthesis → ↑ Muscle mass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3040005"/>
                  </a:ext>
                </a:extLst>
              </a:tr>
              <a:tr h="0">
                <a:tc>
                  <a:txBody>
                    <a:bodyPr/>
                    <a:lstStyle/>
                    <a:p>
                      <a:pPr>
                        <a:buNone/>
                      </a:pPr>
                      <a:r>
                        <a:rPr lang="en-IN" b="1"/>
                        <a:t>Soft tissues &amp; organs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 Cell proliferation → Increased organ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6351204"/>
                  </a:ext>
                </a:extLst>
              </a:tr>
            </a:tbl>
          </a:graphicData>
        </a:graphic>
      </p:graphicFrame>
    </p:spTree>
    <p:extLst>
      <p:ext uri="{BB962C8B-B14F-4D97-AF65-F5344CB8AC3E}">
        <p14:creationId xmlns:p14="http://schemas.microsoft.com/office/powerpoint/2010/main" val="3034322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5562-3756-5E4C-52F8-81CF7A4D601E}"/>
              </a:ext>
            </a:extLst>
          </p:cNvPr>
          <p:cNvSpPr>
            <a:spLocks noGrp="1"/>
          </p:cNvSpPr>
          <p:nvPr>
            <p:ph type="title"/>
          </p:nvPr>
        </p:nvSpPr>
        <p:spPr/>
        <p:txBody>
          <a:bodyPr/>
          <a:lstStyle/>
          <a:p>
            <a:r>
              <a:rPr lang="en-IN" dirty="0"/>
              <a:t>Applied aspect</a:t>
            </a:r>
          </a:p>
        </p:txBody>
      </p:sp>
      <p:sp>
        <p:nvSpPr>
          <p:cNvPr id="3" name="Content Placeholder 2">
            <a:extLst>
              <a:ext uri="{FF2B5EF4-FFF2-40B4-BE49-F238E27FC236}">
                <a16:creationId xmlns:a16="http://schemas.microsoft.com/office/drawing/2014/main" id="{A553643F-9A48-BD23-5EC4-19B4701C9B91}"/>
              </a:ext>
            </a:extLst>
          </p:cNvPr>
          <p:cNvSpPr>
            <a:spLocks noGrp="1"/>
          </p:cNvSpPr>
          <p:nvPr>
            <p:ph idx="1"/>
          </p:nvPr>
        </p:nvSpPr>
        <p:spPr/>
        <p:txBody>
          <a:bodyPr/>
          <a:lstStyle/>
          <a:p>
            <a:r>
              <a:rPr lang="en-IN" dirty="0"/>
              <a:t>Dwarfism</a:t>
            </a:r>
          </a:p>
          <a:p>
            <a:r>
              <a:rPr lang="en-IN" dirty="0"/>
              <a:t>Gigantism</a:t>
            </a:r>
          </a:p>
          <a:p>
            <a:r>
              <a:rPr lang="en-IN" dirty="0"/>
              <a:t>Acromegaly </a:t>
            </a:r>
          </a:p>
        </p:txBody>
      </p:sp>
    </p:spTree>
    <p:extLst>
      <p:ext uri="{BB962C8B-B14F-4D97-AF65-F5344CB8AC3E}">
        <p14:creationId xmlns:p14="http://schemas.microsoft.com/office/powerpoint/2010/main" val="255556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7523-2AFB-6955-2206-863A511D174A}"/>
              </a:ext>
            </a:extLst>
          </p:cNvPr>
          <p:cNvSpPr>
            <a:spLocks noGrp="1"/>
          </p:cNvSpPr>
          <p:nvPr>
            <p:ph type="title"/>
          </p:nvPr>
        </p:nvSpPr>
        <p:spPr/>
        <p:txBody>
          <a:bodyPr/>
          <a:lstStyle/>
          <a:p>
            <a:r>
              <a:rPr lang="en-IN" dirty="0"/>
              <a:t>Dwarfism </a:t>
            </a:r>
          </a:p>
        </p:txBody>
      </p:sp>
      <p:graphicFrame>
        <p:nvGraphicFramePr>
          <p:cNvPr id="4" name="Content Placeholder 3">
            <a:extLst>
              <a:ext uri="{FF2B5EF4-FFF2-40B4-BE49-F238E27FC236}">
                <a16:creationId xmlns:a16="http://schemas.microsoft.com/office/drawing/2014/main" id="{08999FB1-3AF7-0D4C-74C3-AEC808A83684}"/>
              </a:ext>
            </a:extLst>
          </p:cNvPr>
          <p:cNvGraphicFramePr>
            <a:graphicFrameLocks noGrp="1"/>
          </p:cNvGraphicFramePr>
          <p:nvPr>
            <p:ph idx="1"/>
            <p:extLst>
              <p:ext uri="{D42A27DB-BD31-4B8C-83A1-F6EECF244321}">
                <p14:modId xmlns:p14="http://schemas.microsoft.com/office/powerpoint/2010/main" val="242730976"/>
              </p:ext>
            </p:extLst>
          </p:nvPr>
        </p:nvGraphicFramePr>
        <p:xfrm>
          <a:off x="1066800" y="2652236"/>
          <a:ext cx="10058400" cy="2834640"/>
        </p:xfrm>
        <a:graphic>
          <a:graphicData uri="http://schemas.openxmlformats.org/drawingml/2006/table">
            <a:tbl>
              <a:tblPr/>
              <a:tblGrid>
                <a:gridCol w="5029200">
                  <a:extLst>
                    <a:ext uri="{9D8B030D-6E8A-4147-A177-3AD203B41FA5}">
                      <a16:colId xmlns:a16="http://schemas.microsoft.com/office/drawing/2014/main" val="1389019498"/>
                    </a:ext>
                  </a:extLst>
                </a:gridCol>
                <a:gridCol w="5029200">
                  <a:extLst>
                    <a:ext uri="{9D8B030D-6E8A-4147-A177-3AD203B41FA5}">
                      <a16:colId xmlns:a16="http://schemas.microsoft.com/office/drawing/2014/main" val="65998437"/>
                    </a:ext>
                  </a:extLst>
                </a:gridCol>
              </a:tblGrid>
              <a:tr h="0">
                <a:tc>
                  <a:txBody>
                    <a:bodyPr/>
                    <a:lstStyle/>
                    <a:p>
                      <a:pPr>
                        <a:buNone/>
                      </a:pPr>
                      <a:r>
                        <a:rPr lang="en-IN"/>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8995216"/>
                  </a:ext>
                </a:extLst>
              </a:tr>
              <a:tr h="0">
                <a:tc>
                  <a:txBody>
                    <a:bodyPr/>
                    <a:lstStyle/>
                    <a:p>
                      <a:pPr>
                        <a:buNone/>
                      </a:pPr>
                      <a:r>
                        <a:rPr lang="en-IN" b="1"/>
                        <a:t>Short stature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Height below normal for 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4299386"/>
                  </a:ext>
                </a:extLst>
              </a:tr>
              <a:tr h="0">
                <a:tc>
                  <a:txBody>
                    <a:bodyPr/>
                    <a:lstStyle/>
                    <a:p>
                      <a:pPr>
                        <a:buNone/>
                      </a:pPr>
                      <a:r>
                        <a:rPr lang="en-IN" b="1"/>
                        <a:t>Normal body proportions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 pituitary dwarfism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9743368"/>
                  </a:ext>
                </a:extLst>
              </a:tr>
              <a:tr h="0">
                <a:tc>
                  <a:txBody>
                    <a:bodyPr/>
                    <a:lstStyle/>
                    <a:p>
                      <a:pPr>
                        <a:buNone/>
                      </a:pPr>
                      <a:r>
                        <a:rPr lang="en-IN" b="1"/>
                        <a:t>Disproportionate limbs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Seen in achondroplasia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7897135"/>
                  </a:ext>
                </a:extLst>
              </a:tr>
              <a:tr h="0">
                <a:tc>
                  <a:txBody>
                    <a:bodyPr/>
                    <a:lstStyle/>
                    <a:p>
                      <a:pPr>
                        <a:buNone/>
                      </a:pPr>
                      <a:r>
                        <a:rPr lang="en-IN" b="1"/>
                        <a:t>Delayed skeletal maturation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Delay in epiphyseal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222904"/>
                  </a:ext>
                </a:extLst>
              </a:tr>
              <a:tr h="0">
                <a:tc>
                  <a:txBody>
                    <a:bodyPr/>
                    <a:lstStyle/>
                    <a:p>
                      <a:pPr>
                        <a:buNone/>
                      </a:pPr>
                      <a:r>
                        <a:rPr lang="en-IN" b="1"/>
                        <a:t>Delayed puberty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Due to pituitary hormone deficiency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4838215"/>
                  </a:ext>
                </a:extLst>
              </a:tr>
              <a:tr h="0">
                <a:tc>
                  <a:txBody>
                    <a:bodyPr/>
                    <a:lstStyle/>
                    <a:p>
                      <a:pPr>
                        <a:buNone/>
                      </a:pPr>
                      <a:r>
                        <a:rPr lang="en-IN" b="1"/>
                        <a:t>Normal intelligence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Except in hypothyroid or genetic syndromes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077011"/>
                  </a:ext>
                </a:extLst>
              </a:tr>
            </a:tbl>
          </a:graphicData>
        </a:graphic>
      </p:graphicFrame>
    </p:spTree>
    <p:extLst>
      <p:ext uri="{BB962C8B-B14F-4D97-AF65-F5344CB8AC3E}">
        <p14:creationId xmlns:p14="http://schemas.microsoft.com/office/powerpoint/2010/main" val="3223380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51207-098C-3E7D-52A6-3D9A0186693A}"/>
              </a:ext>
            </a:extLst>
          </p:cNvPr>
          <p:cNvSpPr>
            <a:spLocks noGrp="1"/>
          </p:cNvSpPr>
          <p:nvPr>
            <p:ph type="title"/>
          </p:nvPr>
        </p:nvSpPr>
        <p:spPr/>
        <p:txBody>
          <a:bodyPr/>
          <a:lstStyle/>
          <a:p>
            <a:r>
              <a:rPr lang="en-IN" dirty="0"/>
              <a:t>Gigantism </a:t>
            </a:r>
          </a:p>
        </p:txBody>
      </p:sp>
      <p:graphicFrame>
        <p:nvGraphicFramePr>
          <p:cNvPr id="4" name="Content Placeholder 3">
            <a:extLst>
              <a:ext uri="{FF2B5EF4-FFF2-40B4-BE49-F238E27FC236}">
                <a16:creationId xmlns:a16="http://schemas.microsoft.com/office/drawing/2014/main" id="{501A78F1-F8F8-09E2-97EF-1C084CCA9EA8}"/>
              </a:ext>
            </a:extLst>
          </p:cNvPr>
          <p:cNvGraphicFramePr>
            <a:graphicFrameLocks noGrp="1"/>
          </p:cNvGraphicFramePr>
          <p:nvPr>
            <p:ph idx="1"/>
            <p:extLst>
              <p:ext uri="{D42A27DB-BD31-4B8C-83A1-F6EECF244321}">
                <p14:modId xmlns:p14="http://schemas.microsoft.com/office/powerpoint/2010/main" val="3491206722"/>
              </p:ext>
            </p:extLst>
          </p:nvPr>
        </p:nvGraphicFramePr>
        <p:xfrm>
          <a:off x="1066800" y="2286476"/>
          <a:ext cx="10058400" cy="3566160"/>
        </p:xfrm>
        <a:graphic>
          <a:graphicData uri="http://schemas.openxmlformats.org/drawingml/2006/table">
            <a:tbl>
              <a:tblPr/>
              <a:tblGrid>
                <a:gridCol w="5029200">
                  <a:extLst>
                    <a:ext uri="{9D8B030D-6E8A-4147-A177-3AD203B41FA5}">
                      <a16:colId xmlns:a16="http://schemas.microsoft.com/office/drawing/2014/main" val="3107428232"/>
                    </a:ext>
                  </a:extLst>
                </a:gridCol>
                <a:gridCol w="5029200">
                  <a:extLst>
                    <a:ext uri="{9D8B030D-6E8A-4147-A177-3AD203B41FA5}">
                      <a16:colId xmlns:a16="http://schemas.microsoft.com/office/drawing/2014/main" val="753504170"/>
                    </a:ext>
                  </a:extLst>
                </a:gridCol>
              </a:tblGrid>
              <a:tr h="0">
                <a:tc>
                  <a:txBody>
                    <a:bodyPr/>
                    <a:lstStyle/>
                    <a:p>
                      <a:pPr>
                        <a:buNone/>
                      </a:pPr>
                      <a:r>
                        <a:rPr lang="en-IN"/>
                        <a:t>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Manifestations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8373019"/>
                  </a:ext>
                </a:extLst>
              </a:tr>
              <a:tr h="0">
                <a:tc>
                  <a:txBody>
                    <a:bodyPr/>
                    <a:lstStyle/>
                    <a:p>
                      <a:pPr>
                        <a:buNone/>
                      </a:pPr>
                      <a:r>
                        <a:rPr lang="en-IN" b="1"/>
                        <a:t>Growth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Extreme height, large hands and feet, enlarged facial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4300465"/>
                  </a:ext>
                </a:extLst>
              </a:tr>
              <a:tr h="0">
                <a:tc>
                  <a:txBody>
                    <a:bodyPr/>
                    <a:lstStyle/>
                    <a:p>
                      <a:pPr>
                        <a:buNone/>
                      </a:pPr>
                      <a:r>
                        <a:rPr lang="en-IN" b="1"/>
                        <a:t>Skeletal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Joint pain, kyphosis due to bone overgrowth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129985"/>
                  </a:ext>
                </a:extLst>
              </a:tr>
              <a:tr h="0">
                <a:tc>
                  <a:txBody>
                    <a:bodyPr/>
                    <a:lstStyle/>
                    <a:p>
                      <a:pPr>
                        <a:buNone/>
                      </a:pPr>
                      <a:r>
                        <a:rPr lang="en-IN" b="1"/>
                        <a:t>Metabolic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Hyperglycemia, insulin resistance → </a:t>
                      </a:r>
                      <a:r>
                        <a:rPr lang="en-IN" b="1"/>
                        <a:t>pituitary diabetes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4217448"/>
                  </a:ext>
                </a:extLst>
              </a:tr>
              <a:tr h="0">
                <a:tc>
                  <a:txBody>
                    <a:bodyPr/>
                    <a:lstStyle/>
                    <a:p>
                      <a:pPr>
                        <a:buNone/>
                      </a:pPr>
                      <a:r>
                        <a:rPr lang="en-IN" b="1"/>
                        <a:t>Neurologic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Headache, visual field defects (bitemporal hemianopia) due to optic chiasm compression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7212599"/>
                  </a:ext>
                </a:extLst>
              </a:tr>
              <a:tr h="0">
                <a:tc>
                  <a:txBody>
                    <a:bodyPr/>
                    <a:lstStyle/>
                    <a:p>
                      <a:pPr>
                        <a:buNone/>
                      </a:pPr>
                      <a:r>
                        <a:rPr lang="en-IN" b="1"/>
                        <a:t>General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Excessive sweating, fatigue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919998"/>
                  </a:ext>
                </a:extLst>
              </a:tr>
            </a:tbl>
          </a:graphicData>
        </a:graphic>
      </p:graphicFrame>
    </p:spTree>
    <p:extLst>
      <p:ext uri="{BB962C8B-B14F-4D97-AF65-F5344CB8AC3E}">
        <p14:creationId xmlns:p14="http://schemas.microsoft.com/office/powerpoint/2010/main" val="2864719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6E49-F0A3-C10A-94A4-8E6F470FC033}"/>
              </a:ext>
            </a:extLst>
          </p:cNvPr>
          <p:cNvSpPr>
            <a:spLocks noGrp="1"/>
          </p:cNvSpPr>
          <p:nvPr>
            <p:ph type="title"/>
          </p:nvPr>
        </p:nvSpPr>
        <p:spPr/>
        <p:txBody>
          <a:bodyPr/>
          <a:lstStyle/>
          <a:p>
            <a:r>
              <a:rPr lang="en-IN" dirty="0"/>
              <a:t>Acromegaly </a:t>
            </a:r>
          </a:p>
        </p:txBody>
      </p:sp>
      <p:sp>
        <p:nvSpPr>
          <p:cNvPr id="3" name="Content Placeholder 2">
            <a:extLst>
              <a:ext uri="{FF2B5EF4-FFF2-40B4-BE49-F238E27FC236}">
                <a16:creationId xmlns:a16="http://schemas.microsoft.com/office/drawing/2014/main" id="{A4F34006-D68E-C3EA-A1B8-0B77CBC62FBC}"/>
              </a:ext>
            </a:extLst>
          </p:cNvPr>
          <p:cNvSpPr>
            <a:spLocks noGrp="1"/>
          </p:cNvSpPr>
          <p:nvPr>
            <p:ph idx="1"/>
          </p:nvPr>
        </p:nvSpPr>
        <p:spPr/>
        <p:txBody>
          <a:bodyPr/>
          <a:lstStyle/>
          <a:p>
            <a:r>
              <a:rPr lang="en-US" b="1" dirty="0"/>
              <a:t>Characteristic physical changes</a:t>
            </a:r>
          </a:p>
          <a:p>
            <a:r>
              <a:rPr lang="en-US" b="1" dirty="0"/>
              <a:t>Enlarged hands and feet</a:t>
            </a:r>
            <a:r>
              <a:rPr lang="en-US" dirty="0"/>
              <a:t> (increase in shoe/ring size)</a:t>
            </a:r>
          </a:p>
          <a:p>
            <a:r>
              <a:rPr lang="en-US" b="1" dirty="0"/>
              <a:t>Coarse facial features</a:t>
            </a:r>
            <a:endParaRPr lang="en-US" dirty="0"/>
          </a:p>
          <a:p>
            <a:pPr lvl="1"/>
            <a:r>
              <a:rPr lang="en-US" dirty="0"/>
              <a:t>Prominent jaw (</a:t>
            </a:r>
            <a:r>
              <a:rPr lang="en-US" b="1" dirty="0"/>
              <a:t>prognathism</a:t>
            </a:r>
            <a:r>
              <a:rPr lang="en-US" dirty="0"/>
              <a:t>)</a:t>
            </a:r>
          </a:p>
          <a:p>
            <a:pPr lvl="1"/>
            <a:r>
              <a:rPr lang="en-US" dirty="0"/>
              <a:t>Enlarged nose, lips, ears</a:t>
            </a:r>
          </a:p>
          <a:p>
            <a:pPr lvl="1"/>
            <a:r>
              <a:rPr lang="en-US" dirty="0"/>
              <a:t>Thickened tongue (</a:t>
            </a:r>
            <a:r>
              <a:rPr lang="en-US" b="1" dirty="0"/>
              <a:t>macroglossia</a:t>
            </a:r>
            <a:r>
              <a:rPr lang="en-US" dirty="0"/>
              <a:t>)</a:t>
            </a:r>
          </a:p>
          <a:p>
            <a:r>
              <a:rPr lang="en-US" b="1" dirty="0"/>
              <a:t>Spacing of teeth (diastema)</a:t>
            </a:r>
            <a:endParaRPr lang="en-US" dirty="0"/>
          </a:p>
          <a:p>
            <a:endParaRPr lang="en-IN" dirty="0"/>
          </a:p>
        </p:txBody>
      </p:sp>
    </p:spTree>
    <p:extLst>
      <p:ext uri="{BB962C8B-B14F-4D97-AF65-F5344CB8AC3E}">
        <p14:creationId xmlns:p14="http://schemas.microsoft.com/office/powerpoint/2010/main" val="407033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1FA97-2114-45E3-D759-88200407E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C3DE1-A08F-A653-64CF-31B2E355C00D}"/>
              </a:ext>
            </a:extLst>
          </p:cNvPr>
          <p:cNvSpPr>
            <a:spLocks noGrp="1"/>
          </p:cNvSpPr>
          <p:nvPr>
            <p:ph type="title"/>
          </p:nvPr>
        </p:nvSpPr>
        <p:spPr/>
        <p:txBody>
          <a:bodyPr/>
          <a:lstStyle/>
          <a:p>
            <a:r>
              <a:rPr lang="en-IN" dirty="0"/>
              <a:t>Acromegaly </a:t>
            </a:r>
          </a:p>
        </p:txBody>
      </p:sp>
      <p:sp>
        <p:nvSpPr>
          <p:cNvPr id="3" name="Content Placeholder 2">
            <a:extLst>
              <a:ext uri="{FF2B5EF4-FFF2-40B4-BE49-F238E27FC236}">
                <a16:creationId xmlns:a16="http://schemas.microsoft.com/office/drawing/2014/main" id="{ADA2EFED-D4BE-AEA1-64D7-913DD6942DFD}"/>
              </a:ext>
            </a:extLst>
          </p:cNvPr>
          <p:cNvSpPr>
            <a:spLocks noGrp="1"/>
          </p:cNvSpPr>
          <p:nvPr>
            <p:ph idx="1"/>
          </p:nvPr>
        </p:nvSpPr>
        <p:spPr/>
        <p:txBody>
          <a:bodyPr/>
          <a:lstStyle/>
          <a:p>
            <a:r>
              <a:rPr lang="en-US" altLang="en-US" b="1" dirty="0">
                <a:latin typeface="Arial" panose="020B0604020202020204" pitchFamily="34" charset="0"/>
              </a:rPr>
              <a:t>Musculoskeletal &amp; other features</a:t>
            </a:r>
          </a:p>
        </p:txBody>
      </p:sp>
      <p:graphicFrame>
        <p:nvGraphicFramePr>
          <p:cNvPr id="4" name="Table 3">
            <a:extLst>
              <a:ext uri="{FF2B5EF4-FFF2-40B4-BE49-F238E27FC236}">
                <a16:creationId xmlns:a16="http://schemas.microsoft.com/office/drawing/2014/main" id="{51B7B454-8895-5DB1-64D5-77B1BB8802A2}"/>
              </a:ext>
            </a:extLst>
          </p:cNvPr>
          <p:cNvGraphicFramePr>
            <a:graphicFrameLocks noGrp="1"/>
          </p:cNvGraphicFramePr>
          <p:nvPr>
            <p:extLst>
              <p:ext uri="{D42A27DB-BD31-4B8C-83A1-F6EECF244321}">
                <p14:modId xmlns:p14="http://schemas.microsoft.com/office/powerpoint/2010/main" val="1113551555"/>
              </p:ext>
            </p:extLst>
          </p:nvPr>
        </p:nvGraphicFramePr>
        <p:xfrm>
          <a:off x="985520" y="2647156"/>
          <a:ext cx="10058400" cy="3657600"/>
        </p:xfrm>
        <a:graphic>
          <a:graphicData uri="http://schemas.openxmlformats.org/drawingml/2006/table">
            <a:tbl>
              <a:tblPr/>
              <a:tblGrid>
                <a:gridCol w="5029200">
                  <a:extLst>
                    <a:ext uri="{9D8B030D-6E8A-4147-A177-3AD203B41FA5}">
                      <a16:colId xmlns:a16="http://schemas.microsoft.com/office/drawing/2014/main" val="507094723"/>
                    </a:ext>
                  </a:extLst>
                </a:gridCol>
                <a:gridCol w="5029200">
                  <a:extLst>
                    <a:ext uri="{9D8B030D-6E8A-4147-A177-3AD203B41FA5}">
                      <a16:colId xmlns:a16="http://schemas.microsoft.com/office/drawing/2014/main" val="2157487430"/>
                    </a:ext>
                  </a:extLst>
                </a:gridCol>
              </a:tblGrid>
              <a:tr h="0">
                <a:tc>
                  <a:txBody>
                    <a:bodyPr/>
                    <a:lstStyle/>
                    <a:p>
                      <a:pPr>
                        <a:buNone/>
                      </a:pPr>
                      <a:r>
                        <a:rPr lang="en-IN" dirty="0"/>
                        <a:t>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Manifestations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3748841"/>
                  </a:ext>
                </a:extLst>
              </a:tr>
              <a:tr h="0">
                <a:tc>
                  <a:txBody>
                    <a:bodyPr/>
                    <a:lstStyle/>
                    <a:p>
                      <a:pPr>
                        <a:buNone/>
                      </a:pPr>
                      <a:r>
                        <a:rPr lang="en-IN" b="1"/>
                        <a:t>Skeletal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Bone pain, arthritis, kyphosis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073849"/>
                  </a:ext>
                </a:extLst>
              </a:tr>
              <a:tr h="0">
                <a:tc>
                  <a:txBody>
                    <a:bodyPr/>
                    <a:lstStyle/>
                    <a:p>
                      <a:pPr>
                        <a:buNone/>
                      </a:pPr>
                      <a:r>
                        <a:rPr lang="en-IN" b="1"/>
                        <a:t>Skin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Thick, oily skin, excessive sweating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6142598"/>
                  </a:ext>
                </a:extLst>
              </a:tr>
              <a:tr h="0">
                <a:tc>
                  <a:txBody>
                    <a:bodyPr/>
                    <a:lstStyle/>
                    <a:p>
                      <a:pPr>
                        <a:buNone/>
                      </a:pPr>
                      <a:r>
                        <a:rPr lang="en-IN" b="1"/>
                        <a:t>Metabolic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Insulin resistance, </a:t>
                      </a:r>
                      <a:r>
                        <a:rPr lang="en-IN" b="1"/>
                        <a:t>hyperglycemia → pituitary diabetes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5876816"/>
                  </a:ext>
                </a:extLst>
              </a:tr>
              <a:tr h="0">
                <a:tc>
                  <a:txBody>
                    <a:bodyPr/>
                    <a:lstStyle/>
                    <a:p>
                      <a:pPr>
                        <a:buNone/>
                      </a:pPr>
                      <a:r>
                        <a:rPr lang="en-IN" b="1"/>
                        <a:t>Cardiovascular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Cardiomegaly, hypertension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962753"/>
                  </a:ext>
                </a:extLst>
              </a:tr>
              <a:tr h="0">
                <a:tc>
                  <a:txBody>
                    <a:bodyPr/>
                    <a:lstStyle/>
                    <a:p>
                      <a:pPr>
                        <a:buNone/>
                      </a:pPr>
                      <a:r>
                        <a:rPr lang="en-IN" b="1"/>
                        <a:t>Neurological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Headache &amp; </a:t>
                      </a:r>
                      <a:r>
                        <a:rPr lang="en-US" b="1"/>
                        <a:t>visual field defect (bitemporal hemianopia)</a:t>
                      </a:r>
                      <a:r>
                        <a:rPr lang="en-US"/>
                        <a:t> due to optic chiasm compression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491254"/>
                  </a:ext>
                </a:extLst>
              </a:tr>
              <a:tr h="0">
                <a:tc>
                  <a:txBody>
                    <a:bodyPr/>
                    <a:lstStyle/>
                    <a:p>
                      <a:pPr>
                        <a:buNone/>
                      </a:pPr>
                      <a:r>
                        <a:rPr lang="en-IN" b="1"/>
                        <a:t>Reproductive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Decreased libido, infertility due to pituitary tumor effects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8682290"/>
                  </a:ext>
                </a:extLst>
              </a:tr>
            </a:tbl>
          </a:graphicData>
        </a:graphic>
      </p:graphicFrame>
    </p:spTree>
    <p:extLst>
      <p:ext uri="{BB962C8B-B14F-4D97-AF65-F5344CB8AC3E}">
        <p14:creationId xmlns:p14="http://schemas.microsoft.com/office/powerpoint/2010/main" val="2835441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3249-EFD4-4D43-112C-94506294B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4B923-CAA0-FDDC-05F2-2704D130E35C}"/>
              </a:ext>
            </a:extLst>
          </p:cNvPr>
          <p:cNvSpPr>
            <a:spLocks noGrp="1"/>
          </p:cNvSpPr>
          <p:nvPr>
            <p:ph type="ctrTitle"/>
          </p:nvPr>
        </p:nvSpPr>
        <p:spPr/>
        <p:txBody>
          <a:bodyPr/>
          <a:lstStyle/>
          <a:p>
            <a:r>
              <a:rPr lang="en-IN" dirty="0"/>
              <a:t>Unit 4</a:t>
            </a:r>
          </a:p>
        </p:txBody>
      </p:sp>
      <p:sp>
        <p:nvSpPr>
          <p:cNvPr id="3" name="Subtitle 2">
            <a:extLst>
              <a:ext uri="{FF2B5EF4-FFF2-40B4-BE49-F238E27FC236}">
                <a16:creationId xmlns:a16="http://schemas.microsoft.com/office/drawing/2014/main" id="{B6BE5FD5-F032-4B97-9A94-5B26B8DE9D1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79082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30B0-A3DD-F54D-204D-AD9349441BAD}"/>
              </a:ext>
            </a:extLst>
          </p:cNvPr>
          <p:cNvSpPr>
            <a:spLocks noGrp="1"/>
          </p:cNvSpPr>
          <p:nvPr>
            <p:ph type="title"/>
          </p:nvPr>
        </p:nvSpPr>
        <p:spPr/>
        <p:txBody>
          <a:bodyPr/>
          <a:lstStyle/>
          <a:p>
            <a:r>
              <a:rPr lang="en-IN" dirty="0"/>
              <a:t>Thyroid gland</a:t>
            </a:r>
          </a:p>
        </p:txBody>
      </p:sp>
      <p:sp>
        <p:nvSpPr>
          <p:cNvPr id="3" name="Content Placeholder 2">
            <a:extLst>
              <a:ext uri="{FF2B5EF4-FFF2-40B4-BE49-F238E27FC236}">
                <a16:creationId xmlns:a16="http://schemas.microsoft.com/office/drawing/2014/main" id="{830C3690-172D-2F86-2061-4B218BF73413}"/>
              </a:ext>
            </a:extLst>
          </p:cNvPr>
          <p:cNvSpPr>
            <a:spLocks noGrp="1"/>
          </p:cNvSpPr>
          <p:nvPr>
            <p:ph idx="1"/>
          </p:nvPr>
        </p:nvSpPr>
        <p:spPr/>
        <p:txBody>
          <a:bodyPr/>
          <a:lstStyle/>
          <a:p>
            <a:r>
              <a:rPr lang="en-IN" dirty="0"/>
              <a:t>The thyroid gland is an </a:t>
            </a:r>
            <a:r>
              <a:rPr lang="en-IN" b="1" dirty="0"/>
              <a:t>endocrine gland located in the neck</a:t>
            </a:r>
            <a:r>
              <a:rPr lang="en-IN" dirty="0"/>
              <a:t>, composed of </a:t>
            </a:r>
            <a:r>
              <a:rPr lang="en-IN" b="1" dirty="0"/>
              <a:t>two lobes connected by an isthmus</a:t>
            </a:r>
            <a:r>
              <a:rPr lang="en-IN" dirty="0"/>
              <a:t>.</a:t>
            </a:r>
            <a:br>
              <a:rPr lang="en-IN" dirty="0"/>
            </a:br>
            <a:r>
              <a:rPr lang="en-IN" dirty="0"/>
              <a:t>It produces the hormones:</a:t>
            </a:r>
          </a:p>
          <a:p>
            <a:r>
              <a:rPr lang="en-IN" b="1" dirty="0"/>
              <a:t>T₃ (Tri-iodothyronine)</a:t>
            </a:r>
            <a:endParaRPr lang="en-IN" dirty="0"/>
          </a:p>
          <a:p>
            <a:r>
              <a:rPr lang="en-IN" b="1" dirty="0"/>
              <a:t>T₄ (Thyroxine)</a:t>
            </a:r>
            <a:endParaRPr lang="en-IN" dirty="0"/>
          </a:p>
          <a:p>
            <a:r>
              <a:rPr lang="en-IN" b="1" dirty="0"/>
              <a:t>Calcitonin</a:t>
            </a:r>
            <a:endParaRPr lang="en-IN" dirty="0"/>
          </a:p>
          <a:p>
            <a:r>
              <a:rPr lang="en-IN" dirty="0"/>
              <a:t>T₃ and T₄ regulate </a:t>
            </a:r>
            <a:r>
              <a:rPr lang="en-IN" b="1" dirty="0"/>
              <a:t>body metabolism and growth</a:t>
            </a:r>
            <a:r>
              <a:rPr lang="en-IN" dirty="0"/>
              <a:t>, while calcitonin regulates </a:t>
            </a:r>
            <a:r>
              <a:rPr lang="en-IN" b="1" dirty="0"/>
              <a:t>calcium homeostasis</a:t>
            </a:r>
            <a:r>
              <a:rPr lang="en-IN" dirty="0"/>
              <a:t>.</a:t>
            </a:r>
          </a:p>
          <a:p>
            <a:endParaRPr lang="en-IN" dirty="0"/>
          </a:p>
        </p:txBody>
      </p:sp>
    </p:spTree>
    <p:extLst>
      <p:ext uri="{BB962C8B-B14F-4D97-AF65-F5344CB8AC3E}">
        <p14:creationId xmlns:p14="http://schemas.microsoft.com/office/powerpoint/2010/main" val="2409605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460B1-3741-2C65-6FD8-99D5124CE01F}"/>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8A199FB4-194E-96BA-62C4-11E9649C9F12}"/>
              </a:ext>
            </a:extLst>
          </p:cNvPr>
          <p:cNvPicPr>
            <a:picLocks noGrp="1" noChangeAspect="1"/>
          </p:cNvPicPr>
          <p:nvPr>
            <p:ph idx="1"/>
          </p:nvPr>
        </p:nvPicPr>
        <p:blipFill>
          <a:blip r:embed="rId2"/>
          <a:stretch>
            <a:fillRect/>
          </a:stretch>
        </p:blipFill>
        <p:spPr>
          <a:xfrm>
            <a:off x="2214880" y="0"/>
            <a:ext cx="7294880" cy="6858672"/>
          </a:xfrm>
          <a:prstGeom prst="rect">
            <a:avLst/>
          </a:prstGeom>
        </p:spPr>
      </p:pic>
    </p:spTree>
    <p:extLst>
      <p:ext uri="{BB962C8B-B14F-4D97-AF65-F5344CB8AC3E}">
        <p14:creationId xmlns:p14="http://schemas.microsoft.com/office/powerpoint/2010/main" val="1376482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76A37-64AD-030C-4A19-A74DCD0B8A3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D4454D6-6987-B0A5-9A92-BE16D22EE28D}"/>
              </a:ext>
            </a:extLst>
          </p:cNvPr>
          <p:cNvPicPr>
            <a:picLocks noGrp="1" noChangeAspect="1"/>
          </p:cNvPicPr>
          <p:nvPr>
            <p:ph idx="1"/>
          </p:nvPr>
        </p:nvPicPr>
        <p:blipFill>
          <a:blip r:embed="rId2"/>
          <a:stretch>
            <a:fillRect/>
          </a:stretch>
        </p:blipFill>
        <p:spPr>
          <a:xfrm>
            <a:off x="976826" y="1554479"/>
            <a:ext cx="10270294" cy="3656647"/>
          </a:xfrm>
          <a:prstGeom prst="rect">
            <a:avLst/>
          </a:prstGeom>
        </p:spPr>
      </p:pic>
    </p:spTree>
    <p:extLst>
      <p:ext uri="{BB962C8B-B14F-4D97-AF65-F5344CB8AC3E}">
        <p14:creationId xmlns:p14="http://schemas.microsoft.com/office/powerpoint/2010/main" val="1083590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D64E-EC4F-48F6-8C4C-37E6CFC594C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540AF56-2D1C-E480-53F1-E085FCA7742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EE8A6AF-C894-692C-6804-99A146E607B2}"/>
              </a:ext>
            </a:extLst>
          </p:cNvPr>
          <p:cNvPicPr>
            <a:picLocks noChangeAspect="1"/>
          </p:cNvPicPr>
          <p:nvPr/>
        </p:nvPicPr>
        <p:blipFill>
          <a:blip r:embed="rId2"/>
          <a:stretch>
            <a:fillRect/>
          </a:stretch>
        </p:blipFill>
        <p:spPr>
          <a:xfrm>
            <a:off x="3829872" y="311663"/>
            <a:ext cx="4567369" cy="6187108"/>
          </a:xfrm>
          <a:prstGeom prst="rect">
            <a:avLst/>
          </a:prstGeom>
        </p:spPr>
      </p:pic>
    </p:spTree>
    <p:extLst>
      <p:ext uri="{BB962C8B-B14F-4D97-AF65-F5344CB8AC3E}">
        <p14:creationId xmlns:p14="http://schemas.microsoft.com/office/powerpoint/2010/main" val="213147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B309-90CC-2448-8AA2-8E1F3E4CBCAD}"/>
              </a:ext>
            </a:extLst>
          </p:cNvPr>
          <p:cNvSpPr>
            <a:spLocks noGrp="1"/>
          </p:cNvSpPr>
          <p:nvPr>
            <p:ph type="title"/>
          </p:nvPr>
        </p:nvSpPr>
        <p:spPr/>
        <p:txBody>
          <a:bodyPr/>
          <a:lstStyle/>
          <a:p>
            <a:r>
              <a:rPr lang="en-IN" dirty="0"/>
              <a:t>Applied aspect</a:t>
            </a:r>
          </a:p>
        </p:txBody>
      </p:sp>
      <p:sp>
        <p:nvSpPr>
          <p:cNvPr id="3" name="Content Placeholder 2">
            <a:extLst>
              <a:ext uri="{FF2B5EF4-FFF2-40B4-BE49-F238E27FC236}">
                <a16:creationId xmlns:a16="http://schemas.microsoft.com/office/drawing/2014/main" id="{747C0792-5B36-30B2-28A6-CB89AAB3A13F}"/>
              </a:ext>
            </a:extLst>
          </p:cNvPr>
          <p:cNvSpPr>
            <a:spLocks noGrp="1"/>
          </p:cNvSpPr>
          <p:nvPr>
            <p:ph idx="1"/>
          </p:nvPr>
        </p:nvSpPr>
        <p:spPr/>
        <p:txBody>
          <a:bodyPr/>
          <a:lstStyle/>
          <a:p>
            <a:r>
              <a:rPr lang="en-IN" dirty="0"/>
              <a:t>Cretinism </a:t>
            </a:r>
          </a:p>
          <a:p>
            <a:r>
              <a:rPr lang="en-IN" dirty="0"/>
              <a:t>Myxoedema</a:t>
            </a:r>
          </a:p>
          <a:p>
            <a:r>
              <a:rPr lang="en-IN" dirty="0"/>
              <a:t>Graves diseases</a:t>
            </a:r>
          </a:p>
        </p:txBody>
      </p:sp>
    </p:spTree>
    <p:extLst>
      <p:ext uri="{BB962C8B-B14F-4D97-AF65-F5344CB8AC3E}">
        <p14:creationId xmlns:p14="http://schemas.microsoft.com/office/powerpoint/2010/main" val="3437364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1788-24B9-0FF3-398B-EE0A73B62981}"/>
              </a:ext>
            </a:extLst>
          </p:cNvPr>
          <p:cNvSpPr>
            <a:spLocks noGrp="1"/>
          </p:cNvSpPr>
          <p:nvPr>
            <p:ph type="title"/>
          </p:nvPr>
        </p:nvSpPr>
        <p:spPr/>
        <p:txBody>
          <a:bodyPr/>
          <a:lstStyle/>
          <a:p>
            <a:r>
              <a:rPr lang="en-IN" dirty="0"/>
              <a:t>Cretinism </a:t>
            </a:r>
          </a:p>
        </p:txBody>
      </p:sp>
      <p:graphicFrame>
        <p:nvGraphicFramePr>
          <p:cNvPr id="4" name="Content Placeholder 3">
            <a:extLst>
              <a:ext uri="{FF2B5EF4-FFF2-40B4-BE49-F238E27FC236}">
                <a16:creationId xmlns:a16="http://schemas.microsoft.com/office/drawing/2014/main" id="{D7E3215E-FC59-003F-33A1-BA268C739704}"/>
              </a:ext>
            </a:extLst>
          </p:cNvPr>
          <p:cNvGraphicFramePr>
            <a:graphicFrameLocks noGrp="1"/>
          </p:cNvGraphicFramePr>
          <p:nvPr>
            <p:ph idx="1"/>
            <p:extLst>
              <p:ext uri="{D42A27DB-BD31-4B8C-83A1-F6EECF244321}">
                <p14:modId xmlns:p14="http://schemas.microsoft.com/office/powerpoint/2010/main" val="449048540"/>
              </p:ext>
            </p:extLst>
          </p:nvPr>
        </p:nvGraphicFramePr>
        <p:xfrm>
          <a:off x="1066800" y="3155156"/>
          <a:ext cx="10058400" cy="1828800"/>
        </p:xfrm>
        <a:graphic>
          <a:graphicData uri="http://schemas.openxmlformats.org/drawingml/2006/table">
            <a:tbl>
              <a:tblPr/>
              <a:tblGrid>
                <a:gridCol w="5029200">
                  <a:extLst>
                    <a:ext uri="{9D8B030D-6E8A-4147-A177-3AD203B41FA5}">
                      <a16:colId xmlns:a16="http://schemas.microsoft.com/office/drawing/2014/main" val="504623953"/>
                    </a:ext>
                  </a:extLst>
                </a:gridCol>
                <a:gridCol w="5029200">
                  <a:extLst>
                    <a:ext uri="{9D8B030D-6E8A-4147-A177-3AD203B41FA5}">
                      <a16:colId xmlns:a16="http://schemas.microsoft.com/office/drawing/2014/main" val="3642337374"/>
                    </a:ext>
                  </a:extLst>
                </a:gridCol>
              </a:tblGrid>
              <a:tr h="0">
                <a:tc>
                  <a:txBody>
                    <a:bodyPr/>
                    <a:lstStyle/>
                    <a:p>
                      <a:pPr>
                        <a:buNone/>
                      </a:pPr>
                      <a:r>
                        <a:rPr lang="en-IN"/>
                        <a:t>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1449672"/>
                  </a:ext>
                </a:extLst>
              </a:tr>
              <a:tr h="0">
                <a:tc>
                  <a:txBody>
                    <a:bodyPr/>
                    <a:lstStyle/>
                    <a:p>
                      <a:pPr>
                        <a:buNone/>
                      </a:pPr>
                      <a:r>
                        <a:rPr lang="en-IN"/>
                        <a:t>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Short stature, dwarfism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1726379"/>
                  </a:ext>
                </a:extLst>
              </a:tr>
              <a:tr h="0">
                <a:tc>
                  <a:txBody>
                    <a:bodyPr/>
                    <a:lstStyle/>
                    <a:p>
                      <a:pPr>
                        <a:buNone/>
                      </a:pPr>
                      <a:r>
                        <a:rPr lang="en-IN"/>
                        <a:t>Skull/Face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Large head, protruded tongue, flat nose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647337"/>
                  </a:ext>
                </a:extLst>
              </a:tr>
              <a:tr h="0">
                <a:tc>
                  <a:txBody>
                    <a:bodyPr/>
                    <a:lstStyle/>
                    <a:p>
                      <a:pPr>
                        <a:buNone/>
                      </a:pPr>
                      <a:r>
                        <a:rPr lang="en-IN"/>
                        <a:t>Neurological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Mental retardation, delayed milestones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96658"/>
                  </a:ext>
                </a:extLst>
              </a:tr>
              <a:tr h="0">
                <a:tc>
                  <a:txBody>
                    <a:bodyPr/>
                    <a:lstStyle/>
                    <a:p>
                      <a:pPr>
                        <a:buNone/>
                      </a:pPr>
                      <a:r>
                        <a:rPr lang="en-IN"/>
                        <a:t>Other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Dry skin, pot-belly, umbilical hernia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4639425"/>
                  </a:ext>
                </a:extLst>
              </a:tr>
            </a:tbl>
          </a:graphicData>
        </a:graphic>
      </p:graphicFrame>
    </p:spTree>
    <p:extLst>
      <p:ext uri="{BB962C8B-B14F-4D97-AF65-F5344CB8AC3E}">
        <p14:creationId xmlns:p14="http://schemas.microsoft.com/office/powerpoint/2010/main" val="2458655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04F0C-717B-8AB7-763F-57596F321128}"/>
              </a:ext>
            </a:extLst>
          </p:cNvPr>
          <p:cNvSpPr>
            <a:spLocks noGrp="1"/>
          </p:cNvSpPr>
          <p:nvPr>
            <p:ph type="title"/>
          </p:nvPr>
        </p:nvSpPr>
        <p:spPr/>
        <p:txBody>
          <a:bodyPr/>
          <a:lstStyle/>
          <a:p>
            <a:r>
              <a:rPr lang="en-IN" dirty="0"/>
              <a:t>Myxoedema </a:t>
            </a:r>
          </a:p>
        </p:txBody>
      </p:sp>
      <p:graphicFrame>
        <p:nvGraphicFramePr>
          <p:cNvPr id="4" name="Content Placeholder 3">
            <a:extLst>
              <a:ext uri="{FF2B5EF4-FFF2-40B4-BE49-F238E27FC236}">
                <a16:creationId xmlns:a16="http://schemas.microsoft.com/office/drawing/2014/main" id="{E0156C20-9541-3DE5-F2D6-2C04A65DCC34}"/>
              </a:ext>
            </a:extLst>
          </p:cNvPr>
          <p:cNvGraphicFramePr>
            <a:graphicFrameLocks noGrp="1"/>
          </p:cNvGraphicFramePr>
          <p:nvPr>
            <p:ph idx="1"/>
            <p:extLst>
              <p:ext uri="{D42A27DB-BD31-4B8C-83A1-F6EECF244321}">
                <p14:modId xmlns:p14="http://schemas.microsoft.com/office/powerpoint/2010/main" val="2149764927"/>
              </p:ext>
            </p:extLst>
          </p:nvPr>
        </p:nvGraphicFramePr>
        <p:xfrm>
          <a:off x="1066800" y="2789396"/>
          <a:ext cx="10058400" cy="2560320"/>
        </p:xfrm>
        <a:graphic>
          <a:graphicData uri="http://schemas.openxmlformats.org/drawingml/2006/table">
            <a:tbl>
              <a:tblPr/>
              <a:tblGrid>
                <a:gridCol w="5029200">
                  <a:extLst>
                    <a:ext uri="{9D8B030D-6E8A-4147-A177-3AD203B41FA5}">
                      <a16:colId xmlns:a16="http://schemas.microsoft.com/office/drawing/2014/main" val="2281972667"/>
                    </a:ext>
                  </a:extLst>
                </a:gridCol>
                <a:gridCol w="5029200">
                  <a:extLst>
                    <a:ext uri="{9D8B030D-6E8A-4147-A177-3AD203B41FA5}">
                      <a16:colId xmlns:a16="http://schemas.microsoft.com/office/drawing/2014/main" val="2284495757"/>
                    </a:ext>
                  </a:extLst>
                </a:gridCol>
              </a:tblGrid>
              <a:tr h="0">
                <a:tc>
                  <a:txBody>
                    <a:bodyPr/>
                    <a:lstStyle/>
                    <a:p>
                      <a:pPr>
                        <a:buNone/>
                      </a:pPr>
                      <a:r>
                        <a:rPr lang="en-IN"/>
                        <a:t>Manifestation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6068169"/>
                  </a:ext>
                </a:extLst>
              </a:tr>
              <a:tr h="0">
                <a:tc>
                  <a:txBody>
                    <a:bodyPr/>
                    <a:lstStyle/>
                    <a:p>
                      <a:pPr>
                        <a:buNone/>
                      </a:pPr>
                      <a:r>
                        <a:rPr lang="en-IN"/>
                        <a:t>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Puffy face, swollen eyelids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441415"/>
                  </a:ext>
                </a:extLst>
              </a:tr>
              <a:tr h="0">
                <a:tc>
                  <a:txBody>
                    <a:bodyPr/>
                    <a:lstStyle/>
                    <a:p>
                      <a:pPr>
                        <a:buNone/>
                      </a:pPr>
                      <a:r>
                        <a:rPr lang="en-IN"/>
                        <a:t>Skin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Dry, coarse, cold skin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251752"/>
                  </a:ext>
                </a:extLst>
              </a:tr>
              <a:tr h="0">
                <a:tc>
                  <a:txBody>
                    <a:bodyPr/>
                    <a:lstStyle/>
                    <a:p>
                      <a:pPr>
                        <a:buNone/>
                      </a:pPr>
                      <a:r>
                        <a:rPr lang="en-IN"/>
                        <a:t>Metabolism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Weight gain, intolerance to cold, low BMR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6416097"/>
                  </a:ext>
                </a:extLst>
              </a:tr>
              <a:tr h="0">
                <a:tc>
                  <a:txBody>
                    <a:bodyPr/>
                    <a:lstStyle/>
                    <a:p>
                      <a:pPr>
                        <a:buNone/>
                      </a:pPr>
                      <a:r>
                        <a:rPr lang="en-IN"/>
                        <a:t>CVS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Bradycardia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705215"/>
                  </a:ext>
                </a:extLst>
              </a:tr>
              <a:tr h="0">
                <a:tc>
                  <a:txBody>
                    <a:bodyPr/>
                    <a:lstStyle/>
                    <a:p>
                      <a:pPr>
                        <a:buNone/>
                      </a:pPr>
                      <a:r>
                        <a:rPr lang="en-IN"/>
                        <a:t>CNS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Lethargy, slow mental activity, depression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299097"/>
                  </a:ext>
                </a:extLst>
              </a:tr>
              <a:tr h="0">
                <a:tc>
                  <a:txBody>
                    <a:bodyPr/>
                    <a:lstStyle/>
                    <a:p>
                      <a:pPr>
                        <a:buNone/>
                      </a:pPr>
                      <a:r>
                        <a:rPr lang="en-IN"/>
                        <a:t>Others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Hoarse voice, hair loss, constipation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173441"/>
                  </a:ext>
                </a:extLst>
              </a:tr>
            </a:tbl>
          </a:graphicData>
        </a:graphic>
      </p:graphicFrame>
    </p:spTree>
    <p:extLst>
      <p:ext uri="{BB962C8B-B14F-4D97-AF65-F5344CB8AC3E}">
        <p14:creationId xmlns:p14="http://schemas.microsoft.com/office/powerpoint/2010/main" val="4054776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3984-6EA5-5381-F489-564359C92FDA}"/>
              </a:ext>
            </a:extLst>
          </p:cNvPr>
          <p:cNvSpPr>
            <a:spLocks noGrp="1"/>
          </p:cNvSpPr>
          <p:nvPr>
            <p:ph type="title"/>
          </p:nvPr>
        </p:nvSpPr>
        <p:spPr/>
        <p:txBody>
          <a:bodyPr/>
          <a:lstStyle/>
          <a:p>
            <a:r>
              <a:rPr lang="en-IN" dirty="0"/>
              <a:t>Graves diseases</a:t>
            </a:r>
          </a:p>
        </p:txBody>
      </p:sp>
      <p:graphicFrame>
        <p:nvGraphicFramePr>
          <p:cNvPr id="4" name="Content Placeholder 3">
            <a:extLst>
              <a:ext uri="{FF2B5EF4-FFF2-40B4-BE49-F238E27FC236}">
                <a16:creationId xmlns:a16="http://schemas.microsoft.com/office/drawing/2014/main" id="{A91C305D-AC56-1399-7396-0360E2A284B2}"/>
              </a:ext>
            </a:extLst>
          </p:cNvPr>
          <p:cNvGraphicFramePr>
            <a:graphicFrameLocks noGrp="1"/>
          </p:cNvGraphicFramePr>
          <p:nvPr>
            <p:ph idx="1"/>
            <p:extLst>
              <p:ext uri="{D42A27DB-BD31-4B8C-83A1-F6EECF244321}">
                <p14:modId xmlns:p14="http://schemas.microsoft.com/office/powerpoint/2010/main" val="3755364200"/>
              </p:ext>
            </p:extLst>
          </p:nvPr>
        </p:nvGraphicFramePr>
        <p:xfrm>
          <a:off x="1066800" y="2515076"/>
          <a:ext cx="10058400" cy="3108960"/>
        </p:xfrm>
        <a:graphic>
          <a:graphicData uri="http://schemas.openxmlformats.org/drawingml/2006/table">
            <a:tbl>
              <a:tblPr/>
              <a:tblGrid>
                <a:gridCol w="5029200">
                  <a:extLst>
                    <a:ext uri="{9D8B030D-6E8A-4147-A177-3AD203B41FA5}">
                      <a16:colId xmlns:a16="http://schemas.microsoft.com/office/drawing/2014/main" val="1297485582"/>
                    </a:ext>
                  </a:extLst>
                </a:gridCol>
                <a:gridCol w="5029200">
                  <a:extLst>
                    <a:ext uri="{9D8B030D-6E8A-4147-A177-3AD203B41FA5}">
                      <a16:colId xmlns:a16="http://schemas.microsoft.com/office/drawing/2014/main" val="1348125775"/>
                    </a:ext>
                  </a:extLst>
                </a:gridCol>
              </a:tblGrid>
              <a:tr h="0">
                <a:tc>
                  <a:txBody>
                    <a:bodyPr/>
                    <a:lstStyle/>
                    <a:p>
                      <a:pPr>
                        <a:buNone/>
                      </a:pPr>
                      <a:r>
                        <a:rPr lang="en-IN"/>
                        <a:t>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9096536"/>
                  </a:ext>
                </a:extLst>
              </a:tr>
              <a:tr h="0">
                <a:tc>
                  <a:txBody>
                    <a:bodyPr/>
                    <a:lstStyle/>
                    <a:p>
                      <a:pPr>
                        <a:buNone/>
                      </a:pPr>
                      <a:r>
                        <a:rPr lang="en-IN"/>
                        <a:t>Metabolic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Weight loss despite increased appetite, heat intolerance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960094"/>
                  </a:ext>
                </a:extLst>
              </a:tr>
              <a:tr h="0">
                <a:tc>
                  <a:txBody>
                    <a:bodyPr/>
                    <a:lstStyle/>
                    <a:p>
                      <a:pPr>
                        <a:buNone/>
                      </a:pPr>
                      <a:r>
                        <a:rPr lang="en-IN"/>
                        <a:t>CVS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Tachycardia, palpitations, ↑ BP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0714277"/>
                  </a:ext>
                </a:extLst>
              </a:tr>
              <a:tr h="0">
                <a:tc>
                  <a:txBody>
                    <a:bodyPr/>
                    <a:lstStyle/>
                    <a:p>
                      <a:pPr>
                        <a:buNone/>
                      </a:pPr>
                      <a:r>
                        <a:rPr lang="en-IN"/>
                        <a:t>Nervous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Anxiety, irritability, tremors, hyperactivity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4074102"/>
                  </a:ext>
                </a:extLst>
              </a:tr>
              <a:tr h="0">
                <a:tc>
                  <a:txBody>
                    <a:bodyPr/>
                    <a:lstStyle/>
                    <a:p>
                      <a:pPr>
                        <a:buNone/>
                      </a:pPr>
                      <a:r>
                        <a:rPr lang="en-IN"/>
                        <a:t>Skin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Warm, moist skin, excessive sweating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044417"/>
                  </a:ext>
                </a:extLst>
              </a:tr>
              <a:tr h="0">
                <a:tc>
                  <a:txBody>
                    <a:bodyPr/>
                    <a:lstStyle/>
                    <a:p>
                      <a:pPr>
                        <a:buNone/>
                      </a:pPr>
                      <a:r>
                        <a:rPr lang="en-IN"/>
                        <a:t>Eyes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Exophthalmos (bulging eyes)</a:t>
                      </a:r>
                      <a:r>
                        <a:rPr lang="en-US"/>
                        <a:t> — characteristic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290470"/>
                  </a:ext>
                </a:extLst>
              </a:tr>
              <a:tr h="0">
                <a:tc>
                  <a:txBody>
                    <a:bodyPr/>
                    <a:lstStyle/>
                    <a:p>
                      <a:pPr>
                        <a:buNone/>
                      </a:pPr>
                      <a:r>
                        <a:rPr lang="en-IN"/>
                        <a:t>Thyroid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err="1"/>
                        <a:t>Goiter</a:t>
                      </a:r>
                      <a:r>
                        <a:rPr lang="en-IN" dirty="0"/>
                        <a:t> (diffuse enlargement)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384868"/>
                  </a:ext>
                </a:extLst>
              </a:tr>
            </a:tbl>
          </a:graphicData>
        </a:graphic>
      </p:graphicFrame>
    </p:spTree>
    <p:extLst>
      <p:ext uri="{BB962C8B-B14F-4D97-AF65-F5344CB8AC3E}">
        <p14:creationId xmlns:p14="http://schemas.microsoft.com/office/powerpoint/2010/main" val="645725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1AAC3-0C29-E239-861B-04BA7C80E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01696-D926-737B-4EE7-6B3AE3D5989D}"/>
              </a:ext>
            </a:extLst>
          </p:cNvPr>
          <p:cNvSpPr>
            <a:spLocks noGrp="1"/>
          </p:cNvSpPr>
          <p:nvPr>
            <p:ph type="ctrTitle"/>
          </p:nvPr>
        </p:nvSpPr>
        <p:spPr/>
        <p:txBody>
          <a:bodyPr/>
          <a:lstStyle/>
          <a:p>
            <a:r>
              <a:rPr lang="en-IN" dirty="0"/>
              <a:t>Unit 5</a:t>
            </a:r>
          </a:p>
        </p:txBody>
      </p:sp>
      <p:sp>
        <p:nvSpPr>
          <p:cNvPr id="3" name="Subtitle 2">
            <a:extLst>
              <a:ext uri="{FF2B5EF4-FFF2-40B4-BE49-F238E27FC236}">
                <a16:creationId xmlns:a16="http://schemas.microsoft.com/office/drawing/2014/main" id="{0E5BB39F-CCDB-67CF-DBCB-D0325CFE6D0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25402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12A14-6E33-FE91-EAE2-19EE0A26412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CD55796-9CB1-199B-4F7C-D1E4D7AC0D96}"/>
              </a:ext>
            </a:extLst>
          </p:cNvPr>
          <p:cNvPicPr>
            <a:picLocks noGrp="1" noChangeAspect="1"/>
          </p:cNvPicPr>
          <p:nvPr>
            <p:ph idx="1"/>
          </p:nvPr>
        </p:nvPicPr>
        <p:blipFill>
          <a:blip r:embed="rId2"/>
          <a:stretch>
            <a:fillRect/>
          </a:stretch>
        </p:blipFill>
        <p:spPr>
          <a:xfrm>
            <a:off x="1066800" y="642594"/>
            <a:ext cx="10058400" cy="5572812"/>
          </a:xfrm>
          <a:prstGeom prst="rect">
            <a:avLst/>
          </a:prstGeom>
        </p:spPr>
      </p:pic>
    </p:spTree>
    <p:extLst>
      <p:ext uri="{BB962C8B-B14F-4D97-AF65-F5344CB8AC3E}">
        <p14:creationId xmlns:p14="http://schemas.microsoft.com/office/powerpoint/2010/main" val="1964803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56187-E803-F0D9-1C6D-CBCF05F12343}"/>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1223EB4F-CE6A-2CEC-7B04-1F65E31E0AE2}"/>
              </a:ext>
            </a:extLst>
          </p:cNvPr>
          <p:cNvSpPr>
            <a:spLocks noGrp="1"/>
          </p:cNvSpPr>
          <p:nvPr>
            <p:ph idx="1"/>
          </p:nvPr>
        </p:nvSpPr>
        <p:spPr/>
        <p:txBody>
          <a:bodyPr/>
          <a:lstStyle/>
          <a:p>
            <a:r>
              <a:rPr lang="en-US" dirty="0"/>
              <a:t>Hypoparathyroidism may occur due to inadvertent removal of parathyroid glands during thyroid surgery. Hypocalcemia (plasma calcium falls to 6 – 7 mg/dl) leads to tetany. Signs of Tetany include the following: (</a:t>
            </a:r>
            <a:r>
              <a:rPr lang="en-US" dirty="0" err="1"/>
              <a:t>i</a:t>
            </a:r>
            <a:r>
              <a:rPr lang="en-US" dirty="0"/>
              <a:t>) increased excitability of the nerves and neuromuscular junction (ii) Spasm of muscles of hand - flexion of wrist, flexion of metacarpophalangeal joints and hyperextension of fingers - Carpopedal spasm, </a:t>
            </a:r>
            <a:r>
              <a:rPr lang="en-US" dirty="0" err="1"/>
              <a:t>Accoucher’s</a:t>
            </a:r>
            <a:r>
              <a:rPr lang="en-US" dirty="0"/>
              <a:t> hand; (iii) spasm of feet – feet extended at ankle and toes plantar flexed (iv) Laryngeal stridor- contraction of laryngeal muscles leads to closure of glottis and crowing sound during air entry. Latent tetany is manifested by Chvostek’s sign (tapping facial nerve at angle of jaw causes quick contraction of facial muscles on that side) and Trousseau’s sign (carpopedal spasm). Other causes of tetany include vitamin D deficiency and metabolic alkalosis. </a:t>
            </a:r>
            <a:endParaRPr lang="en-IN" dirty="0"/>
          </a:p>
        </p:txBody>
      </p:sp>
    </p:spTree>
    <p:extLst>
      <p:ext uri="{BB962C8B-B14F-4D97-AF65-F5344CB8AC3E}">
        <p14:creationId xmlns:p14="http://schemas.microsoft.com/office/powerpoint/2010/main" val="4291364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E6CC0-7309-9112-691B-3B3C8005A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0217D-2277-FD8C-3497-5C11C97A7B21}"/>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28BCDC0C-3644-FF84-468C-861620C04C69}"/>
              </a:ext>
            </a:extLst>
          </p:cNvPr>
          <p:cNvSpPr>
            <a:spLocks noGrp="1"/>
          </p:cNvSpPr>
          <p:nvPr>
            <p:ph idx="1"/>
          </p:nvPr>
        </p:nvSpPr>
        <p:spPr/>
        <p:txBody>
          <a:bodyPr/>
          <a:lstStyle/>
          <a:p>
            <a:r>
              <a:rPr lang="en-US" dirty="0"/>
              <a:t>Hyperparathyroidism: can occur due to large doses of PTH or due to a parathyroid tumor. It is manifested by hypercalcemia, hypophosphatemia, demineralization of bones, hypercalciuria and formation of renal stones. Secondary hyperparathyroidism can occur in chronic kidney disease, wherein decreased ability of the kidneys to form vitamin D leads to a feedback stimulation of PTH due to low levels of calcium.</a:t>
            </a:r>
            <a:endParaRPr lang="en-IN" dirty="0"/>
          </a:p>
        </p:txBody>
      </p:sp>
    </p:spTree>
    <p:extLst>
      <p:ext uri="{BB962C8B-B14F-4D97-AF65-F5344CB8AC3E}">
        <p14:creationId xmlns:p14="http://schemas.microsoft.com/office/powerpoint/2010/main" val="3266774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E47D-F6B1-50A2-9CE7-DAA723F8D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EEEAB-1FAF-FADF-E3C8-6DCC574DF6B4}"/>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56E4D7D6-B5BC-8261-5BA3-405AB25CAE70}"/>
              </a:ext>
            </a:extLst>
          </p:cNvPr>
          <p:cNvSpPr>
            <a:spLocks noGrp="1"/>
          </p:cNvSpPr>
          <p:nvPr>
            <p:ph idx="1"/>
          </p:nvPr>
        </p:nvSpPr>
        <p:spPr/>
        <p:txBody>
          <a:bodyPr/>
          <a:lstStyle/>
          <a:p>
            <a:r>
              <a:rPr lang="en-US" dirty="0"/>
              <a:t>Rickets and osteomalacia : Rickets is a deficiency of calcium and phosphate in extracellular fluid which is mainly due to vitamin D deficiency in children. It can be either due to inadequate exposure to sunlight or due to inadequate intake of provitamins. Adult rickets is termed as osteomalacia and it is due to decreased vitamin D absorption. Renal rickets is failure of damaged kidney to form 1,25 (OH)2 cholecalciferol. Vitamin D resistant rickets is congenital and is due to decreased reabsorption of phosphate by renal tubules</a:t>
            </a:r>
            <a:endParaRPr lang="en-IN" dirty="0"/>
          </a:p>
        </p:txBody>
      </p:sp>
    </p:spTree>
    <p:extLst>
      <p:ext uri="{BB962C8B-B14F-4D97-AF65-F5344CB8AC3E}">
        <p14:creationId xmlns:p14="http://schemas.microsoft.com/office/powerpoint/2010/main" val="26781401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C4D8B-7E02-B927-13FE-819E0B379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6C280-3B25-8279-F88E-B3C4F642FC32}"/>
              </a:ext>
            </a:extLst>
          </p:cNvPr>
          <p:cNvSpPr>
            <a:spLocks noGrp="1"/>
          </p:cNvSpPr>
          <p:nvPr>
            <p:ph type="ctrTitle"/>
          </p:nvPr>
        </p:nvSpPr>
        <p:spPr/>
        <p:txBody>
          <a:bodyPr/>
          <a:lstStyle/>
          <a:p>
            <a:r>
              <a:rPr lang="en-IN" dirty="0"/>
              <a:t>Unit 6</a:t>
            </a:r>
          </a:p>
        </p:txBody>
      </p:sp>
      <p:sp>
        <p:nvSpPr>
          <p:cNvPr id="3" name="Subtitle 2">
            <a:extLst>
              <a:ext uri="{FF2B5EF4-FFF2-40B4-BE49-F238E27FC236}">
                <a16:creationId xmlns:a16="http://schemas.microsoft.com/office/drawing/2014/main" id="{390F18DE-1C20-D759-1309-4571995C74F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180670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EAD6-92EB-6B1F-F23E-2C1CA7175728}"/>
              </a:ext>
            </a:extLst>
          </p:cNvPr>
          <p:cNvSpPr>
            <a:spLocks noGrp="1"/>
          </p:cNvSpPr>
          <p:nvPr>
            <p:ph type="title"/>
          </p:nvPr>
        </p:nvSpPr>
        <p:spPr/>
        <p:txBody>
          <a:bodyPr/>
          <a:lstStyle/>
          <a:p>
            <a:r>
              <a:rPr lang="en-IN" dirty="0"/>
              <a:t>Pancreatic hormones</a:t>
            </a:r>
          </a:p>
        </p:txBody>
      </p:sp>
      <p:graphicFrame>
        <p:nvGraphicFramePr>
          <p:cNvPr id="4" name="Content Placeholder 3">
            <a:extLst>
              <a:ext uri="{FF2B5EF4-FFF2-40B4-BE49-F238E27FC236}">
                <a16:creationId xmlns:a16="http://schemas.microsoft.com/office/drawing/2014/main" id="{E9B726C1-51D3-3672-2BE3-97BD5197817E}"/>
              </a:ext>
            </a:extLst>
          </p:cNvPr>
          <p:cNvGraphicFramePr>
            <a:graphicFrameLocks noGrp="1"/>
          </p:cNvGraphicFramePr>
          <p:nvPr>
            <p:ph idx="1"/>
            <p:extLst>
              <p:ext uri="{D42A27DB-BD31-4B8C-83A1-F6EECF244321}">
                <p14:modId xmlns:p14="http://schemas.microsoft.com/office/powerpoint/2010/main" val="599559398"/>
              </p:ext>
            </p:extLst>
          </p:nvPr>
        </p:nvGraphicFramePr>
        <p:xfrm>
          <a:off x="1066800" y="2972276"/>
          <a:ext cx="10058400" cy="2194560"/>
        </p:xfrm>
        <a:graphic>
          <a:graphicData uri="http://schemas.openxmlformats.org/drawingml/2006/table">
            <a:tbl>
              <a:tblPr/>
              <a:tblGrid>
                <a:gridCol w="3352800">
                  <a:extLst>
                    <a:ext uri="{9D8B030D-6E8A-4147-A177-3AD203B41FA5}">
                      <a16:colId xmlns:a16="http://schemas.microsoft.com/office/drawing/2014/main" val="1329765745"/>
                    </a:ext>
                  </a:extLst>
                </a:gridCol>
                <a:gridCol w="3352800">
                  <a:extLst>
                    <a:ext uri="{9D8B030D-6E8A-4147-A177-3AD203B41FA5}">
                      <a16:colId xmlns:a16="http://schemas.microsoft.com/office/drawing/2014/main" val="2403219410"/>
                    </a:ext>
                  </a:extLst>
                </a:gridCol>
                <a:gridCol w="3352800">
                  <a:extLst>
                    <a:ext uri="{9D8B030D-6E8A-4147-A177-3AD203B41FA5}">
                      <a16:colId xmlns:a16="http://schemas.microsoft.com/office/drawing/2014/main" val="4271798722"/>
                    </a:ext>
                  </a:extLst>
                </a:gridCol>
              </a:tblGrid>
              <a:tr h="0">
                <a:tc>
                  <a:txBody>
                    <a:bodyPr/>
                    <a:lstStyle/>
                    <a:p>
                      <a:pPr>
                        <a:buNone/>
                      </a:pPr>
                      <a:r>
                        <a:rPr lang="en-IN"/>
                        <a:t>Cell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 of Islet Cells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Hormone Secreted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2824942"/>
                  </a:ext>
                </a:extLst>
              </a:tr>
              <a:tr h="0">
                <a:tc>
                  <a:txBody>
                    <a:bodyPr/>
                    <a:lstStyle/>
                    <a:p>
                      <a:pPr>
                        <a:buNone/>
                      </a:pPr>
                      <a:r>
                        <a:rPr lang="el-GR" b="1"/>
                        <a:t>α (</a:t>
                      </a:r>
                      <a:r>
                        <a:rPr lang="en-IN" b="1"/>
                        <a:t>Alpha)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Glucagon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3423769"/>
                  </a:ext>
                </a:extLst>
              </a:tr>
              <a:tr h="0">
                <a:tc>
                  <a:txBody>
                    <a:bodyPr/>
                    <a:lstStyle/>
                    <a:p>
                      <a:pPr>
                        <a:buNone/>
                      </a:pPr>
                      <a:r>
                        <a:rPr lang="el-GR" b="1"/>
                        <a:t>β (</a:t>
                      </a:r>
                      <a:r>
                        <a:rPr lang="en-IN" b="1"/>
                        <a:t>Beta)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60–70%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Insulin &amp; Amylin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0223080"/>
                  </a:ext>
                </a:extLst>
              </a:tr>
              <a:tr h="0">
                <a:tc>
                  <a:txBody>
                    <a:bodyPr/>
                    <a:lstStyle/>
                    <a:p>
                      <a:pPr>
                        <a:buNone/>
                      </a:pPr>
                      <a:r>
                        <a:rPr lang="el-GR" b="1"/>
                        <a:t>δ (</a:t>
                      </a:r>
                      <a:r>
                        <a:rPr lang="en-IN" b="1"/>
                        <a:t>Delta)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Somatostatin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2169500"/>
                  </a:ext>
                </a:extLst>
              </a:tr>
              <a:tr h="0">
                <a:tc>
                  <a:txBody>
                    <a:bodyPr/>
                    <a:lstStyle/>
                    <a:p>
                      <a:pPr>
                        <a:buNone/>
                      </a:pPr>
                      <a:r>
                        <a:rPr lang="en-IN" b="1"/>
                        <a:t>PP / F cells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Pancreatic Polypeptide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4721050"/>
                  </a:ext>
                </a:extLst>
              </a:tr>
              <a:tr h="0">
                <a:tc>
                  <a:txBody>
                    <a:bodyPr/>
                    <a:lstStyle/>
                    <a:p>
                      <a:pPr>
                        <a:buNone/>
                      </a:pPr>
                      <a:r>
                        <a:rPr lang="el-GR" b="1"/>
                        <a:t>ε </a:t>
                      </a:r>
                      <a:r>
                        <a:rPr lang="en-IN" b="1"/>
                        <a:t>cells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very few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Ghrelin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269582"/>
                  </a:ext>
                </a:extLst>
              </a:tr>
            </a:tbl>
          </a:graphicData>
        </a:graphic>
      </p:graphicFrame>
    </p:spTree>
    <p:extLst>
      <p:ext uri="{BB962C8B-B14F-4D97-AF65-F5344CB8AC3E}">
        <p14:creationId xmlns:p14="http://schemas.microsoft.com/office/powerpoint/2010/main" val="969339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15558-3A45-DE77-D3F4-5063170D8AF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697CF51-9A5F-48B2-4A2E-0B7FEC8BFFEA}"/>
              </a:ext>
            </a:extLst>
          </p:cNvPr>
          <p:cNvPicPr>
            <a:picLocks noGrp="1" noChangeAspect="1"/>
          </p:cNvPicPr>
          <p:nvPr>
            <p:ph idx="1"/>
          </p:nvPr>
        </p:nvPicPr>
        <p:blipFill>
          <a:blip r:embed="rId2"/>
          <a:stretch>
            <a:fillRect/>
          </a:stretch>
        </p:blipFill>
        <p:spPr>
          <a:xfrm>
            <a:off x="978194" y="642593"/>
            <a:ext cx="10198970" cy="5431635"/>
          </a:xfrm>
          <a:prstGeom prst="rect">
            <a:avLst/>
          </a:prstGeom>
        </p:spPr>
      </p:pic>
    </p:spTree>
    <p:extLst>
      <p:ext uri="{BB962C8B-B14F-4D97-AF65-F5344CB8AC3E}">
        <p14:creationId xmlns:p14="http://schemas.microsoft.com/office/powerpoint/2010/main" val="3072201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221-F357-2C3B-1081-C105C35F394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69E60CC-528B-16F7-C646-496872C36510}"/>
              </a:ext>
            </a:extLst>
          </p:cNvPr>
          <p:cNvPicPr>
            <a:picLocks noGrp="1" noChangeAspect="1"/>
          </p:cNvPicPr>
          <p:nvPr>
            <p:ph idx="1"/>
          </p:nvPr>
        </p:nvPicPr>
        <p:blipFill>
          <a:blip r:embed="rId2"/>
          <a:stretch>
            <a:fillRect/>
          </a:stretch>
        </p:blipFill>
        <p:spPr>
          <a:xfrm>
            <a:off x="1618175" y="157843"/>
            <a:ext cx="8955649" cy="6542313"/>
          </a:xfrm>
          <a:prstGeom prst="rect">
            <a:avLst/>
          </a:prstGeom>
        </p:spPr>
      </p:pic>
    </p:spTree>
    <p:extLst>
      <p:ext uri="{BB962C8B-B14F-4D97-AF65-F5344CB8AC3E}">
        <p14:creationId xmlns:p14="http://schemas.microsoft.com/office/powerpoint/2010/main" val="3316352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4029B-D51C-E745-30C1-41095C97244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56CCA2-3250-A6C9-001B-2EFB4CA521D0}"/>
              </a:ext>
            </a:extLst>
          </p:cNvPr>
          <p:cNvPicPr>
            <a:picLocks noGrp="1" noChangeAspect="1"/>
          </p:cNvPicPr>
          <p:nvPr>
            <p:ph idx="1"/>
          </p:nvPr>
        </p:nvPicPr>
        <p:blipFill>
          <a:blip r:embed="rId2"/>
          <a:stretch>
            <a:fillRect/>
          </a:stretch>
        </p:blipFill>
        <p:spPr>
          <a:xfrm>
            <a:off x="152401" y="119742"/>
            <a:ext cx="11887198" cy="6498772"/>
          </a:xfrm>
          <a:prstGeom prst="rect">
            <a:avLst/>
          </a:prstGeom>
        </p:spPr>
      </p:pic>
    </p:spTree>
    <p:extLst>
      <p:ext uri="{BB962C8B-B14F-4D97-AF65-F5344CB8AC3E}">
        <p14:creationId xmlns:p14="http://schemas.microsoft.com/office/powerpoint/2010/main" val="32021036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77DC6-11D3-B3B2-BC94-0DD33C984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B7202-E593-FD61-2A99-BF63D92087B3}"/>
              </a:ext>
            </a:extLst>
          </p:cNvPr>
          <p:cNvSpPr>
            <a:spLocks noGrp="1"/>
          </p:cNvSpPr>
          <p:nvPr>
            <p:ph type="ctrTitle"/>
          </p:nvPr>
        </p:nvSpPr>
        <p:spPr/>
        <p:txBody>
          <a:bodyPr/>
          <a:lstStyle/>
          <a:p>
            <a:r>
              <a:rPr lang="en-IN" dirty="0"/>
              <a:t>Unit 7</a:t>
            </a:r>
          </a:p>
        </p:txBody>
      </p:sp>
      <p:sp>
        <p:nvSpPr>
          <p:cNvPr id="3" name="Subtitle 2">
            <a:extLst>
              <a:ext uri="{FF2B5EF4-FFF2-40B4-BE49-F238E27FC236}">
                <a16:creationId xmlns:a16="http://schemas.microsoft.com/office/drawing/2014/main" id="{2B135E93-3B35-25DA-0F01-E8941180EB5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24181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851A-8242-7627-5E7C-9B368BD33FD8}"/>
              </a:ext>
            </a:extLst>
          </p:cNvPr>
          <p:cNvSpPr>
            <a:spLocks noGrp="1"/>
          </p:cNvSpPr>
          <p:nvPr>
            <p:ph type="title"/>
          </p:nvPr>
        </p:nvSpPr>
        <p:spPr/>
        <p:txBody>
          <a:bodyPr/>
          <a:lstStyle/>
          <a:p>
            <a:r>
              <a:rPr lang="en-IN" dirty="0"/>
              <a:t>Adrenal cortical hormone</a:t>
            </a:r>
          </a:p>
        </p:txBody>
      </p:sp>
      <p:sp>
        <p:nvSpPr>
          <p:cNvPr id="3" name="Content Placeholder 2">
            <a:extLst>
              <a:ext uri="{FF2B5EF4-FFF2-40B4-BE49-F238E27FC236}">
                <a16:creationId xmlns:a16="http://schemas.microsoft.com/office/drawing/2014/main" id="{3F853E1A-C30F-C7A0-BDC4-E034DAD365FF}"/>
              </a:ext>
            </a:extLst>
          </p:cNvPr>
          <p:cNvSpPr>
            <a:spLocks noGrp="1"/>
          </p:cNvSpPr>
          <p:nvPr>
            <p:ph idx="1"/>
          </p:nvPr>
        </p:nvSpPr>
        <p:spPr/>
        <p:txBody>
          <a:bodyPr/>
          <a:lstStyle/>
          <a:p>
            <a:r>
              <a:rPr lang="en-US" dirty="0"/>
              <a:t>The </a:t>
            </a:r>
            <a:r>
              <a:rPr lang="en-US" b="1" dirty="0"/>
              <a:t>adrenal (suprarenal) glands</a:t>
            </a:r>
            <a:r>
              <a:rPr lang="en-US" dirty="0"/>
              <a:t> are </a:t>
            </a:r>
            <a:r>
              <a:rPr lang="en-US" b="1" dirty="0"/>
              <a:t>paired endocrine glands located on the upper poles of the kidneys</a:t>
            </a:r>
            <a:r>
              <a:rPr lang="en-US" dirty="0"/>
              <a:t>.</a:t>
            </a:r>
            <a:br>
              <a:rPr lang="en-US" dirty="0"/>
            </a:br>
            <a:r>
              <a:rPr lang="en-US" dirty="0"/>
              <a:t>Each gland has </a:t>
            </a:r>
            <a:r>
              <a:rPr lang="en-US" b="1" dirty="0"/>
              <a:t>two distinct parts</a:t>
            </a:r>
            <a:r>
              <a:rPr lang="en-US" dirty="0"/>
              <a:t>, both differing in structure &amp; function:</a:t>
            </a:r>
          </a:p>
          <a:p>
            <a:r>
              <a:rPr lang="en-US" b="1" dirty="0"/>
              <a:t>Adrenal Cortex (outer)</a:t>
            </a:r>
            <a:endParaRPr lang="en-US" dirty="0"/>
          </a:p>
          <a:p>
            <a:r>
              <a:rPr lang="en-US" b="1" dirty="0"/>
              <a:t>Adrenal Medulla (inner)</a:t>
            </a:r>
            <a:endParaRPr lang="en-US" dirty="0"/>
          </a:p>
          <a:p>
            <a:endParaRPr lang="en-IN" dirty="0"/>
          </a:p>
        </p:txBody>
      </p:sp>
    </p:spTree>
    <p:extLst>
      <p:ext uri="{BB962C8B-B14F-4D97-AF65-F5344CB8AC3E}">
        <p14:creationId xmlns:p14="http://schemas.microsoft.com/office/powerpoint/2010/main" val="1147297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197-BEB3-AE7C-D41B-835124AB44A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88024F8-8478-CBAD-C131-4D4D81435939}"/>
              </a:ext>
            </a:extLst>
          </p:cNvPr>
          <p:cNvPicPr>
            <a:picLocks noGrp="1" noChangeAspect="1"/>
          </p:cNvPicPr>
          <p:nvPr>
            <p:ph idx="1"/>
          </p:nvPr>
        </p:nvPicPr>
        <p:blipFill>
          <a:blip r:embed="rId2"/>
          <a:stretch>
            <a:fillRect/>
          </a:stretch>
        </p:blipFill>
        <p:spPr>
          <a:xfrm>
            <a:off x="387015" y="642594"/>
            <a:ext cx="11417969" cy="5562600"/>
          </a:xfrm>
          <a:prstGeom prst="rect">
            <a:avLst/>
          </a:prstGeom>
        </p:spPr>
      </p:pic>
    </p:spTree>
    <p:extLst>
      <p:ext uri="{BB962C8B-B14F-4D97-AF65-F5344CB8AC3E}">
        <p14:creationId xmlns:p14="http://schemas.microsoft.com/office/powerpoint/2010/main" val="1725309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62CC-92C6-F8CB-20DC-335883C87B1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9E763E9-C2C3-A1F0-826B-84D9D92B9DF8}"/>
              </a:ext>
            </a:extLst>
          </p:cNvPr>
          <p:cNvPicPr>
            <a:picLocks noGrp="1" noChangeAspect="1"/>
          </p:cNvPicPr>
          <p:nvPr>
            <p:ph idx="1"/>
          </p:nvPr>
        </p:nvPicPr>
        <p:blipFill>
          <a:blip r:embed="rId2"/>
          <a:stretch>
            <a:fillRect/>
          </a:stretch>
        </p:blipFill>
        <p:spPr>
          <a:xfrm>
            <a:off x="491838" y="1920516"/>
            <a:ext cx="11208323" cy="2923291"/>
          </a:xfrm>
          <a:prstGeom prst="rect">
            <a:avLst/>
          </a:prstGeom>
        </p:spPr>
      </p:pic>
    </p:spTree>
    <p:extLst>
      <p:ext uri="{BB962C8B-B14F-4D97-AF65-F5344CB8AC3E}">
        <p14:creationId xmlns:p14="http://schemas.microsoft.com/office/powerpoint/2010/main" val="1749829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0C2F-F9CA-1CF8-ADB4-754DF8C88AA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EB6725B-3379-139B-F670-EDD6EB72B33C}"/>
              </a:ext>
            </a:extLst>
          </p:cNvPr>
          <p:cNvPicPr>
            <a:picLocks noGrp="1" noChangeAspect="1"/>
          </p:cNvPicPr>
          <p:nvPr>
            <p:ph idx="1"/>
          </p:nvPr>
        </p:nvPicPr>
        <p:blipFill>
          <a:blip r:embed="rId2"/>
          <a:stretch>
            <a:fillRect/>
          </a:stretch>
        </p:blipFill>
        <p:spPr>
          <a:xfrm>
            <a:off x="1066800" y="502222"/>
            <a:ext cx="10058400" cy="5853555"/>
          </a:xfrm>
          <a:prstGeom prst="rect">
            <a:avLst/>
          </a:prstGeom>
        </p:spPr>
      </p:pic>
    </p:spTree>
    <p:extLst>
      <p:ext uri="{BB962C8B-B14F-4D97-AF65-F5344CB8AC3E}">
        <p14:creationId xmlns:p14="http://schemas.microsoft.com/office/powerpoint/2010/main" val="5975199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987C-6E60-2639-4DE4-64EC37CBC12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B9E5B62-2517-D2FD-16A5-6004F8BB049B}"/>
              </a:ext>
            </a:extLst>
          </p:cNvPr>
          <p:cNvPicPr>
            <a:picLocks noGrp="1" noChangeAspect="1"/>
          </p:cNvPicPr>
          <p:nvPr>
            <p:ph idx="1"/>
          </p:nvPr>
        </p:nvPicPr>
        <p:blipFill>
          <a:blip r:embed="rId2"/>
          <a:stretch>
            <a:fillRect/>
          </a:stretch>
        </p:blipFill>
        <p:spPr>
          <a:xfrm>
            <a:off x="3689832" y="566394"/>
            <a:ext cx="4812336" cy="5332228"/>
          </a:xfrm>
          <a:prstGeom prst="rect">
            <a:avLst/>
          </a:prstGeom>
        </p:spPr>
      </p:pic>
    </p:spTree>
    <p:extLst>
      <p:ext uri="{BB962C8B-B14F-4D97-AF65-F5344CB8AC3E}">
        <p14:creationId xmlns:p14="http://schemas.microsoft.com/office/powerpoint/2010/main" val="3046945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9FD2-F5ED-CDA1-E87B-6BF91DA7FF15}"/>
              </a:ext>
            </a:extLst>
          </p:cNvPr>
          <p:cNvSpPr>
            <a:spLocks noGrp="1"/>
          </p:cNvSpPr>
          <p:nvPr>
            <p:ph type="title"/>
          </p:nvPr>
        </p:nvSpPr>
        <p:spPr/>
        <p:txBody>
          <a:bodyPr/>
          <a:lstStyle/>
          <a:p>
            <a:r>
              <a:rPr lang="en-IN" dirty="0"/>
              <a:t>Applied anatomy </a:t>
            </a:r>
          </a:p>
        </p:txBody>
      </p:sp>
      <p:sp>
        <p:nvSpPr>
          <p:cNvPr id="3" name="Content Placeholder 2">
            <a:extLst>
              <a:ext uri="{FF2B5EF4-FFF2-40B4-BE49-F238E27FC236}">
                <a16:creationId xmlns:a16="http://schemas.microsoft.com/office/drawing/2014/main" id="{A294D220-F3CB-7A15-4FDE-DBB7084F53C2}"/>
              </a:ext>
            </a:extLst>
          </p:cNvPr>
          <p:cNvSpPr>
            <a:spLocks noGrp="1"/>
          </p:cNvSpPr>
          <p:nvPr>
            <p:ph idx="1"/>
          </p:nvPr>
        </p:nvSpPr>
        <p:spPr/>
        <p:txBody>
          <a:bodyPr/>
          <a:lstStyle/>
          <a:p>
            <a:r>
              <a:rPr lang="en-US" dirty="0"/>
              <a:t>Conn’s syndrome: (Primary hyperaldosteronism) This is due to hypersecretion of aldosterone and is manifested by the following: Increased sodium reabsorption causing increase in ECF volume leading to hypertension; ECG showing signs of K+ depletion; increased K+ excretion leading to muscle weakness; hypokalemia leading to metabolic alkalosis which in turn depletes the free calcium resulting in tetany.</a:t>
            </a:r>
            <a:endParaRPr lang="en-IN" dirty="0"/>
          </a:p>
        </p:txBody>
      </p:sp>
    </p:spTree>
    <p:extLst>
      <p:ext uri="{BB962C8B-B14F-4D97-AF65-F5344CB8AC3E}">
        <p14:creationId xmlns:p14="http://schemas.microsoft.com/office/powerpoint/2010/main" val="4278098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202C3-482D-55D0-9D6C-4A42FA0F89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C3F82-C500-8773-1307-07184806DBD8}"/>
              </a:ext>
            </a:extLst>
          </p:cNvPr>
          <p:cNvSpPr>
            <a:spLocks noGrp="1"/>
          </p:cNvSpPr>
          <p:nvPr>
            <p:ph type="title"/>
          </p:nvPr>
        </p:nvSpPr>
        <p:spPr/>
        <p:txBody>
          <a:bodyPr/>
          <a:lstStyle/>
          <a:p>
            <a:r>
              <a:rPr lang="en-IN" dirty="0"/>
              <a:t>Applied anatomy </a:t>
            </a:r>
          </a:p>
        </p:txBody>
      </p:sp>
      <p:sp>
        <p:nvSpPr>
          <p:cNvPr id="3" name="Content Placeholder 2">
            <a:extLst>
              <a:ext uri="{FF2B5EF4-FFF2-40B4-BE49-F238E27FC236}">
                <a16:creationId xmlns:a16="http://schemas.microsoft.com/office/drawing/2014/main" id="{89C6A29F-2169-0A71-599D-228CD83CD765}"/>
              </a:ext>
            </a:extLst>
          </p:cNvPr>
          <p:cNvSpPr>
            <a:spLocks noGrp="1"/>
          </p:cNvSpPr>
          <p:nvPr>
            <p:ph idx="1"/>
          </p:nvPr>
        </p:nvSpPr>
        <p:spPr/>
        <p:txBody>
          <a:bodyPr/>
          <a:lstStyle/>
          <a:p>
            <a:r>
              <a:rPr lang="en-US" dirty="0"/>
              <a:t>Cushing’s syndrome: This is due to hypersecretion of cortisol and is manifested by the following clinical features: Skin and subcutaneous tissue becomes thin; Muscles become thin and are poorly developed; Hair becomes thin and rough; Increased capillary fragility ( Ecchymoses); Poor wound healing leading to frequent bruises; Centripetal distribution of fat resulting in thin extremities and pendulous abdomen; Moon face, Buffalo hump, Purplish striae; Hyperglycemia, Glycosuria, Insulin resistance leading to adrenal diabetes; Increased bone reabsorption and decreased bone formation leading to osteoporosis; Increased RBC, platelet and neutrophil; Decreased eosinophil and lymphocyte; </a:t>
            </a:r>
            <a:r>
              <a:rPr lang="en-IN" dirty="0"/>
              <a:t>Hirsutism, Acne; Growth retardation; Personality changes, Euphoria and insomnia; </a:t>
            </a:r>
            <a:r>
              <a:rPr lang="en-IN" dirty="0" err="1"/>
              <a:t>Edema</a:t>
            </a:r>
            <a:r>
              <a:rPr lang="en-IN" dirty="0"/>
              <a:t>, hypertension and </a:t>
            </a:r>
            <a:r>
              <a:rPr lang="en-IN" dirty="0" err="1"/>
              <a:t>hypokalemia</a:t>
            </a:r>
            <a:r>
              <a:rPr lang="en-IN" dirty="0"/>
              <a:t>.</a:t>
            </a:r>
          </a:p>
        </p:txBody>
      </p:sp>
    </p:spTree>
    <p:extLst>
      <p:ext uri="{BB962C8B-B14F-4D97-AF65-F5344CB8AC3E}">
        <p14:creationId xmlns:p14="http://schemas.microsoft.com/office/powerpoint/2010/main" val="1929538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9B1D-B750-AC26-926C-6B89A3EA6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25F56-0802-8E7D-8D06-E3CA072ECD21}"/>
              </a:ext>
            </a:extLst>
          </p:cNvPr>
          <p:cNvSpPr>
            <a:spLocks noGrp="1"/>
          </p:cNvSpPr>
          <p:nvPr>
            <p:ph type="title"/>
          </p:nvPr>
        </p:nvSpPr>
        <p:spPr/>
        <p:txBody>
          <a:bodyPr/>
          <a:lstStyle/>
          <a:p>
            <a:r>
              <a:rPr lang="en-IN" dirty="0"/>
              <a:t>Applied anatomy </a:t>
            </a:r>
          </a:p>
        </p:txBody>
      </p:sp>
      <p:sp>
        <p:nvSpPr>
          <p:cNvPr id="3" name="Content Placeholder 2">
            <a:extLst>
              <a:ext uri="{FF2B5EF4-FFF2-40B4-BE49-F238E27FC236}">
                <a16:creationId xmlns:a16="http://schemas.microsoft.com/office/drawing/2014/main" id="{A79C2961-6DEA-BB8F-338B-78EA1404AC88}"/>
              </a:ext>
            </a:extLst>
          </p:cNvPr>
          <p:cNvSpPr>
            <a:spLocks noGrp="1"/>
          </p:cNvSpPr>
          <p:nvPr>
            <p:ph idx="1"/>
          </p:nvPr>
        </p:nvSpPr>
        <p:spPr/>
        <p:txBody>
          <a:bodyPr/>
          <a:lstStyle/>
          <a:p>
            <a:r>
              <a:rPr lang="en-US" dirty="0"/>
              <a:t>Adrenogenital syndrome: This occurs due to hypersecretion of adrenal androgens. In females it is manifested by the following clinical features:, Beard, deeper voice, male type of baldness, masculine distribution of hair, clitoris resembling penis and deposition of protein in skin. In pre-pubertal males, it is manifested by rapid development of sex organs and creation of sexual desire. In adult males, it is difficult to diagnose as its features are obscured by the effects of testosterone. It is diagnosed by estimation of 17 ketosteroids in the urine. (10-15 times ↑) </a:t>
            </a:r>
            <a:endParaRPr lang="en-IN" dirty="0"/>
          </a:p>
        </p:txBody>
      </p:sp>
    </p:spTree>
    <p:extLst>
      <p:ext uri="{BB962C8B-B14F-4D97-AF65-F5344CB8AC3E}">
        <p14:creationId xmlns:p14="http://schemas.microsoft.com/office/powerpoint/2010/main" val="353936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1DF6-F6BC-A0D6-4365-19BEC9C46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7BDC2-B65D-EEE1-3D15-16897D9264DE}"/>
              </a:ext>
            </a:extLst>
          </p:cNvPr>
          <p:cNvSpPr>
            <a:spLocks noGrp="1"/>
          </p:cNvSpPr>
          <p:nvPr>
            <p:ph type="title"/>
          </p:nvPr>
        </p:nvSpPr>
        <p:spPr/>
        <p:txBody>
          <a:bodyPr/>
          <a:lstStyle/>
          <a:p>
            <a:r>
              <a:rPr lang="en-IN" dirty="0"/>
              <a:t>Applied anatomy </a:t>
            </a:r>
          </a:p>
        </p:txBody>
      </p:sp>
      <p:sp>
        <p:nvSpPr>
          <p:cNvPr id="3" name="Content Placeholder 2">
            <a:extLst>
              <a:ext uri="{FF2B5EF4-FFF2-40B4-BE49-F238E27FC236}">
                <a16:creationId xmlns:a16="http://schemas.microsoft.com/office/drawing/2014/main" id="{02860CFF-4FFF-0770-AADE-318D6326D4B4}"/>
              </a:ext>
            </a:extLst>
          </p:cNvPr>
          <p:cNvSpPr>
            <a:spLocks noGrp="1"/>
          </p:cNvSpPr>
          <p:nvPr>
            <p:ph idx="1"/>
          </p:nvPr>
        </p:nvSpPr>
        <p:spPr/>
        <p:txBody>
          <a:bodyPr/>
          <a:lstStyle/>
          <a:p>
            <a:r>
              <a:rPr lang="en-IN" dirty="0"/>
              <a:t>Addison’s disease: This is due to decreased secretion of all adrenocortical hormones. This is manifested by the following features: Hypotension, Hyponatremia, </a:t>
            </a:r>
            <a:r>
              <a:rPr lang="en-IN" dirty="0" err="1"/>
              <a:t>Hyperkalemia</a:t>
            </a:r>
            <a:r>
              <a:rPr lang="en-IN" dirty="0"/>
              <a:t>, Metabolic acidosis (due to decreased aldosterone); </a:t>
            </a:r>
            <a:r>
              <a:rPr lang="en-IN" dirty="0" err="1"/>
              <a:t>Hypoglycemia</a:t>
            </a:r>
            <a:r>
              <a:rPr lang="en-IN" dirty="0"/>
              <a:t>, muscle weakness, weight loss, fatigue, lethargy, poor tolerance to stress, decreased RBC, platelets and neutrophil, increased eosinophil and lymphocyte (due to decreased cortisol) and </a:t>
            </a:r>
            <a:r>
              <a:rPr lang="en-IN" dirty="0" err="1"/>
              <a:t>anemia</a:t>
            </a:r>
            <a:r>
              <a:rPr lang="en-IN" dirty="0"/>
              <a:t>, decreased pubic and axillary hair (due to decreased androgen). Hyperpigmentation of skin &amp; mucous membrane occurs due to hypersecretion of MSH. (↓ cortisol -- negative feedback -- ↑ ACTH -- ↑ MSH)</a:t>
            </a:r>
          </a:p>
        </p:txBody>
      </p:sp>
    </p:spTree>
    <p:extLst>
      <p:ext uri="{BB962C8B-B14F-4D97-AF65-F5344CB8AC3E}">
        <p14:creationId xmlns:p14="http://schemas.microsoft.com/office/powerpoint/2010/main" val="1571054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1DB9-D6A2-6A74-D4A8-4860FA684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2C34B-B1CD-7506-109F-7042F618A19D}"/>
              </a:ext>
            </a:extLst>
          </p:cNvPr>
          <p:cNvSpPr>
            <a:spLocks noGrp="1"/>
          </p:cNvSpPr>
          <p:nvPr>
            <p:ph type="ctrTitle"/>
          </p:nvPr>
        </p:nvSpPr>
        <p:spPr/>
        <p:txBody>
          <a:bodyPr/>
          <a:lstStyle/>
          <a:p>
            <a:r>
              <a:rPr lang="en-IN" dirty="0"/>
              <a:t>Unit 8</a:t>
            </a:r>
          </a:p>
        </p:txBody>
      </p:sp>
      <p:sp>
        <p:nvSpPr>
          <p:cNvPr id="3" name="Subtitle 2">
            <a:extLst>
              <a:ext uri="{FF2B5EF4-FFF2-40B4-BE49-F238E27FC236}">
                <a16:creationId xmlns:a16="http://schemas.microsoft.com/office/drawing/2014/main" id="{D9E2C7FB-98DF-CC4A-8140-F46421673BA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74100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79C78-6DA2-4C05-B1CE-A60C2B7534E2}"/>
              </a:ext>
            </a:extLst>
          </p:cNvPr>
          <p:cNvSpPr>
            <a:spLocks noGrp="1"/>
          </p:cNvSpPr>
          <p:nvPr>
            <p:ph type="title"/>
          </p:nvPr>
        </p:nvSpPr>
        <p:spPr/>
        <p:txBody>
          <a:bodyPr/>
          <a:lstStyle/>
          <a:p>
            <a:r>
              <a:rPr lang="en-IN" dirty="0"/>
              <a:t>Adrenal medullary hormones</a:t>
            </a:r>
          </a:p>
        </p:txBody>
      </p:sp>
      <p:sp>
        <p:nvSpPr>
          <p:cNvPr id="3" name="Content Placeholder 2">
            <a:extLst>
              <a:ext uri="{FF2B5EF4-FFF2-40B4-BE49-F238E27FC236}">
                <a16:creationId xmlns:a16="http://schemas.microsoft.com/office/drawing/2014/main" id="{5A1857A8-B1B1-C96B-C735-ECD27A3A3C9D}"/>
              </a:ext>
            </a:extLst>
          </p:cNvPr>
          <p:cNvSpPr>
            <a:spLocks noGrp="1"/>
          </p:cNvSpPr>
          <p:nvPr>
            <p:ph idx="1"/>
          </p:nvPr>
        </p:nvSpPr>
        <p:spPr/>
        <p:txBody>
          <a:bodyPr/>
          <a:lstStyle/>
          <a:p>
            <a:r>
              <a:rPr lang="en-US" dirty="0"/>
              <a:t>Adrenal gland also called the suprarenal gland is a triangular or crescentic shaped endocrine organ that is located just above the kidney. Adrenal medulla forms the inner core of adrenal gland and is derived from neural crest.</a:t>
            </a:r>
            <a:endParaRPr lang="en-IN" dirty="0"/>
          </a:p>
        </p:txBody>
      </p:sp>
    </p:spTree>
    <p:extLst>
      <p:ext uri="{BB962C8B-B14F-4D97-AF65-F5344CB8AC3E}">
        <p14:creationId xmlns:p14="http://schemas.microsoft.com/office/powerpoint/2010/main" val="10248749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B5544-FF93-4799-7750-E048DB8246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1EF773-EE1E-FFBB-44CA-0E00AD437F4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D268893-AFB1-42DE-6EB1-99A72A32B53D}"/>
              </a:ext>
            </a:extLst>
          </p:cNvPr>
          <p:cNvPicPr>
            <a:picLocks noChangeAspect="1"/>
          </p:cNvPicPr>
          <p:nvPr/>
        </p:nvPicPr>
        <p:blipFill>
          <a:blip r:embed="rId2"/>
          <a:stretch>
            <a:fillRect/>
          </a:stretch>
        </p:blipFill>
        <p:spPr>
          <a:xfrm>
            <a:off x="1566475" y="0"/>
            <a:ext cx="9059048" cy="6858000"/>
          </a:xfrm>
          <a:prstGeom prst="rect">
            <a:avLst/>
          </a:prstGeom>
        </p:spPr>
      </p:pic>
    </p:spTree>
    <p:extLst>
      <p:ext uri="{BB962C8B-B14F-4D97-AF65-F5344CB8AC3E}">
        <p14:creationId xmlns:p14="http://schemas.microsoft.com/office/powerpoint/2010/main" val="39124353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22F9C-FE31-8708-FDB3-748D76D53DD7}"/>
              </a:ext>
            </a:extLst>
          </p:cNvPr>
          <p:cNvSpPr>
            <a:spLocks noGrp="1"/>
          </p:cNvSpPr>
          <p:nvPr>
            <p:ph type="title"/>
          </p:nvPr>
        </p:nvSpPr>
        <p:spPr/>
        <p:txBody>
          <a:bodyPr/>
          <a:lstStyle/>
          <a:p>
            <a:r>
              <a:rPr lang="en-IN"/>
              <a:t>Applied aspects</a:t>
            </a:r>
          </a:p>
        </p:txBody>
      </p:sp>
      <p:sp>
        <p:nvSpPr>
          <p:cNvPr id="3" name="Content Placeholder 2">
            <a:extLst>
              <a:ext uri="{FF2B5EF4-FFF2-40B4-BE49-F238E27FC236}">
                <a16:creationId xmlns:a16="http://schemas.microsoft.com/office/drawing/2014/main" id="{6EBFA62B-6C7D-976C-C0CE-26204E1D3A9C}"/>
              </a:ext>
            </a:extLst>
          </p:cNvPr>
          <p:cNvSpPr>
            <a:spLocks noGrp="1"/>
          </p:cNvSpPr>
          <p:nvPr>
            <p:ph idx="1"/>
          </p:nvPr>
        </p:nvSpPr>
        <p:spPr/>
        <p:txBody>
          <a:bodyPr/>
          <a:lstStyle/>
          <a:p>
            <a:r>
              <a:rPr lang="en-US" dirty="0"/>
              <a:t>Pheochromocytoma is a clinical condition which occurs due to a tumor in adrenal medulla leading to increased secretion of catecholamines. Clinical features include the following: headache, palpitation, anxiety, weight loss, hyperglycemia, hypertension, blurred vision and increased urinary excretion of catecholamines, </a:t>
            </a:r>
            <a:r>
              <a:rPr lang="en-US" dirty="0" err="1"/>
              <a:t>metanephrines</a:t>
            </a:r>
            <a:r>
              <a:rPr lang="en-US" dirty="0"/>
              <a:t> and VMA. Treatment is by removal of tumor and by administering α and β receptor adrenergic antagonists. Therapeutic usage of catecholamines include the following: Catecholamine agonist (amphetamine) acts as appetite suppressant. Catecholamine antagonists are used in the treatment of hypertension, hyperthyroidism and coronary artery disease</a:t>
            </a:r>
            <a:endParaRPr lang="en-IN" dirty="0"/>
          </a:p>
        </p:txBody>
      </p:sp>
    </p:spTree>
    <p:extLst>
      <p:ext uri="{BB962C8B-B14F-4D97-AF65-F5344CB8AC3E}">
        <p14:creationId xmlns:p14="http://schemas.microsoft.com/office/powerpoint/2010/main" val="5186559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52</TotalTime>
  <Words>1880</Words>
  <Application>Microsoft Office PowerPoint</Application>
  <PresentationFormat>Widescreen</PresentationFormat>
  <Paragraphs>207</Paragraphs>
  <Slides>57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Century Gothic</vt:lpstr>
      <vt:lpstr>Savon</vt:lpstr>
      <vt:lpstr>Endocrine physiology</vt:lpstr>
      <vt:lpstr>Unit 1</vt:lpstr>
      <vt:lpstr>PowerPoint Presentation</vt:lpstr>
      <vt:lpstr>PowerPoint Presentation</vt:lpstr>
      <vt:lpstr>PowerPoint Presentation</vt:lpstr>
      <vt:lpstr>Applied aspects</vt:lpstr>
      <vt:lpstr>Unit 2</vt:lpstr>
      <vt:lpstr>Posterior pituitary gland</vt:lpstr>
      <vt:lpstr>Hypothalamo–Hypophyseal Relationship</vt:lpstr>
      <vt:lpstr>PowerPoint Presentation</vt:lpstr>
      <vt:lpstr>PowerPoint Presentation</vt:lpstr>
      <vt:lpstr>PowerPoint Presentation</vt:lpstr>
      <vt:lpstr>Applied anatomy</vt:lpstr>
      <vt:lpstr>Unit 3</vt:lpstr>
      <vt:lpstr>PowerPoint Presentation</vt:lpstr>
      <vt:lpstr>Growth hormones</vt:lpstr>
      <vt:lpstr>Actions of Growth Hormone</vt:lpstr>
      <vt:lpstr>Direct Actions (GH-dependent) Occurs mainly on carbohydrate and lipid metabolism. </vt:lpstr>
      <vt:lpstr>Indirect Actions (via IGF-1 / Somatomedins) GH stimulates liver and other tissues to produce IGF-1. IGF-1 mediates growth-promoting effects, especially bone and soft tissue growth. </vt:lpstr>
      <vt:lpstr>Applied aspect</vt:lpstr>
      <vt:lpstr>Dwarfism </vt:lpstr>
      <vt:lpstr>Gigantism </vt:lpstr>
      <vt:lpstr>Acromegaly </vt:lpstr>
      <vt:lpstr>Acromegaly </vt:lpstr>
      <vt:lpstr>Unit 4</vt:lpstr>
      <vt:lpstr>Thyroid gland</vt:lpstr>
      <vt:lpstr>PowerPoint Presentation</vt:lpstr>
      <vt:lpstr>PowerPoint Presentation</vt:lpstr>
      <vt:lpstr>PowerPoint Presentation</vt:lpstr>
      <vt:lpstr>Applied aspect</vt:lpstr>
      <vt:lpstr>Cretinism </vt:lpstr>
      <vt:lpstr>Myxoedema </vt:lpstr>
      <vt:lpstr>Graves diseases</vt:lpstr>
      <vt:lpstr>Unit 5</vt:lpstr>
      <vt:lpstr>PowerPoint Presentation</vt:lpstr>
      <vt:lpstr>Applied aspects</vt:lpstr>
      <vt:lpstr>Applied aspects</vt:lpstr>
      <vt:lpstr>Applied aspects</vt:lpstr>
      <vt:lpstr>Unit 6</vt:lpstr>
      <vt:lpstr>Pancreatic hormones</vt:lpstr>
      <vt:lpstr>PowerPoint Presentation</vt:lpstr>
      <vt:lpstr>PowerPoint Presentation</vt:lpstr>
      <vt:lpstr>PowerPoint Presentation</vt:lpstr>
      <vt:lpstr>Unit 7</vt:lpstr>
      <vt:lpstr>Adrenal cortical hormone</vt:lpstr>
      <vt:lpstr>PowerPoint Presentation</vt:lpstr>
      <vt:lpstr>PowerPoint Presentation</vt:lpstr>
      <vt:lpstr>PowerPoint Presentation</vt:lpstr>
      <vt:lpstr>PowerPoint Presentation</vt:lpstr>
      <vt:lpstr>Applied anatomy </vt:lpstr>
      <vt:lpstr>Applied anatomy </vt:lpstr>
      <vt:lpstr>Applied anatomy </vt:lpstr>
      <vt:lpstr>Applied anatomy </vt:lpstr>
      <vt:lpstr>Unit 8</vt:lpstr>
      <vt:lpstr>Adrenal medullary hormones</vt:lpstr>
      <vt:lpstr>PowerPoint Presentation</vt:lpstr>
      <vt:lpstr>Applied aspects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2025-11-21T12:11:15Z</dcterms:created>
  <dcterms:modified xsi:type="dcterms:W3CDTF">2025-11-21T14:03:00Z</dcterms:modified>
</cp:coreProperties>
</file>