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5" r:id="rId20"/>
    <p:sldId id="274" r:id="rId21"/>
    <p:sldId id="277" r:id="rId22"/>
    <p:sldId id="284" r:id="rId23"/>
    <p:sldId id="278" r:id="rId24"/>
    <p:sldId id="279" r:id="rId25"/>
    <p:sldId id="280" r:id="rId26"/>
    <p:sldId id="281" r:id="rId27"/>
    <p:sldId id="283" r:id="rId28"/>
    <p:sldId id="276" r:id="rId29"/>
    <p:sldId id="285" r:id="rId30"/>
    <p:sldId id="286"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94660"/>
  </p:normalViewPr>
  <p:slideViewPr>
    <p:cSldViewPr snapToGrid="0">
      <p:cViewPr varScale="1">
        <p:scale>
          <a:sx n="78" d="100"/>
          <a:sy n="78" d="100"/>
        </p:scale>
        <p:origin x="14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FB9237C6-2B54-480D-AF52-305A2F7B4887}" type="datetimeFigureOut">
              <a:rPr lang="en-IN" smtClean="0"/>
              <a:t>21-11-2025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99883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240392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FB9237C6-2B54-480D-AF52-305A2F7B4887}" type="datetimeFigureOut">
              <a:rPr lang="en-IN" smtClean="0"/>
              <a:t>21-11-2025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4005801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1794483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3080708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2902875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168766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24CA6BFF-2DFE-4785-AB7C-997C4282C464}"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470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FB9237C6-2B54-480D-AF52-305A2F7B4887}" type="datetimeFigureOut">
              <a:rPr lang="en-IN" smtClean="0"/>
              <a:t>21-11-2025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1460599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134946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B9237C6-2B54-480D-AF52-305A2F7B4887}"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2811470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FB9237C6-2B54-480D-AF52-305A2F7B4887}" type="datetimeFigureOut">
              <a:rPr lang="en-IN" smtClean="0"/>
              <a:t>21-11-2025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24CA6BFF-2DFE-4785-AB7C-997C4282C464}" type="slidenum">
              <a:rPr lang="en-IN" smtClean="0"/>
              <a:t>‹#›</a:t>
            </a:fld>
            <a:endParaRPr lang="en-IN"/>
          </a:p>
        </p:txBody>
      </p:sp>
    </p:spTree>
    <p:extLst>
      <p:ext uri="{BB962C8B-B14F-4D97-AF65-F5344CB8AC3E}">
        <p14:creationId xmlns:p14="http://schemas.microsoft.com/office/powerpoint/2010/main" val="200555978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0461-81C6-A2FF-5A05-7D0C61C07612}"/>
              </a:ext>
            </a:extLst>
          </p:cNvPr>
          <p:cNvSpPr>
            <a:spLocks noGrp="1"/>
          </p:cNvSpPr>
          <p:nvPr>
            <p:ph type="ctrTitle"/>
          </p:nvPr>
        </p:nvSpPr>
        <p:spPr/>
        <p:txBody>
          <a:bodyPr/>
          <a:lstStyle/>
          <a:p>
            <a:r>
              <a:rPr lang="en-US" dirty="0"/>
              <a:t>Muscle physiology</a:t>
            </a:r>
            <a:endParaRPr lang="en-IN" dirty="0"/>
          </a:p>
        </p:txBody>
      </p:sp>
      <p:sp>
        <p:nvSpPr>
          <p:cNvPr id="3" name="Subtitle 2">
            <a:extLst>
              <a:ext uri="{FF2B5EF4-FFF2-40B4-BE49-F238E27FC236}">
                <a16:creationId xmlns:a16="http://schemas.microsoft.com/office/drawing/2014/main" id="{EDEB92EE-802E-2041-20A2-A207CAB6EDA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59180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32B5D-6AD4-85C1-0511-AD85BB2BF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79127-641F-5575-B36B-E9D0FEDEFB4A}"/>
              </a:ext>
            </a:extLst>
          </p:cNvPr>
          <p:cNvSpPr>
            <a:spLocks noGrp="1"/>
          </p:cNvSpPr>
          <p:nvPr>
            <p:ph type="ctrTitle"/>
          </p:nvPr>
        </p:nvSpPr>
        <p:spPr/>
        <p:txBody>
          <a:bodyPr/>
          <a:lstStyle/>
          <a:p>
            <a:r>
              <a:rPr lang="en-US" dirty="0"/>
              <a:t>Unit 1</a:t>
            </a:r>
            <a:endParaRPr lang="en-IN" dirty="0"/>
          </a:p>
        </p:txBody>
      </p:sp>
      <p:sp>
        <p:nvSpPr>
          <p:cNvPr id="3" name="Subtitle 2">
            <a:extLst>
              <a:ext uri="{FF2B5EF4-FFF2-40B4-BE49-F238E27FC236}">
                <a16:creationId xmlns:a16="http://schemas.microsoft.com/office/drawing/2014/main" id="{D195C9F8-9464-3CDB-18F2-6BB36A33A75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83566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94BDD-BE9D-F6A9-F42D-75F253A2B4D6}"/>
              </a:ext>
            </a:extLst>
          </p:cNvPr>
          <p:cNvSpPr>
            <a:spLocks noGrp="1"/>
          </p:cNvSpPr>
          <p:nvPr>
            <p:ph type="title"/>
          </p:nvPr>
        </p:nvSpPr>
        <p:spPr/>
        <p:txBody>
          <a:bodyPr/>
          <a:lstStyle/>
          <a:p>
            <a:r>
              <a:rPr lang="en-US" dirty="0"/>
              <a:t>Muscle </a:t>
            </a:r>
            <a:endParaRPr lang="en-IN" dirty="0"/>
          </a:p>
        </p:txBody>
      </p:sp>
      <p:sp>
        <p:nvSpPr>
          <p:cNvPr id="3" name="Content Placeholder 2">
            <a:extLst>
              <a:ext uri="{FF2B5EF4-FFF2-40B4-BE49-F238E27FC236}">
                <a16:creationId xmlns:a16="http://schemas.microsoft.com/office/drawing/2014/main" id="{A517FCAE-22D1-DAE4-D993-57C1A45C851E}"/>
              </a:ext>
            </a:extLst>
          </p:cNvPr>
          <p:cNvSpPr>
            <a:spLocks noGrp="1"/>
          </p:cNvSpPr>
          <p:nvPr>
            <p:ph idx="1"/>
          </p:nvPr>
        </p:nvSpPr>
        <p:spPr/>
        <p:txBody>
          <a:bodyPr/>
          <a:lstStyle/>
          <a:p>
            <a:r>
              <a:rPr lang="en-US" dirty="0"/>
              <a:t>Muscle is derived from the Latin word ‘musculus’ meaning mouse, because of its shape.</a:t>
            </a:r>
          </a:p>
          <a:p>
            <a:r>
              <a:rPr lang="en-US" dirty="0"/>
              <a:t> The primary function of the muscle is for locomotion or movement. </a:t>
            </a:r>
          </a:p>
          <a:p>
            <a:r>
              <a:rPr lang="en-US" dirty="0"/>
              <a:t>It also helps in maintaining posture, movement of internal organs (such as movement of food through the gastrointestinal tract), in speech, respiration and in pumping blood out of the heart.</a:t>
            </a:r>
            <a:endParaRPr lang="en-IN" dirty="0"/>
          </a:p>
        </p:txBody>
      </p:sp>
    </p:spTree>
    <p:extLst>
      <p:ext uri="{BB962C8B-B14F-4D97-AF65-F5344CB8AC3E}">
        <p14:creationId xmlns:p14="http://schemas.microsoft.com/office/powerpoint/2010/main" val="2330458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06F50-974A-EBEA-9ECC-134EDA122D4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B1037DD-C8A2-CB86-159A-2F4192A2A272}"/>
              </a:ext>
            </a:extLst>
          </p:cNvPr>
          <p:cNvPicPr>
            <a:picLocks noGrp="1" noChangeAspect="1"/>
          </p:cNvPicPr>
          <p:nvPr>
            <p:ph idx="1"/>
          </p:nvPr>
        </p:nvPicPr>
        <p:blipFill>
          <a:blip r:embed="rId2"/>
          <a:stretch>
            <a:fillRect/>
          </a:stretch>
        </p:blipFill>
        <p:spPr>
          <a:xfrm>
            <a:off x="1675783" y="2745396"/>
            <a:ext cx="8840434" cy="2648320"/>
          </a:xfrm>
          <a:prstGeom prst="rect">
            <a:avLst/>
          </a:prstGeom>
        </p:spPr>
      </p:pic>
    </p:spTree>
    <p:extLst>
      <p:ext uri="{BB962C8B-B14F-4D97-AF65-F5344CB8AC3E}">
        <p14:creationId xmlns:p14="http://schemas.microsoft.com/office/powerpoint/2010/main" val="1411303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3C10D-CDDA-DF4B-816F-E4859FB45F7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4E7D7D3-E775-DC4A-B3BA-9FDE580399AB}"/>
              </a:ext>
            </a:extLst>
          </p:cNvPr>
          <p:cNvPicPr>
            <a:picLocks noGrp="1" noChangeAspect="1"/>
          </p:cNvPicPr>
          <p:nvPr>
            <p:ph idx="1"/>
          </p:nvPr>
        </p:nvPicPr>
        <p:blipFill>
          <a:blip r:embed="rId2"/>
          <a:stretch>
            <a:fillRect/>
          </a:stretch>
        </p:blipFill>
        <p:spPr>
          <a:xfrm>
            <a:off x="2910324" y="642594"/>
            <a:ext cx="6838359" cy="5393081"/>
          </a:xfrm>
          <a:prstGeom prst="rect">
            <a:avLst/>
          </a:prstGeom>
        </p:spPr>
      </p:pic>
    </p:spTree>
    <p:extLst>
      <p:ext uri="{BB962C8B-B14F-4D97-AF65-F5344CB8AC3E}">
        <p14:creationId xmlns:p14="http://schemas.microsoft.com/office/powerpoint/2010/main" val="3025985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4F52-33BD-BF44-8F2C-85C1E4B8D5F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7635335-546F-06D5-06F9-092404F3ADCF}"/>
              </a:ext>
            </a:extLst>
          </p:cNvPr>
          <p:cNvPicPr>
            <a:picLocks noGrp="1" noChangeAspect="1"/>
          </p:cNvPicPr>
          <p:nvPr>
            <p:ph idx="1"/>
          </p:nvPr>
        </p:nvPicPr>
        <p:blipFill>
          <a:blip r:embed="rId2"/>
          <a:stretch>
            <a:fillRect/>
          </a:stretch>
        </p:blipFill>
        <p:spPr>
          <a:xfrm>
            <a:off x="3075427" y="642594"/>
            <a:ext cx="6476611" cy="5572812"/>
          </a:xfrm>
          <a:prstGeom prst="rect">
            <a:avLst/>
          </a:prstGeom>
        </p:spPr>
      </p:pic>
    </p:spTree>
    <p:extLst>
      <p:ext uri="{BB962C8B-B14F-4D97-AF65-F5344CB8AC3E}">
        <p14:creationId xmlns:p14="http://schemas.microsoft.com/office/powerpoint/2010/main" val="1990058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E759-5598-1E85-FBF5-166594353B4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E45C7B1-52E2-91C6-3E18-A58943F15F0D}"/>
              </a:ext>
            </a:extLst>
          </p:cNvPr>
          <p:cNvPicPr>
            <a:picLocks noGrp="1" noChangeAspect="1"/>
          </p:cNvPicPr>
          <p:nvPr>
            <p:ph idx="1"/>
          </p:nvPr>
        </p:nvPicPr>
        <p:blipFill>
          <a:blip r:embed="rId2"/>
          <a:stretch>
            <a:fillRect/>
          </a:stretch>
        </p:blipFill>
        <p:spPr>
          <a:xfrm>
            <a:off x="3016400" y="642594"/>
            <a:ext cx="6511057" cy="5393081"/>
          </a:xfrm>
          <a:prstGeom prst="rect">
            <a:avLst/>
          </a:prstGeom>
        </p:spPr>
      </p:pic>
    </p:spTree>
    <p:extLst>
      <p:ext uri="{BB962C8B-B14F-4D97-AF65-F5344CB8AC3E}">
        <p14:creationId xmlns:p14="http://schemas.microsoft.com/office/powerpoint/2010/main" val="2585010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09C1-0D96-A4A4-3613-9BF89DEE8130}"/>
              </a:ext>
            </a:extLst>
          </p:cNvPr>
          <p:cNvSpPr>
            <a:spLocks noGrp="1"/>
          </p:cNvSpPr>
          <p:nvPr>
            <p:ph type="title"/>
          </p:nvPr>
        </p:nvSpPr>
        <p:spPr/>
        <p:txBody>
          <a:bodyPr/>
          <a:lstStyle/>
          <a:p>
            <a:endParaRPr lang="en-IN"/>
          </a:p>
        </p:txBody>
      </p:sp>
      <p:pic>
        <p:nvPicPr>
          <p:cNvPr id="1026" name="Picture 2">
            <a:extLst>
              <a:ext uri="{FF2B5EF4-FFF2-40B4-BE49-F238E27FC236}">
                <a16:creationId xmlns:a16="http://schemas.microsoft.com/office/drawing/2014/main" id="{8AA91105-DB6A-66DE-F835-ECE1D025AE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0909" y="642594"/>
            <a:ext cx="7821736" cy="539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550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2626-C8ED-8387-4687-C7B084334EA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6E3C3D7-793B-811F-7A85-86D39125736B}"/>
              </a:ext>
            </a:extLst>
          </p:cNvPr>
          <p:cNvPicPr>
            <a:picLocks noGrp="1" noChangeAspect="1"/>
          </p:cNvPicPr>
          <p:nvPr>
            <p:ph idx="1"/>
          </p:nvPr>
        </p:nvPicPr>
        <p:blipFill>
          <a:blip r:embed="rId2"/>
          <a:stretch>
            <a:fillRect/>
          </a:stretch>
        </p:blipFill>
        <p:spPr>
          <a:xfrm>
            <a:off x="2137541" y="642594"/>
            <a:ext cx="7601309" cy="5070254"/>
          </a:xfrm>
          <a:prstGeom prst="rect">
            <a:avLst/>
          </a:prstGeom>
        </p:spPr>
      </p:pic>
    </p:spTree>
    <p:extLst>
      <p:ext uri="{BB962C8B-B14F-4D97-AF65-F5344CB8AC3E}">
        <p14:creationId xmlns:p14="http://schemas.microsoft.com/office/powerpoint/2010/main" val="2914224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35B87-57EF-0CCA-1F76-7BBE691880B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FC00DB6-67B0-6CA1-F894-FD221AC9E195}"/>
              </a:ext>
            </a:extLst>
          </p:cNvPr>
          <p:cNvPicPr>
            <a:picLocks noGrp="1" noChangeAspect="1"/>
          </p:cNvPicPr>
          <p:nvPr>
            <p:ph idx="1"/>
          </p:nvPr>
        </p:nvPicPr>
        <p:blipFill>
          <a:blip r:embed="rId2"/>
          <a:stretch>
            <a:fillRect/>
          </a:stretch>
        </p:blipFill>
        <p:spPr>
          <a:xfrm>
            <a:off x="2859546" y="233516"/>
            <a:ext cx="6472907" cy="6390968"/>
          </a:xfrm>
          <a:prstGeom prst="rect">
            <a:avLst/>
          </a:prstGeom>
        </p:spPr>
      </p:pic>
    </p:spTree>
    <p:extLst>
      <p:ext uri="{BB962C8B-B14F-4D97-AF65-F5344CB8AC3E}">
        <p14:creationId xmlns:p14="http://schemas.microsoft.com/office/powerpoint/2010/main" val="2017065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2EFE6-D02B-E98E-774E-C2110CB1AEDD}"/>
              </a:ext>
            </a:extLst>
          </p:cNvPr>
          <p:cNvSpPr>
            <a:spLocks noGrp="1"/>
          </p:cNvSpPr>
          <p:nvPr>
            <p:ph type="title"/>
          </p:nvPr>
        </p:nvSpPr>
        <p:spPr/>
        <p:txBody>
          <a:bodyPr/>
          <a:lstStyle/>
          <a:p>
            <a:endParaRPr lang="en-IN"/>
          </a:p>
        </p:txBody>
      </p:sp>
      <p:pic>
        <p:nvPicPr>
          <p:cNvPr id="2050" name="Picture 2">
            <a:extLst>
              <a:ext uri="{FF2B5EF4-FFF2-40B4-BE49-F238E27FC236}">
                <a16:creationId xmlns:a16="http://schemas.microsoft.com/office/drawing/2014/main" id="{09DB36BE-4EFC-4A30-662D-CF2F3B5C68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6379" y="835742"/>
            <a:ext cx="6939241" cy="5199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71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B2C2-A1C3-DD31-4D7A-EEC0F23CF5E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4D89FEE-0CA4-74FA-54EF-62A22F854B8C}"/>
              </a:ext>
            </a:extLst>
          </p:cNvPr>
          <p:cNvPicPr>
            <a:picLocks noGrp="1" noChangeAspect="1"/>
          </p:cNvPicPr>
          <p:nvPr>
            <p:ph idx="1"/>
          </p:nvPr>
        </p:nvPicPr>
        <p:blipFill>
          <a:blip r:embed="rId2"/>
          <a:stretch>
            <a:fillRect/>
          </a:stretch>
        </p:blipFill>
        <p:spPr>
          <a:xfrm>
            <a:off x="3167691" y="179439"/>
            <a:ext cx="6035303" cy="6499122"/>
          </a:xfrm>
          <a:prstGeom prst="rect">
            <a:avLst/>
          </a:prstGeom>
        </p:spPr>
      </p:pic>
    </p:spTree>
    <p:extLst>
      <p:ext uri="{BB962C8B-B14F-4D97-AF65-F5344CB8AC3E}">
        <p14:creationId xmlns:p14="http://schemas.microsoft.com/office/powerpoint/2010/main" val="3219640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09E6B-0FD3-CB01-4928-96D9E41D97A9}"/>
              </a:ext>
            </a:extLst>
          </p:cNvPr>
          <p:cNvSpPr>
            <a:spLocks noGrp="1"/>
          </p:cNvSpPr>
          <p:nvPr>
            <p:ph type="title"/>
          </p:nvPr>
        </p:nvSpPr>
        <p:spPr/>
        <p:txBody>
          <a:bodyPr/>
          <a:lstStyle/>
          <a:p>
            <a:r>
              <a:rPr lang="en-US" dirty="0"/>
              <a:t>Rigor mortis </a:t>
            </a:r>
            <a:endParaRPr lang="en-IN" dirty="0"/>
          </a:p>
        </p:txBody>
      </p:sp>
      <p:sp>
        <p:nvSpPr>
          <p:cNvPr id="3" name="Content Placeholder 2">
            <a:extLst>
              <a:ext uri="{FF2B5EF4-FFF2-40B4-BE49-F238E27FC236}">
                <a16:creationId xmlns:a16="http://schemas.microsoft.com/office/drawing/2014/main" id="{9AC3C9FA-2691-806A-E227-16E080B33B40}"/>
              </a:ext>
            </a:extLst>
          </p:cNvPr>
          <p:cNvSpPr>
            <a:spLocks noGrp="1"/>
          </p:cNvSpPr>
          <p:nvPr>
            <p:ph idx="1"/>
          </p:nvPr>
        </p:nvSpPr>
        <p:spPr/>
        <p:txBody>
          <a:bodyPr>
            <a:normAutofit fontScale="92500" lnSpcReduction="10000"/>
          </a:bodyPr>
          <a:lstStyle/>
          <a:p>
            <a:r>
              <a:rPr lang="en-US" dirty="0"/>
              <a:t>Rigor mortis is the </a:t>
            </a:r>
            <a:r>
              <a:rPr lang="en-US" b="1" dirty="0"/>
              <a:t>post-mortem stiffening of muscles</a:t>
            </a:r>
            <a:r>
              <a:rPr lang="en-US" dirty="0"/>
              <a:t> after death due to </a:t>
            </a:r>
            <a:r>
              <a:rPr lang="en-US" b="1" dirty="0"/>
              <a:t>loss of ATP and formation of permanent actin–myosin cross-links</a:t>
            </a:r>
            <a:r>
              <a:rPr lang="en-US" dirty="0"/>
              <a:t>.</a:t>
            </a:r>
          </a:p>
          <a:p>
            <a:r>
              <a:rPr lang="en-US" dirty="0"/>
              <a:t>It is one of the most important </a:t>
            </a:r>
            <a:r>
              <a:rPr lang="en-US" b="1" dirty="0"/>
              <a:t>post-mortem changes used in forensic medicine to estimate time since death</a:t>
            </a:r>
            <a:r>
              <a:rPr lang="en-US" dirty="0"/>
              <a:t>.</a:t>
            </a:r>
          </a:p>
          <a:p>
            <a:pPr marL="0" indent="0">
              <a:buNone/>
            </a:pPr>
            <a:r>
              <a:rPr lang="en-IN" b="1" dirty="0"/>
              <a:t>Cause / Mechanism</a:t>
            </a:r>
          </a:p>
          <a:p>
            <a:pPr marL="0" indent="0">
              <a:buNone/>
            </a:pPr>
            <a:r>
              <a:rPr lang="en-IN" dirty="0"/>
              <a:t>After death:</a:t>
            </a:r>
          </a:p>
          <a:p>
            <a:r>
              <a:rPr lang="en-IN" b="1" dirty="0"/>
              <a:t>Circulation stops → no oxygen supply</a:t>
            </a:r>
            <a:endParaRPr lang="en-IN" dirty="0"/>
          </a:p>
          <a:p>
            <a:r>
              <a:rPr lang="en-IN" b="1" dirty="0"/>
              <a:t>ATP (energy) production stops</a:t>
            </a:r>
            <a:endParaRPr lang="en-IN" dirty="0"/>
          </a:p>
          <a:p>
            <a:r>
              <a:rPr lang="en-IN" b="1" dirty="0"/>
              <a:t>Calcium accumulates in muscles</a:t>
            </a:r>
            <a:endParaRPr lang="en-IN" dirty="0"/>
          </a:p>
          <a:p>
            <a:r>
              <a:rPr lang="en-IN" b="1" dirty="0"/>
              <a:t>Actin and myosin filaments form permanent bonds</a:t>
            </a:r>
            <a:endParaRPr lang="en-IN" dirty="0"/>
          </a:p>
          <a:p>
            <a:r>
              <a:rPr lang="en-IN" b="1" dirty="0"/>
              <a:t>Muscles become stiff and hard → Rigor mortis</a:t>
            </a:r>
            <a:endParaRPr lang="en-IN" dirty="0"/>
          </a:p>
          <a:p>
            <a:pPr marL="0" indent="0">
              <a:buNone/>
            </a:pPr>
            <a:r>
              <a:rPr lang="en-IN" dirty="0"/>
              <a:t>Rigor persists until muscle proteins break down during </a:t>
            </a:r>
            <a:r>
              <a:rPr lang="en-IN" b="1" dirty="0"/>
              <a:t>decomposition</a:t>
            </a:r>
            <a:r>
              <a:rPr lang="en-IN" dirty="0"/>
              <a:t>.</a:t>
            </a:r>
          </a:p>
        </p:txBody>
      </p:sp>
    </p:spTree>
    <p:extLst>
      <p:ext uri="{BB962C8B-B14F-4D97-AF65-F5344CB8AC3E}">
        <p14:creationId xmlns:p14="http://schemas.microsoft.com/office/powerpoint/2010/main" val="3112225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ABAB-C47A-2A9B-5963-78E4169F9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10E99-9424-A83B-43AA-A39FACEA3443}"/>
              </a:ext>
            </a:extLst>
          </p:cNvPr>
          <p:cNvSpPr>
            <a:spLocks noGrp="1"/>
          </p:cNvSpPr>
          <p:nvPr>
            <p:ph type="ctrTitle"/>
          </p:nvPr>
        </p:nvSpPr>
        <p:spPr/>
        <p:txBody>
          <a:bodyPr/>
          <a:lstStyle/>
          <a:p>
            <a:r>
              <a:rPr lang="en-US" dirty="0"/>
              <a:t>Unit 2</a:t>
            </a:r>
            <a:endParaRPr lang="en-IN" dirty="0"/>
          </a:p>
        </p:txBody>
      </p:sp>
      <p:sp>
        <p:nvSpPr>
          <p:cNvPr id="3" name="Subtitle 2">
            <a:extLst>
              <a:ext uri="{FF2B5EF4-FFF2-40B4-BE49-F238E27FC236}">
                <a16:creationId xmlns:a16="http://schemas.microsoft.com/office/drawing/2014/main" id="{6F8E8776-36A2-A687-A1F6-79FBF36D784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69565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82D62-E10F-5919-F38C-3F790422AA3C}"/>
              </a:ext>
            </a:extLst>
          </p:cNvPr>
          <p:cNvSpPr>
            <a:spLocks noGrp="1"/>
          </p:cNvSpPr>
          <p:nvPr>
            <p:ph type="title"/>
          </p:nvPr>
        </p:nvSpPr>
        <p:spPr/>
        <p:txBody>
          <a:bodyPr/>
          <a:lstStyle/>
          <a:p>
            <a:r>
              <a:rPr lang="en-US" dirty="0"/>
              <a:t>Skeletal muscle</a:t>
            </a:r>
            <a:endParaRPr lang="en-IN" dirty="0"/>
          </a:p>
        </p:txBody>
      </p:sp>
      <p:sp>
        <p:nvSpPr>
          <p:cNvPr id="3" name="Content Placeholder 2">
            <a:extLst>
              <a:ext uri="{FF2B5EF4-FFF2-40B4-BE49-F238E27FC236}">
                <a16:creationId xmlns:a16="http://schemas.microsoft.com/office/drawing/2014/main" id="{BA7CB996-40B5-A9C0-C6B3-A797EF03B3D8}"/>
              </a:ext>
            </a:extLst>
          </p:cNvPr>
          <p:cNvSpPr>
            <a:spLocks noGrp="1"/>
          </p:cNvSpPr>
          <p:nvPr>
            <p:ph idx="1"/>
          </p:nvPr>
        </p:nvSpPr>
        <p:spPr/>
        <p:txBody>
          <a:bodyPr>
            <a:normAutofit fontScale="92500" lnSpcReduction="10000"/>
          </a:bodyPr>
          <a:lstStyle/>
          <a:p>
            <a:r>
              <a:rPr lang="en-US" dirty="0"/>
              <a:t>Skeletal muscle is a type of </a:t>
            </a:r>
            <a:r>
              <a:rPr lang="en-US" b="1" dirty="0"/>
              <a:t>striated muscle</a:t>
            </a:r>
            <a:r>
              <a:rPr lang="en-US" dirty="0"/>
              <a:t> that is usually </a:t>
            </a:r>
            <a:r>
              <a:rPr lang="en-US" b="1" dirty="0"/>
              <a:t>attached to bones</a:t>
            </a:r>
            <a:r>
              <a:rPr lang="en-US" dirty="0"/>
              <a:t> by tendons. It is </a:t>
            </a:r>
            <a:r>
              <a:rPr lang="en-US" b="1" dirty="0"/>
              <a:t>voluntary</a:t>
            </a:r>
            <a:r>
              <a:rPr lang="en-US" dirty="0"/>
              <a:t>, meaning its contraction is consciously controlled. Skeletal muscles are responsible for </a:t>
            </a:r>
            <a:r>
              <a:rPr lang="en-US" b="1" dirty="0"/>
              <a:t>movement of the skeleton</a:t>
            </a:r>
            <a:r>
              <a:rPr lang="en-US" dirty="0"/>
              <a:t>, </a:t>
            </a:r>
            <a:r>
              <a:rPr lang="en-US" b="1" dirty="0"/>
              <a:t>maintenance of posture</a:t>
            </a:r>
            <a:r>
              <a:rPr lang="en-US" dirty="0"/>
              <a:t>, and </a:t>
            </a:r>
            <a:r>
              <a:rPr lang="en-US" b="1" dirty="0"/>
              <a:t>heat production</a:t>
            </a:r>
            <a:r>
              <a:rPr lang="en-US" dirty="0"/>
              <a:t> during activity.</a:t>
            </a:r>
          </a:p>
          <a:p>
            <a:pPr marL="0" indent="0">
              <a:buNone/>
            </a:pPr>
            <a:r>
              <a:rPr lang="en-US" b="1" dirty="0"/>
              <a:t>Structure</a:t>
            </a:r>
          </a:p>
          <a:p>
            <a:r>
              <a:rPr lang="en-US" b="1" dirty="0"/>
              <a:t>Muscle Fiber (Cell)</a:t>
            </a:r>
            <a:r>
              <a:rPr lang="en-US" dirty="0"/>
              <a:t>: Long, cylindrical, multinucleated cells.</a:t>
            </a:r>
          </a:p>
          <a:p>
            <a:r>
              <a:rPr lang="en-US" b="1" dirty="0"/>
              <a:t>Myofibrils</a:t>
            </a:r>
            <a:r>
              <a:rPr lang="en-US" dirty="0"/>
              <a:t>: Cylindrical structures within fibers made of </a:t>
            </a:r>
            <a:r>
              <a:rPr lang="en-US" b="1" dirty="0"/>
              <a:t>sarcomeres</a:t>
            </a:r>
            <a:r>
              <a:rPr lang="en-US" dirty="0"/>
              <a:t> (contractile units).</a:t>
            </a:r>
          </a:p>
          <a:p>
            <a:r>
              <a:rPr lang="en-US" b="1" dirty="0"/>
              <a:t>Sarcomere</a:t>
            </a:r>
            <a:r>
              <a:rPr lang="en-US" dirty="0"/>
              <a:t>: Basic functional unit, composed of </a:t>
            </a:r>
            <a:r>
              <a:rPr lang="en-US" b="1" dirty="0"/>
              <a:t>actin (thin filament)</a:t>
            </a:r>
            <a:r>
              <a:rPr lang="en-US" dirty="0"/>
              <a:t> and </a:t>
            </a:r>
            <a:r>
              <a:rPr lang="en-US" b="1" dirty="0"/>
              <a:t>myosin (thick filament)</a:t>
            </a:r>
            <a:r>
              <a:rPr lang="en-US" dirty="0"/>
              <a:t>, giving the </a:t>
            </a:r>
            <a:r>
              <a:rPr lang="en-US" b="1" dirty="0"/>
              <a:t>striated appearance</a:t>
            </a:r>
            <a:r>
              <a:rPr lang="en-US" dirty="0"/>
              <a:t>.</a:t>
            </a:r>
          </a:p>
          <a:p>
            <a:r>
              <a:rPr lang="en-US" b="1" dirty="0"/>
              <a:t>Connective Tissue Layers</a:t>
            </a:r>
            <a:r>
              <a:rPr lang="en-US" dirty="0"/>
              <a:t>:</a:t>
            </a:r>
          </a:p>
          <a:p>
            <a:pPr lvl="1"/>
            <a:r>
              <a:rPr lang="en-US" b="1" dirty="0"/>
              <a:t>Endomysium</a:t>
            </a:r>
            <a:r>
              <a:rPr lang="en-US" dirty="0"/>
              <a:t> – surrounds each fiber.</a:t>
            </a:r>
          </a:p>
          <a:p>
            <a:pPr lvl="1"/>
            <a:r>
              <a:rPr lang="en-US" b="1" dirty="0"/>
              <a:t>Perimysium</a:t>
            </a:r>
            <a:r>
              <a:rPr lang="en-US" dirty="0"/>
              <a:t> – surrounds a bundle of fibers (fascicle).</a:t>
            </a:r>
          </a:p>
          <a:p>
            <a:pPr lvl="1"/>
            <a:r>
              <a:rPr lang="en-US" b="1" dirty="0"/>
              <a:t>Epimysium</a:t>
            </a:r>
            <a:r>
              <a:rPr lang="en-US" dirty="0"/>
              <a:t> – surrounds the whole muscle.</a:t>
            </a:r>
          </a:p>
          <a:p>
            <a:r>
              <a:rPr lang="en-US" b="1" dirty="0"/>
              <a:t>Tendons</a:t>
            </a:r>
            <a:r>
              <a:rPr lang="en-US" dirty="0"/>
              <a:t>: Connect muscle to bone.</a:t>
            </a:r>
          </a:p>
        </p:txBody>
      </p:sp>
    </p:spTree>
    <p:extLst>
      <p:ext uri="{BB962C8B-B14F-4D97-AF65-F5344CB8AC3E}">
        <p14:creationId xmlns:p14="http://schemas.microsoft.com/office/powerpoint/2010/main" val="2056316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9843-2FBC-DFF8-2745-CEA743A2F2DD}"/>
              </a:ext>
            </a:extLst>
          </p:cNvPr>
          <p:cNvSpPr>
            <a:spLocks noGrp="1"/>
          </p:cNvSpPr>
          <p:nvPr>
            <p:ph type="title"/>
          </p:nvPr>
        </p:nvSpPr>
        <p:spPr/>
        <p:txBody>
          <a:bodyPr>
            <a:normAutofit/>
          </a:bodyPr>
          <a:lstStyle/>
          <a:p>
            <a:r>
              <a:rPr lang="en-US" b="1" dirty="0"/>
              <a:t>Properties of Skeletal Muscle</a:t>
            </a:r>
            <a:endParaRPr lang="en-IN" dirty="0"/>
          </a:p>
        </p:txBody>
      </p:sp>
      <p:sp>
        <p:nvSpPr>
          <p:cNvPr id="3" name="Content Placeholder 2">
            <a:extLst>
              <a:ext uri="{FF2B5EF4-FFF2-40B4-BE49-F238E27FC236}">
                <a16:creationId xmlns:a16="http://schemas.microsoft.com/office/drawing/2014/main" id="{89F4C82F-4911-4796-BC18-2BFB106AAC76}"/>
              </a:ext>
            </a:extLst>
          </p:cNvPr>
          <p:cNvSpPr>
            <a:spLocks noGrp="1"/>
          </p:cNvSpPr>
          <p:nvPr>
            <p:ph idx="1"/>
          </p:nvPr>
        </p:nvSpPr>
        <p:spPr/>
        <p:txBody>
          <a:bodyPr>
            <a:normAutofit fontScale="70000" lnSpcReduction="20000"/>
          </a:bodyPr>
          <a:lstStyle/>
          <a:p>
            <a:r>
              <a:rPr lang="en-US" dirty="0"/>
              <a:t>Skeletal muscles exhibit several key physiological properties:</a:t>
            </a:r>
          </a:p>
          <a:p>
            <a:r>
              <a:rPr lang="en-US" b="1" dirty="0"/>
              <a:t>Excitability (Irritability)</a:t>
            </a:r>
            <a:endParaRPr lang="en-US" dirty="0"/>
          </a:p>
          <a:p>
            <a:pPr lvl="1"/>
            <a:r>
              <a:rPr lang="en-US" dirty="0"/>
              <a:t>Ability to </a:t>
            </a:r>
            <a:r>
              <a:rPr lang="en-US" b="1" dirty="0"/>
              <a:t>respond to a stimulus</a:t>
            </a:r>
            <a:r>
              <a:rPr lang="en-US" dirty="0"/>
              <a:t>, usually a nerve impulse.</a:t>
            </a:r>
          </a:p>
          <a:p>
            <a:pPr lvl="1"/>
            <a:r>
              <a:rPr lang="en-US" dirty="0"/>
              <a:t>Muscle fiber generates </a:t>
            </a:r>
            <a:r>
              <a:rPr lang="en-US" b="1" dirty="0"/>
              <a:t>action potential</a:t>
            </a:r>
            <a:r>
              <a:rPr lang="en-US" dirty="0"/>
              <a:t> in response.</a:t>
            </a:r>
          </a:p>
          <a:p>
            <a:r>
              <a:rPr lang="en-US" b="1" dirty="0"/>
              <a:t>Contractility</a:t>
            </a:r>
            <a:endParaRPr lang="en-US" dirty="0"/>
          </a:p>
          <a:p>
            <a:pPr lvl="1"/>
            <a:r>
              <a:rPr lang="en-US" dirty="0"/>
              <a:t>Ability to </a:t>
            </a:r>
            <a:r>
              <a:rPr lang="en-US" b="1" dirty="0"/>
              <a:t>shorten forcibly</a:t>
            </a:r>
            <a:r>
              <a:rPr lang="en-US" dirty="0"/>
              <a:t> when stimulated.</a:t>
            </a:r>
          </a:p>
          <a:p>
            <a:pPr lvl="1"/>
            <a:r>
              <a:rPr lang="en-US" dirty="0"/>
              <a:t>Unique to muscle tissue among body tissues.</a:t>
            </a:r>
          </a:p>
          <a:p>
            <a:r>
              <a:rPr lang="en-US" b="1" dirty="0"/>
              <a:t>Extensibility</a:t>
            </a:r>
            <a:endParaRPr lang="en-US" dirty="0"/>
          </a:p>
          <a:p>
            <a:pPr lvl="1"/>
            <a:r>
              <a:rPr lang="en-US" dirty="0"/>
              <a:t>Ability to </a:t>
            </a:r>
            <a:r>
              <a:rPr lang="en-US" b="1" dirty="0"/>
              <a:t>stretch</a:t>
            </a:r>
            <a:r>
              <a:rPr lang="en-US" dirty="0"/>
              <a:t> without damage.</a:t>
            </a:r>
          </a:p>
          <a:p>
            <a:pPr lvl="1"/>
            <a:r>
              <a:rPr lang="en-US" dirty="0"/>
              <a:t>Allows muscles to lengthen when opposing muscles contract.</a:t>
            </a:r>
          </a:p>
          <a:p>
            <a:r>
              <a:rPr lang="en-US" b="1" dirty="0"/>
              <a:t>Elasticity</a:t>
            </a:r>
            <a:endParaRPr lang="en-US" dirty="0"/>
          </a:p>
          <a:p>
            <a:pPr lvl="1"/>
            <a:r>
              <a:rPr lang="en-US" dirty="0"/>
              <a:t>Ability to </a:t>
            </a:r>
            <a:r>
              <a:rPr lang="en-US" b="1" dirty="0"/>
              <a:t>return to original length</a:t>
            </a:r>
            <a:r>
              <a:rPr lang="en-US" dirty="0"/>
              <a:t> after stretching or contraction.</a:t>
            </a:r>
          </a:p>
          <a:p>
            <a:pPr lvl="1"/>
            <a:r>
              <a:rPr lang="en-US" dirty="0"/>
              <a:t>Important for maintaining posture and smooth movements.</a:t>
            </a:r>
          </a:p>
          <a:p>
            <a:r>
              <a:rPr lang="en-US" b="1" dirty="0"/>
              <a:t>Conductivity</a:t>
            </a:r>
            <a:endParaRPr lang="en-US" dirty="0"/>
          </a:p>
          <a:p>
            <a:pPr lvl="1"/>
            <a:r>
              <a:rPr lang="en-US" dirty="0"/>
              <a:t>Ability to </a:t>
            </a:r>
            <a:r>
              <a:rPr lang="en-US" b="1" dirty="0"/>
              <a:t>propagate an action potential</a:t>
            </a:r>
            <a:r>
              <a:rPr lang="en-US" dirty="0"/>
              <a:t> along the muscle fiber membrane (sarcolemma).</a:t>
            </a:r>
          </a:p>
          <a:p>
            <a:r>
              <a:rPr lang="en-US" b="1" dirty="0"/>
              <a:t>Tonicity (Muscle Tone)</a:t>
            </a:r>
            <a:endParaRPr lang="en-US" dirty="0"/>
          </a:p>
          <a:p>
            <a:pPr lvl="1"/>
            <a:r>
              <a:rPr lang="en-US" dirty="0"/>
              <a:t>Even at rest, some fibers are </a:t>
            </a:r>
            <a:r>
              <a:rPr lang="en-US" b="1" dirty="0"/>
              <a:t>slightly contracted</a:t>
            </a:r>
            <a:r>
              <a:rPr lang="en-US" dirty="0"/>
              <a:t>, maintaining posture and readiness for action.</a:t>
            </a:r>
          </a:p>
          <a:p>
            <a:endParaRPr lang="en-IN" dirty="0"/>
          </a:p>
        </p:txBody>
      </p:sp>
    </p:spTree>
    <p:extLst>
      <p:ext uri="{BB962C8B-B14F-4D97-AF65-F5344CB8AC3E}">
        <p14:creationId xmlns:p14="http://schemas.microsoft.com/office/powerpoint/2010/main" val="474308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E707-5442-39F6-EF53-25F84AD5EFB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41403FC-3990-0B9E-F15C-08ADCEC472B1}"/>
              </a:ext>
            </a:extLst>
          </p:cNvPr>
          <p:cNvPicPr>
            <a:picLocks noGrp="1" noChangeAspect="1"/>
          </p:cNvPicPr>
          <p:nvPr>
            <p:ph idx="1"/>
          </p:nvPr>
        </p:nvPicPr>
        <p:blipFill>
          <a:blip r:embed="rId2"/>
          <a:stretch>
            <a:fillRect/>
          </a:stretch>
        </p:blipFill>
        <p:spPr>
          <a:xfrm>
            <a:off x="2808683" y="642594"/>
            <a:ext cx="6305820" cy="5393081"/>
          </a:xfrm>
          <a:prstGeom prst="rect">
            <a:avLst/>
          </a:prstGeom>
        </p:spPr>
      </p:pic>
    </p:spTree>
    <p:extLst>
      <p:ext uri="{BB962C8B-B14F-4D97-AF65-F5344CB8AC3E}">
        <p14:creationId xmlns:p14="http://schemas.microsoft.com/office/powerpoint/2010/main" val="1729334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2147-DF75-27E4-1B5F-FE4F11E25DD1}"/>
              </a:ext>
            </a:extLst>
          </p:cNvPr>
          <p:cNvSpPr>
            <a:spLocks noGrp="1"/>
          </p:cNvSpPr>
          <p:nvPr>
            <p:ph type="title"/>
          </p:nvPr>
        </p:nvSpPr>
        <p:spPr/>
        <p:txBody>
          <a:bodyPr>
            <a:normAutofit fontScale="90000"/>
          </a:bodyPr>
          <a:lstStyle/>
          <a:p>
            <a:r>
              <a:rPr lang="en-US" dirty="0"/>
              <a:t>Thermal changes during muscular contraction</a:t>
            </a:r>
            <a:endParaRPr lang="en-IN" dirty="0"/>
          </a:p>
        </p:txBody>
      </p:sp>
      <p:sp>
        <p:nvSpPr>
          <p:cNvPr id="3" name="Content Placeholder 2">
            <a:extLst>
              <a:ext uri="{FF2B5EF4-FFF2-40B4-BE49-F238E27FC236}">
                <a16:creationId xmlns:a16="http://schemas.microsoft.com/office/drawing/2014/main" id="{0DC3D2FC-4692-E5EC-2375-BCAA9878FC0D}"/>
              </a:ext>
            </a:extLst>
          </p:cNvPr>
          <p:cNvSpPr>
            <a:spLocks noGrp="1"/>
          </p:cNvSpPr>
          <p:nvPr>
            <p:ph idx="1"/>
          </p:nvPr>
        </p:nvSpPr>
        <p:spPr/>
        <p:txBody>
          <a:bodyPr/>
          <a:lstStyle/>
          <a:p>
            <a:r>
              <a:rPr lang="en-US" dirty="0"/>
              <a:t>Resting heat is the heat produced at rest. This is due to the basal metabolic process in the muscle. Initial heat: is the heat that is produced during contraction. It is of two types: (</a:t>
            </a:r>
            <a:r>
              <a:rPr lang="en-US" dirty="0" err="1"/>
              <a:t>i</a:t>
            </a:r>
            <a:r>
              <a:rPr lang="en-US" dirty="0"/>
              <a:t>) Heat of activation is the heat that is liberated when calcium is released before the actual shortening. (ii) Heat of shortening is the heat that is liberated during contraction. This is due to various structural changes that take place during contraction. Heat of relaxation is the heat that is liberated during relaxation. Recovery heat is the heat that is produced after the end of muscular activity. It is due to chemical processes involved in re synthesis</a:t>
            </a:r>
            <a:endParaRPr lang="en-IN" dirty="0"/>
          </a:p>
        </p:txBody>
      </p:sp>
    </p:spTree>
    <p:extLst>
      <p:ext uri="{BB962C8B-B14F-4D97-AF65-F5344CB8AC3E}">
        <p14:creationId xmlns:p14="http://schemas.microsoft.com/office/powerpoint/2010/main" val="3051847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1E3E-7BE8-BFF0-12B9-9FF326D39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A82F4-8EC0-265F-B845-22EAAEB942EF}"/>
              </a:ext>
            </a:extLst>
          </p:cNvPr>
          <p:cNvSpPr>
            <a:spLocks noGrp="1"/>
          </p:cNvSpPr>
          <p:nvPr>
            <p:ph type="ctrTitle"/>
          </p:nvPr>
        </p:nvSpPr>
        <p:spPr/>
        <p:txBody>
          <a:bodyPr/>
          <a:lstStyle/>
          <a:p>
            <a:r>
              <a:rPr lang="en-US" dirty="0"/>
              <a:t>Unit 3</a:t>
            </a:r>
            <a:endParaRPr lang="en-IN" dirty="0"/>
          </a:p>
        </p:txBody>
      </p:sp>
      <p:sp>
        <p:nvSpPr>
          <p:cNvPr id="3" name="Subtitle 2">
            <a:extLst>
              <a:ext uri="{FF2B5EF4-FFF2-40B4-BE49-F238E27FC236}">
                <a16:creationId xmlns:a16="http://schemas.microsoft.com/office/drawing/2014/main" id="{ADB84A15-4D1A-C689-00E6-296AB13F13C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55261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0945-69C2-6ECD-A60A-43F26D5E6ADB}"/>
              </a:ext>
            </a:extLst>
          </p:cNvPr>
          <p:cNvSpPr>
            <a:spLocks noGrp="1"/>
          </p:cNvSpPr>
          <p:nvPr>
            <p:ph type="title"/>
          </p:nvPr>
        </p:nvSpPr>
        <p:spPr/>
        <p:txBody>
          <a:bodyPr/>
          <a:lstStyle/>
          <a:p>
            <a:r>
              <a:rPr lang="en-US" dirty="0"/>
              <a:t>Neuromuscular junction</a:t>
            </a:r>
            <a:endParaRPr lang="en-IN" dirty="0"/>
          </a:p>
        </p:txBody>
      </p:sp>
      <p:sp>
        <p:nvSpPr>
          <p:cNvPr id="3" name="Content Placeholder 2">
            <a:extLst>
              <a:ext uri="{FF2B5EF4-FFF2-40B4-BE49-F238E27FC236}">
                <a16:creationId xmlns:a16="http://schemas.microsoft.com/office/drawing/2014/main" id="{EF1DE241-6EA5-9C29-8FBE-590CE5402F1C}"/>
              </a:ext>
            </a:extLst>
          </p:cNvPr>
          <p:cNvSpPr>
            <a:spLocks noGrp="1"/>
          </p:cNvSpPr>
          <p:nvPr>
            <p:ph idx="1"/>
          </p:nvPr>
        </p:nvSpPr>
        <p:spPr>
          <a:xfrm>
            <a:off x="1066800" y="2103120"/>
            <a:ext cx="5029200" cy="3931920"/>
          </a:xfrm>
        </p:spPr>
        <p:txBody>
          <a:bodyPr/>
          <a:lstStyle/>
          <a:p>
            <a:r>
              <a:rPr lang="en-US" dirty="0"/>
              <a:t>The </a:t>
            </a:r>
            <a:r>
              <a:rPr lang="en-US" b="1" dirty="0"/>
              <a:t>neuromuscular junction</a:t>
            </a:r>
            <a:r>
              <a:rPr lang="en-US" dirty="0"/>
              <a:t> is a </a:t>
            </a:r>
            <a:r>
              <a:rPr lang="en-US" b="1" dirty="0"/>
              <a:t>specialized synapse</a:t>
            </a:r>
            <a:r>
              <a:rPr lang="en-US" dirty="0"/>
              <a:t> between a </a:t>
            </a:r>
            <a:r>
              <a:rPr lang="en-US" b="1" dirty="0"/>
              <a:t>motor neuron</a:t>
            </a:r>
            <a:r>
              <a:rPr lang="en-US" dirty="0"/>
              <a:t> and a </a:t>
            </a:r>
            <a:r>
              <a:rPr lang="en-US" b="1" dirty="0"/>
              <a:t>skeletal muscle fiber</a:t>
            </a:r>
            <a:r>
              <a:rPr lang="en-US" dirty="0"/>
              <a:t>. It is the site where </a:t>
            </a:r>
            <a:r>
              <a:rPr lang="en-US" b="1" dirty="0"/>
              <a:t>nerve impulses are transmitted to the muscle</a:t>
            </a:r>
            <a:r>
              <a:rPr lang="en-US" dirty="0"/>
              <a:t>, initiating contraction.</a:t>
            </a:r>
          </a:p>
          <a:p>
            <a:endParaRPr lang="en-IN" dirty="0"/>
          </a:p>
        </p:txBody>
      </p:sp>
      <p:pic>
        <p:nvPicPr>
          <p:cNvPr id="5" name="Picture 4">
            <a:extLst>
              <a:ext uri="{FF2B5EF4-FFF2-40B4-BE49-F238E27FC236}">
                <a16:creationId xmlns:a16="http://schemas.microsoft.com/office/drawing/2014/main" id="{CF59D63D-ACE6-431D-C3CF-0E27C4FF1A7F}"/>
              </a:ext>
            </a:extLst>
          </p:cNvPr>
          <p:cNvPicPr>
            <a:picLocks noChangeAspect="1"/>
          </p:cNvPicPr>
          <p:nvPr/>
        </p:nvPicPr>
        <p:blipFill>
          <a:blip r:embed="rId2"/>
          <a:stretch>
            <a:fillRect/>
          </a:stretch>
        </p:blipFill>
        <p:spPr>
          <a:xfrm>
            <a:off x="7423356" y="1973355"/>
            <a:ext cx="2979174" cy="3936382"/>
          </a:xfrm>
          <a:prstGeom prst="rect">
            <a:avLst/>
          </a:prstGeom>
        </p:spPr>
      </p:pic>
    </p:spTree>
    <p:extLst>
      <p:ext uri="{BB962C8B-B14F-4D97-AF65-F5344CB8AC3E}">
        <p14:creationId xmlns:p14="http://schemas.microsoft.com/office/powerpoint/2010/main" val="2728766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9B9C-BA20-5085-F797-69F4407F7290}"/>
              </a:ext>
            </a:extLst>
          </p:cNvPr>
          <p:cNvSpPr>
            <a:spLocks noGrp="1"/>
          </p:cNvSpPr>
          <p:nvPr>
            <p:ph type="title"/>
          </p:nvPr>
        </p:nvSpPr>
        <p:spPr/>
        <p:txBody>
          <a:bodyPr/>
          <a:lstStyle/>
          <a:p>
            <a:r>
              <a:rPr lang="en-US" dirty="0"/>
              <a:t>Structure of NMJ</a:t>
            </a:r>
            <a:endParaRPr lang="en-IN" dirty="0"/>
          </a:p>
        </p:txBody>
      </p:sp>
      <p:sp>
        <p:nvSpPr>
          <p:cNvPr id="3" name="Content Placeholder 2">
            <a:extLst>
              <a:ext uri="{FF2B5EF4-FFF2-40B4-BE49-F238E27FC236}">
                <a16:creationId xmlns:a16="http://schemas.microsoft.com/office/drawing/2014/main" id="{FFDA2BC1-AA3C-8B91-4ADE-8FA099190C77}"/>
              </a:ext>
            </a:extLst>
          </p:cNvPr>
          <p:cNvSpPr>
            <a:spLocks noGrp="1"/>
          </p:cNvSpPr>
          <p:nvPr>
            <p:ph idx="1"/>
          </p:nvPr>
        </p:nvSpPr>
        <p:spPr/>
        <p:txBody>
          <a:bodyPr/>
          <a:lstStyle/>
          <a:p>
            <a:r>
              <a:rPr lang="en-IN" b="1" dirty="0"/>
              <a:t>Presynaptic Terminal (Motor Neuron Ending)</a:t>
            </a:r>
            <a:endParaRPr lang="en-IN" dirty="0"/>
          </a:p>
          <a:p>
            <a:pPr lvl="1"/>
            <a:r>
              <a:rPr lang="en-IN" dirty="0"/>
              <a:t>Contains </a:t>
            </a:r>
            <a:r>
              <a:rPr lang="en-IN" b="1" dirty="0"/>
              <a:t>synaptic vesicles</a:t>
            </a:r>
            <a:r>
              <a:rPr lang="en-IN" dirty="0"/>
              <a:t> filled with the neurotransmitter </a:t>
            </a:r>
            <a:r>
              <a:rPr lang="en-IN" b="1" dirty="0"/>
              <a:t>acetylcholine (</a:t>
            </a:r>
            <a:r>
              <a:rPr lang="en-IN" b="1" dirty="0" err="1"/>
              <a:t>ACh</a:t>
            </a:r>
            <a:r>
              <a:rPr lang="en-IN" b="1" dirty="0"/>
              <a:t>)</a:t>
            </a:r>
            <a:r>
              <a:rPr lang="en-IN" dirty="0"/>
              <a:t>.</a:t>
            </a:r>
          </a:p>
          <a:p>
            <a:pPr lvl="1"/>
            <a:r>
              <a:rPr lang="en-IN" dirty="0"/>
              <a:t>Has </a:t>
            </a:r>
            <a:r>
              <a:rPr lang="en-IN" b="1" dirty="0"/>
              <a:t>voltage-gated calcium channels</a:t>
            </a:r>
            <a:r>
              <a:rPr lang="en-IN" dirty="0"/>
              <a:t> for calcium influx.</a:t>
            </a:r>
          </a:p>
          <a:p>
            <a:r>
              <a:rPr lang="en-IN" b="1" dirty="0"/>
              <a:t>Synaptic Cleft</a:t>
            </a:r>
            <a:endParaRPr lang="en-IN" dirty="0"/>
          </a:p>
          <a:p>
            <a:pPr lvl="1"/>
            <a:r>
              <a:rPr lang="en-IN" dirty="0"/>
              <a:t>A small gap (~50 nm) between neuron and muscle </a:t>
            </a:r>
            <a:r>
              <a:rPr lang="en-IN" dirty="0" err="1"/>
              <a:t>fiber</a:t>
            </a:r>
            <a:r>
              <a:rPr lang="en-IN" dirty="0"/>
              <a:t>.</a:t>
            </a:r>
          </a:p>
          <a:p>
            <a:pPr lvl="1"/>
            <a:r>
              <a:rPr lang="en-IN" dirty="0"/>
              <a:t>Contains </a:t>
            </a:r>
            <a:r>
              <a:rPr lang="en-IN" b="1" dirty="0"/>
              <a:t>acetylcholinesterase (</a:t>
            </a:r>
            <a:r>
              <a:rPr lang="en-IN" b="1" dirty="0" err="1"/>
              <a:t>AChE</a:t>
            </a:r>
            <a:r>
              <a:rPr lang="en-IN" b="1" dirty="0"/>
              <a:t>)</a:t>
            </a:r>
            <a:r>
              <a:rPr lang="en-IN" dirty="0"/>
              <a:t>, which breaks down </a:t>
            </a:r>
            <a:r>
              <a:rPr lang="en-IN" dirty="0" err="1"/>
              <a:t>ACh</a:t>
            </a:r>
            <a:r>
              <a:rPr lang="en-IN" dirty="0"/>
              <a:t> to terminate the signal.</a:t>
            </a:r>
          </a:p>
          <a:p>
            <a:r>
              <a:rPr lang="en-IN" b="1" dirty="0"/>
              <a:t>Postsynaptic Membrane (Motor End Plate)</a:t>
            </a:r>
            <a:endParaRPr lang="en-IN" dirty="0"/>
          </a:p>
          <a:p>
            <a:pPr lvl="1"/>
            <a:r>
              <a:rPr lang="en-IN" dirty="0"/>
              <a:t>Specialized part of the </a:t>
            </a:r>
            <a:r>
              <a:rPr lang="en-IN" b="1" dirty="0"/>
              <a:t>muscle </a:t>
            </a:r>
            <a:r>
              <a:rPr lang="en-IN" b="1" dirty="0" err="1"/>
              <a:t>fiber</a:t>
            </a:r>
            <a:r>
              <a:rPr lang="en-IN" b="1" dirty="0"/>
              <a:t> membrane (sarcolemma)</a:t>
            </a:r>
            <a:r>
              <a:rPr lang="en-IN" dirty="0"/>
              <a:t>.</a:t>
            </a:r>
          </a:p>
          <a:p>
            <a:pPr lvl="1"/>
            <a:r>
              <a:rPr lang="en-IN" dirty="0"/>
              <a:t>Contains </a:t>
            </a:r>
            <a:r>
              <a:rPr lang="en-IN" b="1" dirty="0"/>
              <a:t>nicotinic acetylcholine receptors (</a:t>
            </a:r>
            <a:r>
              <a:rPr lang="en-IN" b="1" dirty="0" err="1"/>
              <a:t>nAChR</a:t>
            </a:r>
            <a:r>
              <a:rPr lang="en-IN" b="1" dirty="0"/>
              <a:t>)</a:t>
            </a:r>
            <a:r>
              <a:rPr lang="en-IN" dirty="0"/>
              <a:t>.</a:t>
            </a:r>
          </a:p>
          <a:p>
            <a:pPr lvl="1"/>
            <a:r>
              <a:rPr lang="en-IN" dirty="0"/>
              <a:t>Has </a:t>
            </a:r>
            <a:r>
              <a:rPr lang="en-IN" b="1" dirty="0"/>
              <a:t>junctional folds</a:t>
            </a:r>
            <a:r>
              <a:rPr lang="en-IN" dirty="0"/>
              <a:t> to increase surface area for receptor density.</a:t>
            </a:r>
          </a:p>
        </p:txBody>
      </p:sp>
    </p:spTree>
    <p:extLst>
      <p:ext uri="{BB962C8B-B14F-4D97-AF65-F5344CB8AC3E}">
        <p14:creationId xmlns:p14="http://schemas.microsoft.com/office/powerpoint/2010/main" val="998462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6C16-A1AF-DD09-BF07-1CC9A470C9ED}"/>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6A15A5B0-447E-1BED-50F7-589AB4CB4ECA}"/>
              </a:ext>
            </a:extLst>
          </p:cNvPr>
          <p:cNvPicPr>
            <a:picLocks noChangeAspect="1"/>
          </p:cNvPicPr>
          <p:nvPr/>
        </p:nvPicPr>
        <p:blipFill>
          <a:blip r:embed="rId2"/>
          <a:stretch>
            <a:fillRect/>
          </a:stretch>
        </p:blipFill>
        <p:spPr>
          <a:xfrm>
            <a:off x="2040653" y="642594"/>
            <a:ext cx="8110694" cy="5496948"/>
          </a:xfrm>
          <a:prstGeom prst="rect">
            <a:avLst/>
          </a:prstGeom>
        </p:spPr>
      </p:pic>
    </p:spTree>
    <p:extLst>
      <p:ext uri="{BB962C8B-B14F-4D97-AF65-F5344CB8AC3E}">
        <p14:creationId xmlns:p14="http://schemas.microsoft.com/office/powerpoint/2010/main" val="3086175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2014-3809-FFE7-3295-83FCBCB491A7}"/>
              </a:ext>
            </a:extLst>
          </p:cNvPr>
          <p:cNvSpPr>
            <a:spLocks noGrp="1"/>
          </p:cNvSpPr>
          <p:nvPr>
            <p:ph type="title"/>
          </p:nvPr>
        </p:nvSpPr>
        <p:spPr/>
        <p:txBody>
          <a:bodyPr>
            <a:normAutofit/>
          </a:bodyPr>
          <a:lstStyle/>
          <a:p>
            <a:r>
              <a:rPr lang="en-IN" b="1" dirty="0"/>
              <a:t>Mechanism of Transmission</a:t>
            </a:r>
            <a:endParaRPr lang="en-IN" dirty="0"/>
          </a:p>
        </p:txBody>
      </p:sp>
      <p:sp>
        <p:nvSpPr>
          <p:cNvPr id="3" name="Content Placeholder 2">
            <a:extLst>
              <a:ext uri="{FF2B5EF4-FFF2-40B4-BE49-F238E27FC236}">
                <a16:creationId xmlns:a16="http://schemas.microsoft.com/office/drawing/2014/main" id="{43295F38-3FDB-2472-F089-9FE4E366E74E}"/>
              </a:ext>
            </a:extLst>
          </p:cNvPr>
          <p:cNvSpPr>
            <a:spLocks noGrp="1"/>
          </p:cNvSpPr>
          <p:nvPr>
            <p:ph idx="1"/>
          </p:nvPr>
        </p:nvSpPr>
        <p:spPr/>
        <p:txBody>
          <a:bodyPr/>
          <a:lstStyle/>
          <a:p>
            <a:r>
              <a:rPr lang="en-IN" b="1" dirty="0"/>
              <a:t>Action Potential Arrival</a:t>
            </a:r>
            <a:r>
              <a:rPr lang="en-IN" dirty="0"/>
              <a:t>: Nerve impulse reaches presynaptic terminal.</a:t>
            </a:r>
          </a:p>
          <a:p>
            <a:r>
              <a:rPr lang="en-IN" b="1" dirty="0"/>
              <a:t>Calcium Influx</a:t>
            </a:r>
            <a:r>
              <a:rPr lang="en-IN" dirty="0"/>
              <a:t>: Voltage-gated calcium channels open; Ca²⁺ enters the terminal.</a:t>
            </a:r>
          </a:p>
          <a:p>
            <a:r>
              <a:rPr lang="en-IN" b="1" dirty="0" err="1"/>
              <a:t>ACh</a:t>
            </a:r>
            <a:r>
              <a:rPr lang="en-IN" b="1" dirty="0"/>
              <a:t> Release</a:t>
            </a:r>
            <a:r>
              <a:rPr lang="en-IN" dirty="0"/>
              <a:t>: Calcium triggers </a:t>
            </a:r>
            <a:r>
              <a:rPr lang="en-IN" b="1" dirty="0"/>
              <a:t>exocytosis of acetylcholine</a:t>
            </a:r>
            <a:r>
              <a:rPr lang="en-IN" dirty="0"/>
              <a:t> into the synaptic cleft.</a:t>
            </a:r>
          </a:p>
          <a:p>
            <a:r>
              <a:rPr lang="en-IN" b="1" dirty="0"/>
              <a:t>Receptor Binding</a:t>
            </a:r>
            <a:r>
              <a:rPr lang="en-IN" dirty="0"/>
              <a:t>: </a:t>
            </a:r>
            <a:r>
              <a:rPr lang="en-IN" dirty="0" err="1"/>
              <a:t>ACh</a:t>
            </a:r>
            <a:r>
              <a:rPr lang="en-IN" dirty="0"/>
              <a:t> binds to </a:t>
            </a:r>
            <a:r>
              <a:rPr lang="en-IN" b="1" dirty="0"/>
              <a:t>nicotinic receptors</a:t>
            </a:r>
            <a:r>
              <a:rPr lang="en-IN" dirty="0"/>
              <a:t> on the motor end plate.</a:t>
            </a:r>
          </a:p>
          <a:p>
            <a:r>
              <a:rPr lang="en-IN" b="1" dirty="0"/>
              <a:t>Depolarization</a:t>
            </a:r>
            <a:r>
              <a:rPr lang="en-IN" dirty="0"/>
              <a:t>: Sodium ions (Na⁺) enter the muscle </a:t>
            </a:r>
            <a:r>
              <a:rPr lang="en-IN" dirty="0" err="1"/>
              <a:t>fiber</a:t>
            </a:r>
            <a:r>
              <a:rPr lang="en-IN" dirty="0"/>
              <a:t> → </a:t>
            </a:r>
            <a:r>
              <a:rPr lang="en-IN" b="1" dirty="0"/>
              <a:t>end-plate potential</a:t>
            </a:r>
            <a:r>
              <a:rPr lang="en-IN" dirty="0"/>
              <a:t>.</a:t>
            </a:r>
          </a:p>
          <a:p>
            <a:r>
              <a:rPr lang="en-IN" b="1" dirty="0"/>
              <a:t>Muscle Action Potential</a:t>
            </a:r>
            <a:r>
              <a:rPr lang="en-IN" dirty="0"/>
              <a:t>: If threshold is reached, an action potential propagates along the sarcolemma → muscle contraction.</a:t>
            </a:r>
          </a:p>
          <a:p>
            <a:r>
              <a:rPr lang="en-IN" b="1" dirty="0" err="1"/>
              <a:t>ACh</a:t>
            </a:r>
            <a:r>
              <a:rPr lang="en-IN" b="1" dirty="0"/>
              <a:t> Breakdown</a:t>
            </a:r>
            <a:r>
              <a:rPr lang="en-IN" dirty="0"/>
              <a:t>: Acetylcholinesterase in synaptic cleft </a:t>
            </a:r>
            <a:r>
              <a:rPr lang="en-IN" dirty="0" err="1"/>
              <a:t>hydrolyzes</a:t>
            </a:r>
            <a:r>
              <a:rPr lang="en-IN" dirty="0"/>
              <a:t> </a:t>
            </a:r>
            <a:r>
              <a:rPr lang="en-IN" dirty="0" err="1"/>
              <a:t>ACh</a:t>
            </a:r>
            <a:r>
              <a:rPr lang="en-IN" dirty="0"/>
              <a:t> → stops stimulation.</a:t>
            </a:r>
          </a:p>
          <a:p>
            <a:endParaRPr lang="en-IN" dirty="0"/>
          </a:p>
        </p:txBody>
      </p:sp>
    </p:spTree>
    <p:extLst>
      <p:ext uri="{BB962C8B-B14F-4D97-AF65-F5344CB8AC3E}">
        <p14:creationId xmlns:p14="http://schemas.microsoft.com/office/powerpoint/2010/main" val="244193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AC8CD-04D3-D015-B839-062C527E55C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A53FB9D-635F-87D9-906F-80FE905B27E9}"/>
              </a:ext>
            </a:extLst>
          </p:cNvPr>
          <p:cNvPicPr>
            <a:picLocks noGrp="1" noChangeAspect="1"/>
          </p:cNvPicPr>
          <p:nvPr>
            <p:ph idx="1"/>
          </p:nvPr>
        </p:nvPicPr>
        <p:blipFill>
          <a:blip r:embed="rId2"/>
          <a:stretch>
            <a:fillRect/>
          </a:stretch>
        </p:blipFill>
        <p:spPr>
          <a:xfrm>
            <a:off x="2424118" y="498987"/>
            <a:ext cx="7186914" cy="5860026"/>
          </a:xfrm>
          <a:prstGeom prst="rect">
            <a:avLst/>
          </a:prstGeom>
        </p:spPr>
      </p:pic>
    </p:spTree>
    <p:extLst>
      <p:ext uri="{BB962C8B-B14F-4D97-AF65-F5344CB8AC3E}">
        <p14:creationId xmlns:p14="http://schemas.microsoft.com/office/powerpoint/2010/main" val="2663250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C263E-769C-A30E-AFC2-BB3099844486}"/>
              </a:ext>
            </a:extLst>
          </p:cNvPr>
          <p:cNvSpPr>
            <a:spLocks noGrp="1"/>
          </p:cNvSpPr>
          <p:nvPr>
            <p:ph type="title"/>
          </p:nvPr>
        </p:nvSpPr>
        <p:spPr/>
        <p:txBody>
          <a:bodyPr>
            <a:normAutofit fontScale="90000"/>
          </a:bodyPr>
          <a:lstStyle/>
          <a:p>
            <a:r>
              <a:rPr lang="en-IN" dirty="0"/>
              <a:t>Drugs acting at neuromuscular junction</a:t>
            </a:r>
          </a:p>
        </p:txBody>
      </p:sp>
      <p:sp>
        <p:nvSpPr>
          <p:cNvPr id="3" name="Content Placeholder 2">
            <a:extLst>
              <a:ext uri="{FF2B5EF4-FFF2-40B4-BE49-F238E27FC236}">
                <a16:creationId xmlns:a16="http://schemas.microsoft.com/office/drawing/2014/main" id="{E966BE39-CFF9-2811-ECC9-16E8EA48D387}"/>
              </a:ext>
            </a:extLst>
          </p:cNvPr>
          <p:cNvSpPr>
            <a:spLocks noGrp="1"/>
          </p:cNvSpPr>
          <p:nvPr>
            <p:ph idx="1"/>
          </p:nvPr>
        </p:nvSpPr>
        <p:spPr/>
        <p:txBody>
          <a:bodyPr/>
          <a:lstStyle/>
          <a:p>
            <a:r>
              <a:rPr lang="en-IN" dirty="0"/>
              <a:t>Drugs acting at neuromuscular junction may either block the neuromuscular transmission or stimulate transmission. Botulinum toxin, a bacterial toxin (Clostridium botulinum) inhibits synthesis and/ or release acetylcholine and leads to paralysis of the muscle. Tubocurarine and Gallamine combine with acetylcholine receptors reversibly by competitive inhibition. </a:t>
            </a:r>
            <a:r>
              <a:rPr lang="el-GR" dirty="0"/>
              <a:t>α </a:t>
            </a:r>
            <a:r>
              <a:rPr lang="en-IN" dirty="0"/>
              <a:t>Bungarotoxin (venom of krait) binds with acetylcholine receptors irreversibly by substrate competition and causes paralysis. Succinylcholine and decamethonium block transmission by persistent depolarization of the postsynaptic membrane. Neostigmine and physostigmine are anticholinesterases which prevent destruction of acetylcholine by cholinesterase. These drugs have temporary action and are reversible. Organophosphorus compounds namely di isopropyl fluorophosphate, tetraethyl pyrophosphate which are used in insecticides inactivate acetylcholinesterase in an irreversible manner and hence proves to be fatal by causing depolarising block.</a:t>
            </a:r>
          </a:p>
        </p:txBody>
      </p:sp>
    </p:spTree>
    <p:extLst>
      <p:ext uri="{BB962C8B-B14F-4D97-AF65-F5344CB8AC3E}">
        <p14:creationId xmlns:p14="http://schemas.microsoft.com/office/powerpoint/2010/main" val="747506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5601-C7D6-1A81-1EF2-429B7751F536}"/>
              </a:ext>
            </a:extLst>
          </p:cNvPr>
          <p:cNvSpPr>
            <a:spLocks noGrp="1"/>
          </p:cNvSpPr>
          <p:nvPr>
            <p:ph type="title"/>
          </p:nvPr>
        </p:nvSpPr>
        <p:spPr/>
        <p:txBody>
          <a:bodyPr/>
          <a:lstStyle/>
          <a:p>
            <a:r>
              <a:rPr lang="en-US" dirty="0"/>
              <a:t>Myasthenia gravis</a:t>
            </a:r>
            <a:endParaRPr lang="en-IN" dirty="0"/>
          </a:p>
        </p:txBody>
      </p:sp>
      <p:sp>
        <p:nvSpPr>
          <p:cNvPr id="3" name="Content Placeholder 2">
            <a:extLst>
              <a:ext uri="{FF2B5EF4-FFF2-40B4-BE49-F238E27FC236}">
                <a16:creationId xmlns:a16="http://schemas.microsoft.com/office/drawing/2014/main" id="{1B9871BA-C022-0AEF-17DE-D61EF502B75D}"/>
              </a:ext>
            </a:extLst>
          </p:cNvPr>
          <p:cNvSpPr>
            <a:spLocks noGrp="1"/>
          </p:cNvSpPr>
          <p:nvPr>
            <p:ph idx="1"/>
          </p:nvPr>
        </p:nvSpPr>
        <p:spPr/>
        <p:txBody>
          <a:bodyPr/>
          <a:lstStyle/>
          <a:p>
            <a:r>
              <a:rPr lang="en-US" dirty="0"/>
              <a:t>An </a:t>
            </a:r>
            <a:r>
              <a:rPr lang="en-US" b="1" dirty="0"/>
              <a:t>autoimmune disorder</a:t>
            </a:r>
            <a:r>
              <a:rPr lang="en-US" dirty="0"/>
              <a:t> of the </a:t>
            </a:r>
            <a:r>
              <a:rPr lang="en-US" b="1" dirty="0"/>
              <a:t>neuromuscular junction</a:t>
            </a:r>
            <a:r>
              <a:rPr lang="en-US" dirty="0"/>
              <a:t>, characterized by </a:t>
            </a:r>
            <a:r>
              <a:rPr lang="en-US" b="1" dirty="0"/>
              <a:t>weakness and rapid fatigue of voluntary muscles</a:t>
            </a:r>
            <a:r>
              <a:rPr lang="en-US" dirty="0"/>
              <a:t> due to </a:t>
            </a:r>
            <a:r>
              <a:rPr lang="en-US" b="1" dirty="0"/>
              <a:t>antibodies against acetylcholine (</a:t>
            </a:r>
            <a:r>
              <a:rPr lang="en-US" b="1" dirty="0" err="1"/>
              <a:t>ACh</a:t>
            </a:r>
            <a:r>
              <a:rPr lang="en-US" b="1" dirty="0"/>
              <a:t>) receptors</a:t>
            </a:r>
            <a:r>
              <a:rPr lang="en-US" dirty="0"/>
              <a:t> or associated proteins at the motor end plate.</a:t>
            </a:r>
          </a:p>
          <a:p>
            <a:pPr marL="0" indent="0">
              <a:buNone/>
            </a:pPr>
            <a:r>
              <a:rPr lang="en-IN" b="1" dirty="0"/>
              <a:t>Pathophysiology</a:t>
            </a:r>
          </a:p>
          <a:p>
            <a:r>
              <a:rPr lang="en-IN" b="1" dirty="0"/>
              <a:t>Autoantibodies</a:t>
            </a:r>
            <a:r>
              <a:rPr lang="en-IN" dirty="0"/>
              <a:t> target:</a:t>
            </a:r>
          </a:p>
          <a:p>
            <a:pPr lvl="1"/>
            <a:r>
              <a:rPr lang="en-IN" b="1" dirty="0"/>
              <a:t>Nicotinic </a:t>
            </a:r>
            <a:r>
              <a:rPr lang="en-IN" b="1" dirty="0" err="1"/>
              <a:t>ACh</a:t>
            </a:r>
            <a:r>
              <a:rPr lang="en-IN" b="1" dirty="0"/>
              <a:t> receptors</a:t>
            </a:r>
            <a:r>
              <a:rPr lang="en-IN" dirty="0"/>
              <a:t> (most common)</a:t>
            </a:r>
          </a:p>
          <a:p>
            <a:pPr lvl="1"/>
            <a:r>
              <a:rPr lang="en-IN" b="1" dirty="0"/>
              <a:t>Muscle-specific kinase (</a:t>
            </a:r>
            <a:r>
              <a:rPr lang="en-IN" b="1" dirty="0" err="1"/>
              <a:t>MuSK</a:t>
            </a:r>
            <a:r>
              <a:rPr lang="en-IN" b="1" dirty="0"/>
              <a:t>)</a:t>
            </a:r>
            <a:r>
              <a:rPr lang="en-IN" dirty="0"/>
              <a:t> in some cases</a:t>
            </a:r>
          </a:p>
          <a:p>
            <a:r>
              <a:rPr lang="en-IN" dirty="0"/>
              <a:t>This </a:t>
            </a:r>
            <a:r>
              <a:rPr lang="en-IN" b="1" dirty="0"/>
              <a:t>reduces functional </a:t>
            </a:r>
            <a:r>
              <a:rPr lang="en-IN" b="1" dirty="0" err="1"/>
              <a:t>ACh</a:t>
            </a:r>
            <a:r>
              <a:rPr lang="en-IN" b="1" dirty="0"/>
              <a:t> receptors</a:t>
            </a:r>
            <a:r>
              <a:rPr lang="en-IN" dirty="0"/>
              <a:t>, impairing neuromuscular transmission.</a:t>
            </a:r>
          </a:p>
          <a:p>
            <a:r>
              <a:rPr lang="en-IN" dirty="0"/>
              <a:t>Leads to </a:t>
            </a:r>
            <a:r>
              <a:rPr lang="en-IN" b="1" dirty="0"/>
              <a:t>decreased end-plate potential</a:t>
            </a:r>
            <a:r>
              <a:rPr lang="en-IN" dirty="0"/>
              <a:t>, muscle </a:t>
            </a:r>
            <a:r>
              <a:rPr lang="en-IN" b="1" dirty="0"/>
              <a:t>weakness</a:t>
            </a:r>
            <a:r>
              <a:rPr lang="en-IN" dirty="0"/>
              <a:t>, and </a:t>
            </a:r>
            <a:r>
              <a:rPr lang="en-IN" b="1" dirty="0"/>
              <a:t>fatigability</a:t>
            </a:r>
            <a:r>
              <a:rPr lang="en-IN" dirty="0"/>
              <a:t>.</a:t>
            </a:r>
          </a:p>
          <a:p>
            <a:endParaRPr lang="en-IN" dirty="0"/>
          </a:p>
        </p:txBody>
      </p:sp>
    </p:spTree>
    <p:extLst>
      <p:ext uri="{BB962C8B-B14F-4D97-AF65-F5344CB8AC3E}">
        <p14:creationId xmlns:p14="http://schemas.microsoft.com/office/powerpoint/2010/main" val="135459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33519-BE97-C0F0-FA6A-81BCD0A18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9D08B-852C-E233-D4F8-35839A15DCAF}"/>
              </a:ext>
            </a:extLst>
          </p:cNvPr>
          <p:cNvSpPr>
            <a:spLocks noGrp="1"/>
          </p:cNvSpPr>
          <p:nvPr>
            <p:ph type="title"/>
          </p:nvPr>
        </p:nvSpPr>
        <p:spPr/>
        <p:txBody>
          <a:bodyPr/>
          <a:lstStyle/>
          <a:p>
            <a:r>
              <a:rPr lang="en-US" dirty="0"/>
              <a:t>Myasthenia gravis</a:t>
            </a:r>
            <a:endParaRPr lang="en-IN" dirty="0"/>
          </a:p>
        </p:txBody>
      </p:sp>
      <p:sp>
        <p:nvSpPr>
          <p:cNvPr id="3" name="Content Placeholder 2">
            <a:extLst>
              <a:ext uri="{FF2B5EF4-FFF2-40B4-BE49-F238E27FC236}">
                <a16:creationId xmlns:a16="http://schemas.microsoft.com/office/drawing/2014/main" id="{9F89EEBC-D79C-82BC-6835-E732DDFFF04E}"/>
              </a:ext>
            </a:extLst>
          </p:cNvPr>
          <p:cNvSpPr>
            <a:spLocks noGrp="1"/>
          </p:cNvSpPr>
          <p:nvPr>
            <p:ph idx="1"/>
          </p:nvPr>
        </p:nvSpPr>
        <p:spPr/>
        <p:txBody>
          <a:bodyPr/>
          <a:lstStyle/>
          <a:p>
            <a:r>
              <a:rPr lang="en-US" dirty="0"/>
              <a:t>Myasthenia gravis (</a:t>
            </a:r>
            <a:r>
              <a:rPr lang="en-US" dirty="0" err="1"/>
              <a:t>myo</a:t>
            </a:r>
            <a:r>
              <a:rPr lang="en-US" dirty="0"/>
              <a:t> – muscle; asthenia – weakness; gravis - grave) is an autoimmune disorder involving the neuromuscular junction. In this condition, antibodies are produced against the acetylcholine receptors. Clinical features include extreme muscle weakness and early fatigue of the muscles when repeated contractions are attempted. These patients may have an enlarged thymus. The most commonly affected muscles are extraocular and facial muscles leading to diplopia, ptosis etc., and muscles of deglutition and mastication. In severe cases, patients die of respiratory muscle paralysis. Treatment is drugs like neostigmine and physostigmine, anticholinesterases, steroids to decrease the antibody </a:t>
            </a:r>
            <a:r>
              <a:rPr lang="en-US" dirty="0" err="1"/>
              <a:t>titre</a:t>
            </a:r>
            <a:r>
              <a:rPr lang="en-US" dirty="0"/>
              <a:t> and thymectomy to reduce the T cells.</a:t>
            </a:r>
            <a:endParaRPr lang="en-IN" dirty="0"/>
          </a:p>
        </p:txBody>
      </p:sp>
    </p:spTree>
    <p:extLst>
      <p:ext uri="{BB962C8B-B14F-4D97-AF65-F5344CB8AC3E}">
        <p14:creationId xmlns:p14="http://schemas.microsoft.com/office/powerpoint/2010/main" val="1680122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65D48-F92E-5319-7291-78E4379A7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C5AFE-333C-EC3B-7C00-CC7F430C0198}"/>
              </a:ext>
            </a:extLst>
          </p:cNvPr>
          <p:cNvSpPr>
            <a:spLocks noGrp="1"/>
          </p:cNvSpPr>
          <p:nvPr>
            <p:ph type="ctrTitle"/>
          </p:nvPr>
        </p:nvSpPr>
        <p:spPr/>
        <p:txBody>
          <a:bodyPr/>
          <a:lstStyle/>
          <a:p>
            <a:r>
              <a:rPr lang="en-US" dirty="0"/>
              <a:t>Unit 4 </a:t>
            </a:r>
            <a:endParaRPr lang="en-IN" dirty="0"/>
          </a:p>
        </p:txBody>
      </p:sp>
      <p:sp>
        <p:nvSpPr>
          <p:cNvPr id="3" name="Subtitle 2">
            <a:extLst>
              <a:ext uri="{FF2B5EF4-FFF2-40B4-BE49-F238E27FC236}">
                <a16:creationId xmlns:a16="http://schemas.microsoft.com/office/drawing/2014/main" id="{816E9F75-5585-B515-C9D2-3F2EE4847A8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33727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63ED-24FF-B799-7736-594D3E2D1F03}"/>
              </a:ext>
            </a:extLst>
          </p:cNvPr>
          <p:cNvSpPr>
            <a:spLocks noGrp="1"/>
          </p:cNvSpPr>
          <p:nvPr>
            <p:ph type="title"/>
          </p:nvPr>
        </p:nvSpPr>
        <p:spPr/>
        <p:txBody>
          <a:bodyPr/>
          <a:lstStyle/>
          <a:p>
            <a:r>
              <a:rPr lang="en-IN" dirty="0"/>
              <a:t>Smooth muscle</a:t>
            </a:r>
          </a:p>
        </p:txBody>
      </p:sp>
      <p:sp>
        <p:nvSpPr>
          <p:cNvPr id="3" name="Content Placeholder 2">
            <a:extLst>
              <a:ext uri="{FF2B5EF4-FFF2-40B4-BE49-F238E27FC236}">
                <a16:creationId xmlns:a16="http://schemas.microsoft.com/office/drawing/2014/main" id="{1B68810A-94F2-CC11-09D5-89A1EF378B9A}"/>
              </a:ext>
            </a:extLst>
          </p:cNvPr>
          <p:cNvSpPr>
            <a:spLocks noGrp="1"/>
          </p:cNvSpPr>
          <p:nvPr>
            <p:ph idx="1"/>
          </p:nvPr>
        </p:nvSpPr>
        <p:spPr>
          <a:xfrm>
            <a:off x="1066800" y="2103120"/>
            <a:ext cx="4724400" cy="3931920"/>
          </a:xfrm>
        </p:spPr>
        <p:txBody>
          <a:bodyPr/>
          <a:lstStyle/>
          <a:p>
            <a:r>
              <a:rPr lang="en-US" dirty="0"/>
              <a:t>Smooth muscle has contractile proteins, but it is irregularly arranged and hence, non-striated. Smooth muscle cells are fusiform in shape with a centrally placed nucleus. Contraction is involuntary, slow, and long lasting. Smooth muscle is called the visceral muscle as it is seen in the hollow viscera</a:t>
            </a:r>
            <a:endParaRPr lang="en-IN" dirty="0"/>
          </a:p>
        </p:txBody>
      </p:sp>
      <p:pic>
        <p:nvPicPr>
          <p:cNvPr id="5" name="Picture 4">
            <a:extLst>
              <a:ext uri="{FF2B5EF4-FFF2-40B4-BE49-F238E27FC236}">
                <a16:creationId xmlns:a16="http://schemas.microsoft.com/office/drawing/2014/main" id="{E0469147-CBA8-72A7-4899-B8B6CE265FA0}"/>
              </a:ext>
            </a:extLst>
          </p:cNvPr>
          <p:cNvPicPr>
            <a:picLocks noChangeAspect="1"/>
          </p:cNvPicPr>
          <p:nvPr/>
        </p:nvPicPr>
        <p:blipFill>
          <a:blip r:embed="rId2"/>
          <a:stretch>
            <a:fillRect/>
          </a:stretch>
        </p:blipFill>
        <p:spPr>
          <a:xfrm>
            <a:off x="6328617" y="1552513"/>
            <a:ext cx="4629435" cy="4207594"/>
          </a:xfrm>
          <a:prstGeom prst="rect">
            <a:avLst/>
          </a:prstGeom>
        </p:spPr>
      </p:pic>
    </p:spTree>
    <p:extLst>
      <p:ext uri="{BB962C8B-B14F-4D97-AF65-F5344CB8AC3E}">
        <p14:creationId xmlns:p14="http://schemas.microsoft.com/office/powerpoint/2010/main" val="1206087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FB1C-2810-813A-853A-9CFCE2C4E2BE}"/>
              </a:ext>
            </a:extLst>
          </p:cNvPr>
          <p:cNvSpPr>
            <a:spLocks noGrp="1"/>
          </p:cNvSpPr>
          <p:nvPr>
            <p:ph type="title"/>
          </p:nvPr>
        </p:nvSpPr>
        <p:spPr/>
        <p:txBody>
          <a:bodyPr/>
          <a:lstStyle/>
          <a:p>
            <a:r>
              <a:rPr lang="en-IN" dirty="0"/>
              <a:t>Structure of smooth muscles</a:t>
            </a:r>
          </a:p>
        </p:txBody>
      </p:sp>
      <p:sp>
        <p:nvSpPr>
          <p:cNvPr id="3" name="Content Placeholder 2">
            <a:extLst>
              <a:ext uri="{FF2B5EF4-FFF2-40B4-BE49-F238E27FC236}">
                <a16:creationId xmlns:a16="http://schemas.microsoft.com/office/drawing/2014/main" id="{368BD532-6519-A8C8-08B1-366152BEFFB3}"/>
              </a:ext>
            </a:extLst>
          </p:cNvPr>
          <p:cNvSpPr>
            <a:spLocks noGrp="1"/>
          </p:cNvSpPr>
          <p:nvPr>
            <p:ph idx="1"/>
          </p:nvPr>
        </p:nvSpPr>
        <p:spPr/>
        <p:txBody>
          <a:bodyPr/>
          <a:lstStyle/>
          <a:p>
            <a:r>
              <a:rPr lang="en-IN" b="1" dirty="0"/>
              <a:t>Muscle Fiber (Cell)</a:t>
            </a:r>
            <a:endParaRPr lang="en-IN" dirty="0"/>
          </a:p>
          <a:p>
            <a:pPr lvl="1"/>
            <a:r>
              <a:rPr lang="en-IN" b="1" dirty="0"/>
              <a:t>Spindle-shaped</a:t>
            </a:r>
            <a:r>
              <a:rPr lang="en-IN" dirty="0"/>
              <a:t>, single nucleus located centrally.</a:t>
            </a:r>
          </a:p>
          <a:p>
            <a:pPr lvl="1"/>
            <a:r>
              <a:rPr lang="en-IN" dirty="0"/>
              <a:t>Smaller than skeletal muscle </a:t>
            </a:r>
            <a:r>
              <a:rPr lang="en-IN" dirty="0" err="1"/>
              <a:t>fibers</a:t>
            </a:r>
            <a:r>
              <a:rPr lang="en-IN" dirty="0"/>
              <a:t>.</a:t>
            </a:r>
          </a:p>
          <a:p>
            <a:r>
              <a:rPr lang="en-IN" b="1" dirty="0"/>
              <a:t>Contractile Proteins</a:t>
            </a:r>
            <a:endParaRPr lang="en-IN" dirty="0"/>
          </a:p>
          <a:p>
            <a:pPr lvl="1"/>
            <a:r>
              <a:rPr lang="en-IN" b="1" dirty="0"/>
              <a:t>Actin</a:t>
            </a:r>
            <a:r>
              <a:rPr lang="en-IN" dirty="0"/>
              <a:t> and </a:t>
            </a:r>
            <a:r>
              <a:rPr lang="en-IN" b="1" dirty="0"/>
              <a:t>myosin</a:t>
            </a:r>
            <a:r>
              <a:rPr lang="en-IN" dirty="0"/>
              <a:t> filaments are present but </a:t>
            </a:r>
            <a:r>
              <a:rPr lang="en-IN" b="1" dirty="0"/>
              <a:t>not arranged in sarcomeres</a:t>
            </a:r>
            <a:r>
              <a:rPr lang="en-IN" dirty="0"/>
              <a:t>, so no striations.</a:t>
            </a:r>
          </a:p>
          <a:p>
            <a:pPr lvl="1"/>
            <a:r>
              <a:rPr lang="en-IN" b="1" dirty="0"/>
              <a:t>Dense bodies</a:t>
            </a:r>
            <a:r>
              <a:rPr lang="en-IN" dirty="0"/>
              <a:t> in cytoplasm and </a:t>
            </a:r>
            <a:r>
              <a:rPr lang="en-IN" b="1" dirty="0"/>
              <a:t>dense plaques</a:t>
            </a:r>
            <a:r>
              <a:rPr lang="en-IN" dirty="0"/>
              <a:t> on membrane anchor actin filaments (analogous to Z-discs).</a:t>
            </a:r>
          </a:p>
          <a:p>
            <a:r>
              <a:rPr lang="en-IN" b="1" dirty="0"/>
              <a:t>Cytoskeleton</a:t>
            </a:r>
            <a:endParaRPr lang="en-IN" dirty="0"/>
          </a:p>
          <a:p>
            <a:pPr lvl="1"/>
            <a:r>
              <a:rPr lang="en-IN" dirty="0"/>
              <a:t>Intermediate filaments (desmin, vimentin) connect dense bodies and plaques, transmitting force throughout the cell.</a:t>
            </a:r>
          </a:p>
          <a:p>
            <a:r>
              <a:rPr lang="en-IN" b="1" dirty="0"/>
              <a:t>Gap Junctions</a:t>
            </a:r>
            <a:r>
              <a:rPr lang="en-IN" dirty="0"/>
              <a:t> (in unitary smooth muscle)</a:t>
            </a:r>
          </a:p>
          <a:p>
            <a:pPr lvl="1"/>
            <a:r>
              <a:rPr lang="en-IN" dirty="0"/>
              <a:t>Allow </a:t>
            </a:r>
            <a:r>
              <a:rPr lang="en-IN" b="1" dirty="0"/>
              <a:t>electrical coupling</a:t>
            </a:r>
            <a:r>
              <a:rPr lang="en-IN" dirty="0"/>
              <a:t> → coordinated contraction of multiple cells.</a:t>
            </a:r>
          </a:p>
          <a:p>
            <a:endParaRPr lang="en-IN" dirty="0"/>
          </a:p>
        </p:txBody>
      </p:sp>
    </p:spTree>
    <p:extLst>
      <p:ext uri="{BB962C8B-B14F-4D97-AF65-F5344CB8AC3E}">
        <p14:creationId xmlns:p14="http://schemas.microsoft.com/office/powerpoint/2010/main" val="2691855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FDE19-8503-5016-70C2-28B099EAD2EF}"/>
              </a:ext>
            </a:extLst>
          </p:cNvPr>
          <p:cNvSpPr>
            <a:spLocks noGrp="1"/>
          </p:cNvSpPr>
          <p:nvPr>
            <p:ph type="title"/>
          </p:nvPr>
        </p:nvSpPr>
        <p:spPr>
          <a:xfrm>
            <a:off x="997974" y="308297"/>
            <a:ext cx="10058400" cy="1371600"/>
          </a:xfrm>
        </p:spPr>
        <p:txBody>
          <a:bodyPr>
            <a:normAutofit fontScale="90000"/>
          </a:bodyPr>
          <a:lstStyle/>
          <a:p>
            <a:r>
              <a:rPr lang="en-IN" b="1" dirty="0"/>
              <a:t>2. Mechanism of Contraction of Smooth Muscle</a:t>
            </a:r>
            <a:endParaRPr lang="en-IN" dirty="0"/>
          </a:p>
        </p:txBody>
      </p:sp>
      <p:sp>
        <p:nvSpPr>
          <p:cNvPr id="3" name="Content Placeholder 2">
            <a:extLst>
              <a:ext uri="{FF2B5EF4-FFF2-40B4-BE49-F238E27FC236}">
                <a16:creationId xmlns:a16="http://schemas.microsoft.com/office/drawing/2014/main" id="{6A719FD6-417B-404E-98F1-D916A1F7EF42}"/>
              </a:ext>
            </a:extLst>
          </p:cNvPr>
          <p:cNvSpPr>
            <a:spLocks noGrp="1"/>
          </p:cNvSpPr>
          <p:nvPr>
            <p:ph idx="1"/>
          </p:nvPr>
        </p:nvSpPr>
        <p:spPr>
          <a:xfrm>
            <a:off x="1066800" y="1679897"/>
            <a:ext cx="10058400" cy="4720903"/>
          </a:xfrm>
        </p:spPr>
        <p:txBody>
          <a:bodyPr>
            <a:normAutofit fontScale="70000" lnSpcReduction="20000"/>
          </a:bodyPr>
          <a:lstStyle/>
          <a:p>
            <a:r>
              <a:rPr lang="en-IN" dirty="0"/>
              <a:t>Unlike skeletal muscle, smooth muscle contraction is </a:t>
            </a:r>
            <a:r>
              <a:rPr lang="en-IN" b="1" dirty="0"/>
              <a:t>slower, prolonged, and does not require sarcomeres</a:t>
            </a:r>
            <a:r>
              <a:rPr lang="en-IN" dirty="0"/>
              <a:t>.</a:t>
            </a:r>
          </a:p>
          <a:p>
            <a:r>
              <a:rPr lang="en-IN" b="1" dirty="0"/>
              <a:t>Steps of Contraction</a:t>
            </a:r>
          </a:p>
          <a:p>
            <a:r>
              <a:rPr lang="en-IN" b="1" dirty="0"/>
              <a:t>Excitation</a:t>
            </a:r>
            <a:endParaRPr lang="en-IN" dirty="0"/>
          </a:p>
          <a:p>
            <a:pPr lvl="1"/>
            <a:r>
              <a:rPr lang="en-IN" dirty="0"/>
              <a:t>Smooth muscle can be excited by:</a:t>
            </a:r>
          </a:p>
          <a:p>
            <a:pPr lvl="2"/>
            <a:r>
              <a:rPr lang="en-IN" b="1" dirty="0"/>
              <a:t>Autonomic nerves (neurotransmitters like </a:t>
            </a:r>
            <a:r>
              <a:rPr lang="en-IN" b="1" dirty="0" err="1"/>
              <a:t>ACh</a:t>
            </a:r>
            <a:r>
              <a:rPr lang="en-IN" b="1" dirty="0"/>
              <a:t>, norepinephrine)</a:t>
            </a:r>
            <a:endParaRPr lang="en-IN" dirty="0"/>
          </a:p>
          <a:p>
            <a:pPr lvl="2"/>
            <a:r>
              <a:rPr lang="en-IN" b="1" dirty="0"/>
              <a:t>Hormones (e.g., vasopressin, angiotensin II)</a:t>
            </a:r>
            <a:endParaRPr lang="en-IN" dirty="0"/>
          </a:p>
          <a:p>
            <a:pPr lvl="2"/>
            <a:r>
              <a:rPr lang="en-IN" b="1" dirty="0"/>
              <a:t>Stretch or local factors</a:t>
            </a:r>
            <a:endParaRPr lang="en-IN" dirty="0"/>
          </a:p>
          <a:p>
            <a:r>
              <a:rPr lang="en-IN" b="1" dirty="0"/>
              <a:t>Calcium Entry</a:t>
            </a:r>
            <a:endParaRPr lang="en-IN" dirty="0"/>
          </a:p>
          <a:p>
            <a:pPr lvl="1"/>
            <a:r>
              <a:rPr lang="en-IN" b="1" dirty="0"/>
              <a:t>Ca²⁺ enters the cytoplasm</a:t>
            </a:r>
            <a:r>
              <a:rPr lang="en-IN" dirty="0"/>
              <a:t> via:</a:t>
            </a:r>
          </a:p>
          <a:p>
            <a:pPr lvl="2"/>
            <a:r>
              <a:rPr lang="en-IN" dirty="0"/>
              <a:t>Voltage-gated channels (from extracellular fluid)</a:t>
            </a:r>
          </a:p>
          <a:p>
            <a:pPr lvl="2"/>
            <a:r>
              <a:rPr lang="en-IN" dirty="0"/>
              <a:t>Release from </a:t>
            </a:r>
            <a:r>
              <a:rPr lang="en-IN" b="1" dirty="0"/>
              <a:t>sarcoplasmic reticulum</a:t>
            </a:r>
            <a:endParaRPr lang="en-IN" dirty="0"/>
          </a:p>
          <a:p>
            <a:r>
              <a:rPr lang="en-IN" b="1" dirty="0"/>
              <a:t>Activation of Calmodulin</a:t>
            </a:r>
            <a:endParaRPr lang="en-IN" dirty="0"/>
          </a:p>
          <a:p>
            <a:pPr lvl="1"/>
            <a:r>
              <a:rPr lang="en-IN" dirty="0"/>
              <a:t>Ca²⁺ binds to </a:t>
            </a:r>
            <a:r>
              <a:rPr lang="en-IN" b="1" dirty="0"/>
              <a:t>calmodulin</a:t>
            </a:r>
            <a:r>
              <a:rPr lang="en-IN" dirty="0"/>
              <a:t> (instead of troponin in skeletal muscle).</a:t>
            </a:r>
          </a:p>
          <a:p>
            <a:r>
              <a:rPr lang="en-IN" b="1" dirty="0"/>
              <a:t>Activation of Myosin Light Chain Kinase (MLCK)</a:t>
            </a:r>
            <a:endParaRPr lang="en-IN" dirty="0"/>
          </a:p>
          <a:p>
            <a:pPr lvl="1"/>
            <a:r>
              <a:rPr lang="en-IN" dirty="0"/>
              <a:t>Ca²⁺–calmodulin complex activates </a:t>
            </a:r>
            <a:r>
              <a:rPr lang="en-IN" b="1" dirty="0"/>
              <a:t>MLCK</a:t>
            </a:r>
            <a:r>
              <a:rPr lang="en-IN" dirty="0"/>
              <a:t>.</a:t>
            </a:r>
          </a:p>
          <a:p>
            <a:pPr lvl="1"/>
            <a:r>
              <a:rPr lang="en-IN" dirty="0"/>
              <a:t>MLCK </a:t>
            </a:r>
            <a:r>
              <a:rPr lang="en-IN" b="1" dirty="0"/>
              <a:t>phosphorylates myosin light chains</a:t>
            </a:r>
            <a:r>
              <a:rPr lang="en-IN" dirty="0"/>
              <a:t>, activating myosin heads.</a:t>
            </a:r>
          </a:p>
          <a:p>
            <a:r>
              <a:rPr lang="en-IN" b="1" dirty="0"/>
              <a:t>Cross-Bridge Cycling</a:t>
            </a:r>
            <a:endParaRPr lang="en-IN" dirty="0"/>
          </a:p>
          <a:p>
            <a:pPr lvl="1"/>
            <a:r>
              <a:rPr lang="en-IN" dirty="0"/>
              <a:t>Activated myosin binds to actin → </a:t>
            </a:r>
            <a:r>
              <a:rPr lang="en-IN" b="1" dirty="0"/>
              <a:t>power stroke</a:t>
            </a:r>
            <a:r>
              <a:rPr lang="en-IN" dirty="0"/>
              <a:t> → sliding of filaments → contraction.</a:t>
            </a:r>
          </a:p>
          <a:p>
            <a:r>
              <a:rPr lang="en-IN" b="1" dirty="0"/>
              <a:t>Relaxation</a:t>
            </a:r>
            <a:endParaRPr lang="en-IN" dirty="0"/>
          </a:p>
          <a:p>
            <a:pPr lvl="1"/>
            <a:r>
              <a:rPr lang="en-IN" b="1" dirty="0"/>
              <a:t>Ca²⁺ removed</a:t>
            </a:r>
            <a:r>
              <a:rPr lang="en-IN" dirty="0"/>
              <a:t> via pumps to extracellular space or SR.</a:t>
            </a:r>
          </a:p>
          <a:p>
            <a:pPr lvl="1"/>
            <a:r>
              <a:rPr lang="en-IN" b="1" dirty="0"/>
              <a:t>Myosin light chain phosphatase</a:t>
            </a:r>
            <a:r>
              <a:rPr lang="en-IN" dirty="0"/>
              <a:t> dephosphorylates myosin → relaxation.</a:t>
            </a:r>
          </a:p>
          <a:p>
            <a:endParaRPr lang="en-IN" dirty="0"/>
          </a:p>
        </p:txBody>
      </p:sp>
    </p:spTree>
    <p:extLst>
      <p:ext uri="{BB962C8B-B14F-4D97-AF65-F5344CB8AC3E}">
        <p14:creationId xmlns:p14="http://schemas.microsoft.com/office/powerpoint/2010/main" val="3813130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1D81B-C58D-D5AF-769E-55981124512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1B7D788-EDA7-7964-B4AD-98B08273DA38}"/>
              </a:ext>
            </a:extLst>
          </p:cNvPr>
          <p:cNvPicPr>
            <a:picLocks noGrp="1" noChangeAspect="1"/>
          </p:cNvPicPr>
          <p:nvPr>
            <p:ph idx="1"/>
          </p:nvPr>
        </p:nvPicPr>
        <p:blipFill>
          <a:blip r:embed="rId2"/>
          <a:stretch>
            <a:fillRect/>
          </a:stretch>
        </p:blipFill>
        <p:spPr>
          <a:xfrm>
            <a:off x="2446512" y="125361"/>
            <a:ext cx="7739707" cy="6607277"/>
          </a:xfrm>
          <a:prstGeom prst="rect">
            <a:avLst/>
          </a:prstGeom>
        </p:spPr>
      </p:pic>
    </p:spTree>
    <p:extLst>
      <p:ext uri="{BB962C8B-B14F-4D97-AF65-F5344CB8AC3E}">
        <p14:creationId xmlns:p14="http://schemas.microsoft.com/office/powerpoint/2010/main" val="26443441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42</TotalTime>
  <Words>1445</Words>
  <Application>Microsoft Office PowerPoint</Application>
  <PresentationFormat>Widescreen</PresentationFormat>
  <Paragraphs>119</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Century Gothic</vt:lpstr>
      <vt:lpstr>Savon</vt:lpstr>
      <vt:lpstr>Muscle physiology</vt:lpstr>
      <vt:lpstr>Unit 1</vt:lpstr>
      <vt:lpstr>Muscle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Rigor mortis </vt:lpstr>
      <vt:lpstr>Unit 2</vt:lpstr>
      <vt:lpstr>Skeletal muscle</vt:lpstr>
      <vt:lpstr>Properties of Skeletal Muscle</vt:lpstr>
      <vt:lpstr>PowerPoint Presentation</vt:lpstr>
      <vt:lpstr>Thermal changes during muscular contraction</vt:lpstr>
      <vt:lpstr>Unit 3</vt:lpstr>
      <vt:lpstr>Neuromuscular junction</vt:lpstr>
      <vt:lpstr>Structure of NMJ</vt:lpstr>
      <vt:lpstr>PowerPoint Presentation</vt:lpstr>
      <vt:lpstr>Mechanism of Transmission</vt:lpstr>
      <vt:lpstr>PowerPoint Presentation</vt:lpstr>
      <vt:lpstr>Drugs acting at neuromuscular junction</vt:lpstr>
      <vt:lpstr>Myasthenia gravis</vt:lpstr>
      <vt:lpstr>Myasthenia gravis</vt:lpstr>
      <vt:lpstr>Unit 4 </vt:lpstr>
      <vt:lpstr>Smooth muscle</vt:lpstr>
      <vt:lpstr>Structure of smooth muscles</vt:lpstr>
      <vt:lpstr>2. Mechanism of Contraction of Smooth Muscle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2025-11-21T10:08:38Z</dcterms:created>
  <dcterms:modified xsi:type="dcterms:W3CDTF">2025-11-21T14:03:40Z</dcterms:modified>
</cp:coreProperties>
</file>