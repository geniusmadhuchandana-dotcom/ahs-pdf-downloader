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57" r:id="rId4"/>
    <p:sldId id="262" r:id="rId5"/>
    <p:sldId id="260" r:id="rId6"/>
    <p:sldId id="258" r:id="rId7"/>
    <p:sldId id="265" r:id="rId8"/>
    <p:sldId id="266" r:id="rId9"/>
    <p:sldId id="267" r:id="rId10"/>
    <p:sldId id="261" r:id="rId11"/>
    <p:sldId id="268" r:id="rId12"/>
    <p:sldId id="270" r:id="rId13"/>
    <p:sldId id="269" r:id="rId14"/>
    <p:sldId id="271" r:id="rId15"/>
    <p:sldId id="272" r:id="rId16"/>
    <p:sldId id="273" r:id="rId17"/>
    <p:sldId id="263" r:id="rId18"/>
    <p:sldId id="274" r:id="rId19"/>
    <p:sldId id="275" r:id="rId20"/>
    <p:sldId id="276" r:id="rId21"/>
    <p:sldId id="277" r:id="rId22"/>
    <p:sldId id="278" r:id="rId23"/>
    <p:sldId id="279" r:id="rId24"/>
    <p:sldId id="280" r:id="rId25"/>
    <p:sldId id="281" r:id="rId26"/>
    <p:sldId id="282" r:id="rId27"/>
    <p:sldId id="283" r:id="rId28"/>
    <p:sldId id="264"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99574268-7B55-405B-912B-CC905B712350}" type="datetimeFigureOut">
              <a:rPr lang="en-IN" smtClean="0"/>
              <a:t>22-11-2025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2265463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248661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99574268-7B55-405B-912B-CC905B712350}" type="datetimeFigureOut">
              <a:rPr lang="en-IN" smtClean="0"/>
              <a:t>22-11-2025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1948951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620959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442788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3828403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576580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E806B36C-B514-48F9-A793-137E5863EDF2}"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5775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99574268-7B55-405B-912B-CC905B712350}" type="datetimeFigureOut">
              <a:rPr lang="en-IN" smtClean="0"/>
              <a:t>22-11-2025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1968236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3597188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99574268-7B55-405B-912B-CC905B712350}" type="datetimeFigureOut">
              <a:rPr lang="en-IN" smtClean="0"/>
              <a:t>22-11-2025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117216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99574268-7B55-405B-912B-CC905B712350}" type="datetimeFigureOut">
              <a:rPr lang="en-IN" smtClean="0"/>
              <a:t>22-11-2025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E806B36C-B514-48F9-A793-137E5863EDF2}" type="slidenum">
              <a:rPr lang="en-IN" smtClean="0"/>
              <a:t>‹#›</a:t>
            </a:fld>
            <a:endParaRPr lang="en-IN"/>
          </a:p>
        </p:txBody>
      </p:sp>
    </p:spTree>
    <p:extLst>
      <p:ext uri="{BB962C8B-B14F-4D97-AF65-F5344CB8AC3E}">
        <p14:creationId xmlns:p14="http://schemas.microsoft.com/office/powerpoint/2010/main" val="89791818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35B9-7580-A306-248C-D1E1FDF5DD17}"/>
              </a:ext>
            </a:extLst>
          </p:cNvPr>
          <p:cNvSpPr>
            <a:spLocks noGrp="1"/>
          </p:cNvSpPr>
          <p:nvPr>
            <p:ph type="ctrTitle"/>
          </p:nvPr>
        </p:nvSpPr>
        <p:spPr/>
        <p:txBody>
          <a:bodyPr/>
          <a:lstStyle/>
          <a:p>
            <a:r>
              <a:rPr lang="en-US" dirty="0"/>
              <a:t>Reproductive physiology</a:t>
            </a:r>
            <a:endParaRPr lang="en-IN" dirty="0"/>
          </a:p>
        </p:txBody>
      </p:sp>
      <p:sp>
        <p:nvSpPr>
          <p:cNvPr id="3" name="Subtitle 2">
            <a:extLst>
              <a:ext uri="{FF2B5EF4-FFF2-40B4-BE49-F238E27FC236}">
                <a16:creationId xmlns:a16="http://schemas.microsoft.com/office/drawing/2014/main" id="{461494F9-91D3-D810-F4A7-2EA20E1DF49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6448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27CDC-5AE2-7BFD-16AF-B53B04057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0E58C-415A-C20F-EA41-C49763C4F0EB}"/>
              </a:ext>
            </a:extLst>
          </p:cNvPr>
          <p:cNvSpPr>
            <a:spLocks noGrp="1"/>
          </p:cNvSpPr>
          <p:nvPr>
            <p:ph type="ctrTitle"/>
          </p:nvPr>
        </p:nvSpPr>
        <p:spPr/>
        <p:txBody>
          <a:bodyPr/>
          <a:lstStyle/>
          <a:p>
            <a:r>
              <a:rPr lang="en-US" dirty="0"/>
              <a:t>Unit 1</a:t>
            </a:r>
            <a:endParaRPr lang="en-IN" dirty="0"/>
          </a:p>
        </p:txBody>
      </p:sp>
      <p:sp>
        <p:nvSpPr>
          <p:cNvPr id="3" name="Subtitle 2">
            <a:extLst>
              <a:ext uri="{FF2B5EF4-FFF2-40B4-BE49-F238E27FC236}">
                <a16:creationId xmlns:a16="http://schemas.microsoft.com/office/drawing/2014/main" id="{159F04E0-DECA-589C-7D3E-DEB6D1AE554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25536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22A8-2AA0-13D3-041F-F611229CAB18}"/>
              </a:ext>
            </a:extLst>
          </p:cNvPr>
          <p:cNvSpPr>
            <a:spLocks noGrp="1"/>
          </p:cNvSpPr>
          <p:nvPr>
            <p:ph type="title"/>
          </p:nvPr>
        </p:nvSpPr>
        <p:spPr>
          <a:xfrm>
            <a:off x="1086464" y="1380723"/>
            <a:ext cx="3849329" cy="4096554"/>
          </a:xfrm>
        </p:spPr>
        <p:txBody>
          <a:bodyPr>
            <a:normAutofit/>
          </a:bodyPr>
          <a:lstStyle/>
          <a:p>
            <a:r>
              <a:rPr lang="en-US" sz="4400" dirty="0"/>
              <a:t>Male reproductive system</a:t>
            </a:r>
            <a:endParaRPr lang="en-IN" sz="4400" dirty="0"/>
          </a:p>
        </p:txBody>
      </p:sp>
      <p:pic>
        <p:nvPicPr>
          <p:cNvPr id="5" name="Content Placeholder 4">
            <a:extLst>
              <a:ext uri="{FF2B5EF4-FFF2-40B4-BE49-F238E27FC236}">
                <a16:creationId xmlns:a16="http://schemas.microsoft.com/office/drawing/2014/main" id="{421C796F-C6A5-9C45-B90C-8B0BAEE8832B}"/>
              </a:ext>
            </a:extLst>
          </p:cNvPr>
          <p:cNvPicPr>
            <a:picLocks noGrp="1" noChangeAspect="1"/>
          </p:cNvPicPr>
          <p:nvPr>
            <p:ph idx="1"/>
          </p:nvPr>
        </p:nvPicPr>
        <p:blipFill>
          <a:blip r:embed="rId2"/>
          <a:stretch>
            <a:fillRect/>
          </a:stretch>
        </p:blipFill>
        <p:spPr>
          <a:xfrm>
            <a:off x="5451988" y="0"/>
            <a:ext cx="5653548" cy="6858000"/>
          </a:xfrm>
          <a:prstGeom prst="rect">
            <a:avLst/>
          </a:prstGeom>
        </p:spPr>
      </p:pic>
    </p:spTree>
    <p:extLst>
      <p:ext uri="{BB962C8B-B14F-4D97-AF65-F5344CB8AC3E}">
        <p14:creationId xmlns:p14="http://schemas.microsoft.com/office/powerpoint/2010/main" val="772121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F70FF-26EB-D885-47B3-AC7B209831FA}"/>
              </a:ext>
            </a:extLst>
          </p:cNvPr>
          <p:cNvSpPr>
            <a:spLocks noGrp="1"/>
          </p:cNvSpPr>
          <p:nvPr>
            <p:ph type="title"/>
          </p:nvPr>
        </p:nvSpPr>
        <p:spPr>
          <a:xfrm>
            <a:off x="1145458" y="2743200"/>
            <a:ext cx="3741174" cy="1371600"/>
          </a:xfrm>
        </p:spPr>
        <p:txBody>
          <a:bodyPr>
            <a:normAutofit fontScale="90000"/>
          </a:bodyPr>
          <a:lstStyle/>
          <a:p>
            <a:r>
              <a:rPr lang="en-US" dirty="0"/>
              <a:t>Female reproductive system</a:t>
            </a:r>
            <a:endParaRPr lang="en-IN" dirty="0"/>
          </a:p>
        </p:txBody>
      </p:sp>
      <p:pic>
        <p:nvPicPr>
          <p:cNvPr id="5" name="Content Placeholder 4">
            <a:extLst>
              <a:ext uri="{FF2B5EF4-FFF2-40B4-BE49-F238E27FC236}">
                <a16:creationId xmlns:a16="http://schemas.microsoft.com/office/drawing/2014/main" id="{F4812BBC-072F-7DF7-FEAD-3B9C8A58950C}"/>
              </a:ext>
            </a:extLst>
          </p:cNvPr>
          <p:cNvPicPr>
            <a:picLocks noGrp="1" noChangeAspect="1"/>
          </p:cNvPicPr>
          <p:nvPr>
            <p:ph idx="1"/>
          </p:nvPr>
        </p:nvPicPr>
        <p:blipFill>
          <a:blip r:embed="rId2"/>
          <a:stretch>
            <a:fillRect/>
          </a:stretch>
        </p:blipFill>
        <p:spPr>
          <a:xfrm>
            <a:off x="5429062" y="351170"/>
            <a:ext cx="5790600" cy="6155659"/>
          </a:xfrm>
          <a:prstGeom prst="rect">
            <a:avLst/>
          </a:prstGeom>
        </p:spPr>
      </p:pic>
    </p:spTree>
    <p:extLst>
      <p:ext uri="{BB962C8B-B14F-4D97-AF65-F5344CB8AC3E}">
        <p14:creationId xmlns:p14="http://schemas.microsoft.com/office/powerpoint/2010/main" val="2120776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39949-C773-FD28-B760-270A188F0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1190B-E449-53CD-5C8E-D65FB8B83EF3}"/>
              </a:ext>
            </a:extLst>
          </p:cNvPr>
          <p:cNvSpPr>
            <a:spLocks noGrp="1"/>
          </p:cNvSpPr>
          <p:nvPr>
            <p:ph type="ctrTitle"/>
          </p:nvPr>
        </p:nvSpPr>
        <p:spPr/>
        <p:txBody>
          <a:bodyPr/>
          <a:lstStyle/>
          <a:p>
            <a:r>
              <a:rPr lang="en-US" dirty="0"/>
              <a:t>Unit 2</a:t>
            </a:r>
            <a:endParaRPr lang="en-IN" dirty="0"/>
          </a:p>
        </p:txBody>
      </p:sp>
      <p:sp>
        <p:nvSpPr>
          <p:cNvPr id="3" name="Subtitle 2">
            <a:extLst>
              <a:ext uri="{FF2B5EF4-FFF2-40B4-BE49-F238E27FC236}">
                <a16:creationId xmlns:a16="http://schemas.microsoft.com/office/drawing/2014/main" id="{B2F66D7B-78B3-A932-C0A1-D0194FC81DB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6578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0F054-0DBB-B8A8-B27B-04186F47E68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09C095E-6517-BB18-C94A-946C4E067B2A}"/>
              </a:ext>
            </a:extLst>
          </p:cNvPr>
          <p:cNvPicPr>
            <a:picLocks noGrp="1" noChangeAspect="1"/>
          </p:cNvPicPr>
          <p:nvPr>
            <p:ph idx="1"/>
          </p:nvPr>
        </p:nvPicPr>
        <p:blipFill>
          <a:blip r:embed="rId2"/>
          <a:stretch>
            <a:fillRect/>
          </a:stretch>
        </p:blipFill>
        <p:spPr>
          <a:xfrm>
            <a:off x="3556428" y="320785"/>
            <a:ext cx="5079143" cy="6216430"/>
          </a:xfrm>
          <a:prstGeom prst="rect">
            <a:avLst/>
          </a:prstGeom>
        </p:spPr>
      </p:pic>
    </p:spTree>
    <p:extLst>
      <p:ext uri="{BB962C8B-B14F-4D97-AF65-F5344CB8AC3E}">
        <p14:creationId xmlns:p14="http://schemas.microsoft.com/office/powerpoint/2010/main" val="2447901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C0AD6-7112-D38F-1DA3-584364449D2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1F91A29-EE2A-B783-9C34-D3BFD922E62B}"/>
              </a:ext>
            </a:extLst>
          </p:cNvPr>
          <p:cNvPicPr>
            <a:picLocks noGrp="1" noChangeAspect="1"/>
          </p:cNvPicPr>
          <p:nvPr>
            <p:ph idx="1"/>
          </p:nvPr>
        </p:nvPicPr>
        <p:blipFill>
          <a:blip r:embed="rId2"/>
          <a:stretch>
            <a:fillRect/>
          </a:stretch>
        </p:blipFill>
        <p:spPr>
          <a:xfrm>
            <a:off x="3296496" y="373626"/>
            <a:ext cx="5599007" cy="6266123"/>
          </a:xfrm>
          <a:prstGeom prst="rect">
            <a:avLst/>
          </a:prstGeom>
        </p:spPr>
      </p:pic>
    </p:spTree>
    <p:extLst>
      <p:ext uri="{BB962C8B-B14F-4D97-AF65-F5344CB8AC3E}">
        <p14:creationId xmlns:p14="http://schemas.microsoft.com/office/powerpoint/2010/main" val="1023470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DD82-211B-2C0E-0FDB-B3D651B439D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DFBA796-D1AB-88C3-756D-7C23A5B47302}"/>
              </a:ext>
            </a:extLst>
          </p:cNvPr>
          <p:cNvPicPr>
            <a:picLocks noGrp="1" noChangeAspect="1"/>
          </p:cNvPicPr>
          <p:nvPr>
            <p:ph idx="1"/>
          </p:nvPr>
        </p:nvPicPr>
        <p:blipFill>
          <a:blip r:embed="rId2"/>
          <a:stretch>
            <a:fillRect/>
          </a:stretch>
        </p:blipFill>
        <p:spPr>
          <a:xfrm>
            <a:off x="3382297" y="103057"/>
            <a:ext cx="5142271" cy="6519831"/>
          </a:xfrm>
          <a:prstGeom prst="rect">
            <a:avLst/>
          </a:prstGeom>
        </p:spPr>
      </p:pic>
    </p:spTree>
    <p:extLst>
      <p:ext uri="{BB962C8B-B14F-4D97-AF65-F5344CB8AC3E}">
        <p14:creationId xmlns:p14="http://schemas.microsoft.com/office/powerpoint/2010/main" val="1838513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08C5-0990-2C04-BE91-2EA76475D55E}"/>
              </a:ext>
            </a:extLst>
          </p:cNvPr>
          <p:cNvSpPr>
            <a:spLocks noGrp="1"/>
          </p:cNvSpPr>
          <p:nvPr>
            <p:ph type="title"/>
          </p:nvPr>
        </p:nvSpPr>
        <p:spPr>
          <a:xfrm>
            <a:off x="1221838" y="2550052"/>
            <a:ext cx="4812890" cy="1371600"/>
          </a:xfrm>
        </p:spPr>
        <p:txBody>
          <a:bodyPr>
            <a:normAutofit fontScale="90000"/>
          </a:bodyPr>
          <a:lstStyle/>
          <a:p>
            <a:r>
              <a:rPr lang="en-US" dirty="0"/>
              <a:t>Function of testosterone</a:t>
            </a:r>
            <a:endParaRPr lang="en-IN" dirty="0"/>
          </a:p>
        </p:txBody>
      </p:sp>
      <p:pic>
        <p:nvPicPr>
          <p:cNvPr id="5" name="Content Placeholder 4">
            <a:extLst>
              <a:ext uri="{FF2B5EF4-FFF2-40B4-BE49-F238E27FC236}">
                <a16:creationId xmlns:a16="http://schemas.microsoft.com/office/drawing/2014/main" id="{75CE5E6D-7EA0-EB6E-A090-23B0A214DB44}"/>
              </a:ext>
            </a:extLst>
          </p:cNvPr>
          <p:cNvPicPr>
            <a:picLocks noGrp="1" noChangeAspect="1"/>
          </p:cNvPicPr>
          <p:nvPr>
            <p:ph idx="1"/>
          </p:nvPr>
        </p:nvPicPr>
        <p:blipFill>
          <a:blip r:embed="rId2"/>
          <a:stretch>
            <a:fillRect/>
          </a:stretch>
        </p:blipFill>
        <p:spPr>
          <a:xfrm>
            <a:off x="5692878" y="38803"/>
            <a:ext cx="4967928" cy="6780393"/>
          </a:xfrm>
          <a:prstGeom prst="rect">
            <a:avLst/>
          </a:prstGeom>
        </p:spPr>
      </p:pic>
    </p:spTree>
    <p:extLst>
      <p:ext uri="{BB962C8B-B14F-4D97-AF65-F5344CB8AC3E}">
        <p14:creationId xmlns:p14="http://schemas.microsoft.com/office/powerpoint/2010/main" val="3948936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1E6A-9130-C390-8C4E-E428B34CA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32B0C-17F4-E457-5848-313D392FC969}"/>
              </a:ext>
            </a:extLst>
          </p:cNvPr>
          <p:cNvSpPr>
            <a:spLocks noGrp="1"/>
          </p:cNvSpPr>
          <p:nvPr>
            <p:ph type="ctrTitle"/>
          </p:nvPr>
        </p:nvSpPr>
        <p:spPr/>
        <p:txBody>
          <a:bodyPr/>
          <a:lstStyle/>
          <a:p>
            <a:r>
              <a:rPr lang="en-US" dirty="0"/>
              <a:t>Unit 3</a:t>
            </a:r>
            <a:endParaRPr lang="en-IN" dirty="0"/>
          </a:p>
        </p:txBody>
      </p:sp>
      <p:sp>
        <p:nvSpPr>
          <p:cNvPr id="3" name="Subtitle 2">
            <a:extLst>
              <a:ext uri="{FF2B5EF4-FFF2-40B4-BE49-F238E27FC236}">
                <a16:creationId xmlns:a16="http://schemas.microsoft.com/office/drawing/2014/main" id="{3541E843-8DF5-53D3-1985-E1FE169ED13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38795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13271-C966-7194-AA02-008CE32AEEA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08CA92-287A-2AD0-13C0-16EBD06C514A}"/>
              </a:ext>
            </a:extLst>
          </p:cNvPr>
          <p:cNvPicPr>
            <a:picLocks noGrp="1" noChangeAspect="1"/>
          </p:cNvPicPr>
          <p:nvPr>
            <p:ph idx="1"/>
          </p:nvPr>
        </p:nvPicPr>
        <p:blipFill>
          <a:blip r:embed="rId2"/>
          <a:stretch>
            <a:fillRect/>
          </a:stretch>
        </p:blipFill>
        <p:spPr>
          <a:xfrm>
            <a:off x="1337710" y="1610633"/>
            <a:ext cx="9102788" cy="3636733"/>
          </a:xfrm>
          <a:prstGeom prst="rect">
            <a:avLst/>
          </a:prstGeom>
        </p:spPr>
      </p:pic>
    </p:spTree>
    <p:extLst>
      <p:ext uri="{BB962C8B-B14F-4D97-AF65-F5344CB8AC3E}">
        <p14:creationId xmlns:p14="http://schemas.microsoft.com/office/powerpoint/2010/main" val="870639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DEA03-6314-CC2A-23C2-9E0B69ABBE40}"/>
              </a:ext>
            </a:extLst>
          </p:cNvPr>
          <p:cNvSpPr>
            <a:spLocks noGrp="1"/>
          </p:cNvSpPr>
          <p:nvPr>
            <p:ph type="title"/>
          </p:nvPr>
        </p:nvSpPr>
        <p:spPr/>
        <p:txBody>
          <a:bodyPr/>
          <a:lstStyle/>
          <a:p>
            <a:r>
              <a:rPr lang="en-US" dirty="0"/>
              <a:t>Ovarian cycle</a:t>
            </a:r>
            <a:endParaRPr lang="en-IN" dirty="0"/>
          </a:p>
        </p:txBody>
      </p:sp>
      <p:graphicFrame>
        <p:nvGraphicFramePr>
          <p:cNvPr id="4" name="Content Placeholder 3">
            <a:extLst>
              <a:ext uri="{FF2B5EF4-FFF2-40B4-BE49-F238E27FC236}">
                <a16:creationId xmlns:a16="http://schemas.microsoft.com/office/drawing/2014/main" id="{4FED37C0-C563-92B0-91B8-5F51CA8A3740}"/>
              </a:ext>
            </a:extLst>
          </p:cNvPr>
          <p:cNvGraphicFramePr>
            <a:graphicFrameLocks noGrp="1"/>
          </p:cNvGraphicFramePr>
          <p:nvPr>
            <p:ph idx="1"/>
            <p:extLst>
              <p:ext uri="{D42A27DB-BD31-4B8C-83A1-F6EECF244321}">
                <p14:modId xmlns:p14="http://schemas.microsoft.com/office/powerpoint/2010/main" val="4253212143"/>
              </p:ext>
            </p:extLst>
          </p:nvPr>
        </p:nvGraphicFramePr>
        <p:xfrm>
          <a:off x="1066800" y="2789396"/>
          <a:ext cx="10058400" cy="2560320"/>
        </p:xfrm>
        <a:graphic>
          <a:graphicData uri="http://schemas.openxmlformats.org/drawingml/2006/table">
            <a:tbl>
              <a:tblPr/>
              <a:tblGrid>
                <a:gridCol w="3352800">
                  <a:extLst>
                    <a:ext uri="{9D8B030D-6E8A-4147-A177-3AD203B41FA5}">
                      <a16:colId xmlns:a16="http://schemas.microsoft.com/office/drawing/2014/main" val="3513742836"/>
                    </a:ext>
                  </a:extLst>
                </a:gridCol>
                <a:gridCol w="3352800">
                  <a:extLst>
                    <a:ext uri="{9D8B030D-6E8A-4147-A177-3AD203B41FA5}">
                      <a16:colId xmlns:a16="http://schemas.microsoft.com/office/drawing/2014/main" val="3287522082"/>
                    </a:ext>
                  </a:extLst>
                </a:gridCol>
                <a:gridCol w="3352800">
                  <a:extLst>
                    <a:ext uri="{9D8B030D-6E8A-4147-A177-3AD203B41FA5}">
                      <a16:colId xmlns:a16="http://schemas.microsoft.com/office/drawing/2014/main" val="2221274583"/>
                    </a:ext>
                  </a:extLst>
                </a:gridCol>
              </a:tblGrid>
              <a:tr h="0">
                <a:tc>
                  <a:txBody>
                    <a:bodyPr/>
                    <a:lstStyle/>
                    <a:p>
                      <a:pPr>
                        <a:buNone/>
                      </a:pPr>
                      <a:r>
                        <a:rPr lang="en-IN"/>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Time (approx.)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Main Events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4876604"/>
                  </a:ext>
                </a:extLst>
              </a:tr>
              <a:tr h="0">
                <a:tc>
                  <a:txBody>
                    <a:bodyPr/>
                    <a:lstStyle/>
                    <a:p>
                      <a:pPr>
                        <a:buNone/>
                      </a:pPr>
                      <a:r>
                        <a:rPr lang="en-IN" b="1"/>
                        <a:t>1. Follicular Phase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Day 1 – 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Development of ovarian follicle &amp; secretion of estrogen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04368"/>
                  </a:ext>
                </a:extLst>
              </a:tr>
              <a:tr h="0">
                <a:tc>
                  <a:txBody>
                    <a:bodyPr/>
                    <a:lstStyle/>
                    <a:p>
                      <a:pPr>
                        <a:buNone/>
                      </a:pPr>
                      <a:r>
                        <a:rPr lang="en-IN" b="1"/>
                        <a:t>2. Ovulation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Day 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Release of mature ovum from ovary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3061755"/>
                  </a:ext>
                </a:extLst>
              </a:tr>
              <a:tr h="0">
                <a:tc>
                  <a:txBody>
                    <a:bodyPr/>
                    <a:lstStyle/>
                    <a:p>
                      <a:pPr>
                        <a:buNone/>
                      </a:pPr>
                      <a:r>
                        <a:rPr lang="en-IN" b="1"/>
                        <a:t>3. Luteal Phase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Day 15 – 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Formation of corpus luteum &amp; secretion of progesterone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9156215"/>
                  </a:ext>
                </a:extLst>
              </a:tr>
            </a:tbl>
          </a:graphicData>
        </a:graphic>
      </p:graphicFrame>
    </p:spTree>
    <p:extLst>
      <p:ext uri="{BB962C8B-B14F-4D97-AF65-F5344CB8AC3E}">
        <p14:creationId xmlns:p14="http://schemas.microsoft.com/office/powerpoint/2010/main" val="1179675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294D0-0920-95ED-4C1E-B20C99119CC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70D1082-70F8-47D7-011F-A07AC0CAA8D3}"/>
              </a:ext>
            </a:extLst>
          </p:cNvPr>
          <p:cNvPicPr>
            <a:picLocks noGrp="1" noChangeAspect="1"/>
          </p:cNvPicPr>
          <p:nvPr>
            <p:ph idx="1"/>
          </p:nvPr>
        </p:nvPicPr>
        <p:blipFill>
          <a:blip r:embed="rId2"/>
          <a:stretch>
            <a:fillRect/>
          </a:stretch>
        </p:blipFill>
        <p:spPr>
          <a:xfrm>
            <a:off x="1392729" y="1713041"/>
            <a:ext cx="9238863" cy="3431917"/>
          </a:xfrm>
          <a:prstGeom prst="rect">
            <a:avLst/>
          </a:prstGeom>
        </p:spPr>
      </p:pic>
    </p:spTree>
    <p:extLst>
      <p:ext uri="{BB962C8B-B14F-4D97-AF65-F5344CB8AC3E}">
        <p14:creationId xmlns:p14="http://schemas.microsoft.com/office/powerpoint/2010/main" val="1071335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F7EDC-19F2-1EC6-0E16-D69B1B8EAE9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0B63334-6354-D631-41DA-2D529A23B0AC}"/>
              </a:ext>
            </a:extLst>
          </p:cNvPr>
          <p:cNvPicPr>
            <a:picLocks noGrp="1" noChangeAspect="1"/>
          </p:cNvPicPr>
          <p:nvPr>
            <p:ph idx="1"/>
          </p:nvPr>
        </p:nvPicPr>
        <p:blipFill>
          <a:blip r:embed="rId2"/>
          <a:stretch>
            <a:fillRect/>
          </a:stretch>
        </p:blipFill>
        <p:spPr>
          <a:xfrm>
            <a:off x="2452254" y="156552"/>
            <a:ext cx="7512585" cy="6544895"/>
          </a:xfrm>
          <a:prstGeom prst="rect">
            <a:avLst/>
          </a:prstGeom>
        </p:spPr>
      </p:pic>
    </p:spTree>
    <p:extLst>
      <p:ext uri="{BB962C8B-B14F-4D97-AF65-F5344CB8AC3E}">
        <p14:creationId xmlns:p14="http://schemas.microsoft.com/office/powerpoint/2010/main" val="1611667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0FCD8-FDB3-633E-E1A5-73AE8ADAEDB8}"/>
              </a:ext>
            </a:extLst>
          </p:cNvPr>
          <p:cNvSpPr>
            <a:spLocks noGrp="1"/>
          </p:cNvSpPr>
          <p:nvPr>
            <p:ph type="title"/>
          </p:nvPr>
        </p:nvSpPr>
        <p:spPr/>
        <p:txBody>
          <a:bodyPr/>
          <a:lstStyle/>
          <a:p>
            <a:r>
              <a:rPr lang="en-US" dirty="0"/>
              <a:t>Test for ovulation</a:t>
            </a:r>
            <a:endParaRPr lang="en-IN" dirty="0"/>
          </a:p>
        </p:txBody>
      </p:sp>
      <p:sp>
        <p:nvSpPr>
          <p:cNvPr id="3" name="Content Placeholder 2">
            <a:extLst>
              <a:ext uri="{FF2B5EF4-FFF2-40B4-BE49-F238E27FC236}">
                <a16:creationId xmlns:a16="http://schemas.microsoft.com/office/drawing/2014/main" id="{22208289-CD6E-48FD-020A-ED9EE615B822}"/>
              </a:ext>
            </a:extLst>
          </p:cNvPr>
          <p:cNvSpPr>
            <a:spLocks noGrp="1"/>
          </p:cNvSpPr>
          <p:nvPr>
            <p:ph idx="1"/>
          </p:nvPr>
        </p:nvSpPr>
        <p:spPr/>
        <p:txBody>
          <a:bodyPr/>
          <a:lstStyle/>
          <a:p>
            <a:r>
              <a:rPr lang="en-US" dirty="0"/>
              <a:t>Basal body temperature</a:t>
            </a:r>
          </a:p>
          <a:p>
            <a:r>
              <a:rPr lang="en-US" dirty="0"/>
              <a:t>LH surge</a:t>
            </a:r>
          </a:p>
          <a:p>
            <a:r>
              <a:rPr lang="en-US" dirty="0"/>
              <a:t>Cervical mucus study</a:t>
            </a:r>
          </a:p>
          <a:p>
            <a:r>
              <a:rPr lang="en-US" dirty="0"/>
              <a:t>Ultrasonography </a:t>
            </a:r>
          </a:p>
          <a:p>
            <a:r>
              <a:rPr lang="en-US" dirty="0"/>
              <a:t>Mid cycle pain</a:t>
            </a:r>
            <a:endParaRPr lang="en-IN" dirty="0"/>
          </a:p>
        </p:txBody>
      </p:sp>
    </p:spTree>
    <p:extLst>
      <p:ext uri="{BB962C8B-B14F-4D97-AF65-F5344CB8AC3E}">
        <p14:creationId xmlns:p14="http://schemas.microsoft.com/office/powerpoint/2010/main" val="3159395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BA045-B060-C7B0-14E4-AC9E110D40B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6556B66-C2D6-AC73-B00D-B64406FDE61A}"/>
              </a:ext>
            </a:extLst>
          </p:cNvPr>
          <p:cNvPicPr>
            <a:picLocks noGrp="1" noChangeAspect="1"/>
          </p:cNvPicPr>
          <p:nvPr>
            <p:ph idx="1"/>
          </p:nvPr>
        </p:nvPicPr>
        <p:blipFill>
          <a:blip r:embed="rId2"/>
          <a:stretch>
            <a:fillRect/>
          </a:stretch>
        </p:blipFill>
        <p:spPr>
          <a:xfrm>
            <a:off x="1659250" y="732459"/>
            <a:ext cx="8873499" cy="5393081"/>
          </a:xfrm>
          <a:prstGeom prst="rect">
            <a:avLst/>
          </a:prstGeom>
        </p:spPr>
      </p:pic>
    </p:spTree>
    <p:extLst>
      <p:ext uri="{BB962C8B-B14F-4D97-AF65-F5344CB8AC3E}">
        <p14:creationId xmlns:p14="http://schemas.microsoft.com/office/powerpoint/2010/main" val="4057439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F5306-4D2D-ECE4-5CBC-904CD52B5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0645C-BE1E-174F-9385-5EF271215731}"/>
              </a:ext>
            </a:extLst>
          </p:cNvPr>
          <p:cNvSpPr>
            <a:spLocks noGrp="1"/>
          </p:cNvSpPr>
          <p:nvPr>
            <p:ph type="ctrTitle"/>
          </p:nvPr>
        </p:nvSpPr>
        <p:spPr/>
        <p:txBody>
          <a:bodyPr/>
          <a:lstStyle/>
          <a:p>
            <a:r>
              <a:rPr lang="en-US" dirty="0"/>
              <a:t>Unit 4</a:t>
            </a:r>
            <a:endParaRPr lang="en-IN" dirty="0"/>
          </a:p>
        </p:txBody>
      </p:sp>
      <p:sp>
        <p:nvSpPr>
          <p:cNvPr id="3" name="Subtitle 2">
            <a:extLst>
              <a:ext uri="{FF2B5EF4-FFF2-40B4-BE49-F238E27FC236}">
                <a16:creationId xmlns:a16="http://schemas.microsoft.com/office/drawing/2014/main" id="{37A00098-0722-6300-6A6E-FAFC54A14B2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135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A9EF-6C8D-456F-C16D-062896668E8A}"/>
              </a:ext>
            </a:extLst>
          </p:cNvPr>
          <p:cNvSpPr>
            <a:spLocks noGrp="1"/>
          </p:cNvSpPr>
          <p:nvPr>
            <p:ph type="title"/>
          </p:nvPr>
        </p:nvSpPr>
        <p:spPr/>
        <p:txBody>
          <a:bodyPr/>
          <a:lstStyle/>
          <a:p>
            <a:r>
              <a:rPr lang="en-US" dirty="0"/>
              <a:t>Function of placenta</a:t>
            </a:r>
            <a:endParaRPr lang="en-IN" dirty="0"/>
          </a:p>
        </p:txBody>
      </p:sp>
      <p:graphicFrame>
        <p:nvGraphicFramePr>
          <p:cNvPr id="4" name="Content Placeholder 3">
            <a:extLst>
              <a:ext uri="{FF2B5EF4-FFF2-40B4-BE49-F238E27FC236}">
                <a16:creationId xmlns:a16="http://schemas.microsoft.com/office/drawing/2014/main" id="{22D882F1-EA1D-99E7-9A7C-3BC23FDB99A3}"/>
              </a:ext>
            </a:extLst>
          </p:cNvPr>
          <p:cNvGraphicFramePr>
            <a:graphicFrameLocks noGrp="1"/>
          </p:cNvGraphicFramePr>
          <p:nvPr>
            <p:ph idx="1"/>
            <p:extLst>
              <p:ext uri="{D42A27DB-BD31-4B8C-83A1-F6EECF244321}">
                <p14:modId xmlns:p14="http://schemas.microsoft.com/office/powerpoint/2010/main" val="2243263617"/>
              </p:ext>
            </p:extLst>
          </p:nvPr>
        </p:nvGraphicFramePr>
        <p:xfrm>
          <a:off x="1066800" y="2469356"/>
          <a:ext cx="10058400" cy="3200400"/>
        </p:xfrm>
        <a:graphic>
          <a:graphicData uri="http://schemas.openxmlformats.org/drawingml/2006/table">
            <a:tbl>
              <a:tblPr/>
              <a:tblGrid>
                <a:gridCol w="5029200">
                  <a:extLst>
                    <a:ext uri="{9D8B030D-6E8A-4147-A177-3AD203B41FA5}">
                      <a16:colId xmlns:a16="http://schemas.microsoft.com/office/drawing/2014/main" val="3932071111"/>
                    </a:ext>
                  </a:extLst>
                </a:gridCol>
                <a:gridCol w="5029200">
                  <a:extLst>
                    <a:ext uri="{9D8B030D-6E8A-4147-A177-3AD203B41FA5}">
                      <a16:colId xmlns:a16="http://schemas.microsoft.com/office/drawing/2014/main" val="3784820720"/>
                    </a:ext>
                  </a:extLst>
                </a:gridCol>
              </a:tblGrid>
              <a:tr h="0">
                <a:tc>
                  <a:txBody>
                    <a:bodyPr/>
                    <a:lstStyle/>
                    <a:p>
                      <a:pPr>
                        <a:buNone/>
                      </a:pPr>
                      <a:r>
                        <a:rPr lang="en-IN"/>
                        <a:t>Function 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Role of Placenta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8814319"/>
                  </a:ext>
                </a:extLst>
              </a:tr>
              <a:tr h="0">
                <a:tc>
                  <a:txBody>
                    <a:bodyPr/>
                    <a:lstStyle/>
                    <a:p>
                      <a:pPr>
                        <a:buNone/>
                      </a:pPr>
                      <a:r>
                        <a:rPr lang="en-IN"/>
                        <a:t>Respiratory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Exchange of O₂ &amp; CO₂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4332138"/>
                  </a:ext>
                </a:extLst>
              </a:tr>
              <a:tr h="0">
                <a:tc>
                  <a:txBody>
                    <a:bodyPr/>
                    <a:lstStyle/>
                    <a:p>
                      <a:pPr>
                        <a:buNone/>
                      </a:pPr>
                      <a:r>
                        <a:rPr lang="en-IN"/>
                        <a:t>Nutritive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Supplies nutrients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3125327"/>
                  </a:ext>
                </a:extLst>
              </a:tr>
              <a:tr h="0">
                <a:tc>
                  <a:txBody>
                    <a:bodyPr/>
                    <a:lstStyle/>
                    <a:p>
                      <a:pPr>
                        <a:buNone/>
                      </a:pPr>
                      <a:r>
                        <a:rPr lang="en-IN"/>
                        <a:t>Excretory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Removes fetal waste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5969405"/>
                  </a:ext>
                </a:extLst>
              </a:tr>
              <a:tr h="0">
                <a:tc>
                  <a:txBody>
                    <a:bodyPr/>
                    <a:lstStyle/>
                    <a:p>
                      <a:pPr>
                        <a:buNone/>
                      </a:pPr>
                      <a:r>
                        <a:rPr lang="en-IN"/>
                        <a:t>Protective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Selective barrier from toxins/infections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163049"/>
                  </a:ext>
                </a:extLst>
              </a:tr>
              <a:tr h="0">
                <a:tc>
                  <a:txBody>
                    <a:bodyPr/>
                    <a:lstStyle/>
                    <a:p>
                      <a:pPr>
                        <a:buNone/>
                      </a:pPr>
                      <a:r>
                        <a:rPr lang="en-IN"/>
                        <a:t>Endocrine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a:t>Secretes hormones (hCG, estrogen, progesterone, hPL)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4678281"/>
                  </a:ext>
                </a:extLst>
              </a:tr>
              <a:tr h="0">
                <a:tc>
                  <a:txBody>
                    <a:bodyPr/>
                    <a:lstStyle/>
                    <a:p>
                      <a:pPr>
                        <a:buNone/>
                      </a:pPr>
                      <a:r>
                        <a:rPr lang="en-IN"/>
                        <a:t>Immune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Transfers maternal antibodies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9775126"/>
                  </a:ext>
                </a:extLst>
              </a:tr>
              <a:tr h="0">
                <a:tc>
                  <a:txBody>
                    <a:bodyPr/>
                    <a:lstStyle/>
                    <a:p>
                      <a:pPr>
                        <a:buNone/>
                      </a:pPr>
                      <a:r>
                        <a:rPr lang="en-IN"/>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Stores glycogen, fats, and iron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4349117"/>
                  </a:ext>
                </a:extLst>
              </a:tr>
            </a:tbl>
          </a:graphicData>
        </a:graphic>
      </p:graphicFrame>
    </p:spTree>
    <p:extLst>
      <p:ext uri="{BB962C8B-B14F-4D97-AF65-F5344CB8AC3E}">
        <p14:creationId xmlns:p14="http://schemas.microsoft.com/office/powerpoint/2010/main" val="709112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A988-78A6-9924-7A70-BBAA312C585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E4C867F-438F-1447-3513-D2E64B981ABE}"/>
              </a:ext>
            </a:extLst>
          </p:cNvPr>
          <p:cNvPicPr>
            <a:picLocks noGrp="1" noChangeAspect="1"/>
          </p:cNvPicPr>
          <p:nvPr>
            <p:ph idx="1"/>
          </p:nvPr>
        </p:nvPicPr>
        <p:blipFill>
          <a:blip r:embed="rId2"/>
          <a:stretch>
            <a:fillRect/>
          </a:stretch>
        </p:blipFill>
        <p:spPr>
          <a:xfrm>
            <a:off x="2693287" y="642594"/>
            <a:ext cx="6805426" cy="5572812"/>
          </a:xfrm>
          <a:prstGeom prst="rect">
            <a:avLst/>
          </a:prstGeom>
        </p:spPr>
      </p:pic>
    </p:spTree>
    <p:extLst>
      <p:ext uri="{BB962C8B-B14F-4D97-AF65-F5344CB8AC3E}">
        <p14:creationId xmlns:p14="http://schemas.microsoft.com/office/powerpoint/2010/main" val="1034458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99807-3263-7FC6-9F90-612090090702}"/>
              </a:ext>
            </a:extLst>
          </p:cNvPr>
          <p:cNvSpPr>
            <a:spLocks noGrp="1"/>
          </p:cNvSpPr>
          <p:nvPr>
            <p:ph type="title"/>
          </p:nvPr>
        </p:nvSpPr>
        <p:spPr/>
        <p:txBody>
          <a:bodyPr>
            <a:normAutofit fontScale="90000"/>
          </a:bodyPr>
          <a:lstStyle/>
          <a:p>
            <a:r>
              <a:rPr lang="en-US" b="1" dirty="0"/>
              <a:t>Types of Pregnancy Tests</a:t>
            </a:r>
            <a:br>
              <a:rPr lang="en-US" b="1" dirty="0"/>
            </a:br>
            <a:endParaRPr lang="en-IN" dirty="0"/>
          </a:p>
        </p:txBody>
      </p:sp>
      <p:sp>
        <p:nvSpPr>
          <p:cNvPr id="3" name="Content Placeholder 2">
            <a:extLst>
              <a:ext uri="{FF2B5EF4-FFF2-40B4-BE49-F238E27FC236}">
                <a16:creationId xmlns:a16="http://schemas.microsoft.com/office/drawing/2014/main" id="{CA0AFE73-6656-DEDC-3720-3B2AB8D58A67}"/>
              </a:ext>
            </a:extLst>
          </p:cNvPr>
          <p:cNvSpPr>
            <a:spLocks noGrp="1"/>
          </p:cNvSpPr>
          <p:nvPr>
            <p:ph idx="1"/>
          </p:nvPr>
        </p:nvSpPr>
        <p:spPr/>
        <p:txBody>
          <a:bodyPr/>
          <a:lstStyle/>
          <a:p>
            <a:r>
              <a:rPr lang="en-US" dirty="0"/>
              <a:t>Pregnancy can be checked using:</a:t>
            </a:r>
          </a:p>
          <a:p>
            <a:pPr marL="0" indent="0">
              <a:buNone/>
            </a:pPr>
            <a:r>
              <a:rPr lang="en-US" dirty="0"/>
              <a:t>1️⃣ </a:t>
            </a:r>
            <a:r>
              <a:rPr lang="en-US" b="1" dirty="0"/>
              <a:t>Urine Pregnancy Tests</a:t>
            </a:r>
            <a:br>
              <a:rPr lang="en-US" dirty="0"/>
            </a:br>
            <a:r>
              <a:rPr lang="en-US" dirty="0"/>
              <a:t>2️⃣ </a:t>
            </a:r>
            <a:r>
              <a:rPr lang="en-US" b="1" dirty="0"/>
              <a:t>Blood Pregnancy Tests</a:t>
            </a:r>
            <a:br>
              <a:rPr lang="en-US" dirty="0"/>
            </a:br>
            <a:r>
              <a:rPr lang="en-US" dirty="0"/>
              <a:t>3️⃣ </a:t>
            </a:r>
            <a:r>
              <a:rPr lang="en-US" b="1" dirty="0"/>
              <a:t>Ultrasound Examination</a:t>
            </a:r>
            <a:endParaRPr lang="en-US" dirty="0"/>
          </a:p>
          <a:p>
            <a:endParaRPr lang="en-IN" dirty="0"/>
          </a:p>
        </p:txBody>
      </p:sp>
    </p:spTree>
    <p:extLst>
      <p:ext uri="{BB962C8B-B14F-4D97-AF65-F5344CB8AC3E}">
        <p14:creationId xmlns:p14="http://schemas.microsoft.com/office/powerpoint/2010/main" val="230709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CDDAC-36C7-C53D-2995-7D3E2ACD40BA}"/>
              </a:ext>
            </a:extLst>
          </p:cNvPr>
          <p:cNvSpPr>
            <a:spLocks noGrp="1"/>
          </p:cNvSpPr>
          <p:nvPr>
            <p:ph type="title"/>
          </p:nvPr>
        </p:nvSpPr>
        <p:spPr/>
        <p:txBody>
          <a:bodyPr>
            <a:normAutofit fontScale="90000"/>
          </a:bodyPr>
          <a:lstStyle/>
          <a:p>
            <a:r>
              <a:rPr lang="en-US" b="1" dirty="0"/>
              <a:t>Urine Pregnancy Tests (Home Test / Rapid Card Test)</a:t>
            </a:r>
            <a:endParaRPr lang="en-IN" dirty="0"/>
          </a:p>
        </p:txBody>
      </p:sp>
      <p:sp>
        <p:nvSpPr>
          <p:cNvPr id="3" name="Content Placeholder 2">
            <a:extLst>
              <a:ext uri="{FF2B5EF4-FFF2-40B4-BE49-F238E27FC236}">
                <a16:creationId xmlns:a16="http://schemas.microsoft.com/office/drawing/2014/main" id="{466A18BA-C368-93B9-F83E-845702C76D9F}"/>
              </a:ext>
            </a:extLst>
          </p:cNvPr>
          <p:cNvSpPr>
            <a:spLocks noGrp="1"/>
          </p:cNvSpPr>
          <p:nvPr>
            <p:ph idx="1"/>
          </p:nvPr>
        </p:nvSpPr>
        <p:spPr/>
        <p:txBody>
          <a:bodyPr/>
          <a:lstStyle/>
          <a:p>
            <a:r>
              <a:rPr lang="en-US" dirty="0"/>
              <a:t>Most common and easy test</a:t>
            </a:r>
          </a:p>
          <a:p>
            <a:r>
              <a:rPr lang="en-US" dirty="0"/>
              <a:t>Detects </a:t>
            </a:r>
            <a:r>
              <a:rPr lang="en-US" b="1" dirty="0" err="1"/>
              <a:t>hCG</a:t>
            </a:r>
            <a:r>
              <a:rPr lang="en-US" b="1" dirty="0"/>
              <a:t> hormone</a:t>
            </a:r>
            <a:r>
              <a:rPr lang="en-US" dirty="0"/>
              <a:t> in the urine</a:t>
            </a:r>
          </a:p>
          <a:p>
            <a:r>
              <a:rPr lang="en-US" dirty="0"/>
              <a:t>Can be done at home using </a:t>
            </a:r>
            <a:r>
              <a:rPr lang="en-US" b="1" dirty="0"/>
              <a:t>pregnancy test kit</a:t>
            </a:r>
            <a:endParaRPr lang="en-US" dirty="0"/>
          </a:p>
          <a:p>
            <a:r>
              <a:rPr lang="en-US" b="1" dirty="0"/>
              <a:t>🔸 Result</a:t>
            </a:r>
          </a:p>
          <a:p>
            <a:r>
              <a:rPr lang="en-US" b="1" dirty="0"/>
              <a:t>Two lines = Positive (pregnant)</a:t>
            </a:r>
            <a:endParaRPr lang="en-US" dirty="0"/>
          </a:p>
          <a:p>
            <a:r>
              <a:rPr lang="en-US" b="1" dirty="0"/>
              <a:t>One line = Negative (not pregnant)</a:t>
            </a:r>
            <a:endParaRPr lang="en-US" dirty="0"/>
          </a:p>
          <a:p>
            <a:r>
              <a:rPr lang="en-US" b="1" dirty="0"/>
              <a:t>🔸 When to do?</a:t>
            </a:r>
          </a:p>
          <a:p>
            <a:r>
              <a:rPr lang="en-US" dirty="0"/>
              <a:t>Usually after </a:t>
            </a:r>
            <a:r>
              <a:rPr lang="en-US" b="1" dirty="0"/>
              <a:t>missing a menstrual period (around 7–14 days after conception)</a:t>
            </a:r>
            <a:endParaRPr lang="en-US" dirty="0"/>
          </a:p>
          <a:p>
            <a:endParaRPr lang="en-IN" dirty="0"/>
          </a:p>
        </p:txBody>
      </p:sp>
    </p:spTree>
    <p:extLst>
      <p:ext uri="{BB962C8B-B14F-4D97-AF65-F5344CB8AC3E}">
        <p14:creationId xmlns:p14="http://schemas.microsoft.com/office/powerpoint/2010/main" val="536962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AD482-5332-89DB-48FD-C36FE54E1515}"/>
              </a:ext>
            </a:extLst>
          </p:cNvPr>
          <p:cNvSpPr>
            <a:spLocks noGrp="1"/>
          </p:cNvSpPr>
          <p:nvPr>
            <p:ph type="title"/>
          </p:nvPr>
        </p:nvSpPr>
        <p:spPr>
          <a:xfrm>
            <a:off x="1066800" y="2222013"/>
            <a:ext cx="10058400" cy="1371600"/>
          </a:xfrm>
        </p:spPr>
        <p:txBody>
          <a:bodyPr>
            <a:normAutofit fontScale="90000"/>
          </a:bodyPr>
          <a:lstStyle/>
          <a:p>
            <a:pPr lvl="0" eaLnBrk="0" fontAlgn="base" hangingPunct="0">
              <a:lnSpc>
                <a:spcPct val="100000"/>
              </a:lnSpc>
              <a:spcAft>
                <a:spcPct val="0"/>
              </a:spcAft>
            </a:pPr>
            <a:r>
              <a:rPr lang="en-US" altLang="en-US" sz="2700" b="1" dirty="0">
                <a:latin typeface="Arial" panose="020B0604020202020204" pitchFamily="34" charset="0"/>
              </a:rPr>
              <a:t>Blood Pregnancy Tests</a:t>
            </a:r>
            <a:br>
              <a:rPr lang="en-US" altLang="en-US" sz="2700" b="1" dirty="0">
                <a:latin typeface="Arial" panose="020B0604020202020204" pitchFamily="34" charset="0"/>
              </a:rPr>
            </a:br>
            <a:r>
              <a:rPr lang="en-US" altLang="en-US" sz="2700" dirty="0">
                <a:latin typeface="Arial" panose="020B0604020202020204" pitchFamily="34" charset="0"/>
              </a:rPr>
              <a:t>Blood tests detect </a:t>
            </a:r>
            <a:r>
              <a:rPr lang="en-US" altLang="en-US" sz="2700" b="1" dirty="0">
                <a:latin typeface="Arial" panose="020B0604020202020204" pitchFamily="34" charset="0"/>
              </a:rPr>
              <a:t>exact levels of </a:t>
            </a:r>
            <a:r>
              <a:rPr lang="en-US" altLang="en-US" sz="2700" b="1" dirty="0" err="1">
                <a:latin typeface="Arial" panose="020B0604020202020204" pitchFamily="34" charset="0"/>
              </a:rPr>
              <a:t>hCG</a:t>
            </a:r>
            <a:r>
              <a:rPr lang="en-US" altLang="en-US" sz="2700" dirty="0">
                <a:latin typeface="Arial" panose="020B0604020202020204" pitchFamily="34" charset="0"/>
              </a:rPr>
              <a:t> earlier and more accurately than urine tests.</a:t>
            </a:r>
            <a:br>
              <a:rPr lang="en-US" altLang="en-US" sz="2700" b="1" dirty="0">
                <a:latin typeface="Arial" panose="020B0604020202020204" pitchFamily="34" charset="0"/>
              </a:rPr>
            </a:br>
            <a:r>
              <a:rPr lang="en-US" altLang="en-US" sz="2700" b="1" dirty="0">
                <a:latin typeface="Arial" panose="020B0604020202020204" pitchFamily="34" charset="0"/>
              </a:rPr>
              <a:t>Types of blood tests</a:t>
            </a:r>
            <a:br>
              <a:rPr lang="en-US" altLang="en-US" sz="2700" b="1" dirty="0">
                <a:latin typeface="Arial" panose="020B0604020202020204" pitchFamily="34" charset="0"/>
              </a:rPr>
            </a:br>
            <a:br>
              <a:rPr lang="en-US" altLang="en-US" sz="2700" b="1" dirty="0">
                <a:latin typeface="Arial" panose="020B0604020202020204" pitchFamily="34" charset="0"/>
              </a:rPr>
            </a:br>
            <a:r>
              <a:rPr lang="en-US" altLang="en-US" sz="2700" b="1" dirty="0">
                <a:latin typeface="Arial" panose="020B0604020202020204" pitchFamily="34" charset="0"/>
              </a:rPr>
              <a:t>Benefits</a:t>
            </a:r>
            <a:br>
              <a:rPr lang="en-US" altLang="en-US" sz="2700" b="1" dirty="0">
                <a:latin typeface="Arial" panose="020B0604020202020204" pitchFamily="34" charset="0"/>
              </a:rPr>
            </a:br>
            <a:r>
              <a:rPr lang="en-US" altLang="en-US" sz="2700" dirty="0">
                <a:latin typeface="Arial" panose="020B0604020202020204" pitchFamily="34" charset="0"/>
              </a:rPr>
              <a:t>Detects pregnancy </a:t>
            </a:r>
            <a:r>
              <a:rPr lang="en-US" altLang="en-US" sz="2700" b="1" dirty="0">
                <a:latin typeface="Arial" panose="020B0604020202020204" pitchFamily="34" charset="0"/>
              </a:rPr>
              <a:t>as early as 8–10 days after fertilization</a:t>
            </a:r>
            <a:br>
              <a:rPr lang="en-US" altLang="en-US" sz="2700" dirty="0">
                <a:latin typeface="Arial" panose="020B0604020202020204" pitchFamily="34" charset="0"/>
              </a:rPr>
            </a:br>
            <a:r>
              <a:rPr lang="en-US" altLang="en-US" sz="2700" dirty="0">
                <a:latin typeface="Arial" panose="020B0604020202020204" pitchFamily="34" charset="0"/>
              </a:rPr>
              <a:t>Useful to detect:</a:t>
            </a:r>
            <a:br>
              <a:rPr lang="en-US" altLang="en-US" sz="2700" dirty="0">
                <a:latin typeface="Arial" panose="020B0604020202020204" pitchFamily="34" charset="0"/>
              </a:rPr>
            </a:br>
            <a:r>
              <a:rPr lang="en-US" altLang="en-US" sz="2700" dirty="0">
                <a:latin typeface="Arial" panose="020B0604020202020204" pitchFamily="34" charset="0"/>
              </a:rPr>
              <a:t>ectopic pregnancy</a:t>
            </a:r>
            <a:br>
              <a:rPr lang="en-US" altLang="en-US" sz="2700" dirty="0">
                <a:latin typeface="Arial" panose="020B0604020202020204" pitchFamily="34" charset="0"/>
              </a:rPr>
            </a:br>
            <a:r>
              <a:rPr lang="en-US" altLang="en-US" sz="2700" dirty="0">
                <a:latin typeface="Arial" panose="020B0604020202020204" pitchFamily="34" charset="0"/>
              </a:rPr>
              <a:t>risk of miscarriage</a:t>
            </a:r>
            <a:br>
              <a:rPr lang="en-US" altLang="en-US" sz="2700" dirty="0">
                <a:latin typeface="Arial" panose="020B0604020202020204" pitchFamily="34" charset="0"/>
              </a:rPr>
            </a:br>
            <a:r>
              <a:rPr lang="en-US" altLang="en-US" sz="2700" dirty="0">
                <a:latin typeface="Arial" panose="020B0604020202020204" pitchFamily="34" charset="0"/>
              </a:rPr>
              <a:t>multiple pregnancies (twins, triplets)</a:t>
            </a:r>
            <a:br>
              <a:rPr lang="en-US" altLang="en-US" dirty="0">
                <a:latin typeface="Arial" panose="020B0604020202020204" pitchFamily="34" charset="0"/>
              </a:rPr>
            </a:br>
            <a:endParaRPr lang="en-IN" dirty="0"/>
          </a:p>
        </p:txBody>
      </p:sp>
      <p:graphicFrame>
        <p:nvGraphicFramePr>
          <p:cNvPr id="4" name="Content Placeholder 3">
            <a:extLst>
              <a:ext uri="{FF2B5EF4-FFF2-40B4-BE49-F238E27FC236}">
                <a16:creationId xmlns:a16="http://schemas.microsoft.com/office/drawing/2014/main" id="{BC7E0D74-71A7-7310-3894-E8120AC7843A}"/>
              </a:ext>
            </a:extLst>
          </p:cNvPr>
          <p:cNvGraphicFramePr>
            <a:graphicFrameLocks noGrp="1"/>
          </p:cNvGraphicFramePr>
          <p:nvPr>
            <p:ph idx="1"/>
            <p:extLst>
              <p:ext uri="{D42A27DB-BD31-4B8C-83A1-F6EECF244321}">
                <p14:modId xmlns:p14="http://schemas.microsoft.com/office/powerpoint/2010/main" val="2304881082"/>
              </p:ext>
            </p:extLst>
          </p:nvPr>
        </p:nvGraphicFramePr>
        <p:xfrm>
          <a:off x="1066800" y="4843806"/>
          <a:ext cx="10058400" cy="1371600"/>
        </p:xfrm>
        <a:graphic>
          <a:graphicData uri="http://schemas.openxmlformats.org/drawingml/2006/table">
            <a:tbl>
              <a:tblPr/>
              <a:tblGrid>
                <a:gridCol w="5029200">
                  <a:extLst>
                    <a:ext uri="{9D8B030D-6E8A-4147-A177-3AD203B41FA5}">
                      <a16:colId xmlns:a16="http://schemas.microsoft.com/office/drawing/2014/main" val="1472113303"/>
                    </a:ext>
                  </a:extLst>
                </a:gridCol>
                <a:gridCol w="5029200">
                  <a:extLst>
                    <a:ext uri="{9D8B030D-6E8A-4147-A177-3AD203B41FA5}">
                      <a16:colId xmlns:a16="http://schemas.microsoft.com/office/drawing/2014/main" val="2918736201"/>
                    </a:ext>
                  </a:extLst>
                </a:gridCol>
              </a:tblGrid>
              <a:tr h="0">
                <a:tc>
                  <a:txBody>
                    <a:bodyPr/>
                    <a:lstStyle/>
                    <a:p>
                      <a:pPr>
                        <a:buNone/>
                      </a:pPr>
                      <a:r>
                        <a:rPr lang="en-IN"/>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What it shows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4225735"/>
                  </a:ext>
                </a:extLst>
              </a:tr>
              <a:tr h="0">
                <a:tc>
                  <a:txBody>
                    <a:bodyPr/>
                    <a:lstStyle/>
                    <a:p>
                      <a:pPr>
                        <a:buNone/>
                      </a:pPr>
                      <a:r>
                        <a:rPr lang="en-IN" b="1"/>
                        <a:t>Qualitative hCG test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Tells if pregnancy is present (Yes/No)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6896017"/>
                  </a:ext>
                </a:extLst>
              </a:tr>
              <a:tr h="0">
                <a:tc>
                  <a:txBody>
                    <a:bodyPr/>
                    <a:lstStyle/>
                    <a:p>
                      <a:pPr>
                        <a:buNone/>
                      </a:pPr>
                      <a:r>
                        <a:rPr lang="en-US" b="1" dirty="0"/>
                        <a:t>Quantitative </a:t>
                      </a:r>
                      <a:r>
                        <a:rPr lang="en-US" b="1" dirty="0" err="1"/>
                        <a:t>hCG</a:t>
                      </a:r>
                      <a:r>
                        <a:rPr lang="en-US" b="1" dirty="0"/>
                        <a:t> test (Beta-</a:t>
                      </a:r>
                      <a:r>
                        <a:rPr lang="en-US" b="1" dirty="0" err="1"/>
                        <a:t>hCG</a:t>
                      </a:r>
                      <a:r>
                        <a:rPr lang="en-US" b="1" dirty="0"/>
                        <a:t> test)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Measures exact </a:t>
                      </a:r>
                      <a:r>
                        <a:rPr lang="en-US" dirty="0" err="1"/>
                        <a:t>hCG</a:t>
                      </a:r>
                      <a:r>
                        <a:rPr lang="en-US" dirty="0"/>
                        <a:t> level to monitor pregnancy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941325"/>
                  </a:ext>
                </a:extLst>
              </a:tr>
            </a:tbl>
          </a:graphicData>
        </a:graphic>
      </p:graphicFrame>
    </p:spTree>
    <p:extLst>
      <p:ext uri="{BB962C8B-B14F-4D97-AF65-F5344CB8AC3E}">
        <p14:creationId xmlns:p14="http://schemas.microsoft.com/office/powerpoint/2010/main" val="1357607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D39A6-B4BD-1EF3-A1A8-09DA3DFC2953}"/>
              </a:ext>
            </a:extLst>
          </p:cNvPr>
          <p:cNvSpPr>
            <a:spLocks noGrp="1"/>
          </p:cNvSpPr>
          <p:nvPr>
            <p:ph type="title"/>
          </p:nvPr>
        </p:nvSpPr>
        <p:spPr/>
        <p:txBody>
          <a:bodyPr>
            <a:normAutofit/>
          </a:bodyPr>
          <a:lstStyle/>
          <a:p>
            <a:r>
              <a:rPr lang="en-US" b="1" dirty="0"/>
              <a:t>Ultrasound Test</a:t>
            </a:r>
            <a:endParaRPr lang="en-IN" dirty="0"/>
          </a:p>
        </p:txBody>
      </p:sp>
      <p:sp>
        <p:nvSpPr>
          <p:cNvPr id="3" name="Content Placeholder 2">
            <a:extLst>
              <a:ext uri="{FF2B5EF4-FFF2-40B4-BE49-F238E27FC236}">
                <a16:creationId xmlns:a16="http://schemas.microsoft.com/office/drawing/2014/main" id="{A8D38135-8020-DBF2-9EE6-5A885AAFE435}"/>
              </a:ext>
            </a:extLst>
          </p:cNvPr>
          <p:cNvSpPr>
            <a:spLocks noGrp="1"/>
          </p:cNvSpPr>
          <p:nvPr>
            <p:ph idx="1"/>
          </p:nvPr>
        </p:nvSpPr>
        <p:spPr/>
        <p:txBody>
          <a:bodyPr/>
          <a:lstStyle/>
          <a:p>
            <a:r>
              <a:rPr lang="en-US" dirty="0"/>
              <a:t>Uses sound waves to visualize fetus and uterus</a:t>
            </a:r>
          </a:p>
          <a:p>
            <a:r>
              <a:rPr lang="en-US" dirty="0"/>
              <a:t>Not used to </a:t>
            </a:r>
            <a:r>
              <a:rPr lang="en-US" i="1" dirty="0"/>
              <a:t>confirm</a:t>
            </a:r>
            <a:r>
              <a:rPr lang="en-US" dirty="0"/>
              <a:t> pregnancy early, but to:</a:t>
            </a:r>
          </a:p>
          <a:p>
            <a:pPr lvl="1"/>
            <a:r>
              <a:rPr lang="en-US" dirty="0"/>
              <a:t>Detect </a:t>
            </a:r>
            <a:r>
              <a:rPr lang="en-US" b="1" dirty="0"/>
              <a:t>fetal heartbeat</a:t>
            </a:r>
            <a:endParaRPr lang="en-US" dirty="0"/>
          </a:p>
          <a:p>
            <a:pPr lvl="1"/>
            <a:r>
              <a:rPr lang="en-US" dirty="0"/>
              <a:t>Locate fetus inside uterus</a:t>
            </a:r>
          </a:p>
          <a:p>
            <a:pPr lvl="1"/>
            <a:r>
              <a:rPr lang="en-US" dirty="0"/>
              <a:t>Check </a:t>
            </a:r>
            <a:r>
              <a:rPr lang="en-US" b="1" dirty="0"/>
              <a:t>gestational age and growth</a:t>
            </a:r>
            <a:endParaRPr lang="en-US" dirty="0"/>
          </a:p>
          <a:p>
            <a:r>
              <a:rPr lang="en-US" b="1" dirty="0"/>
              <a:t>When?</a:t>
            </a:r>
          </a:p>
          <a:p>
            <a:r>
              <a:rPr lang="en-US" dirty="0"/>
              <a:t>Usually done </a:t>
            </a:r>
            <a:r>
              <a:rPr lang="en-US" b="1" dirty="0"/>
              <a:t>after 5–6 weeks of pregnancy</a:t>
            </a:r>
            <a:r>
              <a:rPr lang="en-US" dirty="0"/>
              <a:t> to see fetal sac &amp; heartbeat.</a:t>
            </a:r>
          </a:p>
          <a:p>
            <a:endParaRPr lang="en-IN" dirty="0"/>
          </a:p>
        </p:txBody>
      </p:sp>
    </p:spTree>
    <p:extLst>
      <p:ext uri="{BB962C8B-B14F-4D97-AF65-F5344CB8AC3E}">
        <p14:creationId xmlns:p14="http://schemas.microsoft.com/office/powerpoint/2010/main" val="2349003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E156-DD7B-B886-10B8-E88353FB68C6}"/>
              </a:ext>
            </a:extLst>
          </p:cNvPr>
          <p:cNvSpPr>
            <a:spLocks noGrp="1"/>
          </p:cNvSpPr>
          <p:nvPr>
            <p:ph type="title"/>
          </p:nvPr>
        </p:nvSpPr>
        <p:spPr/>
        <p:txBody>
          <a:bodyPr/>
          <a:lstStyle/>
          <a:p>
            <a:r>
              <a:rPr lang="en-US" dirty="0"/>
              <a:t>Other pregnancy tests</a:t>
            </a:r>
            <a:endParaRPr lang="en-IN" dirty="0"/>
          </a:p>
        </p:txBody>
      </p:sp>
      <p:graphicFrame>
        <p:nvGraphicFramePr>
          <p:cNvPr id="4" name="Content Placeholder 3">
            <a:extLst>
              <a:ext uri="{FF2B5EF4-FFF2-40B4-BE49-F238E27FC236}">
                <a16:creationId xmlns:a16="http://schemas.microsoft.com/office/drawing/2014/main" id="{7B54B592-F535-784C-7182-F95809AF8348}"/>
              </a:ext>
            </a:extLst>
          </p:cNvPr>
          <p:cNvGraphicFramePr>
            <a:graphicFrameLocks noGrp="1"/>
          </p:cNvGraphicFramePr>
          <p:nvPr>
            <p:ph idx="1"/>
            <p:extLst>
              <p:ext uri="{D42A27DB-BD31-4B8C-83A1-F6EECF244321}">
                <p14:modId xmlns:p14="http://schemas.microsoft.com/office/powerpoint/2010/main" val="870348355"/>
              </p:ext>
            </p:extLst>
          </p:nvPr>
        </p:nvGraphicFramePr>
        <p:xfrm>
          <a:off x="1066800" y="3338036"/>
          <a:ext cx="10058400" cy="1463040"/>
        </p:xfrm>
        <a:graphic>
          <a:graphicData uri="http://schemas.openxmlformats.org/drawingml/2006/table">
            <a:tbl>
              <a:tblPr/>
              <a:tblGrid>
                <a:gridCol w="5029200">
                  <a:extLst>
                    <a:ext uri="{9D8B030D-6E8A-4147-A177-3AD203B41FA5}">
                      <a16:colId xmlns:a16="http://schemas.microsoft.com/office/drawing/2014/main" val="2327516528"/>
                    </a:ext>
                  </a:extLst>
                </a:gridCol>
                <a:gridCol w="5029200">
                  <a:extLst>
                    <a:ext uri="{9D8B030D-6E8A-4147-A177-3AD203B41FA5}">
                      <a16:colId xmlns:a16="http://schemas.microsoft.com/office/drawing/2014/main" val="1346302666"/>
                    </a:ext>
                  </a:extLst>
                </a:gridCol>
              </a:tblGrid>
              <a:tr h="0">
                <a:tc>
                  <a:txBody>
                    <a:bodyPr/>
                    <a:lstStyle/>
                    <a:p>
                      <a:pPr>
                        <a:buNone/>
                      </a:pPr>
                      <a:r>
                        <a:rPr lang="en-IN"/>
                        <a: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Basis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7531225"/>
                  </a:ext>
                </a:extLst>
              </a:tr>
              <a:tr h="0">
                <a:tc>
                  <a:txBody>
                    <a:bodyPr/>
                    <a:lstStyle/>
                    <a:p>
                      <a:pPr>
                        <a:buNone/>
                      </a:pPr>
                      <a:r>
                        <a:rPr lang="en-IN"/>
                        <a:t>Immunoassay tests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Detect hCG using antibodies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595590"/>
                  </a:ext>
                </a:extLst>
              </a:tr>
              <a:tr h="0">
                <a:tc>
                  <a:txBody>
                    <a:bodyPr/>
                    <a:lstStyle/>
                    <a:p>
                      <a:pPr>
                        <a:buNone/>
                      </a:pPr>
                      <a:r>
                        <a:rPr lang="en-IN"/>
                        <a:t>Radioimmunoassay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Very sensitive (lab-based)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903520"/>
                  </a:ext>
                </a:extLst>
              </a:tr>
              <a:tr h="0">
                <a:tc>
                  <a:txBody>
                    <a:bodyPr/>
                    <a:lstStyle/>
                    <a:p>
                      <a:pPr>
                        <a:buNone/>
                      </a:pPr>
                      <a:r>
                        <a:rPr lang="en-IN"/>
                        <a:t>Radio-receptor assay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Detects </a:t>
                      </a:r>
                      <a:r>
                        <a:rPr lang="en-US" dirty="0" err="1"/>
                        <a:t>hCG</a:t>
                      </a:r>
                      <a:r>
                        <a:rPr lang="en-US" dirty="0"/>
                        <a:t> using receptor binding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0563061"/>
                  </a:ext>
                </a:extLst>
              </a:tr>
            </a:tbl>
          </a:graphicData>
        </a:graphic>
      </p:graphicFrame>
    </p:spTree>
    <p:extLst>
      <p:ext uri="{BB962C8B-B14F-4D97-AF65-F5344CB8AC3E}">
        <p14:creationId xmlns:p14="http://schemas.microsoft.com/office/powerpoint/2010/main" val="570555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A1951-A0F5-6EE7-F30E-80B0608FC79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433BA57-4E4F-D54E-53C0-3DD35AD05D6B}"/>
              </a:ext>
            </a:extLst>
          </p:cNvPr>
          <p:cNvPicPr>
            <a:picLocks noGrp="1" noChangeAspect="1"/>
          </p:cNvPicPr>
          <p:nvPr>
            <p:ph idx="1"/>
          </p:nvPr>
        </p:nvPicPr>
        <p:blipFill>
          <a:blip r:embed="rId2"/>
          <a:stretch>
            <a:fillRect/>
          </a:stretch>
        </p:blipFill>
        <p:spPr>
          <a:xfrm>
            <a:off x="505294" y="1683130"/>
            <a:ext cx="11181412" cy="3491739"/>
          </a:xfrm>
          <a:prstGeom prst="rect">
            <a:avLst/>
          </a:prstGeom>
        </p:spPr>
      </p:pic>
    </p:spTree>
    <p:extLst>
      <p:ext uri="{BB962C8B-B14F-4D97-AF65-F5344CB8AC3E}">
        <p14:creationId xmlns:p14="http://schemas.microsoft.com/office/powerpoint/2010/main" val="2046304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2328-EA38-B7BF-3442-90270EBD68C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7D1E94-75A6-806A-7F6B-B3630EFFDDC1}"/>
              </a:ext>
            </a:extLst>
          </p:cNvPr>
          <p:cNvPicPr>
            <a:picLocks noGrp="1" noChangeAspect="1"/>
          </p:cNvPicPr>
          <p:nvPr>
            <p:ph idx="1"/>
          </p:nvPr>
        </p:nvPicPr>
        <p:blipFill>
          <a:blip r:embed="rId2"/>
          <a:stretch>
            <a:fillRect/>
          </a:stretch>
        </p:blipFill>
        <p:spPr>
          <a:xfrm>
            <a:off x="2878282" y="355207"/>
            <a:ext cx="6269021" cy="6147586"/>
          </a:xfrm>
          <a:prstGeom prst="rect">
            <a:avLst/>
          </a:prstGeom>
        </p:spPr>
      </p:pic>
    </p:spTree>
    <p:extLst>
      <p:ext uri="{BB962C8B-B14F-4D97-AF65-F5344CB8AC3E}">
        <p14:creationId xmlns:p14="http://schemas.microsoft.com/office/powerpoint/2010/main" val="247694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4EA7-02C9-1629-059F-A8264006616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F17C242-0F8F-B4CE-05DE-0B9B351B9C8A}"/>
              </a:ext>
            </a:extLst>
          </p:cNvPr>
          <p:cNvPicPr>
            <a:picLocks noGrp="1" noChangeAspect="1"/>
          </p:cNvPicPr>
          <p:nvPr>
            <p:ph idx="1"/>
          </p:nvPr>
        </p:nvPicPr>
        <p:blipFill>
          <a:blip r:embed="rId2"/>
          <a:stretch>
            <a:fillRect/>
          </a:stretch>
        </p:blipFill>
        <p:spPr>
          <a:xfrm>
            <a:off x="2800465" y="325438"/>
            <a:ext cx="6591070" cy="6207124"/>
          </a:xfrm>
          <a:prstGeom prst="rect">
            <a:avLst/>
          </a:prstGeom>
        </p:spPr>
      </p:pic>
    </p:spTree>
    <p:extLst>
      <p:ext uri="{BB962C8B-B14F-4D97-AF65-F5344CB8AC3E}">
        <p14:creationId xmlns:p14="http://schemas.microsoft.com/office/powerpoint/2010/main" val="854040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4FC29-1A9C-97C9-380F-414347700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EA5CF-B2D2-B718-ACF7-B9EA9BC2F22E}"/>
              </a:ext>
            </a:extLst>
          </p:cNvPr>
          <p:cNvSpPr>
            <a:spLocks noGrp="1"/>
          </p:cNvSpPr>
          <p:nvPr>
            <p:ph type="ctrTitle"/>
          </p:nvPr>
        </p:nvSpPr>
        <p:spPr/>
        <p:txBody>
          <a:bodyPr/>
          <a:lstStyle/>
          <a:p>
            <a:r>
              <a:rPr lang="en-US" dirty="0"/>
              <a:t>Unit 5</a:t>
            </a:r>
            <a:endParaRPr lang="en-IN" dirty="0"/>
          </a:p>
        </p:txBody>
      </p:sp>
      <p:sp>
        <p:nvSpPr>
          <p:cNvPr id="3" name="Subtitle 2">
            <a:extLst>
              <a:ext uri="{FF2B5EF4-FFF2-40B4-BE49-F238E27FC236}">
                <a16:creationId xmlns:a16="http://schemas.microsoft.com/office/drawing/2014/main" id="{F795258A-F9DE-B778-0CB8-DD2FEDEF1CE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7635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4118-15B6-804C-8463-31D6A497549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A60C6BE-7E97-AA1C-8FFF-D97F9E2DC655}"/>
              </a:ext>
            </a:extLst>
          </p:cNvPr>
          <p:cNvPicPr>
            <a:picLocks noGrp="1" noChangeAspect="1"/>
          </p:cNvPicPr>
          <p:nvPr>
            <p:ph idx="1"/>
          </p:nvPr>
        </p:nvPicPr>
        <p:blipFill>
          <a:blip r:embed="rId2"/>
          <a:stretch>
            <a:fillRect/>
          </a:stretch>
        </p:blipFill>
        <p:spPr>
          <a:xfrm>
            <a:off x="3408680" y="19785"/>
            <a:ext cx="5374640" cy="6838215"/>
          </a:xfrm>
          <a:prstGeom prst="rect">
            <a:avLst/>
          </a:prstGeom>
        </p:spPr>
      </p:pic>
    </p:spTree>
    <p:extLst>
      <p:ext uri="{BB962C8B-B14F-4D97-AF65-F5344CB8AC3E}">
        <p14:creationId xmlns:p14="http://schemas.microsoft.com/office/powerpoint/2010/main" val="763275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08EF-C345-AB96-7A08-1262E1237751}"/>
              </a:ext>
            </a:extLst>
          </p:cNvPr>
          <p:cNvSpPr>
            <a:spLocks noGrp="1"/>
          </p:cNvSpPr>
          <p:nvPr>
            <p:ph type="title"/>
          </p:nvPr>
        </p:nvSpPr>
        <p:spPr/>
        <p:txBody>
          <a:bodyPr>
            <a:normAutofit fontScale="90000"/>
          </a:bodyPr>
          <a:lstStyle/>
          <a:p>
            <a:r>
              <a:rPr lang="en-US" dirty="0"/>
              <a:t>Permanent method of contraception</a:t>
            </a:r>
            <a:endParaRPr lang="en-IN" dirty="0"/>
          </a:p>
        </p:txBody>
      </p:sp>
      <p:sp>
        <p:nvSpPr>
          <p:cNvPr id="3" name="Content Placeholder 2">
            <a:extLst>
              <a:ext uri="{FF2B5EF4-FFF2-40B4-BE49-F238E27FC236}">
                <a16:creationId xmlns:a16="http://schemas.microsoft.com/office/drawing/2014/main" id="{07D24E8F-7F88-E889-4982-E79B3BCDD1DB}"/>
              </a:ext>
            </a:extLst>
          </p:cNvPr>
          <p:cNvSpPr>
            <a:spLocks noGrp="1"/>
          </p:cNvSpPr>
          <p:nvPr>
            <p:ph idx="1"/>
          </p:nvPr>
        </p:nvSpPr>
        <p:spPr/>
        <p:txBody>
          <a:bodyPr/>
          <a:lstStyle/>
          <a:p>
            <a:r>
              <a:rPr lang="en-US" dirty="0"/>
              <a:t>Vasectomy :  vas deferens cut and tied </a:t>
            </a:r>
          </a:p>
          <a:p>
            <a:r>
              <a:rPr lang="en-US" dirty="0"/>
              <a:t>Tubectomy : fallopian tube cut </a:t>
            </a:r>
            <a:r>
              <a:rPr lang="en-US"/>
              <a:t>and tied</a:t>
            </a:r>
            <a:endParaRPr lang="en-IN" dirty="0"/>
          </a:p>
        </p:txBody>
      </p:sp>
    </p:spTree>
    <p:extLst>
      <p:ext uri="{BB962C8B-B14F-4D97-AF65-F5344CB8AC3E}">
        <p14:creationId xmlns:p14="http://schemas.microsoft.com/office/powerpoint/2010/main" val="31935645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36</TotalTime>
  <Words>412</Words>
  <Application>Microsoft Office PowerPoint</Application>
  <PresentationFormat>Widescreen</PresentationFormat>
  <Paragraphs>84</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Century Gothic</vt:lpstr>
      <vt:lpstr>Savon</vt:lpstr>
      <vt:lpstr>Reproductive physiology</vt:lpstr>
      <vt:lpstr>Unit 1</vt:lpstr>
      <vt:lpstr>Male reproductive system</vt:lpstr>
      <vt:lpstr>Female reproductive system</vt:lpstr>
      <vt:lpstr>Unit 2</vt:lpstr>
      <vt:lpstr>PowerPoint Presentation</vt:lpstr>
      <vt:lpstr>PowerPoint Presentation</vt:lpstr>
      <vt:lpstr>PowerPoint Presentation</vt:lpstr>
      <vt:lpstr>Function of testosterone</vt:lpstr>
      <vt:lpstr>Unit 3</vt:lpstr>
      <vt:lpstr>PowerPoint Presentation</vt:lpstr>
      <vt:lpstr>Ovarian cycle</vt:lpstr>
      <vt:lpstr>PowerPoint Presentation</vt:lpstr>
      <vt:lpstr>PowerPoint Presentation</vt:lpstr>
      <vt:lpstr>Test for ovulation</vt:lpstr>
      <vt:lpstr>PowerPoint Presentation</vt:lpstr>
      <vt:lpstr>Unit 4</vt:lpstr>
      <vt:lpstr>Function of placenta</vt:lpstr>
      <vt:lpstr>PowerPoint Presentation</vt:lpstr>
      <vt:lpstr>Types of Pregnancy Tests </vt:lpstr>
      <vt:lpstr>Urine Pregnancy Tests (Home Test / Rapid Card Test)</vt:lpstr>
      <vt:lpstr>Blood Pregnancy Tests Blood tests detect exact levels of hCG earlier and more accurately than urine tests. Types of blood tests  Benefits Detects pregnancy as early as 8–10 days after fertilization Useful to detect: ectopic pregnancy risk of miscarriage multiple pregnancies (twins, triplets) </vt:lpstr>
      <vt:lpstr>Ultrasound Test</vt:lpstr>
      <vt:lpstr>Other pregnancy tests</vt:lpstr>
      <vt:lpstr>PowerPoint Presentation</vt:lpstr>
      <vt:lpstr>PowerPoint Presentation</vt:lpstr>
      <vt:lpstr>PowerPoint Presentation</vt:lpstr>
      <vt:lpstr>Unit 5</vt:lpstr>
      <vt:lpstr>PowerPoint Presentation</vt:lpstr>
      <vt:lpstr>Permanent method of contraception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2025-11-22T07:22:28Z</dcterms:created>
  <dcterms:modified xsi:type="dcterms:W3CDTF">2025-11-22T09:54:31Z</dcterms:modified>
</cp:coreProperties>
</file>