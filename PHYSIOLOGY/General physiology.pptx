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63" r:id="rId5"/>
    <p:sldId id="264" r:id="rId6"/>
    <p:sldId id="259" r:id="rId7"/>
    <p:sldId id="265" r:id="rId8"/>
    <p:sldId id="267" r:id="rId9"/>
    <p:sldId id="266" r:id="rId10"/>
    <p:sldId id="260" r:id="rId11"/>
    <p:sldId id="268" r:id="rId12"/>
    <p:sldId id="269" r:id="rId13"/>
    <p:sldId id="270" r:id="rId14"/>
    <p:sldId id="271" r:id="rId15"/>
    <p:sldId id="272" r:id="rId16"/>
    <p:sldId id="26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257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332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88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7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55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22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812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95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4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81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E78E26C1-6D9A-4169-942D-F456792FE043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1BCC2D18-07F8-4E09-8839-C34843E91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3778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D458-4191-8F6C-B3E0-4C7F56EF02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General physiology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25056-01A7-EB5E-B350-2B23829D54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12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94BE-852C-5B16-BB65-F9E2D23E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B218-647A-F34E-D0FC-FA479D1C61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1CD06-C50B-A784-4D08-5015AFCD2B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658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39CF-EA3B-972C-D511-0CDA8D76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4E8483-AED3-DEB7-0428-2A850952D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903" y="1053876"/>
            <a:ext cx="9960194" cy="47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6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7602-87CA-FFE4-5CD6-55114364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1F24E6-CEA6-C3E0-BD66-715BF37735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46" y="503903"/>
            <a:ext cx="7368507" cy="585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86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BBE0-F723-FE8A-6B85-B89F8F7D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EA1C2A-D749-34FB-9C29-4C856B352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1641" y="974847"/>
            <a:ext cx="6328717" cy="490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5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32F09-6FD4-9023-CB17-F79DC652D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6708-A972-D079-C513-556014D67B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45C9D-1190-C0C0-2FBA-A7E7AF482C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2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6A9A-A6A6-2155-FF41-65236790D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BB7EA8-696E-ACFE-01D5-81EBE8BC1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3005" y="1001044"/>
            <a:ext cx="6425990" cy="48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1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1333-C49D-1C99-F12D-71ECF8D7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fluid regulation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A43D01-72E9-C8D9-4BF2-644C5BDD09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335516"/>
              </p:ext>
            </p:extLst>
          </p:nvPr>
        </p:nvGraphicFramePr>
        <p:xfrm>
          <a:off x="1066800" y="2972276"/>
          <a:ext cx="10058400" cy="21945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30681155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117910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40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Thirst centre (Hypothalamus)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Water intake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89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Water reabsorption in kidneys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87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Aldosterone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Na⁺ &amp; water 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44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Water + Na⁺ excretion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985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Renal regulation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Long-term fluid 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89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89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5233-7B7D-DEBC-D284-FA63DF12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40950D-1DB3-68BA-F122-884D478D4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3809" y="915307"/>
            <a:ext cx="6224382" cy="502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0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3CEE5-E776-4B79-6DE4-41A069C04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F41D-BFD3-26C2-E43B-1EE5E019D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8615C-CD26-3E3F-0DBC-2F376A6CF8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52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9249-456D-07BF-5A51-5420EEAE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Homeostasis —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BD8E7-8FED-BEB0-DBA1-38A24424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Homeostasis is the process by which the body maintains a stable internal environment constant despite changes in the external environment.</a:t>
            </a:r>
            <a:endParaRPr lang="en-US" dirty="0"/>
          </a:p>
          <a:p>
            <a:r>
              <a:rPr lang="en-US" dirty="0"/>
              <a:t>It ensures </a:t>
            </a:r>
            <a:r>
              <a:rPr lang="en-US" b="1" dirty="0"/>
              <a:t>optimum conditions</a:t>
            </a:r>
            <a:r>
              <a:rPr lang="en-US" dirty="0"/>
              <a:t> for survival and normal functioning of cells.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16642A-A094-E8C7-AA66-4AA574F45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22668"/>
              </p:ext>
            </p:extLst>
          </p:nvPr>
        </p:nvGraphicFramePr>
        <p:xfrm>
          <a:off x="1066800" y="3429000"/>
          <a:ext cx="10058400" cy="192024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410634535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89743711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441865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8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Negative feedback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Response reverses the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Thermoregulation, BP, glucose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943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Positive feedback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Response enhances the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Labour</a:t>
                      </a:r>
                      <a:r>
                        <a:rPr lang="en-US" dirty="0"/>
                        <a:t> contraction (oxytocin), Blood clotting, Lactation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82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31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58EE-9FB7-B378-76D7-72BFB84C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Importance of Homeostasis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9F52C-F1B2-A313-45D8-AF6594D0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Maintains cellular function</a:t>
            </a:r>
          </a:p>
          <a:p>
            <a:r>
              <a:rPr lang="en-IN" dirty="0"/>
              <a:t>Ensures enzyme activity</a:t>
            </a:r>
          </a:p>
          <a:p>
            <a:r>
              <a:rPr lang="en-IN" dirty="0"/>
              <a:t>Stabilizes fluid &amp; electrolyte balance</a:t>
            </a:r>
          </a:p>
          <a:p>
            <a:r>
              <a:rPr lang="en-IN" dirty="0"/>
              <a:t>Maintains internal equilibrium</a:t>
            </a:r>
          </a:p>
          <a:p>
            <a:r>
              <a:rPr lang="en-IN" dirty="0"/>
              <a:t>Essential for survival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761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638D-AF70-9F05-5DA2-A26F5463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595324-4026-5980-3125-43740D5FC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2091" y="1325464"/>
            <a:ext cx="6587818" cy="420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9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0AB5A-FBFC-1675-C734-823073B8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mechanism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2630FC-72F6-F771-0C4A-95149B973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3040" y="2271438"/>
            <a:ext cx="4153480" cy="2829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4BE08E-EF8D-8BB5-B545-6AA4B9A7F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45" y="2333359"/>
            <a:ext cx="4153480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49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367F-763C-5491-A953-43CDFE5C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33E3F-02F1-8A33-8DFF-A8ACF04E7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3414" y="642594"/>
            <a:ext cx="6305171" cy="556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3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189FF-6DEB-B3F2-B020-73A91C30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B6F4-EA98-BDC1-DEF4-6E88DF411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724F1-A4F9-8213-FC99-235F185DA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02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640F-CC52-5375-70B4-35C7F6CD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system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9604D7-00B9-A8BC-5E7E-59FD5B62F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4229" y="2449286"/>
            <a:ext cx="7470738" cy="332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0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44CA-D993-A568-889B-F1565AE86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Passive transport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CF22F-6D2D-65F6-A876-D838B9091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Passive transport is the movement of substances across the cell membrane without the expenditure of energy (ATP).</a:t>
            </a:r>
            <a:br>
              <a:rPr lang="en-US" dirty="0"/>
            </a:br>
            <a:r>
              <a:rPr lang="en-US" dirty="0"/>
              <a:t>Movement occurs </a:t>
            </a:r>
            <a:r>
              <a:rPr lang="en-US" b="1" dirty="0"/>
              <a:t>from higher concentration to lower concentration</a:t>
            </a:r>
            <a:r>
              <a:rPr lang="en-US" dirty="0"/>
              <a:t> — </a:t>
            </a:r>
            <a:r>
              <a:rPr lang="en-US" i="1" dirty="0"/>
              <a:t>along the concentration gradient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b="1" dirty="0"/>
              <a:t>Characteristics of Passive Transport</a:t>
            </a:r>
          </a:p>
          <a:p>
            <a:r>
              <a:rPr lang="en-IN" dirty="0"/>
              <a:t>No energy (ATP) required</a:t>
            </a:r>
          </a:p>
          <a:p>
            <a:r>
              <a:rPr lang="en-IN" dirty="0"/>
              <a:t>Down the concentration gradient</a:t>
            </a:r>
          </a:p>
          <a:p>
            <a:r>
              <a:rPr lang="en-IN" dirty="0"/>
              <a:t>Uses membrane proteins in some cases (e.g., channels, carriers)</a:t>
            </a:r>
          </a:p>
          <a:p>
            <a:r>
              <a:rPr lang="en-IN" dirty="0"/>
              <a:t>Occurs until equilibrium is reached</a:t>
            </a:r>
          </a:p>
          <a:p>
            <a:r>
              <a:rPr lang="en-IN" dirty="0"/>
              <a:t>Fast for small, non-polar molecules (O₂, CO₂, lipid-soluble substances)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660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0DCB-1767-3EFD-42CE-14FA18F5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FD8658-87DC-1AE8-F34A-EB6643484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141487"/>
              </p:ext>
            </p:extLst>
          </p:nvPr>
        </p:nvGraphicFramePr>
        <p:xfrm>
          <a:off x="1066800" y="2149316"/>
          <a:ext cx="10058400" cy="38404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424138883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437519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4011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397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Simple diffusion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 movement through lipid bilayer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O₂, CO₂, fatty acids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705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Facilitated diffusion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Through channel or carrier proteins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Glucose (via GLUT), 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781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Osmosis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Diffusion of water through semipermeable membrane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Absorption of water in intestines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9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Filtration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Movement due to hydrostatic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Filtration in glomerulus of kidney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79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Bulk flow</a:t>
                      </a:r>
                      <a:r>
                        <a:rPr lang="en-IN"/>
                        <a:t> </a:t>
                      </a:r>
                      <a:r>
                        <a:rPr lang="en-IN" i="1"/>
                        <a:t>(in capillaries)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amount of fluid moves along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Capillary exchange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541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03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D0036-9492-63C1-02DA-BA11EDF6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transport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1FEAA-801F-6956-AECD-F7110C17B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Active transport is the movement of substances across the cell membrane from lower concentration to higher concentration (against the concentration gradient) using metabolic energy in the form of ATP.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Features</a:t>
            </a:r>
          </a:p>
          <a:p>
            <a:r>
              <a:rPr lang="en-US" dirty="0"/>
              <a:t>Requires </a:t>
            </a:r>
            <a:r>
              <a:rPr lang="en-US" b="1" dirty="0"/>
              <a:t>energy (ATP)</a:t>
            </a:r>
            <a:endParaRPr lang="en-US" dirty="0"/>
          </a:p>
          <a:p>
            <a:r>
              <a:rPr lang="en-US" dirty="0"/>
              <a:t>Opposes the natural gradient — </a:t>
            </a:r>
            <a:r>
              <a:rPr lang="en-US" b="1" dirty="0"/>
              <a:t>low → high concentration</a:t>
            </a:r>
            <a:endParaRPr lang="en-US" dirty="0"/>
          </a:p>
          <a:p>
            <a:r>
              <a:rPr lang="en-US" dirty="0"/>
              <a:t>Requires </a:t>
            </a:r>
            <a:r>
              <a:rPr lang="en-US" b="1" dirty="0"/>
              <a:t>specific carrier proteins / pumps</a:t>
            </a:r>
            <a:endParaRPr lang="en-US" dirty="0"/>
          </a:p>
          <a:p>
            <a:r>
              <a:rPr lang="en-US" b="1" dirty="0"/>
              <a:t>Selective and saturable</a:t>
            </a:r>
            <a:endParaRPr lang="en-US" dirty="0"/>
          </a:p>
          <a:p>
            <a:r>
              <a:rPr lang="en-US" dirty="0"/>
              <a:t>Allows cells to </a:t>
            </a:r>
            <a:r>
              <a:rPr lang="en-US" b="1" dirty="0"/>
              <a:t>maintain ionic imbalance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491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9E50-3111-8792-7696-B71A87FB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0F8797-74F4-83E7-0BD0-2FA036FD0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23131"/>
              </p:ext>
            </p:extLst>
          </p:nvPr>
        </p:nvGraphicFramePr>
        <p:xfrm>
          <a:off x="1066800" y="3109436"/>
          <a:ext cx="10058400" cy="192024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10068237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68225633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166682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37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Primary active transport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ATP directly used to pump solutes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Na⁺/K⁺ pump, Ca²⁺ pump, H⁺ pump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457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Secondary active transport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Energy from ionic gradient (not direct ATP) drives transport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Na⁺/glucose co-transport, Na⁺/Ca²⁺ exchange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982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23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DED9-649B-DD74-7AE4-9CD89D35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active transport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5BA2CB-D3E6-69D9-1BAD-43012C0C41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057351"/>
              </p:ext>
            </p:extLst>
          </p:nvPr>
        </p:nvGraphicFramePr>
        <p:xfrm>
          <a:off x="1066800" y="3246596"/>
          <a:ext cx="10058400" cy="164592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194215083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9547138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374519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0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Co-transport / Symport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Na⁺ &amp; glucose into intestinal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3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Counter-transport / Antiport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Opposite 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Na⁺ in &amp; Ca²⁺ out cardiac muscle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66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292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4996-F175-A147-2FF6-EFA6EBB2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Vesicular transport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C15A6A-F78C-6353-A3A0-4E64E1DCC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809967"/>
              </p:ext>
            </p:extLst>
          </p:nvPr>
        </p:nvGraphicFramePr>
        <p:xfrm>
          <a:off x="1066800" y="3063716"/>
          <a:ext cx="10058400" cy="20116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48670723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8722916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732594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02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Endocytosis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Into the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Uptake of materials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459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Exocytosis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 of the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Release/secretion of substances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00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Transcytosis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Across the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Movement from one side of cell to 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591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381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29C3-85E0-AF84-9ECE-B62D1D78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Endocytosis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1A891F-1C8D-BD2E-CB49-42A37B209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314573"/>
              </p:ext>
            </p:extLst>
          </p:nvPr>
        </p:nvGraphicFramePr>
        <p:xfrm>
          <a:off x="1066800" y="3063716"/>
          <a:ext cx="10058400" cy="20116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127267405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04953705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08740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628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Phagocytosis (“cell eating”)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Engulfing large particles/microbes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Macrophages ingest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14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Pinocytosis (“cell drinking”)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Uptake of fluids &amp; solutes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Intestinal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82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Receptor-mediated endocytosis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receptors for specific uptake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LDL uptake, transferrin, hormones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269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484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78C1-3CDE-A7AB-0C1D-A41896B4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3AC775-1855-DFF3-DADD-867D2824D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518" y="968829"/>
            <a:ext cx="6942963" cy="457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95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Custom 3">
      <a:dk1>
        <a:sysClr val="windowText" lastClr="000000"/>
      </a:dk1>
      <a:lt1>
        <a:sysClr val="window" lastClr="FFFFFF"/>
      </a:lt1>
      <a:dk2>
        <a:srgbClr val="FF0066"/>
      </a:dk2>
      <a:lt2>
        <a:srgbClr val="017058"/>
      </a:lt2>
      <a:accent1>
        <a:srgbClr val="7030A0"/>
      </a:accent1>
      <a:accent2>
        <a:srgbClr val="FF00FF"/>
      </a:accent2>
      <a:accent3>
        <a:srgbClr val="C0CF3A"/>
      </a:accent3>
      <a:accent4>
        <a:srgbClr val="FFFF00"/>
      </a:accent4>
      <a:accent5>
        <a:srgbClr val="00B0F0"/>
      </a:accent5>
      <a:accent6>
        <a:srgbClr val="002060"/>
      </a:accent6>
      <a:hlink>
        <a:srgbClr val="FCAE3B"/>
      </a:hlink>
      <a:folHlink>
        <a:srgbClr val="FFC000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19</TotalTime>
  <Words>514</Words>
  <Application>Microsoft Office PowerPoint</Application>
  <PresentationFormat>Widescreen</PresentationFormat>
  <Paragraphs>117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Century Gothic</vt:lpstr>
      <vt:lpstr>Savon</vt:lpstr>
      <vt:lpstr>General physiology</vt:lpstr>
      <vt:lpstr>Unit 1</vt:lpstr>
      <vt:lpstr>PowerPoint Presentation</vt:lpstr>
      <vt:lpstr>PowerPoint Presentation</vt:lpstr>
      <vt:lpstr>PowerPoint Presentation</vt:lpstr>
      <vt:lpstr>Unit 2</vt:lpstr>
      <vt:lpstr>PowerPoint Presentation</vt:lpstr>
      <vt:lpstr>Body fluid regulation</vt:lpstr>
      <vt:lpstr>PowerPoint Presentation</vt:lpstr>
      <vt:lpstr>Unit 3</vt:lpstr>
      <vt:lpstr>Homeostasis — Definition</vt:lpstr>
      <vt:lpstr>Importance of Homeostasis</vt:lpstr>
      <vt:lpstr>PowerPoint Presentation</vt:lpstr>
      <vt:lpstr>Feedback mechanism</vt:lpstr>
      <vt:lpstr>PowerPoint Presentation</vt:lpstr>
      <vt:lpstr>Unit 4</vt:lpstr>
      <vt:lpstr>Transport system</vt:lpstr>
      <vt:lpstr>Passive transport</vt:lpstr>
      <vt:lpstr>PowerPoint Presentation</vt:lpstr>
      <vt:lpstr>Active transport</vt:lpstr>
      <vt:lpstr>PowerPoint Presentation</vt:lpstr>
      <vt:lpstr>Secondary active transport</vt:lpstr>
      <vt:lpstr>Vesicular transport</vt:lpstr>
      <vt:lpstr>Endocytosis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2025-11-22T10:13:59Z</dcterms:created>
  <dcterms:modified xsi:type="dcterms:W3CDTF">2025-11-23T12:49:36Z</dcterms:modified>
</cp:coreProperties>
</file>