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65" r:id="rId8"/>
    <p:sldId id="266" r:id="rId9"/>
    <p:sldId id="267" r:id="rId10"/>
    <p:sldId id="268" r:id="rId11"/>
    <p:sldId id="269" r:id="rId12"/>
    <p:sldId id="270" r:id="rId13"/>
    <p:sldId id="259" r:id="rId14"/>
    <p:sldId id="273" r:id="rId15"/>
    <p:sldId id="274" r:id="rId16"/>
    <p:sldId id="260" r:id="rId17"/>
    <p:sldId id="275" r:id="rId18"/>
    <p:sldId id="276" r:id="rId19"/>
    <p:sldId id="261" r:id="rId20"/>
    <p:sldId id="277" r:id="rId21"/>
    <p:sldId id="278" r:id="rId22"/>
    <p:sldId id="279" r:id="rId23"/>
    <p:sldId id="280" r:id="rId24"/>
    <p:sldId id="271" r:id="rId25"/>
    <p:sldId id="281" r:id="rId26"/>
    <p:sldId id="282" r:id="rId27"/>
    <p:sldId id="283" r:id="rId28"/>
    <p:sldId id="284" r:id="rId29"/>
    <p:sldId id="285" r:id="rId30"/>
    <p:sldId id="272" r:id="rId31"/>
    <p:sldId id="286" r:id="rId32"/>
    <p:sldId id="287" r:id="rId33"/>
    <p:sldId id="288" r:id="rId34"/>
    <p:sldId id="289" r:id="rId35"/>
    <p:sldId id="290" r:id="rId36"/>
    <p:sldId id="292" r:id="rId37"/>
    <p:sldId id="291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5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52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20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62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39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60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73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331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525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02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13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5D045EAF-4406-4ACE-8A6E-D3FEDB10097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11938745-B730-4042-A015-A82B59503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57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9AB0-D3E6-F785-BC8C-85D65B208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Cardiovascular physiology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ECDF8-7B53-5CF8-CE7B-26895ABFC5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4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446E-B53C-14D5-C8DB-DE8EE57B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8D8A-704B-7900-47A2-D0300C3E7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1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781F5-2BC2-C3FD-7506-C5D376872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205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D0E3-A299-5E4B-481C-C8E3E7D4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cardiac muscle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A6E442-B8EC-39BD-E011-0F377D47E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511013"/>
              </p:ext>
            </p:extLst>
          </p:nvPr>
        </p:nvGraphicFramePr>
        <p:xfrm>
          <a:off x="1066800" y="2423636"/>
          <a:ext cx="10058400" cy="32918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730754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368686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498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Generates its own impulses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826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Rhythmicity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Contracts in regular rhythm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507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Transmits impulses quickly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Contractility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Ability to contract with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188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Responds to stimulus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31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All-or-none law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Contracts fully or not at 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997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Elasticity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to normal 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012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tetanus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Cannot undergo sustained contraction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747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71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62DC-1489-78F6-B38F-3F4B8CD7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1A83B-5266-48CC-8D55-6C1560E85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6222" y="592174"/>
            <a:ext cx="6159556" cy="567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8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29EB-B9F1-CBBE-2C39-3E86FE3A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Conduction system of heart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E61CC-BBB5-2D07-B7D0-1C3242693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SA Node → Atria contract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AV Node → delay (0.1 sec)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Bundle of His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Right &amp; Left Bundle Branches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Purkinje Fibers → Ventricles contract</a:t>
            </a:r>
          </a:p>
        </p:txBody>
      </p:sp>
    </p:spTree>
    <p:extLst>
      <p:ext uri="{BB962C8B-B14F-4D97-AF65-F5344CB8AC3E}">
        <p14:creationId xmlns:p14="http://schemas.microsoft.com/office/powerpoint/2010/main" val="416786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42496-5768-CD35-78F6-D002C762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B9030-6F9F-F177-65F6-F232151149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E3010-BB74-6B48-BEC7-FE818A225A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347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A41C-FEB4-324D-96C3-EAE1B920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DA79E3-A83F-B48B-B557-3087B13FD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207965"/>
            <a:ext cx="4305300" cy="644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6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EF67-E7B5-B9CC-483B-C178A40D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47211-0247-7BBC-95D3-B0DADC04D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659" y="1255231"/>
            <a:ext cx="6976681" cy="43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27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390A-12EB-08B2-3067-E0EB50C9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C9DB33-7931-3AA0-E917-D97A36AB1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4319" y="1114745"/>
            <a:ext cx="6703361" cy="46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64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80FDB-D3E9-226B-D1CE-EA629F4E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AB548D-8461-3DA0-CB90-46DF04341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8894" y="230094"/>
            <a:ext cx="5974211" cy="63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50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ED58-9472-16C5-B972-01742DD8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E2DA46-8A13-45A3-B24A-E487E5FA1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649" y="690562"/>
            <a:ext cx="8754701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40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9CD8-4BE3-ADC1-9DF3-EC393B5C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070A99-C44C-8DB2-8DAE-D30A88B82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9209" y="195522"/>
            <a:ext cx="5613582" cy="646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43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E37E-BDBC-9538-17D3-036F280C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2C12-E7F3-F3ED-582B-A629C739F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3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00D01-6145-4F41-47FF-32B6C5EFBE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514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60C0-DD9E-C696-D6CC-CDB6EBD0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7E86C3-DB26-3AAF-BE10-E2F7E450E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593" y="578802"/>
            <a:ext cx="9192814" cy="570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65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7A88-862F-3374-D341-D2ABA44C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80772-5A47-E41E-0103-9948B2BB8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3280" y="91440"/>
            <a:ext cx="8004287" cy="657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20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51935-50F7-7723-4C7D-DD1EB86D7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1E3F-49BD-C511-894B-AE003B366B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0C206-77ED-D63B-D23C-359A67C411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229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DDD0-07C9-DC1E-4B2D-76E85C04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A4922C-30B6-D95B-F50D-2C9144138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418013"/>
            <a:ext cx="6239823" cy="602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29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48D7-213E-57FF-ECF9-2A81529F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E36EDB-7E3B-2AFF-44DF-C25CF9CE4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5401" y="533082"/>
            <a:ext cx="8761198" cy="579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76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EE083-D58C-E480-3773-66D8D3A3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671C-35A9-C6FC-21C5-66689900A2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5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954E6-7CB8-3475-FD79-11B35D347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24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48BD-98FA-6A80-C96F-6BB35636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1BC363-0FE9-F684-BD06-F1A066E29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9007" y="965201"/>
            <a:ext cx="6273985" cy="477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59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651A-9496-5B3A-FA78-A5045262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890312-7E50-E02E-725B-34A82FF2E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978" y="2440312"/>
            <a:ext cx="9884043" cy="301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09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F9C050-0E41-7479-C031-02B1C12F5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91833"/>
              </p:ext>
            </p:extLst>
          </p:nvPr>
        </p:nvGraphicFramePr>
        <p:xfrm>
          <a:off x="1066800" y="477520"/>
          <a:ext cx="10058400" cy="10972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7337944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95034205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66919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ECG Finding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612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Tachycardia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 &gt; 100 bpm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heart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Bradycardia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 &lt; 60 bpm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Slower heart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30642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7E16A9-8295-3E8C-9193-6F4C980D6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54783"/>
              </p:ext>
            </p:extLst>
          </p:nvPr>
        </p:nvGraphicFramePr>
        <p:xfrm>
          <a:off x="1066800" y="1605280"/>
          <a:ext cx="10058400" cy="22860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22329048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1081718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518289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ECG Finding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96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Atrial fibrillation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 clear P waves, irregular QRS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Atria beat irregularly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03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Ventricular fibrillation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Chaotic irregular waves, no QRST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Life-threatening, no effective pumping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25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Premature Ventricular Contraction (PVC)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Early broad QRS complex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Ventricular impulse arises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8718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E1E4DC-4DAC-6D90-EB16-FD0836D88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845922"/>
              </p:ext>
            </p:extLst>
          </p:nvPr>
        </p:nvGraphicFramePr>
        <p:xfrm>
          <a:off x="1066800" y="3972560"/>
          <a:ext cx="10058400" cy="256032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49594104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5485429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83296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ECG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54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First-degree block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Prolonged PR 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Slowed conduction through AV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50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Second-degree block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P waves not followed by QRS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Intermittent AV conduction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470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Complete / Third-degree block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 waves &amp; QRS dissociated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AV conduction — ventricles beat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98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857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DCDAE1-9451-266C-2019-461144C05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1696866"/>
              </p:ext>
            </p:extLst>
          </p:nvPr>
        </p:nvGraphicFramePr>
        <p:xfrm>
          <a:off x="1066800" y="498316"/>
          <a:ext cx="10058400" cy="173736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135776816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86617176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073479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 / Finding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ECG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475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Ischemia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 depression / T wave inversion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Reduced blood supply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89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Injury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 elevation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Acute heart attack (STEMI)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68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Necrosis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Pathological Q wave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Dead cardiac tissue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4444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A6458-DE91-0700-F429-B7B587428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152417"/>
              </p:ext>
            </p:extLst>
          </p:nvPr>
        </p:nvGraphicFramePr>
        <p:xfrm>
          <a:off x="1066800" y="2337276"/>
          <a:ext cx="10058400" cy="18288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314747468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1842879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ECG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Hyperkalemia (↑ K⁺)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Tall peaked T waves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962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Hypokalemia (↓ K⁺)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Flattened T waves + prominent U wave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838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Hypercalcemia (↑ Ca²⁺)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 QT 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13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Hypocalcemia (↓ Ca²⁺)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 QT 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9046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632BD5-0731-A14B-3458-C4F96234B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04685"/>
              </p:ext>
            </p:extLst>
          </p:nvPr>
        </p:nvGraphicFramePr>
        <p:xfrm>
          <a:off x="1066800" y="4267676"/>
          <a:ext cx="10058400" cy="14630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51895315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406704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ECG 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4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Left Ventricular Hypertrophy (LVH)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Tall R waves in left chest leads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25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Right Ventricular Hypertrophy (RVH)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Tall R waves in right chest leads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86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Atrial enlargement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Changes in P wave 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788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31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09BF-1872-7E80-DD7E-9BEFDF6C1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7525-1A89-2CEF-5310-68ED62EF79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6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62258-11A1-260A-47B7-45B4A471E4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932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7772-D06F-D17B-3714-123135D3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Hemodynamics — Definition and Explanation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B2EE5-A60F-768F-D18C-131058127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Hemodynamics</a:t>
            </a:r>
            <a:r>
              <a:rPr lang="en-US" dirty="0"/>
              <a:t> is the study of the </a:t>
            </a:r>
            <a:r>
              <a:rPr lang="en-US" b="1" dirty="0"/>
              <a:t>physical principles that regulate the flow of blood in the circulatory system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explains </a:t>
            </a:r>
            <a:r>
              <a:rPr lang="en-US" b="1" dirty="0"/>
              <a:t>how blood pressure, blood flow, and resistance interact</a:t>
            </a:r>
            <a:r>
              <a:rPr lang="en-US" dirty="0"/>
              <a:t> to ensure proper distribution of blood to all tissues.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13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A44F-C3C8-04A4-E401-EC270D0D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Principles of </a:t>
            </a:r>
            <a:r>
              <a:rPr lang="en-IN" b="1" dirty="0" err="1"/>
              <a:t>Hemodynamics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52840F-9D1C-570C-370B-76440FB74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1. Blood Flow (Q)</a:t>
                </a:r>
              </a:p>
              <a:p>
                <a:r>
                  <a:rPr lang="en-IN" dirty="0"/>
                  <a:t>Amount of blood that passes through a vessel per unit time.</a:t>
                </a:r>
              </a:p>
              <a:p>
                <a:r>
                  <a:rPr lang="en-IN" b="1" dirty="0"/>
                  <a:t>Formula: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IN" b="1" dirty="0"/>
                  <a:t>Q = Flow</a:t>
                </a:r>
                <a:endParaRPr lang="en-IN" dirty="0"/>
              </a:p>
              <a:p>
                <a:pPr lvl="1"/>
                <a:r>
                  <a:rPr lang="el-GR" b="1" dirty="0"/>
                  <a:t>Δ</a:t>
                </a:r>
                <a:r>
                  <a:rPr lang="en-IN" b="1" dirty="0"/>
                  <a:t>P = Pressure difference between two ends</a:t>
                </a:r>
                <a:endParaRPr lang="en-IN" dirty="0"/>
              </a:p>
              <a:p>
                <a:pPr lvl="1"/>
                <a:r>
                  <a:rPr lang="en-IN" b="1" dirty="0"/>
                  <a:t>R = Resistance</a:t>
                </a:r>
                <a:endParaRPr lang="en-IN" dirty="0"/>
              </a:p>
              <a:p>
                <a:r>
                  <a:rPr lang="en-IN" dirty="0"/>
                  <a:t>➡ Blood flows from </a:t>
                </a:r>
                <a:r>
                  <a:rPr lang="en-IN" b="1" dirty="0"/>
                  <a:t>higher pressure → lower pressure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US" b="1" dirty="0"/>
                  <a:t>2. Blood Pressure</a:t>
                </a:r>
              </a:p>
              <a:p>
                <a:r>
                  <a:rPr lang="en-US" dirty="0"/>
                  <a:t>Force exerted by the blood on the walls of blood vessels.</a:t>
                </a:r>
              </a:p>
              <a:p>
                <a:r>
                  <a:rPr lang="en-US" dirty="0"/>
                  <a:t>Highest in </a:t>
                </a:r>
                <a:r>
                  <a:rPr lang="en-US" b="1" dirty="0"/>
                  <a:t>aorta</a:t>
                </a:r>
                <a:r>
                  <a:rPr lang="en-US" dirty="0"/>
                  <a:t>, lowest in </a:t>
                </a:r>
                <a:r>
                  <a:rPr lang="en-US" b="1" dirty="0"/>
                  <a:t>vena cava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Regulated by cardiac output &amp; peripheral resistance.</a:t>
                </a:r>
                <a:endParaRPr lang="en-US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52840F-9D1C-570C-370B-76440FB74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4" t="-17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639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A0DAAD-00E3-C452-6809-4E50CB9E19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0" y="650240"/>
                <a:ext cx="10058400" cy="5384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i="1" dirty="0"/>
                  <a:t>Poiseuille’s Law: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Even small decrease in radius → </a:t>
                </a:r>
                <a:r>
                  <a:rPr lang="en-IN" b="1" dirty="0"/>
                  <a:t>big rise in resistance</a:t>
                </a:r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US" b="1" dirty="0"/>
                  <a:t>Pulse Pressure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Pulse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Pressure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/>
                      <m:t>Systolic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BP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1"/>
                      <m:t>Diastolic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BP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Indicates stroke volume and elasticity of arteries.</a:t>
                </a:r>
              </a:p>
              <a:p>
                <a:endParaRPr lang="en-IN" dirty="0"/>
              </a:p>
              <a:p>
                <a:r>
                  <a:rPr lang="en-IN" b="1" dirty="0"/>
                  <a:t>Cardiac Output (CO)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𝐻𝑅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𝑆𝑉</m:t>
                    </m:r>
                  </m:oMath>
                </a14:m>
                <a:endParaRPr lang="en-IN" dirty="0"/>
              </a:p>
              <a:p>
                <a:r>
                  <a:rPr lang="en-IN" dirty="0"/>
                  <a:t>HR = Heart rate</a:t>
                </a:r>
              </a:p>
              <a:p>
                <a:r>
                  <a:rPr lang="en-IN" dirty="0"/>
                  <a:t>SV = Stroke volume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A0DAAD-00E3-C452-6809-4E50CB9E19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650240"/>
                <a:ext cx="10058400" cy="5384800"/>
              </a:xfrm>
              <a:blipFill>
                <a:blip r:embed="rId2"/>
                <a:stretch>
                  <a:fillRect l="-485" t="-6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390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F81B-48C2-6915-C1D5-8259BC33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Hemodynamics in different vessels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7DB62E-37FA-C6B9-83AA-3FFCE3BA11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555026"/>
              </p:ext>
            </p:extLst>
          </p:nvPr>
        </p:nvGraphicFramePr>
        <p:xfrm>
          <a:off x="965200" y="2362676"/>
          <a:ext cx="10058400" cy="23774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89011328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747993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Vessel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301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Arteries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pressure, low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96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Arterioles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 resistance vessels (control BP)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320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Capillaries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Maximum area + slowest flow → efficient exchange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380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Low pressure, high compliance → blood reservoir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026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485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D5E6-EC01-1DFD-0799-E52D8422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DC9F82-774E-7453-E8E5-C60513F20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9231" y="532650"/>
            <a:ext cx="6393538" cy="579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58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64AB-616D-51EB-93F6-B633C8BB4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1B6E-7FD9-AB4C-A49D-FDC2E369B7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7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AF744-A446-71F0-0EDF-8AB5380F3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999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9781-3B25-4379-80C6-885FC64A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Blood Pressure (BP) —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942F-CB5A-E6EB-8035-215740208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Blood pressure (BP)</a:t>
            </a:r>
            <a:r>
              <a:rPr lang="en-US" dirty="0"/>
              <a:t> is the </a:t>
            </a:r>
            <a:r>
              <a:rPr lang="en-US" b="1" dirty="0"/>
              <a:t>lateral force exerted by the blood on the walls of the arteries during circulation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expressed in </a:t>
            </a:r>
            <a:r>
              <a:rPr lang="en-US" b="1" dirty="0" err="1"/>
              <a:t>millimetres</a:t>
            </a:r>
            <a:r>
              <a:rPr lang="en-US" b="1" dirty="0"/>
              <a:t> of mercury (mmHg)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D64426-EDAA-CC47-4810-743F53D1E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490704"/>
              </p:ext>
            </p:extLst>
          </p:nvPr>
        </p:nvGraphicFramePr>
        <p:xfrm>
          <a:off x="1066800" y="3271996"/>
          <a:ext cx="10058400" cy="265176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37949773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46667008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270426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01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Systolic BP (SBP)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Pressure during ventricular contraction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120 mmHg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15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Diastolic BP (DBP)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Pressure during ventricular relaxation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80 mmHg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654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Pulse Pressure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SBP – DBP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40 mmHg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28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 Arterial Pressure (MAP)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Effective pressure driving blood to tissues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≈ 93 mmHg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930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52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EC21-A749-6B21-2F4D-49CD495D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C8C71B-C31D-A3CC-A564-61B341E2E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2880" y="65114"/>
            <a:ext cx="4236721" cy="675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56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5445-2BC7-A2FB-4F68-83113F41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59E62-608A-99BE-77F8-7D6F61E87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516"/>
          <a:stretch>
            <a:fillRect/>
          </a:stretch>
        </p:blipFill>
        <p:spPr>
          <a:xfrm>
            <a:off x="946651" y="1250107"/>
            <a:ext cx="10298698" cy="435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77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AD18-ADEF-FDC6-4AB4-505CE86B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3443D1-875E-C186-1B43-1544B44EC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558" y="642594"/>
            <a:ext cx="8880883" cy="53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13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BA49-45AB-1015-C2AD-415E02DB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2814-0BED-6A72-0C58-6145878A1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8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B79CE-7D5D-9CEC-55FD-48540E6AD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491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EA85-ED36-4DBA-B380-9A0F3C24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Shock —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AB1B9-A711-180E-C58D-1389B0664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45920"/>
            <a:ext cx="10058400" cy="3931920"/>
          </a:xfrm>
        </p:spPr>
        <p:txBody>
          <a:bodyPr/>
          <a:lstStyle/>
          <a:p>
            <a:r>
              <a:rPr lang="en-US" b="1" dirty="0"/>
              <a:t>Shock is a life-threatening condition in which there is inadequate blood flow (perfusion) to tissues, leading to insufficient oxygen and nutrients and accumulation of waste products.</a:t>
            </a:r>
            <a:br>
              <a:rPr lang="en-US" dirty="0"/>
            </a:br>
            <a:r>
              <a:rPr lang="en-US" dirty="0"/>
              <a:t>If not treated early, it can result in </a:t>
            </a:r>
            <a:r>
              <a:rPr lang="en-US" b="1" dirty="0"/>
              <a:t>cellular injury, organ failure, and death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7DD35D-F195-8953-926D-8CC4C1D2F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032889"/>
              </p:ext>
            </p:extLst>
          </p:nvPr>
        </p:nvGraphicFramePr>
        <p:xfrm>
          <a:off x="436881" y="2880836"/>
          <a:ext cx="11318238" cy="3625682"/>
        </p:xfrm>
        <a:graphic>
          <a:graphicData uri="http://schemas.openxmlformats.org/drawingml/2006/table">
            <a:tbl>
              <a:tblPr/>
              <a:tblGrid>
                <a:gridCol w="3772746">
                  <a:extLst>
                    <a:ext uri="{9D8B030D-6E8A-4147-A177-3AD203B41FA5}">
                      <a16:colId xmlns:a16="http://schemas.microsoft.com/office/drawing/2014/main" val="1391852878"/>
                    </a:ext>
                  </a:extLst>
                </a:gridCol>
                <a:gridCol w="3772746">
                  <a:extLst>
                    <a:ext uri="{9D8B030D-6E8A-4147-A177-3AD203B41FA5}">
                      <a16:colId xmlns:a16="http://schemas.microsoft.com/office/drawing/2014/main" val="3384855518"/>
                    </a:ext>
                  </a:extLst>
                </a:gridCol>
                <a:gridCol w="3772746">
                  <a:extLst>
                    <a:ext uri="{9D8B030D-6E8A-4147-A177-3AD203B41FA5}">
                      <a16:colId xmlns:a16="http://schemas.microsoft.com/office/drawing/2014/main" val="96341138"/>
                    </a:ext>
                  </a:extLst>
                </a:gridCol>
              </a:tblGrid>
              <a:tr h="27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35033"/>
                  </a:ext>
                </a:extLst>
              </a:tr>
              <a:tr h="48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Hypovolemic shock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Severe loss of blood or fluids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Hemorrhage, burns, dehydration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596956"/>
                  </a:ext>
                </a:extLst>
              </a:tr>
              <a:tr h="38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Cardiogenic shock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Pump failure of the heart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Myocardial infarction, heart failure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463985"/>
                  </a:ext>
                </a:extLst>
              </a:tr>
              <a:tr h="489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Distributive / Vasogenic shock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Excessive vasodilation → blood pooling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Sepsis, anaphylaxis, neurogenic shock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354309"/>
                  </a:ext>
                </a:extLst>
              </a:tr>
              <a:tr h="69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Obstructive shock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Physical obstruction to blood 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Pulmonary embolism, cardiac tamponade, pneumothorax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808240"/>
                  </a:ext>
                </a:extLst>
              </a:tr>
              <a:tr h="489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Mixed shock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Combination of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Trauma with bleeding + inflammation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200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725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5461-3B85-924A-82FA-05D38EB4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C278-854A-7FAA-8DB5-942002604A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7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87E1A-2B8B-8EE5-CA91-6154608CDB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9120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902F-C579-1CD2-67E5-48453C9F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Systemic Circulation —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6D210-F400-FEEC-94BA-9619E4F0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Systemic circulation</a:t>
            </a:r>
            <a:r>
              <a:rPr lang="en-US" dirty="0"/>
              <a:t> is the pathway in which </a:t>
            </a:r>
            <a:r>
              <a:rPr lang="en-US" b="1" dirty="0"/>
              <a:t>oxygenated blood from the left ventricle is distributed to all body tissues (except lungs), and deoxygenated blood returns to the right atrium.</a:t>
            </a:r>
            <a:br>
              <a:rPr lang="en-US" dirty="0"/>
            </a:br>
            <a:r>
              <a:rPr lang="en-US" dirty="0"/>
              <a:t>It is the </a:t>
            </a:r>
            <a:r>
              <a:rPr lang="en-US" b="1" dirty="0"/>
              <a:t>major circulation supplying nutrients and oxygen to the entire body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952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67C74-E8A3-EDF2-9C4F-8406C1ED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79120"/>
            <a:ext cx="10058400" cy="545592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Left Ventricle</a:t>
            </a:r>
          </a:p>
          <a:p>
            <a:r>
              <a:rPr lang="en-IN" dirty="0"/>
              <a:t>     ↓ (via Aortic valve)</a:t>
            </a:r>
          </a:p>
          <a:p>
            <a:r>
              <a:rPr lang="en-IN" dirty="0"/>
              <a:t>Aorta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Arteries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Arterioles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Capillaries  — (exchange of gases, nutrients &amp; waste)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Venules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Veins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Superior &amp; Inferior Vena Cava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Right Atrium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8302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9F3A-1D57-D2D6-ED62-2FB82852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Coronary vs cerebral circulation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E289DE-B4EC-0BDF-8B57-999AD3E99A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538385"/>
              </p:ext>
            </p:extLst>
          </p:nvPr>
        </p:nvGraphicFramePr>
        <p:xfrm>
          <a:off x="1066800" y="2606516"/>
          <a:ext cx="10058400" cy="29260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82383804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00482387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504942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Coronary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Cerebral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037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blood flow 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Diastole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4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Oxygen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593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Collateral circulation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good (Circle of Willis)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49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Metabolic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Metabolic + Autoregulation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293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Effect of pressure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Significant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Minimal (autoregulated)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134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Compression during systole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314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Stroke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42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505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107</TotalTime>
  <Words>903</Words>
  <Application>Microsoft Office PowerPoint</Application>
  <PresentationFormat>Widescreen</PresentationFormat>
  <Paragraphs>222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Cambria Math</vt:lpstr>
      <vt:lpstr>Century Gothic</vt:lpstr>
      <vt:lpstr>Savon</vt:lpstr>
      <vt:lpstr>Cardiovascular physiology</vt:lpstr>
      <vt:lpstr>Unit 1 </vt:lpstr>
      <vt:lpstr>Properties of cardiac muscle</vt:lpstr>
      <vt:lpstr>PowerPoint Presentation</vt:lpstr>
      <vt:lpstr>Conduction system of heart</vt:lpstr>
      <vt:lpstr>Unit 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3 </vt:lpstr>
      <vt:lpstr>PowerPoint Presentation</vt:lpstr>
      <vt:lpstr>PowerPoint Presentation</vt:lpstr>
      <vt:lpstr>Unit 4</vt:lpstr>
      <vt:lpstr>PowerPoint Presentation</vt:lpstr>
      <vt:lpstr>PowerPoint Presentation</vt:lpstr>
      <vt:lpstr>Unit 5 </vt:lpstr>
      <vt:lpstr>PowerPoint Presentation</vt:lpstr>
      <vt:lpstr>ECG</vt:lpstr>
      <vt:lpstr>PowerPoint Presentation</vt:lpstr>
      <vt:lpstr>PowerPoint Presentation</vt:lpstr>
      <vt:lpstr>Unit 6 </vt:lpstr>
      <vt:lpstr>Hemodynamics — Definition and Explanation</vt:lpstr>
      <vt:lpstr>Key Principles of Hemodynamics</vt:lpstr>
      <vt:lpstr>PowerPoint Presentation</vt:lpstr>
      <vt:lpstr>Hemodynamics in different vessels</vt:lpstr>
      <vt:lpstr>PowerPoint Presentation</vt:lpstr>
      <vt:lpstr>Unit 7 </vt:lpstr>
      <vt:lpstr>Blood Pressure (BP) — Definition</vt:lpstr>
      <vt:lpstr>PowerPoint Presentation</vt:lpstr>
      <vt:lpstr>PowerPoint Presentation</vt:lpstr>
      <vt:lpstr>PowerPoint Presentation</vt:lpstr>
      <vt:lpstr>Unit 8</vt:lpstr>
      <vt:lpstr>Shock — Definition</vt:lpstr>
      <vt:lpstr>Unit 7 </vt:lpstr>
      <vt:lpstr>Systemic Circulation — Definition</vt:lpstr>
      <vt:lpstr>PowerPoint Presentation</vt:lpstr>
      <vt:lpstr>Coronary vs cerebral circulation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2025-11-22T08:05:59Z</dcterms:created>
  <dcterms:modified xsi:type="dcterms:W3CDTF">2025-11-22T09:54:51Z</dcterms:modified>
</cp:coreProperties>
</file>