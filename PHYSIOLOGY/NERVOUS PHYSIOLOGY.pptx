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59" r:id="rId4"/>
    <p:sldId id="277" r:id="rId5"/>
    <p:sldId id="278" r:id="rId6"/>
    <p:sldId id="279" r:id="rId7"/>
    <p:sldId id="262" r:id="rId8"/>
    <p:sldId id="280" r:id="rId9"/>
    <p:sldId id="281" r:id="rId10"/>
    <p:sldId id="282" r:id="rId11"/>
    <p:sldId id="283" r:id="rId12"/>
    <p:sldId id="284" r:id="rId13"/>
    <p:sldId id="263" r:id="rId14"/>
    <p:sldId id="285" r:id="rId15"/>
    <p:sldId id="286" r:id="rId16"/>
    <p:sldId id="260" r:id="rId17"/>
    <p:sldId id="287" r:id="rId18"/>
    <p:sldId id="288" r:id="rId19"/>
    <p:sldId id="261" r:id="rId20"/>
    <p:sldId id="289" r:id="rId21"/>
    <p:sldId id="290" r:id="rId22"/>
    <p:sldId id="264" r:id="rId23"/>
    <p:sldId id="291" r:id="rId24"/>
    <p:sldId id="292" r:id="rId25"/>
    <p:sldId id="293" r:id="rId26"/>
    <p:sldId id="294" r:id="rId27"/>
    <p:sldId id="265" r:id="rId28"/>
    <p:sldId id="295" r:id="rId29"/>
    <p:sldId id="296" r:id="rId30"/>
    <p:sldId id="266" r:id="rId31"/>
    <p:sldId id="297" r:id="rId32"/>
    <p:sldId id="298" r:id="rId33"/>
    <p:sldId id="299" r:id="rId34"/>
    <p:sldId id="267" r:id="rId35"/>
    <p:sldId id="300" r:id="rId36"/>
    <p:sldId id="301" r:id="rId37"/>
    <p:sldId id="268" r:id="rId38"/>
    <p:sldId id="302" r:id="rId39"/>
    <p:sldId id="303" r:id="rId40"/>
    <p:sldId id="269" r:id="rId41"/>
    <p:sldId id="304" r:id="rId42"/>
    <p:sldId id="270" r:id="rId43"/>
    <p:sldId id="305" r:id="rId44"/>
    <p:sldId id="271" r:id="rId45"/>
    <p:sldId id="306" r:id="rId46"/>
    <p:sldId id="307" r:id="rId47"/>
    <p:sldId id="272" r:id="rId48"/>
    <p:sldId id="308" r:id="rId49"/>
    <p:sldId id="309" r:id="rId50"/>
    <p:sldId id="273" r:id="rId51"/>
    <p:sldId id="310" r:id="rId52"/>
    <p:sldId id="311" r:id="rId53"/>
    <p:sldId id="312" r:id="rId54"/>
    <p:sldId id="274" r:id="rId55"/>
    <p:sldId id="313" r:id="rId56"/>
    <p:sldId id="314" r:id="rId57"/>
    <p:sldId id="275" r:id="rId58"/>
    <p:sldId id="315" r:id="rId59"/>
    <p:sldId id="316" r:id="rId60"/>
    <p:sldId id="276" r:id="rId61"/>
    <p:sldId id="257" r:id="rId62"/>
    <p:sldId id="317" r:id="rId63"/>
    <p:sldId id="318" r:id="rId64"/>
    <p:sldId id="319"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13AFE60C-87A8-49D9-A074-D2CAB9D43C61}" type="datetimeFigureOut">
              <a:rPr lang="en-IN" smtClean="0"/>
              <a:t>23-11-2025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124485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13AFE60C-87A8-49D9-A074-D2CAB9D43C61}" type="datetimeFigureOut">
              <a:rPr lang="en-IN" smtClean="0"/>
              <a:t>23-11-2025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3113101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13AFE60C-87A8-49D9-A074-D2CAB9D43C61}" type="datetimeFigureOut">
              <a:rPr lang="en-IN" smtClean="0"/>
              <a:t>23-11-2025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3399547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13AFE60C-87A8-49D9-A074-D2CAB9D43C61}" type="datetimeFigureOut">
              <a:rPr lang="en-IN" smtClean="0"/>
              <a:t>23-11-2025</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3116979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13AFE60C-87A8-49D9-A074-D2CAB9D43C61}" type="datetimeFigureOut">
              <a:rPr lang="en-IN" smtClean="0"/>
              <a:t>23-11-2025</a:t>
            </a:fld>
            <a:endParaRPr lang="en-IN"/>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IN"/>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2034115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13AFE60C-87A8-49D9-A074-D2CAB9D43C61}" type="datetimeFigureOut">
              <a:rPr lang="en-IN" smtClean="0"/>
              <a:t>23-11-2025</a:t>
            </a:fld>
            <a:endParaRPr lang="en-IN"/>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IN"/>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86065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13AFE60C-87A8-49D9-A074-D2CAB9D43C61}" type="datetimeFigureOut">
              <a:rPr lang="en-IN" smtClean="0"/>
              <a:t>23-11-2025</a:t>
            </a:fld>
            <a:endParaRPr lang="en-IN"/>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IN"/>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1404642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13AFE60C-87A8-49D9-A074-D2CAB9D43C61}" type="datetimeFigureOut">
              <a:rPr lang="en-IN" smtClean="0"/>
              <a:t>23-11-2025</a:t>
            </a:fld>
            <a:endParaRPr lang="en-IN"/>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E4B451E7-2CEE-4031-ACAA-72DCC5995EE8}" type="slidenum">
              <a:rPr lang="en-IN" smtClean="0"/>
              <a:t>‹#›</a:t>
            </a:fld>
            <a:endParaRPr lang="en-IN"/>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40516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13AFE60C-87A8-49D9-A074-D2CAB9D43C61}" type="datetimeFigureOut">
              <a:rPr lang="en-IN" smtClean="0"/>
              <a:t>23-11-2025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3070861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13AFE60C-87A8-49D9-A074-D2CAB9D43C61}" type="datetimeFigureOut">
              <a:rPr lang="en-IN" smtClean="0"/>
              <a:t>23-11-2025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4174760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13AFE60C-87A8-49D9-A074-D2CAB9D43C61}" type="datetimeFigureOut">
              <a:rPr lang="en-IN" smtClean="0"/>
              <a:t>23-11-2025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669352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13AFE60C-87A8-49D9-A074-D2CAB9D43C61}" type="datetimeFigureOut">
              <a:rPr lang="en-IN" smtClean="0"/>
              <a:t>23-11-2025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E4B451E7-2CEE-4031-ACAA-72DCC5995EE8}" type="slidenum">
              <a:rPr lang="en-IN" smtClean="0"/>
              <a:t>‹#›</a:t>
            </a:fld>
            <a:endParaRPr lang="en-IN"/>
          </a:p>
        </p:txBody>
      </p:sp>
    </p:spTree>
    <p:extLst>
      <p:ext uri="{BB962C8B-B14F-4D97-AF65-F5344CB8AC3E}">
        <p14:creationId xmlns:p14="http://schemas.microsoft.com/office/powerpoint/2010/main" val="3211267777"/>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1635B-56C7-C411-6A9D-B4065FD4F3E3}"/>
              </a:ext>
            </a:extLst>
          </p:cNvPr>
          <p:cNvSpPr>
            <a:spLocks noGrp="1"/>
          </p:cNvSpPr>
          <p:nvPr>
            <p:ph type="ctrTitle"/>
          </p:nvPr>
        </p:nvSpPr>
        <p:spPr/>
        <p:txBody>
          <a:bodyPr/>
          <a:lstStyle/>
          <a:p>
            <a:r>
              <a:rPr lang="en-US"/>
              <a:t>NERVOUS PHYSIOLOGY</a:t>
            </a:r>
            <a:endParaRPr lang="en-IN" dirty="0"/>
          </a:p>
        </p:txBody>
      </p:sp>
      <p:sp>
        <p:nvSpPr>
          <p:cNvPr id="3" name="Subtitle 2">
            <a:extLst>
              <a:ext uri="{FF2B5EF4-FFF2-40B4-BE49-F238E27FC236}">
                <a16:creationId xmlns:a16="http://schemas.microsoft.com/office/drawing/2014/main" id="{AD256562-BE80-1B3A-60F1-3C1D1896767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63616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F6DB9-0CF9-274D-F8BD-9173F8B15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5C50CE-BF09-E237-BE70-F3E8A0B91ED7}"/>
              </a:ext>
            </a:extLst>
          </p:cNvPr>
          <p:cNvSpPr>
            <a:spLocks noGrp="1"/>
          </p:cNvSpPr>
          <p:nvPr>
            <p:ph type="ctrTitle"/>
          </p:nvPr>
        </p:nvSpPr>
        <p:spPr/>
        <p:txBody>
          <a:bodyPr/>
          <a:lstStyle/>
          <a:p>
            <a:r>
              <a:rPr lang="en-US" dirty="0"/>
              <a:t>UNIT 1 </a:t>
            </a:r>
            <a:endParaRPr lang="en-IN" dirty="0"/>
          </a:p>
        </p:txBody>
      </p:sp>
      <p:sp>
        <p:nvSpPr>
          <p:cNvPr id="3" name="Subtitle 2">
            <a:extLst>
              <a:ext uri="{FF2B5EF4-FFF2-40B4-BE49-F238E27FC236}">
                <a16:creationId xmlns:a16="http://schemas.microsoft.com/office/drawing/2014/main" id="{96D56A17-176C-841C-8914-465EBE3AF5C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47728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B1B9A-82E3-6344-2C65-A4491D1D38B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0B6FD3F-26A6-A47A-969F-FC3F86D88613}"/>
              </a:ext>
            </a:extLst>
          </p:cNvPr>
          <p:cNvPicPr>
            <a:picLocks noGrp="1" noChangeAspect="1"/>
          </p:cNvPicPr>
          <p:nvPr>
            <p:ph idx="1"/>
          </p:nvPr>
        </p:nvPicPr>
        <p:blipFill>
          <a:blip r:embed="rId2"/>
          <a:stretch>
            <a:fillRect/>
          </a:stretch>
        </p:blipFill>
        <p:spPr>
          <a:xfrm>
            <a:off x="1492670" y="947020"/>
            <a:ext cx="9206659" cy="4963959"/>
          </a:xfrm>
          <a:prstGeom prst="rect">
            <a:avLst/>
          </a:prstGeom>
        </p:spPr>
      </p:pic>
    </p:spTree>
    <p:extLst>
      <p:ext uri="{BB962C8B-B14F-4D97-AF65-F5344CB8AC3E}">
        <p14:creationId xmlns:p14="http://schemas.microsoft.com/office/powerpoint/2010/main" val="750713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2B090-5CBE-7F5F-81E2-0EA446DFAA3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7C558B2-78E2-EA3C-D286-27732091CA9E}"/>
              </a:ext>
            </a:extLst>
          </p:cNvPr>
          <p:cNvPicPr>
            <a:picLocks noGrp="1" noChangeAspect="1"/>
          </p:cNvPicPr>
          <p:nvPr>
            <p:ph idx="1"/>
          </p:nvPr>
        </p:nvPicPr>
        <p:blipFill>
          <a:blip r:embed="rId2"/>
          <a:stretch>
            <a:fillRect/>
          </a:stretch>
        </p:blipFill>
        <p:spPr>
          <a:xfrm>
            <a:off x="384064" y="1113350"/>
            <a:ext cx="11423872" cy="4631300"/>
          </a:xfrm>
          <a:prstGeom prst="rect">
            <a:avLst/>
          </a:prstGeom>
        </p:spPr>
      </p:pic>
    </p:spTree>
    <p:extLst>
      <p:ext uri="{BB962C8B-B14F-4D97-AF65-F5344CB8AC3E}">
        <p14:creationId xmlns:p14="http://schemas.microsoft.com/office/powerpoint/2010/main" val="965373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77828-21DD-98CB-2864-ABB5893F8C6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407F05A-9D1A-4A67-DC39-15EF2D41CEE8}"/>
              </a:ext>
            </a:extLst>
          </p:cNvPr>
          <p:cNvPicPr>
            <a:picLocks noGrp="1" noChangeAspect="1"/>
          </p:cNvPicPr>
          <p:nvPr>
            <p:ph idx="1"/>
          </p:nvPr>
        </p:nvPicPr>
        <p:blipFill>
          <a:blip r:embed="rId2"/>
          <a:stretch>
            <a:fillRect/>
          </a:stretch>
        </p:blipFill>
        <p:spPr>
          <a:xfrm>
            <a:off x="1718612" y="1378056"/>
            <a:ext cx="8754775" cy="4101887"/>
          </a:xfrm>
          <a:prstGeom prst="rect">
            <a:avLst/>
          </a:prstGeom>
        </p:spPr>
      </p:pic>
    </p:spTree>
    <p:extLst>
      <p:ext uri="{BB962C8B-B14F-4D97-AF65-F5344CB8AC3E}">
        <p14:creationId xmlns:p14="http://schemas.microsoft.com/office/powerpoint/2010/main" val="4284219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1A4BE-2646-ED37-22A7-497EB042F61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6537C5B-7F7C-B284-6DD4-C50BE0ECE1C3}"/>
              </a:ext>
            </a:extLst>
          </p:cNvPr>
          <p:cNvPicPr>
            <a:picLocks noGrp="1" noChangeAspect="1"/>
          </p:cNvPicPr>
          <p:nvPr>
            <p:ph idx="1"/>
          </p:nvPr>
        </p:nvPicPr>
        <p:blipFill>
          <a:blip r:embed="rId2"/>
          <a:stretch>
            <a:fillRect/>
          </a:stretch>
        </p:blipFill>
        <p:spPr>
          <a:xfrm>
            <a:off x="1104278" y="1716219"/>
            <a:ext cx="9983443" cy="3425561"/>
          </a:xfrm>
          <a:prstGeom prst="rect">
            <a:avLst/>
          </a:prstGeom>
        </p:spPr>
      </p:pic>
    </p:spTree>
    <p:extLst>
      <p:ext uri="{BB962C8B-B14F-4D97-AF65-F5344CB8AC3E}">
        <p14:creationId xmlns:p14="http://schemas.microsoft.com/office/powerpoint/2010/main" val="2687704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B99C9-F1C6-4C44-E5AA-FE1629E48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33148-F5AB-FD03-CDEF-05C5F820E19E}"/>
              </a:ext>
            </a:extLst>
          </p:cNvPr>
          <p:cNvSpPr>
            <a:spLocks noGrp="1"/>
          </p:cNvSpPr>
          <p:nvPr>
            <p:ph type="ctrTitle"/>
          </p:nvPr>
        </p:nvSpPr>
        <p:spPr/>
        <p:txBody>
          <a:bodyPr/>
          <a:lstStyle/>
          <a:p>
            <a:r>
              <a:rPr lang="en-US" dirty="0"/>
              <a:t>UNIT 2 </a:t>
            </a:r>
            <a:endParaRPr lang="en-IN" dirty="0"/>
          </a:p>
        </p:txBody>
      </p:sp>
      <p:sp>
        <p:nvSpPr>
          <p:cNvPr id="3" name="Subtitle 2">
            <a:extLst>
              <a:ext uri="{FF2B5EF4-FFF2-40B4-BE49-F238E27FC236}">
                <a16:creationId xmlns:a16="http://schemas.microsoft.com/office/drawing/2014/main" id="{188F2B6C-2EA5-AF51-D6E7-8E5931921E7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03019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897A6-9C9A-E200-69DB-174A4F605624}"/>
              </a:ext>
            </a:extLst>
          </p:cNvPr>
          <p:cNvSpPr>
            <a:spLocks noGrp="1"/>
          </p:cNvSpPr>
          <p:nvPr>
            <p:ph type="title"/>
          </p:nvPr>
        </p:nvSpPr>
        <p:spPr/>
        <p:txBody>
          <a:bodyPr/>
          <a:lstStyle/>
          <a:p>
            <a:r>
              <a:rPr lang="en-US" dirty="0"/>
              <a:t>NERVES</a:t>
            </a:r>
            <a:endParaRPr lang="en-IN" dirty="0"/>
          </a:p>
        </p:txBody>
      </p:sp>
      <p:sp>
        <p:nvSpPr>
          <p:cNvPr id="3" name="Content Placeholder 2">
            <a:extLst>
              <a:ext uri="{FF2B5EF4-FFF2-40B4-BE49-F238E27FC236}">
                <a16:creationId xmlns:a16="http://schemas.microsoft.com/office/drawing/2014/main" id="{C1206146-2EC8-FC9B-90B9-E333FAA969E1}"/>
              </a:ext>
            </a:extLst>
          </p:cNvPr>
          <p:cNvSpPr>
            <a:spLocks noGrp="1"/>
          </p:cNvSpPr>
          <p:nvPr>
            <p:ph idx="1"/>
          </p:nvPr>
        </p:nvSpPr>
        <p:spPr/>
        <p:txBody>
          <a:bodyPr/>
          <a:lstStyle/>
          <a:p>
            <a:r>
              <a:rPr lang="en-US" dirty="0"/>
              <a:t>Nerves are </a:t>
            </a:r>
            <a:r>
              <a:rPr lang="en-US" b="1" dirty="0"/>
              <a:t>bundles of axons (nerve fibers)</a:t>
            </a:r>
            <a:r>
              <a:rPr lang="en-US" dirty="0"/>
              <a:t> enclosed in connective tissue that transmit impulses between the </a:t>
            </a:r>
            <a:r>
              <a:rPr lang="en-US" b="1" dirty="0"/>
              <a:t>central nervous system (CNS)</a:t>
            </a:r>
            <a:r>
              <a:rPr lang="en-US" dirty="0"/>
              <a:t> and </a:t>
            </a:r>
            <a:r>
              <a:rPr lang="en-US" b="1" dirty="0"/>
              <a:t>various body parts</a:t>
            </a:r>
            <a:r>
              <a:rPr lang="en-US" dirty="0"/>
              <a:t>.</a:t>
            </a:r>
            <a:endParaRPr lang="en-IN" dirty="0"/>
          </a:p>
        </p:txBody>
      </p:sp>
      <p:graphicFrame>
        <p:nvGraphicFramePr>
          <p:cNvPr id="4" name="Table 3">
            <a:extLst>
              <a:ext uri="{FF2B5EF4-FFF2-40B4-BE49-F238E27FC236}">
                <a16:creationId xmlns:a16="http://schemas.microsoft.com/office/drawing/2014/main" id="{45CD6281-506D-F941-B6A8-249305FEE953}"/>
              </a:ext>
            </a:extLst>
          </p:cNvPr>
          <p:cNvGraphicFramePr>
            <a:graphicFrameLocks noGrp="1"/>
          </p:cNvGraphicFramePr>
          <p:nvPr>
            <p:extLst>
              <p:ext uri="{D42A27DB-BD31-4B8C-83A1-F6EECF244321}">
                <p14:modId xmlns:p14="http://schemas.microsoft.com/office/powerpoint/2010/main" val="2846141873"/>
              </p:ext>
            </p:extLst>
          </p:nvPr>
        </p:nvGraphicFramePr>
        <p:xfrm>
          <a:off x="1066800" y="3520916"/>
          <a:ext cx="10058400" cy="1097280"/>
        </p:xfrm>
        <a:graphic>
          <a:graphicData uri="http://schemas.openxmlformats.org/drawingml/2006/table">
            <a:tbl>
              <a:tblPr/>
              <a:tblGrid>
                <a:gridCol w="3352800">
                  <a:extLst>
                    <a:ext uri="{9D8B030D-6E8A-4147-A177-3AD203B41FA5}">
                      <a16:colId xmlns:a16="http://schemas.microsoft.com/office/drawing/2014/main" val="2000895234"/>
                    </a:ext>
                  </a:extLst>
                </a:gridCol>
                <a:gridCol w="3352800">
                  <a:extLst>
                    <a:ext uri="{9D8B030D-6E8A-4147-A177-3AD203B41FA5}">
                      <a16:colId xmlns:a16="http://schemas.microsoft.com/office/drawing/2014/main" val="4144240537"/>
                    </a:ext>
                  </a:extLst>
                </a:gridCol>
                <a:gridCol w="3352800">
                  <a:extLst>
                    <a:ext uri="{9D8B030D-6E8A-4147-A177-3AD203B41FA5}">
                      <a16:colId xmlns:a16="http://schemas.microsoft.com/office/drawing/2014/main" val="167754121"/>
                    </a:ext>
                  </a:extLst>
                </a:gridCol>
              </a:tblGrid>
              <a:tr h="0">
                <a:tc>
                  <a:txBody>
                    <a:bodyPr/>
                    <a:lstStyle/>
                    <a:p>
                      <a:pPr>
                        <a:buNone/>
                      </a:pPr>
                      <a:r>
                        <a:rPr lang="en-IN"/>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Origin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3930700"/>
                  </a:ext>
                </a:extLst>
              </a:tr>
              <a:tr h="0">
                <a:tc>
                  <a:txBody>
                    <a:bodyPr/>
                    <a:lstStyle/>
                    <a:p>
                      <a:pPr>
                        <a:buNone/>
                      </a:pPr>
                      <a:r>
                        <a:rPr lang="en-IN" b="1"/>
                        <a:t>Cranial nerves (12 pairs)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Brain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Sensory, motor or mixed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430561"/>
                  </a:ext>
                </a:extLst>
              </a:tr>
              <a:tr h="0">
                <a:tc>
                  <a:txBody>
                    <a:bodyPr/>
                    <a:lstStyle/>
                    <a:p>
                      <a:pPr>
                        <a:buNone/>
                      </a:pPr>
                      <a:r>
                        <a:rPr lang="en-IN" b="1"/>
                        <a:t>Spinal nerves (31 pairs)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Spinal cord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All mixed (sensory + motor)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6618981"/>
                  </a:ext>
                </a:extLst>
              </a:tr>
            </a:tbl>
          </a:graphicData>
        </a:graphic>
      </p:graphicFrame>
    </p:spTree>
    <p:extLst>
      <p:ext uri="{BB962C8B-B14F-4D97-AF65-F5344CB8AC3E}">
        <p14:creationId xmlns:p14="http://schemas.microsoft.com/office/powerpoint/2010/main" val="2637852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A0BA3-5FDE-F875-A550-E47057EB2748}"/>
              </a:ext>
            </a:extLst>
          </p:cNvPr>
          <p:cNvSpPr>
            <a:spLocks noGrp="1"/>
          </p:cNvSpPr>
          <p:nvPr>
            <p:ph type="title"/>
          </p:nvPr>
        </p:nvSpPr>
        <p:spPr/>
        <p:txBody>
          <a:bodyPr/>
          <a:lstStyle/>
          <a:p>
            <a:r>
              <a:rPr lang="en-US" dirty="0"/>
              <a:t>FUNCTIONAL CLASSIFICATION</a:t>
            </a:r>
            <a:endParaRPr lang="en-IN" dirty="0"/>
          </a:p>
        </p:txBody>
      </p:sp>
      <p:graphicFrame>
        <p:nvGraphicFramePr>
          <p:cNvPr id="4" name="Content Placeholder 3">
            <a:extLst>
              <a:ext uri="{FF2B5EF4-FFF2-40B4-BE49-F238E27FC236}">
                <a16:creationId xmlns:a16="http://schemas.microsoft.com/office/drawing/2014/main" id="{4A8F9007-4BCB-E324-D79E-E922A263E2A0}"/>
              </a:ext>
            </a:extLst>
          </p:cNvPr>
          <p:cNvGraphicFramePr>
            <a:graphicFrameLocks noGrp="1"/>
          </p:cNvGraphicFramePr>
          <p:nvPr>
            <p:ph idx="1"/>
            <p:extLst>
              <p:ext uri="{D42A27DB-BD31-4B8C-83A1-F6EECF244321}">
                <p14:modId xmlns:p14="http://schemas.microsoft.com/office/powerpoint/2010/main" val="1153354692"/>
              </p:ext>
            </p:extLst>
          </p:nvPr>
        </p:nvGraphicFramePr>
        <p:xfrm>
          <a:off x="1066800" y="3200876"/>
          <a:ext cx="10058400" cy="1737360"/>
        </p:xfrm>
        <a:graphic>
          <a:graphicData uri="http://schemas.openxmlformats.org/drawingml/2006/table">
            <a:tbl>
              <a:tblPr/>
              <a:tblGrid>
                <a:gridCol w="3352800">
                  <a:extLst>
                    <a:ext uri="{9D8B030D-6E8A-4147-A177-3AD203B41FA5}">
                      <a16:colId xmlns:a16="http://schemas.microsoft.com/office/drawing/2014/main" val="2097018762"/>
                    </a:ext>
                  </a:extLst>
                </a:gridCol>
                <a:gridCol w="3352800">
                  <a:extLst>
                    <a:ext uri="{9D8B030D-6E8A-4147-A177-3AD203B41FA5}">
                      <a16:colId xmlns:a16="http://schemas.microsoft.com/office/drawing/2014/main" val="4217746936"/>
                    </a:ext>
                  </a:extLst>
                </a:gridCol>
                <a:gridCol w="3352800">
                  <a:extLst>
                    <a:ext uri="{9D8B030D-6E8A-4147-A177-3AD203B41FA5}">
                      <a16:colId xmlns:a16="http://schemas.microsoft.com/office/drawing/2014/main" val="3659295362"/>
                    </a:ext>
                  </a:extLst>
                </a:gridCol>
              </a:tblGrid>
              <a:tr h="0">
                <a:tc>
                  <a:txBody>
                    <a:bodyPr/>
                    <a:lstStyle/>
                    <a:p>
                      <a:pPr>
                        <a:buNone/>
                      </a:pPr>
                      <a:r>
                        <a:rPr lang="en-IN"/>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5231921"/>
                  </a:ext>
                </a:extLst>
              </a:tr>
              <a:tr h="0">
                <a:tc>
                  <a:txBody>
                    <a:bodyPr/>
                    <a:lstStyle/>
                    <a:p>
                      <a:pPr>
                        <a:buNone/>
                      </a:pPr>
                      <a:r>
                        <a:rPr lang="en-IN" b="1"/>
                        <a:t>Sensory (Afferent)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Carry impulses </a:t>
                      </a:r>
                      <a:r>
                        <a:rPr lang="en-IN" b="1"/>
                        <a:t>to CNS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Optic nerve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462890"/>
                  </a:ext>
                </a:extLst>
              </a:tr>
              <a:tr h="0">
                <a:tc>
                  <a:txBody>
                    <a:bodyPr/>
                    <a:lstStyle/>
                    <a:p>
                      <a:pPr>
                        <a:buNone/>
                      </a:pPr>
                      <a:r>
                        <a:rPr lang="en-IN" b="1"/>
                        <a:t>Motor (Efferent)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Carry impulses </a:t>
                      </a:r>
                      <a:r>
                        <a:rPr lang="en-US" b="1"/>
                        <a:t>from CNS to muscles/glands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Hypoglossal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9999558"/>
                  </a:ext>
                </a:extLst>
              </a:tr>
              <a:tr h="0">
                <a:tc>
                  <a:txBody>
                    <a:bodyPr/>
                    <a:lstStyle/>
                    <a:p>
                      <a:pPr>
                        <a:buNone/>
                      </a:pPr>
                      <a:r>
                        <a:rPr lang="en-IN" b="1"/>
                        <a:t>Mixed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Both sensory + motor fibers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Spinal nerves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7469423"/>
                  </a:ext>
                </a:extLst>
              </a:tr>
            </a:tbl>
          </a:graphicData>
        </a:graphic>
      </p:graphicFrame>
    </p:spTree>
    <p:extLst>
      <p:ext uri="{BB962C8B-B14F-4D97-AF65-F5344CB8AC3E}">
        <p14:creationId xmlns:p14="http://schemas.microsoft.com/office/powerpoint/2010/main" val="46768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AB2E-4DA7-32E1-63CB-6B4E9D4D20A6}"/>
              </a:ext>
            </a:extLst>
          </p:cNvPr>
          <p:cNvSpPr>
            <a:spLocks noGrp="1"/>
          </p:cNvSpPr>
          <p:nvPr>
            <p:ph type="title"/>
          </p:nvPr>
        </p:nvSpPr>
        <p:spPr/>
        <p:txBody>
          <a:bodyPr/>
          <a:lstStyle/>
          <a:p>
            <a:r>
              <a:rPr lang="en-US" dirty="0"/>
              <a:t>PARTS OF PERIPHERAL NEURON</a:t>
            </a:r>
            <a:endParaRPr lang="en-IN" dirty="0"/>
          </a:p>
        </p:txBody>
      </p:sp>
      <p:graphicFrame>
        <p:nvGraphicFramePr>
          <p:cNvPr id="4" name="Content Placeholder 3">
            <a:extLst>
              <a:ext uri="{FF2B5EF4-FFF2-40B4-BE49-F238E27FC236}">
                <a16:creationId xmlns:a16="http://schemas.microsoft.com/office/drawing/2014/main" id="{31EDFBF0-BF73-ECB8-2566-8D056E3AFD54}"/>
              </a:ext>
            </a:extLst>
          </p:cNvPr>
          <p:cNvGraphicFramePr>
            <a:graphicFrameLocks noGrp="1"/>
          </p:cNvGraphicFramePr>
          <p:nvPr>
            <p:ph idx="1"/>
          </p:nvPr>
        </p:nvGraphicFramePr>
        <p:xfrm>
          <a:off x="1066800" y="3338036"/>
          <a:ext cx="10058400" cy="1463040"/>
        </p:xfrm>
        <a:graphic>
          <a:graphicData uri="http://schemas.openxmlformats.org/drawingml/2006/table">
            <a:tbl>
              <a:tblPr/>
              <a:tblGrid>
                <a:gridCol w="5029200">
                  <a:extLst>
                    <a:ext uri="{9D8B030D-6E8A-4147-A177-3AD203B41FA5}">
                      <a16:colId xmlns:a16="http://schemas.microsoft.com/office/drawing/2014/main" val="3531712712"/>
                    </a:ext>
                  </a:extLst>
                </a:gridCol>
                <a:gridCol w="5029200">
                  <a:extLst>
                    <a:ext uri="{9D8B030D-6E8A-4147-A177-3AD203B41FA5}">
                      <a16:colId xmlns:a16="http://schemas.microsoft.com/office/drawing/2014/main" val="2502410498"/>
                    </a:ext>
                  </a:extLst>
                </a:gridCol>
              </a:tblGrid>
              <a:tr h="0">
                <a:tc>
                  <a:txBody>
                    <a:bodyPr/>
                    <a:lstStyle/>
                    <a:p>
                      <a:pPr>
                        <a:buNone/>
                      </a:pPr>
                      <a:r>
                        <a:rPr lang="en-IN"/>
                        <a:t>Layer</a:t>
                      </a:r>
                    </a:p>
                  </a:txBody>
                  <a:tcPr anchor="ctr">
                    <a:lnL>
                      <a:noFill/>
                    </a:lnL>
                    <a:lnR>
                      <a:noFill/>
                    </a:lnR>
                    <a:lnT>
                      <a:noFill/>
                    </a:lnT>
                    <a:lnB>
                      <a:noFill/>
                    </a:lnB>
                    <a:noFill/>
                  </a:tcPr>
                </a:tc>
                <a:tc>
                  <a:txBody>
                    <a:bodyPr/>
                    <a:lstStyle/>
                    <a:p>
                      <a:pPr>
                        <a:buNone/>
                      </a:pPr>
                      <a:r>
                        <a:rPr lang="en-IN"/>
                        <a:t>Covers</a:t>
                      </a:r>
                    </a:p>
                  </a:txBody>
                  <a:tcPr anchor="ctr">
                    <a:lnL>
                      <a:noFill/>
                    </a:lnL>
                    <a:lnR>
                      <a:noFill/>
                    </a:lnR>
                    <a:lnT>
                      <a:noFill/>
                    </a:lnT>
                    <a:lnB>
                      <a:noFill/>
                    </a:lnB>
                    <a:noFill/>
                  </a:tcPr>
                </a:tc>
                <a:extLst>
                  <a:ext uri="{0D108BD9-81ED-4DB2-BD59-A6C34878D82A}">
                    <a16:rowId xmlns:a16="http://schemas.microsoft.com/office/drawing/2014/main" val="2788251409"/>
                  </a:ext>
                </a:extLst>
              </a:tr>
              <a:tr h="0">
                <a:tc>
                  <a:txBody>
                    <a:bodyPr/>
                    <a:lstStyle/>
                    <a:p>
                      <a:pPr>
                        <a:buNone/>
                      </a:pPr>
                      <a:r>
                        <a:rPr lang="en-IN" b="1"/>
                        <a:t>Endoneurium</a:t>
                      </a:r>
                      <a:endParaRPr lang="en-IN"/>
                    </a:p>
                  </a:txBody>
                  <a:tcPr anchor="ctr">
                    <a:lnL>
                      <a:noFill/>
                    </a:lnL>
                    <a:lnR>
                      <a:noFill/>
                    </a:lnR>
                    <a:lnT>
                      <a:noFill/>
                    </a:lnT>
                    <a:lnB>
                      <a:noFill/>
                    </a:lnB>
                    <a:noFill/>
                  </a:tcPr>
                </a:tc>
                <a:tc>
                  <a:txBody>
                    <a:bodyPr/>
                    <a:lstStyle/>
                    <a:p>
                      <a:pPr>
                        <a:buNone/>
                      </a:pPr>
                      <a:r>
                        <a:rPr lang="en-IN"/>
                        <a:t>Individual axon</a:t>
                      </a:r>
                    </a:p>
                  </a:txBody>
                  <a:tcPr anchor="ctr">
                    <a:lnL>
                      <a:noFill/>
                    </a:lnL>
                    <a:lnR>
                      <a:noFill/>
                    </a:lnR>
                    <a:lnT>
                      <a:noFill/>
                    </a:lnT>
                    <a:lnB>
                      <a:noFill/>
                    </a:lnB>
                    <a:noFill/>
                  </a:tcPr>
                </a:tc>
                <a:extLst>
                  <a:ext uri="{0D108BD9-81ED-4DB2-BD59-A6C34878D82A}">
                    <a16:rowId xmlns:a16="http://schemas.microsoft.com/office/drawing/2014/main" val="3137269210"/>
                  </a:ext>
                </a:extLst>
              </a:tr>
              <a:tr h="0">
                <a:tc>
                  <a:txBody>
                    <a:bodyPr/>
                    <a:lstStyle/>
                    <a:p>
                      <a:pPr>
                        <a:buNone/>
                      </a:pPr>
                      <a:r>
                        <a:rPr lang="en-IN" b="1"/>
                        <a:t>Perineurium</a:t>
                      </a:r>
                      <a:endParaRPr lang="en-IN"/>
                    </a:p>
                  </a:txBody>
                  <a:tcPr anchor="ctr">
                    <a:lnL>
                      <a:noFill/>
                    </a:lnL>
                    <a:lnR>
                      <a:noFill/>
                    </a:lnR>
                    <a:lnT>
                      <a:noFill/>
                    </a:lnT>
                    <a:lnB>
                      <a:noFill/>
                    </a:lnB>
                    <a:noFill/>
                  </a:tcPr>
                </a:tc>
                <a:tc>
                  <a:txBody>
                    <a:bodyPr/>
                    <a:lstStyle/>
                    <a:p>
                      <a:pPr>
                        <a:buNone/>
                      </a:pPr>
                      <a:r>
                        <a:rPr lang="en-IN"/>
                        <a:t>Fascicle (bundle of fibers)</a:t>
                      </a:r>
                    </a:p>
                  </a:txBody>
                  <a:tcPr anchor="ctr">
                    <a:lnL>
                      <a:noFill/>
                    </a:lnL>
                    <a:lnR>
                      <a:noFill/>
                    </a:lnR>
                    <a:lnT>
                      <a:noFill/>
                    </a:lnT>
                    <a:lnB>
                      <a:noFill/>
                    </a:lnB>
                    <a:noFill/>
                  </a:tcPr>
                </a:tc>
                <a:extLst>
                  <a:ext uri="{0D108BD9-81ED-4DB2-BD59-A6C34878D82A}">
                    <a16:rowId xmlns:a16="http://schemas.microsoft.com/office/drawing/2014/main" val="627984328"/>
                  </a:ext>
                </a:extLst>
              </a:tr>
              <a:tr h="0">
                <a:tc>
                  <a:txBody>
                    <a:bodyPr/>
                    <a:lstStyle/>
                    <a:p>
                      <a:pPr>
                        <a:buNone/>
                      </a:pPr>
                      <a:r>
                        <a:rPr lang="en-IN" b="1"/>
                        <a:t>Epineurium</a:t>
                      </a:r>
                      <a:endParaRPr lang="en-IN"/>
                    </a:p>
                  </a:txBody>
                  <a:tcPr anchor="ctr">
                    <a:lnL>
                      <a:noFill/>
                    </a:lnL>
                    <a:lnR>
                      <a:noFill/>
                    </a:lnR>
                    <a:lnT>
                      <a:noFill/>
                    </a:lnT>
                    <a:lnB>
                      <a:noFill/>
                    </a:lnB>
                    <a:noFill/>
                  </a:tcPr>
                </a:tc>
                <a:tc>
                  <a:txBody>
                    <a:bodyPr/>
                    <a:lstStyle/>
                    <a:p>
                      <a:pPr>
                        <a:buNone/>
                      </a:pPr>
                      <a:r>
                        <a:rPr lang="en-IN" dirty="0"/>
                        <a:t>Whole nerve</a:t>
                      </a:r>
                    </a:p>
                  </a:txBody>
                  <a:tcPr anchor="ctr">
                    <a:lnL>
                      <a:noFill/>
                    </a:lnL>
                    <a:lnR>
                      <a:noFill/>
                    </a:lnR>
                    <a:lnT>
                      <a:noFill/>
                    </a:lnT>
                    <a:lnB>
                      <a:noFill/>
                    </a:lnB>
                    <a:noFill/>
                  </a:tcPr>
                </a:tc>
                <a:extLst>
                  <a:ext uri="{0D108BD9-81ED-4DB2-BD59-A6C34878D82A}">
                    <a16:rowId xmlns:a16="http://schemas.microsoft.com/office/drawing/2014/main" val="3307537725"/>
                  </a:ext>
                </a:extLst>
              </a:tr>
            </a:tbl>
          </a:graphicData>
        </a:graphic>
      </p:graphicFrame>
    </p:spTree>
    <p:extLst>
      <p:ext uri="{BB962C8B-B14F-4D97-AF65-F5344CB8AC3E}">
        <p14:creationId xmlns:p14="http://schemas.microsoft.com/office/powerpoint/2010/main" val="3594029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962C6-F125-C556-9D16-3A849FAB5EA5}"/>
              </a:ext>
            </a:extLst>
          </p:cNvPr>
          <p:cNvSpPr>
            <a:spLocks noGrp="1"/>
          </p:cNvSpPr>
          <p:nvPr>
            <p:ph type="title"/>
          </p:nvPr>
        </p:nvSpPr>
        <p:spPr/>
        <p:txBody>
          <a:bodyPr>
            <a:normAutofit/>
          </a:bodyPr>
          <a:lstStyle/>
          <a:p>
            <a:r>
              <a:rPr lang="en-IN" b="1" dirty="0"/>
              <a:t>NERVE INJURY</a:t>
            </a:r>
            <a:endParaRPr lang="en-IN" dirty="0"/>
          </a:p>
        </p:txBody>
      </p:sp>
      <p:sp>
        <p:nvSpPr>
          <p:cNvPr id="6" name="Content Placeholder 5">
            <a:extLst>
              <a:ext uri="{FF2B5EF4-FFF2-40B4-BE49-F238E27FC236}">
                <a16:creationId xmlns:a16="http://schemas.microsoft.com/office/drawing/2014/main" id="{557CCE1A-7DEC-0E25-5E7B-77546E1DB56C}"/>
              </a:ext>
            </a:extLst>
          </p:cNvPr>
          <p:cNvSpPr>
            <a:spLocks noGrp="1"/>
          </p:cNvSpPr>
          <p:nvPr>
            <p:ph idx="1"/>
          </p:nvPr>
        </p:nvSpPr>
        <p:spPr/>
        <p:txBody>
          <a:bodyPr/>
          <a:lstStyle/>
          <a:p>
            <a:pPr marL="0" indent="0">
              <a:buNone/>
            </a:pPr>
            <a:r>
              <a:rPr lang="en-IN" b="1" dirty="0"/>
              <a:t>Causes</a:t>
            </a:r>
          </a:p>
          <a:p>
            <a:r>
              <a:rPr lang="en-IN" dirty="0"/>
              <a:t>Trauma</a:t>
            </a:r>
          </a:p>
          <a:p>
            <a:r>
              <a:rPr lang="en-IN" dirty="0"/>
              <a:t>Compression</a:t>
            </a:r>
          </a:p>
          <a:p>
            <a:r>
              <a:rPr lang="en-IN" dirty="0"/>
              <a:t>Stretching</a:t>
            </a:r>
          </a:p>
          <a:p>
            <a:r>
              <a:rPr lang="en-IN" dirty="0"/>
              <a:t>Ischemia</a:t>
            </a:r>
          </a:p>
          <a:p>
            <a:r>
              <a:rPr lang="en-IN" dirty="0"/>
              <a:t>Inflammation</a:t>
            </a:r>
          </a:p>
          <a:p>
            <a:r>
              <a:rPr lang="en-IN" dirty="0"/>
              <a:t>Toxins / metabolic disorders (e.g., diabetes)</a:t>
            </a:r>
          </a:p>
          <a:p>
            <a:endParaRPr lang="en-IN" dirty="0"/>
          </a:p>
        </p:txBody>
      </p:sp>
    </p:spTree>
    <p:extLst>
      <p:ext uri="{BB962C8B-B14F-4D97-AF65-F5344CB8AC3E}">
        <p14:creationId xmlns:p14="http://schemas.microsoft.com/office/powerpoint/2010/main" val="3486784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DCD0F-65C1-2516-3C98-123EBDA7B7D2}"/>
              </a:ext>
            </a:extLst>
          </p:cNvPr>
          <p:cNvSpPr>
            <a:spLocks noGrp="1"/>
          </p:cNvSpPr>
          <p:nvPr>
            <p:ph type="title"/>
          </p:nvPr>
        </p:nvSpPr>
        <p:spPr/>
        <p:txBody>
          <a:bodyPr/>
          <a:lstStyle/>
          <a:p>
            <a:r>
              <a:rPr lang="en-US" dirty="0"/>
              <a:t>TYPES OF NERVE INJURY</a:t>
            </a:r>
            <a:endParaRPr lang="en-IN" dirty="0"/>
          </a:p>
        </p:txBody>
      </p:sp>
      <p:graphicFrame>
        <p:nvGraphicFramePr>
          <p:cNvPr id="4" name="Content Placeholder 3">
            <a:extLst>
              <a:ext uri="{FF2B5EF4-FFF2-40B4-BE49-F238E27FC236}">
                <a16:creationId xmlns:a16="http://schemas.microsoft.com/office/drawing/2014/main" id="{D6468D26-4E55-EE77-BF70-7D66BC9DEF30}"/>
              </a:ext>
            </a:extLst>
          </p:cNvPr>
          <p:cNvGraphicFramePr>
            <a:graphicFrameLocks noGrp="1"/>
          </p:cNvGraphicFramePr>
          <p:nvPr>
            <p:ph idx="1"/>
          </p:nvPr>
        </p:nvGraphicFramePr>
        <p:xfrm>
          <a:off x="1066800" y="2652236"/>
          <a:ext cx="10058400" cy="2834640"/>
        </p:xfrm>
        <a:graphic>
          <a:graphicData uri="http://schemas.openxmlformats.org/drawingml/2006/table">
            <a:tbl>
              <a:tblPr/>
              <a:tblGrid>
                <a:gridCol w="2514600">
                  <a:extLst>
                    <a:ext uri="{9D8B030D-6E8A-4147-A177-3AD203B41FA5}">
                      <a16:colId xmlns:a16="http://schemas.microsoft.com/office/drawing/2014/main" val="1621115948"/>
                    </a:ext>
                  </a:extLst>
                </a:gridCol>
                <a:gridCol w="2514600">
                  <a:extLst>
                    <a:ext uri="{9D8B030D-6E8A-4147-A177-3AD203B41FA5}">
                      <a16:colId xmlns:a16="http://schemas.microsoft.com/office/drawing/2014/main" val="1881503685"/>
                    </a:ext>
                  </a:extLst>
                </a:gridCol>
                <a:gridCol w="2514600">
                  <a:extLst>
                    <a:ext uri="{9D8B030D-6E8A-4147-A177-3AD203B41FA5}">
                      <a16:colId xmlns:a16="http://schemas.microsoft.com/office/drawing/2014/main" val="2727785902"/>
                    </a:ext>
                  </a:extLst>
                </a:gridCol>
                <a:gridCol w="2514600">
                  <a:extLst>
                    <a:ext uri="{9D8B030D-6E8A-4147-A177-3AD203B41FA5}">
                      <a16:colId xmlns:a16="http://schemas.microsoft.com/office/drawing/2014/main" val="3342510087"/>
                    </a:ext>
                  </a:extLst>
                </a:gridCol>
              </a:tblGrid>
              <a:tr h="0">
                <a:tc>
                  <a:txBody>
                    <a:bodyPr/>
                    <a:lstStyle/>
                    <a:p>
                      <a:pPr>
                        <a:buNone/>
                      </a:pPr>
                      <a:r>
                        <a:rPr lang="en-IN"/>
                        <a:t>Type</a:t>
                      </a:r>
                    </a:p>
                  </a:txBody>
                  <a:tcPr anchor="ctr">
                    <a:lnL>
                      <a:noFill/>
                    </a:lnL>
                    <a:lnR>
                      <a:noFill/>
                    </a:lnR>
                    <a:lnT>
                      <a:noFill/>
                    </a:lnT>
                    <a:lnB>
                      <a:noFill/>
                    </a:lnB>
                    <a:noFill/>
                  </a:tcPr>
                </a:tc>
                <a:tc>
                  <a:txBody>
                    <a:bodyPr/>
                    <a:lstStyle/>
                    <a:p>
                      <a:pPr>
                        <a:buNone/>
                      </a:pPr>
                      <a:r>
                        <a:rPr lang="en-IN"/>
                        <a:t>Site of damage</a:t>
                      </a:r>
                    </a:p>
                  </a:txBody>
                  <a:tcPr anchor="ctr">
                    <a:lnL>
                      <a:noFill/>
                    </a:lnL>
                    <a:lnR>
                      <a:noFill/>
                    </a:lnR>
                    <a:lnT>
                      <a:noFill/>
                    </a:lnT>
                    <a:lnB>
                      <a:noFill/>
                    </a:lnB>
                    <a:noFill/>
                  </a:tcPr>
                </a:tc>
                <a:tc>
                  <a:txBody>
                    <a:bodyPr/>
                    <a:lstStyle/>
                    <a:p>
                      <a:pPr>
                        <a:buNone/>
                      </a:pPr>
                      <a:r>
                        <a:rPr lang="en-IN"/>
                        <a:t>Recovery</a:t>
                      </a:r>
                    </a:p>
                  </a:txBody>
                  <a:tcPr anchor="ctr">
                    <a:lnL>
                      <a:noFill/>
                    </a:lnL>
                    <a:lnR>
                      <a:noFill/>
                    </a:lnR>
                    <a:lnT>
                      <a:noFill/>
                    </a:lnT>
                    <a:lnB>
                      <a:noFill/>
                    </a:lnB>
                    <a:noFill/>
                  </a:tcPr>
                </a:tc>
                <a:tc>
                  <a:txBody>
                    <a:bodyPr/>
                    <a:lstStyle/>
                    <a:p>
                      <a:pPr>
                        <a:buNone/>
                      </a:pPr>
                      <a:r>
                        <a:rPr lang="en-IN"/>
                        <a:t>Examples</a:t>
                      </a:r>
                    </a:p>
                  </a:txBody>
                  <a:tcPr anchor="ctr">
                    <a:lnL>
                      <a:noFill/>
                    </a:lnL>
                    <a:lnR>
                      <a:noFill/>
                    </a:lnR>
                    <a:lnT>
                      <a:noFill/>
                    </a:lnT>
                    <a:lnB>
                      <a:noFill/>
                    </a:lnB>
                    <a:noFill/>
                  </a:tcPr>
                </a:tc>
                <a:extLst>
                  <a:ext uri="{0D108BD9-81ED-4DB2-BD59-A6C34878D82A}">
                    <a16:rowId xmlns:a16="http://schemas.microsoft.com/office/drawing/2014/main" val="18836071"/>
                  </a:ext>
                </a:extLst>
              </a:tr>
              <a:tr h="0">
                <a:tc>
                  <a:txBody>
                    <a:bodyPr/>
                    <a:lstStyle/>
                    <a:p>
                      <a:pPr>
                        <a:buNone/>
                      </a:pPr>
                      <a:r>
                        <a:rPr lang="en-IN" b="1"/>
                        <a:t>Neuropraxia</a:t>
                      </a:r>
                      <a:endParaRPr lang="en-IN"/>
                    </a:p>
                  </a:txBody>
                  <a:tcPr anchor="ctr">
                    <a:lnL>
                      <a:noFill/>
                    </a:lnL>
                    <a:lnR>
                      <a:noFill/>
                    </a:lnR>
                    <a:lnT>
                      <a:noFill/>
                    </a:lnT>
                    <a:lnB>
                      <a:noFill/>
                    </a:lnB>
                    <a:noFill/>
                  </a:tcPr>
                </a:tc>
                <a:tc>
                  <a:txBody>
                    <a:bodyPr/>
                    <a:lstStyle/>
                    <a:p>
                      <a:pPr>
                        <a:buNone/>
                      </a:pPr>
                      <a:r>
                        <a:rPr lang="en-US"/>
                        <a:t>Conduction block without axonal damage</a:t>
                      </a:r>
                    </a:p>
                  </a:txBody>
                  <a:tcPr anchor="ctr">
                    <a:lnL>
                      <a:noFill/>
                    </a:lnL>
                    <a:lnR>
                      <a:noFill/>
                    </a:lnR>
                    <a:lnT>
                      <a:noFill/>
                    </a:lnT>
                    <a:lnB>
                      <a:noFill/>
                    </a:lnB>
                    <a:noFill/>
                  </a:tcPr>
                </a:tc>
                <a:tc>
                  <a:txBody>
                    <a:bodyPr/>
                    <a:lstStyle/>
                    <a:p>
                      <a:pPr>
                        <a:buNone/>
                      </a:pPr>
                      <a:r>
                        <a:rPr lang="en-US"/>
                        <a:t>Full recovery in days–weeks</a:t>
                      </a:r>
                    </a:p>
                  </a:txBody>
                  <a:tcPr anchor="ctr">
                    <a:lnL>
                      <a:noFill/>
                    </a:lnL>
                    <a:lnR>
                      <a:noFill/>
                    </a:lnR>
                    <a:lnT>
                      <a:noFill/>
                    </a:lnT>
                    <a:lnB>
                      <a:noFill/>
                    </a:lnB>
                    <a:noFill/>
                  </a:tcPr>
                </a:tc>
                <a:tc>
                  <a:txBody>
                    <a:bodyPr/>
                    <a:lstStyle/>
                    <a:p>
                      <a:pPr>
                        <a:buNone/>
                      </a:pPr>
                      <a:r>
                        <a:rPr lang="en-IN"/>
                        <a:t>Saturday night palsy</a:t>
                      </a:r>
                    </a:p>
                  </a:txBody>
                  <a:tcPr anchor="ctr">
                    <a:lnL>
                      <a:noFill/>
                    </a:lnL>
                    <a:lnR>
                      <a:noFill/>
                    </a:lnR>
                    <a:lnT>
                      <a:noFill/>
                    </a:lnT>
                    <a:lnB>
                      <a:noFill/>
                    </a:lnB>
                    <a:noFill/>
                  </a:tcPr>
                </a:tc>
                <a:extLst>
                  <a:ext uri="{0D108BD9-81ED-4DB2-BD59-A6C34878D82A}">
                    <a16:rowId xmlns:a16="http://schemas.microsoft.com/office/drawing/2014/main" val="3586129827"/>
                  </a:ext>
                </a:extLst>
              </a:tr>
              <a:tr h="0">
                <a:tc>
                  <a:txBody>
                    <a:bodyPr/>
                    <a:lstStyle/>
                    <a:p>
                      <a:pPr>
                        <a:buNone/>
                      </a:pPr>
                      <a:r>
                        <a:rPr lang="en-IN" b="1"/>
                        <a:t>Axonotmesis</a:t>
                      </a:r>
                      <a:endParaRPr lang="en-IN"/>
                    </a:p>
                  </a:txBody>
                  <a:tcPr anchor="ctr">
                    <a:lnL>
                      <a:noFill/>
                    </a:lnL>
                    <a:lnR>
                      <a:noFill/>
                    </a:lnR>
                    <a:lnT>
                      <a:noFill/>
                    </a:lnT>
                    <a:lnB>
                      <a:noFill/>
                    </a:lnB>
                    <a:noFill/>
                  </a:tcPr>
                </a:tc>
                <a:tc>
                  <a:txBody>
                    <a:bodyPr/>
                    <a:lstStyle/>
                    <a:p>
                      <a:pPr>
                        <a:buNone/>
                      </a:pPr>
                      <a:r>
                        <a:rPr lang="en-IN"/>
                        <a:t>Axonal damage, sheath intact</a:t>
                      </a:r>
                    </a:p>
                  </a:txBody>
                  <a:tcPr anchor="ctr">
                    <a:lnL>
                      <a:noFill/>
                    </a:lnL>
                    <a:lnR>
                      <a:noFill/>
                    </a:lnR>
                    <a:lnT>
                      <a:noFill/>
                    </a:lnT>
                    <a:lnB>
                      <a:noFill/>
                    </a:lnB>
                    <a:noFill/>
                  </a:tcPr>
                </a:tc>
                <a:tc>
                  <a:txBody>
                    <a:bodyPr/>
                    <a:lstStyle/>
                    <a:p>
                      <a:pPr>
                        <a:buNone/>
                      </a:pPr>
                      <a:r>
                        <a:rPr lang="en-IN"/>
                        <a:t>Regeneration possible</a:t>
                      </a:r>
                    </a:p>
                  </a:txBody>
                  <a:tcPr anchor="ctr">
                    <a:lnL>
                      <a:noFill/>
                    </a:lnL>
                    <a:lnR>
                      <a:noFill/>
                    </a:lnR>
                    <a:lnT>
                      <a:noFill/>
                    </a:lnT>
                    <a:lnB>
                      <a:noFill/>
                    </a:lnB>
                    <a:noFill/>
                  </a:tcPr>
                </a:tc>
                <a:tc>
                  <a:txBody>
                    <a:bodyPr/>
                    <a:lstStyle/>
                    <a:p>
                      <a:pPr>
                        <a:buNone/>
                      </a:pPr>
                      <a:r>
                        <a:rPr lang="en-IN"/>
                        <a:t>Crush injury</a:t>
                      </a:r>
                    </a:p>
                  </a:txBody>
                  <a:tcPr anchor="ctr">
                    <a:lnL>
                      <a:noFill/>
                    </a:lnL>
                    <a:lnR>
                      <a:noFill/>
                    </a:lnR>
                    <a:lnT>
                      <a:noFill/>
                    </a:lnT>
                    <a:lnB>
                      <a:noFill/>
                    </a:lnB>
                    <a:noFill/>
                  </a:tcPr>
                </a:tc>
                <a:extLst>
                  <a:ext uri="{0D108BD9-81ED-4DB2-BD59-A6C34878D82A}">
                    <a16:rowId xmlns:a16="http://schemas.microsoft.com/office/drawing/2014/main" val="1773453555"/>
                  </a:ext>
                </a:extLst>
              </a:tr>
              <a:tr h="0">
                <a:tc>
                  <a:txBody>
                    <a:bodyPr/>
                    <a:lstStyle/>
                    <a:p>
                      <a:pPr>
                        <a:buNone/>
                      </a:pPr>
                      <a:r>
                        <a:rPr lang="en-IN" b="1"/>
                        <a:t>Neurotmesis</a:t>
                      </a:r>
                      <a:endParaRPr lang="en-IN"/>
                    </a:p>
                  </a:txBody>
                  <a:tcPr anchor="ctr">
                    <a:lnL>
                      <a:noFill/>
                    </a:lnL>
                    <a:lnR>
                      <a:noFill/>
                    </a:lnR>
                    <a:lnT>
                      <a:noFill/>
                    </a:lnT>
                    <a:lnB>
                      <a:noFill/>
                    </a:lnB>
                    <a:noFill/>
                  </a:tcPr>
                </a:tc>
                <a:tc>
                  <a:txBody>
                    <a:bodyPr/>
                    <a:lstStyle/>
                    <a:p>
                      <a:pPr>
                        <a:buNone/>
                      </a:pPr>
                      <a:r>
                        <a:rPr lang="en-IN"/>
                        <a:t>Complete transection of nerve</a:t>
                      </a:r>
                    </a:p>
                  </a:txBody>
                  <a:tcPr anchor="ctr">
                    <a:lnL>
                      <a:noFill/>
                    </a:lnL>
                    <a:lnR>
                      <a:noFill/>
                    </a:lnR>
                    <a:lnT>
                      <a:noFill/>
                    </a:lnT>
                    <a:lnB>
                      <a:noFill/>
                    </a:lnB>
                    <a:noFill/>
                  </a:tcPr>
                </a:tc>
                <a:tc>
                  <a:txBody>
                    <a:bodyPr/>
                    <a:lstStyle/>
                    <a:p>
                      <a:pPr>
                        <a:buNone/>
                      </a:pPr>
                      <a:r>
                        <a:rPr lang="en-US"/>
                        <a:t>No spontaneous recovery (needs surgery)</a:t>
                      </a:r>
                    </a:p>
                  </a:txBody>
                  <a:tcPr anchor="ctr">
                    <a:lnL>
                      <a:noFill/>
                    </a:lnL>
                    <a:lnR>
                      <a:noFill/>
                    </a:lnR>
                    <a:lnT>
                      <a:noFill/>
                    </a:lnT>
                    <a:lnB>
                      <a:noFill/>
                    </a:lnB>
                    <a:noFill/>
                  </a:tcPr>
                </a:tc>
                <a:tc>
                  <a:txBody>
                    <a:bodyPr/>
                    <a:lstStyle/>
                    <a:p>
                      <a:pPr>
                        <a:buNone/>
                      </a:pPr>
                      <a:r>
                        <a:rPr lang="en-IN" dirty="0"/>
                        <a:t>Knife injury</a:t>
                      </a:r>
                    </a:p>
                  </a:txBody>
                  <a:tcPr anchor="ctr">
                    <a:lnL>
                      <a:noFill/>
                    </a:lnL>
                    <a:lnR>
                      <a:noFill/>
                    </a:lnR>
                    <a:lnT>
                      <a:noFill/>
                    </a:lnT>
                    <a:lnB>
                      <a:noFill/>
                    </a:lnB>
                    <a:noFill/>
                  </a:tcPr>
                </a:tc>
                <a:extLst>
                  <a:ext uri="{0D108BD9-81ED-4DB2-BD59-A6C34878D82A}">
                    <a16:rowId xmlns:a16="http://schemas.microsoft.com/office/drawing/2014/main" val="2479079717"/>
                  </a:ext>
                </a:extLst>
              </a:tr>
            </a:tbl>
          </a:graphicData>
        </a:graphic>
      </p:graphicFrame>
    </p:spTree>
    <p:extLst>
      <p:ext uri="{BB962C8B-B14F-4D97-AF65-F5344CB8AC3E}">
        <p14:creationId xmlns:p14="http://schemas.microsoft.com/office/powerpoint/2010/main" val="2406163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6558E-972D-1067-C2F8-C9F0810790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C2452-4D20-09B6-027F-CF96E8862FCF}"/>
              </a:ext>
            </a:extLst>
          </p:cNvPr>
          <p:cNvSpPr>
            <a:spLocks noGrp="1"/>
          </p:cNvSpPr>
          <p:nvPr>
            <p:ph type="ctrTitle"/>
          </p:nvPr>
        </p:nvSpPr>
        <p:spPr/>
        <p:txBody>
          <a:bodyPr/>
          <a:lstStyle/>
          <a:p>
            <a:r>
              <a:rPr lang="en-US" dirty="0"/>
              <a:t>UNIT 3</a:t>
            </a:r>
            <a:endParaRPr lang="en-IN" dirty="0"/>
          </a:p>
        </p:txBody>
      </p:sp>
      <p:sp>
        <p:nvSpPr>
          <p:cNvPr id="3" name="Subtitle 2">
            <a:extLst>
              <a:ext uri="{FF2B5EF4-FFF2-40B4-BE49-F238E27FC236}">
                <a16:creationId xmlns:a16="http://schemas.microsoft.com/office/drawing/2014/main" id="{F6411858-6473-1BF6-4D84-1788A5A7B70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218861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51342-9863-298A-5006-090C4D4DC78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70EB87C-A30C-FA0B-C577-4841CF9282EE}"/>
              </a:ext>
            </a:extLst>
          </p:cNvPr>
          <p:cNvPicPr>
            <a:picLocks noGrp="1" noChangeAspect="1"/>
          </p:cNvPicPr>
          <p:nvPr>
            <p:ph idx="1"/>
          </p:nvPr>
        </p:nvPicPr>
        <p:blipFill>
          <a:blip r:embed="rId2"/>
          <a:stretch>
            <a:fillRect/>
          </a:stretch>
        </p:blipFill>
        <p:spPr>
          <a:xfrm>
            <a:off x="3740364" y="0"/>
            <a:ext cx="4711271" cy="6843716"/>
          </a:xfrm>
          <a:prstGeom prst="rect">
            <a:avLst/>
          </a:prstGeom>
        </p:spPr>
      </p:pic>
    </p:spTree>
    <p:extLst>
      <p:ext uri="{BB962C8B-B14F-4D97-AF65-F5344CB8AC3E}">
        <p14:creationId xmlns:p14="http://schemas.microsoft.com/office/powerpoint/2010/main" val="700088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5FBF-A82A-C2C7-D61C-C4600EC060D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4F59F25-08B4-7442-7349-220BEE548684}"/>
              </a:ext>
            </a:extLst>
          </p:cNvPr>
          <p:cNvPicPr>
            <a:picLocks noGrp="1" noChangeAspect="1"/>
          </p:cNvPicPr>
          <p:nvPr>
            <p:ph idx="1"/>
          </p:nvPr>
        </p:nvPicPr>
        <p:blipFill>
          <a:blip r:embed="rId2"/>
          <a:stretch>
            <a:fillRect/>
          </a:stretch>
        </p:blipFill>
        <p:spPr>
          <a:xfrm>
            <a:off x="1576315" y="895140"/>
            <a:ext cx="9039369" cy="5067720"/>
          </a:xfrm>
          <a:prstGeom prst="rect">
            <a:avLst/>
          </a:prstGeom>
        </p:spPr>
      </p:pic>
    </p:spTree>
    <p:extLst>
      <p:ext uri="{BB962C8B-B14F-4D97-AF65-F5344CB8AC3E}">
        <p14:creationId xmlns:p14="http://schemas.microsoft.com/office/powerpoint/2010/main" val="1964800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CD901-1E05-CD63-9BBD-3A5801B8B2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3EFDA-E428-FCEF-0BF1-6008629F5DEC}"/>
              </a:ext>
            </a:extLst>
          </p:cNvPr>
          <p:cNvSpPr>
            <a:spLocks noGrp="1"/>
          </p:cNvSpPr>
          <p:nvPr>
            <p:ph type="ctrTitle"/>
          </p:nvPr>
        </p:nvSpPr>
        <p:spPr/>
        <p:txBody>
          <a:bodyPr/>
          <a:lstStyle/>
          <a:p>
            <a:r>
              <a:rPr lang="en-US" dirty="0"/>
              <a:t>UNIT 4</a:t>
            </a:r>
            <a:endParaRPr lang="en-IN" dirty="0"/>
          </a:p>
        </p:txBody>
      </p:sp>
      <p:sp>
        <p:nvSpPr>
          <p:cNvPr id="3" name="Subtitle 2">
            <a:extLst>
              <a:ext uri="{FF2B5EF4-FFF2-40B4-BE49-F238E27FC236}">
                <a16:creationId xmlns:a16="http://schemas.microsoft.com/office/drawing/2014/main" id="{2686A7FD-7868-CDA5-D331-BF7D819754E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621083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3D7F9-98C4-22FA-7204-2C77CCF29C7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2C8E6B8-BF46-902E-E79B-DB5038E062BE}"/>
              </a:ext>
            </a:extLst>
          </p:cNvPr>
          <p:cNvPicPr>
            <a:picLocks noGrp="1" noChangeAspect="1"/>
          </p:cNvPicPr>
          <p:nvPr>
            <p:ph idx="1"/>
          </p:nvPr>
        </p:nvPicPr>
        <p:blipFill>
          <a:blip r:embed="rId2"/>
          <a:stretch>
            <a:fillRect/>
          </a:stretch>
        </p:blipFill>
        <p:spPr>
          <a:xfrm>
            <a:off x="2436550" y="1148080"/>
            <a:ext cx="6832392" cy="4185922"/>
          </a:xfrm>
          <a:prstGeom prst="rect">
            <a:avLst/>
          </a:prstGeom>
        </p:spPr>
      </p:pic>
    </p:spTree>
    <p:extLst>
      <p:ext uri="{BB962C8B-B14F-4D97-AF65-F5344CB8AC3E}">
        <p14:creationId xmlns:p14="http://schemas.microsoft.com/office/powerpoint/2010/main" val="2929735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5D860-0EA7-C2C3-1905-C2C1CFBD274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ED8CA5D-7DF0-7AAD-FD21-230B923CE1B1}"/>
              </a:ext>
            </a:extLst>
          </p:cNvPr>
          <p:cNvPicPr>
            <a:picLocks noGrp="1" noChangeAspect="1"/>
          </p:cNvPicPr>
          <p:nvPr>
            <p:ph idx="1"/>
          </p:nvPr>
        </p:nvPicPr>
        <p:blipFill>
          <a:blip r:embed="rId2"/>
          <a:stretch>
            <a:fillRect/>
          </a:stretch>
        </p:blipFill>
        <p:spPr>
          <a:xfrm>
            <a:off x="1507083" y="0"/>
            <a:ext cx="9177833" cy="6786880"/>
          </a:xfrm>
          <a:prstGeom prst="rect">
            <a:avLst/>
          </a:prstGeom>
        </p:spPr>
      </p:pic>
    </p:spTree>
    <p:extLst>
      <p:ext uri="{BB962C8B-B14F-4D97-AF65-F5344CB8AC3E}">
        <p14:creationId xmlns:p14="http://schemas.microsoft.com/office/powerpoint/2010/main" val="3551150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3F36B-567E-3A2B-DF02-3534798BA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705C5-2659-BB9A-7211-10C19C2E45FE}"/>
              </a:ext>
            </a:extLst>
          </p:cNvPr>
          <p:cNvSpPr>
            <a:spLocks noGrp="1"/>
          </p:cNvSpPr>
          <p:nvPr>
            <p:ph type="ctrTitle"/>
          </p:nvPr>
        </p:nvSpPr>
        <p:spPr/>
        <p:txBody>
          <a:bodyPr/>
          <a:lstStyle/>
          <a:p>
            <a:r>
              <a:rPr lang="en-US" dirty="0"/>
              <a:t>UNIT 5</a:t>
            </a:r>
            <a:endParaRPr lang="en-IN" dirty="0"/>
          </a:p>
        </p:txBody>
      </p:sp>
      <p:sp>
        <p:nvSpPr>
          <p:cNvPr id="3" name="Subtitle 2">
            <a:extLst>
              <a:ext uri="{FF2B5EF4-FFF2-40B4-BE49-F238E27FC236}">
                <a16:creationId xmlns:a16="http://schemas.microsoft.com/office/drawing/2014/main" id="{E11A1993-4E15-62A0-8A48-58A53EC4EAD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615827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1BAEA-049E-0E76-B4C7-93785D42ED9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60AFA53-5CF2-911F-3426-74CA283D766F}"/>
              </a:ext>
            </a:extLst>
          </p:cNvPr>
          <p:cNvPicPr>
            <a:picLocks noGrp="1" noChangeAspect="1"/>
          </p:cNvPicPr>
          <p:nvPr>
            <p:ph idx="1"/>
          </p:nvPr>
        </p:nvPicPr>
        <p:blipFill>
          <a:blip r:embed="rId2"/>
          <a:stretch>
            <a:fillRect/>
          </a:stretch>
        </p:blipFill>
        <p:spPr>
          <a:xfrm>
            <a:off x="1413345" y="1116606"/>
            <a:ext cx="9211460" cy="4624788"/>
          </a:xfrm>
          <a:prstGeom prst="rect">
            <a:avLst/>
          </a:prstGeom>
        </p:spPr>
      </p:pic>
    </p:spTree>
    <p:extLst>
      <p:ext uri="{BB962C8B-B14F-4D97-AF65-F5344CB8AC3E}">
        <p14:creationId xmlns:p14="http://schemas.microsoft.com/office/powerpoint/2010/main" val="2130258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E12D9-9293-CA43-1392-EFD1BCE29E1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840C44C-90FB-D10A-D3F4-DE13C2FD32BA}"/>
              </a:ext>
            </a:extLst>
          </p:cNvPr>
          <p:cNvPicPr>
            <a:picLocks noGrp="1" noChangeAspect="1"/>
          </p:cNvPicPr>
          <p:nvPr>
            <p:ph idx="1"/>
          </p:nvPr>
        </p:nvPicPr>
        <p:blipFill>
          <a:blip r:embed="rId2"/>
          <a:stretch>
            <a:fillRect/>
          </a:stretch>
        </p:blipFill>
        <p:spPr>
          <a:xfrm>
            <a:off x="1952518" y="548640"/>
            <a:ext cx="8286963" cy="5588635"/>
          </a:xfrm>
          <a:prstGeom prst="rect">
            <a:avLst/>
          </a:prstGeom>
        </p:spPr>
      </p:pic>
    </p:spTree>
    <p:extLst>
      <p:ext uri="{BB962C8B-B14F-4D97-AF65-F5344CB8AC3E}">
        <p14:creationId xmlns:p14="http://schemas.microsoft.com/office/powerpoint/2010/main" val="173494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424D9-C1C1-318E-C82A-4FC94761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5BCCA-7277-58E9-5D73-92868978DAA3}"/>
              </a:ext>
            </a:extLst>
          </p:cNvPr>
          <p:cNvSpPr>
            <a:spLocks noGrp="1"/>
          </p:cNvSpPr>
          <p:nvPr>
            <p:ph type="ctrTitle"/>
          </p:nvPr>
        </p:nvSpPr>
        <p:spPr/>
        <p:txBody>
          <a:bodyPr/>
          <a:lstStyle/>
          <a:p>
            <a:r>
              <a:rPr lang="en-US" dirty="0"/>
              <a:t>UNIT 6</a:t>
            </a:r>
            <a:endParaRPr lang="en-IN" dirty="0"/>
          </a:p>
        </p:txBody>
      </p:sp>
      <p:sp>
        <p:nvSpPr>
          <p:cNvPr id="3" name="Subtitle 2">
            <a:extLst>
              <a:ext uri="{FF2B5EF4-FFF2-40B4-BE49-F238E27FC236}">
                <a16:creationId xmlns:a16="http://schemas.microsoft.com/office/drawing/2014/main" id="{645E017C-7485-D545-CF5B-E21145649C9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248337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6BAAA-5477-116D-D9B6-25B077F6087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36B1616-9EB4-E2C6-6FAF-B77AF926755C}"/>
              </a:ext>
            </a:extLst>
          </p:cNvPr>
          <p:cNvPicPr>
            <a:picLocks noGrp="1" noChangeAspect="1"/>
          </p:cNvPicPr>
          <p:nvPr>
            <p:ph idx="1"/>
          </p:nvPr>
        </p:nvPicPr>
        <p:blipFill>
          <a:blip r:embed="rId2"/>
          <a:stretch>
            <a:fillRect/>
          </a:stretch>
        </p:blipFill>
        <p:spPr>
          <a:xfrm>
            <a:off x="1273412" y="1890368"/>
            <a:ext cx="9645175" cy="3977031"/>
          </a:xfrm>
          <a:prstGeom prst="rect">
            <a:avLst/>
          </a:prstGeom>
        </p:spPr>
      </p:pic>
    </p:spTree>
    <p:extLst>
      <p:ext uri="{BB962C8B-B14F-4D97-AF65-F5344CB8AC3E}">
        <p14:creationId xmlns:p14="http://schemas.microsoft.com/office/powerpoint/2010/main" val="3524864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AF3DA-6ACC-E937-0194-3D65F1CA5BF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902DD9A-E682-DF52-1A53-EE3EBBF73B90}"/>
              </a:ext>
            </a:extLst>
          </p:cNvPr>
          <p:cNvPicPr>
            <a:picLocks noGrp="1" noChangeAspect="1"/>
          </p:cNvPicPr>
          <p:nvPr>
            <p:ph idx="1"/>
          </p:nvPr>
        </p:nvPicPr>
        <p:blipFill>
          <a:blip r:embed="rId2"/>
          <a:stretch>
            <a:fillRect/>
          </a:stretch>
        </p:blipFill>
        <p:spPr>
          <a:xfrm>
            <a:off x="3097932" y="503175"/>
            <a:ext cx="5996135" cy="5851649"/>
          </a:xfrm>
          <a:prstGeom prst="rect">
            <a:avLst/>
          </a:prstGeom>
        </p:spPr>
      </p:pic>
    </p:spTree>
    <p:extLst>
      <p:ext uri="{BB962C8B-B14F-4D97-AF65-F5344CB8AC3E}">
        <p14:creationId xmlns:p14="http://schemas.microsoft.com/office/powerpoint/2010/main" val="2810540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E970D-7685-7102-ADA8-B3BD3AA6DE1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40B9C6C-0AED-6DF6-A1B4-C38F9287BD26}"/>
              </a:ext>
            </a:extLst>
          </p:cNvPr>
          <p:cNvPicPr>
            <a:picLocks noGrp="1" noChangeAspect="1"/>
          </p:cNvPicPr>
          <p:nvPr>
            <p:ph idx="1"/>
          </p:nvPr>
        </p:nvPicPr>
        <p:blipFill>
          <a:blip r:embed="rId2"/>
          <a:stretch>
            <a:fillRect/>
          </a:stretch>
        </p:blipFill>
        <p:spPr>
          <a:xfrm>
            <a:off x="3504282" y="239710"/>
            <a:ext cx="5183435" cy="6378579"/>
          </a:xfrm>
          <a:prstGeom prst="rect">
            <a:avLst/>
          </a:prstGeom>
        </p:spPr>
      </p:pic>
    </p:spTree>
    <p:extLst>
      <p:ext uri="{BB962C8B-B14F-4D97-AF65-F5344CB8AC3E}">
        <p14:creationId xmlns:p14="http://schemas.microsoft.com/office/powerpoint/2010/main" val="21375845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E6080-865E-FCE4-23E4-EC958A0EE6B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D484F4B-E5CC-4975-B33D-6F10EB9965A7}"/>
              </a:ext>
            </a:extLst>
          </p:cNvPr>
          <p:cNvPicPr>
            <a:picLocks noGrp="1" noChangeAspect="1"/>
          </p:cNvPicPr>
          <p:nvPr>
            <p:ph idx="1"/>
          </p:nvPr>
        </p:nvPicPr>
        <p:blipFill>
          <a:blip r:embed="rId2"/>
          <a:stretch>
            <a:fillRect/>
          </a:stretch>
        </p:blipFill>
        <p:spPr>
          <a:xfrm>
            <a:off x="2357108" y="304800"/>
            <a:ext cx="7477784" cy="6381750"/>
          </a:xfrm>
          <a:prstGeom prst="rect">
            <a:avLst/>
          </a:prstGeom>
        </p:spPr>
      </p:pic>
    </p:spTree>
    <p:extLst>
      <p:ext uri="{BB962C8B-B14F-4D97-AF65-F5344CB8AC3E}">
        <p14:creationId xmlns:p14="http://schemas.microsoft.com/office/powerpoint/2010/main" val="2782268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03E91-21BD-7489-968F-33216E761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61BF9-7943-8358-287E-4FE0DC36446F}"/>
              </a:ext>
            </a:extLst>
          </p:cNvPr>
          <p:cNvSpPr>
            <a:spLocks noGrp="1"/>
          </p:cNvSpPr>
          <p:nvPr>
            <p:ph type="ctrTitle"/>
          </p:nvPr>
        </p:nvSpPr>
        <p:spPr/>
        <p:txBody>
          <a:bodyPr/>
          <a:lstStyle/>
          <a:p>
            <a:r>
              <a:rPr lang="en-US" dirty="0"/>
              <a:t>UNIT 7</a:t>
            </a:r>
            <a:endParaRPr lang="en-IN" dirty="0"/>
          </a:p>
        </p:txBody>
      </p:sp>
      <p:sp>
        <p:nvSpPr>
          <p:cNvPr id="3" name="Subtitle 2">
            <a:extLst>
              <a:ext uri="{FF2B5EF4-FFF2-40B4-BE49-F238E27FC236}">
                <a16:creationId xmlns:a16="http://schemas.microsoft.com/office/drawing/2014/main" id="{20A55C0D-6546-7C2F-34D0-90904D5BC4E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220776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62258-9A95-1F7B-7E1F-038F63F9C379}"/>
              </a:ext>
            </a:extLst>
          </p:cNvPr>
          <p:cNvSpPr>
            <a:spLocks noGrp="1"/>
          </p:cNvSpPr>
          <p:nvPr>
            <p:ph type="title"/>
          </p:nvPr>
        </p:nvSpPr>
        <p:spPr/>
        <p:txBody>
          <a:bodyPr/>
          <a:lstStyle/>
          <a:p>
            <a:r>
              <a:rPr lang="en-US" dirty="0"/>
              <a:t>MUSCLE TONE</a:t>
            </a:r>
            <a:endParaRPr lang="en-IN" dirty="0"/>
          </a:p>
        </p:txBody>
      </p:sp>
      <p:sp>
        <p:nvSpPr>
          <p:cNvPr id="3" name="Content Placeholder 2">
            <a:extLst>
              <a:ext uri="{FF2B5EF4-FFF2-40B4-BE49-F238E27FC236}">
                <a16:creationId xmlns:a16="http://schemas.microsoft.com/office/drawing/2014/main" id="{946E7F35-510E-877A-B091-A1D350DE2455}"/>
              </a:ext>
            </a:extLst>
          </p:cNvPr>
          <p:cNvSpPr>
            <a:spLocks noGrp="1"/>
          </p:cNvSpPr>
          <p:nvPr>
            <p:ph idx="1"/>
          </p:nvPr>
        </p:nvSpPr>
        <p:spPr/>
        <p:txBody>
          <a:bodyPr/>
          <a:lstStyle/>
          <a:p>
            <a:r>
              <a:rPr lang="en-US" dirty="0"/>
              <a:t>Muscle tone (tonus) is the </a:t>
            </a:r>
            <a:r>
              <a:rPr lang="en-US" b="1" dirty="0"/>
              <a:t>constant, involuntary, partial contraction of skeletal muscles</a:t>
            </a:r>
            <a:r>
              <a:rPr lang="en-US" dirty="0"/>
              <a:t> that maintains </a:t>
            </a:r>
            <a:r>
              <a:rPr lang="en-US" b="1" dirty="0"/>
              <a:t>firmness and readiness for action</a:t>
            </a:r>
            <a:r>
              <a:rPr lang="en-US" dirty="0"/>
              <a:t> even when the muscle is at rest.</a:t>
            </a:r>
          </a:p>
          <a:p>
            <a:r>
              <a:rPr lang="en-US" dirty="0"/>
              <a:t>It is </a:t>
            </a:r>
            <a:r>
              <a:rPr lang="en-US" b="1" dirty="0"/>
              <a:t>not strong enough to produce movement</a:t>
            </a:r>
            <a:r>
              <a:rPr lang="en-US" dirty="0"/>
              <a:t>, but sufficient to </a:t>
            </a:r>
            <a:r>
              <a:rPr lang="en-US" b="1" dirty="0"/>
              <a:t>maintain posture</a:t>
            </a:r>
            <a:r>
              <a:rPr lang="en-US" dirty="0"/>
              <a:t>.</a:t>
            </a:r>
          </a:p>
          <a:p>
            <a:endParaRPr lang="en-IN" dirty="0"/>
          </a:p>
        </p:txBody>
      </p:sp>
    </p:spTree>
    <p:extLst>
      <p:ext uri="{BB962C8B-B14F-4D97-AF65-F5344CB8AC3E}">
        <p14:creationId xmlns:p14="http://schemas.microsoft.com/office/powerpoint/2010/main" val="4028259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52223-E5AE-8BF1-F8F0-B939CB4095C1}"/>
              </a:ext>
            </a:extLst>
          </p:cNvPr>
          <p:cNvSpPr>
            <a:spLocks noGrp="1"/>
          </p:cNvSpPr>
          <p:nvPr>
            <p:ph type="title"/>
          </p:nvPr>
        </p:nvSpPr>
        <p:spPr/>
        <p:txBody>
          <a:bodyPr/>
          <a:lstStyle/>
          <a:p>
            <a:r>
              <a:rPr lang="en-US" dirty="0"/>
              <a:t>APPLIED ASPECTS</a:t>
            </a:r>
            <a:endParaRPr lang="en-IN" dirty="0"/>
          </a:p>
        </p:txBody>
      </p:sp>
      <p:sp>
        <p:nvSpPr>
          <p:cNvPr id="3" name="Content Placeholder 2">
            <a:extLst>
              <a:ext uri="{FF2B5EF4-FFF2-40B4-BE49-F238E27FC236}">
                <a16:creationId xmlns:a16="http://schemas.microsoft.com/office/drawing/2014/main" id="{B5A934CF-F2A1-F41C-2F16-FF6B3AF3AD30}"/>
              </a:ext>
            </a:extLst>
          </p:cNvPr>
          <p:cNvSpPr>
            <a:spLocks noGrp="1"/>
          </p:cNvSpPr>
          <p:nvPr>
            <p:ph idx="1"/>
          </p:nvPr>
        </p:nvSpPr>
        <p:spPr/>
        <p:txBody>
          <a:bodyPr/>
          <a:lstStyle/>
          <a:p>
            <a:r>
              <a:rPr lang="en-US" dirty="0"/>
              <a:t>Hypotonia (decreased tone) occurs in lower motor neuron paralysis and in cerebellar lesion. Hypertonia (increased tone) occurs in upper motor neuron paralysis. Hyperactive stretch reflexes can lead to tremors and clonus. Clonus is elicited by a sustained stretch of a muscle in a person who has spinal cord damage. The conduction delay between the initiating stimulus (muscle stretch) and the response (muscle contraction)in such cases can cause it to be a source of instability resulting in rhythmic movements such as tremors and clonus.</a:t>
            </a:r>
            <a:endParaRPr lang="en-IN" dirty="0"/>
          </a:p>
        </p:txBody>
      </p:sp>
    </p:spTree>
    <p:extLst>
      <p:ext uri="{BB962C8B-B14F-4D97-AF65-F5344CB8AC3E}">
        <p14:creationId xmlns:p14="http://schemas.microsoft.com/office/powerpoint/2010/main" val="12434684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4790C-7E0C-5D44-4599-07E7EB704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609EB-166C-FC31-AC44-E3A6294CFDC2}"/>
              </a:ext>
            </a:extLst>
          </p:cNvPr>
          <p:cNvSpPr>
            <a:spLocks noGrp="1"/>
          </p:cNvSpPr>
          <p:nvPr>
            <p:ph type="ctrTitle"/>
          </p:nvPr>
        </p:nvSpPr>
        <p:spPr/>
        <p:txBody>
          <a:bodyPr/>
          <a:lstStyle/>
          <a:p>
            <a:r>
              <a:rPr lang="en-US" dirty="0"/>
              <a:t>UNIT 8</a:t>
            </a:r>
            <a:endParaRPr lang="en-IN" dirty="0"/>
          </a:p>
        </p:txBody>
      </p:sp>
      <p:sp>
        <p:nvSpPr>
          <p:cNvPr id="3" name="Subtitle 2">
            <a:extLst>
              <a:ext uri="{FF2B5EF4-FFF2-40B4-BE49-F238E27FC236}">
                <a16:creationId xmlns:a16="http://schemas.microsoft.com/office/drawing/2014/main" id="{63EE5ECB-9F5B-5F32-BD44-2B432E479DE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222747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5A3D5-D597-C78D-3416-5E3A6B54C96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25FBCA7-EC1E-FEDE-12D9-51A84B346432}"/>
              </a:ext>
            </a:extLst>
          </p:cNvPr>
          <p:cNvPicPr>
            <a:picLocks noGrp="1" noChangeAspect="1"/>
          </p:cNvPicPr>
          <p:nvPr>
            <p:ph idx="1"/>
          </p:nvPr>
        </p:nvPicPr>
        <p:blipFill>
          <a:blip r:embed="rId2"/>
          <a:stretch>
            <a:fillRect/>
          </a:stretch>
        </p:blipFill>
        <p:spPr>
          <a:xfrm>
            <a:off x="2308677" y="1410812"/>
            <a:ext cx="7574645" cy="4036375"/>
          </a:xfrm>
          <a:prstGeom prst="rect">
            <a:avLst/>
          </a:prstGeom>
        </p:spPr>
      </p:pic>
    </p:spTree>
    <p:extLst>
      <p:ext uri="{BB962C8B-B14F-4D97-AF65-F5344CB8AC3E}">
        <p14:creationId xmlns:p14="http://schemas.microsoft.com/office/powerpoint/2010/main" val="1494533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CFDB6-99B7-D14A-00A5-574FDD05FE8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ED29D45-34BA-E06B-5BD0-8428EB70CC66}"/>
              </a:ext>
            </a:extLst>
          </p:cNvPr>
          <p:cNvPicPr>
            <a:picLocks noGrp="1" noChangeAspect="1"/>
          </p:cNvPicPr>
          <p:nvPr>
            <p:ph idx="1"/>
          </p:nvPr>
        </p:nvPicPr>
        <p:blipFill>
          <a:blip r:embed="rId2"/>
          <a:stretch>
            <a:fillRect/>
          </a:stretch>
        </p:blipFill>
        <p:spPr>
          <a:xfrm>
            <a:off x="1161023" y="1048804"/>
            <a:ext cx="9869954" cy="4760391"/>
          </a:xfrm>
          <a:prstGeom prst="rect">
            <a:avLst/>
          </a:prstGeom>
        </p:spPr>
      </p:pic>
    </p:spTree>
    <p:extLst>
      <p:ext uri="{BB962C8B-B14F-4D97-AF65-F5344CB8AC3E}">
        <p14:creationId xmlns:p14="http://schemas.microsoft.com/office/powerpoint/2010/main" val="3547395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DBB18-E7F0-F084-D3C3-0C41780B8E4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9D67949-4C38-298A-39EF-1C10ABC5DF82}"/>
              </a:ext>
            </a:extLst>
          </p:cNvPr>
          <p:cNvPicPr>
            <a:picLocks noGrp="1" noChangeAspect="1"/>
          </p:cNvPicPr>
          <p:nvPr>
            <p:ph idx="1"/>
          </p:nvPr>
        </p:nvPicPr>
        <p:blipFill>
          <a:blip r:embed="rId2"/>
          <a:stretch>
            <a:fillRect/>
          </a:stretch>
        </p:blipFill>
        <p:spPr>
          <a:xfrm>
            <a:off x="2524125" y="0"/>
            <a:ext cx="7438461" cy="6858000"/>
          </a:xfrm>
          <a:prstGeom prst="rect">
            <a:avLst/>
          </a:prstGeom>
        </p:spPr>
      </p:pic>
    </p:spTree>
    <p:extLst>
      <p:ext uri="{BB962C8B-B14F-4D97-AF65-F5344CB8AC3E}">
        <p14:creationId xmlns:p14="http://schemas.microsoft.com/office/powerpoint/2010/main" val="23740362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EB9B8-7E44-8E15-253C-75C2B9D63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CDC99-B04F-B654-4B98-0AF8E0F4C230}"/>
              </a:ext>
            </a:extLst>
          </p:cNvPr>
          <p:cNvSpPr>
            <a:spLocks noGrp="1"/>
          </p:cNvSpPr>
          <p:nvPr>
            <p:ph type="ctrTitle"/>
          </p:nvPr>
        </p:nvSpPr>
        <p:spPr/>
        <p:txBody>
          <a:bodyPr/>
          <a:lstStyle/>
          <a:p>
            <a:r>
              <a:rPr lang="en-US" dirty="0"/>
              <a:t>UNIT 9 </a:t>
            </a:r>
            <a:endParaRPr lang="en-IN" dirty="0"/>
          </a:p>
        </p:txBody>
      </p:sp>
      <p:sp>
        <p:nvSpPr>
          <p:cNvPr id="3" name="Subtitle 2">
            <a:extLst>
              <a:ext uri="{FF2B5EF4-FFF2-40B4-BE49-F238E27FC236}">
                <a16:creationId xmlns:a16="http://schemas.microsoft.com/office/drawing/2014/main" id="{DB00DF63-17E8-3F37-55AB-A7152B55021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810415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B432A-EB3F-A2C7-BD47-170BDE890D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A6A67C35-97AE-0381-F435-12A8A3F11EFB}"/>
              </a:ext>
            </a:extLst>
          </p:cNvPr>
          <p:cNvPicPr>
            <a:picLocks noGrp="1" noChangeAspect="1"/>
          </p:cNvPicPr>
          <p:nvPr>
            <p:ph idx="1"/>
          </p:nvPr>
        </p:nvPicPr>
        <p:blipFill>
          <a:blip r:embed="rId2"/>
          <a:stretch>
            <a:fillRect/>
          </a:stretch>
        </p:blipFill>
        <p:spPr>
          <a:xfrm>
            <a:off x="1739502" y="1200150"/>
            <a:ext cx="8712995" cy="4646053"/>
          </a:xfrm>
          <a:prstGeom prst="rect">
            <a:avLst/>
          </a:prstGeom>
        </p:spPr>
      </p:pic>
    </p:spTree>
    <p:extLst>
      <p:ext uri="{BB962C8B-B14F-4D97-AF65-F5344CB8AC3E}">
        <p14:creationId xmlns:p14="http://schemas.microsoft.com/office/powerpoint/2010/main" val="1041878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9421B-A25B-54E1-F316-6C5639D67C73}"/>
              </a:ext>
            </a:extLst>
          </p:cNvPr>
          <p:cNvSpPr>
            <a:spLocks noGrp="1"/>
          </p:cNvSpPr>
          <p:nvPr>
            <p:ph type="title"/>
          </p:nvPr>
        </p:nvSpPr>
        <p:spPr/>
        <p:txBody>
          <a:bodyPr/>
          <a:lstStyle/>
          <a:p>
            <a:r>
              <a:rPr lang="en-US" dirty="0"/>
              <a:t>CEREBELLAR LESIONS FEATURES</a:t>
            </a:r>
            <a:endParaRPr lang="en-IN" dirty="0"/>
          </a:p>
        </p:txBody>
      </p:sp>
      <p:sp>
        <p:nvSpPr>
          <p:cNvPr id="3" name="Content Placeholder 2">
            <a:extLst>
              <a:ext uri="{FF2B5EF4-FFF2-40B4-BE49-F238E27FC236}">
                <a16:creationId xmlns:a16="http://schemas.microsoft.com/office/drawing/2014/main" id="{5E312383-E5B9-ED78-7891-CA211F687993}"/>
              </a:ext>
            </a:extLst>
          </p:cNvPr>
          <p:cNvSpPr>
            <a:spLocks noGrp="1"/>
          </p:cNvSpPr>
          <p:nvPr>
            <p:ph idx="1"/>
          </p:nvPr>
        </p:nvSpPr>
        <p:spPr/>
        <p:txBody>
          <a:bodyPr/>
          <a:lstStyle/>
          <a:p>
            <a:r>
              <a:rPr lang="en-US" dirty="0"/>
              <a:t>Loss of cerebellum can cause almost total incoordination of motor activities in the same side even though its loss causes paralysis of no muscles. Ataxia – lack of coordination of movements; Dysmetria / past pointing - movements ordinarily overshoot their intended mark; Intention tremor – tremor while doing a voluntary motor act; Nystagmus – to and </a:t>
            </a:r>
            <a:r>
              <a:rPr lang="en-US" dirty="0" err="1"/>
              <a:t>fro</a:t>
            </a:r>
            <a:r>
              <a:rPr lang="en-US" dirty="0"/>
              <a:t> movement of the eyeballs that occur usually when one attempts to fix the eyes on a scene; Dysarthria – scanning speech with jumbled </a:t>
            </a:r>
            <a:r>
              <a:rPr lang="en-US" dirty="0" err="1"/>
              <a:t>vocalisation</a:t>
            </a:r>
            <a:r>
              <a:rPr lang="en-US" dirty="0"/>
              <a:t>; Drunken or reeling gait - wide-based, unsteady gait; hypotonia – decreased muscle tone; Rebound phenomenon – failure to brake the movement of the limb; </a:t>
            </a:r>
            <a:r>
              <a:rPr lang="en-US" dirty="0" err="1"/>
              <a:t>Adiadochokinesia</a:t>
            </a:r>
            <a:r>
              <a:rPr lang="en-US" dirty="0"/>
              <a:t>, the inability to perform rapidly alternating opposite movements such as repeated pronation and supination of the hands; Decomposition of movement - difficulty performing actions that involve simultaneous movement at more than one joint</a:t>
            </a:r>
            <a:endParaRPr lang="en-IN" dirty="0"/>
          </a:p>
        </p:txBody>
      </p:sp>
    </p:spTree>
    <p:extLst>
      <p:ext uri="{BB962C8B-B14F-4D97-AF65-F5344CB8AC3E}">
        <p14:creationId xmlns:p14="http://schemas.microsoft.com/office/powerpoint/2010/main" val="6105620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4ADD-6DAF-38C1-1C70-F0357E0B47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9A864-1908-9306-CA9D-ACA7CB03537F}"/>
              </a:ext>
            </a:extLst>
          </p:cNvPr>
          <p:cNvSpPr>
            <a:spLocks noGrp="1"/>
          </p:cNvSpPr>
          <p:nvPr>
            <p:ph type="ctrTitle"/>
          </p:nvPr>
        </p:nvSpPr>
        <p:spPr/>
        <p:txBody>
          <a:bodyPr/>
          <a:lstStyle/>
          <a:p>
            <a:r>
              <a:rPr lang="en-US" dirty="0"/>
              <a:t>UNIT 10</a:t>
            </a:r>
            <a:endParaRPr lang="en-IN" dirty="0"/>
          </a:p>
        </p:txBody>
      </p:sp>
      <p:sp>
        <p:nvSpPr>
          <p:cNvPr id="3" name="Subtitle 2">
            <a:extLst>
              <a:ext uri="{FF2B5EF4-FFF2-40B4-BE49-F238E27FC236}">
                <a16:creationId xmlns:a16="http://schemas.microsoft.com/office/drawing/2014/main" id="{CEFDD252-CF29-09C2-5843-6D87F89F7B6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88665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C289-4672-81F4-F5EA-2FC795420506}"/>
              </a:ext>
            </a:extLst>
          </p:cNvPr>
          <p:cNvSpPr>
            <a:spLocks noGrp="1"/>
          </p:cNvSpPr>
          <p:nvPr>
            <p:ph type="title"/>
          </p:nvPr>
        </p:nvSpPr>
        <p:spPr/>
        <p:txBody>
          <a:bodyPr/>
          <a:lstStyle/>
          <a:p>
            <a:r>
              <a:rPr lang="en-US" dirty="0"/>
              <a:t>BASAL GANGLIA</a:t>
            </a:r>
            <a:endParaRPr lang="en-IN" dirty="0"/>
          </a:p>
        </p:txBody>
      </p:sp>
      <p:sp>
        <p:nvSpPr>
          <p:cNvPr id="3" name="Content Placeholder 2">
            <a:extLst>
              <a:ext uri="{FF2B5EF4-FFF2-40B4-BE49-F238E27FC236}">
                <a16:creationId xmlns:a16="http://schemas.microsoft.com/office/drawing/2014/main" id="{8B3B044B-67DA-BFE3-FD8D-3B8D73AB519C}"/>
              </a:ext>
            </a:extLst>
          </p:cNvPr>
          <p:cNvSpPr>
            <a:spLocks noGrp="1"/>
          </p:cNvSpPr>
          <p:nvPr>
            <p:ph idx="1"/>
          </p:nvPr>
        </p:nvSpPr>
        <p:spPr/>
        <p:txBody>
          <a:bodyPr/>
          <a:lstStyle/>
          <a:p>
            <a:r>
              <a:rPr lang="en-US" dirty="0"/>
              <a:t>Basal Ganglia are a group of </a:t>
            </a:r>
            <a:r>
              <a:rPr lang="en-US" b="1" dirty="0"/>
              <a:t>subcortical (deep) nuclei of the forebrain</a:t>
            </a:r>
            <a:r>
              <a:rPr lang="en-US" dirty="0"/>
              <a:t> involved in the control of </a:t>
            </a:r>
            <a:r>
              <a:rPr lang="en-US" b="1" dirty="0"/>
              <a:t>movement, posture, muscle tone, and behavior</a:t>
            </a:r>
            <a:r>
              <a:rPr lang="en-US" dirty="0"/>
              <a:t>.</a:t>
            </a:r>
          </a:p>
          <a:p>
            <a:r>
              <a:rPr lang="en-US" dirty="0"/>
              <a:t>They </a:t>
            </a:r>
            <a:r>
              <a:rPr lang="en-US" b="1" dirty="0"/>
              <a:t>do NOT initiate movement</a:t>
            </a:r>
            <a:r>
              <a:rPr lang="en-US" dirty="0"/>
              <a:t>, but </a:t>
            </a:r>
            <a:r>
              <a:rPr lang="en-US" b="1" dirty="0"/>
              <a:t>regulate and refine it</a:t>
            </a:r>
            <a:r>
              <a:rPr lang="en-US" dirty="0"/>
              <a:t>.</a:t>
            </a:r>
          </a:p>
          <a:p>
            <a:endParaRPr lang="en-IN" dirty="0"/>
          </a:p>
        </p:txBody>
      </p:sp>
    </p:spTree>
    <p:extLst>
      <p:ext uri="{BB962C8B-B14F-4D97-AF65-F5344CB8AC3E}">
        <p14:creationId xmlns:p14="http://schemas.microsoft.com/office/powerpoint/2010/main" val="30620681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B808-1EBA-00F5-50D5-BBCA5F97E546}"/>
              </a:ext>
            </a:extLst>
          </p:cNvPr>
          <p:cNvSpPr>
            <a:spLocks noGrp="1"/>
          </p:cNvSpPr>
          <p:nvPr>
            <p:ph type="title"/>
          </p:nvPr>
        </p:nvSpPr>
        <p:spPr/>
        <p:txBody>
          <a:bodyPr/>
          <a:lstStyle/>
          <a:p>
            <a:r>
              <a:rPr lang="en-US" dirty="0"/>
              <a:t>APPLIED ASPECTS</a:t>
            </a:r>
            <a:endParaRPr lang="en-IN" dirty="0"/>
          </a:p>
        </p:txBody>
      </p:sp>
      <p:graphicFrame>
        <p:nvGraphicFramePr>
          <p:cNvPr id="4" name="Content Placeholder 3">
            <a:extLst>
              <a:ext uri="{FF2B5EF4-FFF2-40B4-BE49-F238E27FC236}">
                <a16:creationId xmlns:a16="http://schemas.microsoft.com/office/drawing/2014/main" id="{6F530C47-BCA7-BB42-DCD7-9D9A5A5F5770}"/>
              </a:ext>
            </a:extLst>
          </p:cNvPr>
          <p:cNvGraphicFramePr>
            <a:graphicFrameLocks noGrp="1"/>
          </p:cNvGraphicFramePr>
          <p:nvPr>
            <p:ph idx="1"/>
            <p:extLst>
              <p:ext uri="{D42A27DB-BD31-4B8C-83A1-F6EECF244321}">
                <p14:modId xmlns:p14="http://schemas.microsoft.com/office/powerpoint/2010/main" val="155675773"/>
              </p:ext>
            </p:extLst>
          </p:nvPr>
        </p:nvGraphicFramePr>
        <p:xfrm>
          <a:off x="1066800" y="2149316"/>
          <a:ext cx="10058400" cy="3840480"/>
        </p:xfrm>
        <a:graphic>
          <a:graphicData uri="http://schemas.openxmlformats.org/drawingml/2006/table">
            <a:tbl>
              <a:tblPr/>
              <a:tblGrid>
                <a:gridCol w="3352800">
                  <a:extLst>
                    <a:ext uri="{9D8B030D-6E8A-4147-A177-3AD203B41FA5}">
                      <a16:colId xmlns:a16="http://schemas.microsoft.com/office/drawing/2014/main" val="3440322372"/>
                    </a:ext>
                  </a:extLst>
                </a:gridCol>
                <a:gridCol w="3352800">
                  <a:extLst>
                    <a:ext uri="{9D8B030D-6E8A-4147-A177-3AD203B41FA5}">
                      <a16:colId xmlns:a16="http://schemas.microsoft.com/office/drawing/2014/main" val="447459779"/>
                    </a:ext>
                  </a:extLst>
                </a:gridCol>
                <a:gridCol w="3352800">
                  <a:extLst>
                    <a:ext uri="{9D8B030D-6E8A-4147-A177-3AD203B41FA5}">
                      <a16:colId xmlns:a16="http://schemas.microsoft.com/office/drawing/2014/main" val="4010381841"/>
                    </a:ext>
                  </a:extLst>
                </a:gridCol>
              </a:tblGrid>
              <a:tr h="0">
                <a:tc>
                  <a:txBody>
                    <a:bodyPr/>
                    <a:lstStyle/>
                    <a:p>
                      <a:pPr>
                        <a:buNone/>
                      </a:pPr>
                      <a:r>
                        <a:rPr lang="en-IN"/>
                        <a:t>Disease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Pathology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5803426"/>
                  </a:ext>
                </a:extLst>
              </a:tr>
              <a:tr h="0">
                <a:tc>
                  <a:txBody>
                    <a:bodyPr/>
                    <a:lstStyle/>
                    <a:p>
                      <a:pPr>
                        <a:buNone/>
                      </a:pPr>
                      <a:r>
                        <a:rPr lang="en-IN" b="1"/>
                        <a:t>Parkinson’s disease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 Dopamine due to degeneration of </a:t>
                      </a:r>
                      <a:r>
                        <a:rPr lang="en-US" b="1"/>
                        <a:t>substantia nigra</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Resting tremor, rigidity, bradykinesia, hypokinesia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665946"/>
                  </a:ext>
                </a:extLst>
              </a:tr>
              <a:tr h="0">
                <a:tc>
                  <a:txBody>
                    <a:bodyPr/>
                    <a:lstStyle/>
                    <a:p>
                      <a:pPr>
                        <a:buNone/>
                      </a:pPr>
                      <a:r>
                        <a:rPr lang="en-IN" b="1"/>
                        <a:t>Huntington’s disease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Degeneration of </a:t>
                      </a:r>
                      <a:r>
                        <a:rPr lang="en-IN" b="1"/>
                        <a:t>striatum (caudate)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Chorea (jerky movements), dementia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7663097"/>
                  </a:ext>
                </a:extLst>
              </a:tr>
              <a:tr h="0">
                <a:tc>
                  <a:txBody>
                    <a:bodyPr/>
                    <a:lstStyle/>
                    <a:p>
                      <a:pPr>
                        <a:buNone/>
                      </a:pPr>
                      <a:r>
                        <a:rPr lang="en-IN" b="1"/>
                        <a:t>Hemiballismus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Lesion of </a:t>
                      </a:r>
                      <a:r>
                        <a:rPr lang="en-IN" b="1"/>
                        <a:t>subthalamic nucleus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Violent flinging movements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4499851"/>
                  </a:ext>
                </a:extLst>
              </a:tr>
              <a:tr h="0">
                <a:tc>
                  <a:txBody>
                    <a:bodyPr/>
                    <a:lstStyle/>
                    <a:p>
                      <a:pPr>
                        <a:buNone/>
                      </a:pPr>
                      <a:r>
                        <a:rPr lang="en-IN" b="1"/>
                        <a:t>Wilson’s disease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Copper deposition in basal ganglia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Dystonia, behavioral change, tremor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3340040"/>
                  </a:ext>
                </a:extLst>
              </a:tr>
              <a:tr h="0">
                <a:tc>
                  <a:txBody>
                    <a:bodyPr/>
                    <a:lstStyle/>
                    <a:p>
                      <a:pPr>
                        <a:buNone/>
                      </a:pPr>
                      <a:r>
                        <a:rPr lang="en-IN" b="1"/>
                        <a:t>Dystonia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Abnormal tone due to BG dysfunction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Twisting movements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3552160"/>
                  </a:ext>
                </a:extLst>
              </a:tr>
            </a:tbl>
          </a:graphicData>
        </a:graphic>
      </p:graphicFrame>
    </p:spTree>
    <p:extLst>
      <p:ext uri="{BB962C8B-B14F-4D97-AF65-F5344CB8AC3E}">
        <p14:creationId xmlns:p14="http://schemas.microsoft.com/office/powerpoint/2010/main" val="39307747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A41C8-A248-F02C-AE28-167068EA1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B9F-A550-D3F2-837D-6ADD957521CF}"/>
              </a:ext>
            </a:extLst>
          </p:cNvPr>
          <p:cNvSpPr>
            <a:spLocks noGrp="1"/>
          </p:cNvSpPr>
          <p:nvPr>
            <p:ph type="ctrTitle"/>
          </p:nvPr>
        </p:nvSpPr>
        <p:spPr/>
        <p:txBody>
          <a:bodyPr/>
          <a:lstStyle/>
          <a:p>
            <a:r>
              <a:rPr lang="en-US" dirty="0"/>
              <a:t>UNIT 11</a:t>
            </a:r>
            <a:endParaRPr lang="en-IN" dirty="0"/>
          </a:p>
        </p:txBody>
      </p:sp>
      <p:sp>
        <p:nvSpPr>
          <p:cNvPr id="3" name="Subtitle 2">
            <a:extLst>
              <a:ext uri="{FF2B5EF4-FFF2-40B4-BE49-F238E27FC236}">
                <a16:creationId xmlns:a16="http://schemas.microsoft.com/office/drawing/2014/main" id="{4386D497-3BCD-7188-9EB1-74C4E1DAD4A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40155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7C081-62FE-04A4-E79F-B82B10B04E2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ED13C2A-E694-CE0F-6D35-D977865152FE}"/>
              </a:ext>
            </a:extLst>
          </p:cNvPr>
          <p:cNvPicPr>
            <a:picLocks noGrp="1" noChangeAspect="1"/>
          </p:cNvPicPr>
          <p:nvPr>
            <p:ph idx="1"/>
          </p:nvPr>
        </p:nvPicPr>
        <p:blipFill>
          <a:blip r:embed="rId2"/>
          <a:stretch>
            <a:fillRect/>
          </a:stretch>
        </p:blipFill>
        <p:spPr>
          <a:xfrm>
            <a:off x="2176405" y="597152"/>
            <a:ext cx="7839189" cy="5618254"/>
          </a:xfrm>
          <a:prstGeom prst="rect">
            <a:avLst/>
          </a:prstGeom>
        </p:spPr>
      </p:pic>
    </p:spTree>
    <p:extLst>
      <p:ext uri="{BB962C8B-B14F-4D97-AF65-F5344CB8AC3E}">
        <p14:creationId xmlns:p14="http://schemas.microsoft.com/office/powerpoint/2010/main" val="29177857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74D42-23F4-FE51-2457-2DCD1882F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86F45-E70A-DEE2-09E7-3EC65E9B0C77}"/>
              </a:ext>
            </a:extLst>
          </p:cNvPr>
          <p:cNvSpPr>
            <a:spLocks noGrp="1"/>
          </p:cNvSpPr>
          <p:nvPr>
            <p:ph type="ctrTitle"/>
          </p:nvPr>
        </p:nvSpPr>
        <p:spPr/>
        <p:txBody>
          <a:bodyPr/>
          <a:lstStyle/>
          <a:p>
            <a:r>
              <a:rPr lang="en-US" dirty="0"/>
              <a:t>UNIT 12</a:t>
            </a:r>
            <a:endParaRPr lang="en-IN" dirty="0"/>
          </a:p>
        </p:txBody>
      </p:sp>
      <p:sp>
        <p:nvSpPr>
          <p:cNvPr id="3" name="Subtitle 2">
            <a:extLst>
              <a:ext uri="{FF2B5EF4-FFF2-40B4-BE49-F238E27FC236}">
                <a16:creationId xmlns:a16="http://schemas.microsoft.com/office/drawing/2014/main" id="{611CE6AB-68FC-CCFC-2A56-5AB7A0CB8A9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405750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B9C24-BCD1-5E65-61F3-BA8EEEB7453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9A694D6-BBE4-6E85-FC4B-9F89D6CE14F4}"/>
              </a:ext>
            </a:extLst>
          </p:cNvPr>
          <p:cNvPicPr>
            <a:picLocks noGrp="1" noChangeAspect="1"/>
          </p:cNvPicPr>
          <p:nvPr>
            <p:ph idx="1"/>
          </p:nvPr>
        </p:nvPicPr>
        <p:blipFill>
          <a:blip r:embed="rId2"/>
          <a:stretch>
            <a:fillRect/>
          </a:stretch>
        </p:blipFill>
        <p:spPr>
          <a:xfrm>
            <a:off x="527465" y="1759156"/>
            <a:ext cx="11137070" cy="3339688"/>
          </a:xfrm>
          <a:prstGeom prst="rect">
            <a:avLst/>
          </a:prstGeom>
        </p:spPr>
      </p:pic>
    </p:spTree>
    <p:extLst>
      <p:ext uri="{BB962C8B-B14F-4D97-AF65-F5344CB8AC3E}">
        <p14:creationId xmlns:p14="http://schemas.microsoft.com/office/powerpoint/2010/main" val="1072311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C98F1-76E2-3C4B-E87F-913C5B2BB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B038B-A33E-B9BA-9A97-E432666ADE76}"/>
              </a:ext>
            </a:extLst>
          </p:cNvPr>
          <p:cNvSpPr>
            <a:spLocks noGrp="1"/>
          </p:cNvSpPr>
          <p:nvPr>
            <p:ph type="ctrTitle"/>
          </p:nvPr>
        </p:nvSpPr>
        <p:spPr/>
        <p:txBody>
          <a:bodyPr/>
          <a:lstStyle/>
          <a:p>
            <a:r>
              <a:rPr lang="en-US" dirty="0"/>
              <a:t>UNIT 13</a:t>
            </a:r>
            <a:endParaRPr lang="en-IN" dirty="0"/>
          </a:p>
        </p:txBody>
      </p:sp>
      <p:sp>
        <p:nvSpPr>
          <p:cNvPr id="3" name="Subtitle 2">
            <a:extLst>
              <a:ext uri="{FF2B5EF4-FFF2-40B4-BE49-F238E27FC236}">
                <a16:creationId xmlns:a16="http://schemas.microsoft.com/office/drawing/2014/main" id="{A3E02113-91C3-C83A-347A-114061DE07F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223093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9486F-3185-D700-7E47-18E5E76669D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B4C7F60-B579-62A8-4356-0C3D3A66E26E}"/>
              </a:ext>
            </a:extLst>
          </p:cNvPr>
          <p:cNvPicPr>
            <a:picLocks noGrp="1" noChangeAspect="1"/>
          </p:cNvPicPr>
          <p:nvPr>
            <p:ph idx="1"/>
          </p:nvPr>
        </p:nvPicPr>
        <p:blipFill>
          <a:blip r:embed="rId2"/>
          <a:stretch>
            <a:fillRect/>
          </a:stretch>
        </p:blipFill>
        <p:spPr>
          <a:xfrm>
            <a:off x="1541491" y="1328394"/>
            <a:ext cx="9109018" cy="4388890"/>
          </a:xfrm>
          <a:prstGeom prst="rect">
            <a:avLst/>
          </a:prstGeom>
        </p:spPr>
      </p:pic>
    </p:spTree>
    <p:extLst>
      <p:ext uri="{BB962C8B-B14F-4D97-AF65-F5344CB8AC3E}">
        <p14:creationId xmlns:p14="http://schemas.microsoft.com/office/powerpoint/2010/main" val="39777878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C878C-BF89-0122-E4FA-ECC8ABFE176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565DB40-C41F-96BF-167A-256C6A94F482}"/>
              </a:ext>
            </a:extLst>
          </p:cNvPr>
          <p:cNvPicPr>
            <a:picLocks noGrp="1" noChangeAspect="1"/>
          </p:cNvPicPr>
          <p:nvPr>
            <p:ph idx="1"/>
          </p:nvPr>
        </p:nvPicPr>
        <p:blipFill>
          <a:blip r:embed="rId2"/>
          <a:stretch>
            <a:fillRect/>
          </a:stretch>
        </p:blipFill>
        <p:spPr>
          <a:xfrm>
            <a:off x="1520785" y="2014194"/>
            <a:ext cx="9150430" cy="3389048"/>
          </a:xfrm>
          <a:prstGeom prst="rect">
            <a:avLst/>
          </a:prstGeom>
        </p:spPr>
      </p:pic>
    </p:spTree>
    <p:extLst>
      <p:ext uri="{BB962C8B-B14F-4D97-AF65-F5344CB8AC3E}">
        <p14:creationId xmlns:p14="http://schemas.microsoft.com/office/powerpoint/2010/main" val="25716828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5A473-328F-DF78-30C5-5EA9D3DD9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7F6B53-B2ED-C6B7-0DF3-D1E1566845CA}"/>
              </a:ext>
            </a:extLst>
          </p:cNvPr>
          <p:cNvSpPr>
            <a:spLocks noGrp="1"/>
          </p:cNvSpPr>
          <p:nvPr>
            <p:ph type="ctrTitle"/>
          </p:nvPr>
        </p:nvSpPr>
        <p:spPr/>
        <p:txBody>
          <a:bodyPr/>
          <a:lstStyle/>
          <a:p>
            <a:r>
              <a:rPr lang="en-US" dirty="0"/>
              <a:t>UNIT 14</a:t>
            </a:r>
            <a:endParaRPr lang="en-IN" dirty="0"/>
          </a:p>
        </p:txBody>
      </p:sp>
      <p:sp>
        <p:nvSpPr>
          <p:cNvPr id="3" name="Subtitle 2">
            <a:extLst>
              <a:ext uri="{FF2B5EF4-FFF2-40B4-BE49-F238E27FC236}">
                <a16:creationId xmlns:a16="http://schemas.microsoft.com/office/drawing/2014/main" id="{D5301450-087B-9922-9F76-E07B1651188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8012476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F7EBC-6E56-DE21-A02B-BF93723F719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DDEAE27-C6A6-FFFD-6BA5-3B61CF5794C6}"/>
              </a:ext>
            </a:extLst>
          </p:cNvPr>
          <p:cNvPicPr>
            <a:picLocks noGrp="1" noChangeAspect="1"/>
          </p:cNvPicPr>
          <p:nvPr>
            <p:ph idx="1"/>
          </p:nvPr>
        </p:nvPicPr>
        <p:blipFill>
          <a:blip r:embed="rId2"/>
          <a:stretch>
            <a:fillRect/>
          </a:stretch>
        </p:blipFill>
        <p:spPr>
          <a:xfrm>
            <a:off x="2640872" y="1012372"/>
            <a:ext cx="6910256" cy="4437111"/>
          </a:xfrm>
          <a:prstGeom prst="rect">
            <a:avLst/>
          </a:prstGeom>
        </p:spPr>
      </p:pic>
    </p:spTree>
    <p:extLst>
      <p:ext uri="{BB962C8B-B14F-4D97-AF65-F5344CB8AC3E}">
        <p14:creationId xmlns:p14="http://schemas.microsoft.com/office/powerpoint/2010/main" val="11458705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CFD58-951B-9321-00A6-45C350401B3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F854980-14A8-C816-70DB-F4A1DD3B87DB}"/>
              </a:ext>
            </a:extLst>
          </p:cNvPr>
          <p:cNvPicPr>
            <a:picLocks noGrp="1" noChangeAspect="1"/>
          </p:cNvPicPr>
          <p:nvPr>
            <p:ph idx="1"/>
          </p:nvPr>
        </p:nvPicPr>
        <p:blipFill>
          <a:blip r:embed="rId2"/>
          <a:stretch>
            <a:fillRect/>
          </a:stretch>
        </p:blipFill>
        <p:spPr>
          <a:xfrm>
            <a:off x="2784490" y="1209831"/>
            <a:ext cx="6623019" cy="4196940"/>
          </a:xfrm>
          <a:prstGeom prst="rect">
            <a:avLst/>
          </a:prstGeom>
        </p:spPr>
      </p:pic>
    </p:spTree>
    <p:extLst>
      <p:ext uri="{BB962C8B-B14F-4D97-AF65-F5344CB8AC3E}">
        <p14:creationId xmlns:p14="http://schemas.microsoft.com/office/powerpoint/2010/main" val="3276240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CB0A-4EDB-25A2-C58B-BD92C892F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F20E80-81A3-C1FA-71C2-DDD9E2D383D1}"/>
              </a:ext>
            </a:extLst>
          </p:cNvPr>
          <p:cNvSpPr>
            <a:spLocks noGrp="1"/>
          </p:cNvSpPr>
          <p:nvPr>
            <p:ph type="ctrTitle"/>
          </p:nvPr>
        </p:nvSpPr>
        <p:spPr/>
        <p:txBody>
          <a:bodyPr/>
          <a:lstStyle/>
          <a:p>
            <a:r>
              <a:rPr lang="en-US" dirty="0"/>
              <a:t>UNIT 15 </a:t>
            </a:r>
            <a:endParaRPr lang="en-IN" dirty="0"/>
          </a:p>
        </p:txBody>
      </p:sp>
      <p:sp>
        <p:nvSpPr>
          <p:cNvPr id="3" name="Subtitle 2">
            <a:extLst>
              <a:ext uri="{FF2B5EF4-FFF2-40B4-BE49-F238E27FC236}">
                <a16:creationId xmlns:a16="http://schemas.microsoft.com/office/drawing/2014/main" id="{A1A4EE17-259B-38C5-D151-4037E68E956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0137935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9115-F9A9-E6A6-B3CE-6423880FCCC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3D86791-ABD6-5CA4-BF36-C7CA7CC10060}"/>
              </a:ext>
            </a:extLst>
          </p:cNvPr>
          <p:cNvPicPr>
            <a:picLocks noGrp="1" noChangeAspect="1"/>
          </p:cNvPicPr>
          <p:nvPr>
            <p:ph idx="1"/>
          </p:nvPr>
        </p:nvPicPr>
        <p:blipFill>
          <a:blip r:embed="rId2"/>
          <a:stretch>
            <a:fillRect/>
          </a:stretch>
        </p:blipFill>
        <p:spPr>
          <a:xfrm>
            <a:off x="1915696" y="920817"/>
            <a:ext cx="8360608" cy="5016365"/>
          </a:xfrm>
          <a:prstGeom prst="rect">
            <a:avLst/>
          </a:prstGeom>
        </p:spPr>
      </p:pic>
    </p:spTree>
    <p:extLst>
      <p:ext uri="{BB962C8B-B14F-4D97-AF65-F5344CB8AC3E}">
        <p14:creationId xmlns:p14="http://schemas.microsoft.com/office/powerpoint/2010/main" val="2576900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4B59D-5776-F693-A847-F40D8D8DF64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F215C7E-7639-2B15-E7E5-16795686E815}"/>
              </a:ext>
            </a:extLst>
          </p:cNvPr>
          <p:cNvPicPr>
            <a:picLocks noGrp="1" noChangeAspect="1"/>
          </p:cNvPicPr>
          <p:nvPr>
            <p:ph idx="1"/>
          </p:nvPr>
        </p:nvPicPr>
        <p:blipFill>
          <a:blip r:embed="rId2"/>
          <a:stretch>
            <a:fillRect/>
          </a:stretch>
        </p:blipFill>
        <p:spPr>
          <a:xfrm>
            <a:off x="353763" y="1805849"/>
            <a:ext cx="11484474" cy="4108814"/>
          </a:xfrm>
          <a:prstGeom prst="rect">
            <a:avLst/>
          </a:prstGeom>
        </p:spPr>
      </p:pic>
    </p:spTree>
    <p:extLst>
      <p:ext uri="{BB962C8B-B14F-4D97-AF65-F5344CB8AC3E}">
        <p14:creationId xmlns:p14="http://schemas.microsoft.com/office/powerpoint/2010/main" val="4697604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92B2B-DA4F-557F-AADD-513D6A63717D}"/>
              </a:ext>
            </a:extLst>
          </p:cNvPr>
          <p:cNvSpPr>
            <a:spLocks noGrp="1"/>
          </p:cNvSpPr>
          <p:nvPr>
            <p:ph type="title"/>
          </p:nvPr>
        </p:nvSpPr>
        <p:spPr/>
        <p:txBody>
          <a:bodyPr/>
          <a:lstStyle/>
          <a:p>
            <a:r>
              <a:rPr lang="en-US" dirty="0"/>
              <a:t>Functions of limbic system are</a:t>
            </a:r>
            <a:endParaRPr lang="en-IN" dirty="0"/>
          </a:p>
        </p:txBody>
      </p:sp>
      <p:sp>
        <p:nvSpPr>
          <p:cNvPr id="3" name="Content Placeholder 2">
            <a:extLst>
              <a:ext uri="{FF2B5EF4-FFF2-40B4-BE49-F238E27FC236}">
                <a16:creationId xmlns:a16="http://schemas.microsoft.com/office/drawing/2014/main" id="{9A630F18-EAAB-727E-8A5A-67F5545777B8}"/>
              </a:ext>
            </a:extLst>
          </p:cNvPr>
          <p:cNvSpPr>
            <a:spLocks noGrp="1"/>
          </p:cNvSpPr>
          <p:nvPr>
            <p:ph idx="1"/>
          </p:nvPr>
        </p:nvSpPr>
        <p:spPr/>
        <p:txBody>
          <a:bodyPr/>
          <a:lstStyle/>
          <a:p>
            <a:r>
              <a:rPr lang="en-US" dirty="0"/>
              <a:t>(</a:t>
            </a:r>
            <a:r>
              <a:rPr lang="en-US" dirty="0" err="1"/>
              <a:t>i</a:t>
            </a:r>
            <a:r>
              <a:rPr lang="en-US" dirty="0"/>
              <a:t>) Perception of smell </a:t>
            </a:r>
          </a:p>
          <a:p>
            <a:r>
              <a:rPr lang="en-US" dirty="0"/>
              <a:t>(ii) Control of emotions and behavior</a:t>
            </a:r>
          </a:p>
          <a:p>
            <a:r>
              <a:rPr lang="en-US" dirty="0"/>
              <a:t>(iii) Reward and punishment (iv) Learning </a:t>
            </a:r>
          </a:p>
          <a:p>
            <a:r>
              <a:rPr lang="en-US" dirty="0"/>
              <a:t>(v) Memory </a:t>
            </a:r>
          </a:p>
          <a:p>
            <a:r>
              <a:rPr lang="en-US" dirty="0"/>
              <a:t>(vi) Sexual behavior (Preservation of species)</a:t>
            </a:r>
          </a:p>
          <a:p>
            <a:r>
              <a:rPr lang="en-US" dirty="0"/>
              <a:t>(vii) Feeding behavior (Preservation of self) </a:t>
            </a:r>
          </a:p>
          <a:p>
            <a:r>
              <a:rPr lang="en-US" dirty="0"/>
              <a:t>(viii) Emotional exteriorization and </a:t>
            </a:r>
          </a:p>
          <a:p>
            <a:r>
              <a:rPr lang="en-US" dirty="0"/>
              <a:t>(ix) Maternal behavior. </a:t>
            </a:r>
            <a:endParaRPr lang="en-IN" dirty="0"/>
          </a:p>
        </p:txBody>
      </p:sp>
    </p:spTree>
    <p:extLst>
      <p:ext uri="{BB962C8B-B14F-4D97-AF65-F5344CB8AC3E}">
        <p14:creationId xmlns:p14="http://schemas.microsoft.com/office/powerpoint/2010/main" val="32206336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10FA1-C1AF-7A6B-EE43-0FCF36ACC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C2D4B-7E5A-5543-A580-9BD688ABEE35}"/>
              </a:ext>
            </a:extLst>
          </p:cNvPr>
          <p:cNvSpPr>
            <a:spLocks noGrp="1"/>
          </p:cNvSpPr>
          <p:nvPr>
            <p:ph type="ctrTitle"/>
          </p:nvPr>
        </p:nvSpPr>
        <p:spPr/>
        <p:txBody>
          <a:bodyPr/>
          <a:lstStyle/>
          <a:p>
            <a:r>
              <a:rPr lang="en-US" dirty="0"/>
              <a:t>UNIT 16 </a:t>
            </a:r>
            <a:endParaRPr lang="en-IN" dirty="0"/>
          </a:p>
        </p:txBody>
      </p:sp>
      <p:sp>
        <p:nvSpPr>
          <p:cNvPr id="3" name="Subtitle 2">
            <a:extLst>
              <a:ext uri="{FF2B5EF4-FFF2-40B4-BE49-F238E27FC236}">
                <a16:creationId xmlns:a16="http://schemas.microsoft.com/office/drawing/2014/main" id="{9853CF09-CA0A-AD45-281D-138627FBA59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8599499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FA97B-0621-FDA7-BA86-764C0FAD1E7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2125442-2A99-435C-30D6-DD0A24CAB780}"/>
              </a:ext>
            </a:extLst>
          </p:cNvPr>
          <p:cNvPicPr>
            <a:picLocks noGrp="1" noChangeAspect="1"/>
          </p:cNvPicPr>
          <p:nvPr>
            <p:ph idx="1"/>
          </p:nvPr>
        </p:nvPicPr>
        <p:blipFill>
          <a:blip r:embed="rId2"/>
          <a:stretch>
            <a:fillRect/>
          </a:stretch>
        </p:blipFill>
        <p:spPr>
          <a:xfrm>
            <a:off x="763929" y="995423"/>
            <a:ext cx="10637133" cy="4953963"/>
          </a:xfrm>
          <a:prstGeom prst="rect">
            <a:avLst/>
          </a:prstGeom>
        </p:spPr>
      </p:pic>
    </p:spTree>
    <p:extLst>
      <p:ext uri="{BB962C8B-B14F-4D97-AF65-F5344CB8AC3E}">
        <p14:creationId xmlns:p14="http://schemas.microsoft.com/office/powerpoint/2010/main" val="28899605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44A80-572E-5E46-5D95-3C6F4ED9AE81}"/>
              </a:ext>
            </a:extLst>
          </p:cNvPr>
          <p:cNvSpPr>
            <a:spLocks noGrp="1"/>
          </p:cNvSpPr>
          <p:nvPr>
            <p:ph type="title"/>
          </p:nvPr>
        </p:nvSpPr>
        <p:spPr/>
        <p:txBody>
          <a:bodyPr/>
          <a:lstStyle/>
          <a:p>
            <a:r>
              <a:rPr lang="en-US" dirty="0"/>
              <a:t>APPLIED ASPECTS</a:t>
            </a:r>
            <a:endParaRPr lang="en-IN" dirty="0"/>
          </a:p>
        </p:txBody>
      </p:sp>
      <p:sp>
        <p:nvSpPr>
          <p:cNvPr id="3" name="Content Placeholder 2">
            <a:extLst>
              <a:ext uri="{FF2B5EF4-FFF2-40B4-BE49-F238E27FC236}">
                <a16:creationId xmlns:a16="http://schemas.microsoft.com/office/drawing/2014/main" id="{790B02E8-95B0-5A70-40EF-225917E6EE76}"/>
              </a:ext>
            </a:extLst>
          </p:cNvPr>
          <p:cNvSpPr>
            <a:spLocks noGrp="1"/>
          </p:cNvSpPr>
          <p:nvPr>
            <p:ph idx="1"/>
          </p:nvPr>
        </p:nvSpPr>
        <p:spPr/>
        <p:txBody>
          <a:bodyPr/>
          <a:lstStyle/>
          <a:p>
            <a:r>
              <a:rPr lang="en-US" dirty="0"/>
              <a:t>Stress analgesia is seen in soldiers wounded in the war front wherein they do not feel the pain. </a:t>
            </a:r>
          </a:p>
          <a:p>
            <a:r>
              <a:rPr lang="en-US" dirty="0"/>
              <a:t>Hyperalgesia is a condition in which pain is produced by non-noxious stimuli [</a:t>
            </a:r>
            <a:r>
              <a:rPr lang="en-US" dirty="0" err="1"/>
              <a:t>eg</a:t>
            </a:r>
            <a:r>
              <a:rPr lang="en-US" dirty="0"/>
              <a:t>: touch]. It can occur either due to tissue damage or nerve damage.</a:t>
            </a:r>
          </a:p>
          <a:p>
            <a:r>
              <a:rPr lang="en-US" dirty="0"/>
              <a:t> Causalgia is persistent burning pain following nerve injury. It is accompanied by sweating and vasomotor changes. Pain inhibiting opioids act at the level of the gate.</a:t>
            </a:r>
            <a:endParaRPr lang="en-IN" dirty="0"/>
          </a:p>
        </p:txBody>
      </p:sp>
    </p:spTree>
    <p:extLst>
      <p:ext uri="{BB962C8B-B14F-4D97-AF65-F5344CB8AC3E}">
        <p14:creationId xmlns:p14="http://schemas.microsoft.com/office/powerpoint/2010/main" val="2292227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1A6C8-9198-0EE6-EF5C-C80E05941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B29D6-87C6-7D24-6CBF-1AF525418DA1}"/>
              </a:ext>
            </a:extLst>
          </p:cNvPr>
          <p:cNvSpPr>
            <a:spLocks noGrp="1"/>
          </p:cNvSpPr>
          <p:nvPr>
            <p:ph type="ctrTitle"/>
          </p:nvPr>
        </p:nvSpPr>
        <p:spPr/>
        <p:txBody>
          <a:bodyPr/>
          <a:lstStyle/>
          <a:p>
            <a:r>
              <a:rPr lang="en-US" dirty="0"/>
              <a:t>UNIT 17 </a:t>
            </a:r>
            <a:endParaRPr lang="en-IN" dirty="0"/>
          </a:p>
        </p:txBody>
      </p:sp>
      <p:sp>
        <p:nvSpPr>
          <p:cNvPr id="3" name="Subtitle 2">
            <a:extLst>
              <a:ext uri="{FF2B5EF4-FFF2-40B4-BE49-F238E27FC236}">
                <a16:creationId xmlns:a16="http://schemas.microsoft.com/office/drawing/2014/main" id="{5AE8DACD-CD28-CCA2-1CF4-18F6408E725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747978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B7C38-19C8-79C6-D947-69DC6860898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95B7F12-4631-3439-EDAD-9D2281A0744F}"/>
              </a:ext>
            </a:extLst>
          </p:cNvPr>
          <p:cNvPicPr>
            <a:picLocks noGrp="1" noChangeAspect="1"/>
          </p:cNvPicPr>
          <p:nvPr>
            <p:ph idx="1"/>
          </p:nvPr>
        </p:nvPicPr>
        <p:blipFill>
          <a:blip r:embed="rId2"/>
          <a:stretch>
            <a:fillRect/>
          </a:stretch>
        </p:blipFill>
        <p:spPr>
          <a:xfrm>
            <a:off x="3203830" y="642594"/>
            <a:ext cx="5784339" cy="5784339"/>
          </a:xfrm>
          <a:prstGeom prst="rect">
            <a:avLst/>
          </a:prstGeom>
        </p:spPr>
      </p:pic>
    </p:spTree>
    <p:extLst>
      <p:ext uri="{BB962C8B-B14F-4D97-AF65-F5344CB8AC3E}">
        <p14:creationId xmlns:p14="http://schemas.microsoft.com/office/powerpoint/2010/main" val="19730580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B8CA6-970D-412F-9936-EDEEAAFD4A53}"/>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3EF26B37-34B3-1EF7-B26C-15E2C9FB0F6E}"/>
              </a:ext>
            </a:extLst>
          </p:cNvPr>
          <p:cNvGraphicFramePr>
            <a:graphicFrameLocks noGrp="1"/>
          </p:cNvGraphicFramePr>
          <p:nvPr>
            <p:ph idx="1"/>
            <p:extLst>
              <p:ext uri="{D42A27DB-BD31-4B8C-83A1-F6EECF244321}">
                <p14:modId xmlns:p14="http://schemas.microsoft.com/office/powerpoint/2010/main" val="1409729245"/>
              </p:ext>
            </p:extLst>
          </p:nvPr>
        </p:nvGraphicFramePr>
        <p:xfrm>
          <a:off x="914400" y="358815"/>
          <a:ext cx="10394066" cy="6065132"/>
        </p:xfrm>
        <a:graphic>
          <a:graphicData uri="http://schemas.openxmlformats.org/drawingml/2006/table">
            <a:tbl>
              <a:tblPr/>
              <a:tblGrid>
                <a:gridCol w="3572521">
                  <a:extLst>
                    <a:ext uri="{9D8B030D-6E8A-4147-A177-3AD203B41FA5}">
                      <a16:colId xmlns:a16="http://schemas.microsoft.com/office/drawing/2014/main" val="3644550300"/>
                    </a:ext>
                  </a:extLst>
                </a:gridCol>
                <a:gridCol w="6821545">
                  <a:extLst>
                    <a:ext uri="{9D8B030D-6E8A-4147-A177-3AD203B41FA5}">
                      <a16:colId xmlns:a16="http://schemas.microsoft.com/office/drawing/2014/main" val="1188967897"/>
                    </a:ext>
                  </a:extLst>
                </a:gridCol>
              </a:tblGrid>
              <a:tr h="310714">
                <a:tc>
                  <a:txBody>
                    <a:bodyPr/>
                    <a:lstStyle/>
                    <a:p>
                      <a:pPr>
                        <a:buNone/>
                      </a:pPr>
                      <a:r>
                        <a:rPr lang="en-IN" sz="1600"/>
                        <a:t>Function Category</a:t>
                      </a:r>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Explanation</a:t>
                      </a:r>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0388738"/>
                  </a:ext>
                </a:extLst>
              </a:tr>
              <a:tr h="777672">
                <a:tc>
                  <a:txBody>
                    <a:bodyPr/>
                    <a:lstStyle/>
                    <a:p>
                      <a:pPr>
                        <a:buNone/>
                      </a:pPr>
                      <a:r>
                        <a:rPr lang="en-IN" sz="1600" b="1"/>
                        <a:t>1️⃣ Mechanical Protection</a:t>
                      </a:r>
                      <a:endParaRPr lang="en-IN" sz="1600"/>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Acts as a </a:t>
                      </a:r>
                      <a:r>
                        <a:rPr lang="en-US" sz="1600" b="1"/>
                        <a:t>cushion and shock absorber</a:t>
                      </a:r>
                      <a:r>
                        <a:rPr lang="en-US" sz="1600"/>
                        <a:t>, protects brain and spinal cord from trauma and sudden movements.</a:t>
                      </a:r>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6961909"/>
                  </a:ext>
                </a:extLst>
              </a:tr>
              <a:tr h="1011151">
                <a:tc>
                  <a:txBody>
                    <a:bodyPr/>
                    <a:lstStyle/>
                    <a:p>
                      <a:pPr>
                        <a:buNone/>
                      </a:pPr>
                      <a:r>
                        <a:rPr lang="en-IN" sz="1600" b="1"/>
                        <a:t>2️⃣ Buoyancy</a:t>
                      </a:r>
                      <a:endParaRPr lang="en-IN" sz="1600"/>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Makes the brain </a:t>
                      </a:r>
                      <a:r>
                        <a:rPr lang="en-US" sz="1600" b="1"/>
                        <a:t>float</a:t>
                      </a:r>
                      <a:r>
                        <a:rPr lang="en-US" sz="1600"/>
                        <a:t> and reduces its effective weight from 1500 g to 50 g → prevents brain from crushing its own structures.</a:t>
                      </a:r>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5584879"/>
                  </a:ext>
                </a:extLst>
              </a:tr>
              <a:tr h="777672">
                <a:tc>
                  <a:txBody>
                    <a:bodyPr/>
                    <a:lstStyle/>
                    <a:p>
                      <a:pPr>
                        <a:buNone/>
                      </a:pPr>
                      <a:r>
                        <a:rPr lang="en-IN" sz="1600" b="1"/>
                        <a:t>3️⃣ Chemical Stability</a:t>
                      </a:r>
                      <a:endParaRPr lang="en-IN" sz="1600"/>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Maintains </a:t>
                      </a:r>
                      <a:r>
                        <a:rPr lang="en-IN" sz="1600" b="1"/>
                        <a:t>optimal ionic environment</a:t>
                      </a:r>
                      <a:r>
                        <a:rPr lang="en-IN" sz="1600"/>
                        <a:t> for neuronal function → regulates pH and electrolyte balance.</a:t>
                      </a:r>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8790979"/>
                  </a:ext>
                </a:extLst>
              </a:tr>
              <a:tr h="544193">
                <a:tc>
                  <a:txBody>
                    <a:bodyPr/>
                    <a:lstStyle/>
                    <a:p>
                      <a:pPr>
                        <a:buNone/>
                      </a:pPr>
                      <a:r>
                        <a:rPr lang="en-IN" sz="1600" b="1"/>
                        <a:t>4️⃣ Nutrient Transport</a:t>
                      </a:r>
                      <a:endParaRPr lang="en-IN" sz="1600"/>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Helps supply </a:t>
                      </a:r>
                      <a:r>
                        <a:rPr lang="en-US" sz="1600" b="1"/>
                        <a:t>glucose, oxygen, vitamins</a:t>
                      </a:r>
                      <a:r>
                        <a:rPr lang="en-US" sz="1600"/>
                        <a:t> and other nutrients to CNS tissues.</a:t>
                      </a:r>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5538160"/>
                  </a:ext>
                </a:extLst>
              </a:tr>
              <a:tr h="777672">
                <a:tc>
                  <a:txBody>
                    <a:bodyPr/>
                    <a:lstStyle/>
                    <a:p>
                      <a:pPr>
                        <a:buNone/>
                      </a:pPr>
                      <a:r>
                        <a:rPr lang="en-IN" sz="1600" b="1"/>
                        <a:t>5️⃣ Waste Removal</a:t>
                      </a:r>
                      <a:endParaRPr lang="en-IN" sz="1600"/>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Removes </a:t>
                      </a:r>
                      <a:r>
                        <a:rPr lang="en-US" sz="1600" b="1"/>
                        <a:t>metabolic by-products and toxins</a:t>
                      </a:r>
                      <a:r>
                        <a:rPr lang="en-US" sz="1600"/>
                        <a:t> (e.g., CO₂, lactate) from CNS → excreted via venous system.</a:t>
                      </a:r>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444568"/>
                  </a:ext>
                </a:extLst>
              </a:tr>
              <a:tr h="544193">
                <a:tc>
                  <a:txBody>
                    <a:bodyPr/>
                    <a:lstStyle/>
                    <a:p>
                      <a:pPr>
                        <a:buNone/>
                      </a:pPr>
                      <a:r>
                        <a:rPr lang="en-IN" sz="1600" b="1"/>
                        <a:t>6️⃣ Circulation of Biomolecules</a:t>
                      </a:r>
                      <a:endParaRPr lang="en-IN" sz="1600"/>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Transports </a:t>
                      </a:r>
                      <a:r>
                        <a:rPr lang="en-US" sz="1600" b="1"/>
                        <a:t>hormones, neurotransmitters and neuropeptides</a:t>
                      </a:r>
                      <a:r>
                        <a:rPr lang="en-US" sz="1600"/>
                        <a:t> within CNS.</a:t>
                      </a:r>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5683260"/>
                  </a:ext>
                </a:extLst>
              </a:tr>
              <a:tr h="777672">
                <a:tc>
                  <a:txBody>
                    <a:bodyPr/>
                    <a:lstStyle/>
                    <a:p>
                      <a:pPr>
                        <a:buNone/>
                      </a:pPr>
                      <a:r>
                        <a:rPr lang="en-IN" sz="1600" b="1"/>
                        <a:t>7️⃣ Maintenance of Intracranial Pressure (ICP)</a:t>
                      </a:r>
                      <a:endParaRPr lang="en-IN" sz="1600"/>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Helps maintain </a:t>
                      </a:r>
                      <a:r>
                        <a:rPr lang="en-IN" sz="1600" b="1"/>
                        <a:t>constant intracranial pressure</a:t>
                      </a:r>
                      <a:r>
                        <a:rPr lang="en-IN" sz="1600"/>
                        <a:t> and compensates for volume changes in brain or blood.</a:t>
                      </a:r>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6221198"/>
                  </a:ext>
                </a:extLst>
              </a:tr>
              <a:tr h="544193">
                <a:tc>
                  <a:txBody>
                    <a:bodyPr/>
                    <a:lstStyle/>
                    <a:p>
                      <a:pPr>
                        <a:buNone/>
                      </a:pPr>
                      <a:r>
                        <a:rPr lang="en-IN" sz="1600" b="1"/>
                        <a:t>8️⃣ Immune Function</a:t>
                      </a:r>
                      <a:endParaRPr lang="en-IN" sz="1600"/>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Contains </a:t>
                      </a:r>
                      <a:r>
                        <a:rPr lang="en-US" sz="1600" b="1" dirty="0"/>
                        <a:t>WBCs and immunoglobulins</a:t>
                      </a:r>
                      <a:r>
                        <a:rPr lang="en-US" sz="1600" dirty="0"/>
                        <a:t> — provides </a:t>
                      </a:r>
                      <a:r>
                        <a:rPr lang="en-US" sz="1600" b="1" dirty="0"/>
                        <a:t>defense against infections</a:t>
                      </a:r>
                      <a:r>
                        <a:rPr lang="en-US" sz="1600" dirty="0"/>
                        <a:t> in CNS.</a:t>
                      </a:r>
                    </a:p>
                  </a:txBody>
                  <a:tcPr marL="50413" marR="50413" marT="25207" marB="252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4244072"/>
                  </a:ext>
                </a:extLst>
              </a:tr>
            </a:tbl>
          </a:graphicData>
        </a:graphic>
      </p:graphicFrame>
    </p:spTree>
    <p:extLst>
      <p:ext uri="{BB962C8B-B14F-4D97-AF65-F5344CB8AC3E}">
        <p14:creationId xmlns:p14="http://schemas.microsoft.com/office/powerpoint/2010/main" val="38201618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DA450-4B88-88EA-E4AF-5CE24D8E7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26840-A47B-F900-96B8-C54BD23C283B}"/>
              </a:ext>
            </a:extLst>
          </p:cNvPr>
          <p:cNvSpPr>
            <a:spLocks noGrp="1"/>
          </p:cNvSpPr>
          <p:nvPr>
            <p:ph type="ctrTitle"/>
          </p:nvPr>
        </p:nvSpPr>
        <p:spPr/>
        <p:txBody>
          <a:bodyPr/>
          <a:lstStyle/>
          <a:p>
            <a:r>
              <a:rPr lang="en-US" dirty="0"/>
              <a:t>UNIT 18 </a:t>
            </a:r>
            <a:endParaRPr lang="en-IN" dirty="0"/>
          </a:p>
        </p:txBody>
      </p:sp>
      <p:sp>
        <p:nvSpPr>
          <p:cNvPr id="3" name="Subtitle 2">
            <a:extLst>
              <a:ext uri="{FF2B5EF4-FFF2-40B4-BE49-F238E27FC236}">
                <a16:creationId xmlns:a16="http://schemas.microsoft.com/office/drawing/2014/main" id="{9ED35ECF-6B57-19B4-3C55-7AFA104261C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258825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98202-1371-D503-E389-D83F754FB8CA}"/>
              </a:ext>
            </a:extLst>
          </p:cNvPr>
          <p:cNvSpPr>
            <a:spLocks noGrp="1"/>
          </p:cNvSpPr>
          <p:nvPr>
            <p:ph type="title"/>
          </p:nvPr>
        </p:nvSpPr>
        <p:spPr/>
        <p:txBody>
          <a:bodyPr/>
          <a:lstStyle/>
          <a:p>
            <a:r>
              <a:rPr lang="en-US" dirty="0"/>
              <a:t>ANS</a:t>
            </a:r>
            <a:endParaRPr lang="en-IN" dirty="0"/>
          </a:p>
        </p:txBody>
      </p:sp>
      <p:sp>
        <p:nvSpPr>
          <p:cNvPr id="3" name="Content Placeholder 2">
            <a:extLst>
              <a:ext uri="{FF2B5EF4-FFF2-40B4-BE49-F238E27FC236}">
                <a16:creationId xmlns:a16="http://schemas.microsoft.com/office/drawing/2014/main" id="{8F633E43-CC65-3184-0949-490AD2E8778A}"/>
              </a:ext>
            </a:extLst>
          </p:cNvPr>
          <p:cNvSpPr>
            <a:spLocks noGrp="1"/>
          </p:cNvSpPr>
          <p:nvPr>
            <p:ph idx="1"/>
          </p:nvPr>
        </p:nvSpPr>
        <p:spPr/>
        <p:txBody>
          <a:bodyPr/>
          <a:lstStyle/>
          <a:p>
            <a:r>
              <a:rPr lang="en-US" dirty="0"/>
              <a:t>The Autonomic Nervous System is a part of the </a:t>
            </a:r>
            <a:r>
              <a:rPr lang="en-US" b="1" dirty="0"/>
              <a:t>peripheral nervous system</a:t>
            </a:r>
            <a:r>
              <a:rPr lang="en-US" dirty="0"/>
              <a:t> that controls </a:t>
            </a:r>
            <a:r>
              <a:rPr lang="en-US" b="1" dirty="0"/>
              <a:t>involuntary functions</a:t>
            </a:r>
            <a:r>
              <a:rPr lang="en-US" dirty="0"/>
              <a:t> of the body such as heart rate, blood pressure, respiration, digestion, glandular secretion, and body temperature.</a:t>
            </a:r>
          </a:p>
          <a:p>
            <a:r>
              <a:rPr lang="en-US" dirty="0"/>
              <a:t>It regulates </a:t>
            </a:r>
            <a:r>
              <a:rPr lang="en-US" b="1" dirty="0"/>
              <a:t>internal homeostasis</a:t>
            </a:r>
            <a:r>
              <a:rPr lang="en-US" dirty="0"/>
              <a:t>.</a:t>
            </a:r>
          </a:p>
          <a:p>
            <a:endParaRPr lang="en-IN" dirty="0"/>
          </a:p>
        </p:txBody>
      </p:sp>
      <p:graphicFrame>
        <p:nvGraphicFramePr>
          <p:cNvPr id="4" name="Table 3">
            <a:extLst>
              <a:ext uri="{FF2B5EF4-FFF2-40B4-BE49-F238E27FC236}">
                <a16:creationId xmlns:a16="http://schemas.microsoft.com/office/drawing/2014/main" id="{6ED98AFA-5509-C49E-BBF4-BAC51F559C97}"/>
              </a:ext>
            </a:extLst>
          </p:cNvPr>
          <p:cNvGraphicFramePr>
            <a:graphicFrameLocks noGrp="1"/>
          </p:cNvGraphicFramePr>
          <p:nvPr>
            <p:extLst>
              <p:ext uri="{D42A27DB-BD31-4B8C-83A1-F6EECF244321}">
                <p14:modId xmlns:p14="http://schemas.microsoft.com/office/powerpoint/2010/main" val="2320587583"/>
              </p:ext>
            </p:extLst>
          </p:nvPr>
        </p:nvGraphicFramePr>
        <p:xfrm>
          <a:off x="974202" y="3700807"/>
          <a:ext cx="10058400" cy="2286000"/>
        </p:xfrm>
        <a:graphic>
          <a:graphicData uri="http://schemas.openxmlformats.org/drawingml/2006/table">
            <a:tbl>
              <a:tblPr/>
              <a:tblGrid>
                <a:gridCol w="2514600">
                  <a:extLst>
                    <a:ext uri="{9D8B030D-6E8A-4147-A177-3AD203B41FA5}">
                      <a16:colId xmlns:a16="http://schemas.microsoft.com/office/drawing/2014/main" val="1798374757"/>
                    </a:ext>
                  </a:extLst>
                </a:gridCol>
                <a:gridCol w="2514600">
                  <a:extLst>
                    <a:ext uri="{9D8B030D-6E8A-4147-A177-3AD203B41FA5}">
                      <a16:colId xmlns:a16="http://schemas.microsoft.com/office/drawing/2014/main" val="1035581482"/>
                    </a:ext>
                  </a:extLst>
                </a:gridCol>
                <a:gridCol w="2514600">
                  <a:extLst>
                    <a:ext uri="{9D8B030D-6E8A-4147-A177-3AD203B41FA5}">
                      <a16:colId xmlns:a16="http://schemas.microsoft.com/office/drawing/2014/main" val="287395039"/>
                    </a:ext>
                  </a:extLst>
                </a:gridCol>
                <a:gridCol w="2514600">
                  <a:extLst>
                    <a:ext uri="{9D8B030D-6E8A-4147-A177-3AD203B41FA5}">
                      <a16:colId xmlns:a16="http://schemas.microsoft.com/office/drawing/2014/main" val="3750698888"/>
                    </a:ext>
                  </a:extLst>
                </a:gridCol>
              </a:tblGrid>
              <a:tr h="0">
                <a:tc>
                  <a:txBody>
                    <a:bodyPr/>
                    <a:lstStyle/>
                    <a:p>
                      <a:pPr>
                        <a:buNone/>
                      </a:pPr>
                      <a:r>
                        <a:rPr lang="en-IN"/>
                        <a:t>Division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Other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Origin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Main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9127350"/>
                  </a:ext>
                </a:extLst>
              </a:tr>
              <a:tr h="0">
                <a:tc>
                  <a:txBody>
                    <a:bodyPr/>
                    <a:lstStyle/>
                    <a:p>
                      <a:pPr>
                        <a:buNone/>
                      </a:pPr>
                      <a:r>
                        <a:rPr lang="en-IN" b="1"/>
                        <a:t>Sympathetic</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Thoracolumbar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T1 – L2 spinal cord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“Fight or Flight” response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9447746"/>
                  </a:ext>
                </a:extLst>
              </a:tr>
              <a:tr h="0">
                <a:tc>
                  <a:txBody>
                    <a:bodyPr/>
                    <a:lstStyle/>
                    <a:p>
                      <a:pPr>
                        <a:buNone/>
                      </a:pPr>
                      <a:r>
                        <a:rPr lang="en-IN" b="1"/>
                        <a:t>Parasympathetic</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Craniosacral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Cranial nerves III, VII, IX, X + S2 – 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“Rest and Digest” response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1214406"/>
                  </a:ext>
                </a:extLst>
              </a:tr>
              <a:tr h="0">
                <a:tc>
                  <a:txBody>
                    <a:bodyPr/>
                    <a:lstStyle/>
                    <a:p>
                      <a:pPr>
                        <a:buNone/>
                      </a:pPr>
                      <a:r>
                        <a:rPr lang="en-IN" b="1"/>
                        <a:t>Enteric</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Gut nervous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Wall of GI tract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Controls GI motility &amp; secretions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3433047"/>
                  </a:ext>
                </a:extLst>
              </a:tr>
            </a:tbl>
          </a:graphicData>
        </a:graphic>
      </p:graphicFrame>
    </p:spTree>
    <p:extLst>
      <p:ext uri="{BB962C8B-B14F-4D97-AF65-F5344CB8AC3E}">
        <p14:creationId xmlns:p14="http://schemas.microsoft.com/office/powerpoint/2010/main" val="27856724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B3FA4-50A6-0A0F-68E5-0C638FD4EC8A}"/>
              </a:ext>
            </a:extLst>
          </p:cNvPr>
          <p:cNvSpPr>
            <a:spLocks noGrp="1"/>
          </p:cNvSpPr>
          <p:nvPr>
            <p:ph type="title"/>
          </p:nvPr>
        </p:nvSpPr>
        <p:spPr/>
        <p:txBody>
          <a:bodyPr>
            <a:normAutofit/>
          </a:bodyPr>
          <a:lstStyle/>
          <a:p>
            <a:r>
              <a:rPr lang="en-IN" b="1" dirty="0"/>
              <a:t>Functions</a:t>
            </a:r>
            <a:endParaRPr lang="en-IN" dirty="0"/>
          </a:p>
        </p:txBody>
      </p:sp>
      <p:sp>
        <p:nvSpPr>
          <p:cNvPr id="3" name="Content Placeholder 2">
            <a:extLst>
              <a:ext uri="{FF2B5EF4-FFF2-40B4-BE49-F238E27FC236}">
                <a16:creationId xmlns:a16="http://schemas.microsoft.com/office/drawing/2014/main" id="{BD05D12D-5816-8950-8560-411F66E80765}"/>
              </a:ext>
            </a:extLst>
          </p:cNvPr>
          <p:cNvSpPr>
            <a:spLocks noGrp="1"/>
          </p:cNvSpPr>
          <p:nvPr>
            <p:ph idx="1"/>
          </p:nvPr>
        </p:nvSpPr>
        <p:spPr/>
        <p:txBody>
          <a:bodyPr>
            <a:normAutofit/>
          </a:bodyPr>
          <a:lstStyle/>
          <a:p>
            <a:pPr marL="0" indent="0">
              <a:buNone/>
            </a:pPr>
            <a:r>
              <a:rPr lang="en-IN" b="1" dirty="0"/>
              <a:t>🔹 Sympathetic System – “Fight or Flight”</a:t>
            </a:r>
          </a:p>
          <a:p>
            <a:r>
              <a:rPr lang="en-IN" dirty="0"/>
              <a:t>↑ Heart rate &amp; contractility</a:t>
            </a:r>
          </a:p>
          <a:p>
            <a:r>
              <a:rPr lang="en-IN" b="1" dirty="0"/>
              <a:t>Vasoconstriction → ↑ BP</a:t>
            </a:r>
            <a:endParaRPr lang="en-IN" dirty="0"/>
          </a:p>
          <a:p>
            <a:r>
              <a:rPr lang="en-IN" b="1" dirty="0"/>
              <a:t>Bronchodilation</a:t>
            </a:r>
            <a:endParaRPr lang="en-IN" dirty="0"/>
          </a:p>
          <a:p>
            <a:r>
              <a:rPr lang="en-IN" b="1" dirty="0"/>
              <a:t>Pupil dilation (mydriasis)</a:t>
            </a:r>
            <a:endParaRPr lang="en-IN" dirty="0"/>
          </a:p>
          <a:p>
            <a:r>
              <a:rPr lang="en-IN" dirty="0"/>
              <a:t>↑ Blood glucose (glycogenolysis)</a:t>
            </a:r>
          </a:p>
          <a:p>
            <a:r>
              <a:rPr lang="en-IN" dirty="0"/>
              <a:t>↓ GI motility &amp; secretions</a:t>
            </a:r>
          </a:p>
          <a:p>
            <a:r>
              <a:rPr lang="en-IN" dirty="0"/>
              <a:t>↓ Salivation</a:t>
            </a:r>
          </a:p>
          <a:p>
            <a:r>
              <a:rPr lang="en-IN" dirty="0"/>
              <a:t>↑ Sweating</a:t>
            </a:r>
          </a:p>
          <a:p>
            <a:r>
              <a:rPr lang="en-IN" dirty="0"/>
              <a:t>Relaxation of bladder wall, constriction of sphincter</a:t>
            </a:r>
          </a:p>
        </p:txBody>
      </p:sp>
    </p:spTree>
    <p:extLst>
      <p:ext uri="{BB962C8B-B14F-4D97-AF65-F5344CB8AC3E}">
        <p14:creationId xmlns:p14="http://schemas.microsoft.com/office/powerpoint/2010/main" val="37924929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475B9-0618-433A-394C-37994BCC8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23F47-5524-DBBA-A565-7C5D924DAE41}"/>
              </a:ext>
            </a:extLst>
          </p:cNvPr>
          <p:cNvSpPr>
            <a:spLocks noGrp="1"/>
          </p:cNvSpPr>
          <p:nvPr>
            <p:ph type="title"/>
          </p:nvPr>
        </p:nvSpPr>
        <p:spPr/>
        <p:txBody>
          <a:bodyPr>
            <a:normAutofit/>
          </a:bodyPr>
          <a:lstStyle/>
          <a:p>
            <a:r>
              <a:rPr lang="en-IN" b="1" dirty="0"/>
              <a:t>Functions</a:t>
            </a:r>
            <a:endParaRPr lang="en-IN" dirty="0"/>
          </a:p>
        </p:txBody>
      </p:sp>
      <p:sp>
        <p:nvSpPr>
          <p:cNvPr id="3" name="Content Placeholder 2">
            <a:extLst>
              <a:ext uri="{FF2B5EF4-FFF2-40B4-BE49-F238E27FC236}">
                <a16:creationId xmlns:a16="http://schemas.microsoft.com/office/drawing/2014/main" id="{0EFAC97F-7965-41A1-5AB4-EE6D70DBC832}"/>
              </a:ext>
            </a:extLst>
          </p:cNvPr>
          <p:cNvSpPr>
            <a:spLocks noGrp="1"/>
          </p:cNvSpPr>
          <p:nvPr>
            <p:ph idx="1"/>
          </p:nvPr>
        </p:nvSpPr>
        <p:spPr/>
        <p:txBody>
          <a:bodyPr>
            <a:normAutofit/>
          </a:bodyPr>
          <a:lstStyle/>
          <a:p>
            <a:pPr marL="0" indent="0">
              <a:buNone/>
            </a:pPr>
            <a:r>
              <a:rPr lang="en-IN" b="1" dirty="0"/>
              <a:t>🔹 Parasympathetic System – “Rest &amp; Digest”</a:t>
            </a:r>
          </a:p>
          <a:p>
            <a:r>
              <a:rPr lang="en-IN" dirty="0"/>
              <a:t>↓ Heart rate</a:t>
            </a:r>
          </a:p>
          <a:p>
            <a:r>
              <a:rPr lang="en-IN" dirty="0"/>
              <a:t>↑ GI motility &amp; secretions</a:t>
            </a:r>
          </a:p>
          <a:p>
            <a:r>
              <a:rPr lang="en-IN" b="1" dirty="0"/>
              <a:t>Bronchoconstriction</a:t>
            </a:r>
            <a:endParaRPr lang="en-IN" dirty="0"/>
          </a:p>
          <a:p>
            <a:r>
              <a:rPr lang="en-IN" b="1" dirty="0"/>
              <a:t>Pupil constriction (miosis)</a:t>
            </a:r>
            <a:endParaRPr lang="en-IN" dirty="0"/>
          </a:p>
          <a:p>
            <a:r>
              <a:rPr lang="en-IN" dirty="0"/>
              <a:t>↑ Lacrimation &amp; salivation</a:t>
            </a:r>
          </a:p>
          <a:p>
            <a:r>
              <a:rPr lang="en-IN" dirty="0"/>
              <a:t>Contraction of bladder wall, relaxation of sphincter</a:t>
            </a:r>
          </a:p>
          <a:p>
            <a:r>
              <a:rPr lang="en-IN" dirty="0"/>
              <a:t>Promotes digestion, energy storage &amp; sexual arousal</a:t>
            </a:r>
          </a:p>
        </p:txBody>
      </p:sp>
    </p:spTree>
    <p:extLst>
      <p:ext uri="{BB962C8B-B14F-4D97-AF65-F5344CB8AC3E}">
        <p14:creationId xmlns:p14="http://schemas.microsoft.com/office/powerpoint/2010/main" val="1271363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A151F-3C5E-5510-7F62-59D204346DA3}"/>
              </a:ext>
            </a:extLst>
          </p:cNvPr>
          <p:cNvSpPr>
            <a:spLocks noGrp="1"/>
          </p:cNvSpPr>
          <p:nvPr>
            <p:ph type="title"/>
          </p:nvPr>
        </p:nvSpPr>
        <p:spPr/>
        <p:txBody>
          <a:bodyPr/>
          <a:lstStyle/>
          <a:p>
            <a:r>
              <a:rPr lang="en-US" dirty="0"/>
              <a:t>APPLIED ASPECTS</a:t>
            </a:r>
            <a:endParaRPr lang="en-IN" dirty="0"/>
          </a:p>
        </p:txBody>
      </p:sp>
      <p:graphicFrame>
        <p:nvGraphicFramePr>
          <p:cNvPr id="4" name="Content Placeholder 3">
            <a:extLst>
              <a:ext uri="{FF2B5EF4-FFF2-40B4-BE49-F238E27FC236}">
                <a16:creationId xmlns:a16="http://schemas.microsoft.com/office/drawing/2014/main" id="{919EC54C-09AC-E301-287B-C2A687F66D03}"/>
              </a:ext>
            </a:extLst>
          </p:cNvPr>
          <p:cNvGraphicFramePr>
            <a:graphicFrameLocks noGrp="1"/>
          </p:cNvGraphicFramePr>
          <p:nvPr>
            <p:ph idx="1"/>
            <p:extLst>
              <p:ext uri="{D42A27DB-BD31-4B8C-83A1-F6EECF244321}">
                <p14:modId xmlns:p14="http://schemas.microsoft.com/office/powerpoint/2010/main" val="2085065224"/>
              </p:ext>
            </p:extLst>
          </p:nvPr>
        </p:nvGraphicFramePr>
        <p:xfrm>
          <a:off x="1066800" y="2835116"/>
          <a:ext cx="10058400" cy="2468880"/>
        </p:xfrm>
        <a:graphic>
          <a:graphicData uri="http://schemas.openxmlformats.org/drawingml/2006/table">
            <a:tbl>
              <a:tblPr/>
              <a:tblGrid>
                <a:gridCol w="5029200">
                  <a:extLst>
                    <a:ext uri="{9D8B030D-6E8A-4147-A177-3AD203B41FA5}">
                      <a16:colId xmlns:a16="http://schemas.microsoft.com/office/drawing/2014/main" val="222111153"/>
                    </a:ext>
                  </a:extLst>
                </a:gridCol>
                <a:gridCol w="5029200">
                  <a:extLst>
                    <a:ext uri="{9D8B030D-6E8A-4147-A177-3AD203B41FA5}">
                      <a16:colId xmlns:a16="http://schemas.microsoft.com/office/drawing/2014/main" val="1477938282"/>
                    </a:ext>
                  </a:extLst>
                </a:gridCol>
              </a:tblGrid>
              <a:tr h="0">
                <a:tc>
                  <a:txBody>
                    <a:bodyPr/>
                    <a:lstStyle/>
                    <a:p>
                      <a:pPr>
                        <a:buNone/>
                      </a:pPr>
                      <a:r>
                        <a:rPr lang="en-IN"/>
                        <a:t>Condition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ANS Involvement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3671252"/>
                  </a:ext>
                </a:extLst>
              </a:tr>
              <a:tr h="0">
                <a:tc>
                  <a:txBody>
                    <a:bodyPr/>
                    <a:lstStyle/>
                    <a:p>
                      <a:pPr>
                        <a:buNone/>
                      </a:pPr>
                      <a:r>
                        <a:rPr lang="en-IN"/>
                        <a:t>Shock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Loss of sympathetic tone → ↓ BP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6360226"/>
                  </a:ext>
                </a:extLst>
              </a:tr>
              <a:tr h="0">
                <a:tc>
                  <a:txBody>
                    <a:bodyPr/>
                    <a:lstStyle/>
                    <a:p>
                      <a:pPr>
                        <a:buNone/>
                      </a:pPr>
                      <a:r>
                        <a:rPr lang="en-IN"/>
                        <a:t>Heart failure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Excess sympathetic activity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255299"/>
                  </a:ext>
                </a:extLst>
              </a:tr>
              <a:tr h="0">
                <a:tc>
                  <a:txBody>
                    <a:bodyPr/>
                    <a:lstStyle/>
                    <a:p>
                      <a:pPr>
                        <a:buNone/>
                      </a:pPr>
                      <a:r>
                        <a:rPr lang="en-IN"/>
                        <a:t>Autonomic neuropathy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Diabetes → loss of autonomic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16997"/>
                  </a:ext>
                </a:extLst>
              </a:tr>
              <a:tr h="0">
                <a:tc>
                  <a:txBody>
                    <a:bodyPr/>
                    <a:lstStyle/>
                    <a:p>
                      <a:pPr>
                        <a:buNone/>
                      </a:pPr>
                      <a:r>
                        <a:rPr lang="en-IN"/>
                        <a:t>Horner 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Loss of sympathetic supply to eye → miosis &amp; ptosis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3574314"/>
                  </a:ext>
                </a:extLst>
              </a:tr>
              <a:tr h="0">
                <a:tc>
                  <a:txBody>
                    <a:bodyPr/>
                    <a:lstStyle/>
                    <a:p>
                      <a:pPr>
                        <a:buNone/>
                      </a:pPr>
                      <a:r>
                        <a:rPr lang="en-IN"/>
                        <a:t>Stress disorders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Chronic sympathetic activation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1748112"/>
                  </a:ext>
                </a:extLst>
              </a:tr>
            </a:tbl>
          </a:graphicData>
        </a:graphic>
      </p:graphicFrame>
    </p:spTree>
    <p:extLst>
      <p:ext uri="{BB962C8B-B14F-4D97-AF65-F5344CB8AC3E}">
        <p14:creationId xmlns:p14="http://schemas.microsoft.com/office/powerpoint/2010/main" val="25095383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docProps/app.xml><?xml version="1.0" encoding="utf-8"?>
<Properties xmlns="http://schemas.openxmlformats.org/officeDocument/2006/extended-properties" xmlns:vt="http://schemas.openxmlformats.org/officeDocument/2006/docPropsVTypes">
  <Template>Savon</Template>
  <TotalTime>1511</TotalTime>
  <Words>1171</Words>
  <Application>Microsoft Office PowerPoint</Application>
  <PresentationFormat>Widescreen</PresentationFormat>
  <Paragraphs>189</Paragraphs>
  <Slides>64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Century Gothic</vt:lpstr>
      <vt:lpstr>Savon</vt:lpstr>
      <vt:lpstr>NERVOUS PHYSIOLOGY</vt:lpstr>
      <vt:lpstr>UNIT 1 </vt:lpstr>
      <vt:lpstr>PowerPoint Presentation</vt:lpstr>
      <vt:lpstr>PowerPoint Presentation</vt:lpstr>
      <vt:lpstr>PowerPoint Presentation</vt:lpstr>
      <vt:lpstr>PowerPoint Presentation</vt:lpstr>
      <vt:lpstr>UNIT 2 </vt:lpstr>
      <vt:lpstr>NERVES</vt:lpstr>
      <vt:lpstr>FUNCTIONAL CLASSIFICATION</vt:lpstr>
      <vt:lpstr>PARTS OF PERIPHERAL NEURON</vt:lpstr>
      <vt:lpstr>NERVE INJURY</vt:lpstr>
      <vt:lpstr>TYPES OF NERVE INJURY</vt:lpstr>
      <vt:lpstr>UNIT 3</vt:lpstr>
      <vt:lpstr>PowerPoint Presentation</vt:lpstr>
      <vt:lpstr>PowerPoint Presentation</vt:lpstr>
      <vt:lpstr>UNIT 4</vt:lpstr>
      <vt:lpstr>PowerPoint Presentation</vt:lpstr>
      <vt:lpstr>PowerPoint Presentation</vt:lpstr>
      <vt:lpstr>UNIT 5</vt:lpstr>
      <vt:lpstr>PowerPoint Presentation</vt:lpstr>
      <vt:lpstr>PowerPoint Presentation</vt:lpstr>
      <vt:lpstr>UNIT 6</vt:lpstr>
      <vt:lpstr>PowerPoint Presentation</vt:lpstr>
      <vt:lpstr>PowerPoint Presentation</vt:lpstr>
      <vt:lpstr>PowerPoint Presentation</vt:lpstr>
      <vt:lpstr>PowerPoint Presentation</vt:lpstr>
      <vt:lpstr>UNIT 7</vt:lpstr>
      <vt:lpstr>MUSCLE TONE</vt:lpstr>
      <vt:lpstr>APPLIED ASPECTS</vt:lpstr>
      <vt:lpstr>UNIT 8</vt:lpstr>
      <vt:lpstr>PowerPoint Presentation</vt:lpstr>
      <vt:lpstr>PowerPoint Presentation</vt:lpstr>
      <vt:lpstr>PowerPoint Presentation</vt:lpstr>
      <vt:lpstr>UNIT 9 </vt:lpstr>
      <vt:lpstr>PowerPoint Presentation</vt:lpstr>
      <vt:lpstr>CEREBELLAR LESIONS FEATURES</vt:lpstr>
      <vt:lpstr>UNIT 10</vt:lpstr>
      <vt:lpstr>BASAL GANGLIA</vt:lpstr>
      <vt:lpstr>APPLIED ASPECTS</vt:lpstr>
      <vt:lpstr>UNIT 11</vt:lpstr>
      <vt:lpstr>PowerPoint Presentation</vt:lpstr>
      <vt:lpstr>UNIT 12</vt:lpstr>
      <vt:lpstr>PowerPoint Presentation</vt:lpstr>
      <vt:lpstr>UNIT 13</vt:lpstr>
      <vt:lpstr>PowerPoint Presentation</vt:lpstr>
      <vt:lpstr>PowerPoint Presentation</vt:lpstr>
      <vt:lpstr>UNIT 14</vt:lpstr>
      <vt:lpstr>PowerPoint Presentation</vt:lpstr>
      <vt:lpstr>PowerPoint Presentation</vt:lpstr>
      <vt:lpstr>UNIT 15 </vt:lpstr>
      <vt:lpstr>PowerPoint Presentation</vt:lpstr>
      <vt:lpstr>PowerPoint Presentation</vt:lpstr>
      <vt:lpstr>Functions of limbic system are</vt:lpstr>
      <vt:lpstr>UNIT 16 </vt:lpstr>
      <vt:lpstr>PowerPoint Presentation</vt:lpstr>
      <vt:lpstr>APPLIED ASPECTS</vt:lpstr>
      <vt:lpstr>UNIT 17 </vt:lpstr>
      <vt:lpstr>PowerPoint Presentation</vt:lpstr>
      <vt:lpstr>PowerPoint Presentation</vt:lpstr>
      <vt:lpstr>UNIT 18 </vt:lpstr>
      <vt:lpstr>ANS</vt:lpstr>
      <vt:lpstr>Functions</vt:lpstr>
      <vt:lpstr>Functions</vt:lpstr>
      <vt:lpstr>APPLIED ASPECTS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2</cp:revision>
  <dcterms:created xsi:type="dcterms:W3CDTF">2025-11-22T11:15:13Z</dcterms:created>
  <dcterms:modified xsi:type="dcterms:W3CDTF">2025-11-23T12:52:07Z</dcterms:modified>
</cp:coreProperties>
</file>