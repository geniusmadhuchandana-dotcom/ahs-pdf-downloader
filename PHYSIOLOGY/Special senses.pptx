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58" r:id="rId14"/>
    <p:sldId id="270" r:id="rId15"/>
    <p:sldId id="271" r:id="rId16"/>
    <p:sldId id="272" r:id="rId17"/>
    <p:sldId id="273" r:id="rId18"/>
    <p:sldId id="274" r:id="rId19"/>
    <p:sldId id="275" r:id="rId20"/>
    <p:sldId id="259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A6C6B71D-8701-4991-AFB0-A242206A798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7D5076-67B7-4F3F-B0AD-8B9055ECF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309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C6B71D-8701-4991-AFB0-A242206A798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7D5076-67B7-4F3F-B0AD-8B9055ECF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622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6C6B71D-8701-4991-AFB0-A242206A798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7D5076-67B7-4F3F-B0AD-8B9055ECF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628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C6B71D-8701-4991-AFB0-A242206A798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7D5076-67B7-4F3F-B0AD-8B9055ECF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146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C6B71D-8701-4991-AFB0-A242206A798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7D5076-67B7-4F3F-B0AD-8B9055ECF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119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C6B71D-8701-4991-AFB0-A242206A798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7D5076-67B7-4F3F-B0AD-8B9055ECF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479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C6B71D-8701-4991-AFB0-A242206A798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7D5076-67B7-4F3F-B0AD-8B9055ECF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858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575" y="704850"/>
            <a:ext cx="7562850" cy="51435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C6B71D-8701-4991-AFB0-A242206A798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27D5076-67B7-4F3F-B0AD-8B9055ECF39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6581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6C6B71D-8701-4991-AFB0-A242206A798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7D5076-67B7-4F3F-B0AD-8B9055ECF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747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C6B71D-8701-4991-AFB0-A242206A798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7D5076-67B7-4F3F-B0AD-8B9055ECF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859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C6B71D-8701-4991-AFB0-A242206A798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7D5076-67B7-4F3F-B0AD-8B9055ECF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958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fld id="{A6C6B71D-8701-4991-AFB0-A242206A7983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727D5076-67B7-4F3F-B0AD-8B9055ECF3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2171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BDA3B-20BA-505E-226F-AD1D2FF8BA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Special senses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486245-091C-EA5E-C213-C727624593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081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6B542-9BF2-02D4-1F15-D91C9C5C4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DF8C-CF5D-F64A-EDEF-E12C44D35C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11865-EF99-ED15-91C0-2F3BA71A50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768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CC3E-D6AC-674B-FC7D-4805CBE4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76E53-07E8-A5F4-60AC-240CD8EF6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eye works as a </a:t>
            </a:r>
            <a:r>
              <a:rPr lang="en-US" b="1" dirty="0"/>
              <a:t>special sense organ of vision</a:t>
            </a:r>
            <a:r>
              <a:rPr lang="en-US" dirty="0"/>
              <a:t>, converting light rays into neural signals to form visual perception.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5892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A5DFD-5289-57A2-8C1D-CF5C2D6D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Protective structures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FE307F-F485-FDF9-370B-51C4811385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1828460"/>
              </p:ext>
            </p:extLst>
          </p:nvPr>
        </p:nvGraphicFramePr>
        <p:xfrm>
          <a:off x="1066800" y="2697956"/>
          <a:ext cx="10058400" cy="27432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690024425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8880880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416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Eye lids (palpebrae)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Protect the eye from injury &amp; excessive light; spread tears over cornea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744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Eye lashes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Trap dust particles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233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Conjunctiva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Lubrication; prevents entry of microbes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818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Orbital cavity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Bony protection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5669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Lacrimal apparatus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Produces and drains tears; moistens and nourishes cornea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832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3069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92318-2153-AADD-D3E0-AAD8EB85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Outer Fibrous Coat (For Protection &amp; Shape)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EE280D-A9A1-182A-76CE-BE9910DA5D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2439913"/>
              </p:ext>
            </p:extLst>
          </p:nvPr>
        </p:nvGraphicFramePr>
        <p:xfrm>
          <a:off x="1066800" y="3109436"/>
          <a:ext cx="10058400" cy="192024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3848897824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8324577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254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Sclera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White opaque coat maintaining shape; attachment for extraocular muscles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759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Cornea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Transparent anterior surface; main refractive (light bending) medium; avascular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460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3140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C771-55C3-5EE2-729E-5021AD96B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Middle Vascular Coat (Uveal Tract – For Nutrition &amp; Light Regulation)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DAA6-7855-B1A5-8F3C-51DFC828C9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8196741"/>
              </p:ext>
            </p:extLst>
          </p:nvPr>
        </p:nvGraphicFramePr>
        <p:xfrm>
          <a:off x="1066800" y="2789396"/>
          <a:ext cx="10058400" cy="256032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36320216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4058465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995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Choroid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Highly vascular; supplies oxygen &amp; nutrients to retina; absorbs stray light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47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Ciliary body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Contains ciliary muscles and processes; accommodation (focus for near vision) &amp; secretion of aqueous humor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178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Iris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Pigmented diaphragm with pupil; regulates light entry by changing pupil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01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59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8B136-7049-96E9-546E-B1D38571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Inner Nervous Coat (For Photoreception)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4AAA3F9-DF75-3734-F28C-EEA1532874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5573747"/>
              </p:ext>
            </p:extLst>
          </p:nvPr>
        </p:nvGraphicFramePr>
        <p:xfrm>
          <a:off x="1066800" y="3063716"/>
          <a:ext cx="10058400" cy="201168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3222364364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5209954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24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Retina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Contains photoreceptors—rods (dim light/black-white) &amp; cones (bright light/color/visual acuity)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33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Macula lutea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Area of sharp central vision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367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Fovea centralis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Highest visual acuity; only cones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878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57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2786-66E7-28E1-7FC3-6B463CC6E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Refractive Media (Image Formation)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9FE037-1B4F-C826-C9B9-D55711AEF7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1851367"/>
              </p:ext>
            </p:extLst>
          </p:nvPr>
        </p:nvGraphicFramePr>
        <p:xfrm>
          <a:off x="1066800" y="2880836"/>
          <a:ext cx="10058400" cy="237744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404832021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7822740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Refractive Media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879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Cornea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Primary refractive surface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678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Aqueous humor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Maintains intraocular pressure (IOP); nourishes cornea and lens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0289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Lens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Changes shape for accommodation; fine focusing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41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Vitreous humor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Maintains globe shape; supports retina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675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4203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55DD0-1EB4-A80B-60D9-64792A1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72F652-3767-7DF1-EBBB-DB33F43451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4965" y="642594"/>
            <a:ext cx="4642069" cy="557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363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86BAA-F782-70E1-0AD7-60737E49C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F4CF98-FC20-2A22-3180-5655A6047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4155" y="0"/>
            <a:ext cx="7403690" cy="676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33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611C9-EC56-03E1-AB12-84CBE8598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00711D-EEEB-F877-A2F5-3DF3599C4F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018" y="560438"/>
            <a:ext cx="10236587" cy="564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332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D0580-9E73-FD32-6DFF-471B97380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D5E4-55C6-7D23-A2E4-5F2239903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683394-BA0E-A4F4-4FDB-2132217AEF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711"/>
          <a:stretch>
            <a:fillRect/>
          </a:stretch>
        </p:blipFill>
        <p:spPr>
          <a:xfrm>
            <a:off x="3303640" y="0"/>
            <a:ext cx="54667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014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89F79-23BC-C2C8-CF7F-E6B16E8CA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75BB-8825-FED0-A30D-B667A004E1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EF2667-C6EB-BB10-0776-4CB3A8F6B1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975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16763-8744-9850-EF7D-704DC75D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Hearing 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468F2E2-D8C0-51EB-0FB5-B8CBC8EBF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Main Parts of the Ear</a:t>
            </a:r>
          </a:p>
          <a:p>
            <a:r>
              <a:rPr lang="en-US" dirty="0"/>
              <a:t>The ear is divided into </a:t>
            </a:r>
            <a:r>
              <a:rPr lang="en-US" b="1" dirty="0"/>
              <a:t>three major parts</a:t>
            </a:r>
            <a:r>
              <a:rPr lang="en-US" dirty="0"/>
              <a:t>:</a:t>
            </a:r>
          </a:p>
          <a:p>
            <a:r>
              <a:rPr lang="en-US" dirty="0"/>
              <a:t>1️⃣ </a:t>
            </a:r>
            <a:r>
              <a:rPr lang="en-US" b="1" dirty="0"/>
              <a:t>External (Outer) Ear</a:t>
            </a:r>
            <a:br>
              <a:rPr lang="en-US" dirty="0"/>
            </a:br>
            <a:r>
              <a:rPr lang="en-US" dirty="0"/>
              <a:t>2️⃣ </a:t>
            </a:r>
            <a:r>
              <a:rPr lang="en-US" b="1" dirty="0"/>
              <a:t>Middle Ear</a:t>
            </a:r>
            <a:br>
              <a:rPr lang="en-US" dirty="0"/>
            </a:br>
            <a:r>
              <a:rPr lang="en-US" dirty="0"/>
              <a:t>3️⃣ </a:t>
            </a:r>
            <a:r>
              <a:rPr lang="en-US" b="1" dirty="0"/>
              <a:t>Internal (Inner) Ear</a:t>
            </a:r>
            <a:endParaRPr lang="en-US" dirty="0"/>
          </a:p>
          <a:p>
            <a:r>
              <a:rPr lang="en-US" dirty="0"/>
              <a:t>Each part has structures that perform different functions.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714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CD9A8-E7AF-8577-ADA4-89C5223D1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External Ear (Outer Ear)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74114-F308-A13F-9F23-4D08BAB5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Parts</a:t>
            </a:r>
          </a:p>
          <a:p>
            <a:r>
              <a:rPr lang="en-US" b="1" dirty="0"/>
              <a:t>Pinna (Auricle)</a:t>
            </a:r>
            <a:endParaRPr lang="en-US" dirty="0"/>
          </a:p>
          <a:p>
            <a:r>
              <a:rPr lang="en-US" b="1" dirty="0"/>
              <a:t>External Auditory Canal</a:t>
            </a:r>
            <a:endParaRPr lang="en-US" dirty="0"/>
          </a:p>
          <a:p>
            <a:r>
              <a:rPr lang="en-US" b="1" dirty="0"/>
              <a:t>Tympanic Membrane (Eardrum)</a:t>
            </a:r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9809AE-989F-7961-6C87-71D014065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21838"/>
              </p:ext>
            </p:extLst>
          </p:nvPr>
        </p:nvGraphicFramePr>
        <p:xfrm>
          <a:off x="1066800" y="3749040"/>
          <a:ext cx="10058400" cy="22860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318470475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3453134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4090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Pinna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Collects sound waves from the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828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External Auditory Canal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Transfers sound waves to the eardrum; contains wax to trap dust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467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Tympanic Membrane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Vibrates when sound hits it, converting sound waves into mechanical vibrations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04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8880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3988E-8E2B-4EA0-A670-ABEFA5913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Middle Ear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9682B2-9668-69E4-E92D-B636A02C2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2275114" cy="393192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Parts</a:t>
            </a:r>
          </a:p>
          <a:p>
            <a:r>
              <a:rPr lang="en-IN" b="1" dirty="0"/>
              <a:t>Ossicles (3 small bones):</a:t>
            </a:r>
            <a:endParaRPr lang="en-IN" dirty="0"/>
          </a:p>
          <a:p>
            <a:pPr lvl="1"/>
            <a:r>
              <a:rPr lang="en-IN" dirty="0"/>
              <a:t>Malleus (Hammer)</a:t>
            </a:r>
          </a:p>
          <a:p>
            <a:pPr lvl="1"/>
            <a:r>
              <a:rPr lang="en-IN" dirty="0"/>
              <a:t>Incus (Anvil)</a:t>
            </a:r>
          </a:p>
          <a:p>
            <a:pPr lvl="1"/>
            <a:r>
              <a:rPr lang="en-IN" dirty="0"/>
              <a:t>Stapes (Stirrup)</a:t>
            </a:r>
          </a:p>
          <a:p>
            <a:r>
              <a:rPr lang="en-IN" b="1" dirty="0"/>
              <a:t>Eustachian Tube</a:t>
            </a:r>
            <a:endParaRPr lang="en-IN" dirty="0"/>
          </a:p>
          <a:p>
            <a:r>
              <a:rPr lang="en-IN" b="1" dirty="0"/>
              <a:t>Oval Window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332C2CB-0689-7240-65AE-DDF125519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824091"/>
              </p:ext>
            </p:extLst>
          </p:nvPr>
        </p:nvGraphicFramePr>
        <p:xfrm>
          <a:off x="3341914" y="2832127"/>
          <a:ext cx="8196942" cy="2011680"/>
        </p:xfrm>
        <a:graphic>
          <a:graphicData uri="http://schemas.openxmlformats.org/drawingml/2006/table">
            <a:tbl>
              <a:tblPr/>
              <a:tblGrid>
                <a:gridCol w="2830286">
                  <a:extLst>
                    <a:ext uri="{9D8B030D-6E8A-4147-A177-3AD203B41FA5}">
                      <a16:colId xmlns:a16="http://schemas.microsoft.com/office/drawing/2014/main" val="1197653018"/>
                    </a:ext>
                  </a:extLst>
                </a:gridCol>
                <a:gridCol w="5366656">
                  <a:extLst>
                    <a:ext uri="{9D8B030D-6E8A-4147-A177-3AD203B41FA5}">
                      <a16:colId xmlns:a16="http://schemas.microsoft.com/office/drawing/2014/main" val="14028216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468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Ossicles (Malleus, Incus, Stapes)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Amplify and transmit vibrations from eardrum to inner 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63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Stapes / Oval Window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Sends vibrations into fluid of inner 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100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Eustachian Tube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Balances pressure between middle ear and atmosphere (connects to throat)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5374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1401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B07C-AABB-7E69-3816-6C32E88B8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Internal Ear (Inner Ear / Labyrinth)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18D8C-9FB8-F96F-E7C3-C375E4A4D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Divided into:</a:t>
            </a:r>
          </a:p>
          <a:p>
            <a:r>
              <a:rPr lang="en-US" b="1" dirty="0"/>
              <a:t>Cochlea (Hearing part)</a:t>
            </a:r>
            <a:endParaRPr lang="en-US" dirty="0"/>
          </a:p>
          <a:p>
            <a:r>
              <a:rPr lang="en-US" b="1" dirty="0"/>
              <a:t>Vestibular apparatus (Balance part)</a:t>
            </a:r>
            <a:endParaRPr lang="en-US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6BA9D9-8A4D-A229-7AC2-4871225E6F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366146"/>
              </p:ext>
            </p:extLst>
          </p:nvPr>
        </p:nvGraphicFramePr>
        <p:xfrm>
          <a:off x="1164771" y="3380767"/>
          <a:ext cx="10058400" cy="292608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464173606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419744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534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Cochlea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Converts vibrations into nerve impulses using hair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601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Organ of Corti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Sensory organ of hearing inside cochlea; contains mechanoreceptors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8907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Vestibule &amp; Semicircular Canals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Detect head position and movement; maintain 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041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Vestibular Nerve &amp; Cochlear Nerve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Carry signals to brain (balance &amp; hearing respectively)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508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919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A2889-11E6-8909-6843-F6086186F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Mechanism of Hearing (Step-by-Step Process)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8A91D-D76A-BF56-5DA6-BE33A883B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Collection of Sound Waves</a:t>
            </a:r>
          </a:p>
          <a:p>
            <a:r>
              <a:rPr lang="en-IN" b="1" dirty="0"/>
              <a:t>Vibration of Tympanic Membrane</a:t>
            </a:r>
          </a:p>
          <a:p>
            <a:r>
              <a:rPr lang="en-IN" b="1" dirty="0"/>
              <a:t>Amplification by Ossicles</a:t>
            </a:r>
          </a:p>
          <a:p>
            <a:r>
              <a:rPr lang="en-US" b="1" dirty="0"/>
              <a:t>Wave Formation in Cochlear Fluid</a:t>
            </a:r>
          </a:p>
          <a:p>
            <a:r>
              <a:rPr lang="en-US" b="1" dirty="0"/>
              <a:t>Stimulation of Hair Cells (Organ of Corti)</a:t>
            </a:r>
          </a:p>
          <a:p>
            <a:r>
              <a:rPr lang="en-IN" b="1" dirty="0"/>
              <a:t>Transmission to the Brain</a:t>
            </a:r>
          </a:p>
          <a:p>
            <a:r>
              <a:rPr lang="en-IN" b="1" dirty="0"/>
              <a:t>Perception of Sound</a:t>
            </a:r>
          </a:p>
        </p:txBody>
      </p:sp>
    </p:spTree>
    <p:extLst>
      <p:ext uri="{BB962C8B-B14F-4D97-AF65-F5344CB8AC3E}">
        <p14:creationId xmlns:p14="http://schemas.microsoft.com/office/powerpoint/2010/main" val="3362835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FC62-6390-D190-FC51-9E1DDFAD1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53F323-7A87-0BB9-DCD5-0EDADED93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8085" y="292148"/>
            <a:ext cx="4155829" cy="627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52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0AE72-6436-1AB8-7A2B-DE263E36B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803F7-E5C8-5AE5-0C6A-4F08D1F40A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A834A-0503-F8E7-8DE8-A288CC1E4F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107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72B31-819E-D3AC-9689-BD955043F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87F2C2-7612-504F-8F01-9C2D675063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2363" y="171470"/>
            <a:ext cx="5647273" cy="651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5474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D99D4-D065-D5BB-F11D-465D61994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581B24-8725-91F0-EC81-0637EE440E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6809" y="478972"/>
            <a:ext cx="9038382" cy="55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292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1002</TotalTime>
  <Words>543</Words>
  <Application>Microsoft Office PowerPoint</Application>
  <PresentationFormat>Widescreen</PresentationFormat>
  <Paragraphs>111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Century Gothic</vt:lpstr>
      <vt:lpstr>Savon</vt:lpstr>
      <vt:lpstr>Special senses</vt:lpstr>
      <vt:lpstr>Unit 1</vt:lpstr>
      <vt:lpstr>Vision </vt:lpstr>
      <vt:lpstr>Protective structures</vt:lpstr>
      <vt:lpstr>Outer Fibrous Coat (For Protection &amp; Shape)</vt:lpstr>
      <vt:lpstr>Middle Vascular Coat (Uveal Tract – For Nutrition &amp; Light Regulation)</vt:lpstr>
      <vt:lpstr>Inner Nervous Coat (For Photoreception)</vt:lpstr>
      <vt:lpstr>Refractive Media (Image Formation)</vt:lpstr>
      <vt:lpstr>PowerPoint Presentation</vt:lpstr>
      <vt:lpstr>PowerPoint Presentation</vt:lpstr>
      <vt:lpstr>PowerPoint Presentation</vt:lpstr>
      <vt:lpstr>PowerPoint Presentation</vt:lpstr>
      <vt:lpstr>Unit 2</vt:lpstr>
      <vt:lpstr>Hearing </vt:lpstr>
      <vt:lpstr>External Ear (Outer Ear)</vt:lpstr>
      <vt:lpstr>Middle Ear</vt:lpstr>
      <vt:lpstr>Internal Ear (Inner Ear / Labyrinth)</vt:lpstr>
      <vt:lpstr>Mechanism of Hearing (Step-by-Step Process)</vt:lpstr>
      <vt:lpstr>PowerPoint Presentation</vt:lpstr>
      <vt:lpstr>Unit 3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1</cp:revision>
  <dcterms:created xsi:type="dcterms:W3CDTF">2025-11-21T14:37:04Z</dcterms:created>
  <dcterms:modified xsi:type="dcterms:W3CDTF">2025-11-22T07:20:26Z</dcterms:modified>
</cp:coreProperties>
</file>